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 id="2147483678" r:id="rId6"/>
    <p:sldMasterId id="214748369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Lst>
  <p:sldSz cy="6858000" cx="12192000"/>
  <p:notesSz cx="6858000" cy="9144000"/>
  <p:embeddedFontLst>
    <p:embeddedFont>
      <p:font typeface="Play"/>
      <p:regular r:id="rId109"/>
      <p:bold r:id="rId110"/>
    </p:embeddedFont>
    <p:embeddedFont>
      <p:font typeface="Quattrocento Sans"/>
      <p:regular r:id="rId111"/>
      <p:bold r:id="rId112"/>
      <p:italic r:id="rId113"/>
      <p:boldItalic r:id="rId114"/>
    </p:embeddedFont>
    <p:embeddedFont>
      <p:font typeface="Open Sans"/>
      <p:regular r:id="rId115"/>
      <p:bold r:id="rId116"/>
      <p:italic r:id="rId117"/>
      <p:boldItalic r:id="rId1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19" roundtripDataSignature="AMtx7miP84Fc76JTF0PoTTtn7v3XA8Pa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9F1A6B1-18B9-4B87-B458-7A3E6594CA7B}">
  <a:tblStyle styleId="{59F1A6B1-18B9-4B87-B458-7A3E6594CA7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13A3F68-93AB-42EE-8F31-6030AA077254}" styleName="Table_1">
    <a:wholeTbl>
      <a:tcTxStyle b="off" i="off">
        <a:font>
          <a:latin typeface="Open Sans"/>
          <a:ea typeface="Open Sans"/>
          <a:cs typeface="Open San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DE7E7"/>
          </a:solidFill>
        </a:fill>
      </a:tcStyle>
    </a:wholeTbl>
    <a:band1H>
      <a:tcTxStyle/>
      <a:tcStyle>
        <a:fill>
          <a:solidFill>
            <a:srgbClr val="D8CBCC"/>
          </a:solidFill>
        </a:fill>
      </a:tcStyle>
    </a:band1H>
    <a:band2H>
      <a:tcTxStyle/>
    </a:band2H>
    <a:band1V>
      <a:tcTxStyle/>
      <a:tcStyle>
        <a:fill>
          <a:solidFill>
            <a:srgbClr val="D8CBCC"/>
          </a:solidFill>
        </a:fill>
      </a:tcStyle>
    </a:band1V>
    <a:band2V>
      <a:tcTxStyle/>
    </a:band2V>
    <a:lastCol>
      <a:tcTxStyle b="on" i="off">
        <a:font>
          <a:latin typeface="Open Sans"/>
          <a:ea typeface="Open Sans"/>
          <a:cs typeface="Open Sans"/>
        </a:font>
        <a:schemeClr val="lt1"/>
      </a:tcTxStyle>
      <a:tcStyle>
        <a:fill>
          <a:solidFill>
            <a:schemeClr val="accent1"/>
          </a:solidFill>
        </a:fill>
      </a:tcStyle>
    </a:lastCol>
    <a:firstCol>
      <a:tcTxStyle b="on" i="off">
        <a:font>
          <a:latin typeface="Open Sans"/>
          <a:ea typeface="Open Sans"/>
          <a:cs typeface="Open Sans"/>
        </a:font>
        <a:schemeClr val="lt1"/>
      </a:tcTxStyle>
      <a:tcStyle>
        <a:fill>
          <a:solidFill>
            <a:schemeClr val="accent1"/>
          </a:solidFill>
        </a:fill>
      </a:tcStyle>
    </a:firstCol>
    <a:lastRow>
      <a:tcTxStyle b="on" i="off">
        <a:font>
          <a:latin typeface="Open Sans"/>
          <a:ea typeface="Open Sans"/>
          <a:cs typeface="Open San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Open Sans"/>
          <a:ea typeface="Open Sans"/>
          <a:cs typeface="Open San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DD8AA69C-3088-4864-B446-2A3743685501}" styleName="Table_2">
    <a:wholeTbl>
      <a:tcTxStyle b="off" i="off">
        <a:font>
          <a:latin typeface="Open Sans"/>
          <a:ea typeface="Open Sans"/>
          <a:cs typeface="Open Sans"/>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07" Type="http://schemas.openxmlformats.org/officeDocument/2006/relationships/slide" Target="slides/slide99.xml"/><Relationship Id="rId106" Type="http://schemas.openxmlformats.org/officeDocument/2006/relationships/slide" Target="slides/slide98.xml"/><Relationship Id="rId105" Type="http://schemas.openxmlformats.org/officeDocument/2006/relationships/slide" Target="slides/slide97.xml"/><Relationship Id="rId104" Type="http://schemas.openxmlformats.org/officeDocument/2006/relationships/slide" Target="slides/slide96.xml"/><Relationship Id="rId109" Type="http://schemas.openxmlformats.org/officeDocument/2006/relationships/font" Target="fonts/Play-regular.fntdata"/><Relationship Id="rId108" Type="http://schemas.openxmlformats.org/officeDocument/2006/relationships/slide" Target="slides/slide100.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slide" Target="slides/slide41.xml"/><Relationship Id="rId103" Type="http://schemas.openxmlformats.org/officeDocument/2006/relationships/slide" Target="slides/slide95.xml"/><Relationship Id="rId102" Type="http://schemas.openxmlformats.org/officeDocument/2006/relationships/slide" Target="slides/slide94.xml"/><Relationship Id="rId101" Type="http://schemas.openxmlformats.org/officeDocument/2006/relationships/slide" Target="slides/slide93.xml"/><Relationship Id="rId100" Type="http://schemas.openxmlformats.org/officeDocument/2006/relationships/slide" Target="slides/slide92.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95" Type="http://schemas.openxmlformats.org/officeDocument/2006/relationships/slide" Target="slides/slide87.xml"/><Relationship Id="rId94" Type="http://schemas.openxmlformats.org/officeDocument/2006/relationships/slide" Target="slides/slide86.xml"/><Relationship Id="rId97" Type="http://schemas.openxmlformats.org/officeDocument/2006/relationships/slide" Target="slides/slide89.xml"/><Relationship Id="rId96" Type="http://schemas.openxmlformats.org/officeDocument/2006/relationships/slide" Target="slides/slide88.xml"/><Relationship Id="rId11" Type="http://schemas.openxmlformats.org/officeDocument/2006/relationships/slide" Target="slides/slide3.xml"/><Relationship Id="rId99" Type="http://schemas.openxmlformats.org/officeDocument/2006/relationships/slide" Target="slides/slide91.xml"/><Relationship Id="rId10" Type="http://schemas.openxmlformats.org/officeDocument/2006/relationships/slide" Target="slides/slide2.xml"/><Relationship Id="rId98" Type="http://schemas.openxmlformats.org/officeDocument/2006/relationships/slide" Target="slides/slide90.xml"/><Relationship Id="rId13" Type="http://schemas.openxmlformats.org/officeDocument/2006/relationships/slide" Target="slides/slide5.xml"/><Relationship Id="rId12" Type="http://schemas.openxmlformats.org/officeDocument/2006/relationships/slide" Target="slides/slide4.xml"/><Relationship Id="rId91" Type="http://schemas.openxmlformats.org/officeDocument/2006/relationships/slide" Target="slides/slide83.xml"/><Relationship Id="rId90" Type="http://schemas.openxmlformats.org/officeDocument/2006/relationships/slide" Target="slides/slide82.xml"/><Relationship Id="rId93" Type="http://schemas.openxmlformats.org/officeDocument/2006/relationships/slide" Target="slides/slide85.xml"/><Relationship Id="rId92" Type="http://schemas.openxmlformats.org/officeDocument/2006/relationships/slide" Target="slides/slide84.xml"/><Relationship Id="rId118" Type="http://schemas.openxmlformats.org/officeDocument/2006/relationships/font" Target="fonts/OpenSans-boldItalic.fntdata"/><Relationship Id="rId117" Type="http://schemas.openxmlformats.org/officeDocument/2006/relationships/font" Target="fonts/OpenSans-italic.fntdata"/><Relationship Id="rId116" Type="http://schemas.openxmlformats.org/officeDocument/2006/relationships/font" Target="fonts/OpenSans-bold.fntdata"/><Relationship Id="rId115" Type="http://schemas.openxmlformats.org/officeDocument/2006/relationships/font" Target="fonts/OpenSans-regular.fntdata"/><Relationship Id="rId119" Type="http://customschemas.google.com/relationships/presentationmetadata" Target="metadata"/><Relationship Id="rId15" Type="http://schemas.openxmlformats.org/officeDocument/2006/relationships/slide" Target="slides/slide7.xml"/><Relationship Id="rId110" Type="http://schemas.openxmlformats.org/officeDocument/2006/relationships/font" Target="fonts/Play-bold.fntdata"/><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14" Type="http://schemas.openxmlformats.org/officeDocument/2006/relationships/font" Target="fonts/QuattrocentoSans-boldItalic.fntdata"/><Relationship Id="rId18" Type="http://schemas.openxmlformats.org/officeDocument/2006/relationships/slide" Target="slides/slide10.xml"/><Relationship Id="rId113" Type="http://schemas.openxmlformats.org/officeDocument/2006/relationships/font" Target="fonts/QuattrocentoSans-italic.fntdata"/><Relationship Id="rId112" Type="http://schemas.openxmlformats.org/officeDocument/2006/relationships/font" Target="fonts/QuattrocentoSans-bold.fntdata"/><Relationship Id="rId111" Type="http://schemas.openxmlformats.org/officeDocument/2006/relationships/font" Target="fonts/QuattrocentoSans-regular.fntdata"/><Relationship Id="rId84" Type="http://schemas.openxmlformats.org/officeDocument/2006/relationships/slide" Target="slides/slide76.xml"/><Relationship Id="rId83" Type="http://schemas.openxmlformats.org/officeDocument/2006/relationships/slide" Target="slides/slide75.xml"/><Relationship Id="rId86" Type="http://schemas.openxmlformats.org/officeDocument/2006/relationships/slide" Target="slides/slide78.xml"/><Relationship Id="rId85" Type="http://schemas.openxmlformats.org/officeDocument/2006/relationships/slide" Target="slides/slide77.xml"/><Relationship Id="rId88" Type="http://schemas.openxmlformats.org/officeDocument/2006/relationships/slide" Target="slides/slide80.xml"/><Relationship Id="rId87" Type="http://schemas.openxmlformats.org/officeDocument/2006/relationships/slide" Target="slides/slide79.xml"/><Relationship Id="rId89" Type="http://schemas.openxmlformats.org/officeDocument/2006/relationships/slide" Target="slides/slide81.xml"/><Relationship Id="rId80" Type="http://schemas.openxmlformats.org/officeDocument/2006/relationships/slide" Target="slides/slide72.xml"/><Relationship Id="rId82" Type="http://schemas.openxmlformats.org/officeDocument/2006/relationships/slide" Target="slides/slide74.xml"/><Relationship Id="rId81" Type="http://schemas.openxmlformats.org/officeDocument/2006/relationships/slide" Target="slides/slide73.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73" Type="http://schemas.openxmlformats.org/officeDocument/2006/relationships/slide" Target="slides/slide65.xml"/><Relationship Id="rId72" Type="http://schemas.openxmlformats.org/officeDocument/2006/relationships/slide" Target="slides/slide64.xml"/><Relationship Id="rId75" Type="http://schemas.openxmlformats.org/officeDocument/2006/relationships/slide" Target="slides/slide67.xml"/><Relationship Id="rId74" Type="http://schemas.openxmlformats.org/officeDocument/2006/relationships/slide" Target="slides/slide66.xml"/><Relationship Id="rId77" Type="http://schemas.openxmlformats.org/officeDocument/2006/relationships/slide" Target="slides/slide69.xml"/><Relationship Id="rId76" Type="http://schemas.openxmlformats.org/officeDocument/2006/relationships/slide" Target="slides/slide68.xml"/><Relationship Id="rId79" Type="http://schemas.openxmlformats.org/officeDocument/2006/relationships/slide" Target="slides/slide71.xml"/><Relationship Id="rId78" Type="http://schemas.openxmlformats.org/officeDocument/2006/relationships/slide" Target="slides/slide70.xml"/><Relationship Id="rId71" Type="http://schemas.openxmlformats.org/officeDocument/2006/relationships/slide" Target="slides/slide63.xml"/><Relationship Id="rId70" Type="http://schemas.openxmlformats.org/officeDocument/2006/relationships/slide" Target="slides/slide62.xml"/><Relationship Id="rId62" Type="http://schemas.openxmlformats.org/officeDocument/2006/relationships/slide" Target="slides/slide54.xml"/><Relationship Id="rId61" Type="http://schemas.openxmlformats.org/officeDocument/2006/relationships/slide" Target="slides/slide53.xml"/><Relationship Id="rId64" Type="http://schemas.openxmlformats.org/officeDocument/2006/relationships/slide" Target="slides/slide56.xml"/><Relationship Id="rId63" Type="http://schemas.openxmlformats.org/officeDocument/2006/relationships/slide" Target="slides/slide55.xml"/><Relationship Id="rId66" Type="http://schemas.openxmlformats.org/officeDocument/2006/relationships/slide" Target="slides/slide58.xml"/><Relationship Id="rId65" Type="http://schemas.openxmlformats.org/officeDocument/2006/relationships/slide" Target="slides/slide57.xml"/><Relationship Id="rId68" Type="http://schemas.openxmlformats.org/officeDocument/2006/relationships/slide" Target="slides/slide60.xml"/><Relationship Id="rId67" Type="http://schemas.openxmlformats.org/officeDocument/2006/relationships/slide" Target="slides/slide59.xml"/><Relationship Id="rId60" Type="http://schemas.openxmlformats.org/officeDocument/2006/relationships/slide" Target="slides/slide52.xml"/><Relationship Id="rId69" Type="http://schemas.openxmlformats.org/officeDocument/2006/relationships/slide" Target="slides/slide61.xml"/><Relationship Id="rId51" Type="http://schemas.openxmlformats.org/officeDocument/2006/relationships/slide" Target="slides/slide43.xml"/><Relationship Id="rId50" Type="http://schemas.openxmlformats.org/officeDocument/2006/relationships/slide" Target="slides/slide42.xml"/><Relationship Id="rId53" Type="http://schemas.openxmlformats.org/officeDocument/2006/relationships/slide" Target="slides/slide45.xml"/><Relationship Id="rId52" Type="http://schemas.openxmlformats.org/officeDocument/2006/relationships/slide" Target="slides/slide44.xml"/><Relationship Id="rId55" Type="http://schemas.openxmlformats.org/officeDocument/2006/relationships/slide" Target="slides/slide47.xml"/><Relationship Id="rId54" Type="http://schemas.openxmlformats.org/officeDocument/2006/relationships/slide" Target="slides/slide46.xml"/><Relationship Id="rId57" Type="http://schemas.openxmlformats.org/officeDocument/2006/relationships/slide" Target="slides/slide49.xml"/><Relationship Id="rId56" Type="http://schemas.openxmlformats.org/officeDocument/2006/relationships/slide" Target="slides/slide48.xml"/><Relationship Id="rId59" Type="http://schemas.openxmlformats.org/officeDocument/2006/relationships/slide" Target="slides/slide51.xml"/><Relationship Id="rId58"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MX"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1" name="Google Shape;31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2" name="Google Shape;31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3" name="Google Shape;55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a:t>Ajuste A y R – Punto 3</a:t>
            </a:r>
            <a:endParaRPr/>
          </a:p>
          <a:p>
            <a:pPr indent="0" lvl="0" marL="0" rtl="0" algn="l">
              <a:spcBef>
                <a:spcPts val="0"/>
              </a:spcBef>
              <a:spcAft>
                <a:spcPts val="0"/>
              </a:spcAft>
              <a:buNone/>
            </a:pPr>
            <a:r>
              <a:rPr lang="es-MX"/>
              <a:t>Punto 8 se eliminó: </a:t>
            </a:r>
            <a:r>
              <a:rPr lang="es-MX" sz="1200">
                <a:solidFill>
                  <a:schemeClr val="dk1"/>
                </a:solidFill>
                <a:latin typeface="Arial"/>
                <a:ea typeface="Arial"/>
                <a:cs typeface="Arial"/>
                <a:sym typeface="Arial"/>
              </a:rPr>
              <a:t>Capacidad organizacional y visión unificada del desempeño financiero,  respaldando la toma de decisiones comerciales</a:t>
            </a:r>
            <a:endParaRPr/>
          </a:p>
          <a:p>
            <a:pPr indent="0" lvl="0" marL="0" rtl="0" algn="l">
              <a:spcBef>
                <a:spcPts val="0"/>
              </a:spcBef>
              <a:spcAft>
                <a:spcPts val="0"/>
              </a:spcAft>
              <a:buNone/>
            </a:pPr>
            <a:r>
              <a:rPr lang="es-MX" sz="1200">
                <a:solidFill>
                  <a:schemeClr val="dk1"/>
                </a:solidFill>
                <a:latin typeface="Arial"/>
                <a:ea typeface="Arial"/>
                <a:cs typeface="Arial"/>
                <a:sym typeface="Arial"/>
              </a:rPr>
              <a:t>Modificar el 9.</a:t>
            </a:r>
            <a:endParaRPr/>
          </a:p>
        </p:txBody>
      </p:sp>
      <p:sp>
        <p:nvSpPr>
          <p:cNvPr id="576" name="Google Shape;576;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6" name="Google Shape;61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3" name="Google Shape;623;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a:t>Especificar fuera de BAU, Conexión con OXXO Escucha.</a:t>
            </a:r>
            <a:endParaRPr/>
          </a:p>
          <a:p>
            <a:pPr indent="0" lvl="0" marL="0" rtl="0" algn="l">
              <a:spcBef>
                <a:spcPts val="0"/>
              </a:spcBef>
              <a:spcAft>
                <a:spcPts val="0"/>
              </a:spcAft>
              <a:buNone/>
            </a:pPr>
            <a:r>
              <a:rPr lang="es-MX"/>
              <a:t>Que debemos recabar en mecanismos, excelencia separarlos, sería el output y quien lo va usar es comercial.</a:t>
            </a:r>
            <a:endParaRPr/>
          </a:p>
          <a:p>
            <a:pPr indent="0" lvl="0" marL="0" rtl="0" algn="l">
              <a:spcBef>
                <a:spcPts val="0"/>
              </a:spcBef>
              <a:spcAft>
                <a:spcPts val="0"/>
              </a:spcAft>
              <a:buNone/>
            </a:pPr>
            <a:r>
              <a:rPr lang="es-MX"/>
              <a:t>Especificar Analytics, esta en Customer, ajustar porque esta en el 1er punto exc. Ope.</a:t>
            </a:r>
            <a:endParaRPr/>
          </a:p>
          <a:p>
            <a:pPr indent="0" lvl="0" marL="0" rtl="0" algn="l">
              <a:spcBef>
                <a:spcPts val="0"/>
              </a:spcBef>
              <a:spcAft>
                <a:spcPts val="0"/>
              </a:spcAft>
              <a:buNone/>
            </a:pPr>
            <a:r>
              <a:rPr lang="es-MX"/>
              <a:t>Ejemplos, Enrique quiere que sea customer el diseño.. Ejemplos de definir mecanismos (1. Sacar info, Diseñar info, 3. Gestión de accionables)</a:t>
            </a:r>
            <a:endParaRPr/>
          </a:p>
          <a:p>
            <a:pPr indent="0" lvl="0" marL="0" rtl="0" algn="l">
              <a:spcBef>
                <a:spcPts val="0"/>
              </a:spcBef>
              <a:spcAft>
                <a:spcPts val="0"/>
              </a:spcAft>
              <a:buNone/>
            </a:pPr>
            <a:r>
              <a:rPr lang="es-MX"/>
              <a:t>Quebrar el punto, excelencia el orquestador</a:t>
            </a:r>
            <a:endParaRPr/>
          </a:p>
        </p:txBody>
      </p:sp>
      <p:sp>
        <p:nvSpPr>
          <p:cNvPr id="680" name="Google Shape;680;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4" name="Google Shape;71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1" name="Google Shape;73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8" name="Google Shape;748;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 name="Google Shape;766;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4" name="Google Shape;784;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5" name="Google Shape;815;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9" name="Google Shape;829;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0" name="Google Shape;830;p5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6" name="Google Shape;846;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2" name="Google Shape;852;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5" name="Google Shape;865;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 name="Google Shape;874;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3" name="Google Shape;883;p6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4" name="Google Shape;884;p6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0" name="Google Shape;90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6" name="Google Shape;906;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9" name="Google Shape;919;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6" name="Google Shape;936;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0" name="Google Shape;950;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4" name="Shape 964"/>
        <p:cNvGrpSpPr/>
        <p:nvPr/>
      </p:nvGrpSpPr>
      <p:grpSpPr>
        <a:xfrm>
          <a:off x="0" y="0"/>
          <a:ext cx="0" cy="0"/>
          <a:chOff x="0" y="0"/>
          <a:chExt cx="0" cy="0"/>
        </a:xfrm>
      </p:grpSpPr>
      <p:sp>
        <p:nvSpPr>
          <p:cNvPr id="965" name="Google Shape;965;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6" name="Google Shape;966;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3" name="Google Shape;983;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9" name="Google Shape;999;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6" name="Google Shape;1016;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2" name="Google Shape;1082;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6" name="Google Shape;1096;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7" name="Google Shape;1097;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3" name="Google Shape;1113;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9" name="Google Shape;1119;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2" name="Google Shape;1132;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9" name="Google Shape;1139;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6" name="Shape 1146"/>
        <p:cNvGrpSpPr/>
        <p:nvPr/>
      </p:nvGrpSpPr>
      <p:grpSpPr>
        <a:xfrm>
          <a:off x="0" y="0"/>
          <a:ext cx="0" cy="0"/>
          <a:chOff x="0" y="0"/>
          <a:chExt cx="0" cy="0"/>
        </a:xfrm>
      </p:grpSpPr>
      <p:sp>
        <p:nvSpPr>
          <p:cNvPr id="1147" name="Google Shape;1147;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8" name="Google Shape;1148;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9" name="Google Shape;1149;p8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5" name="Google Shape;1165;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9" name="Shape 1169"/>
        <p:cNvGrpSpPr/>
        <p:nvPr/>
      </p:nvGrpSpPr>
      <p:grpSpPr>
        <a:xfrm>
          <a:off x="0" y="0"/>
          <a:ext cx="0" cy="0"/>
          <a:chOff x="0" y="0"/>
          <a:chExt cx="0" cy="0"/>
        </a:xfrm>
      </p:grpSpPr>
      <p:sp>
        <p:nvSpPr>
          <p:cNvPr id="1170" name="Google Shape;1170;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1" name="Google Shape;1171;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4" name="Google Shape;1184;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7" name="Shape 1197"/>
        <p:cNvGrpSpPr/>
        <p:nvPr/>
      </p:nvGrpSpPr>
      <p:grpSpPr>
        <a:xfrm>
          <a:off x="0" y="0"/>
          <a:ext cx="0" cy="0"/>
          <a:chOff x="0" y="0"/>
          <a:chExt cx="0" cy="0"/>
        </a:xfrm>
      </p:grpSpPr>
      <p:sp>
        <p:nvSpPr>
          <p:cNvPr id="1198" name="Google Shape;1198;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9" name="Google Shape;1199;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3" name="Shape 1213"/>
        <p:cNvGrpSpPr/>
        <p:nvPr/>
      </p:nvGrpSpPr>
      <p:grpSpPr>
        <a:xfrm>
          <a:off x="0" y="0"/>
          <a:ext cx="0" cy="0"/>
          <a:chOff x="0" y="0"/>
          <a:chExt cx="0" cy="0"/>
        </a:xfrm>
      </p:grpSpPr>
      <p:sp>
        <p:nvSpPr>
          <p:cNvPr id="1214" name="Google Shape;1214;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5" name="Google Shape;1215;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2" name="Google Shape;1232;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9" name="Google Shape;1249;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6" name="Google Shape;1266;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3" name="Google Shape;1283;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7" name="Shape 1347"/>
        <p:cNvGrpSpPr/>
        <p:nvPr/>
      </p:nvGrpSpPr>
      <p:grpSpPr>
        <a:xfrm>
          <a:off x="0" y="0"/>
          <a:ext cx="0" cy="0"/>
          <a:chOff x="0" y="0"/>
          <a:chExt cx="0" cy="0"/>
        </a:xfrm>
      </p:grpSpPr>
      <p:sp>
        <p:nvSpPr>
          <p:cNvPr id="1348" name="Google Shape;1348;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9" name="Google Shape;1349;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3" name="Google Shape;1363;p9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4" name="Google Shape;1364;p9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0" name="Google Shape;1380;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6" name="Google Shape;1386;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3" name="Shape 1403"/>
        <p:cNvGrpSpPr/>
        <p:nvPr/>
      </p:nvGrpSpPr>
      <p:grpSpPr>
        <a:xfrm>
          <a:off x="0" y="0"/>
          <a:ext cx="0" cy="0"/>
          <a:chOff x="0" y="0"/>
          <a:chExt cx="0" cy="0"/>
        </a:xfrm>
      </p:grpSpPr>
      <p:sp>
        <p:nvSpPr>
          <p:cNvPr id="1404" name="Google Shape;1404;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5" name="Google Shape;1405;p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a:t>Javier: agregar un ejemplo donde un área es A/R para claridad de roles. Ejemplo de instalación de exhibidores, hieleras..</a:t>
            </a:r>
            <a:endParaRPr/>
          </a:p>
          <a:p>
            <a:pPr indent="0" lvl="0" marL="0" rtl="0" algn="l">
              <a:spcBef>
                <a:spcPts val="0"/>
              </a:spcBef>
              <a:spcAft>
                <a:spcPts val="0"/>
              </a:spcAft>
              <a:buNone/>
            </a:pPr>
            <a:r>
              <a:t/>
            </a:r>
            <a:endParaRPr/>
          </a:p>
        </p:txBody>
      </p:sp>
      <p:sp>
        <p:nvSpPr>
          <p:cNvPr id="1406" name="Google Shape;1406;p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5" name="Shape 1415"/>
        <p:cNvGrpSpPr/>
        <p:nvPr/>
      </p:nvGrpSpPr>
      <p:grpSpPr>
        <a:xfrm>
          <a:off x="0" y="0"/>
          <a:ext cx="0" cy="0"/>
          <a:chOff x="0" y="0"/>
          <a:chExt cx="0" cy="0"/>
        </a:xfrm>
      </p:grpSpPr>
      <p:sp>
        <p:nvSpPr>
          <p:cNvPr id="1416" name="Google Shape;1416;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7" name="Google Shape;1417;p9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a:t>Caso de negocios, abastecimientos, protección… </a:t>
            </a:r>
            <a:endParaRPr/>
          </a:p>
          <a:p>
            <a:pPr indent="0" lvl="0" marL="0" rtl="0" algn="l">
              <a:spcBef>
                <a:spcPts val="0"/>
              </a:spcBef>
              <a:spcAft>
                <a:spcPts val="0"/>
              </a:spcAft>
              <a:buNone/>
            </a:pPr>
            <a:r>
              <a:rPr lang="es-MX"/>
              <a:t>Accountable: Excelencia operativa (Procesos Tienda)-validan implicación en tienda en tiempo/MO. </a:t>
            </a:r>
            <a:endParaRPr/>
          </a:p>
          <a:p>
            <a:pPr indent="0" lvl="0" marL="0" rtl="0" algn="l">
              <a:spcBef>
                <a:spcPts val="0"/>
              </a:spcBef>
              <a:spcAft>
                <a:spcPts val="0"/>
              </a:spcAft>
              <a:buNone/>
            </a:pPr>
            <a:r>
              <a:rPr lang="es-MX"/>
              <a:t>Responsable: Despliegue operativo – coordina con plaza con base a input de excelencia operativa.</a:t>
            </a:r>
            <a:endParaRPr/>
          </a:p>
          <a:p>
            <a:pPr indent="0" lvl="0" marL="0" rtl="0" algn="l">
              <a:spcBef>
                <a:spcPts val="0"/>
              </a:spcBef>
              <a:spcAft>
                <a:spcPts val="0"/>
              </a:spcAft>
              <a:buNone/>
            </a:pPr>
            <a:r>
              <a:rPr lang="es-MX"/>
              <a:t>Consultados: Excelencia Operativa (Procesos Tienda) da referencia sobre instalación y da visto bueno.</a:t>
            </a:r>
            <a:endParaRPr/>
          </a:p>
          <a:p>
            <a:pPr indent="0" lvl="0" marL="0" rtl="0" algn="l">
              <a:spcBef>
                <a:spcPts val="0"/>
              </a:spcBef>
              <a:spcAft>
                <a:spcPts val="0"/>
              </a:spcAft>
              <a:buNone/>
            </a:pPr>
            <a:r>
              <a:rPr lang="es-MX"/>
              <a:t>Support: Regiones dan referencia a Despliegue Operativo.</a:t>
            </a:r>
            <a:endParaRPr/>
          </a:p>
          <a:p>
            <a:pPr indent="0" lvl="0" marL="0" rtl="0" algn="l">
              <a:spcBef>
                <a:spcPts val="0"/>
              </a:spcBef>
              <a:spcAft>
                <a:spcPts val="0"/>
              </a:spcAft>
              <a:buNone/>
            </a:pPr>
            <a:r>
              <a:t/>
            </a:r>
            <a:endParaRPr/>
          </a:p>
          <a:p>
            <a:pPr indent="0" lvl="0" marL="0" rtl="0" algn="l">
              <a:spcBef>
                <a:spcPts val="0"/>
              </a:spcBef>
              <a:spcAft>
                <a:spcPts val="0"/>
              </a:spcAft>
              <a:buNone/>
            </a:pPr>
            <a:r>
              <a:rPr lang="es-MX"/>
              <a:t>CS recibe nuevas definiciones de espacio para ajustar constantes de exhibición. Valida con proveedores nuevos o existentes.</a:t>
            </a:r>
            <a:endParaRPr/>
          </a:p>
          <a:p>
            <a:pPr indent="0" lvl="0" marL="0" rtl="0" algn="l">
              <a:spcBef>
                <a:spcPts val="0"/>
              </a:spcBef>
              <a:spcAft>
                <a:spcPts val="0"/>
              </a:spcAft>
              <a:buNone/>
            </a:pPr>
            <a:r>
              <a:rPr lang="es-MX"/>
              <a:t>Experiencia del cliente/ Analytics está informado de cómo impacta a clientes.</a:t>
            </a:r>
            <a:endParaRPr/>
          </a:p>
          <a:p>
            <a:pPr indent="0" lvl="0" marL="0" rtl="0" algn="l">
              <a:spcBef>
                <a:spcPts val="0"/>
              </a:spcBef>
              <a:spcAft>
                <a:spcPts val="0"/>
              </a:spcAft>
              <a:buNone/>
            </a:pPr>
            <a:r>
              <a:rPr lang="es-MX"/>
              <a:t>Informado: CS sobre monitoreo de días inventario. </a:t>
            </a:r>
            <a:endParaRPr/>
          </a:p>
        </p:txBody>
      </p:sp>
      <p:sp>
        <p:nvSpPr>
          <p:cNvPr id="1418" name="Google Shape;1418;p9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8" name="Google Shape;1428;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7" name="Google Shape;1437;p9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8" name="Google Shape;1438;p9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4" name="Google Shape;1454;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8" name="Shape 1458"/>
        <p:cNvGrpSpPr/>
        <p:nvPr/>
      </p:nvGrpSpPr>
      <p:grpSpPr>
        <a:xfrm>
          <a:off x="0" y="0"/>
          <a:ext cx="0" cy="0"/>
          <a:chOff x="0" y="0"/>
          <a:chExt cx="0" cy="0"/>
        </a:xfrm>
      </p:grpSpPr>
      <p:sp>
        <p:nvSpPr>
          <p:cNvPr id="1459" name="Google Shape;1459;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0" name="Google Shape;1460;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4" name="Google Shape;1474;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0" name="Google Shape;1490;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5" name="Google Shape;1505;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9" name="Shape 1519"/>
        <p:cNvGrpSpPr/>
        <p:nvPr/>
      </p:nvGrpSpPr>
      <p:grpSpPr>
        <a:xfrm>
          <a:off x="0" y="0"/>
          <a:ext cx="0" cy="0"/>
          <a:chOff x="0" y="0"/>
          <a:chExt cx="0" cy="0"/>
        </a:xfrm>
      </p:grpSpPr>
      <p:sp>
        <p:nvSpPr>
          <p:cNvPr id="1520" name="Google Shape;1520;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1" name="Google Shape;1521;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9" name="Google Shape;1539;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3" name="Shape 1553"/>
        <p:cNvGrpSpPr/>
        <p:nvPr/>
      </p:nvGrpSpPr>
      <p:grpSpPr>
        <a:xfrm>
          <a:off x="0" y="0"/>
          <a:ext cx="0" cy="0"/>
          <a:chOff x="0" y="0"/>
          <a:chExt cx="0" cy="0"/>
        </a:xfrm>
      </p:grpSpPr>
      <p:sp>
        <p:nvSpPr>
          <p:cNvPr id="1554" name="Google Shape;1554;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5" name="Google Shape;1555;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0" name="Google Shape;1570;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p10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8" name="Google Shape;1588;p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p10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4" name="Google Shape;1654;p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6" name="Shape 1666"/>
        <p:cNvGrpSpPr/>
        <p:nvPr/>
      </p:nvGrpSpPr>
      <p:grpSpPr>
        <a:xfrm>
          <a:off x="0" y="0"/>
          <a:ext cx="0" cy="0"/>
          <a:chOff x="0" y="0"/>
          <a:chExt cx="0" cy="0"/>
        </a:xfrm>
      </p:grpSpPr>
      <p:sp>
        <p:nvSpPr>
          <p:cNvPr id="1667" name="Google Shape;1667;p10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8" name="Google Shape;1668;p10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9" name="Google Shape;1669;p10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3" name="Shape 1683"/>
        <p:cNvGrpSpPr/>
        <p:nvPr/>
      </p:nvGrpSpPr>
      <p:grpSpPr>
        <a:xfrm>
          <a:off x="0" y="0"/>
          <a:ext cx="0" cy="0"/>
          <a:chOff x="0" y="0"/>
          <a:chExt cx="0" cy="0"/>
        </a:xfrm>
      </p:grpSpPr>
      <p:sp>
        <p:nvSpPr>
          <p:cNvPr id="1684" name="Google Shape;1684;p1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5" name="Google Shape;1685;p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9" name="Shape 1689"/>
        <p:cNvGrpSpPr/>
        <p:nvPr/>
      </p:nvGrpSpPr>
      <p:grpSpPr>
        <a:xfrm>
          <a:off x="0" y="0"/>
          <a:ext cx="0" cy="0"/>
          <a:chOff x="0" y="0"/>
          <a:chExt cx="0" cy="0"/>
        </a:xfrm>
      </p:grpSpPr>
      <p:sp>
        <p:nvSpPr>
          <p:cNvPr id="1690" name="Google Shape;1690;p1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1" name="Google Shape;1691;p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9" name="Shape 1709"/>
        <p:cNvGrpSpPr/>
        <p:nvPr/>
      </p:nvGrpSpPr>
      <p:grpSpPr>
        <a:xfrm>
          <a:off x="0" y="0"/>
          <a:ext cx="0" cy="0"/>
          <a:chOff x="0" y="0"/>
          <a:chExt cx="0" cy="0"/>
        </a:xfrm>
      </p:grpSpPr>
      <p:sp>
        <p:nvSpPr>
          <p:cNvPr id="1710" name="Google Shape;1710;p1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1" name="Google Shape;1711;p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8" name="Shape 1718"/>
        <p:cNvGrpSpPr/>
        <p:nvPr/>
      </p:nvGrpSpPr>
      <p:grpSpPr>
        <a:xfrm>
          <a:off x="0" y="0"/>
          <a:ext cx="0" cy="0"/>
          <a:chOff x="0" y="0"/>
          <a:chExt cx="0" cy="0"/>
        </a:xfrm>
      </p:grpSpPr>
      <p:sp>
        <p:nvSpPr>
          <p:cNvPr id="1719" name="Google Shape;1719;p1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0" name="Google Shape;1720;p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7" name="Shape 1727"/>
        <p:cNvGrpSpPr/>
        <p:nvPr/>
      </p:nvGrpSpPr>
      <p:grpSpPr>
        <a:xfrm>
          <a:off x="0" y="0"/>
          <a:ext cx="0" cy="0"/>
          <a:chOff x="0" y="0"/>
          <a:chExt cx="0" cy="0"/>
        </a:xfrm>
      </p:grpSpPr>
      <p:sp>
        <p:nvSpPr>
          <p:cNvPr id="1728" name="Google Shape;1728;p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9" name="Google Shape;1729;p1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0" name="Google Shape;1730;p1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4" name="Shape 1744"/>
        <p:cNvGrpSpPr/>
        <p:nvPr/>
      </p:nvGrpSpPr>
      <p:grpSpPr>
        <a:xfrm>
          <a:off x="0" y="0"/>
          <a:ext cx="0" cy="0"/>
          <a:chOff x="0" y="0"/>
          <a:chExt cx="0" cy="0"/>
        </a:xfrm>
      </p:grpSpPr>
      <p:sp>
        <p:nvSpPr>
          <p:cNvPr id="1745" name="Google Shape;1745;p1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6" name="Google Shape;1746;p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0" name="Shape 1750"/>
        <p:cNvGrpSpPr/>
        <p:nvPr/>
      </p:nvGrpSpPr>
      <p:grpSpPr>
        <a:xfrm>
          <a:off x="0" y="0"/>
          <a:ext cx="0" cy="0"/>
          <a:chOff x="0" y="0"/>
          <a:chExt cx="0" cy="0"/>
        </a:xfrm>
      </p:grpSpPr>
      <p:sp>
        <p:nvSpPr>
          <p:cNvPr id="1751" name="Google Shape;1751;p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2" name="Google Shape;1752;p1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MX"/>
              <a:t>Ajuste A y R – Punto 3</a:t>
            </a:r>
            <a:endParaRPr/>
          </a:p>
          <a:p>
            <a:pPr indent="0" lvl="0" marL="0" rtl="0" algn="l">
              <a:spcBef>
                <a:spcPts val="0"/>
              </a:spcBef>
              <a:spcAft>
                <a:spcPts val="0"/>
              </a:spcAft>
              <a:buNone/>
            </a:pPr>
            <a:r>
              <a:rPr lang="es-MX"/>
              <a:t>Punto 8 se eliminó: </a:t>
            </a:r>
            <a:r>
              <a:rPr lang="es-MX" sz="1200">
                <a:solidFill>
                  <a:schemeClr val="dk1"/>
                </a:solidFill>
                <a:latin typeface="Arial"/>
                <a:ea typeface="Arial"/>
                <a:cs typeface="Arial"/>
                <a:sym typeface="Arial"/>
              </a:rPr>
              <a:t>Capacidad organizacional y visión unificada del desempeño financiero,  respaldando la toma de decisiones comerciales</a:t>
            </a:r>
            <a:endParaRPr/>
          </a:p>
          <a:p>
            <a:pPr indent="0" lvl="0" marL="0" rtl="0" algn="l">
              <a:spcBef>
                <a:spcPts val="0"/>
              </a:spcBef>
              <a:spcAft>
                <a:spcPts val="0"/>
              </a:spcAft>
              <a:buNone/>
            </a:pPr>
            <a:r>
              <a:rPr lang="es-MX" sz="1200">
                <a:solidFill>
                  <a:schemeClr val="dk1"/>
                </a:solidFill>
                <a:latin typeface="Arial"/>
                <a:ea typeface="Arial"/>
                <a:cs typeface="Arial"/>
                <a:sym typeface="Arial"/>
              </a:rPr>
              <a:t>Modificar el 9.</a:t>
            </a:r>
            <a:endParaRPr/>
          </a:p>
        </p:txBody>
      </p:sp>
      <p:sp>
        <p:nvSpPr>
          <p:cNvPr id="1753" name="Google Shape;1753;p1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6" name="Shape 1766"/>
        <p:cNvGrpSpPr/>
        <p:nvPr/>
      </p:nvGrpSpPr>
      <p:grpSpPr>
        <a:xfrm>
          <a:off x="0" y="0"/>
          <a:ext cx="0" cy="0"/>
          <a:chOff x="0" y="0"/>
          <a:chExt cx="0" cy="0"/>
        </a:xfrm>
      </p:grpSpPr>
      <p:sp>
        <p:nvSpPr>
          <p:cNvPr id="1767" name="Google Shape;1767;p1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8" name="Google Shape;1768;p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4" name="Shape 1784"/>
        <p:cNvGrpSpPr/>
        <p:nvPr/>
      </p:nvGrpSpPr>
      <p:grpSpPr>
        <a:xfrm>
          <a:off x="0" y="0"/>
          <a:ext cx="0" cy="0"/>
          <a:chOff x="0" y="0"/>
          <a:chExt cx="0" cy="0"/>
        </a:xfrm>
      </p:grpSpPr>
      <p:sp>
        <p:nvSpPr>
          <p:cNvPr id="1785" name="Google Shape;1785;p1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6" name="Google Shape;1786;p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2" name="Shape 1802"/>
        <p:cNvGrpSpPr/>
        <p:nvPr/>
      </p:nvGrpSpPr>
      <p:grpSpPr>
        <a:xfrm>
          <a:off x="0" y="0"/>
          <a:ext cx="0" cy="0"/>
          <a:chOff x="0" y="0"/>
          <a:chExt cx="0" cy="0"/>
        </a:xfrm>
      </p:grpSpPr>
      <p:sp>
        <p:nvSpPr>
          <p:cNvPr id="1803" name="Google Shape;1803;p1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4" name="Google Shape;1804;p1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0" name="Shape 1820"/>
        <p:cNvGrpSpPr/>
        <p:nvPr/>
      </p:nvGrpSpPr>
      <p:grpSpPr>
        <a:xfrm>
          <a:off x="0" y="0"/>
          <a:ext cx="0" cy="0"/>
          <a:chOff x="0" y="0"/>
          <a:chExt cx="0" cy="0"/>
        </a:xfrm>
      </p:grpSpPr>
      <p:sp>
        <p:nvSpPr>
          <p:cNvPr id="1821" name="Google Shape;1821;p1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2" name="Google Shape;1822;p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8" name="Shape 1838"/>
        <p:cNvGrpSpPr/>
        <p:nvPr/>
      </p:nvGrpSpPr>
      <p:grpSpPr>
        <a:xfrm>
          <a:off x="0" y="0"/>
          <a:ext cx="0" cy="0"/>
          <a:chOff x="0" y="0"/>
          <a:chExt cx="0" cy="0"/>
        </a:xfrm>
      </p:grpSpPr>
      <p:sp>
        <p:nvSpPr>
          <p:cNvPr id="1839" name="Google Shape;1839;p1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0" name="Google Shape;1840;p1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5" name="Shape 1855"/>
        <p:cNvGrpSpPr/>
        <p:nvPr/>
      </p:nvGrpSpPr>
      <p:grpSpPr>
        <a:xfrm>
          <a:off x="0" y="0"/>
          <a:ext cx="0" cy="0"/>
          <a:chOff x="0" y="0"/>
          <a:chExt cx="0" cy="0"/>
        </a:xfrm>
      </p:grpSpPr>
      <p:sp>
        <p:nvSpPr>
          <p:cNvPr id="1856" name="Google Shape;1856;p1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7" name="Google Shape;1857;p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2" name="Shape 1872"/>
        <p:cNvGrpSpPr/>
        <p:nvPr/>
      </p:nvGrpSpPr>
      <p:grpSpPr>
        <a:xfrm>
          <a:off x="0" y="0"/>
          <a:ext cx="0" cy="0"/>
          <a:chOff x="0" y="0"/>
          <a:chExt cx="0" cy="0"/>
        </a:xfrm>
      </p:grpSpPr>
      <p:sp>
        <p:nvSpPr>
          <p:cNvPr id="1873" name="Google Shape;1873;p1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4" name="Google Shape;1874;p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9" name="Shape 1889"/>
        <p:cNvGrpSpPr/>
        <p:nvPr/>
      </p:nvGrpSpPr>
      <p:grpSpPr>
        <a:xfrm>
          <a:off x="0" y="0"/>
          <a:ext cx="0" cy="0"/>
          <a:chOff x="0" y="0"/>
          <a:chExt cx="0" cy="0"/>
        </a:xfrm>
      </p:grpSpPr>
      <p:sp>
        <p:nvSpPr>
          <p:cNvPr id="1890" name="Google Shape;1890;p1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1" name="Google Shape;1891;p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3" name="Shape 1903"/>
        <p:cNvGrpSpPr/>
        <p:nvPr/>
      </p:nvGrpSpPr>
      <p:grpSpPr>
        <a:xfrm>
          <a:off x="0" y="0"/>
          <a:ext cx="0" cy="0"/>
          <a:chOff x="0" y="0"/>
          <a:chExt cx="0" cy="0"/>
        </a:xfrm>
      </p:grpSpPr>
      <p:sp>
        <p:nvSpPr>
          <p:cNvPr id="1904" name="Google Shape;1904;p1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5" name="Google Shape;1905;p1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6" name="Google Shape;1906;p1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177800" lvl="0" marL="177800" marR="0" rtl="0" algn="r">
              <a:lnSpc>
                <a:spcPct val="100000"/>
              </a:lnSpc>
              <a:spcBef>
                <a:spcPts val="0"/>
              </a:spcBef>
              <a:spcAft>
                <a:spcPts val="0"/>
              </a:spcAft>
              <a:buClr>
                <a:srgbClr val="000000"/>
              </a:buClr>
              <a:buSzPts val="1200"/>
              <a:buFont typeface="Arial"/>
              <a:buChar char="•"/>
            </a:pPr>
            <a:fld id="{00000000-1234-1234-1234-123412341234}" type="slidenum">
              <a:rPr b="0" i="0" lang="es-MX"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0" name="Shape 1920"/>
        <p:cNvGrpSpPr/>
        <p:nvPr/>
      </p:nvGrpSpPr>
      <p:grpSpPr>
        <a:xfrm>
          <a:off x="0" y="0"/>
          <a:ext cx="0" cy="0"/>
          <a:chOff x="0" y="0"/>
          <a:chExt cx="0" cy="0"/>
        </a:xfrm>
      </p:grpSpPr>
      <p:sp>
        <p:nvSpPr>
          <p:cNvPr id="1921" name="Google Shape;1921;p1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2" name="Google Shape;1922;p1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6" name="Shape 1926"/>
        <p:cNvGrpSpPr/>
        <p:nvPr/>
      </p:nvGrpSpPr>
      <p:grpSpPr>
        <a:xfrm>
          <a:off x="0" y="0"/>
          <a:ext cx="0" cy="0"/>
          <a:chOff x="0" y="0"/>
          <a:chExt cx="0" cy="0"/>
        </a:xfrm>
      </p:grpSpPr>
      <p:sp>
        <p:nvSpPr>
          <p:cNvPr id="1927" name="Google Shape;1927;p1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8" name="Google Shape;1928;p1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9" name="Shape 1939"/>
        <p:cNvGrpSpPr/>
        <p:nvPr/>
      </p:nvGrpSpPr>
      <p:grpSpPr>
        <a:xfrm>
          <a:off x="0" y="0"/>
          <a:ext cx="0" cy="0"/>
          <a:chOff x="0" y="0"/>
          <a:chExt cx="0" cy="0"/>
        </a:xfrm>
      </p:grpSpPr>
      <p:sp>
        <p:nvSpPr>
          <p:cNvPr id="1940" name="Google Shape;1940;p1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1" name="Google Shape;1941;p1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8" name="Shape 1948"/>
        <p:cNvGrpSpPr/>
        <p:nvPr/>
      </p:nvGrpSpPr>
      <p:grpSpPr>
        <a:xfrm>
          <a:off x="0" y="0"/>
          <a:ext cx="0" cy="0"/>
          <a:chOff x="0" y="0"/>
          <a:chExt cx="0" cy="0"/>
        </a:xfrm>
      </p:grpSpPr>
      <p:sp>
        <p:nvSpPr>
          <p:cNvPr id="1949" name="Google Shape;1949;p1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0" name="Google Shape;1950;p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6.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6.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7.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6.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 Id="rId3" Type="http://schemas.openxmlformats.org/officeDocument/2006/relationships/image" Target="../media/image7.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6" name="Shape 16"/>
        <p:cNvGrpSpPr/>
        <p:nvPr/>
      </p:nvGrpSpPr>
      <p:grpSpPr>
        <a:xfrm>
          <a:off x="0" y="0"/>
          <a:ext cx="0" cy="0"/>
          <a:chOff x="0" y="0"/>
          <a:chExt cx="0" cy="0"/>
        </a:xfrm>
      </p:grpSpPr>
      <p:pic>
        <p:nvPicPr>
          <p:cNvPr id="17" name="Google Shape;17;p13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8" name="Google Shape;18;p134"/>
          <p:cNvSpPr txBox="1"/>
          <p:nvPr>
            <p:ph type="title"/>
          </p:nvPr>
        </p:nvSpPr>
        <p:spPr>
          <a:xfrm>
            <a:off x="950142" y="2035534"/>
            <a:ext cx="10179585" cy="2402661"/>
          </a:xfrm>
          <a:prstGeom prst="rect">
            <a:avLst/>
          </a:prstGeom>
          <a:noFill/>
          <a:ln>
            <a:noFill/>
          </a:ln>
        </p:spPr>
        <p:txBody>
          <a:bodyPr anchorCtr="0" anchor="ctr" bIns="36000" lIns="91425" spcFirstLastPara="1" rIns="91425" wrap="square" tIns="36000">
            <a:normAutofit/>
          </a:bodyPr>
          <a:lstStyle>
            <a:lvl1pPr lvl="0" algn="l">
              <a:lnSpc>
                <a:spcPct val="100000"/>
              </a:lnSpc>
              <a:spcBef>
                <a:spcPts val="0"/>
              </a:spcBef>
              <a:spcAft>
                <a:spcPts val="0"/>
              </a:spcAft>
              <a:buClr>
                <a:srgbClr val="FFFFFF"/>
              </a:buClr>
              <a:buSzPts val="3000"/>
              <a:buFont typeface="Play"/>
              <a:buNone/>
              <a:defRPr b="1" sz="3000" u="none">
                <a:solidFill>
                  <a:srgbClr val="FFFFFF"/>
                </a:solidFill>
                <a:latin typeface="Play"/>
                <a:ea typeface="Play"/>
                <a:cs typeface="Play"/>
                <a:sym typeface="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9" name="Google Shape;19;p134"/>
          <p:cNvPicPr preferRelativeResize="0"/>
          <p:nvPr/>
        </p:nvPicPr>
        <p:blipFill rotWithShape="1">
          <a:blip r:embed="rId3">
            <a:alphaModFix/>
          </a:blip>
          <a:srcRect b="0" l="0" r="0" t="0"/>
          <a:stretch/>
        </p:blipFill>
        <p:spPr>
          <a:xfrm>
            <a:off x="1066212" y="703884"/>
            <a:ext cx="1886373" cy="130725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20" name="Shape 20"/>
        <p:cNvGrpSpPr/>
        <p:nvPr/>
      </p:nvGrpSpPr>
      <p:grpSpPr>
        <a:xfrm>
          <a:off x="0" y="0"/>
          <a:ext cx="0" cy="0"/>
          <a:chOff x="0" y="0"/>
          <a:chExt cx="0" cy="0"/>
        </a:xfrm>
      </p:grpSpPr>
      <p:sp>
        <p:nvSpPr>
          <p:cNvPr id="21" name="Google Shape;21;p14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4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1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6" name="Shape 26"/>
        <p:cNvGrpSpPr/>
        <p:nvPr/>
      </p:nvGrpSpPr>
      <p:grpSpPr>
        <a:xfrm>
          <a:off x="0" y="0"/>
          <a:ext cx="0" cy="0"/>
          <a:chOff x="0" y="0"/>
          <a:chExt cx="0" cy="0"/>
        </a:xfrm>
      </p:grpSpPr>
      <p:sp>
        <p:nvSpPr>
          <p:cNvPr id="27" name="Google Shape;27;p1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2" name="Shape 32"/>
        <p:cNvGrpSpPr/>
        <p:nvPr/>
      </p:nvGrpSpPr>
      <p:grpSpPr>
        <a:xfrm>
          <a:off x="0" y="0"/>
          <a:ext cx="0" cy="0"/>
          <a:chOff x="0" y="0"/>
          <a:chExt cx="0" cy="0"/>
        </a:xfrm>
      </p:grpSpPr>
      <p:sp>
        <p:nvSpPr>
          <p:cNvPr id="33" name="Google Shape;33;p14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4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5" name="Google Shape;35;p1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8" name="Shape 38"/>
        <p:cNvGrpSpPr/>
        <p:nvPr/>
      </p:nvGrpSpPr>
      <p:grpSpPr>
        <a:xfrm>
          <a:off x="0" y="0"/>
          <a:ext cx="0" cy="0"/>
          <a:chOff x="0" y="0"/>
          <a:chExt cx="0" cy="0"/>
        </a:xfrm>
      </p:grpSpPr>
      <p:sp>
        <p:nvSpPr>
          <p:cNvPr id="39" name="Google Shape;39;p1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4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14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5" name="Shape 45"/>
        <p:cNvGrpSpPr/>
        <p:nvPr/>
      </p:nvGrpSpPr>
      <p:grpSpPr>
        <a:xfrm>
          <a:off x="0" y="0"/>
          <a:ext cx="0" cy="0"/>
          <a:chOff x="0" y="0"/>
          <a:chExt cx="0" cy="0"/>
        </a:xfrm>
      </p:grpSpPr>
      <p:sp>
        <p:nvSpPr>
          <p:cNvPr id="46" name="Google Shape;46;p14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4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14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14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14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4" name="Shape 54"/>
        <p:cNvGrpSpPr/>
        <p:nvPr/>
      </p:nvGrpSpPr>
      <p:grpSpPr>
        <a:xfrm>
          <a:off x="0" y="0"/>
          <a:ext cx="0" cy="0"/>
          <a:chOff x="0" y="0"/>
          <a:chExt cx="0" cy="0"/>
        </a:xfrm>
      </p:grpSpPr>
      <p:sp>
        <p:nvSpPr>
          <p:cNvPr id="55" name="Google Shape;55;p1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9" name="Shape 59"/>
        <p:cNvGrpSpPr/>
        <p:nvPr/>
      </p:nvGrpSpPr>
      <p:grpSpPr>
        <a:xfrm>
          <a:off x="0" y="0"/>
          <a:ext cx="0" cy="0"/>
          <a:chOff x="0" y="0"/>
          <a:chExt cx="0" cy="0"/>
        </a:xfrm>
      </p:grpSpPr>
      <p:sp>
        <p:nvSpPr>
          <p:cNvPr id="60" name="Google Shape;60;p1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3" name="Shape 63"/>
        <p:cNvGrpSpPr/>
        <p:nvPr/>
      </p:nvGrpSpPr>
      <p:grpSpPr>
        <a:xfrm>
          <a:off x="0" y="0"/>
          <a:ext cx="0" cy="0"/>
          <a:chOff x="0" y="0"/>
          <a:chExt cx="0" cy="0"/>
        </a:xfrm>
      </p:grpSpPr>
      <p:sp>
        <p:nvSpPr>
          <p:cNvPr id="64" name="Google Shape;64;p15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5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6" name="Google Shape;66;p15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1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0" name="Shape 70"/>
        <p:cNvGrpSpPr/>
        <p:nvPr/>
      </p:nvGrpSpPr>
      <p:grpSpPr>
        <a:xfrm>
          <a:off x="0" y="0"/>
          <a:ext cx="0" cy="0"/>
          <a:chOff x="0" y="0"/>
          <a:chExt cx="0" cy="0"/>
        </a:xfrm>
      </p:grpSpPr>
      <p:sp>
        <p:nvSpPr>
          <p:cNvPr id="71" name="Google Shape;71;p15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51"/>
          <p:cNvSpPr/>
          <p:nvPr>
            <p:ph idx="2" type="pic"/>
          </p:nvPr>
        </p:nvSpPr>
        <p:spPr>
          <a:xfrm>
            <a:off x="5183188" y="987425"/>
            <a:ext cx="6172200" cy="4873625"/>
          </a:xfrm>
          <a:prstGeom prst="rect">
            <a:avLst/>
          </a:prstGeom>
          <a:noFill/>
          <a:ln>
            <a:noFill/>
          </a:ln>
        </p:spPr>
      </p:sp>
      <p:sp>
        <p:nvSpPr>
          <p:cNvPr id="73" name="Google Shape;73;p15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1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7" name="Shape 77"/>
        <p:cNvGrpSpPr/>
        <p:nvPr/>
      </p:nvGrpSpPr>
      <p:grpSpPr>
        <a:xfrm>
          <a:off x="0" y="0"/>
          <a:ext cx="0" cy="0"/>
          <a:chOff x="0" y="0"/>
          <a:chExt cx="0" cy="0"/>
        </a:xfrm>
      </p:grpSpPr>
      <p:sp>
        <p:nvSpPr>
          <p:cNvPr id="78" name="Google Shape;78;p1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5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1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3" name="Shape 83"/>
        <p:cNvGrpSpPr/>
        <p:nvPr/>
      </p:nvGrpSpPr>
      <p:grpSpPr>
        <a:xfrm>
          <a:off x="0" y="0"/>
          <a:ext cx="0" cy="0"/>
          <a:chOff x="0" y="0"/>
          <a:chExt cx="0" cy="0"/>
        </a:xfrm>
      </p:grpSpPr>
      <p:sp>
        <p:nvSpPr>
          <p:cNvPr id="84" name="Google Shape;84;p15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15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1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Only">
  <p:cSld name="4_Title Only">
    <p:spTree>
      <p:nvGrpSpPr>
        <p:cNvPr id="93" name="Shape 93"/>
        <p:cNvGrpSpPr/>
        <p:nvPr/>
      </p:nvGrpSpPr>
      <p:grpSpPr>
        <a:xfrm>
          <a:off x="0" y="0"/>
          <a:ext cx="0" cy="0"/>
          <a:chOff x="0" y="0"/>
          <a:chExt cx="0" cy="0"/>
        </a:xfrm>
      </p:grpSpPr>
      <p:sp>
        <p:nvSpPr>
          <p:cNvPr id="94" name="Google Shape;94;p136"/>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sz="2400">
                <a:solidFill>
                  <a:srgbClr val="000000"/>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5" name="Google Shape;95;p136"/>
          <p:cNvSpPr/>
          <p:nvPr/>
        </p:nvSpPr>
        <p:spPr>
          <a:xfrm>
            <a:off x="1" y="338503"/>
            <a:ext cx="205737" cy="409411"/>
          </a:xfrm>
          <a:custGeom>
            <a:rect b="b" l="l" r="r" t="t"/>
            <a:pathLst>
              <a:path extrusionOk="0" h="648450" w="325860">
                <a:moveTo>
                  <a:pt x="325860" y="324226"/>
                </a:moveTo>
                <a:cubicBezTo>
                  <a:pt x="325860" y="503329"/>
                  <a:pt x="179912" y="648451"/>
                  <a:pt x="0" y="648451"/>
                </a:cubicBezTo>
                <a:lnTo>
                  <a:pt x="0" y="0"/>
                </a:lnTo>
                <a:cubicBezTo>
                  <a:pt x="180006" y="0"/>
                  <a:pt x="325860" y="145216"/>
                  <a:pt x="325860" y="324226"/>
                </a:cubicBezTo>
                <a:close/>
              </a:path>
            </a:pathLst>
          </a:custGeom>
          <a:solidFill>
            <a:srgbClr val="F5A42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Open Sans"/>
              <a:ea typeface="Open Sans"/>
              <a:cs typeface="Open Sans"/>
              <a:sym typeface="Open Sans"/>
            </a:endParaRPr>
          </a:p>
        </p:txBody>
      </p:sp>
      <p:pic>
        <p:nvPicPr>
          <p:cNvPr id="96" name="Google Shape;96;p136"/>
          <p:cNvPicPr preferRelativeResize="0"/>
          <p:nvPr/>
        </p:nvPicPr>
        <p:blipFill rotWithShape="1">
          <a:blip r:embed="rId2">
            <a:alphaModFix/>
          </a:blip>
          <a:srcRect b="0" l="0" r="0" t="0"/>
          <a:stretch/>
        </p:blipFill>
        <p:spPr>
          <a:xfrm>
            <a:off x="10909144" y="6450703"/>
            <a:ext cx="453862" cy="31371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showMasterSp="0">
  <p:cSld name="2_Title Slide">
    <p:spTree>
      <p:nvGrpSpPr>
        <p:cNvPr id="97" name="Shape 97"/>
        <p:cNvGrpSpPr/>
        <p:nvPr/>
      </p:nvGrpSpPr>
      <p:grpSpPr>
        <a:xfrm>
          <a:off x="0" y="0"/>
          <a:ext cx="0" cy="0"/>
          <a:chOff x="0" y="0"/>
          <a:chExt cx="0" cy="0"/>
        </a:xfrm>
      </p:grpSpPr>
      <p:pic>
        <p:nvPicPr>
          <p:cNvPr id="98" name="Google Shape;98;p168"/>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99" name="Google Shape;99;p168"/>
          <p:cNvSpPr txBox="1"/>
          <p:nvPr>
            <p:ph type="title"/>
          </p:nvPr>
        </p:nvSpPr>
        <p:spPr>
          <a:xfrm>
            <a:off x="950142" y="2035534"/>
            <a:ext cx="10179585" cy="2402661"/>
          </a:xfrm>
          <a:prstGeom prst="rect">
            <a:avLst/>
          </a:prstGeom>
          <a:noFill/>
          <a:ln>
            <a:noFill/>
          </a:ln>
        </p:spPr>
        <p:txBody>
          <a:bodyPr anchorCtr="0" anchor="ctr" bIns="36000" lIns="91425" spcFirstLastPara="1" rIns="91425" wrap="square" tIns="36000">
            <a:normAutofit/>
          </a:bodyPr>
          <a:lstStyle>
            <a:lvl1pPr lvl="0" algn="l">
              <a:lnSpc>
                <a:spcPct val="100000"/>
              </a:lnSpc>
              <a:spcBef>
                <a:spcPts val="0"/>
              </a:spcBef>
              <a:spcAft>
                <a:spcPts val="0"/>
              </a:spcAft>
              <a:buSzPts val="1400"/>
              <a:buNone/>
              <a:defRPr b="1" sz="3000" u="none">
                <a:solidFill>
                  <a:srgbClr val="FFFFFF"/>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pic>
        <p:nvPicPr>
          <p:cNvPr id="100" name="Google Shape;100;p168"/>
          <p:cNvPicPr preferRelativeResize="0"/>
          <p:nvPr/>
        </p:nvPicPr>
        <p:blipFill rotWithShape="1">
          <a:blip r:embed="rId3">
            <a:alphaModFix/>
          </a:blip>
          <a:srcRect b="0" l="0" r="0" t="0"/>
          <a:stretch/>
        </p:blipFill>
        <p:spPr>
          <a:xfrm>
            <a:off x="1066212" y="703884"/>
            <a:ext cx="1886373" cy="1307253"/>
          </a:xfrm>
          <a:prstGeom prst="rect">
            <a:avLst/>
          </a:prstGeom>
          <a:noFill/>
          <a:ln>
            <a:noFill/>
          </a:ln>
        </p:spPr>
      </p:pic>
      <p:sp>
        <p:nvSpPr>
          <p:cNvPr id="101" name="Google Shape;101;p168"/>
          <p:cNvSpPr txBox="1"/>
          <p:nvPr/>
        </p:nvSpPr>
        <p:spPr>
          <a:xfrm>
            <a:off x="950142" y="6059282"/>
            <a:ext cx="95410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400"/>
              <a:buFont typeface="Open Sans"/>
              <a:buNone/>
            </a:pPr>
            <a:r>
              <a:rPr b="1" lang="es-MX" sz="1400" cap="none">
                <a:solidFill>
                  <a:schemeClr val="lt1"/>
                </a:solidFill>
                <a:latin typeface="Open Sans"/>
                <a:ea typeface="Open Sans"/>
                <a:cs typeface="Open Sans"/>
                <a:sym typeface="Open Sans"/>
              </a:rPr>
              <a:t>DRAFT</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ast Page Logo" showMasterSp="0">
  <p:cSld name="2_Last Page Logo">
    <p:spTree>
      <p:nvGrpSpPr>
        <p:cNvPr id="102" name="Shape 102"/>
        <p:cNvGrpSpPr/>
        <p:nvPr/>
      </p:nvGrpSpPr>
      <p:grpSpPr>
        <a:xfrm>
          <a:off x="0" y="0"/>
          <a:ext cx="0" cy="0"/>
          <a:chOff x="0" y="0"/>
          <a:chExt cx="0" cy="0"/>
        </a:xfrm>
      </p:grpSpPr>
      <p:pic>
        <p:nvPicPr>
          <p:cNvPr id="103" name="Google Shape;103;p169"/>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04" name="Google Shape;104;p169"/>
          <p:cNvPicPr preferRelativeResize="0"/>
          <p:nvPr/>
        </p:nvPicPr>
        <p:blipFill rotWithShape="1">
          <a:blip r:embed="rId3">
            <a:alphaModFix/>
          </a:blip>
          <a:srcRect b="0" l="0" r="0" t="0"/>
          <a:stretch/>
        </p:blipFill>
        <p:spPr>
          <a:xfrm>
            <a:off x="8067660" y="790030"/>
            <a:ext cx="2748213" cy="1904507"/>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05" name="Shape 105"/>
        <p:cNvGrpSpPr/>
        <p:nvPr/>
      </p:nvGrpSpPr>
      <p:grpSpPr>
        <a:xfrm>
          <a:off x="0" y="0"/>
          <a:ext cx="0" cy="0"/>
          <a:chOff x="0" y="0"/>
          <a:chExt cx="0" cy="0"/>
        </a:xfrm>
      </p:grpSpPr>
      <p:pic>
        <p:nvPicPr>
          <p:cNvPr id="106" name="Google Shape;106;p170"/>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07" name="Google Shape;107;p170"/>
          <p:cNvSpPr txBox="1"/>
          <p:nvPr>
            <p:ph type="title"/>
          </p:nvPr>
        </p:nvSpPr>
        <p:spPr>
          <a:xfrm>
            <a:off x="950142" y="2035534"/>
            <a:ext cx="10179585" cy="2402661"/>
          </a:xfrm>
          <a:prstGeom prst="rect">
            <a:avLst/>
          </a:prstGeom>
          <a:noFill/>
          <a:ln>
            <a:noFill/>
          </a:ln>
        </p:spPr>
        <p:txBody>
          <a:bodyPr anchorCtr="0" anchor="ctr" bIns="36000" lIns="91425" spcFirstLastPara="1" rIns="91425" wrap="square" tIns="36000">
            <a:normAutofit/>
          </a:bodyPr>
          <a:lstStyle>
            <a:lvl1pPr lvl="0" algn="l">
              <a:lnSpc>
                <a:spcPct val="100000"/>
              </a:lnSpc>
              <a:spcBef>
                <a:spcPts val="0"/>
              </a:spcBef>
              <a:spcAft>
                <a:spcPts val="0"/>
              </a:spcAft>
              <a:buSzPts val="1400"/>
              <a:buNone/>
              <a:defRPr b="1" sz="3000" u="none">
                <a:solidFill>
                  <a:srgbClr val="FFFFFF"/>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pic>
        <p:nvPicPr>
          <p:cNvPr id="108" name="Google Shape;108;p170"/>
          <p:cNvPicPr preferRelativeResize="0"/>
          <p:nvPr/>
        </p:nvPicPr>
        <p:blipFill rotWithShape="1">
          <a:blip r:embed="rId3">
            <a:alphaModFix/>
          </a:blip>
          <a:srcRect b="0" l="0" r="0" t="0"/>
          <a:stretch/>
        </p:blipFill>
        <p:spPr>
          <a:xfrm>
            <a:off x="1066212" y="703884"/>
            <a:ext cx="1886373" cy="1307253"/>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109" name="Shape 109"/>
        <p:cNvGrpSpPr/>
        <p:nvPr/>
      </p:nvGrpSpPr>
      <p:grpSpPr>
        <a:xfrm>
          <a:off x="0" y="0"/>
          <a:ext cx="0" cy="0"/>
          <a:chOff x="0" y="0"/>
          <a:chExt cx="0" cy="0"/>
        </a:xfrm>
      </p:grpSpPr>
      <p:sp>
        <p:nvSpPr>
          <p:cNvPr id="110" name="Google Shape;110;p171"/>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sz="2400">
                <a:solidFill>
                  <a:srgbClr val="000000"/>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1" name="Google Shape;111;p171"/>
          <p:cNvSpPr/>
          <p:nvPr/>
        </p:nvSpPr>
        <p:spPr>
          <a:xfrm>
            <a:off x="1" y="338503"/>
            <a:ext cx="205737" cy="409411"/>
          </a:xfrm>
          <a:custGeom>
            <a:rect b="b" l="l" r="r" t="t"/>
            <a:pathLst>
              <a:path extrusionOk="0" h="648450" w="325860">
                <a:moveTo>
                  <a:pt x="325860" y="324226"/>
                </a:moveTo>
                <a:cubicBezTo>
                  <a:pt x="325860" y="503329"/>
                  <a:pt x="179912" y="648451"/>
                  <a:pt x="0" y="648451"/>
                </a:cubicBezTo>
                <a:lnTo>
                  <a:pt x="0" y="0"/>
                </a:lnTo>
                <a:cubicBezTo>
                  <a:pt x="180006" y="0"/>
                  <a:pt x="325860" y="145216"/>
                  <a:pt x="325860" y="324226"/>
                </a:cubicBezTo>
                <a:close/>
              </a:path>
            </a:pathLst>
          </a:custGeom>
          <a:solidFill>
            <a:srgbClr val="F5A42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Open Sans"/>
              <a:ea typeface="Open Sans"/>
              <a:cs typeface="Open Sans"/>
              <a:sym typeface="Open Sans"/>
            </a:endParaRPr>
          </a:p>
        </p:txBody>
      </p:sp>
      <p:pic>
        <p:nvPicPr>
          <p:cNvPr id="112" name="Google Shape;112;p171"/>
          <p:cNvPicPr preferRelativeResize="0"/>
          <p:nvPr/>
        </p:nvPicPr>
        <p:blipFill rotWithShape="1">
          <a:blip r:embed="rId2">
            <a:alphaModFix/>
          </a:blip>
          <a:srcRect b="0" l="0" r="0" t="0"/>
          <a:stretch/>
        </p:blipFill>
        <p:spPr>
          <a:xfrm>
            <a:off x="10909144" y="6450703"/>
            <a:ext cx="453862" cy="31371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st Page Logo" showMasterSp="0">
  <p:cSld name="Last Page Logo">
    <p:spTree>
      <p:nvGrpSpPr>
        <p:cNvPr id="113" name="Shape 113"/>
        <p:cNvGrpSpPr/>
        <p:nvPr/>
      </p:nvGrpSpPr>
      <p:grpSpPr>
        <a:xfrm>
          <a:off x="0" y="0"/>
          <a:ext cx="0" cy="0"/>
          <a:chOff x="0" y="0"/>
          <a:chExt cx="0" cy="0"/>
        </a:xfrm>
      </p:grpSpPr>
      <p:pic>
        <p:nvPicPr>
          <p:cNvPr id="114" name="Google Shape;114;p172"/>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15" name="Google Shape;115;p172"/>
          <p:cNvPicPr preferRelativeResize="0"/>
          <p:nvPr/>
        </p:nvPicPr>
        <p:blipFill rotWithShape="1">
          <a:blip r:embed="rId3">
            <a:alphaModFix/>
          </a:blip>
          <a:srcRect b="0" l="0" r="0" t="0"/>
          <a:stretch/>
        </p:blipFill>
        <p:spPr>
          <a:xfrm>
            <a:off x="8067660" y="790030"/>
            <a:ext cx="2748213" cy="1904507"/>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16" name="Shape 116"/>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17" name="Shape 117"/>
        <p:cNvGrpSpPr/>
        <p:nvPr/>
      </p:nvGrpSpPr>
      <p:grpSpPr>
        <a:xfrm>
          <a:off x="0" y="0"/>
          <a:ext cx="0" cy="0"/>
          <a:chOff x="0" y="0"/>
          <a:chExt cx="0" cy="0"/>
        </a:xfrm>
      </p:grpSpPr>
      <p:sp>
        <p:nvSpPr>
          <p:cNvPr id="118" name="Google Shape;118;p174"/>
          <p:cNvSpPr txBox="1"/>
          <p:nvPr>
            <p:ph type="title"/>
          </p:nvPr>
        </p:nvSpPr>
        <p:spPr>
          <a:xfrm>
            <a:off x="508799" y="250442"/>
            <a:ext cx="11352999" cy="461665"/>
          </a:xfrm>
          <a:prstGeom prst="rect">
            <a:avLst/>
          </a:prstGeom>
          <a:noFill/>
          <a:ln>
            <a:noFill/>
          </a:ln>
        </p:spPr>
        <p:txBody>
          <a:bodyPr anchorCtr="0" anchor="b" bIns="45700" lIns="91425" spcFirstLastPara="1" rIns="91425" wrap="square" tIns="45700">
            <a:spAutoFit/>
          </a:bodyPr>
          <a:lstStyle>
            <a:lvl1pPr lvl="0" algn="l">
              <a:lnSpc>
                <a:spcPct val="134833"/>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spTree>
      <p:nvGrpSpPr>
        <p:cNvPr id="119" name="Shape 119"/>
        <p:cNvGrpSpPr/>
        <p:nvPr/>
      </p:nvGrpSpPr>
      <p:grpSpPr>
        <a:xfrm>
          <a:off x="0" y="0"/>
          <a:ext cx="0" cy="0"/>
          <a:chOff x="0" y="0"/>
          <a:chExt cx="0" cy="0"/>
        </a:xfrm>
      </p:grpSpPr>
      <p:sp>
        <p:nvSpPr>
          <p:cNvPr id="120" name="Google Shape;120;p175"/>
          <p:cNvSpPr txBox="1"/>
          <p:nvPr>
            <p:ph type="title"/>
          </p:nvPr>
        </p:nvSpPr>
        <p:spPr>
          <a:xfrm>
            <a:off x="508799" y="55686"/>
            <a:ext cx="11352999" cy="86624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2400">
                <a:solidFill>
                  <a:srgbClr val="000000"/>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1" name="Google Shape;121;p175"/>
          <p:cNvSpPr/>
          <p:nvPr/>
        </p:nvSpPr>
        <p:spPr>
          <a:xfrm>
            <a:off x="1" y="338503"/>
            <a:ext cx="205737" cy="409411"/>
          </a:xfrm>
          <a:custGeom>
            <a:rect b="b" l="l" r="r" t="t"/>
            <a:pathLst>
              <a:path extrusionOk="0" h="648450" w="325860">
                <a:moveTo>
                  <a:pt x="325860" y="324226"/>
                </a:moveTo>
                <a:cubicBezTo>
                  <a:pt x="325860" y="503329"/>
                  <a:pt x="179912" y="648451"/>
                  <a:pt x="0" y="648451"/>
                </a:cubicBezTo>
                <a:lnTo>
                  <a:pt x="0" y="0"/>
                </a:lnTo>
                <a:cubicBezTo>
                  <a:pt x="180006" y="0"/>
                  <a:pt x="325860" y="145216"/>
                  <a:pt x="325860" y="324226"/>
                </a:cubicBezTo>
                <a:close/>
              </a:path>
            </a:pathLst>
          </a:custGeom>
          <a:solidFill>
            <a:srgbClr val="F5A42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Open Sans"/>
              <a:ea typeface="Open Sans"/>
              <a:cs typeface="Open Sans"/>
              <a:sym typeface="Open Sa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3_Title Only">
    <p:spTree>
      <p:nvGrpSpPr>
        <p:cNvPr id="122" name="Shape 122"/>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bg>
      <p:bgPr>
        <a:solidFill>
          <a:schemeClr val="lt1"/>
        </a:solidFill>
      </p:bgPr>
    </p:bg>
    <p:spTree>
      <p:nvGrpSpPr>
        <p:cNvPr id="123" name="Shape 123"/>
        <p:cNvGrpSpPr/>
        <p:nvPr/>
      </p:nvGrpSpPr>
      <p:grpSpPr>
        <a:xfrm>
          <a:off x="0" y="0"/>
          <a:ext cx="0" cy="0"/>
          <a:chOff x="0" y="0"/>
          <a:chExt cx="0" cy="0"/>
        </a:xfrm>
      </p:grpSpPr>
      <p:sp>
        <p:nvSpPr>
          <p:cNvPr id="124" name="Google Shape;124;p177"/>
          <p:cNvSpPr txBox="1"/>
          <p:nvPr>
            <p:ph idx="12" type="sldNum"/>
          </p:nvPr>
        </p:nvSpPr>
        <p:spPr>
          <a:xfrm>
            <a:off x="91313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1pPr>
            <a:lvl2pPr indent="0" lvl="1"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2pPr>
            <a:lvl3pPr indent="0" lvl="2"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3pPr>
            <a:lvl4pPr indent="0" lvl="3"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4pPr>
            <a:lvl5pPr indent="0" lvl="4"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5pPr>
            <a:lvl6pPr indent="0" lvl="5"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6pPr>
            <a:lvl7pPr indent="0" lvl="6"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7pPr>
            <a:lvl8pPr indent="0" lvl="7"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8pPr>
            <a:lvl9pPr indent="0" lvl="8"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lus" showMasterSp="0">
  <p:cSld name="1_Plus">
    <p:spTree>
      <p:nvGrpSpPr>
        <p:cNvPr id="125" name="Shape 125"/>
        <p:cNvGrpSpPr/>
        <p:nvPr/>
      </p:nvGrpSpPr>
      <p:grpSpPr>
        <a:xfrm>
          <a:off x="0" y="0"/>
          <a:ext cx="0" cy="0"/>
          <a:chOff x="0" y="0"/>
          <a:chExt cx="0" cy="0"/>
        </a:xfrm>
      </p:grpSpPr>
      <p:sp>
        <p:nvSpPr>
          <p:cNvPr id="126" name="Google Shape;126;p178"/>
          <p:cNvSpPr txBox="1"/>
          <p:nvPr>
            <p:ph type="title"/>
          </p:nvPr>
        </p:nvSpPr>
        <p:spPr>
          <a:xfrm>
            <a:off x="334963" y="1"/>
            <a:ext cx="11522075" cy="876687"/>
          </a:xfrm>
          <a:prstGeom prst="rect">
            <a:avLst/>
          </a:prstGeom>
          <a:noFill/>
          <a:ln>
            <a:noFill/>
          </a:ln>
        </p:spPr>
        <p:txBody>
          <a:bodyPr anchorCtr="0" anchor="b" bIns="45700" lIns="91425" spcFirstLastPara="1" rIns="91425" wrap="square" tIns="45700">
            <a:spAutoFit/>
          </a:bodyPr>
          <a:lstStyle>
            <a:lvl1pPr lvl="0" algn="l">
              <a:lnSpc>
                <a:spcPct val="134833"/>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showMasterSp="0">
  <p:cSld name="2_Blank">
    <p:spTree>
      <p:nvGrpSpPr>
        <p:cNvPr id="127" name="Shape 127"/>
        <p:cNvGrpSpPr/>
        <p:nvPr/>
      </p:nvGrpSpPr>
      <p:grpSpPr>
        <a:xfrm>
          <a:off x="0" y="0"/>
          <a:ext cx="0" cy="0"/>
          <a:chOff x="0" y="0"/>
          <a:chExt cx="0" cy="0"/>
        </a:xfrm>
      </p:grpSpPr>
      <p:sp>
        <p:nvSpPr>
          <p:cNvPr id="128" name="Google Shape;128;p179"/>
          <p:cNvSpPr txBox="1"/>
          <p:nvPr>
            <p:ph type="title"/>
          </p:nvPr>
        </p:nvSpPr>
        <p:spPr>
          <a:xfrm>
            <a:off x="334963" y="1"/>
            <a:ext cx="11522075" cy="876687"/>
          </a:xfrm>
          <a:prstGeom prst="rect">
            <a:avLst/>
          </a:prstGeom>
          <a:noFill/>
          <a:ln>
            <a:noFill/>
          </a:ln>
        </p:spPr>
        <p:txBody>
          <a:bodyPr anchorCtr="0" anchor="b" bIns="45700" lIns="91425" spcFirstLastPara="1" rIns="91425" wrap="square" tIns="45700">
            <a:spAutoFit/>
          </a:bodyPr>
          <a:lstStyle>
            <a:lvl1pPr lvl="0" algn="l">
              <a:lnSpc>
                <a:spcPct val="134833"/>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pic>
        <p:nvPicPr>
          <p:cNvPr id="129" name="Google Shape;129;p179"/>
          <p:cNvPicPr preferRelativeResize="0"/>
          <p:nvPr/>
        </p:nvPicPr>
        <p:blipFill rotWithShape="1">
          <a:blip r:embed="rId2">
            <a:alphaModFix/>
          </a:blip>
          <a:srcRect b="0" l="0" r="0" t="0"/>
          <a:stretch/>
        </p:blipFill>
        <p:spPr>
          <a:xfrm>
            <a:off x="10260000" y="6654664"/>
            <a:ext cx="1152000" cy="144000"/>
          </a:xfrm>
          <a:prstGeom prst="rect">
            <a:avLst/>
          </a:prstGeom>
          <a:noFill/>
          <a:ln>
            <a:noFill/>
          </a:ln>
        </p:spPr>
      </p:pic>
      <p:sp>
        <p:nvSpPr>
          <p:cNvPr id="130" name="Google Shape;130;p179"/>
          <p:cNvSpPr/>
          <p:nvPr/>
        </p:nvSpPr>
        <p:spPr>
          <a:xfrm>
            <a:off x="8263033" y="6642830"/>
            <a:ext cx="1368171" cy="165036"/>
          </a:xfrm>
          <a:prstGeom prst="rect">
            <a:avLst/>
          </a:prstGeom>
          <a:noFill/>
          <a:ln>
            <a:noFill/>
          </a:ln>
        </p:spPr>
        <p:txBody>
          <a:bodyPr anchorCtr="0" anchor="t" bIns="36000" lIns="36000" spcFirstLastPara="1" rIns="36000" wrap="square" tIns="36000">
            <a:spAutoFit/>
          </a:bodyPr>
          <a:lstStyle/>
          <a:p>
            <a:pPr indent="0" lvl="0" marL="0" marR="0" rtl="0" algn="ctr">
              <a:spcBef>
                <a:spcPts val="0"/>
              </a:spcBef>
              <a:spcAft>
                <a:spcPts val="0"/>
              </a:spcAft>
              <a:buClr>
                <a:srgbClr val="FFFFFF"/>
              </a:buClr>
              <a:buSzPts val="600"/>
              <a:buFont typeface="Open Sans"/>
              <a:buNone/>
            </a:pPr>
            <a:r>
              <a:rPr lang="es-MX" sz="600">
                <a:solidFill>
                  <a:srgbClr val="FFFFFF"/>
                </a:solidFill>
                <a:latin typeface="Open Sans"/>
                <a:ea typeface="Open Sans"/>
                <a:cs typeface="Open Sans"/>
                <a:sym typeface="Open Sans"/>
              </a:rPr>
              <a:t>060112 - KOF Operating m ... re vp1</a:t>
            </a:r>
            <a:endParaRPr/>
          </a:p>
        </p:txBody>
      </p:sp>
      <p:sp>
        <p:nvSpPr>
          <p:cNvPr id="131" name="Google Shape;131;p179"/>
          <p:cNvSpPr/>
          <p:nvPr/>
        </p:nvSpPr>
        <p:spPr>
          <a:xfrm>
            <a:off x="7348519" y="6642830"/>
            <a:ext cx="288036" cy="165036"/>
          </a:xfrm>
          <a:prstGeom prst="rect">
            <a:avLst/>
          </a:prstGeom>
          <a:noFill/>
          <a:ln>
            <a:noFill/>
          </a:ln>
        </p:spPr>
        <p:txBody>
          <a:bodyPr anchorCtr="0" anchor="t" bIns="36000" lIns="36000" spcFirstLastPara="1" rIns="36000" wrap="square" tIns="36000">
            <a:spAutoFit/>
          </a:bodyPr>
          <a:lstStyle/>
          <a:p>
            <a:pPr indent="0" lvl="0" marL="0" marR="0" rtl="0" algn="ctr">
              <a:spcBef>
                <a:spcPts val="0"/>
              </a:spcBef>
              <a:spcAft>
                <a:spcPts val="0"/>
              </a:spcAft>
              <a:buClr>
                <a:srgbClr val="FFFFFF"/>
              </a:buClr>
              <a:buSzPts val="600"/>
              <a:buFont typeface="Open Sans"/>
              <a:buNone/>
            </a:pPr>
            <a:r>
              <a:rPr lang="es-MX" sz="600">
                <a:solidFill>
                  <a:srgbClr val="FFFFFF"/>
                </a:solidFill>
                <a:latin typeface="Open Sans"/>
                <a:ea typeface="Open Sans"/>
                <a:cs typeface="Open Sans"/>
                <a:sym typeface="Open Sans"/>
              </a:rPr>
              <a:t>MEX</a:t>
            </a:r>
            <a:endParaRPr/>
          </a:p>
        </p:txBody>
      </p:sp>
      <p:pic>
        <p:nvPicPr>
          <p:cNvPr id="132" name="Google Shape;132;p179"/>
          <p:cNvPicPr preferRelativeResize="0"/>
          <p:nvPr/>
        </p:nvPicPr>
        <p:blipFill rotWithShape="1">
          <a:blip r:embed="rId3">
            <a:alphaModFix/>
          </a:blip>
          <a:srcRect b="0" l="0" r="0" t="0"/>
          <a:stretch/>
        </p:blipFill>
        <p:spPr>
          <a:xfrm>
            <a:off x="316547" y="6641266"/>
            <a:ext cx="6407451" cy="176799"/>
          </a:xfrm>
          <a:prstGeom prst="rect">
            <a:avLst/>
          </a:prstGeom>
          <a:noFill/>
          <a:ln>
            <a:noFill/>
          </a:ln>
        </p:spPr>
      </p:pic>
      <p:cxnSp>
        <p:nvCxnSpPr>
          <p:cNvPr id="133" name="Google Shape;133;p179"/>
          <p:cNvCxnSpPr/>
          <p:nvPr/>
        </p:nvCxnSpPr>
        <p:spPr>
          <a:xfrm>
            <a:off x="0" y="6598800"/>
            <a:ext cx="11857037" cy="0"/>
          </a:xfrm>
          <a:prstGeom prst="straightConnector1">
            <a:avLst/>
          </a:prstGeom>
          <a:noFill/>
          <a:ln cap="flat" cmpd="sng" w="9525">
            <a:solidFill>
              <a:schemeClr val="accent1"/>
            </a:solidFill>
            <a:prstDash val="solid"/>
            <a:miter lim="800000"/>
            <a:headEnd len="sm" w="sm" type="none"/>
            <a:tailEnd len="sm" w="sm" type="none"/>
          </a:ln>
        </p:spPr>
      </p:cxnSp>
      <p:cxnSp>
        <p:nvCxnSpPr>
          <p:cNvPr id="134" name="Google Shape;134;p179"/>
          <p:cNvCxnSpPr/>
          <p:nvPr/>
        </p:nvCxnSpPr>
        <p:spPr>
          <a:xfrm>
            <a:off x="334963" y="883539"/>
            <a:ext cx="762000" cy="0"/>
          </a:xfrm>
          <a:prstGeom prst="straightConnector1">
            <a:avLst/>
          </a:prstGeom>
          <a:noFill/>
          <a:ln cap="flat" cmpd="sng" w="9525">
            <a:solidFill>
              <a:srgbClr val="CC0000"/>
            </a:solidFill>
            <a:prstDash val="solid"/>
            <a:miter lim="800000"/>
            <a:headEnd len="sm" w="sm" type="none"/>
            <a:tailEnd len="sm" w="sm" type="none"/>
          </a:ln>
        </p:spPr>
      </p:cxnSp>
      <p:sp>
        <p:nvSpPr>
          <p:cNvPr id="135" name="Google Shape;135;p179"/>
          <p:cNvSpPr/>
          <p:nvPr/>
        </p:nvSpPr>
        <p:spPr>
          <a:xfrm>
            <a:off x="11715975" y="6649694"/>
            <a:ext cx="141064" cy="138499"/>
          </a:xfrm>
          <a:prstGeom prst="roundRect">
            <a:avLst>
              <a:gd fmla="val 0" name="adj"/>
            </a:avLst>
          </a:prstGeom>
          <a:solidFill>
            <a:schemeClr val="lt1"/>
          </a:solidFill>
          <a:ln>
            <a:noFill/>
          </a:ln>
        </p:spPr>
        <p:txBody>
          <a:bodyPr anchorCtr="0" anchor="ctr" bIns="0" lIns="0" spcFirstLastPara="1" rIns="0" wrap="square" tIns="0">
            <a:spAutoFit/>
          </a:bodyPr>
          <a:lstStyle/>
          <a:p>
            <a:pPr indent="0" lvl="0" marL="0" marR="0" rtl="0" algn="r">
              <a:spcBef>
                <a:spcPts val="0"/>
              </a:spcBef>
              <a:spcAft>
                <a:spcPts val="0"/>
              </a:spcAft>
              <a:buClr>
                <a:schemeClr val="lt2"/>
              </a:buClr>
              <a:buSzPts val="900"/>
              <a:buFont typeface="Open Sans"/>
              <a:buNone/>
            </a:pPr>
            <a:fld id="{00000000-1234-1234-1234-123412341234}" type="slidenum">
              <a:rPr b="0" lang="es-MX" sz="900">
                <a:solidFill>
                  <a:schemeClr val="lt2"/>
                </a:solidFill>
                <a:latin typeface="Open Sans"/>
                <a:ea typeface="Open Sans"/>
                <a:cs typeface="Open Sans"/>
                <a:sym typeface="Open Sans"/>
              </a:rPr>
              <a:t>‹#›</a:t>
            </a:fld>
            <a:endParaRPr b="0" sz="900">
              <a:solidFill>
                <a:schemeClr val="lt2"/>
              </a:solidFill>
              <a:latin typeface="Open Sans"/>
              <a:ea typeface="Open Sans"/>
              <a:cs typeface="Open Sans"/>
              <a:sym typeface="Open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136" name="Shape 136"/>
        <p:cNvGrpSpPr/>
        <p:nvPr/>
      </p:nvGrpSpPr>
      <p:grpSpPr>
        <a:xfrm>
          <a:off x="0" y="0"/>
          <a:ext cx="0" cy="0"/>
          <a:chOff x="0" y="0"/>
          <a:chExt cx="0" cy="0"/>
        </a:xfrm>
      </p:grpSpPr>
      <p:pic>
        <p:nvPicPr>
          <p:cNvPr id="137" name="Google Shape;137;p180"/>
          <p:cNvPicPr preferRelativeResize="0"/>
          <p:nvPr/>
        </p:nvPicPr>
        <p:blipFill rotWithShape="1">
          <a:blip r:embed="rId2">
            <a:alphaModFix/>
          </a:blip>
          <a:srcRect b="0" l="0" r="0" t="0"/>
          <a:stretch/>
        </p:blipFill>
        <p:spPr>
          <a:xfrm>
            <a:off x="8617037" y="4998212"/>
            <a:ext cx="3240000" cy="405000"/>
          </a:xfrm>
          <a:prstGeom prst="rect">
            <a:avLst/>
          </a:prstGeom>
          <a:noFill/>
          <a:ln>
            <a:noFill/>
          </a:ln>
        </p:spPr>
      </p:pic>
      <p:cxnSp>
        <p:nvCxnSpPr>
          <p:cNvPr id="138" name="Google Shape;138;p180"/>
          <p:cNvCxnSpPr/>
          <p:nvPr/>
        </p:nvCxnSpPr>
        <p:spPr>
          <a:xfrm>
            <a:off x="0" y="4873803"/>
            <a:ext cx="11857037" cy="0"/>
          </a:xfrm>
          <a:prstGeom prst="straightConnector1">
            <a:avLst/>
          </a:prstGeom>
          <a:noFill/>
          <a:ln cap="flat" cmpd="sng" w="19050">
            <a:solidFill>
              <a:schemeClr val="accent3"/>
            </a:solidFill>
            <a:prstDash val="solid"/>
            <a:miter lim="800000"/>
            <a:headEnd len="sm" w="sm" type="none"/>
            <a:tailEnd len="sm" w="sm" type="none"/>
          </a:ln>
        </p:spPr>
      </p:cxnSp>
      <p:sp>
        <p:nvSpPr>
          <p:cNvPr id="139" name="Google Shape;139;p180"/>
          <p:cNvSpPr/>
          <p:nvPr>
            <p:ph idx="2" type="pic"/>
          </p:nvPr>
        </p:nvSpPr>
        <p:spPr>
          <a:xfrm>
            <a:off x="8617039" y="3364443"/>
            <a:ext cx="3239999" cy="1399647"/>
          </a:xfrm>
          <a:prstGeom prst="rect">
            <a:avLst/>
          </a:prstGeom>
          <a:noFill/>
          <a:ln>
            <a:noFill/>
          </a:ln>
        </p:spPr>
      </p:sp>
      <p:pic>
        <p:nvPicPr>
          <p:cNvPr id="140" name="Google Shape;140;p180"/>
          <p:cNvPicPr preferRelativeResize="0"/>
          <p:nvPr/>
        </p:nvPicPr>
        <p:blipFill rotWithShape="1">
          <a:blip r:embed="rId3">
            <a:alphaModFix/>
          </a:blip>
          <a:srcRect b="0" l="0" r="0" t="0"/>
          <a:stretch/>
        </p:blipFill>
        <p:spPr>
          <a:xfrm>
            <a:off x="315468" y="6547288"/>
            <a:ext cx="6407451" cy="274344"/>
          </a:xfrm>
          <a:prstGeom prst="rect">
            <a:avLst/>
          </a:prstGeom>
          <a:noFill/>
          <a:ln>
            <a:noFill/>
          </a:ln>
        </p:spPr>
      </p:pic>
      <p:sp>
        <p:nvSpPr>
          <p:cNvPr id="141" name="Google Shape;141;p180"/>
          <p:cNvSpPr txBox="1"/>
          <p:nvPr>
            <p:ph idx="1" type="subTitle"/>
          </p:nvPr>
        </p:nvSpPr>
        <p:spPr>
          <a:xfrm>
            <a:off x="334965" y="2420938"/>
            <a:ext cx="11522075" cy="9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840E27"/>
              </a:buClr>
              <a:buSzPts val="1430"/>
              <a:buFont typeface="Noto Sans Symbols"/>
              <a:buNone/>
              <a:defRPr b="0" i="0" sz="2200" u="none" cap="none" strike="noStrike">
                <a:solidFill>
                  <a:schemeClr val="lt2"/>
                </a:solidFill>
                <a:latin typeface="Open Sans"/>
                <a:ea typeface="Open Sans"/>
                <a:cs typeface="Open Sans"/>
                <a:sym typeface="Open Sans"/>
              </a:defRPr>
            </a:lvl1pPr>
            <a:lvl2pPr lvl="1" marR="0" rtl="0" algn="ctr">
              <a:spcBef>
                <a:spcPts val="400"/>
              </a:spcBef>
              <a:spcAft>
                <a:spcPts val="0"/>
              </a:spcAft>
              <a:buClr>
                <a:srgbClr val="840E27"/>
              </a:buClr>
              <a:buSzPts val="2000"/>
              <a:buFont typeface="Noto Sans Symbols"/>
              <a:buNone/>
              <a:defRPr b="0" i="0" sz="2000" u="none" cap="none" strike="noStrike">
                <a:solidFill>
                  <a:srgbClr val="000000"/>
                </a:solidFill>
                <a:latin typeface="Open Sans"/>
                <a:ea typeface="Open Sans"/>
                <a:cs typeface="Open Sans"/>
                <a:sym typeface="Open Sans"/>
              </a:defRPr>
            </a:lvl2pPr>
            <a:lvl3pPr lvl="2" marR="0" rtl="0" algn="ctr">
              <a:spcBef>
                <a:spcPts val="360"/>
              </a:spcBef>
              <a:spcAft>
                <a:spcPts val="0"/>
              </a:spcAft>
              <a:buClr>
                <a:srgbClr val="840E27"/>
              </a:buClr>
              <a:buSzPts val="1800"/>
              <a:buFont typeface="Merriweather Sans"/>
              <a:buNone/>
              <a:defRPr b="0" i="0" sz="1800" u="none" cap="none" strike="noStrike">
                <a:solidFill>
                  <a:srgbClr val="000000"/>
                </a:solidFill>
                <a:latin typeface="Open Sans"/>
                <a:ea typeface="Open Sans"/>
                <a:cs typeface="Open Sans"/>
                <a:sym typeface="Open Sans"/>
              </a:defRPr>
            </a:lvl3pPr>
            <a:lvl4pPr lvl="3" marR="0" rtl="0" algn="ctr">
              <a:spcBef>
                <a:spcPts val="320"/>
              </a:spcBef>
              <a:spcAft>
                <a:spcPts val="0"/>
              </a:spcAft>
              <a:buClr>
                <a:srgbClr val="840E27"/>
              </a:buClr>
              <a:buSzPts val="1600"/>
              <a:buFont typeface="Arial"/>
              <a:buNone/>
              <a:defRPr b="0" i="0" sz="1600" u="none" cap="none" strike="noStrike">
                <a:solidFill>
                  <a:srgbClr val="000000"/>
                </a:solidFill>
                <a:latin typeface="Open Sans"/>
                <a:ea typeface="Open Sans"/>
                <a:cs typeface="Open Sans"/>
                <a:sym typeface="Open Sans"/>
              </a:defRPr>
            </a:lvl4pPr>
            <a:lvl5pPr lvl="4" marR="0" rtl="0" algn="ctr">
              <a:spcBef>
                <a:spcPts val="320"/>
              </a:spcBef>
              <a:spcAft>
                <a:spcPts val="0"/>
              </a:spcAft>
              <a:buClr>
                <a:srgbClr val="840E27"/>
              </a:buClr>
              <a:buSzPts val="1600"/>
              <a:buFont typeface="Open Sans"/>
              <a:buNone/>
              <a:defRPr b="0" i="0" sz="1600" u="none" cap="none" strike="noStrike">
                <a:solidFill>
                  <a:srgbClr val="000000"/>
                </a:solidFill>
                <a:latin typeface="Open Sans"/>
                <a:ea typeface="Open Sans"/>
                <a:cs typeface="Open Sans"/>
                <a:sym typeface="Open Sans"/>
              </a:defRPr>
            </a:lvl5pPr>
            <a:lvl6pPr lvl="5" marR="0" rtl="0" algn="ctr">
              <a:spcBef>
                <a:spcPts val="320"/>
              </a:spcBef>
              <a:spcAft>
                <a:spcPts val="0"/>
              </a:spcAft>
              <a:buClr>
                <a:schemeClr val="dk1"/>
              </a:buClr>
              <a:buSzPts val="1600"/>
              <a:buFont typeface="Open Sans"/>
              <a:buNone/>
              <a:defRPr b="0" i="0" sz="1600" u="none" cap="none" strike="noStrike">
                <a:solidFill>
                  <a:schemeClr val="dk1"/>
                </a:solidFill>
                <a:latin typeface="Open Sans"/>
                <a:ea typeface="Open Sans"/>
                <a:cs typeface="Open Sans"/>
                <a:sym typeface="Open Sans"/>
              </a:defRPr>
            </a:lvl6pPr>
            <a:lvl7pPr lvl="6" marR="0" rtl="0" algn="ctr">
              <a:spcBef>
                <a:spcPts val="320"/>
              </a:spcBef>
              <a:spcAft>
                <a:spcPts val="0"/>
              </a:spcAft>
              <a:buClr>
                <a:schemeClr val="dk1"/>
              </a:buClr>
              <a:buSzPts val="1600"/>
              <a:buFont typeface="Open Sans"/>
              <a:buNone/>
              <a:defRPr b="0" i="0" sz="1600" u="none" cap="none" strike="noStrike">
                <a:solidFill>
                  <a:schemeClr val="dk1"/>
                </a:solidFill>
                <a:latin typeface="Open Sans"/>
                <a:ea typeface="Open Sans"/>
                <a:cs typeface="Open Sans"/>
                <a:sym typeface="Open Sans"/>
              </a:defRPr>
            </a:lvl7pPr>
            <a:lvl8pPr lvl="7" marR="0" rtl="0" algn="ctr">
              <a:spcBef>
                <a:spcPts val="320"/>
              </a:spcBef>
              <a:spcAft>
                <a:spcPts val="0"/>
              </a:spcAft>
              <a:buClr>
                <a:schemeClr val="dk1"/>
              </a:buClr>
              <a:buSzPts val="1600"/>
              <a:buFont typeface="Open Sans"/>
              <a:buNone/>
              <a:defRPr b="0" i="0" sz="1600" u="none" cap="none" strike="noStrike">
                <a:solidFill>
                  <a:schemeClr val="dk1"/>
                </a:solidFill>
                <a:latin typeface="Open Sans"/>
                <a:ea typeface="Open Sans"/>
                <a:cs typeface="Open Sans"/>
                <a:sym typeface="Open Sans"/>
              </a:defRPr>
            </a:lvl8pPr>
            <a:lvl9pPr lvl="8" marR="0" rtl="0" algn="ctr">
              <a:spcBef>
                <a:spcPts val="320"/>
              </a:spcBef>
              <a:spcAft>
                <a:spcPts val="0"/>
              </a:spcAft>
              <a:buClr>
                <a:schemeClr val="dk1"/>
              </a:buClr>
              <a:buSzPts val="1600"/>
              <a:buFont typeface="Open Sans"/>
              <a:buNone/>
              <a:defRPr b="0" i="0" sz="1600" u="none" cap="none" strike="noStrike">
                <a:solidFill>
                  <a:schemeClr val="dk1"/>
                </a:solidFill>
                <a:latin typeface="Open Sans"/>
                <a:ea typeface="Open Sans"/>
                <a:cs typeface="Open Sans"/>
                <a:sym typeface="Open Sans"/>
              </a:defRPr>
            </a:lvl9pPr>
          </a:lstStyle>
          <a:p/>
        </p:txBody>
      </p:sp>
      <p:sp>
        <p:nvSpPr>
          <p:cNvPr id="142" name="Google Shape;142;p180"/>
          <p:cNvSpPr txBox="1"/>
          <p:nvPr>
            <p:ph type="ctrTitle"/>
          </p:nvPr>
        </p:nvSpPr>
        <p:spPr>
          <a:xfrm>
            <a:off x="334964" y="1268413"/>
            <a:ext cx="11522075" cy="900112"/>
          </a:xfrm>
          <a:prstGeom prst="rect">
            <a:avLst/>
          </a:prstGeom>
          <a:noFill/>
          <a:ln>
            <a:noFill/>
          </a:ln>
        </p:spPr>
        <p:txBody>
          <a:bodyPr anchorCtr="0" anchor="b" bIns="45700" lIns="91425" spcFirstLastPara="1" rIns="91425" wrap="square" tIns="45700">
            <a:spAutoFit/>
          </a:bodyPr>
          <a:lstStyle>
            <a:lvl1pPr lvl="0" algn="l">
              <a:lnSpc>
                <a:spcPct val="93346"/>
              </a:lnSpc>
              <a:spcBef>
                <a:spcPts val="0"/>
              </a:spcBef>
              <a:spcAft>
                <a:spcPts val="0"/>
              </a:spcAft>
              <a:buSzPts val="1400"/>
              <a:buNone/>
              <a:defRPr b="1" sz="26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ast Page Logo" showMasterSp="0">
  <p:cSld name="1_Last Page Logo">
    <p:spTree>
      <p:nvGrpSpPr>
        <p:cNvPr id="143" name="Shape 143"/>
        <p:cNvGrpSpPr/>
        <p:nvPr/>
      </p:nvGrpSpPr>
      <p:grpSpPr>
        <a:xfrm>
          <a:off x="0" y="0"/>
          <a:ext cx="0" cy="0"/>
          <a:chOff x="0" y="0"/>
          <a:chExt cx="0" cy="0"/>
        </a:xfrm>
      </p:grpSpPr>
      <p:pic>
        <p:nvPicPr>
          <p:cNvPr id="144" name="Google Shape;144;p181"/>
          <p:cNvPicPr preferRelativeResize="0"/>
          <p:nvPr/>
        </p:nvPicPr>
        <p:blipFill rotWithShape="1">
          <a:blip r:embed="rId2">
            <a:alphaModFix/>
          </a:blip>
          <a:srcRect b="0" l="0" r="0" t="0"/>
          <a:stretch/>
        </p:blipFill>
        <p:spPr>
          <a:xfrm>
            <a:off x="8617037" y="4998212"/>
            <a:ext cx="3240000" cy="405000"/>
          </a:xfrm>
          <a:prstGeom prst="rect">
            <a:avLst/>
          </a:prstGeom>
          <a:noFill/>
          <a:ln>
            <a:noFill/>
          </a:ln>
        </p:spPr>
      </p:pic>
      <p:cxnSp>
        <p:nvCxnSpPr>
          <p:cNvPr id="145" name="Google Shape;145;p181"/>
          <p:cNvCxnSpPr/>
          <p:nvPr/>
        </p:nvCxnSpPr>
        <p:spPr>
          <a:xfrm>
            <a:off x="0" y="5481638"/>
            <a:ext cx="11857037" cy="0"/>
          </a:xfrm>
          <a:prstGeom prst="straightConnector1">
            <a:avLst/>
          </a:prstGeom>
          <a:noFill/>
          <a:ln cap="flat" cmpd="sng" w="19050">
            <a:solidFill>
              <a:schemeClr val="accent3"/>
            </a:solidFill>
            <a:prstDash val="solid"/>
            <a:miter lim="800000"/>
            <a:headEnd len="sm" w="sm" type="none"/>
            <a:tailEnd len="sm" w="sm"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mp;S2 Title and Content">
  <p:cSld name="P&amp;S2 Title and Content">
    <p:spTree>
      <p:nvGrpSpPr>
        <p:cNvPr id="146" name="Shape 146"/>
        <p:cNvGrpSpPr/>
        <p:nvPr/>
      </p:nvGrpSpPr>
      <p:grpSpPr>
        <a:xfrm>
          <a:off x="0" y="0"/>
          <a:ext cx="0" cy="0"/>
          <a:chOff x="0" y="0"/>
          <a:chExt cx="0" cy="0"/>
        </a:xfrm>
      </p:grpSpPr>
      <p:sp>
        <p:nvSpPr>
          <p:cNvPr id="147" name="Google Shape;147;p182"/>
          <p:cNvSpPr txBox="1"/>
          <p:nvPr>
            <p:ph idx="1" type="body"/>
          </p:nvPr>
        </p:nvSpPr>
        <p:spPr>
          <a:xfrm>
            <a:off x="508800" y="717793"/>
            <a:ext cx="8400000" cy="292644"/>
          </a:xfrm>
          <a:prstGeom prst="rect">
            <a:avLst/>
          </a:prstGeom>
          <a:noFill/>
          <a:ln>
            <a:noFill/>
          </a:ln>
        </p:spPr>
        <p:txBody>
          <a:bodyPr anchorCtr="0" anchor="t" bIns="0" lIns="91425" spcFirstLastPara="1" rIns="91425" wrap="square" tIns="0">
            <a:spAutoFit/>
          </a:bodyPr>
          <a:lstStyle>
            <a:lvl1pPr indent="-228600" lvl="0" marL="457200" marR="0" rtl="0" algn="l">
              <a:spcBef>
                <a:spcPts val="373"/>
              </a:spcBef>
              <a:spcAft>
                <a:spcPts val="0"/>
              </a:spcAft>
              <a:buClr>
                <a:srgbClr val="840E27"/>
              </a:buClr>
              <a:buSzPts val="1214"/>
              <a:buFont typeface="Noto Sans Symbols"/>
              <a:buNone/>
              <a:defRPr b="0" i="0" sz="1867" u="none" cap="none" strike="noStrike">
                <a:solidFill>
                  <a:srgbClr val="231F25"/>
                </a:solidFill>
                <a:latin typeface="Open Sans"/>
                <a:ea typeface="Open Sans"/>
                <a:cs typeface="Open Sans"/>
                <a:sym typeface="Open Sans"/>
              </a:defRPr>
            </a:lvl1pPr>
            <a:lvl2pPr indent="-330200" lvl="1" marL="914400" marR="0" rtl="0" algn="just">
              <a:spcBef>
                <a:spcPts val="320"/>
              </a:spcBef>
              <a:spcAft>
                <a:spcPts val="0"/>
              </a:spcAft>
              <a:buClr>
                <a:srgbClr val="840E27"/>
              </a:buClr>
              <a:buSzPts val="1600"/>
              <a:buFont typeface="Noto Sans Symbols"/>
              <a:buChar char="▪"/>
              <a:defRPr b="0" i="0" sz="1600" u="none" cap="none" strike="noStrike">
                <a:solidFill>
                  <a:srgbClr val="000000"/>
                </a:solidFill>
                <a:latin typeface="Open Sans"/>
                <a:ea typeface="Open Sans"/>
                <a:cs typeface="Open Sans"/>
                <a:sym typeface="Open Sans"/>
              </a:defRPr>
            </a:lvl2pPr>
            <a:lvl3pPr indent="-330200" lvl="2" marL="1371600" marR="0" rtl="0" algn="just">
              <a:spcBef>
                <a:spcPts val="320"/>
              </a:spcBef>
              <a:spcAft>
                <a:spcPts val="0"/>
              </a:spcAft>
              <a:buClr>
                <a:srgbClr val="840E27"/>
              </a:buClr>
              <a:buSzPts val="1600"/>
              <a:buFont typeface="Merriweather Sans"/>
              <a:buChar char="−"/>
              <a:defRPr b="0" i="0" sz="1600" u="none" cap="none" strike="noStrike">
                <a:solidFill>
                  <a:srgbClr val="000000"/>
                </a:solidFill>
                <a:latin typeface="Open Sans"/>
                <a:ea typeface="Open Sans"/>
                <a:cs typeface="Open Sans"/>
                <a:sym typeface="Open Sans"/>
              </a:defRPr>
            </a:lvl3pPr>
            <a:lvl4pPr indent="-330200" lvl="3" marL="1828800" marR="0" rtl="0" algn="just">
              <a:spcBef>
                <a:spcPts val="320"/>
              </a:spcBef>
              <a:spcAft>
                <a:spcPts val="0"/>
              </a:spcAft>
              <a:buClr>
                <a:srgbClr val="840E27"/>
              </a:buClr>
              <a:buSzPts val="1600"/>
              <a:buFont typeface="Arial"/>
              <a:buChar char="•"/>
              <a:defRPr b="0" i="0" sz="1600" u="none" cap="none" strike="noStrike">
                <a:solidFill>
                  <a:srgbClr val="000000"/>
                </a:solidFill>
                <a:latin typeface="Open Sans"/>
                <a:ea typeface="Open Sans"/>
                <a:cs typeface="Open Sans"/>
                <a:sym typeface="Open Sans"/>
              </a:defRPr>
            </a:lvl4pPr>
            <a:lvl5pPr indent="-330200" lvl="4" marL="2286000" marR="0" rtl="0" algn="just">
              <a:spcBef>
                <a:spcPts val="320"/>
              </a:spcBef>
              <a:spcAft>
                <a:spcPts val="0"/>
              </a:spcAft>
              <a:buClr>
                <a:srgbClr val="840E27"/>
              </a:buClr>
              <a:buSzPts val="1600"/>
              <a:buFont typeface="Open Sans"/>
              <a:buChar char="»"/>
              <a:defRPr b="0" i="0" sz="1600" u="none" cap="none" strike="noStrike">
                <a:solidFill>
                  <a:srgbClr val="000000"/>
                </a:solidFill>
                <a:latin typeface="Open Sans"/>
                <a:ea typeface="Open Sans"/>
                <a:cs typeface="Open Sans"/>
                <a:sym typeface="Open Sans"/>
              </a:defRPr>
            </a:lvl5pPr>
            <a:lvl6pPr indent="-397954" lvl="5" marL="27432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6pPr>
            <a:lvl7pPr indent="-397954" lvl="6" marL="32004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7pPr>
            <a:lvl8pPr indent="-397954" lvl="7" marL="36576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8pPr>
            <a:lvl9pPr indent="-397954" lvl="8" marL="41148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9pPr>
          </a:lstStyle>
          <a:p/>
        </p:txBody>
      </p:sp>
      <p:sp>
        <p:nvSpPr>
          <p:cNvPr id="148" name="Google Shape;148;p182"/>
          <p:cNvSpPr txBox="1"/>
          <p:nvPr>
            <p:ph type="title"/>
          </p:nvPr>
        </p:nvSpPr>
        <p:spPr>
          <a:xfrm>
            <a:off x="508800" y="250442"/>
            <a:ext cx="8400000" cy="461665"/>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SzPts val="1400"/>
              <a:buNone/>
              <a:defRPr sz="2400">
                <a:solidFill>
                  <a:srgbClr val="000000"/>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9" name="Google Shape;149;p182"/>
          <p:cNvSpPr txBox="1"/>
          <p:nvPr>
            <p:ph idx="2" type="body"/>
          </p:nvPr>
        </p:nvSpPr>
        <p:spPr>
          <a:xfrm>
            <a:off x="513600" y="1420800"/>
            <a:ext cx="11203200" cy="4838400"/>
          </a:xfrm>
          <a:prstGeom prst="rect">
            <a:avLst/>
          </a:prstGeom>
          <a:noFill/>
          <a:ln>
            <a:noFill/>
          </a:ln>
        </p:spPr>
        <p:txBody>
          <a:bodyPr anchorCtr="0" anchor="t" bIns="45700" lIns="91425" spcFirstLastPara="1" rIns="91425" wrap="square" tIns="45700">
            <a:noAutofit/>
          </a:bodyPr>
          <a:lstStyle>
            <a:lvl1pPr indent="-347154" lvl="0" marL="457200" marR="0" rtl="0" algn="just">
              <a:spcBef>
                <a:spcPts val="373"/>
              </a:spcBef>
              <a:spcAft>
                <a:spcPts val="0"/>
              </a:spcAft>
              <a:buClr>
                <a:srgbClr val="000000"/>
              </a:buClr>
              <a:buSzPts val="1867"/>
              <a:buFont typeface="Arial"/>
              <a:buChar char="•"/>
              <a:defRPr b="0" i="0" sz="1867" u="none" cap="none" strike="noStrike">
                <a:solidFill>
                  <a:srgbClr val="000000"/>
                </a:solidFill>
                <a:latin typeface="Open Sans"/>
                <a:ea typeface="Open Sans"/>
                <a:cs typeface="Open Sans"/>
                <a:sym typeface="Open Sans"/>
              </a:defRPr>
            </a:lvl1pPr>
            <a:lvl2pPr indent="-347154" lvl="1" marL="914400" marR="0" rtl="0" algn="just">
              <a:spcBef>
                <a:spcPts val="373"/>
              </a:spcBef>
              <a:spcAft>
                <a:spcPts val="0"/>
              </a:spcAft>
              <a:buClr>
                <a:srgbClr val="000000"/>
              </a:buClr>
              <a:buSzPts val="1867"/>
              <a:buFont typeface="Arial"/>
              <a:buChar char="−"/>
              <a:defRPr b="0" i="0" sz="1867" u="none" cap="none" strike="noStrike">
                <a:solidFill>
                  <a:srgbClr val="000000"/>
                </a:solidFill>
                <a:latin typeface="Open Sans"/>
                <a:ea typeface="Open Sans"/>
                <a:cs typeface="Open Sans"/>
                <a:sym typeface="Open Sans"/>
              </a:defRPr>
            </a:lvl2pPr>
            <a:lvl3pPr indent="-347154" lvl="2" marL="1371600" marR="0" rtl="0" algn="just">
              <a:spcBef>
                <a:spcPts val="373"/>
              </a:spcBef>
              <a:spcAft>
                <a:spcPts val="0"/>
              </a:spcAft>
              <a:buClr>
                <a:srgbClr val="000000"/>
              </a:buClr>
              <a:buSzPts val="1867"/>
              <a:buFont typeface="Noto Sans Symbols"/>
              <a:buChar char="▪"/>
              <a:defRPr b="0" i="0" sz="1867" u="none" cap="none" strike="noStrike">
                <a:solidFill>
                  <a:srgbClr val="000000"/>
                </a:solidFill>
                <a:latin typeface="Open Sans"/>
                <a:ea typeface="Open Sans"/>
                <a:cs typeface="Open Sans"/>
                <a:sym typeface="Open Sans"/>
              </a:defRPr>
            </a:lvl3pPr>
            <a:lvl4pPr indent="-347154" lvl="3" marL="1828800" marR="0" rtl="0" algn="just">
              <a:spcBef>
                <a:spcPts val="373"/>
              </a:spcBef>
              <a:spcAft>
                <a:spcPts val="0"/>
              </a:spcAft>
              <a:buClr>
                <a:srgbClr val="000000"/>
              </a:buClr>
              <a:buSzPts val="1867"/>
              <a:buFont typeface="Arial"/>
              <a:buChar char="›"/>
              <a:defRPr b="0" i="0" sz="1867" u="none" cap="none" strike="noStrike">
                <a:solidFill>
                  <a:srgbClr val="000000"/>
                </a:solidFill>
                <a:latin typeface="Open Sans"/>
                <a:ea typeface="Open Sans"/>
                <a:cs typeface="Open Sans"/>
                <a:sym typeface="Open Sans"/>
              </a:defRPr>
            </a:lvl4pPr>
            <a:lvl5pPr indent="-323443" lvl="4" marL="2286000" marR="0" rtl="0" algn="just">
              <a:spcBef>
                <a:spcPts val="373"/>
              </a:spcBef>
              <a:spcAft>
                <a:spcPts val="0"/>
              </a:spcAft>
              <a:buClr>
                <a:srgbClr val="000000"/>
              </a:buClr>
              <a:buSzPts val="1494"/>
              <a:buFont typeface="Courier New"/>
              <a:buChar char="o"/>
              <a:defRPr b="0" i="0" sz="1867" u="none" cap="none" strike="noStrike">
                <a:solidFill>
                  <a:srgbClr val="000000"/>
                </a:solidFill>
                <a:latin typeface="Open Sans"/>
                <a:ea typeface="Open Sans"/>
                <a:cs typeface="Open Sans"/>
                <a:sym typeface="Open Sans"/>
              </a:defRPr>
            </a:lvl5pPr>
            <a:lvl6pPr indent="-397954" lvl="5" marL="27432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6pPr>
            <a:lvl7pPr indent="-397954" lvl="6" marL="32004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7pPr>
            <a:lvl8pPr indent="-397954" lvl="7" marL="36576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8pPr>
            <a:lvl9pPr indent="-397954" lvl="8" marL="41148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9pPr>
          </a:lstStyle>
          <a:p/>
        </p:txBody>
      </p:sp>
      <p:sp>
        <p:nvSpPr>
          <p:cNvPr id="150" name="Google Shape;150;p182"/>
          <p:cNvSpPr/>
          <p:nvPr/>
        </p:nvSpPr>
        <p:spPr>
          <a:xfrm>
            <a:off x="1" y="338503"/>
            <a:ext cx="205737" cy="409411"/>
          </a:xfrm>
          <a:custGeom>
            <a:rect b="b" l="l" r="r" t="t"/>
            <a:pathLst>
              <a:path extrusionOk="0" h="648450" w="325860">
                <a:moveTo>
                  <a:pt x="325860" y="324226"/>
                </a:moveTo>
                <a:cubicBezTo>
                  <a:pt x="325860" y="503329"/>
                  <a:pt x="179912" y="648451"/>
                  <a:pt x="0" y="648451"/>
                </a:cubicBezTo>
                <a:lnTo>
                  <a:pt x="0" y="0"/>
                </a:lnTo>
                <a:cubicBezTo>
                  <a:pt x="180006" y="0"/>
                  <a:pt x="325860" y="145216"/>
                  <a:pt x="325860" y="324226"/>
                </a:cubicBezTo>
                <a:close/>
              </a:path>
            </a:pathLst>
          </a:custGeom>
          <a:solidFill>
            <a:srgbClr val="F5A42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Open Sans"/>
              <a:ea typeface="Open Sans"/>
              <a:cs typeface="Open Sans"/>
              <a:sym typeface="Open Sans"/>
            </a:endParaRPr>
          </a:p>
        </p:txBody>
      </p:sp>
      <p:pic>
        <p:nvPicPr>
          <p:cNvPr id="151" name="Google Shape;151;p182"/>
          <p:cNvPicPr preferRelativeResize="0"/>
          <p:nvPr/>
        </p:nvPicPr>
        <p:blipFill rotWithShape="1">
          <a:blip r:embed="rId2">
            <a:alphaModFix/>
          </a:blip>
          <a:srcRect b="0" l="0" r="0" t="0"/>
          <a:stretch/>
        </p:blipFill>
        <p:spPr>
          <a:xfrm>
            <a:off x="10794844" y="276031"/>
            <a:ext cx="891072" cy="615912"/>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mp;S2 Title and Content">
  <p:cSld name="P&amp;S2 Title and Content">
    <p:spTree>
      <p:nvGrpSpPr>
        <p:cNvPr id="156" name="Shape 156"/>
        <p:cNvGrpSpPr/>
        <p:nvPr/>
      </p:nvGrpSpPr>
      <p:grpSpPr>
        <a:xfrm>
          <a:off x="0" y="0"/>
          <a:ext cx="0" cy="0"/>
          <a:chOff x="0" y="0"/>
          <a:chExt cx="0" cy="0"/>
        </a:xfrm>
      </p:grpSpPr>
      <p:sp>
        <p:nvSpPr>
          <p:cNvPr id="157" name="Google Shape;157;p138"/>
          <p:cNvSpPr txBox="1"/>
          <p:nvPr>
            <p:ph idx="1" type="body"/>
          </p:nvPr>
        </p:nvSpPr>
        <p:spPr>
          <a:xfrm>
            <a:off x="508800" y="717793"/>
            <a:ext cx="8400000" cy="292644"/>
          </a:xfrm>
          <a:prstGeom prst="rect">
            <a:avLst/>
          </a:prstGeom>
          <a:noFill/>
          <a:ln>
            <a:noFill/>
          </a:ln>
        </p:spPr>
        <p:txBody>
          <a:bodyPr anchorCtr="0" anchor="t" bIns="0" lIns="91425" spcFirstLastPara="1" rIns="91425" wrap="square" tIns="0">
            <a:spAutoFit/>
          </a:bodyPr>
          <a:lstStyle>
            <a:lvl1pPr indent="-228600" lvl="0" marL="457200" marR="0" rtl="0" algn="l">
              <a:spcBef>
                <a:spcPts val="373"/>
              </a:spcBef>
              <a:spcAft>
                <a:spcPts val="0"/>
              </a:spcAft>
              <a:buClr>
                <a:srgbClr val="840E27"/>
              </a:buClr>
              <a:buSzPts val="1214"/>
              <a:buFont typeface="Noto Sans Symbols"/>
              <a:buNone/>
              <a:defRPr b="0" i="0" sz="1867" u="none" cap="none" strike="noStrike">
                <a:solidFill>
                  <a:srgbClr val="231F25"/>
                </a:solidFill>
                <a:latin typeface="Open Sans"/>
                <a:ea typeface="Open Sans"/>
                <a:cs typeface="Open Sans"/>
                <a:sym typeface="Open Sans"/>
              </a:defRPr>
            </a:lvl1pPr>
            <a:lvl2pPr indent="-330200" lvl="1" marL="914400" marR="0" rtl="0" algn="just">
              <a:spcBef>
                <a:spcPts val="320"/>
              </a:spcBef>
              <a:spcAft>
                <a:spcPts val="0"/>
              </a:spcAft>
              <a:buClr>
                <a:srgbClr val="840E27"/>
              </a:buClr>
              <a:buSzPts val="1600"/>
              <a:buFont typeface="Noto Sans Symbols"/>
              <a:buChar char="▪"/>
              <a:defRPr b="0" i="0" sz="1600" u="none" cap="none" strike="noStrike">
                <a:solidFill>
                  <a:srgbClr val="000000"/>
                </a:solidFill>
                <a:latin typeface="Open Sans"/>
                <a:ea typeface="Open Sans"/>
                <a:cs typeface="Open Sans"/>
                <a:sym typeface="Open Sans"/>
              </a:defRPr>
            </a:lvl2pPr>
            <a:lvl3pPr indent="-330200" lvl="2" marL="1371600" marR="0" rtl="0" algn="just">
              <a:spcBef>
                <a:spcPts val="320"/>
              </a:spcBef>
              <a:spcAft>
                <a:spcPts val="0"/>
              </a:spcAft>
              <a:buClr>
                <a:srgbClr val="840E27"/>
              </a:buClr>
              <a:buSzPts val="1600"/>
              <a:buFont typeface="Merriweather Sans"/>
              <a:buChar char="−"/>
              <a:defRPr b="0" i="0" sz="1600" u="none" cap="none" strike="noStrike">
                <a:solidFill>
                  <a:srgbClr val="000000"/>
                </a:solidFill>
                <a:latin typeface="Open Sans"/>
                <a:ea typeface="Open Sans"/>
                <a:cs typeface="Open Sans"/>
                <a:sym typeface="Open Sans"/>
              </a:defRPr>
            </a:lvl3pPr>
            <a:lvl4pPr indent="-330200" lvl="3" marL="1828800" marR="0" rtl="0" algn="just">
              <a:spcBef>
                <a:spcPts val="320"/>
              </a:spcBef>
              <a:spcAft>
                <a:spcPts val="0"/>
              </a:spcAft>
              <a:buClr>
                <a:srgbClr val="840E27"/>
              </a:buClr>
              <a:buSzPts val="1600"/>
              <a:buFont typeface="Arial"/>
              <a:buChar char="•"/>
              <a:defRPr b="0" i="0" sz="1600" u="none" cap="none" strike="noStrike">
                <a:solidFill>
                  <a:srgbClr val="000000"/>
                </a:solidFill>
                <a:latin typeface="Open Sans"/>
                <a:ea typeface="Open Sans"/>
                <a:cs typeface="Open Sans"/>
                <a:sym typeface="Open Sans"/>
              </a:defRPr>
            </a:lvl4pPr>
            <a:lvl5pPr indent="-330200" lvl="4" marL="2286000" marR="0" rtl="0" algn="just">
              <a:spcBef>
                <a:spcPts val="320"/>
              </a:spcBef>
              <a:spcAft>
                <a:spcPts val="0"/>
              </a:spcAft>
              <a:buClr>
                <a:srgbClr val="840E27"/>
              </a:buClr>
              <a:buSzPts val="1600"/>
              <a:buFont typeface="Open Sans"/>
              <a:buChar char="»"/>
              <a:defRPr b="0" i="0" sz="1600" u="none" cap="none" strike="noStrike">
                <a:solidFill>
                  <a:srgbClr val="000000"/>
                </a:solidFill>
                <a:latin typeface="Open Sans"/>
                <a:ea typeface="Open Sans"/>
                <a:cs typeface="Open Sans"/>
                <a:sym typeface="Open Sans"/>
              </a:defRPr>
            </a:lvl5pPr>
            <a:lvl6pPr indent="-397954" lvl="5" marL="27432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6pPr>
            <a:lvl7pPr indent="-397954" lvl="6" marL="32004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7pPr>
            <a:lvl8pPr indent="-397954" lvl="7" marL="36576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8pPr>
            <a:lvl9pPr indent="-397954" lvl="8" marL="41148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9pPr>
          </a:lstStyle>
          <a:p/>
        </p:txBody>
      </p:sp>
      <p:sp>
        <p:nvSpPr>
          <p:cNvPr id="158" name="Google Shape;158;p138"/>
          <p:cNvSpPr txBox="1"/>
          <p:nvPr>
            <p:ph type="title"/>
          </p:nvPr>
        </p:nvSpPr>
        <p:spPr>
          <a:xfrm>
            <a:off x="508800" y="250442"/>
            <a:ext cx="8400000" cy="461665"/>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SzPts val="1400"/>
              <a:buNone/>
              <a:defRPr sz="2400">
                <a:solidFill>
                  <a:srgbClr val="000000"/>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9" name="Google Shape;159;p138"/>
          <p:cNvSpPr txBox="1"/>
          <p:nvPr>
            <p:ph idx="2" type="body"/>
          </p:nvPr>
        </p:nvSpPr>
        <p:spPr>
          <a:xfrm>
            <a:off x="513600" y="1420800"/>
            <a:ext cx="11203200" cy="4838400"/>
          </a:xfrm>
          <a:prstGeom prst="rect">
            <a:avLst/>
          </a:prstGeom>
          <a:noFill/>
          <a:ln>
            <a:noFill/>
          </a:ln>
        </p:spPr>
        <p:txBody>
          <a:bodyPr anchorCtr="0" anchor="t" bIns="45700" lIns="91425" spcFirstLastPara="1" rIns="91425" wrap="square" tIns="45700">
            <a:noAutofit/>
          </a:bodyPr>
          <a:lstStyle>
            <a:lvl1pPr indent="-347154" lvl="0" marL="457200" marR="0" rtl="0" algn="just">
              <a:spcBef>
                <a:spcPts val="373"/>
              </a:spcBef>
              <a:spcAft>
                <a:spcPts val="0"/>
              </a:spcAft>
              <a:buClr>
                <a:srgbClr val="000000"/>
              </a:buClr>
              <a:buSzPts val="1867"/>
              <a:buFont typeface="Arial"/>
              <a:buChar char="•"/>
              <a:defRPr b="0" i="0" sz="1867" u="none" cap="none" strike="noStrike">
                <a:solidFill>
                  <a:srgbClr val="000000"/>
                </a:solidFill>
                <a:latin typeface="Open Sans"/>
                <a:ea typeface="Open Sans"/>
                <a:cs typeface="Open Sans"/>
                <a:sym typeface="Open Sans"/>
              </a:defRPr>
            </a:lvl1pPr>
            <a:lvl2pPr indent="-347154" lvl="1" marL="914400" marR="0" rtl="0" algn="just">
              <a:spcBef>
                <a:spcPts val="373"/>
              </a:spcBef>
              <a:spcAft>
                <a:spcPts val="0"/>
              </a:spcAft>
              <a:buClr>
                <a:srgbClr val="000000"/>
              </a:buClr>
              <a:buSzPts val="1867"/>
              <a:buFont typeface="Arial"/>
              <a:buChar char="−"/>
              <a:defRPr b="0" i="0" sz="1867" u="none" cap="none" strike="noStrike">
                <a:solidFill>
                  <a:srgbClr val="000000"/>
                </a:solidFill>
                <a:latin typeface="Open Sans"/>
                <a:ea typeface="Open Sans"/>
                <a:cs typeface="Open Sans"/>
                <a:sym typeface="Open Sans"/>
              </a:defRPr>
            </a:lvl2pPr>
            <a:lvl3pPr indent="-347154" lvl="2" marL="1371600" marR="0" rtl="0" algn="just">
              <a:spcBef>
                <a:spcPts val="373"/>
              </a:spcBef>
              <a:spcAft>
                <a:spcPts val="0"/>
              </a:spcAft>
              <a:buClr>
                <a:srgbClr val="000000"/>
              </a:buClr>
              <a:buSzPts val="1867"/>
              <a:buFont typeface="Noto Sans Symbols"/>
              <a:buChar char="▪"/>
              <a:defRPr b="0" i="0" sz="1867" u="none" cap="none" strike="noStrike">
                <a:solidFill>
                  <a:srgbClr val="000000"/>
                </a:solidFill>
                <a:latin typeface="Open Sans"/>
                <a:ea typeface="Open Sans"/>
                <a:cs typeface="Open Sans"/>
                <a:sym typeface="Open Sans"/>
              </a:defRPr>
            </a:lvl3pPr>
            <a:lvl4pPr indent="-347154" lvl="3" marL="1828800" marR="0" rtl="0" algn="just">
              <a:spcBef>
                <a:spcPts val="373"/>
              </a:spcBef>
              <a:spcAft>
                <a:spcPts val="0"/>
              </a:spcAft>
              <a:buClr>
                <a:srgbClr val="000000"/>
              </a:buClr>
              <a:buSzPts val="1867"/>
              <a:buFont typeface="Arial"/>
              <a:buChar char="›"/>
              <a:defRPr b="0" i="0" sz="1867" u="none" cap="none" strike="noStrike">
                <a:solidFill>
                  <a:srgbClr val="000000"/>
                </a:solidFill>
                <a:latin typeface="Open Sans"/>
                <a:ea typeface="Open Sans"/>
                <a:cs typeface="Open Sans"/>
                <a:sym typeface="Open Sans"/>
              </a:defRPr>
            </a:lvl4pPr>
            <a:lvl5pPr indent="-323443" lvl="4" marL="2286000" marR="0" rtl="0" algn="just">
              <a:spcBef>
                <a:spcPts val="373"/>
              </a:spcBef>
              <a:spcAft>
                <a:spcPts val="0"/>
              </a:spcAft>
              <a:buClr>
                <a:srgbClr val="000000"/>
              </a:buClr>
              <a:buSzPts val="1494"/>
              <a:buFont typeface="Courier New"/>
              <a:buChar char="o"/>
              <a:defRPr b="0" i="0" sz="1867" u="none" cap="none" strike="noStrike">
                <a:solidFill>
                  <a:srgbClr val="000000"/>
                </a:solidFill>
                <a:latin typeface="Open Sans"/>
                <a:ea typeface="Open Sans"/>
                <a:cs typeface="Open Sans"/>
                <a:sym typeface="Open Sans"/>
              </a:defRPr>
            </a:lvl5pPr>
            <a:lvl6pPr indent="-397954" lvl="5" marL="27432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6pPr>
            <a:lvl7pPr indent="-397954" lvl="6" marL="32004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7pPr>
            <a:lvl8pPr indent="-397954" lvl="7" marL="36576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8pPr>
            <a:lvl9pPr indent="-397954" lvl="8" marL="41148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9pPr>
          </a:lstStyle>
          <a:p/>
        </p:txBody>
      </p:sp>
      <p:sp>
        <p:nvSpPr>
          <p:cNvPr id="160" name="Google Shape;160;p138"/>
          <p:cNvSpPr/>
          <p:nvPr/>
        </p:nvSpPr>
        <p:spPr>
          <a:xfrm>
            <a:off x="1" y="338503"/>
            <a:ext cx="205737" cy="409411"/>
          </a:xfrm>
          <a:custGeom>
            <a:rect b="b" l="l" r="r" t="t"/>
            <a:pathLst>
              <a:path extrusionOk="0" h="648450" w="325860">
                <a:moveTo>
                  <a:pt x="325860" y="324226"/>
                </a:moveTo>
                <a:cubicBezTo>
                  <a:pt x="325860" y="503329"/>
                  <a:pt x="179912" y="648451"/>
                  <a:pt x="0" y="648451"/>
                </a:cubicBezTo>
                <a:lnTo>
                  <a:pt x="0" y="0"/>
                </a:lnTo>
                <a:cubicBezTo>
                  <a:pt x="180006" y="0"/>
                  <a:pt x="325860" y="145216"/>
                  <a:pt x="325860" y="324226"/>
                </a:cubicBezTo>
                <a:close/>
              </a:path>
            </a:pathLst>
          </a:custGeom>
          <a:solidFill>
            <a:srgbClr val="F5A42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Open Sans"/>
              <a:ea typeface="Open Sans"/>
              <a:cs typeface="Open Sans"/>
              <a:sym typeface="Open Sans"/>
            </a:endParaRPr>
          </a:p>
        </p:txBody>
      </p:sp>
      <p:pic>
        <p:nvPicPr>
          <p:cNvPr id="161" name="Google Shape;161;p138"/>
          <p:cNvPicPr preferRelativeResize="0"/>
          <p:nvPr/>
        </p:nvPicPr>
        <p:blipFill rotWithShape="1">
          <a:blip r:embed="rId2">
            <a:alphaModFix/>
          </a:blip>
          <a:srcRect b="0" l="0" r="0" t="0"/>
          <a:stretch/>
        </p:blipFill>
        <p:spPr>
          <a:xfrm>
            <a:off x="10794844" y="276031"/>
            <a:ext cx="891072" cy="615912"/>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showMasterSp="0">
  <p:cSld name="2_Title Slide">
    <p:spTree>
      <p:nvGrpSpPr>
        <p:cNvPr id="162" name="Shape 162"/>
        <p:cNvGrpSpPr/>
        <p:nvPr/>
      </p:nvGrpSpPr>
      <p:grpSpPr>
        <a:xfrm>
          <a:off x="0" y="0"/>
          <a:ext cx="0" cy="0"/>
          <a:chOff x="0" y="0"/>
          <a:chExt cx="0" cy="0"/>
        </a:xfrm>
      </p:grpSpPr>
      <p:pic>
        <p:nvPicPr>
          <p:cNvPr id="163" name="Google Shape;163;p183"/>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64" name="Google Shape;164;p183"/>
          <p:cNvSpPr txBox="1"/>
          <p:nvPr>
            <p:ph type="title"/>
          </p:nvPr>
        </p:nvSpPr>
        <p:spPr>
          <a:xfrm>
            <a:off x="950142" y="2035534"/>
            <a:ext cx="10179585" cy="2402661"/>
          </a:xfrm>
          <a:prstGeom prst="rect">
            <a:avLst/>
          </a:prstGeom>
          <a:noFill/>
          <a:ln>
            <a:noFill/>
          </a:ln>
        </p:spPr>
        <p:txBody>
          <a:bodyPr anchorCtr="0" anchor="ctr" bIns="36000" lIns="91425" spcFirstLastPara="1" rIns="91425" wrap="square" tIns="36000">
            <a:normAutofit/>
          </a:bodyPr>
          <a:lstStyle>
            <a:lvl1pPr lvl="0" algn="l">
              <a:lnSpc>
                <a:spcPct val="100000"/>
              </a:lnSpc>
              <a:spcBef>
                <a:spcPts val="0"/>
              </a:spcBef>
              <a:spcAft>
                <a:spcPts val="0"/>
              </a:spcAft>
              <a:buSzPts val="1400"/>
              <a:buNone/>
              <a:defRPr b="1" sz="3000" u="none">
                <a:solidFill>
                  <a:srgbClr val="FFFFFF"/>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pic>
        <p:nvPicPr>
          <p:cNvPr id="165" name="Google Shape;165;p183"/>
          <p:cNvPicPr preferRelativeResize="0"/>
          <p:nvPr/>
        </p:nvPicPr>
        <p:blipFill rotWithShape="1">
          <a:blip r:embed="rId3">
            <a:alphaModFix/>
          </a:blip>
          <a:srcRect b="0" l="0" r="0" t="0"/>
          <a:stretch/>
        </p:blipFill>
        <p:spPr>
          <a:xfrm>
            <a:off x="1066212" y="703884"/>
            <a:ext cx="1886373" cy="1307253"/>
          </a:xfrm>
          <a:prstGeom prst="rect">
            <a:avLst/>
          </a:prstGeom>
          <a:noFill/>
          <a:ln>
            <a:noFill/>
          </a:ln>
        </p:spPr>
      </p:pic>
      <p:sp>
        <p:nvSpPr>
          <p:cNvPr id="166" name="Google Shape;166;p183"/>
          <p:cNvSpPr txBox="1"/>
          <p:nvPr/>
        </p:nvSpPr>
        <p:spPr>
          <a:xfrm>
            <a:off x="950142" y="6059282"/>
            <a:ext cx="95410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400"/>
              <a:buFont typeface="Open Sans"/>
              <a:buNone/>
            </a:pPr>
            <a:r>
              <a:rPr b="1" lang="es-MX" sz="1400" cap="none">
                <a:solidFill>
                  <a:schemeClr val="lt1"/>
                </a:solidFill>
                <a:latin typeface="Open Sans"/>
                <a:ea typeface="Open Sans"/>
                <a:cs typeface="Open Sans"/>
                <a:sym typeface="Open Sans"/>
              </a:rPr>
              <a:t>DRAFT</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Only">
  <p:cSld name="4_Title Only">
    <p:spTree>
      <p:nvGrpSpPr>
        <p:cNvPr id="167" name="Shape 167"/>
        <p:cNvGrpSpPr/>
        <p:nvPr/>
      </p:nvGrpSpPr>
      <p:grpSpPr>
        <a:xfrm>
          <a:off x="0" y="0"/>
          <a:ext cx="0" cy="0"/>
          <a:chOff x="0" y="0"/>
          <a:chExt cx="0" cy="0"/>
        </a:xfrm>
      </p:grpSpPr>
      <p:sp>
        <p:nvSpPr>
          <p:cNvPr id="168" name="Google Shape;168;p184"/>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sz="2400">
                <a:solidFill>
                  <a:srgbClr val="000000"/>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9" name="Google Shape;169;p184"/>
          <p:cNvSpPr/>
          <p:nvPr/>
        </p:nvSpPr>
        <p:spPr>
          <a:xfrm>
            <a:off x="1" y="338503"/>
            <a:ext cx="205737" cy="409411"/>
          </a:xfrm>
          <a:custGeom>
            <a:rect b="b" l="l" r="r" t="t"/>
            <a:pathLst>
              <a:path extrusionOk="0" h="648450" w="325860">
                <a:moveTo>
                  <a:pt x="325860" y="324226"/>
                </a:moveTo>
                <a:cubicBezTo>
                  <a:pt x="325860" y="503329"/>
                  <a:pt x="179912" y="648451"/>
                  <a:pt x="0" y="648451"/>
                </a:cubicBezTo>
                <a:lnTo>
                  <a:pt x="0" y="0"/>
                </a:lnTo>
                <a:cubicBezTo>
                  <a:pt x="180006" y="0"/>
                  <a:pt x="325860" y="145216"/>
                  <a:pt x="325860" y="324226"/>
                </a:cubicBezTo>
                <a:close/>
              </a:path>
            </a:pathLst>
          </a:custGeom>
          <a:solidFill>
            <a:srgbClr val="F5A42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Open Sans"/>
              <a:ea typeface="Open Sans"/>
              <a:cs typeface="Open Sans"/>
              <a:sym typeface="Open Sans"/>
            </a:endParaRPr>
          </a:p>
        </p:txBody>
      </p:sp>
      <p:pic>
        <p:nvPicPr>
          <p:cNvPr id="170" name="Google Shape;170;p184"/>
          <p:cNvPicPr preferRelativeResize="0"/>
          <p:nvPr/>
        </p:nvPicPr>
        <p:blipFill rotWithShape="1">
          <a:blip r:embed="rId2">
            <a:alphaModFix/>
          </a:blip>
          <a:srcRect b="0" l="0" r="0" t="0"/>
          <a:stretch/>
        </p:blipFill>
        <p:spPr>
          <a:xfrm>
            <a:off x="10909144" y="6450703"/>
            <a:ext cx="453862" cy="31371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ast Page Logo" showMasterSp="0">
  <p:cSld name="2_Last Page Logo">
    <p:spTree>
      <p:nvGrpSpPr>
        <p:cNvPr id="171" name="Shape 171"/>
        <p:cNvGrpSpPr/>
        <p:nvPr/>
      </p:nvGrpSpPr>
      <p:grpSpPr>
        <a:xfrm>
          <a:off x="0" y="0"/>
          <a:ext cx="0" cy="0"/>
          <a:chOff x="0" y="0"/>
          <a:chExt cx="0" cy="0"/>
        </a:xfrm>
      </p:grpSpPr>
      <p:pic>
        <p:nvPicPr>
          <p:cNvPr id="172" name="Google Shape;172;p185"/>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73" name="Google Shape;173;p185"/>
          <p:cNvPicPr preferRelativeResize="0"/>
          <p:nvPr/>
        </p:nvPicPr>
        <p:blipFill rotWithShape="1">
          <a:blip r:embed="rId3">
            <a:alphaModFix/>
          </a:blip>
          <a:srcRect b="0" l="0" r="0" t="0"/>
          <a:stretch/>
        </p:blipFill>
        <p:spPr>
          <a:xfrm>
            <a:off x="8067660" y="790030"/>
            <a:ext cx="2748213" cy="1904507"/>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74" name="Shape 174"/>
        <p:cNvGrpSpPr/>
        <p:nvPr/>
      </p:nvGrpSpPr>
      <p:grpSpPr>
        <a:xfrm>
          <a:off x="0" y="0"/>
          <a:ext cx="0" cy="0"/>
          <a:chOff x="0" y="0"/>
          <a:chExt cx="0" cy="0"/>
        </a:xfrm>
      </p:grpSpPr>
      <p:pic>
        <p:nvPicPr>
          <p:cNvPr id="175" name="Google Shape;175;p186"/>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76" name="Google Shape;176;p186"/>
          <p:cNvSpPr txBox="1"/>
          <p:nvPr>
            <p:ph type="title"/>
          </p:nvPr>
        </p:nvSpPr>
        <p:spPr>
          <a:xfrm>
            <a:off x="950142" y="2035534"/>
            <a:ext cx="10179585" cy="2402661"/>
          </a:xfrm>
          <a:prstGeom prst="rect">
            <a:avLst/>
          </a:prstGeom>
          <a:noFill/>
          <a:ln>
            <a:noFill/>
          </a:ln>
        </p:spPr>
        <p:txBody>
          <a:bodyPr anchorCtr="0" anchor="ctr" bIns="36000" lIns="91425" spcFirstLastPara="1" rIns="91425" wrap="square" tIns="36000">
            <a:normAutofit/>
          </a:bodyPr>
          <a:lstStyle>
            <a:lvl1pPr lvl="0" algn="l">
              <a:lnSpc>
                <a:spcPct val="100000"/>
              </a:lnSpc>
              <a:spcBef>
                <a:spcPts val="0"/>
              </a:spcBef>
              <a:spcAft>
                <a:spcPts val="0"/>
              </a:spcAft>
              <a:buSzPts val="1400"/>
              <a:buNone/>
              <a:defRPr b="1" sz="3000" u="none">
                <a:solidFill>
                  <a:srgbClr val="FFFFFF"/>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pic>
        <p:nvPicPr>
          <p:cNvPr id="177" name="Google Shape;177;p186"/>
          <p:cNvPicPr preferRelativeResize="0"/>
          <p:nvPr/>
        </p:nvPicPr>
        <p:blipFill rotWithShape="1">
          <a:blip r:embed="rId3">
            <a:alphaModFix/>
          </a:blip>
          <a:srcRect b="0" l="0" r="0" t="0"/>
          <a:stretch/>
        </p:blipFill>
        <p:spPr>
          <a:xfrm>
            <a:off x="1066212" y="703884"/>
            <a:ext cx="1886373" cy="1307253"/>
          </a:xfrm>
          <a:prstGeom prst="rect">
            <a:avLst/>
          </a:prstGeom>
          <a:noFill/>
          <a:ln>
            <a:noFill/>
          </a:ln>
        </p:spPr>
      </p:pic>
      <p:sp>
        <p:nvSpPr>
          <p:cNvPr id="178" name="Google Shape;178;p186"/>
          <p:cNvSpPr txBox="1"/>
          <p:nvPr/>
        </p:nvSpPr>
        <p:spPr>
          <a:xfrm>
            <a:off x="950142" y="6059282"/>
            <a:ext cx="95410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400"/>
              <a:buFont typeface="Open Sans"/>
              <a:buNone/>
            </a:pPr>
            <a:r>
              <a:rPr b="1" lang="es-MX" sz="1400" cap="none">
                <a:solidFill>
                  <a:schemeClr val="lt1"/>
                </a:solidFill>
                <a:latin typeface="Open Sans"/>
                <a:ea typeface="Open Sans"/>
                <a:cs typeface="Open Sans"/>
                <a:sym typeface="Open Sans"/>
              </a:rPr>
              <a:t>DRAFT</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179" name="Shape 179"/>
        <p:cNvGrpSpPr/>
        <p:nvPr/>
      </p:nvGrpSpPr>
      <p:grpSpPr>
        <a:xfrm>
          <a:off x="0" y="0"/>
          <a:ext cx="0" cy="0"/>
          <a:chOff x="0" y="0"/>
          <a:chExt cx="0" cy="0"/>
        </a:xfrm>
      </p:grpSpPr>
      <p:sp>
        <p:nvSpPr>
          <p:cNvPr id="180" name="Google Shape;180;p187"/>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sz="2400">
                <a:solidFill>
                  <a:srgbClr val="000000"/>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1" name="Google Shape;181;p187"/>
          <p:cNvSpPr/>
          <p:nvPr/>
        </p:nvSpPr>
        <p:spPr>
          <a:xfrm>
            <a:off x="1" y="338503"/>
            <a:ext cx="205737" cy="409411"/>
          </a:xfrm>
          <a:custGeom>
            <a:rect b="b" l="l" r="r" t="t"/>
            <a:pathLst>
              <a:path extrusionOk="0" h="648450" w="325860">
                <a:moveTo>
                  <a:pt x="325860" y="324226"/>
                </a:moveTo>
                <a:cubicBezTo>
                  <a:pt x="325860" y="503329"/>
                  <a:pt x="179912" y="648451"/>
                  <a:pt x="0" y="648451"/>
                </a:cubicBezTo>
                <a:lnTo>
                  <a:pt x="0" y="0"/>
                </a:lnTo>
                <a:cubicBezTo>
                  <a:pt x="180006" y="0"/>
                  <a:pt x="325860" y="145216"/>
                  <a:pt x="325860" y="324226"/>
                </a:cubicBezTo>
                <a:close/>
              </a:path>
            </a:pathLst>
          </a:custGeom>
          <a:solidFill>
            <a:srgbClr val="F5A42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Open Sans"/>
              <a:ea typeface="Open Sans"/>
              <a:cs typeface="Open Sans"/>
              <a:sym typeface="Open Sans"/>
            </a:endParaRPr>
          </a:p>
        </p:txBody>
      </p:sp>
      <p:pic>
        <p:nvPicPr>
          <p:cNvPr id="182" name="Google Shape;182;p187"/>
          <p:cNvPicPr preferRelativeResize="0"/>
          <p:nvPr/>
        </p:nvPicPr>
        <p:blipFill rotWithShape="1">
          <a:blip r:embed="rId2">
            <a:alphaModFix/>
          </a:blip>
          <a:srcRect b="0" l="0" r="0" t="0"/>
          <a:stretch/>
        </p:blipFill>
        <p:spPr>
          <a:xfrm>
            <a:off x="10909144" y="6450703"/>
            <a:ext cx="453862" cy="313710"/>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st Page Logo" showMasterSp="0">
  <p:cSld name="Last Page Logo">
    <p:spTree>
      <p:nvGrpSpPr>
        <p:cNvPr id="183" name="Shape 183"/>
        <p:cNvGrpSpPr/>
        <p:nvPr/>
      </p:nvGrpSpPr>
      <p:grpSpPr>
        <a:xfrm>
          <a:off x="0" y="0"/>
          <a:ext cx="0" cy="0"/>
          <a:chOff x="0" y="0"/>
          <a:chExt cx="0" cy="0"/>
        </a:xfrm>
      </p:grpSpPr>
      <p:pic>
        <p:nvPicPr>
          <p:cNvPr id="184" name="Google Shape;184;p188"/>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185" name="Google Shape;185;p188"/>
          <p:cNvPicPr preferRelativeResize="0"/>
          <p:nvPr/>
        </p:nvPicPr>
        <p:blipFill rotWithShape="1">
          <a:blip r:embed="rId3">
            <a:alphaModFix/>
          </a:blip>
          <a:srcRect b="0" l="0" r="0" t="0"/>
          <a:stretch/>
        </p:blipFill>
        <p:spPr>
          <a:xfrm>
            <a:off x="8067660" y="790030"/>
            <a:ext cx="2748213" cy="1904507"/>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186" name="Shape 186"/>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87" name="Shape 187"/>
        <p:cNvGrpSpPr/>
        <p:nvPr/>
      </p:nvGrpSpPr>
      <p:grpSpPr>
        <a:xfrm>
          <a:off x="0" y="0"/>
          <a:ext cx="0" cy="0"/>
          <a:chOff x="0" y="0"/>
          <a:chExt cx="0" cy="0"/>
        </a:xfrm>
      </p:grpSpPr>
      <p:sp>
        <p:nvSpPr>
          <p:cNvPr id="188" name="Google Shape;188;p190"/>
          <p:cNvSpPr txBox="1"/>
          <p:nvPr>
            <p:ph type="title"/>
          </p:nvPr>
        </p:nvSpPr>
        <p:spPr>
          <a:xfrm>
            <a:off x="508799" y="250442"/>
            <a:ext cx="11352999" cy="461665"/>
          </a:xfrm>
          <a:prstGeom prst="rect">
            <a:avLst/>
          </a:prstGeom>
          <a:noFill/>
          <a:ln>
            <a:noFill/>
          </a:ln>
        </p:spPr>
        <p:txBody>
          <a:bodyPr anchorCtr="0" anchor="b" bIns="45700" lIns="91425" spcFirstLastPara="1" rIns="91425" wrap="square" tIns="45700">
            <a:spAutoFit/>
          </a:bodyPr>
          <a:lstStyle>
            <a:lvl1pPr lvl="0" algn="l">
              <a:lnSpc>
                <a:spcPct val="134833"/>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spTree>
      <p:nvGrpSpPr>
        <p:cNvPr id="189" name="Shape 189"/>
        <p:cNvGrpSpPr/>
        <p:nvPr/>
      </p:nvGrpSpPr>
      <p:grpSpPr>
        <a:xfrm>
          <a:off x="0" y="0"/>
          <a:ext cx="0" cy="0"/>
          <a:chOff x="0" y="0"/>
          <a:chExt cx="0" cy="0"/>
        </a:xfrm>
      </p:grpSpPr>
      <p:sp>
        <p:nvSpPr>
          <p:cNvPr id="190" name="Google Shape;190;p191"/>
          <p:cNvSpPr txBox="1"/>
          <p:nvPr>
            <p:ph type="title"/>
          </p:nvPr>
        </p:nvSpPr>
        <p:spPr>
          <a:xfrm>
            <a:off x="508799" y="55686"/>
            <a:ext cx="11352999" cy="86624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2400">
                <a:solidFill>
                  <a:srgbClr val="000000"/>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1" name="Google Shape;191;p191"/>
          <p:cNvSpPr/>
          <p:nvPr/>
        </p:nvSpPr>
        <p:spPr>
          <a:xfrm>
            <a:off x="1" y="338503"/>
            <a:ext cx="205737" cy="409411"/>
          </a:xfrm>
          <a:custGeom>
            <a:rect b="b" l="l" r="r" t="t"/>
            <a:pathLst>
              <a:path extrusionOk="0" h="648450" w="325860">
                <a:moveTo>
                  <a:pt x="325860" y="324226"/>
                </a:moveTo>
                <a:cubicBezTo>
                  <a:pt x="325860" y="503329"/>
                  <a:pt x="179912" y="648451"/>
                  <a:pt x="0" y="648451"/>
                </a:cubicBezTo>
                <a:lnTo>
                  <a:pt x="0" y="0"/>
                </a:lnTo>
                <a:cubicBezTo>
                  <a:pt x="180006" y="0"/>
                  <a:pt x="325860" y="145216"/>
                  <a:pt x="325860" y="324226"/>
                </a:cubicBezTo>
                <a:close/>
              </a:path>
            </a:pathLst>
          </a:custGeom>
          <a:solidFill>
            <a:srgbClr val="F5A42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Open Sans"/>
              <a:ea typeface="Open Sans"/>
              <a:cs typeface="Open Sans"/>
              <a:sym typeface="Open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3_Title Only">
    <p:spTree>
      <p:nvGrpSpPr>
        <p:cNvPr id="192" name="Shape 19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bg>
      <p:bgPr>
        <a:solidFill>
          <a:schemeClr val="lt1"/>
        </a:solidFill>
      </p:bgPr>
    </p:bg>
    <p:spTree>
      <p:nvGrpSpPr>
        <p:cNvPr id="193" name="Shape 193"/>
        <p:cNvGrpSpPr/>
        <p:nvPr/>
      </p:nvGrpSpPr>
      <p:grpSpPr>
        <a:xfrm>
          <a:off x="0" y="0"/>
          <a:ext cx="0" cy="0"/>
          <a:chOff x="0" y="0"/>
          <a:chExt cx="0" cy="0"/>
        </a:xfrm>
      </p:grpSpPr>
      <p:sp>
        <p:nvSpPr>
          <p:cNvPr id="194" name="Google Shape;194;p193"/>
          <p:cNvSpPr txBox="1"/>
          <p:nvPr>
            <p:ph idx="12" type="sldNum"/>
          </p:nvPr>
        </p:nvSpPr>
        <p:spPr>
          <a:xfrm>
            <a:off x="91313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1pPr>
            <a:lvl2pPr indent="0" lvl="1"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2pPr>
            <a:lvl3pPr indent="0" lvl="2"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3pPr>
            <a:lvl4pPr indent="0" lvl="3"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4pPr>
            <a:lvl5pPr indent="0" lvl="4"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5pPr>
            <a:lvl6pPr indent="0" lvl="5"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6pPr>
            <a:lvl7pPr indent="0" lvl="6"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7pPr>
            <a:lvl8pPr indent="0" lvl="7"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8pPr>
            <a:lvl9pPr indent="0" lvl="8"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lus" showMasterSp="0">
  <p:cSld name="1_Plus">
    <p:spTree>
      <p:nvGrpSpPr>
        <p:cNvPr id="195" name="Shape 195"/>
        <p:cNvGrpSpPr/>
        <p:nvPr/>
      </p:nvGrpSpPr>
      <p:grpSpPr>
        <a:xfrm>
          <a:off x="0" y="0"/>
          <a:ext cx="0" cy="0"/>
          <a:chOff x="0" y="0"/>
          <a:chExt cx="0" cy="0"/>
        </a:xfrm>
      </p:grpSpPr>
      <p:sp>
        <p:nvSpPr>
          <p:cNvPr id="196" name="Google Shape;196;p194"/>
          <p:cNvSpPr txBox="1"/>
          <p:nvPr>
            <p:ph type="title"/>
          </p:nvPr>
        </p:nvSpPr>
        <p:spPr>
          <a:xfrm>
            <a:off x="334963" y="1"/>
            <a:ext cx="11522075" cy="876687"/>
          </a:xfrm>
          <a:prstGeom prst="rect">
            <a:avLst/>
          </a:prstGeom>
          <a:noFill/>
          <a:ln>
            <a:noFill/>
          </a:ln>
        </p:spPr>
        <p:txBody>
          <a:bodyPr anchorCtr="0" anchor="b" bIns="45700" lIns="91425" spcFirstLastPara="1" rIns="91425" wrap="square" tIns="45700">
            <a:spAutoFit/>
          </a:bodyPr>
          <a:lstStyle>
            <a:lvl1pPr lvl="0" algn="l">
              <a:lnSpc>
                <a:spcPct val="134833"/>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showMasterSp="0">
  <p:cSld name="2_Blank">
    <p:spTree>
      <p:nvGrpSpPr>
        <p:cNvPr id="197" name="Shape 197"/>
        <p:cNvGrpSpPr/>
        <p:nvPr/>
      </p:nvGrpSpPr>
      <p:grpSpPr>
        <a:xfrm>
          <a:off x="0" y="0"/>
          <a:ext cx="0" cy="0"/>
          <a:chOff x="0" y="0"/>
          <a:chExt cx="0" cy="0"/>
        </a:xfrm>
      </p:grpSpPr>
      <p:sp>
        <p:nvSpPr>
          <p:cNvPr id="198" name="Google Shape;198;p195"/>
          <p:cNvSpPr txBox="1"/>
          <p:nvPr>
            <p:ph type="title"/>
          </p:nvPr>
        </p:nvSpPr>
        <p:spPr>
          <a:xfrm>
            <a:off x="334963" y="1"/>
            <a:ext cx="11522075" cy="876687"/>
          </a:xfrm>
          <a:prstGeom prst="rect">
            <a:avLst/>
          </a:prstGeom>
          <a:noFill/>
          <a:ln>
            <a:noFill/>
          </a:ln>
        </p:spPr>
        <p:txBody>
          <a:bodyPr anchorCtr="0" anchor="b" bIns="45700" lIns="91425" spcFirstLastPara="1" rIns="91425" wrap="square" tIns="45700">
            <a:spAutoFit/>
          </a:bodyPr>
          <a:lstStyle>
            <a:lvl1pPr lvl="0" algn="l">
              <a:lnSpc>
                <a:spcPct val="134833"/>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pic>
        <p:nvPicPr>
          <p:cNvPr id="199" name="Google Shape;199;p195"/>
          <p:cNvPicPr preferRelativeResize="0"/>
          <p:nvPr/>
        </p:nvPicPr>
        <p:blipFill rotWithShape="1">
          <a:blip r:embed="rId2">
            <a:alphaModFix/>
          </a:blip>
          <a:srcRect b="0" l="0" r="0" t="0"/>
          <a:stretch/>
        </p:blipFill>
        <p:spPr>
          <a:xfrm>
            <a:off x="10260000" y="6654664"/>
            <a:ext cx="1152000" cy="144000"/>
          </a:xfrm>
          <a:prstGeom prst="rect">
            <a:avLst/>
          </a:prstGeom>
          <a:noFill/>
          <a:ln>
            <a:noFill/>
          </a:ln>
        </p:spPr>
      </p:pic>
      <p:sp>
        <p:nvSpPr>
          <p:cNvPr id="200" name="Google Shape;200;p195"/>
          <p:cNvSpPr/>
          <p:nvPr/>
        </p:nvSpPr>
        <p:spPr>
          <a:xfrm>
            <a:off x="8263033" y="6642830"/>
            <a:ext cx="1368171" cy="165036"/>
          </a:xfrm>
          <a:prstGeom prst="rect">
            <a:avLst/>
          </a:prstGeom>
          <a:noFill/>
          <a:ln>
            <a:noFill/>
          </a:ln>
        </p:spPr>
        <p:txBody>
          <a:bodyPr anchorCtr="0" anchor="t" bIns="36000" lIns="36000" spcFirstLastPara="1" rIns="36000" wrap="square" tIns="36000">
            <a:spAutoFit/>
          </a:bodyPr>
          <a:lstStyle/>
          <a:p>
            <a:pPr indent="0" lvl="0" marL="0" marR="0" rtl="0" algn="ctr">
              <a:spcBef>
                <a:spcPts val="0"/>
              </a:spcBef>
              <a:spcAft>
                <a:spcPts val="0"/>
              </a:spcAft>
              <a:buClr>
                <a:srgbClr val="FFFFFF"/>
              </a:buClr>
              <a:buSzPts val="600"/>
              <a:buFont typeface="Open Sans"/>
              <a:buNone/>
            </a:pPr>
            <a:r>
              <a:rPr lang="es-MX" sz="600">
                <a:solidFill>
                  <a:srgbClr val="FFFFFF"/>
                </a:solidFill>
                <a:latin typeface="Open Sans"/>
                <a:ea typeface="Open Sans"/>
                <a:cs typeface="Open Sans"/>
                <a:sym typeface="Open Sans"/>
              </a:rPr>
              <a:t>060112 - KOF Operating m ... re vp1</a:t>
            </a:r>
            <a:endParaRPr/>
          </a:p>
        </p:txBody>
      </p:sp>
      <p:sp>
        <p:nvSpPr>
          <p:cNvPr id="201" name="Google Shape;201;p195"/>
          <p:cNvSpPr/>
          <p:nvPr/>
        </p:nvSpPr>
        <p:spPr>
          <a:xfrm>
            <a:off x="7348519" y="6642830"/>
            <a:ext cx="288036" cy="165036"/>
          </a:xfrm>
          <a:prstGeom prst="rect">
            <a:avLst/>
          </a:prstGeom>
          <a:noFill/>
          <a:ln>
            <a:noFill/>
          </a:ln>
        </p:spPr>
        <p:txBody>
          <a:bodyPr anchorCtr="0" anchor="t" bIns="36000" lIns="36000" spcFirstLastPara="1" rIns="36000" wrap="square" tIns="36000">
            <a:spAutoFit/>
          </a:bodyPr>
          <a:lstStyle/>
          <a:p>
            <a:pPr indent="0" lvl="0" marL="0" marR="0" rtl="0" algn="ctr">
              <a:spcBef>
                <a:spcPts val="0"/>
              </a:spcBef>
              <a:spcAft>
                <a:spcPts val="0"/>
              </a:spcAft>
              <a:buClr>
                <a:srgbClr val="FFFFFF"/>
              </a:buClr>
              <a:buSzPts val="600"/>
              <a:buFont typeface="Open Sans"/>
              <a:buNone/>
            </a:pPr>
            <a:r>
              <a:rPr lang="es-MX" sz="600">
                <a:solidFill>
                  <a:srgbClr val="FFFFFF"/>
                </a:solidFill>
                <a:latin typeface="Open Sans"/>
                <a:ea typeface="Open Sans"/>
                <a:cs typeface="Open Sans"/>
                <a:sym typeface="Open Sans"/>
              </a:rPr>
              <a:t>MEX</a:t>
            </a:r>
            <a:endParaRPr/>
          </a:p>
        </p:txBody>
      </p:sp>
      <p:pic>
        <p:nvPicPr>
          <p:cNvPr id="202" name="Google Shape;202;p195"/>
          <p:cNvPicPr preferRelativeResize="0"/>
          <p:nvPr/>
        </p:nvPicPr>
        <p:blipFill rotWithShape="1">
          <a:blip r:embed="rId3">
            <a:alphaModFix/>
          </a:blip>
          <a:srcRect b="0" l="0" r="0" t="0"/>
          <a:stretch/>
        </p:blipFill>
        <p:spPr>
          <a:xfrm>
            <a:off x="316547" y="6641266"/>
            <a:ext cx="6407451" cy="176799"/>
          </a:xfrm>
          <a:prstGeom prst="rect">
            <a:avLst/>
          </a:prstGeom>
          <a:noFill/>
          <a:ln>
            <a:noFill/>
          </a:ln>
        </p:spPr>
      </p:pic>
      <p:cxnSp>
        <p:nvCxnSpPr>
          <p:cNvPr id="203" name="Google Shape;203;p195"/>
          <p:cNvCxnSpPr/>
          <p:nvPr/>
        </p:nvCxnSpPr>
        <p:spPr>
          <a:xfrm>
            <a:off x="0" y="6598800"/>
            <a:ext cx="11857037" cy="0"/>
          </a:xfrm>
          <a:prstGeom prst="straightConnector1">
            <a:avLst/>
          </a:prstGeom>
          <a:noFill/>
          <a:ln cap="flat" cmpd="sng" w="9525">
            <a:solidFill>
              <a:schemeClr val="accent1"/>
            </a:solidFill>
            <a:prstDash val="solid"/>
            <a:miter lim="800000"/>
            <a:headEnd len="sm" w="sm" type="none"/>
            <a:tailEnd len="sm" w="sm" type="none"/>
          </a:ln>
        </p:spPr>
      </p:cxnSp>
      <p:cxnSp>
        <p:nvCxnSpPr>
          <p:cNvPr id="204" name="Google Shape;204;p195"/>
          <p:cNvCxnSpPr/>
          <p:nvPr/>
        </p:nvCxnSpPr>
        <p:spPr>
          <a:xfrm>
            <a:off x="334963" y="883539"/>
            <a:ext cx="762000" cy="0"/>
          </a:xfrm>
          <a:prstGeom prst="straightConnector1">
            <a:avLst/>
          </a:prstGeom>
          <a:noFill/>
          <a:ln cap="flat" cmpd="sng" w="9525">
            <a:solidFill>
              <a:srgbClr val="CC0000"/>
            </a:solidFill>
            <a:prstDash val="solid"/>
            <a:miter lim="800000"/>
            <a:headEnd len="sm" w="sm" type="none"/>
            <a:tailEnd len="sm" w="sm" type="none"/>
          </a:ln>
        </p:spPr>
      </p:cxnSp>
      <p:sp>
        <p:nvSpPr>
          <p:cNvPr id="205" name="Google Shape;205;p195"/>
          <p:cNvSpPr/>
          <p:nvPr/>
        </p:nvSpPr>
        <p:spPr>
          <a:xfrm>
            <a:off x="11715975" y="6649694"/>
            <a:ext cx="141064" cy="138499"/>
          </a:xfrm>
          <a:prstGeom prst="roundRect">
            <a:avLst>
              <a:gd fmla="val 0" name="adj"/>
            </a:avLst>
          </a:prstGeom>
          <a:solidFill>
            <a:schemeClr val="lt1"/>
          </a:solidFill>
          <a:ln>
            <a:noFill/>
          </a:ln>
        </p:spPr>
        <p:txBody>
          <a:bodyPr anchorCtr="0" anchor="ctr" bIns="0" lIns="0" spcFirstLastPara="1" rIns="0" wrap="square" tIns="0">
            <a:spAutoFit/>
          </a:bodyPr>
          <a:lstStyle/>
          <a:p>
            <a:pPr indent="0" lvl="0" marL="0" marR="0" rtl="0" algn="r">
              <a:spcBef>
                <a:spcPts val="0"/>
              </a:spcBef>
              <a:spcAft>
                <a:spcPts val="0"/>
              </a:spcAft>
              <a:buClr>
                <a:schemeClr val="lt2"/>
              </a:buClr>
              <a:buSzPts val="900"/>
              <a:buFont typeface="Open Sans"/>
              <a:buNone/>
            </a:pPr>
            <a:fld id="{00000000-1234-1234-1234-123412341234}" type="slidenum">
              <a:rPr b="0" lang="es-MX" sz="900">
                <a:solidFill>
                  <a:schemeClr val="lt2"/>
                </a:solidFill>
                <a:latin typeface="Open Sans"/>
                <a:ea typeface="Open Sans"/>
                <a:cs typeface="Open Sans"/>
                <a:sym typeface="Open Sans"/>
              </a:rPr>
              <a:t>‹#›</a:t>
            </a:fld>
            <a:endParaRPr b="0" sz="900">
              <a:solidFill>
                <a:schemeClr val="lt2"/>
              </a:solidFill>
              <a:latin typeface="Open Sans"/>
              <a:ea typeface="Open Sans"/>
              <a:cs typeface="Open Sans"/>
              <a:sym typeface="Open San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206" name="Shape 206"/>
        <p:cNvGrpSpPr/>
        <p:nvPr/>
      </p:nvGrpSpPr>
      <p:grpSpPr>
        <a:xfrm>
          <a:off x="0" y="0"/>
          <a:ext cx="0" cy="0"/>
          <a:chOff x="0" y="0"/>
          <a:chExt cx="0" cy="0"/>
        </a:xfrm>
      </p:grpSpPr>
      <p:pic>
        <p:nvPicPr>
          <p:cNvPr id="207" name="Google Shape;207;p196"/>
          <p:cNvPicPr preferRelativeResize="0"/>
          <p:nvPr/>
        </p:nvPicPr>
        <p:blipFill rotWithShape="1">
          <a:blip r:embed="rId2">
            <a:alphaModFix/>
          </a:blip>
          <a:srcRect b="0" l="0" r="0" t="0"/>
          <a:stretch/>
        </p:blipFill>
        <p:spPr>
          <a:xfrm>
            <a:off x="8617037" y="4998212"/>
            <a:ext cx="3240000" cy="405000"/>
          </a:xfrm>
          <a:prstGeom prst="rect">
            <a:avLst/>
          </a:prstGeom>
          <a:noFill/>
          <a:ln>
            <a:noFill/>
          </a:ln>
        </p:spPr>
      </p:pic>
      <p:cxnSp>
        <p:nvCxnSpPr>
          <p:cNvPr id="208" name="Google Shape;208;p196"/>
          <p:cNvCxnSpPr/>
          <p:nvPr/>
        </p:nvCxnSpPr>
        <p:spPr>
          <a:xfrm>
            <a:off x="0" y="4873803"/>
            <a:ext cx="11857037" cy="0"/>
          </a:xfrm>
          <a:prstGeom prst="straightConnector1">
            <a:avLst/>
          </a:prstGeom>
          <a:noFill/>
          <a:ln cap="flat" cmpd="sng" w="19050">
            <a:solidFill>
              <a:schemeClr val="accent3"/>
            </a:solidFill>
            <a:prstDash val="solid"/>
            <a:miter lim="800000"/>
            <a:headEnd len="sm" w="sm" type="none"/>
            <a:tailEnd len="sm" w="sm" type="none"/>
          </a:ln>
        </p:spPr>
      </p:cxnSp>
      <p:sp>
        <p:nvSpPr>
          <p:cNvPr id="209" name="Google Shape;209;p196"/>
          <p:cNvSpPr/>
          <p:nvPr>
            <p:ph idx="2" type="pic"/>
          </p:nvPr>
        </p:nvSpPr>
        <p:spPr>
          <a:xfrm>
            <a:off x="8617039" y="3364443"/>
            <a:ext cx="3239999" cy="1399647"/>
          </a:xfrm>
          <a:prstGeom prst="rect">
            <a:avLst/>
          </a:prstGeom>
          <a:noFill/>
          <a:ln>
            <a:noFill/>
          </a:ln>
        </p:spPr>
      </p:sp>
      <p:pic>
        <p:nvPicPr>
          <p:cNvPr id="210" name="Google Shape;210;p196"/>
          <p:cNvPicPr preferRelativeResize="0"/>
          <p:nvPr/>
        </p:nvPicPr>
        <p:blipFill rotWithShape="1">
          <a:blip r:embed="rId3">
            <a:alphaModFix/>
          </a:blip>
          <a:srcRect b="0" l="0" r="0" t="0"/>
          <a:stretch/>
        </p:blipFill>
        <p:spPr>
          <a:xfrm>
            <a:off x="315468" y="6547288"/>
            <a:ext cx="6407451" cy="274344"/>
          </a:xfrm>
          <a:prstGeom prst="rect">
            <a:avLst/>
          </a:prstGeom>
          <a:noFill/>
          <a:ln>
            <a:noFill/>
          </a:ln>
        </p:spPr>
      </p:pic>
      <p:sp>
        <p:nvSpPr>
          <p:cNvPr id="211" name="Google Shape;211;p196"/>
          <p:cNvSpPr txBox="1"/>
          <p:nvPr>
            <p:ph idx="1" type="subTitle"/>
          </p:nvPr>
        </p:nvSpPr>
        <p:spPr>
          <a:xfrm>
            <a:off x="334965" y="2420938"/>
            <a:ext cx="11522075" cy="9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840E27"/>
              </a:buClr>
              <a:buSzPts val="1430"/>
              <a:buFont typeface="Noto Sans Symbols"/>
              <a:buNone/>
              <a:defRPr b="0" i="0" sz="2200" u="none" cap="none" strike="noStrike">
                <a:solidFill>
                  <a:schemeClr val="lt2"/>
                </a:solidFill>
                <a:latin typeface="Open Sans"/>
                <a:ea typeface="Open Sans"/>
                <a:cs typeface="Open Sans"/>
                <a:sym typeface="Open Sans"/>
              </a:defRPr>
            </a:lvl1pPr>
            <a:lvl2pPr lvl="1" marR="0" rtl="0" algn="ctr">
              <a:spcBef>
                <a:spcPts val="400"/>
              </a:spcBef>
              <a:spcAft>
                <a:spcPts val="0"/>
              </a:spcAft>
              <a:buClr>
                <a:srgbClr val="840E27"/>
              </a:buClr>
              <a:buSzPts val="2000"/>
              <a:buFont typeface="Noto Sans Symbols"/>
              <a:buNone/>
              <a:defRPr b="0" i="0" sz="2000" u="none" cap="none" strike="noStrike">
                <a:solidFill>
                  <a:srgbClr val="000000"/>
                </a:solidFill>
                <a:latin typeface="Open Sans"/>
                <a:ea typeface="Open Sans"/>
                <a:cs typeface="Open Sans"/>
                <a:sym typeface="Open Sans"/>
              </a:defRPr>
            </a:lvl2pPr>
            <a:lvl3pPr lvl="2" marR="0" rtl="0" algn="ctr">
              <a:spcBef>
                <a:spcPts val="360"/>
              </a:spcBef>
              <a:spcAft>
                <a:spcPts val="0"/>
              </a:spcAft>
              <a:buClr>
                <a:srgbClr val="840E27"/>
              </a:buClr>
              <a:buSzPts val="1800"/>
              <a:buFont typeface="Merriweather Sans"/>
              <a:buNone/>
              <a:defRPr b="0" i="0" sz="1800" u="none" cap="none" strike="noStrike">
                <a:solidFill>
                  <a:srgbClr val="000000"/>
                </a:solidFill>
                <a:latin typeface="Open Sans"/>
                <a:ea typeface="Open Sans"/>
                <a:cs typeface="Open Sans"/>
                <a:sym typeface="Open Sans"/>
              </a:defRPr>
            </a:lvl3pPr>
            <a:lvl4pPr lvl="3" marR="0" rtl="0" algn="ctr">
              <a:spcBef>
                <a:spcPts val="320"/>
              </a:spcBef>
              <a:spcAft>
                <a:spcPts val="0"/>
              </a:spcAft>
              <a:buClr>
                <a:srgbClr val="840E27"/>
              </a:buClr>
              <a:buSzPts val="1600"/>
              <a:buFont typeface="Arial"/>
              <a:buNone/>
              <a:defRPr b="0" i="0" sz="1600" u="none" cap="none" strike="noStrike">
                <a:solidFill>
                  <a:srgbClr val="000000"/>
                </a:solidFill>
                <a:latin typeface="Open Sans"/>
                <a:ea typeface="Open Sans"/>
                <a:cs typeface="Open Sans"/>
                <a:sym typeface="Open Sans"/>
              </a:defRPr>
            </a:lvl4pPr>
            <a:lvl5pPr lvl="4" marR="0" rtl="0" algn="ctr">
              <a:spcBef>
                <a:spcPts val="320"/>
              </a:spcBef>
              <a:spcAft>
                <a:spcPts val="0"/>
              </a:spcAft>
              <a:buClr>
                <a:srgbClr val="840E27"/>
              </a:buClr>
              <a:buSzPts val="1600"/>
              <a:buFont typeface="Open Sans"/>
              <a:buNone/>
              <a:defRPr b="0" i="0" sz="1600" u="none" cap="none" strike="noStrike">
                <a:solidFill>
                  <a:srgbClr val="000000"/>
                </a:solidFill>
                <a:latin typeface="Open Sans"/>
                <a:ea typeface="Open Sans"/>
                <a:cs typeface="Open Sans"/>
                <a:sym typeface="Open Sans"/>
              </a:defRPr>
            </a:lvl5pPr>
            <a:lvl6pPr lvl="5" marR="0" rtl="0" algn="ctr">
              <a:spcBef>
                <a:spcPts val="320"/>
              </a:spcBef>
              <a:spcAft>
                <a:spcPts val="0"/>
              </a:spcAft>
              <a:buClr>
                <a:schemeClr val="dk1"/>
              </a:buClr>
              <a:buSzPts val="1600"/>
              <a:buFont typeface="Open Sans"/>
              <a:buNone/>
              <a:defRPr b="0" i="0" sz="1600" u="none" cap="none" strike="noStrike">
                <a:solidFill>
                  <a:schemeClr val="dk1"/>
                </a:solidFill>
                <a:latin typeface="Open Sans"/>
                <a:ea typeface="Open Sans"/>
                <a:cs typeface="Open Sans"/>
                <a:sym typeface="Open Sans"/>
              </a:defRPr>
            </a:lvl6pPr>
            <a:lvl7pPr lvl="6" marR="0" rtl="0" algn="ctr">
              <a:spcBef>
                <a:spcPts val="320"/>
              </a:spcBef>
              <a:spcAft>
                <a:spcPts val="0"/>
              </a:spcAft>
              <a:buClr>
                <a:schemeClr val="dk1"/>
              </a:buClr>
              <a:buSzPts val="1600"/>
              <a:buFont typeface="Open Sans"/>
              <a:buNone/>
              <a:defRPr b="0" i="0" sz="1600" u="none" cap="none" strike="noStrike">
                <a:solidFill>
                  <a:schemeClr val="dk1"/>
                </a:solidFill>
                <a:latin typeface="Open Sans"/>
                <a:ea typeface="Open Sans"/>
                <a:cs typeface="Open Sans"/>
                <a:sym typeface="Open Sans"/>
              </a:defRPr>
            </a:lvl7pPr>
            <a:lvl8pPr lvl="7" marR="0" rtl="0" algn="ctr">
              <a:spcBef>
                <a:spcPts val="320"/>
              </a:spcBef>
              <a:spcAft>
                <a:spcPts val="0"/>
              </a:spcAft>
              <a:buClr>
                <a:schemeClr val="dk1"/>
              </a:buClr>
              <a:buSzPts val="1600"/>
              <a:buFont typeface="Open Sans"/>
              <a:buNone/>
              <a:defRPr b="0" i="0" sz="1600" u="none" cap="none" strike="noStrike">
                <a:solidFill>
                  <a:schemeClr val="dk1"/>
                </a:solidFill>
                <a:latin typeface="Open Sans"/>
                <a:ea typeface="Open Sans"/>
                <a:cs typeface="Open Sans"/>
                <a:sym typeface="Open Sans"/>
              </a:defRPr>
            </a:lvl8pPr>
            <a:lvl9pPr lvl="8" marR="0" rtl="0" algn="ctr">
              <a:spcBef>
                <a:spcPts val="320"/>
              </a:spcBef>
              <a:spcAft>
                <a:spcPts val="0"/>
              </a:spcAft>
              <a:buClr>
                <a:schemeClr val="dk1"/>
              </a:buClr>
              <a:buSzPts val="1600"/>
              <a:buFont typeface="Open Sans"/>
              <a:buNone/>
              <a:defRPr b="0" i="0" sz="1600" u="none" cap="none" strike="noStrike">
                <a:solidFill>
                  <a:schemeClr val="dk1"/>
                </a:solidFill>
                <a:latin typeface="Open Sans"/>
                <a:ea typeface="Open Sans"/>
                <a:cs typeface="Open Sans"/>
                <a:sym typeface="Open Sans"/>
              </a:defRPr>
            </a:lvl9pPr>
          </a:lstStyle>
          <a:p/>
        </p:txBody>
      </p:sp>
      <p:sp>
        <p:nvSpPr>
          <p:cNvPr id="212" name="Google Shape;212;p196"/>
          <p:cNvSpPr txBox="1"/>
          <p:nvPr>
            <p:ph type="ctrTitle"/>
          </p:nvPr>
        </p:nvSpPr>
        <p:spPr>
          <a:xfrm>
            <a:off x="334964" y="1268413"/>
            <a:ext cx="11522075" cy="900112"/>
          </a:xfrm>
          <a:prstGeom prst="rect">
            <a:avLst/>
          </a:prstGeom>
          <a:noFill/>
          <a:ln>
            <a:noFill/>
          </a:ln>
        </p:spPr>
        <p:txBody>
          <a:bodyPr anchorCtr="0" anchor="b" bIns="45700" lIns="91425" spcFirstLastPara="1" rIns="91425" wrap="square" tIns="45700">
            <a:spAutoFit/>
          </a:bodyPr>
          <a:lstStyle>
            <a:lvl1pPr lvl="0" algn="l">
              <a:lnSpc>
                <a:spcPct val="93346"/>
              </a:lnSpc>
              <a:spcBef>
                <a:spcPts val="0"/>
              </a:spcBef>
              <a:spcAft>
                <a:spcPts val="0"/>
              </a:spcAft>
              <a:buSzPts val="1400"/>
              <a:buNone/>
              <a:defRPr b="1" sz="26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ast Page Logo" showMasterSp="0">
  <p:cSld name="1_Last Page Logo">
    <p:spTree>
      <p:nvGrpSpPr>
        <p:cNvPr id="213" name="Shape 213"/>
        <p:cNvGrpSpPr/>
        <p:nvPr/>
      </p:nvGrpSpPr>
      <p:grpSpPr>
        <a:xfrm>
          <a:off x="0" y="0"/>
          <a:ext cx="0" cy="0"/>
          <a:chOff x="0" y="0"/>
          <a:chExt cx="0" cy="0"/>
        </a:xfrm>
      </p:grpSpPr>
      <p:pic>
        <p:nvPicPr>
          <p:cNvPr id="214" name="Google Shape;214;p197"/>
          <p:cNvPicPr preferRelativeResize="0"/>
          <p:nvPr/>
        </p:nvPicPr>
        <p:blipFill rotWithShape="1">
          <a:blip r:embed="rId2">
            <a:alphaModFix/>
          </a:blip>
          <a:srcRect b="0" l="0" r="0" t="0"/>
          <a:stretch/>
        </p:blipFill>
        <p:spPr>
          <a:xfrm>
            <a:off x="8617037" y="4998212"/>
            <a:ext cx="3240000" cy="405000"/>
          </a:xfrm>
          <a:prstGeom prst="rect">
            <a:avLst/>
          </a:prstGeom>
          <a:noFill/>
          <a:ln>
            <a:noFill/>
          </a:ln>
        </p:spPr>
      </p:pic>
      <p:cxnSp>
        <p:nvCxnSpPr>
          <p:cNvPr id="215" name="Google Shape;215;p197"/>
          <p:cNvCxnSpPr/>
          <p:nvPr/>
        </p:nvCxnSpPr>
        <p:spPr>
          <a:xfrm>
            <a:off x="0" y="5481638"/>
            <a:ext cx="11857037" cy="0"/>
          </a:xfrm>
          <a:prstGeom prst="straightConnector1">
            <a:avLst/>
          </a:prstGeom>
          <a:noFill/>
          <a:ln cap="flat" cmpd="sng" w="19050">
            <a:solidFill>
              <a:schemeClr val="accent3"/>
            </a:solidFill>
            <a:prstDash val="solid"/>
            <a:miter lim="800000"/>
            <a:headEnd len="sm" w="sm" type="none"/>
            <a:tailEnd len="sm" w="sm"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us Bold" showMasterSp="0">
  <p:cSld name="Plus Bold">
    <p:spTree>
      <p:nvGrpSpPr>
        <p:cNvPr id="216" name="Shape 216"/>
        <p:cNvGrpSpPr/>
        <p:nvPr/>
      </p:nvGrpSpPr>
      <p:grpSpPr>
        <a:xfrm>
          <a:off x="0" y="0"/>
          <a:ext cx="0" cy="0"/>
          <a:chOff x="0" y="0"/>
          <a:chExt cx="0" cy="0"/>
        </a:xfrm>
      </p:grpSpPr>
      <p:sp>
        <p:nvSpPr>
          <p:cNvPr id="217" name="Google Shape;217;p198"/>
          <p:cNvSpPr txBox="1"/>
          <p:nvPr>
            <p:ph type="title"/>
          </p:nvPr>
        </p:nvSpPr>
        <p:spPr>
          <a:xfrm>
            <a:off x="347472" y="164591"/>
            <a:ext cx="11521440" cy="1097280"/>
          </a:xfrm>
          <a:prstGeom prst="rect">
            <a:avLst/>
          </a:prstGeom>
          <a:noFill/>
          <a:ln>
            <a:noFill/>
          </a:ln>
        </p:spPr>
        <p:txBody>
          <a:bodyPr anchorCtr="0" anchor="ctr" bIns="45700" lIns="91425" spcFirstLastPara="1" rIns="91425" wrap="square" tIns="45700">
            <a:spAutoFit/>
          </a:bodyPr>
          <a:lstStyle>
            <a:lvl1pPr lvl="0" algn="l">
              <a:lnSpc>
                <a:spcPct val="75843"/>
              </a:lnSpc>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us" showMasterSp="0">
  <p:cSld name="Plus">
    <p:spTree>
      <p:nvGrpSpPr>
        <p:cNvPr id="218" name="Shape 218"/>
        <p:cNvGrpSpPr/>
        <p:nvPr/>
      </p:nvGrpSpPr>
      <p:grpSpPr>
        <a:xfrm>
          <a:off x="0" y="0"/>
          <a:ext cx="0" cy="0"/>
          <a:chOff x="0" y="0"/>
          <a:chExt cx="0" cy="0"/>
        </a:xfrm>
      </p:grpSpPr>
      <p:sp>
        <p:nvSpPr>
          <p:cNvPr id="219" name="Google Shape;219;p199"/>
          <p:cNvSpPr txBox="1"/>
          <p:nvPr>
            <p:ph type="title"/>
          </p:nvPr>
        </p:nvSpPr>
        <p:spPr>
          <a:xfrm>
            <a:off x="334963" y="280894"/>
            <a:ext cx="11522075" cy="876687"/>
          </a:xfrm>
          <a:prstGeom prst="rect">
            <a:avLst/>
          </a:prstGeom>
          <a:noFill/>
          <a:ln>
            <a:noFill/>
          </a:ln>
        </p:spPr>
        <p:txBody>
          <a:bodyPr anchorCtr="0" anchor="t" bIns="45700" lIns="91425" spcFirstLastPara="1" rIns="91425" wrap="square" tIns="45700">
            <a:spAutoFit/>
          </a:bodyPr>
          <a:lstStyle>
            <a:lvl1pPr lvl="0" algn="l">
              <a:lnSpc>
                <a:spcPct val="86678"/>
              </a:lnSpc>
              <a:spcBef>
                <a:spcPts val="0"/>
              </a:spcBef>
              <a:spcAft>
                <a:spcPts val="0"/>
              </a:spcAft>
              <a:buSzPts val="1400"/>
              <a:buNone/>
              <a:defRPr sz="28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20" name="Shape 220"/>
        <p:cNvGrpSpPr/>
        <p:nvPr/>
      </p:nvGrpSpPr>
      <p:grpSpPr>
        <a:xfrm>
          <a:off x="0" y="0"/>
          <a:ext cx="0" cy="0"/>
          <a:chOff x="0" y="0"/>
          <a:chExt cx="0" cy="0"/>
        </a:xfrm>
      </p:grpSpPr>
      <p:sp>
        <p:nvSpPr>
          <p:cNvPr id="221" name="Google Shape;221;p200"/>
          <p:cNvSpPr txBox="1"/>
          <p:nvPr>
            <p:ph type="title"/>
          </p:nvPr>
        </p:nvSpPr>
        <p:spPr>
          <a:xfrm>
            <a:off x="508799" y="250442"/>
            <a:ext cx="11352999" cy="461665"/>
          </a:xfrm>
          <a:prstGeom prst="rect">
            <a:avLst/>
          </a:prstGeom>
          <a:noFill/>
          <a:ln>
            <a:noFill/>
          </a:ln>
        </p:spPr>
        <p:txBody>
          <a:bodyPr anchorCtr="0" anchor="b" bIns="45700" lIns="91425" spcFirstLastPara="1" rIns="91425" wrap="square" tIns="45700">
            <a:spAutoFit/>
          </a:bodyPr>
          <a:lstStyle>
            <a:lvl1pPr lvl="0" algn="l">
              <a:lnSpc>
                <a:spcPct val="134833"/>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2" name="Google Shape;222;p200"/>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94640" lvl="0" marL="457200" marR="0" rtl="0" algn="just">
              <a:spcBef>
                <a:spcPts val="320"/>
              </a:spcBef>
              <a:spcAft>
                <a:spcPts val="0"/>
              </a:spcAft>
              <a:buClr>
                <a:srgbClr val="840E27"/>
              </a:buClr>
              <a:buSzPts val="1040"/>
              <a:buFont typeface="Noto Sans Symbols"/>
              <a:buChar char="🞈"/>
              <a:defRPr b="0" i="0" sz="1600" u="none" cap="none" strike="noStrike">
                <a:solidFill>
                  <a:srgbClr val="000000"/>
                </a:solidFill>
                <a:latin typeface="Open Sans"/>
                <a:ea typeface="Open Sans"/>
                <a:cs typeface="Open Sans"/>
                <a:sym typeface="Open Sans"/>
              </a:defRPr>
            </a:lvl1pPr>
            <a:lvl2pPr indent="-330200" lvl="1" marL="914400" marR="0" rtl="0" algn="just">
              <a:spcBef>
                <a:spcPts val="320"/>
              </a:spcBef>
              <a:spcAft>
                <a:spcPts val="0"/>
              </a:spcAft>
              <a:buClr>
                <a:srgbClr val="840E27"/>
              </a:buClr>
              <a:buSzPts val="1600"/>
              <a:buFont typeface="Noto Sans Symbols"/>
              <a:buChar char="▪"/>
              <a:defRPr b="0" i="0" sz="1600" u="none" cap="none" strike="noStrike">
                <a:solidFill>
                  <a:srgbClr val="000000"/>
                </a:solidFill>
                <a:latin typeface="Open Sans"/>
                <a:ea typeface="Open Sans"/>
                <a:cs typeface="Open Sans"/>
                <a:sym typeface="Open Sans"/>
              </a:defRPr>
            </a:lvl2pPr>
            <a:lvl3pPr indent="-330200" lvl="2" marL="1371600" marR="0" rtl="0" algn="just">
              <a:spcBef>
                <a:spcPts val="320"/>
              </a:spcBef>
              <a:spcAft>
                <a:spcPts val="0"/>
              </a:spcAft>
              <a:buClr>
                <a:srgbClr val="840E27"/>
              </a:buClr>
              <a:buSzPts val="1600"/>
              <a:buFont typeface="Merriweather Sans"/>
              <a:buChar char="−"/>
              <a:defRPr b="0" i="0" sz="1600" u="none" cap="none" strike="noStrike">
                <a:solidFill>
                  <a:srgbClr val="000000"/>
                </a:solidFill>
                <a:latin typeface="Open Sans"/>
                <a:ea typeface="Open Sans"/>
                <a:cs typeface="Open Sans"/>
                <a:sym typeface="Open Sans"/>
              </a:defRPr>
            </a:lvl3pPr>
            <a:lvl4pPr indent="-330200" lvl="3" marL="1828800" marR="0" rtl="0" algn="just">
              <a:spcBef>
                <a:spcPts val="320"/>
              </a:spcBef>
              <a:spcAft>
                <a:spcPts val="0"/>
              </a:spcAft>
              <a:buClr>
                <a:srgbClr val="840E27"/>
              </a:buClr>
              <a:buSzPts val="1600"/>
              <a:buFont typeface="Arial"/>
              <a:buChar char="•"/>
              <a:defRPr b="0" i="0" sz="1600" u="none" cap="none" strike="noStrike">
                <a:solidFill>
                  <a:srgbClr val="000000"/>
                </a:solidFill>
                <a:latin typeface="Open Sans"/>
                <a:ea typeface="Open Sans"/>
                <a:cs typeface="Open Sans"/>
                <a:sym typeface="Open Sans"/>
              </a:defRPr>
            </a:lvl4pPr>
            <a:lvl5pPr indent="-330200" lvl="4" marL="2286000" marR="0" rtl="0" algn="just">
              <a:spcBef>
                <a:spcPts val="320"/>
              </a:spcBef>
              <a:spcAft>
                <a:spcPts val="0"/>
              </a:spcAft>
              <a:buClr>
                <a:srgbClr val="840E27"/>
              </a:buClr>
              <a:buSzPts val="1600"/>
              <a:buFont typeface="Open Sans"/>
              <a:buChar char="»"/>
              <a:defRPr b="0" i="0" sz="1600" u="none" cap="none" strike="noStrike">
                <a:solidFill>
                  <a:srgbClr val="000000"/>
                </a:solidFill>
                <a:latin typeface="Open Sans"/>
                <a:ea typeface="Open Sans"/>
                <a:cs typeface="Open Sans"/>
                <a:sym typeface="Open Sans"/>
              </a:defRPr>
            </a:lvl5pPr>
            <a:lvl6pPr indent="-397954" lvl="5" marL="27432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6pPr>
            <a:lvl7pPr indent="-397954" lvl="6" marL="32004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7pPr>
            <a:lvl8pPr indent="-397954" lvl="7" marL="36576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8pPr>
            <a:lvl9pPr indent="-397954" lvl="8" marL="41148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9pPr>
          </a:lstStyle>
          <a:p/>
        </p:txBody>
      </p:sp>
      <p:sp>
        <p:nvSpPr>
          <p:cNvPr id="223" name="Google Shape;223;p200"/>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6pPr>
            <a:lvl7pPr lvl="6"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7pPr>
            <a:lvl8pPr lvl="7"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8pPr>
            <a:lvl9pPr lvl="8"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Only">
  <p:cSld name="4_Title Only">
    <p:spTree>
      <p:nvGrpSpPr>
        <p:cNvPr id="228" name="Shape 228"/>
        <p:cNvGrpSpPr/>
        <p:nvPr/>
      </p:nvGrpSpPr>
      <p:grpSpPr>
        <a:xfrm>
          <a:off x="0" y="0"/>
          <a:ext cx="0" cy="0"/>
          <a:chOff x="0" y="0"/>
          <a:chExt cx="0" cy="0"/>
        </a:xfrm>
      </p:grpSpPr>
      <p:sp>
        <p:nvSpPr>
          <p:cNvPr id="229" name="Google Shape;229;p140"/>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sz="2400">
                <a:solidFill>
                  <a:srgbClr val="000000"/>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0" name="Google Shape;230;p140"/>
          <p:cNvSpPr/>
          <p:nvPr/>
        </p:nvSpPr>
        <p:spPr>
          <a:xfrm>
            <a:off x="1" y="338503"/>
            <a:ext cx="205737" cy="409411"/>
          </a:xfrm>
          <a:custGeom>
            <a:rect b="b" l="l" r="r" t="t"/>
            <a:pathLst>
              <a:path extrusionOk="0" h="648450" w="325860">
                <a:moveTo>
                  <a:pt x="325860" y="324226"/>
                </a:moveTo>
                <a:cubicBezTo>
                  <a:pt x="325860" y="503329"/>
                  <a:pt x="179912" y="648451"/>
                  <a:pt x="0" y="648451"/>
                </a:cubicBezTo>
                <a:lnTo>
                  <a:pt x="0" y="0"/>
                </a:lnTo>
                <a:cubicBezTo>
                  <a:pt x="180006" y="0"/>
                  <a:pt x="325860" y="145216"/>
                  <a:pt x="325860" y="324226"/>
                </a:cubicBezTo>
                <a:close/>
              </a:path>
            </a:pathLst>
          </a:custGeom>
          <a:solidFill>
            <a:srgbClr val="F5A42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dk1"/>
              </a:solidFill>
              <a:latin typeface="Open Sans"/>
              <a:ea typeface="Open Sans"/>
              <a:cs typeface="Open Sans"/>
              <a:sym typeface="Open Sans"/>
            </a:endParaRPr>
          </a:p>
        </p:txBody>
      </p:sp>
      <p:pic>
        <p:nvPicPr>
          <p:cNvPr id="231" name="Google Shape;231;p140"/>
          <p:cNvPicPr preferRelativeResize="0"/>
          <p:nvPr/>
        </p:nvPicPr>
        <p:blipFill rotWithShape="1">
          <a:blip r:embed="rId2">
            <a:alphaModFix/>
          </a:blip>
          <a:srcRect b="0" l="0" r="0" t="0"/>
          <a:stretch/>
        </p:blipFill>
        <p:spPr>
          <a:xfrm>
            <a:off x="10909144" y="6450703"/>
            <a:ext cx="453862" cy="31371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232" name="Shape 232"/>
        <p:cNvGrpSpPr/>
        <p:nvPr/>
      </p:nvGrpSpPr>
      <p:grpSpPr>
        <a:xfrm>
          <a:off x="0" y="0"/>
          <a:ext cx="0" cy="0"/>
          <a:chOff x="0" y="0"/>
          <a:chExt cx="0" cy="0"/>
        </a:xfrm>
      </p:grpSpPr>
      <p:pic>
        <p:nvPicPr>
          <p:cNvPr id="233" name="Google Shape;233;p14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34" name="Google Shape;234;p141"/>
          <p:cNvSpPr txBox="1"/>
          <p:nvPr>
            <p:ph type="title"/>
          </p:nvPr>
        </p:nvSpPr>
        <p:spPr>
          <a:xfrm>
            <a:off x="950142" y="2035534"/>
            <a:ext cx="10179585" cy="2402661"/>
          </a:xfrm>
          <a:prstGeom prst="rect">
            <a:avLst/>
          </a:prstGeom>
          <a:noFill/>
          <a:ln>
            <a:noFill/>
          </a:ln>
        </p:spPr>
        <p:txBody>
          <a:bodyPr anchorCtr="0" anchor="ctr" bIns="36000" lIns="91425" spcFirstLastPara="1" rIns="91425" wrap="square" tIns="36000">
            <a:normAutofit/>
          </a:bodyPr>
          <a:lstStyle>
            <a:lvl1pPr lvl="0" algn="l">
              <a:lnSpc>
                <a:spcPct val="100000"/>
              </a:lnSpc>
              <a:spcBef>
                <a:spcPts val="0"/>
              </a:spcBef>
              <a:spcAft>
                <a:spcPts val="0"/>
              </a:spcAft>
              <a:buSzPts val="1400"/>
              <a:buNone/>
              <a:defRPr b="1" sz="3000" u="none">
                <a:solidFill>
                  <a:srgbClr val="FFFFFF"/>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pic>
        <p:nvPicPr>
          <p:cNvPr id="235" name="Google Shape;235;p141"/>
          <p:cNvPicPr preferRelativeResize="0"/>
          <p:nvPr/>
        </p:nvPicPr>
        <p:blipFill rotWithShape="1">
          <a:blip r:embed="rId3">
            <a:alphaModFix/>
          </a:blip>
          <a:srcRect b="0" l="0" r="0" t="0"/>
          <a:stretch/>
        </p:blipFill>
        <p:spPr>
          <a:xfrm>
            <a:off x="1066212" y="703884"/>
            <a:ext cx="1886373" cy="1307253"/>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st Page Logo" showMasterSp="0">
  <p:cSld name="Last Page Logo">
    <p:spTree>
      <p:nvGrpSpPr>
        <p:cNvPr id="236" name="Shape 236"/>
        <p:cNvGrpSpPr/>
        <p:nvPr/>
      </p:nvGrpSpPr>
      <p:grpSpPr>
        <a:xfrm>
          <a:off x="0" y="0"/>
          <a:ext cx="0" cy="0"/>
          <a:chOff x="0" y="0"/>
          <a:chExt cx="0" cy="0"/>
        </a:xfrm>
      </p:grpSpPr>
      <p:pic>
        <p:nvPicPr>
          <p:cNvPr id="237" name="Google Shape;237;p142"/>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238" name="Google Shape;238;p142"/>
          <p:cNvPicPr preferRelativeResize="0"/>
          <p:nvPr/>
        </p:nvPicPr>
        <p:blipFill rotWithShape="1">
          <a:blip r:embed="rId3">
            <a:alphaModFix/>
          </a:blip>
          <a:srcRect b="0" l="0" r="0" t="0"/>
          <a:stretch/>
        </p:blipFill>
        <p:spPr>
          <a:xfrm>
            <a:off x="8067660" y="790030"/>
            <a:ext cx="2748213" cy="1904507"/>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showMasterSp="0">
  <p:cSld name="2_Title Slide">
    <p:spTree>
      <p:nvGrpSpPr>
        <p:cNvPr id="239" name="Shape 239"/>
        <p:cNvGrpSpPr/>
        <p:nvPr/>
      </p:nvGrpSpPr>
      <p:grpSpPr>
        <a:xfrm>
          <a:off x="0" y="0"/>
          <a:ext cx="0" cy="0"/>
          <a:chOff x="0" y="0"/>
          <a:chExt cx="0" cy="0"/>
        </a:xfrm>
      </p:grpSpPr>
      <p:pic>
        <p:nvPicPr>
          <p:cNvPr id="240" name="Google Shape;240;p154"/>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241" name="Google Shape;241;p154"/>
          <p:cNvSpPr txBox="1"/>
          <p:nvPr>
            <p:ph type="title"/>
          </p:nvPr>
        </p:nvSpPr>
        <p:spPr>
          <a:xfrm>
            <a:off x="950142" y="2035534"/>
            <a:ext cx="10179585" cy="2402661"/>
          </a:xfrm>
          <a:prstGeom prst="rect">
            <a:avLst/>
          </a:prstGeom>
          <a:noFill/>
          <a:ln>
            <a:noFill/>
          </a:ln>
        </p:spPr>
        <p:txBody>
          <a:bodyPr anchorCtr="0" anchor="ctr" bIns="36000" lIns="91425" spcFirstLastPara="1" rIns="91425" wrap="square" tIns="36000">
            <a:normAutofit/>
          </a:bodyPr>
          <a:lstStyle>
            <a:lvl1pPr lvl="0" algn="l">
              <a:lnSpc>
                <a:spcPct val="100000"/>
              </a:lnSpc>
              <a:spcBef>
                <a:spcPts val="0"/>
              </a:spcBef>
              <a:spcAft>
                <a:spcPts val="0"/>
              </a:spcAft>
              <a:buSzPts val="1400"/>
              <a:buNone/>
              <a:defRPr b="1" sz="3000" u="none">
                <a:solidFill>
                  <a:srgbClr val="FFFFFF"/>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pic>
        <p:nvPicPr>
          <p:cNvPr id="242" name="Google Shape;242;p154"/>
          <p:cNvPicPr preferRelativeResize="0"/>
          <p:nvPr/>
        </p:nvPicPr>
        <p:blipFill rotWithShape="1">
          <a:blip r:embed="rId3">
            <a:alphaModFix/>
          </a:blip>
          <a:srcRect b="0" l="0" r="0" t="0"/>
          <a:stretch/>
        </p:blipFill>
        <p:spPr>
          <a:xfrm>
            <a:off x="1066212" y="703884"/>
            <a:ext cx="1886373" cy="1307253"/>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Last Page Logo" showMasterSp="0">
  <p:cSld name="2_Last Page Logo">
    <p:spTree>
      <p:nvGrpSpPr>
        <p:cNvPr id="243" name="Shape 243"/>
        <p:cNvGrpSpPr/>
        <p:nvPr/>
      </p:nvGrpSpPr>
      <p:grpSpPr>
        <a:xfrm>
          <a:off x="0" y="0"/>
          <a:ext cx="0" cy="0"/>
          <a:chOff x="0" y="0"/>
          <a:chExt cx="0" cy="0"/>
        </a:xfrm>
      </p:grpSpPr>
      <p:pic>
        <p:nvPicPr>
          <p:cNvPr id="244" name="Google Shape;244;p155"/>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245" name="Google Shape;245;p155"/>
          <p:cNvPicPr preferRelativeResize="0"/>
          <p:nvPr/>
        </p:nvPicPr>
        <p:blipFill rotWithShape="1">
          <a:blip r:embed="rId3">
            <a:alphaModFix/>
          </a:blip>
          <a:srcRect b="0" l="0" r="0" t="0"/>
          <a:stretch/>
        </p:blipFill>
        <p:spPr>
          <a:xfrm>
            <a:off x="8067660" y="790030"/>
            <a:ext cx="2748213" cy="1904507"/>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246" name="Shape 246"/>
        <p:cNvGrpSpPr/>
        <p:nvPr/>
      </p:nvGrpSpPr>
      <p:grpSpPr>
        <a:xfrm>
          <a:off x="0" y="0"/>
          <a:ext cx="0" cy="0"/>
          <a:chOff x="0" y="0"/>
          <a:chExt cx="0" cy="0"/>
        </a:xfrm>
      </p:grpSpPr>
      <p:sp>
        <p:nvSpPr>
          <p:cNvPr id="247" name="Google Shape;247;p156"/>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lvl1pPr lvl="0" algn="l">
              <a:lnSpc>
                <a:spcPct val="100000"/>
              </a:lnSpc>
              <a:spcBef>
                <a:spcPts val="0"/>
              </a:spcBef>
              <a:spcAft>
                <a:spcPts val="0"/>
              </a:spcAft>
              <a:buSzPts val="1400"/>
              <a:buNone/>
              <a:defRPr sz="2400">
                <a:solidFill>
                  <a:srgbClr val="000000"/>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48" name="Google Shape;248;p156"/>
          <p:cNvSpPr/>
          <p:nvPr/>
        </p:nvSpPr>
        <p:spPr>
          <a:xfrm>
            <a:off x="1" y="338503"/>
            <a:ext cx="205737" cy="409411"/>
          </a:xfrm>
          <a:custGeom>
            <a:rect b="b" l="l" r="r" t="t"/>
            <a:pathLst>
              <a:path extrusionOk="0" h="648450" w="325860">
                <a:moveTo>
                  <a:pt x="325860" y="324226"/>
                </a:moveTo>
                <a:cubicBezTo>
                  <a:pt x="325860" y="503329"/>
                  <a:pt x="179912" y="648451"/>
                  <a:pt x="0" y="648451"/>
                </a:cubicBezTo>
                <a:lnTo>
                  <a:pt x="0" y="0"/>
                </a:lnTo>
                <a:cubicBezTo>
                  <a:pt x="180006" y="0"/>
                  <a:pt x="325860" y="145216"/>
                  <a:pt x="325860" y="324226"/>
                </a:cubicBezTo>
                <a:close/>
              </a:path>
            </a:pathLst>
          </a:custGeom>
          <a:solidFill>
            <a:srgbClr val="F5A42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Open Sans"/>
              <a:ea typeface="Open Sans"/>
              <a:cs typeface="Open Sans"/>
              <a:sym typeface="Open Sans"/>
            </a:endParaRPr>
          </a:p>
        </p:txBody>
      </p:sp>
      <p:pic>
        <p:nvPicPr>
          <p:cNvPr id="249" name="Google Shape;249;p156"/>
          <p:cNvPicPr preferRelativeResize="0"/>
          <p:nvPr/>
        </p:nvPicPr>
        <p:blipFill rotWithShape="1">
          <a:blip r:embed="rId2">
            <a:alphaModFix/>
          </a:blip>
          <a:srcRect b="0" l="0" r="0" t="0"/>
          <a:stretch/>
        </p:blipFill>
        <p:spPr>
          <a:xfrm>
            <a:off x="10909144" y="6450703"/>
            <a:ext cx="453862" cy="313710"/>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50" name="Shape 250"/>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51" name="Shape 251"/>
        <p:cNvGrpSpPr/>
        <p:nvPr/>
      </p:nvGrpSpPr>
      <p:grpSpPr>
        <a:xfrm>
          <a:off x="0" y="0"/>
          <a:ext cx="0" cy="0"/>
          <a:chOff x="0" y="0"/>
          <a:chExt cx="0" cy="0"/>
        </a:xfrm>
      </p:grpSpPr>
      <p:sp>
        <p:nvSpPr>
          <p:cNvPr id="252" name="Google Shape;252;p158"/>
          <p:cNvSpPr txBox="1"/>
          <p:nvPr>
            <p:ph type="title"/>
          </p:nvPr>
        </p:nvSpPr>
        <p:spPr>
          <a:xfrm>
            <a:off x="508799" y="250442"/>
            <a:ext cx="11352999" cy="461665"/>
          </a:xfrm>
          <a:prstGeom prst="rect">
            <a:avLst/>
          </a:prstGeom>
          <a:noFill/>
          <a:ln>
            <a:noFill/>
          </a:ln>
        </p:spPr>
        <p:txBody>
          <a:bodyPr anchorCtr="0" anchor="b" bIns="45700" lIns="91425" spcFirstLastPara="1" rIns="91425" wrap="square" tIns="45700">
            <a:spAutoFit/>
          </a:bodyPr>
          <a:lstStyle>
            <a:lvl1pPr lvl="0" algn="l">
              <a:lnSpc>
                <a:spcPct val="134833"/>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spTree>
      <p:nvGrpSpPr>
        <p:cNvPr id="253" name="Shape 253"/>
        <p:cNvGrpSpPr/>
        <p:nvPr/>
      </p:nvGrpSpPr>
      <p:grpSpPr>
        <a:xfrm>
          <a:off x="0" y="0"/>
          <a:ext cx="0" cy="0"/>
          <a:chOff x="0" y="0"/>
          <a:chExt cx="0" cy="0"/>
        </a:xfrm>
      </p:grpSpPr>
      <p:sp>
        <p:nvSpPr>
          <p:cNvPr id="254" name="Google Shape;254;p159"/>
          <p:cNvSpPr txBox="1"/>
          <p:nvPr>
            <p:ph type="title"/>
          </p:nvPr>
        </p:nvSpPr>
        <p:spPr>
          <a:xfrm>
            <a:off x="508799" y="55686"/>
            <a:ext cx="11352999" cy="86624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sz="2400">
                <a:solidFill>
                  <a:srgbClr val="000000"/>
                </a:solidFill>
                <a:latin typeface="Open Sans"/>
                <a:ea typeface="Open Sans"/>
                <a:cs typeface="Open Sans"/>
                <a:sym typeface="Open Sans"/>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5" name="Google Shape;255;p159"/>
          <p:cNvSpPr/>
          <p:nvPr/>
        </p:nvSpPr>
        <p:spPr>
          <a:xfrm>
            <a:off x="1" y="338503"/>
            <a:ext cx="205737" cy="409411"/>
          </a:xfrm>
          <a:custGeom>
            <a:rect b="b" l="l" r="r" t="t"/>
            <a:pathLst>
              <a:path extrusionOk="0" h="648450" w="325860">
                <a:moveTo>
                  <a:pt x="325860" y="324226"/>
                </a:moveTo>
                <a:cubicBezTo>
                  <a:pt x="325860" y="503329"/>
                  <a:pt x="179912" y="648451"/>
                  <a:pt x="0" y="648451"/>
                </a:cubicBezTo>
                <a:lnTo>
                  <a:pt x="0" y="0"/>
                </a:lnTo>
                <a:cubicBezTo>
                  <a:pt x="180006" y="0"/>
                  <a:pt x="325860" y="145216"/>
                  <a:pt x="325860" y="324226"/>
                </a:cubicBezTo>
                <a:close/>
              </a:path>
            </a:pathLst>
          </a:custGeom>
          <a:solidFill>
            <a:srgbClr val="F5A42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Open Sans"/>
              <a:ea typeface="Open Sans"/>
              <a:cs typeface="Open Sans"/>
              <a:sym typeface="Open San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3_Title Only">
    <p:spTree>
      <p:nvGrpSpPr>
        <p:cNvPr id="256" name="Shape 256"/>
        <p:cNvGrpSpPr/>
        <p:nvPr/>
      </p:nvGrpSpPr>
      <p:grpSpPr>
        <a:xfrm>
          <a:off x="0" y="0"/>
          <a:ext cx="0" cy="0"/>
          <a:chOff x="0" y="0"/>
          <a:chExt cx="0" cy="0"/>
        </a:xfrm>
      </p:grpSpPr>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bg>
      <p:bgPr>
        <a:solidFill>
          <a:schemeClr val="lt1"/>
        </a:solidFill>
      </p:bgPr>
    </p:bg>
    <p:spTree>
      <p:nvGrpSpPr>
        <p:cNvPr id="257" name="Shape 257"/>
        <p:cNvGrpSpPr/>
        <p:nvPr/>
      </p:nvGrpSpPr>
      <p:grpSpPr>
        <a:xfrm>
          <a:off x="0" y="0"/>
          <a:ext cx="0" cy="0"/>
          <a:chOff x="0" y="0"/>
          <a:chExt cx="0" cy="0"/>
        </a:xfrm>
      </p:grpSpPr>
      <p:sp>
        <p:nvSpPr>
          <p:cNvPr id="258" name="Google Shape;258;p161"/>
          <p:cNvSpPr txBox="1"/>
          <p:nvPr>
            <p:ph idx="12" type="sldNum"/>
          </p:nvPr>
        </p:nvSpPr>
        <p:spPr>
          <a:xfrm>
            <a:off x="91313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1pPr>
            <a:lvl2pPr indent="0" lvl="1"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2pPr>
            <a:lvl3pPr indent="0" lvl="2"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3pPr>
            <a:lvl4pPr indent="0" lvl="3"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4pPr>
            <a:lvl5pPr indent="0" lvl="4"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5pPr>
            <a:lvl6pPr indent="0" lvl="5"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6pPr>
            <a:lvl7pPr indent="0" lvl="6"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7pPr>
            <a:lvl8pPr indent="0" lvl="7"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8pPr>
            <a:lvl9pPr indent="0" lvl="8" marL="0" marR="0" rtl="0" algn="r">
              <a:spcBef>
                <a:spcPts val="0"/>
              </a:spcBef>
              <a:buClr>
                <a:schemeClr val="dk1"/>
              </a:buClr>
              <a:buSzPts val="1200"/>
              <a:buFont typeface="Open Sans"/>
              <a:buNone/>
              <a:defRPr sz="1200">
                <a:solidFill>
                  <a:schemeClr val="dk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lus" showMasterSp="0">
  <p:cSld name="1_Plus">
    <p:spTree>
      <p:nvGrpSpPr>
        <p:cNvPr id="259" name="Shape 259"/>
        <p:cNvGrpSpPr/>
        <p:nvPr/>
      </p:nvGrpSpPr>
      <p:grpSpPr>
        <a:xfrm>
          <a:off x="0" y="0"/>
          <a:ext cx="0" cy="0"/>
          <a:chOff x="0" y="0"/>
          <a:chExt cx="0" cy="0"/>
        </a:xfrm>
      </p:grpSpPr>
      <p:sp>
        <p:nvSpPr>
          <p:cNvPr id="260" name="Google Shape;260;p162"/>
          <p:cNvSpPr txBox="1"/>
          <p:nvPr>
            <p:ph type="title"/>
          </p:nvPr>
        </p:nvSpPr>
        <p:spPr>
          <a:xfrm>
            <a:off x="334963" y="1"/>
            <a:ext cx="11522075" cy="876687"/>
          </a:xfrm>
          <a:prstGeom prst="rect">
            <a:avLst/>
          </a:prstGeom>
          <a:noFill/>
          <a:ln>
            <a:noFill/>
          </a:ln>
        </p:spPr>
        <p:txBody>
          <a:bodyPr anchorCtr="0" anchor="b" bIns="45700" lIns="91425" spcFirstLastPara="1" rIns="91425" wrap="square" tIns="45700">
            <a:spAutoFit/>
          </a:bodyPr>
          <a:lstStyle>
            <a:lvl1pPr lvl="0" algn="l">
              <a:lnSpc>
                <a:spcPct val="134833"/>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showMasterSp="0">
  <p:cSld name="2_Blank">
    <p:spTree>
      <p:nvGrpSpPr>
        <p:cNvPr id="261" name="Shape 261"/>
        <p:cNvGrpSpPr/>
        <p:nvPr/>
      </p:nvGrpSpPr>
      <p:grpSpPr>
        <a:xfrm>
          <a:off x="0" y="0"/>
          <a:ext cx="0" cy="0"/>
          <a:chOff x="0" y="0"/>
          <a:chExt cx="0" cy="0"/>
        </a:xfrm>
      </p:grpSpPr>
      <p:sp>
        <p:nvSpPr>
          <p:cNvPr id="262" name="Google Shape;262;p163"/>
          <p:cNvSpPr txBox="1"/>
          <p:nvPr>
            <p:ph type="title"/>
          </p:nvPr>
        </p:nvSpPr>
        <p:spPr>
          <a:xfrm>
            <a:off x="334963" y="1"/>
            <a:ext cx="11522075" cy="876687"/>
          </a:xfrm>
          <a:prstGeom prst="rect">
            <a:avLst/>
          </a:prstGeom>
          <a:noFill/>
          <a:ln>
            <a:noFill/>
          </a:ln>
        </p:spPr>
        <p:txBody>
          <a:bodyPr anchorCtr="0" anchor="b" bIns="45700" lIns="91425" spcFirstLastPara="1" rIns="91425" wrap="square" tIns="45700">
            <a:spAutoFit/>
          </a:bodyPr>
          <a:lstStyle>
            <a:lvl1pPr lvl="0" algn="l">
              <a:lnSpc>
                <a:spcPct val="134833"/>
              </a:lnSpc>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pic>
        <p:nvPicPr>
          <p:cNvPr id="263" name="Google Shape;263;p163"/>
          <p:cNvPicPr preferRelativeResize="0"/>
          <p:nvPr/>
        </p:nvPicPr>
        <p:blipFill rotWithShape="1">
          <a:blip r:embed="rId2">
            <a:alphaModFix/>
          </a:blip>
          <a:srcRect b="0" l="0" r="0" t="0"/>
          <a:stretch/>
        </p:blipFill>
        <p:spPr>
          <a:xfrm>
            <a:off x="10260000" y="6654664"/>
            <a:ext cx="1152000" cy="144000"/>
          </a:xfrm>
          <a:prstGeom prst="rect">
            <a:avLst/>
          </a:prstGeom>
          <a:noFill/>
          <a:ln>
            <a:noFill/>
          </a:ln>
        </p:spPr>
      </p:pic>
      <p:sp>
        <p:nvSpPr>
          <p:cNvPr id="264" name="Google Shape;264;p163"/>
          <p:cNvSpPr/>
          <p:nvPr/>
        </p:nvSpPr>
        <p:spPr>
          <a:xfrm>
            <a:off x="8263033" y="6642830"/>
            <a:ext cx="1368171" cy="165036"/>
          </a:xfrm>
          <a:prstGeom prst="rect">
            <a:avLst/>
          </a:prstGeom>
          <a:noFill/>
          <a:ln>
            <a:noFill/>
          </a:ln>
        </p:spPr>
        <p:txBody>
          <a:bodyPr anchorCtr="0" anchor="t" bIns="36000" lIns="36000" spcFirstLastPara="1" rIns="36000" wrap="square" tIns="36000">
            <a:spAutoFit/>
          </a:bodyPr>
          <a:lstStyle/>
          <a:p>
            <a:pPr indent="0" lvl="0" marL="0" marR="0" rtl="0" algn="ctr">
              <a:spcBef>
                <a:spcPts val="0"/>
              </a:spcBef>
              <a:spcAft>
                <a:spcPts val="0"/>
              </a:spcAft>
              <a:buClr>
                <a:srgbClr val="FFFFFF"/>
              </a:buClr>
              <a:buSzPts val="600"/>
              <a:buFont typeface="Open Sans"/>
              <a:buNone/>
            </a:pPr>
            <a:r>
              <a:rPr lang="es-MX" sz="600">
                <a:solidFill>
                  <a:srgbClr val="FFFFFF"/>
                </a:solidFill>
                <a:latin typeface="Open Sans"/>
                <a:ea typeface="Open Sans"/>
                <a:cs typeface="Open Sans"/>
                <a:sym typeface="Open Sans"/>
              </a:rPr>
              <a:t>060112 - KOF Operating m ... re vp1</a:t>
            </a:r>
            <a:endParaRPr/>
          </a:p>
        </p:txBody>
      </p:sp>
      <p:sp>
        <p:nvSpPr>
          <p:cNvPr id="265" name="Google Shape;265;p163"/>
          <p:cNvSpPr/>
          <p:nvPr/>
        </p:nvSpPr>
        <p:spPr>
          <a:xfrm>
            <a:off x="7348519" y="6642830"/>
            <a:ext cx="288036" cy="165036"/>
          </a:xfrm>
          <a:prstGeom prst="rect">
            <a:avLst/>
          </a:prstGeom>
          <a:noFill/>
          <a:ln>
            <a:noFill/>
          </a:ln>
        </p:spPr>
        <p:txBody>
          <a:bodyPr anchorCtr="0" anchor="t" bIns="36000" lIns="36000" spcFirstLastPara="1" rIns="36000" wrap="square" tIns="36000">
            <a:spAutoFit/>
          </a:bodyPr>
          <a:lstStyle/>
          <a:p>
            <a:pPr indent="0" lvl="0" marL="0" marR="0" rtl="0" algn="ctr">
              <a:spcBef>
                <a:spcPts val="0"/>
              </a:spcBef>
              <a:spcAft>
                <a:spcPts val="0"/>
              </a:spcAft>
              <a:buClr>
                <a:srgbClr val="FFFFFF"/>
              </a:buClr>
              <a:buSzPts val="600"/>
              <a:buFont typeface="Open Sans"/>
              <a:buNone/>
            </a:pPr>
            <a:r>
              <a:rPr lang="es-MX" sz="600">
                <a:solidFill>
                  <a:srgbClr val="FFFFFF"/>
                </a:solidFill>
                <a:latin typeface="Open Sans"/>
                <a:ea typeface="Open Sans"/>
                <a:cs typeface="Open Sans"/>
                <a:sym typeface="Open Sans"/>
              </a:rPr>
              <a:t>MEX</a:t>
            </a:r>
            <a:endParaRPr/>
          </a:p>
        </p:txBody>
      </p:sp>
      <p:pic>
        <p:nvPicPr>
          <p:cNvPr id="266" name="Google Shape;266;p163"/>
          <p:cNvPicPr preferRelativeResize="0"/>
          <p:nvPr/>
        </p:nvPicPr>
        <p:blipFill rotWithShape="1">
          <a:blip r:embed="rId3">
            <a:alphaModFix/>
          </a:blip>
          <a:srcRect b="0" l="0" r="0" t="0"/>
          <a:stretch/>
        </p:blipFill>
        <p:spPr>
          <a:xfrm>
            <a:off x="316547" y="6641266"/>
            <a:ext cx="6407451" cy="176799"/>
          </a:xfrm>
          <a:prstGeom prst="rect">
            <a:avLst/>
          </a:prstGeom>
          <a:noFill/>
          <a:ln>
            <a:noFill/>
          </a:ln>
        </p:spPr>
      </p:pic>
      <p:cxnSp>
        <p:nvCxnSpPr>
          <p:cNvPr id="267" name="Google Shape;267;p163"/>
          <p:cNvCxnSpPr/>
          <p:nvPr/>
        </p:nvCxnSpPr>
        <p:spPr>
          <a:xfrm>
            <a:off x="0" y="6598800"/>
            <a:ext cx="11857037" cy="0"/>
          </a:xfrm>
          <a:prstGeom prst="straightConnector1">
            <a:avLst/>
          </a:prstGeom>
          <a:noFill/>
          <a:ln cap="flat" cmpd="sng" w="9525">
            <a:solidFill>
              <a:schemeClr val="accent1"/>
            </a:solidFill>
            <a:prstDash val="solid"/>
            <a:miter lim="800000"/>
            <a:headEnd len="sm" w="sm" type="none"/>
            <a:tailEnd len="sm" w="sm" type="none"/>
          </a:ln>
        </p:spPr>
      </p:cxnSp>
      <p:cxnSp>
        <p:nvCxnSpPr>
          <p:cNvPr id="268" name="Google Shape;268;p163"/>
          <p:cNvCxnSpPr/>
          <p:nvPr/>
        </p:nvCxnSpPr>
        <p:spPr>
          <a:xfrm>
            <a:off x="334963" y="883539"/>
            <a:ext cx="762000" cy="0"/>
          </a:xfrm>
          <a:prstGeom prst="straightConnector1">
            <a:avLst/>
          </a:prstGeom>
          <a:noFill/>
          <a:ln cap="flat" cmpd="sng" w="9525">
            <a:solidFill>
              <a:srgbClr val="CC0000"/>
            </a:solidFill>
            <a:prstDash val="solid"/>
            <a:miter lim="800000"/>
            <a:headEnd len="sm" w="sm" type="none"/>
            <a:tailEnd len="sm" w="sm" type="none"/>
          </a:ln>
        </p:spPr>
      </p:cxnSp>
      <p:sp>
        <p:nvSpPr>
          <p:cNvPr id="269" name="Google Shape;269;p163"/>
          <p:cNvSpPr/>
          <p:nvPr/>
        </p:nvSpPr>
        <p:spPr>
          <a:xfrm>
            <a:off x="11715975" y="6649694"/>
            <a:ext cx="141064" cy="138499"/>
          </a:xfrm>
          <a:prstGeom prst="roundRect">
            <a:avLst>
              <a:gd fmla="val 0" name="adj"/>
            </a:avLst>
          </a:prstGeom>
          <a:solidFill>
            <a:schemeClr val="lt1"/>
          </a:solidFill>
          <a:ln>
            <a:noFill/>
          </a:ln>
        </p:spPr>
        <p:txBody>
          <a:bodyPr anchorCtr="0" anchor="ctr" bIns="0" lIns="0" spcFirstLastPara="1" rIns="0" wrap="square" tIns="0">
            <a:spAutoFit/>
          </a:bodyPr>
          <a:lstStyle/>
          <a:p>
            <a:pPr indent="0" lvl="0" marL="0" marR="0" rtl="0" algn="r">
              <a:spcBef>
                <a:spcPts val="0"/>
              </a:spcBef>
              <a:spcAft>
                <a:spcPts val="0"/>
              </a:spcAft>
              <a:buClr>
                <a:schemeClr val="lt2"/>
              </a:buClr>
              <a:buSzPts val="900"/>
              <a:buFont typeface="Open Sans"/>
              <a:buNone/>
            </a:pPr>
            <a:fld id="{00000000-1234-1234-1234-123412341234}" type="slidenum">
              <a:rPr b="0" lang="es-MX" sz="900">
                <a:solidFill>
                  <a:schemeClr val="lt2"/>
                </a:solidFill>
                <a:latin typeface="Open Sans"/>
                <a:ea typeface="Open Sans"/>
                <a:cs typeface="Open Sans"/>
                <a:sym typeface="Open Sans"/>
              </a:rPr>
              <a:t>‹#›</a:t>
            </a:fld>
            <a:endParaRPr b="0" sz="900">
              <a:solidFill>
                <a:schemeClr val="lt2"/>
              </a:solidFill>
              <a:latin typeface="Open Sans"/>
              <a:ea typeface="Open Sans"/>
              <a:cs typeface="Open Sans"/>
              <a:sym typeface="Open San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270" name="Shape 270"/>
        <p:cNvGrpSpPr/>
        <p:nvPr/>
      </p:nvGrpSpPr>
      <p:grpSpPr>
        <a:xfrm>
          <a:off x="0" y="0"/>
          <a:ext cx="0" cy="0"/>
          <a:chOff x="0" y="0"/>
          <a:chExt cx="0" cy="0"/>
        </a:xfrm>
      </p:grpSpPr>
      <p:pic>
        <p:nvPicPr>
          <p:cNvPr id="271" name="Google Shape;271;p164"/>
          <p:cNvPicPr preferRelativeResize="0"/>
          <p:nvPr/>
        </p:nvPicPr>
        <p:blipFill rotWithShape="1">
          <a:blip r:embed="rId2">
            <a:alphaModFix/>
          </a:blip>
          <a:srcRect b="0" l="0" r="0" t="0"/>
          <a:stretch/>
        </p:blipFill>
        <p:spPr>
          <a:xfrm>
            <a:off x="8617037" y="4998212"/>
            <a:ext cx="3240000" cy="405000"/>
          </a:xfrm>
          <a:prstGeom prst="rect">
            <a:avLst/>
          </a:prstGeom>
          <a:noFill/>
          <a:ln>
            <a:noFill/>
          </a:ln>
        </p:spPr>
      </p:pic>
      <p:cxnSp>
        <p:nvCxnSpPr>
          <p:cNvPr id="272" name="Google Shape;272;p164"/>
          <p:cNvCxnSpPr/>
          <p:nvPr/>
        </p:nvCxnSpPr>
        <p:spPr>
          <a:xfrm>
            <a:off x="0" y="4873803"/>
            <a:ext cx="11857037" cy="0"/>
          </a:xfrm>
          <a:prstGeom prst="straightConnector1">
            <a:avLst/>
          </a:prstGeom>
          <a:noFill/>
          <a:ln cap="flat" cmpd="sng" w="19050">
            <a:solidFill>
              <a:schemeClr val="accent3"/>
            </a:solidFill>
            <a:prstDash val="solid"/>
            <a:miter lim="800000"/>
            <a:headEnd len="sm" w="sm" type="none"/>
            <a:tailEnd len="sm" w="sm" type="none"/>
          </a:ln>
        </p:spPr>
      </p:cxnSp>
      <p:sp>
        <p:nvSpPr>
          <p:cNvPr id="273" name="Google Shape;273;p164"/>
          <p:cNvSpPr/>
          <p:nvPr>
            <p:ph idx="2" type="pic"/>
          </p:nvPr>
        </p:nvSpPr>
        <p:spPr>
          <a:xfrm>
            <a:off x="8617039" y="3364443"/>
            <a:ext cx="3239999" cy="1399647"/>
          </a:xfrm>
          <a:prstGeom prst="rect">
            <a:avLst/>
          </a:prstGeom>
          <a:noFill/>
          <a:ln>
            <a:noFill/>
          </a:ln>
        </p:spPr>
      </p:sp>
      <p:pic>
        <p:nvPicPr>
          <p:cNvPr id="274" name="Google Shape;274;p164"/>
          <p:cNvPicPr preferRelativeResize="0"/>
          <p:nvPr/>
        </p:nvPicPr>
        <p:blipFill rotWithShape="1">
          <a:blip r:embed="rId3">
            <a:alphaModFix/>
          </a:blip>
          <a:srcRect b="0" l="0" r="0" t="0"/>
          <a:stretch/>
        </p:blipFill>
        <p:spPr>
          <a:xfrm>
            <a:off x="315468" y="6547288"/>
            <a:ext cx="6407451" cy="274344"/>
          </a:xfrm>
          <a:prstGeom prst="rect">
            <a:avLst/>
          </a:prstGeom>
          <a:noFill/>
          <a:ln>
            <a:noFill/>
          </a:ln>
        </p:spPr>
      </p:pic>
      <p:sp>
        <p:nvSpPr>
          <p:cNvPr id="275" name="Google Shape;275;p164"/>
          <p:cNvSpPr txBox="1"/>
          <p:nvPr>
            <p:ph idx="1" type="subTitle"/>
          </p:nvPr>
        </p:nvSpPr>
        <p:spPr>
          <a:xfrm>
            <a:off x="334965" y="2420938"/>
            <a:ext cx="11522075" cy="9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840E27"/>
              </a:buClr>
              <a:buSzPts val="1430"/>
              <a:buFont typeface="Noto Sans Symbols"/>
              <a:buNone/>
              <a:defRPr b="0" i="0" sz="2200" u="none" cap="none" strike="noStrike">
                <a:solidFill>
                  <a:schemeClr val="lt2"/>
                </a:solidFill>
                <a:latin typeface="Open Sans"/>
                <a:ea typeface="Open Sans"/>
                <a:cs typeface="Open Sans"/>
                <a:sym typeface="Open Sans"/>
              </a:defRPr>
            </a:lvl1pPr>
            <a:lvl2pPr lvl="1" marR="0" rtl="0" algn="ctr">
              <a:spcBef>
                <a:spcPts val="400"/>
              </a:spcBef>
              <a:spcAft>
                <a:spcPts val="0"/>
              </a:spcAft>
              <a:buClr>
                <a:srgbClr val="840E27"/>
              </a:buClr>
              <a:buSzPts val="2000"/>
              <a:buFont typeface="Noto Sans Symbols"/>
              <a:buNone/>
              <a:defRPr b="0" i="0" sz="2000" u="none" cap="none" strike="noStrike">
                <a:solidFill>
                  <a:srgbClr val="000000"/>
                </a:solidFill>
                <a:latin typeface="Open Sans"/>
                <a:ea typeface="Open Sans"/>
                <a:cs typeface="Open Sans"/>
                <a:sym typeface="Open Sans"/>
              </a:defRPr>
            </a:lvl2pPr>
            <a:lvl3pPr lvl="2" marR="0" rtl="0" algn="ctr">
              <a:spcBef>
                <a:spcPts val="360"/>
              </a:spcBef>
              <a:spcAft>
                <a:spcPts val="0"/>
              </a:spcAft>
              <a:buClr>
                <a:srgbClr val="840E27"/>
              </a:buClr>
              <a:buSzPts val="1800"/>
              <a:buFont typeface="Merriweather Sans"/>
              <a:buNone/>
              <a:defRPr b="0" i="0" sz="1800" u="none" cap="none" strike="noStrike">
                <a:solidFill>
                  <a:srgbClr val="000000"/>
                </a:solidFill>
                <a:latin typeface="Open Sans"/>
                <a:ea typeface="Open Sans"/>
                <a:cs typeface="Open Sans"/>
                <a:sym typeface="Open Sans"/>
              </a:defRPr>
            </a:lvl3pPr>
            <a:lvl4pPr lvl="3" marR="0" rtl="0" algn="ctr">
              <a:spcBef>
                <a:spcPts val="320"/>
              </a:spcBef>
              <a:spcAft>
                <a:spcPts val="0"/>
              </a:spcAft>
              <a:buClr>
                <a:srgbClr val="840E27"/>
              </a:buClr>
              <a:buSzPts val="1600"/>
              <a:buFont typeface="Arial"/>
              <a:buNone/>
              <a:defRPr b="0" i="0" sz="1600" u="none" cap="none" strike="noStrike">
                <a:solidFill>
                  <a:srgbClr val="000000"/>
                </a:solidFill>
                <a:latin typeface="Open Sans"/>
                <a:ea typeface="Open Sans"/>
                <a:cs typeface="Open Sans"/>
                <a:sym typeface="Open Sans"/>
              </a:defRPr>
            </a:lvl4pPr>
            <a:lvl5pPr lvl="4" marR="0" rtl="0" algn="ctr">
              <a:spcBef>
                <a:spcPts val="320"/>
              </a:spcBef>
              <a:spcAft>
                <a:spcPts val="0"/>
              </a:spcAft>
              <a:buClr>
                <a:srgbClr val="840E27"/>
              </a:buClr>
              <a:buSzPts val="1600"/>
              <a:buFont typeface="Open Sans"/>
              <a:buNone/>
              <a:defRPr b="0" i="0" sz="1600" u="none" cap="none" strike="noStrike">
                <a:solidFill>
                  <a:srgbClr val="000000"/>
                </a:solidFill>
                <a:latin typeface="Open Sans"/>
                <a:ea typeface="Open Sans"/>
                <a:cs typeface="Open Sans"/>
                <a:sym typeface="Open Sans"/>
              </a:defRPr>
            </a:lvl5pPr>
            <a:lvl6pPr lvl="5" marR="0" rtl="0" algn="ctr">
              <a:spcBef>
                <a:spcPts val="320"/>
              </a:spcBef>
              <a:spcAft>
                <a:spcPts val="0"/>
              </a:spcAft>
              <a:buClr>
                <a:schemeClr val="dk1"/>
              </a:buClr>
              <a:buSzPts val="1600"/>
              <a:buFont typeface="Open Sans"/>
              <a:buNone/>
              <a:defRPr b="0" i="0" sz="1600" u="none" cap="none" strike="noStrike">
                <a:solidFill>
                  <a:schemeClr val="dk1"/>
                </a:solidFill>
                <a:latin typeface="Open Sans"/>
                <a:ea typeface="Open Sans"/>
                <a:cs typeface="Open Sans"/>
                <a:sym typeface="Open Sans"/>
              </a:defRPr>
            </a:lvl6pPr>
            <a:lvl7pPr lvl="6" marR="0" rtl="0" algn="ctr">
              <a:spcBef>
                <a:spcPts val="320"/>
              </a:spcBef>
              <a:spcAft>
                <a:spcPts val="0"/>
              </a:spcAft>
              <a:buClr>
                <a:schemeClr val="dk1"/>
              </a:buClr>
              <a:buSzPts val="1600"/>
              <a:buFont typeface="Open Sans"/>
              <a:buNone/>
              <a:defRPr b="0" i="0" sz="1600" u="none" cap="none" strike="noStrike">
                <a:solidFill>
                  <a:schemeClr val="dk1"/>
                </a:solidFill>
                <a:latin typeface="Open Sans"/>
                <a:ea typeface="Open Sans"/>
                <a:cs typeface="Open Sans"/>
                <a:sym typeface="Open Sans"/>
              </a:defRPr>
            </a:lvl7pPr>
            <a:lvl8pPr lvl="7" marR="0" rtl="0" algn="ctr">
              <a:spcBef>
                <a:spcPts val="320"/>
              </a:spcBef>
              <a:spcAft>
                <a:spcPts val="0"/>
              </a:spcAft>
              <a:buClr>
                <a:schemeClr val="dk1"/>
              </a:buClr>
              <a:buSzPts val="1600"/>
              <a:buFont typeface="Open Sans"/>
              <a:buNone/>
              <a:defRPr b="0" i="0" sz="1600" u="none" cap="none" strike="noStrike">
                <a:solidFill>
                  <a:schemeClr val="dk1"/>
                </a:solidFill>
                <a:latin typeface="Open Sans"/>
                <a:ea typeface="Open Sans"/>
                <a:cs typeface="Open Sans"/>
                <a:sym typeface="Open Sans"/>
              </a:defRPr>
            </a:lvl8pPr>
            <a:lvl9pPr lvl="8" marR="0" rtl="0" algn="ctr">
              <a:spcBef>
                <a:spcPts val="320"/>
              </a:spcBef>
              <a:spcAft>
                <a:spcPts val="0"/>
              </a:spcAft>
              <a:buClr>
                <a:schemeClr val="dk1"/>
              </a:buClr>
              <a:buSzPts val="1600"/>
              <a:buFont typeface="Open Sans"/>
              <a:buNone/>
              <a:defRPr b="0" i="0" sz="1600" u="none" cap="none" strike="noStrike">
                <a:solidFill>
                  <a:schemeClr val="dk1"/>
                </a:solidFill>
                <a:latin typeface="Open Sans"/>
                <a:ea typeface="Open Sans"/>
                <a:cs typeface="Open Sans"/>
                <a:sym typeface="Open Sans"/>
              </a:defRPr>
            </a:lvl9pPr>
          </a:lstStyle>
          <a:p/>
        </p:txBody>
      </p:sp>
      <p:sp>
        <p:nvSpPr>
          <p:cNvPr id="276" name="Google Shape;276;p164"/>
          <p:cNvSpPr txBox="1"/>
          <p:nvPr>
            <p:ph type="ctrTitle"/>
          </p:nvPr>
        </p:nvSpPr>
        <p:spPr>
          <a:xfrm>
            <a:off x="334964" y="1268413"/>
            <a:ext cx="11522075" cy="900112"/>
          </a:xfrm>
          <a:prstGeom prst="rect">
            <a:avLst/>
          </a:prstGeom>
          <a:noFill/>
          <a:ln>
            <a:noFill/>
          </a:ln>
        </p:spPr>
        <p:txBody>
          <a:bodyPr anchorCtr="0" anchor="b" bIns="45700" lIns="91425" spcFirstLastPara="1" rIns="91425" wrap="square" tIns="45700">
            <a:spAutoFit/>
          </a:bodyPr>
          <a:lstStyle>
            <a:lvl1pPr lvl="0" algn="l">
              <a:lnSpc>
                <a:spcPct val="93346"/>
              </a:lnSpc>
              <a:spcBef>
                <a:spcPts val="0"/>
              </a:spcBef>
              <a:spcAft>
                <a:spcPts val="0"/>
              </a:spcAft>
              <a:buSzPts val="1400"/>
              <a:buNone/>
              <a:defRPr b="1" sz="2600">
                <a:solidFill>
                  <a:schemeClr val="dk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ast Page Logo" showMasterSp="0">
  <p:cSld name="1_Last Page Logo">
    <p:spTree>
      <p:nvGrpSpPr>
        <p:cNvPr id="277" name="Shape 277"/>
        <p:cNvGrpSpPr/>
        <p:nvPr/>
      </p:nvGrpSpPr>
      <p:grpSpPr>
        <a:xfrm>
          <a:off x="0" y="0"/>
          <a:ext cx="0" cy="0"/>
          <a:chOff x="0" y="0"/>
          <a:chExt cx="0" cy="0"/>
        </a:xfrm>
      </p:grpSpPr>
      <p:pic>
        <p:nvPicPr>
          <p:cNvPr id="278" name="Google Shape;278;p165"/>
          <p:cNvPicPr preferRelativeResize="0"/>
          <p:nvPr/>
        </p:nvPicPr>
        <p:blipFill rotWithShape="1">
          <a:blip r:embed="rId2">
            <a:alphaModFix/>
          </a:blip>
          <a:srcRect b="0" l="0" r="0" t="0"/>
          <a:stretch/>
        </p:blipFill>
        <p:spPr>
          <a:xfrm>
            <a:off x="8617037" y="4998212"/>
            <a:ext cx="3240000" cy="405000"/>
          </a:xfrm>
          <a:prstGeom prst="rect">
            <a:avLst/>
          </a:prstGeom>
          <a:noFill/>
          <a:ln>
            <a:noFill/>
          </a:ln>
        </p:spPr>
      </p:pic>
      <p:cxnSp>
        <p:nvCxnSpPr>
          <p:cNvPr id="279" name="Google Shape;279;p165"/>
          <p:cNvCxnSpPr/>
          <p:nvPr/>
        </p:nvCxnSpPr>
        <p:spPr>
          <a:xfrm>
            <a:off x="0" y="5481638"/>
            <a:ext cx="11857037" cy="0"/>
          </a:xfrm>
          <a:prstGeom prst="straightConnector1">
            <a:avLst/>
          </a:prstGeom>
          <a:noFill/>
          <a:ln cap="flat" cmpd="sng" w="19050">
            <a:solidFill>
              <a:schemeClr val="accent3"/>
            </a:solidFill>
            <a:prstDash val="solid"/>
            <a:miter lim="800000"/>
            <a:headEnd len="sm" w="sm" type="none"/>
            <a:tailEnd len="sm" w="sm" type="none"/>
          </a:ln>
        </p:spPr>
      </p:cxn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XXO Title and Content">
  <p:cSld name="OXXO Title and Content">
    <p:spTree>
      <p:nvGrpSpPr>
        <p:cNvPr id="280" name="Shape 280"/>
        <p:cNvGrpSpPr/>
        <p:nvPr/>
      </p:nvGrpSpPr>
      <p:grpSpPr>
        <a:xfrm>
          <a:off x="0" y="0"/>
          <a:ext cx="0" cy="0"/>
          <a:chOff x="0" y="0"/>
          <a:chExt cx="0" cy="0"/>
        </a:xfrm>
      </p:grpSpPr>
      <p:sp>
        <p:nvSpPr>
          <p:cNvPr id="281" name="Google Shape;281;p166"/>
          <p:cNvSpPr txBox="1"/>
          <p:nvPr>
            <p:ph idx="1" type="body"/>
          </p:nvPr>
        </p:nvSpPr>
        <p:spPr>
          <a:xfrm>
            <a:off x="508800" y="717793"/>
            <a:ext cx="8400000" cy="292644"/>
          </a:xfrm>
          <a:prstGeom prst="rect">
            <a:avLst/>
          </a:prstGeom>
          <a:noFill/>
          <a:ln>
            <a:noFill/>
          </a:ln>
        </p:spPr>
        <p:txBody>
          <a:bodyPr anchorCtr="0" anchor="t" bIns="0" lIns="91425" spcFirstLastPara="1" rIns="91425" wrap="square" tIns="0">
            <a:spAutoFit/>
          </a:bodyPr>
          <a:lstStyle>
            <a:lvl1pPr indent="-228600" lvl="0" marL="457200" marR="0" rtl="0" algn="l">
              <a:spcBef>
                <a:spcPts val="373"/>
              </a:spcBef>
              <a:spcAft>
                <a:spcPts val="0"/>
              </a:spcAft>
              <a:buClr>
                <a:srgbClr val="840E27"/>
              </a:buClr>
              <a:buSzPts val="1214"/>
              <a:buFont typeface="Noto Sans Symbols"/>
              <a:buNone/>
              <a:defRPr b="0" i="0" sz="1867" u="none" cap="none" strike="noStrike">
                <a:solidFill>
                  <a:srgbClr val="231F25"/>
                </a:solidFill>
                <a:latin typeface="Open Sans"/>
                <a:ea typeface="Open Sans"/>
                <a:cs typeface="Open Sans"/>
                <a:sym typeface="Open Sans"/>
              </a:defRPr>
            </a:lvl1pPr>
            <a:lvl2pPr indent="-330200" lvl="1" marL="914400" marR="0" rtl="0" algn="just">
              <a:spcBef>
                <a:spcPts val="320"/>
              </a:spcBef>
              <a:spcAft>
                <a:spcPts val="0"/>
              </a:spcAft>
              <a:buClr>
                <a:srgbClr val="840E27"/>
              </a:buClr>
              <a:buSzPts val="1600"/>
              <a:buFont typeface="Noto Sans Symbols"/>
              <a:buChar char="▪"/>
              <a:defRPr b="0" i="0" sz="1600" u="none" cap="none" strike="noStrike">
                <a:solidFill>
                  <a:srgbClr val="000000"/>
                </a:solidFill>
                <a:latin typeface="Open Sans"/>
                <a:ea typeface="Open Sans"/>
                <a:cs typeface="Open Sans"/>
                <a:sym typeface="Open Sans"/>
              </a:defRPr>
            </a:lvl2pPr>
            <a:lvl3pPr indent="-330200" lvl="2" marL="1371600" marR="0" rtl="0" algn="just">
              <a:spcBef>
                <a:spcPts val="320"/>
              </a:spcBef>
              <a:spcAft>
                <a:spcPts val="0"/>
              </a:spcAft>
              <a:buClr>
                <a:srgbClr val="840E27"/>
              </a:buClr>
              <a:buSzPts val="1600"/>
              <a:buFont typeface="Merriweather Sans"/>
              <a:buChar char="−"/>
              <a:defRPr b="0" i="0" sz="1600" u="none" cap="none" strike="noStrike">
                <a:solidFill>
                  <a:srgbClr val="000000"/>
                </a:solidFill>
                <a:latin typeface="Open Sans"/>
                <a:ea typeface="Open Sans"/>
                <a:cs typeface="Open Sans"/>
                <a:sym typeface="Open Sans"/>
              </a:defRPr>
            </a:lvl3pPr>
            <a:lvl4pPr indent="-330200" lvl="3" marL="1828800" marR="0" rtl="0" algn="just">
              <a:spcBef>
                <a:spcPts val="320"/>
              </a:spcBef>
              <a:spcAft>
                <a:spcPts val="0"/>
              </a:spcAft>
              <a:buClr>
                <a:srgbClr val="840E27"/>
              </a:buClr>
              <a:buSzPts val="1600"/>
              <a:buFont typeface="Arial"/>
              <a:buChar char="•"/>
              <a:defRPr b="0" i="0" sz="1600" u="none" cap="none" strike="noStrike">
                <a:solidFill>
                  <a:srgbClr val="000000"/>
                </a:solidFill>
                <a:latin typeface="Open Sans"/>
                <a:ea typeface="Open Sans"/>
                <a:cs typeface="Open Sans"/>
                <a:sym typeface="Open Sans"/>
              </a:defRPr>
            </a:lvl4pPr>
            <a:lvl5pPr indent="-330200" lvl="4" marL="2286000" marR="0" rtl="0" algn="just">
              <a:spcBef>
                <a:spcPts val="320"/>
              </a:spcBef>
              <a:spcAft>
                <a:spcPts val="0"/>
              </a:spcAft>
              <a:buClr>
                <a:srgbClr val="840E27"/>
              </a:buClr>
              <a:buSzPts val="1600"/>
              <a:buFont typeface="Open Sans"/>
              <a:buChar char="»"/>
              <a:defRPr b="0" i="0" sz="1600" u="none" cap="none" strike="noStrike">
                <a:solidFill>
                  <a:srgbClr val="000000"/>
                </a:solidFill>
                <a:latin typeface="Open Sans"/>
                <a:ea typeface="Open Sans"/>
                <a:cs typeface="Open Sans"/>
                <a:sym typeface="Open Sans"/>
              </a:defRPr>
            </a:lvl5pPr>
            <a:lvl6pPr indent="-397954" lvl="5" marL="27432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6pPr>
            <a:lvl7pPr indent="-397954" lvl="6" marL="32004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7pPr>
            <a:lvl8pPr indent="-397954" lvl="7" marL="36576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8pPr>
            <a:lvl9pPr indent="-397954" lvl="8" marL="41148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9pPr>
          </a:lstStyle>
          <a:p/>
        </p:txBody>
      </p:sp>
      <p:sp>
        <p:nvSpPr>
          <p:cNvPr id="282" name="Google Shape;282;p166"/>
          <p:cNvSpPr txBox="1"/>
          <p:nvPr>
            <p:ph type="title"/>
          </p:nvPr>
        </p:nvSpPr>
        <p:spPr>
          <a:xfrm>
            <a:off x="508800" y="250442"/>
            <a:ext cx="8400000" cy="461665"/>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SzPts val="1400"/>
              <a:buNone/>
              <a:defRPr sz="2400">
                <a:solidFill>
                  <a:srgbClr val="000000"/>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3" name="Google Shape;283;p166"/>
          <p:cNvSpPr txBox="1"/>
          <p:nvPr>
            <p:ph idx="2" type="body"/>
          </p:nvPr>
        </p:nvSpPr>
        <p:spPr>
          <a:xfrm>
            <a:off x="513600" y="1420800"/>
            <a:ext cx="11203200" cy="4838400"/>
          </a:xfrm>
          <a:prstGeom prst="rect">
            <a:avLst/>
          </a:prstGeom>
          <a:noFill/>
          <a:ln>
            <a:noFill/>
          </a:ln>
        </p:spPr>
        <p:txBody>
          <a:bodyPr anchorCtr="0" anchor="t" bIns="45700" lIns="91425" spcFirstLastPara="1" rIns="91425" wrap="square" tIns="45700">
            <a:noAutofit/>
          </a:bodyPr>
          <a:lstStyle>
            <a:lvl1pPr indent="-347154" lvl="0" marL="457200" marR="0" rtl="0" algn="just">
              <a:spcBef>
                <a:spcPts val="373"/>
              </a:spcBef>
              <a:spcAft>
                <a:spcPts val="0"/>
              </a:spcAft>
              <a:buClr>
                <a:srgbClr val="000000"/>
              </a:buClr>
              <a:buSzPts val="1867"/>
              <a:buFont typeface="Arial"/>
              <a:buChar char="•"/>
              <a:defRPr b="0" i="0" sz="1867" u="none" cap="none" strike="noStrike">
                <a:solidFill>
                  <a:srgbClr val="000000"/>
                </a:solidFill>
                <a:latin typeface="Open Sans"/>
                <a:ea typeface="Open Sans"/>
                <a:cs typeface="Open Sans"/>
                <a:sym typeface="Open Sans"/>
              </a:defRPr>
            </a:lvl1pPr>
            <a:lvl2pPr indent="-347154" lvl="1" marL="914400" marR="0" rtl="0" algn="just">
              <a:spcBef>
                <a:spcPts val="373"/>
              </a:spcBef>
              <a:spcAft>
                <a:spcPts val="0"/>
              </a:spcAft>
              <a:buClr>
                <a:srgbClr val="000000"/>
              </a:buClr>
              <a:buSzPts val="1867"/>
              <a:buFont typeface="Arial"/>
              <a:buChar char="−"/>
              <a:defRPr b="0" i="0" sz="1867" u="none" cap="none" strike="noStrike">
                <a:solidFill>
                  <a:srgbClr val="000000"/>
                </a:solidFill>
                <a:latin typeface="Open Sans"/>
                <a:ea typeface="Open Sans"/>
                <a:cs typeface="Open Sans"/>
                <a:sym typeface="Open Sans"/>
              </a:defRPr>
            </a:lvl2pPr>
            <a:lvl3pPr indent="-347154" lvl="2" marL="1371600" marR="0" rtl="0" algn="just">
              <a:spcBef>
                <a:spcPts val="373"/>
              </a:spcBef>
              <a:spcAft>
                <a:spcPts val="0"/>
              </a:spcAft>
              <a:buClr>
                <a:srgbClr val="000000"/>
              </a:buClr>
              <a:buSzPts val="1867"/>
              <a:buFont typeface="Noto Sans Symbols"/>
              <a:buChar char="▪"/>
              <a:defRPr b="0" i="0" sz="1867" u="none" cap="none" strike="noStrike">
                <a:solidFill>
                  <a:srgbClr val="000000"/>
                </a:solidFill>
                <a:latin typeface="Open Sans"/>
                <a:ea typeface="Open Sans"/>
                <a:cs typeface="Open Sans"/>
                <a:sym typeface="Open Sans"/>
              </a:defRPr>
            </a:lvl3pPr>
            <a:lvl4pPr indent="-347154" lvl="3" marL="1828800" marR="0" rtl="0" algn="just">
              <a:spcBef>
                <a:spcPts val="373"/>
              </a:spcBef>
              <a:spcAft>
                <a:spcPts val="0"/>
              </a:spcAft>
              <a:buClr>
                <a:srgbClr val="000000"/>
              </a:buClr>
              <a:buSzPts val="1867"/>
              <a:buFont typeface="Arial"/>
              <a:buChar char="›"/>
              <a:defRPr b="0" i="0" sz="1867" u="none" cap="none" strike="noStrike">
                <a:solidFill>
                  <a:srgbClr val="000000"/>
                </a:solidFill>
                <a:latin typeface="Open Sans"/>
                <a:ea typeface="Open Sans"/>
                <a:cs typeface="Open Sans"/>
                <a:sym typeface="Open Sans"/>
              </a:defRPr>
            </a:lvl4pPr>
            <a:lvl5pPr indent="-323443" lvl="4" marL="2286000" marR="0" rtl="0" algn="just">
              <a:spcBef>
                <a:spcPts val="373"/>
              </a:spcBef>
              <a:spcAft>
                <a:spcPts val="0"/>
              </a:spcAft>
              <a:buClr>
                <a:srgbClr val="000000"/>
              </a:buClr>
              <a:buSzPts val="1494"/>
              <a:buFont typeface="Courier New"/>
              <a:buChar char="o"/>
              <a:defRPr b="0" i="0" sz="1867" u="none" cap="none" strike="noStrike">
                <a:solidFill>
                  <a:srgbClr val="000000"/>
                </a:solidFill>
                <a:latin typeface="Open Sans"/>
                <a:ea typeface="Open Sans"/>
                <a:cs typeface="Open Sans"/>
                <a:sym typeface="Open Sans"/>
              </a:defRPr>
            </a:lvl5pPr>
            <a:lvl6pPr indent="-397954" lvl="5" marL="27432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6pPr>
            <a:lvl7pPr indent="-397954" lvl="6" marL="32004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7pPr>
            <a:lvl8pPr indent="-397954" lvl="7" marL="36576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8pPr>
            <a:lvl9pPr indent="-397954" lvl="8" marL="41148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9pPr>
          </a:lstStyle>
          <a:p/>
        </p:txBody>
      </p:sp>
      <p:sp>
        <p:nvSpPr>
          <p:cNvPr id="284" name="Google Shape;284;p166"/>
          <p:cNvSpPr/>
          <p:nvPr/>
        </p:nvSpPr>
        <p:spPr>
          <a:xfrm>
            <a:off x="1" y="338503"/>
            <a:ext cx="205737" cy="409411"/>
          </a:xfrm>
          <a:custGeom>
            <a:rect b="b" l="l" r="r" t="t"/>
            <a:pathLst>
              <a:path extrusionOk="0" h="648450" w="325860">
                <a:moveTo>
                  <a:pt x="325860" y="324226"/>
                </a:moveTo>
                <a:cubicBezTo>
                  <a:pt x="325860" y="503329"/>
                  <a:pt x="179912" y="648451"/>
                  <a:pt x="0" y="648451"/>
                </a:cubicBezTo>
                <a:lnTo>
                  <a:pt x="0" y="0"/>
                </a:lnTo>
                <a:cubicBezTo>
                  <a:pt x="180006" y="0"/>
                  <a:pt x="325860" y="145216"/>
                  <a:pt x="325860" y="324226"/>
                </a:cubicBezTo>
                <a:close/>
              </a:path>
            </a:pathLst>
          </a:custGeom>
          <a:solidFill>
            <a:srgbClr val="F5A42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Open Sans"/>
              <a:ea typeface="Open Sans"/>
              <a:cs typeface="Open Sans"/>
              <a:sym typeface="Open Sans"/>
            </a:endParaRPr>
          </a:p>
        </p:txBody>
      </p:sp>
      <p:pic>
        <p:nvPicPr>
          <p:cNvPr id="285" name="Google Shape;285;p166"/>
          <p:cNvPicPr preferRelativeResize="0"/>
          <p:nvPr/>
        </p:nvPicPr>
        <p:blipFill rotWithShape="1">
          <a:blip r:embed="rId2">
            <a:alphaModFix/>
          </a:blip>
          <a:srcRect b="0" l="0" r="0" t="0"/>
          <a:stretch/>
        </p:blipFill>
        <p:spPr>
          <a:xfrm>
            <a:off x="10780178" y="346107"/>
            <a:ext cx="904057" cy="47576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mp;S2 Title and Content">
  <p:cSld name="P&amp;S2 Title and Content">
    <p:spTree>
      <p:nvGrpSpPr>
        <p:cNvPr id="286" name="Shape 286"/>
        <p:cNvGrpSpPr/>
        <p:nvPr/>
      </p:nvGrpSpPr>
      <p:grpSpPr>
        <a:xfrm>
          <a:off x="0" y="0"/>
          <a:ext cx="0" cy="0"/>
          <a:chOff x="0" y="0"/>
          <a:chExt cx="0" cy="0"/>
        </a:xfrm>
      </p:grpSpPr>
      <p:sp>
        <p:nvSpPr>
          <p:cNvPr id="287" name="Google Shape;287;p167"/>
          <p:cNvSpPr txBox="1"/>
          <p:nvPr>
            <p:ph idx="1" type="body"/>
          </p:nvPr>
        </p:nvSpPr>
        <p:spPr>
          <a:xfrm>
            <a:off x="508800" y="717793"/>
            <a:ext cx="8400000" cy="292644"/>
          </a:xfrm>
          <a:prstGeom prst="rect">
            <a:avLst/>
          </a:prstGeom>
          <a:noFill/>
          <a:ln>
            <a:noFill/>
          </a:ln>
        </p:spPr>
        <p:txBody>
          <a:bodyPr anchorCtr="0" anchor="t" bIns="0" lIns="91425" spcFirstLastPara="1" rIns="91425" wrap="square" tIns="0">
            <a:spAutoFit/>
          </a:bodyPr>
          <a:lstStyle>
            <a:lvl1pPr indent="-228600" lvl="0" marL="457200" marR="0" rtl="0" algn="l">
              <a:spcBef>
                <a:spcPts val="373"/>
              </a:spcBef>
              <a:spcAft>
                <a:spcPts val="0"/>
              </a:spcAft>
              <a:buClr>
                <a:srgbClr val="840E27"/>
              </a:buClr>
              <a:buSzPts val="1214"/>
              <a:buFont typeface="Noto Sans Symbols"/>
              <a:buNone/>
              <a:defRPr b="0" i="0" sz="1867" u="none" cap="none" strike="noStrike">
                <a:solidFill>
                  <a:srgbClr val="231F25"/>
                </a:solidFill>
                <a:latin typeface="Open Sans"/>
                <a:ea typeface="Open Sans"/>
                <a:cs typeface="Open Sans"/>
                <a:sym typeface="Open Sans"/>
              </a:defRPr>
            </a:lvl1pPr>
            <a:lvl2pPr indent="-330200" lvl="1" marL="914400" marR="0" rtl="0" algn="just">
              <a:spcBef>
                <a:spcPts val="320"/>
              </a:spcBef>
              <a:spcAft>
                <a:spcPts val="0"/>
              </a:spcAft>
              <a:buClr>
                <a:srgbClr val="840E27"/>
              </a:buClr>
              <a:buSzPts val="1600"/>
              <a:buFont typeface="Noto Sans Symbols"/>
              <a:buChar char="▪"/>
              <a:defRPr b="0" i="0" sz="1600" u="none" cap="none" strike="noStrike">
                <a:solidFill>
                  <a:srgbClr val="000000"/>
                </a:solidFill>
                <a:latin typeface="Open Sans"/>
                <a:ea typeface="Open Sans"/>
                <a:cs typeface="Open Sans"/>
                <a:sym typeface="Open Sans"/>
              </a:defRPr>
            </a:lvl2pPr>
            <a:lvl3pPr indent="-330200" lvl="2" marL="1371600" marR="0" rtl="0" algn="just">
              <a:spcBef>
                <a:spcPts val="320"/>
              </a:spcBef>
              <a:spcAft>
                <a:spcPts val="0"/>
              </a:spcAft>
              <a:buClr>
                <a:srgbClr val="840E27"/>
              </a:buClr>
              <a:buSzPts val="1600"/>
              <a:buFont typeface="Merriweather Sans"/>
              <a:buChar char="−"/>
              <a:defRPr b="0" i="0" sz="1600" u="none" cap="none" strike="noStrike">
                <a:solidFill>
                  <a:srgbClr val="000000"/>
                </a:solidFill>
                <a:latin typeface="Open Sans"/>
                <a:ea typeface="Open Sans"/>
                <a:cs typeface="Open Sans"/>
                <a:sym typeface="Open Sans"/>
              </a:defRPr>
            </a:lvl3pPr>
            <a:lvl4pPr indent="-330200" lvl="3" marL="1828800" marR="0" rtl="0" algn="just">
              <a:spcBef>
                <a:spcPts val="320"/>
              </a:spcBef>
              <a:spcAft>
                <a:spcPts val="0"/>
              </a:spcAft>
              <a:buClr>
                <a:srgbClr val="840E27"/>
              </a:buClr>
              <a:buSzPts val="1600"/>
              <a:buFont typeface="Arial"/>
              <a:buChar char="•"/>
              <a:defRPr b="0" i="0" sz="1600" u="none" cap="none" strike="noStrike">
                <a:solidFill>
                  <a:srgbClr val="000000"/>
                </a:solidFill>
                <a:latin typeface="Open Sans"/>
                <a:ea typeface="Open Sans"/>
                <a:cs typeface="Open Sans"/>
                <a:sym typeface="Open Sans"/>
              </a:defRPr>
            </a:lvl4pPr>
            <a:lvl5pPr indent="-330200" lvl="4" marL="2286000" marR="0" rtl="0" algn="just">
              <a:spcBef>
                <a:spcPts val="320"/>
              </a:spcBef>
              <a:spcAft>
                <a:spcPts val="0"/>
              </a:spcAft>
              <a:buClr>
                <a:srgbClr val="840E27"/>
              </a:buClr>
              <a:buSzPts val="1600"/>
              <a:buFont typeface="Open Sans"/>
              <a:buChar char="»"/>
              <a:defRPr b="0" i="0" sz="1600" u="none" cap="none" strike="noStrike">
                <a:solidFill>
                  <a:srgbClr val="000000"/>
                </a:solidFill>
                <a:latin typeface="Open Sans"/>
                <a:ea typeface="Open Sans"/>
                <a:cs typeface="Open Sans"/>
                <a:sym typeface="Open Sans"/>
              </a:defRPr>
            </a:lvl5pPr>
            <a:lvl6pPr indent="-397954" lvl="5" marL="27432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6pPr>
            <a:lvl7pPr indent="-397954" lvl="6" marL="32004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7pPr>
            <a:lvl8pPr indent="-397954" lvl="7" marL="36576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8pPr>
            <a:lvl9pPr indent="-397954" lvl="8" marL="41148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9pPr>
          </a:lstStyle>
          <a:p/>
        </p:txBody>
      </p:sp>
      <p:sp>
        <p:nvSpPr>
          <p:cNvPr id="288" name="Google Shape;288;p167"/>
          <p:cNvSpPr txBox="1"/>
          <p:nvPr>
            <p:ph type="title"/>
          </p:nvPr>
        </p:nvSpPr>
        <p:spPr>
          <a:xfrm>
            <a:off x="508800" y="250442"/>
            <a:ext cx="8400000" cy="461665"/>
          </a:xfrm>
          <a:prstGeom prst="rect">
            <a:avLst/>
          </a:prstGeom>
          <a:noFill/>
          <a:ln>
            <a:noFill/>
          </a:ln>
        </p:spPr>
        <p:txBody>
          <a:bodyPr anchorCtr="0" anchor="b" bIns="45700" lIns="91425" spcFirstLastPara="1" rIns="91425" wrap="square" tIns="45700">
            <a:spAutoFit/>
          </a:bodyPr>
          <a:lstStyle>
            <a:lvl1pPr lvl="0" algn="l">
              <a:lnSpc>
                <a:spcPct val="100000"/>
              </a:lnSpc>
              <a:spcBef>
                <a:spcPts val="0"/>
              </a:spcBef>
              <a:spcAft>
                <a:spcPts val="0"/>
              </a:spcAft>
              <a:buSzPts val="1400"/>
              <a:buNone/>
              <a:defRPr sz="2400">
                <a:solidFill>
                  <a:srgbClr val="000000"/>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9" name="Google Shape;289;p167"/>
          <p:cNvSpPr txBox="1"/>
          <p:nvPr>
            <p:ph idx="2" type="body"/>
          </p:nvPr>
        </p:nvSpPr>
        <p:spPr>
          <a:xfrm>
            <a:off x="513600" y="1420800"/>
            <a:ext cx="11203200" cy="4838400"/>
          </a:xfrm>
          <a:prstGeom prst="rect">
            <a:avLst/>
          </a:prstGeom>
          <a:noFill/>
          <a:ln>
            <a:noFill/>
          </a:ln>
        </p:spPr>
        <p:txBody>
          <a:bodyPr anchorCtr="0" anchor="t" bIns="45700" lIns="91425" spcFirstLastPara="1" rIns="91425" wrap="square" tIns="45700">
            <a:noAutofit/>
          </a:bodyPr>
          <a:lstStyle>
            <a:lvl1pPr indent="-347154" lvl="0" marL="457200" marR="0" rtl="0" algn="just">
              <a:spcBef>
                <a:spcPts val="373"/>
              </a:spcBef>
              <a:spcAft>
                <a:spcPts val="0"/>
              </a:spcAft>
              <a:buClr>
                <a:srgbClr val="000000"/>
              </a:buClr>
              <a:buSzPts val="1867"/>
              <a:buFont typeface="Arial"/>
              <a:buChar char="•"/>
              <a:defRPr b="0" i="0" sz="1867" u="none" cap="none" strike="noStrike">
                <a:solidFill>
                  <a:srgbClr val="000000"/>
                </a:solidFill>
                <a:latin typeface="Open Sans"/>
                <a:ea typeface="Open Sans"/>
                <a:cs typeface="Open Sans"/>
                <a:sym typeface="Open Sans"/>
              </a:defRPr>
            </a:lvl1pPr>
            <a:lvl2pPr indent="-347154" lvl="1" marL="914400" marR="0" rtl="0" algn="just">
              <a:spcBef>
                <a:spcPts val="373"/>
              </a:spcBef>
              <a:spcAft>
                <a:spcPts val="0"/>
              </a:spcAft>
              <a:buClr>
                <a:srgbClr val="000000"/>
              </a:buClr>
              <a:buSzPts val="1867"/>
              <a:buFont typeface="Arial"/>
              <a:buChar char="−"/>
              <a:defRPr b="0" i="0" sz="1867" u="none" cap="none" strike="noStrike">
                <a:solidFill>
                  <a:srgbClr val="000000"/>
                </a:solidFill>
                <a:latin typeface="Open Sans"/>
                <a:ea typeface="Open Sans"/>
                <a:cs typeface="Open Sans"/>
                <a:sym typeface="Open Sans"/>
              </a:defRPr>
            </a:lvl2pPr>
            <a:lvl3pPr indent="-347154" lvl="2" marL="1371600" marR="0" rtl="0" algn="just">
              <a:spcBef>
                <a:spcPts val="373"/>
              </a:spcBef>
              <a:spcAft>
                <a:spcPts val="0"/>
              </a:spcAft>
              <a:buClr>
                <a:srgbClr val="000000"/>
              </a:buClr>
              <a:buSzPts val="1867"/>
              <a:buFont typeface="Noto Sans Symbols"/>
              <a:buChar char="▪"/>
              <a:defRPr b="0" i="0" sz="1867" u="none" cap="none" strike="noStrike">
                <a:solidFill>
                  <a:srgbClr val="000000"/>
                </a:solidFill>
                <a:latin typeface="Open Sans"/>
                <a:ea typeface="Open Sans"/>
                <a:cs typeface="Open Sans"/>
                <a:sym typeface="Open Sans"/>
              </a:defRPr>
            </a:lvl3pPr>
            <a:lvl4pPr indent="-347154" lvl="3" marL="1828800" marR="0" rtl="0" algn="just">
              <a:spcBef>
                <a:spcPts val="373"/>
              </a:spcBef>
              <a:spcAft>
                <a:spcPts val="0"/>
              </a:spcAft>
              <a:buClr>
                <a:srgbClr val="000000"/>
              </a:buClr>
              <a:buSzPts val="1867"/>
              <a:buFont typeface="Arial"/>
              <a:buChar char="›"/>
              <a:defRPr b="0" i="0" sz="1867" u="none" cap="none" strike="noStrike">
                <a:solidFill>
                  <a:srgbClr val="000000"/>
                </a:solidFill>
                <a:latin typeface="Open Sans"/>
                <a:ea typeface="Open Sans"/>
                <a:cs typeface="Open Sans"/>
                <a:sym typeface="Open Sans"/>
              </a:defRPr>
            </a:lvl4pPr>
            <a:lvl5pPr indent="-323443" lvl="4" marL="2286000" marR="0" rtl="0" algn="just">
              <a:spcBef>
                <a:spcPts val="373"/>
              </a:spcBef>
              <a:spcAft>
                <a:spcPts val="0"/>
              </a:spcAft>
              <a:buClr>
                <a:srgbClr val="000000"/>
              </a:buClr>
              <a:buSzPts val="1494"/>
              <a:buFont typeface="Courier New"/>
              <a:buChar char="o"/>
              <a:defRPr b="0" i="0" sz="1867" u="none" cap="none" strike="noStrike">
                <a:solidFill>
                  <a:srgbClr val="000000"/>
                </a:solidFill>
                <a:latin typeface="Open Sans"/>
                <a:ea typeface="Open Sans"/>
                <a:cs typeface="Open Sans"/>
                <a:sym typeface="Open Sans"/>
              </a:defRPr>
            </a:lvl5pPr>
            <a:lvl6pPr indent="-397954" lvl="5" marL="27432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6pPr>
            <a:lvl7pPr indent="-397954" lvl="6" marL="32004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7pPr>
            <a:lvl8pPr indent="-397954" lvl="7" marL="36576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8pPr>
            <a:lvl9pPr indent="-397954" lvl="8" marL="4114800" marR="0" rtl="0" algn="l">
              <a:spcBef>
                <a:spcPts val="533"/>
              </a:spcBef>
              <a:spcAft>
                <a:spcPts val="0"/>
              </a:spcAft>
              <a:buClr>
                <a:schemeClr val="dk1"/>
              </a:buClr>
              <a:buSzPts val="2667"/>
              <a:buFont typeface="Open Sans"/>
              <a:buChar char="»"/>
              <a:defRPr b="0" i="0" sz="2667" u="none" cap="none" strike="noStrike">
                <a:solidFill>
                  <a:schemeClr val="dk1"/>
                </a:solidFill>
                <a:latin typeface="Open Sans"/>
                <a:ea typeface="Open Sans"/>
                <a:cs typeface="Open Sans"/>
                <a:sym typeface="Open Sans"/>
              </a:defRPr>
            </a:lvl9pPr>
          </a:lstStyle>
          <a:p/>
        </p:txBody>
      </p:sp>
      <p:sp>
        <p:nvSpPr>
          <p:cNvPr id="290" name="Google Shape;290;p167"/>
          <p:cNvSpPr/>
          <p:nvPr/>
        </p:nvSpPr>
        <p:spPr>
          <a:xfrm>
            <a:off x="1" y="338503"/>
            <a:ext cx="205737" cy="409411"/>
          </a:xfrm>
          <a:custGeom>
            <a:rect b="b" l="l" r="r" t="t"/>
            <a:pathLst>
              <a:path extrusionOk="0" h="648450" w="325860">
                <a:moveTo>
                  <a:pt x="325860" y="324226"/>
                </a:moveTo>
                <a:cubicBezTo>
                  <a:pt x="325860" y="503329"/>
                  <a:pt x="179912" y="648451"/>
                  <a:pt x="0" y="648451"/>
                </a:cubicBezTo>
                <a:lnTo>
                  <a:pt x="0" y="0"/>
                </a:lnTo>
                <a:cubicBezTo>
                  <a:pt x="180006" y="0"/>
                  <a:pt x="325860" y="145216"/>
                  <a:pt x="325860" y="324226"/>
                </a:cubicBezTo>
                <a:close/>
              </a:path>
            </a:pathLst>
          </a:custGeom>
          <a:solidFill>
            <a:srgbClr val="F5A42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Open Sans"/>
              <a:ea typeface="Open Sans"/>
              <a:cs typeface="Open Sans"/>
              <a:sym typeface="Open Sans"/>
            </a:endParaRPr>
          </a:p>
        </p:txBody>
      </p:sp>
      <p:pic>
        <p:nvPicPr>
          <p:cNvPr id="291" name="Google Shape;291;p167"/>
          <p:cNvPicPr preferRelativeResize="0"/>
          <p:nvPr/>
        </p:nvPicPr>
        <p:blipFill rotWithShape="1">
          <a:blip r:embed="rId2">
            <a:alphaModFix/>
          </a:blip>
          <a:srcRect b="0" l="0" r="0" t="0"/>
          <a:stretch/>
        </p:blipFill>
        <p:spPr>
          <a:xfrm>
            <a:off x="10794844" y="276031"/>
            <a:ext cx="891072" cy="615912"/>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theme" Target="../theme/theme1.xml"/><Relationship Id="rId16" Type="http://schemas.openxmlformats.org/officeDocument/2006/relationships/slideLayout" Target="../slideLayouts/slideLayout28.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20" Type="http://schemas.openxmlformats.org/officeDocument/2006/relationships/theme" Target="../theme/theme4.xml"/><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5" Type="http://schemas.openxmlformats.org/officeDocument/2006/relationships/slideLayout" Target="../slideLayouts/slideLayout43.xml"/><Relationship Id="rId14" Type="http://schemas.openxmlformats.org/officeDocument/2006/relationships/slideLayout" Target="../slideLayouts/slideLayout42.xml"/><Relationship Id="rId17" Type="http://schemas.openxmlformats.org/officeDocument/2006/relationships/slideLayout" Target="../slideLayouts/slideLayout45.xml"/><Relationship Id="rId16" Type="http://schemas.openxmlformats.org/officeDocument/2006/relationships/slideLayout" Target="../slideLayouts/slideLayout44.xml"/><Relationship Id="rId5" Type="http://schemas.openxmlformats.org/officeDocument/2006/relationships/slideLayout" Target="../slideLayouts/slideLayout33.xml"/><Relationship Id="rId19" Type="http://schemas.openxmlformats.org/officeDocument/2006/relationships/slideLayout" Target="../slideLayouts/slideLayout47.xml"/><Relationship Id="rId6" Type="http://schemas.openxmlformats.org/officeDocument/2006/relationships/slideLayout" Target="../slideLayouts/slideLayout34.xml"/><Relationship Id="rId18" Type="http://schemas.openxmlformats.org/officeDocument/2006/relationships/slideLayout" Target="../slideLayouts/slideLayout46.xml"/><Relationship Id="rId7" Type="http://schemas.openxmlformats.org/officeDocument/2006/relationships/slideLayout" Target="../slideLayouts/slideLayout35.xml"/><Relationship Id="rId8"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58.xml"/><Relationship Id="rId10" Type="http://schemas.openxmlformats.org/officeDocument/2006/relationships/slideLayout" Target="../slideLayouts/slideLayout57.xml"/><Relationship Id="rId13" Type="http://schemas.openxmlformats.org/officeDocument/2006/relationships/slideLayout" Target="../slideLayouts/slideLayout60.xml"/><Relationship Id="rId12" Type="http://schemas.openxmlformats.org/officeDocument/2006/relationships/slideLayout" Target="../slideLayouts/slideLayout59.xml"/><Relationship Id="rId1" Type="http://schemas.openxmlformats.org/officeDocument/2006/relationships/slideLayout" Target="../slideLayouts/slideLayout48.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5" Type="http://schemas.openxmlformats.org/officeDocument/2006/relationships/slideLayout" Target="../slideLayouts/slideLayout62.xml"/><Relationship Id="rId14" Type="http://schemas.openxmlformats.org/officeDocument/2006/relationships/slideLayout" Target="../slideLayouts/slideLayout61.xml"/><Relationship Id="rId17" Type="http://schemas.openxmlformats.org/officeDocument/2006/relationships/slideLayout" Target="../slideLayouts/slideLayout64.xml"/><Relationship Id="rId16" Type="http://schemas.openxmlformats.org/officeDocument/2006/relationships/slideLayout" Target="../slideLayouts/slideLayout63.xml"/><Relationship Id="rId5" Type="http://schemas.openxmlformats.org/officeDocument/2006/relationships/slideLayout" Target="../slideLayouts/slideLayout52.xml"/><Relationship Id="rId6" Type="http://schemas.openxmlformats.org/officeDocument/2006/relationships/slideLayout" Target="../slideLayouts/slideLayout53.xml"/><Relationship Id="rId18" Type="http://schemas.openxmlformats.org/officeDocument/2006/relationships/theme" Target="../theme/theme3.xml"/><Relationship Id="rId7" Type="http://schemas.openxmlformats.org/officeDocument/2006/relationships/slideLayout" Target="../slideLayouts/slideLayout54.xml"/><Relationship Id="rId8"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MX"/>
              <a:t>‹#›</a:t>
            </a:fld>
            <a:endParaRPr/>
          </a:p>
        </p:txBody>
      </p:sp>
      <p:sp>
        <p:nvSpPr>
          <p:cNvPr id="15" name="Google Shape;15;p133"/>
          <p:cNvSpPr txBox="1"/>
          <p:nvPr/>
        </p:nvSpPr>
        <p:spPr>
          <a:xfrm>
            <a:off x="5583238" y="6642100"/>
            <a:ext cx="10541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s-MX" sz="1000" u="none" cap="none" strike="noStrike">
                <a:solidFill>
                  <a:srgbClr val="000000"/>
                </a:solidFill>
                <a:latin typeface="Calibri"/>
                <a:ea typeface="Calibri"/>
                <a:cs typeface="Calibri"/>
                <a:sym typeface="Calibri"/>
              </a:rPr>
              <a:t>OXXO | Uso Interno</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135"/>
          <p:cNvSpPr txBox="1"/>
          <p:nvPr/>
        </p:nvSpPr>
        <p:spPr>
          <a:xfrm>
            <a:off x="11457517" y="6400800"/>
            <a:ext cx="31130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53565A"/>
              </a:buClr>
              <a:buSzPts val="800"/>
              <a:buFont typeface="Open Sans"/>
              <a:buNone/>
            </a:pPr>
            <a:fld id="{00000000-1234-1234-1234-123412341234}" type="slidenum">
              <a:rPr b="0" i="0" lang="es-MX" sz="800" u="none" cap="none" strike="noStrike">
                <a:solidFill>
                  <a:srgbClr val="53565A"/>
                </a:solidFill>
                <a:latin typeface="Open Sans"/>
                <a:ea typeface="Open Sans"/>
                <a:cs typeface="Open Sans"/>
                <a:sym typeface="Open Sans"/>
              </a:rPr>
              <a:t>‹#›</a:t>
            </a:fld>
            <a:endParaRPr b="0" i="0" sz="800" u="none" cap="none" strike="noStrike">
              <a:solidFill>
                <a:srgbClr val="53565A"/>
              </a:solidFill>
              <a:latin typeface="Open Sans"/>
              <a:ea typeface="Open Sans"/>
              <a:cs typeface="Open Sans"/>
              <a:sym typeface="Open Sans"/>
            </a:endParaRPr>
          </a:p>
        </p:txBody>
      </p:sp>
      <p:sp>
        <p:nvSpPr>
          <p:cNvPr id="91" name="Google Shape;91;p135"/>
          <p:cNvSpPr txBox="1"/>
          <p:nvPr/>
        </p:nvSpPr>
        <p:spPr>
          <a:xfrm>
            <a:off x="5583238" y="6642100"/>
            <a:ext cx="10541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s-MX" sz="1000" u="none" cap="none" strike="noStrike">
                <a:solidFill>
                  <a:srgbClr val="000000"/>
                </a:solidFill>
                <a:latin typeface="Calibri"/>
                <a:ea typeface="Calibri"/>
                <a:cs typeface="Calibri"/>
                <a:sym typeface="Calibri"/>
              </a:rPr>
              <a:t>OXXO | Uso Interno</a:t>
            </a:r>
            <a:endParaRPr/>
          </a:p>
        </p:txBody>
      </p:sp>
      <p:sp>
        <p:nvSpPr>
          <p:cNvPr id="92" name="Google Shape;92;p135"/>
          <p:cNvSpPr txBox="1"/>
          <p:nvPr>
            <p:ph type="title"/>
          </p:nvPr>
        </p:nvSpPr>
        <p:spPr>
          <a:xfrm>
            <a:off x="508799" y="250442"/>
            <a:ext cx="11352999" cy="461665"/>
          </a:xfrm>
          <a:prstGeom prst="rect">
            <a:avLst/>
          </a:prstGeom>
          <a:noFill/>
          <a:ln>
            <a:noFill/>
          </a:ln>
        </p:spPr>
        <p:txBody>
          <a:bodyPr anchorCtr="0" anchor="b" bIns="45700" lIns="91425" spcFirstLastPara="1" rIns="91425" wrap="square" tIns="45700">
            <a:spAutoFit/>
          </a:bodyPr>
          <a:lstStyle>
            <a:lvl1pPr lvl="0" marR="0" rtl="0" algn="l">
              <a:lnSpc>
                <a:spcPct val="101125"/>
              </a:lnSpc>
              <a:spcBef>
                <a:spcPts val="0"/>
              </a:spcBef>
              <a:spcAft>
                <a:spcPts val="0"/>
              </a:spcAft>
              <a:buSzPts val="1400"/>
              <a:buNone/>
              <a:defRPr b="1" i="0" sz="2400" u="none" cap="none" strike="noStrike">
                <a:solidFill>
                  <a:srgbClr val="000000"/>
                </a:solidFill>
                <a:latin typeface="Open Sans"/>
                <a:ea typeface="Open Sans"/>
                <a:cs typeface="Open Sans"/>
                <a:sym typeface="Open Sans"/>
              </a:defRPr>
            </a:lvl1pPr>
            <a:lvl2pPr lvl="1"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884">
          <p15:clr>
            <a:srgbClr val="A4A3A4"/>
          </p15:clr>
        </p15:guide>
        <p15:guide id="2" orient="horz" pos="639">
          <p15:clr>
            <a:srgbClr val="A4A3A4"/>
          </p15:clr>
        </p15:guide>
        <p15:guide id="3" orient="horz" pos="4009">
          <p15:clr>
            <a:srgbClr val="A4A3A4"/>
          </p15:clr>
        </p15:guide>
        <p15:guide id="4" pos="208">
          <p15:clr>
            <a:srgbClr val="A4A3A4"/>
          </p15:clr>
        </p15:guide>
        <p15:guide id="5" pos="7472">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2" name="Shape 152"/>
        <p:cNvGrpSpPr/>
        <p:nvPr/>
      </p:nvGrpSpPr>
      <p:grpSpPr>
        <a:xfrm>
          <a:off x="0" y="0"/>
          <a:ext cx="0" cy="0"/>
          <a:chOff x="0" y="0"/>
          <a:chExt cx="0" cy="0"/>
        </a:xfrm>
      </p:grpSpPr>
      <p:sp>
        <p:nvSpPr>
          <p:cNvPr id="153" name="Google Shape;153;p137"/>
          <p:cNvSpPr txBox="1"/>
          <p:nvPr/>
        </p:nvSpPr>
        <p:spPr>
          <a:xfrm>
            <a:off x="11457517" y="6400800"/>
            <a:ext cx="31130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53565A"/>
              </a:buClr>
              <a:buSzPts val="800"/>
              <a:buFont typeface="Open Sans"/>
              <a:buNone/>
            </a:pPr>
            <a:fld id="{00000000-1234-1234-1234-123412341234}" type="slidenum">
              <a:rPr b="0" i="0" lang="es-MX" sz="800" u="none" cap="none" strike="noStrike">
                <a:solidFill>
                  <a:srgbClr val="53565A"/>
                </a:solidFill>
                <a:latin typeface="Open Sans"/>
                <a:ea typeface="Open Sans"/>
                <a:cs typeface="Open Sans"/>
                <a:sym typeface="Open Sans"/>
              </a:rPr>
              <a:t>‹#›</a:t>
            </a:fld>
            <a:endParaRPr b="0" i="0" sz="800" u="none" cap="none" strike="noStrike">
              <a:solidFill>
                <a:srgbClr val="53565A"/>
              </a:solidFill>
              <a:latin typeface="Open Sans"/>
              <a:ea typeface="Open Sans"/>
              <a:cs typeface="Open Sans"/>
              <a:sym typeface="Open Sans"/>
            </a:endParaRPr>
          </a:p>
        </p:txBody>
      </p:sp>
      <p:sp>
        <p:nvSpPr>
          <p:cNvPr id="154" name="Google Shape;154;p137"/>
          <p:cNvSpPr txBox="1"/>
          <p:nvPr/>
        </p:nvSpPr>
        <p:spPr>
          <a:xfrm>
            <a:off x="5583238" y="6642100"/>
            <a:ext cx="10541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s-MX" sz="1000" u="none" cap="none" strike="noStrike">
                <a:solidFill>
                  <a:srgbClr val="000000"/>
                </a:solidFill>
                <a:latin typeface="Calibri"/>
                <a:ea typeface="Calibri"/>
                <a:cs typeface="Calibri"/>
                <a:sym typeface="Calibri"/>
              </a:rPr>
              <a:t>OXXO | Uso Interno</a:t>
            </a:r>
            <a:endParaRPr/>
          </a:p>
        </p:txBody>
      </p:sp>
      <p:sp>
        <p:nvSpPr>
          <p:cNvPr id="155" name="Google Shape;155;p137"/>
          <p:cNvSpPr txBox="1"/>
          <p:nvPr>
            <p:ph type="title"/>
          </p:nvPr>
        </p:nvSpPr>
        <p:spPr>
          <a:xfrm>
            <a:off x="508799" y="250442"/>
            <a:ext cx="11352999" cy="461665"/>
          </a:xfrm>
          <a:prstGeom prst="rect">
            <a:avLst/>
          </a:prstGeom>
          <a:noFill/>
          <a:ln>
            <a:noFill/>
          </a:ln>
        </p:spPr>
        <p:txBody>
          <a:bodyPr anchorCtr="0" anchor="b" bIns="45700" lIns="91425" spcFirstLastPara="1" rIns="91425" wrap="square" tIns="45700">
            <a:spAutoFit/>
          </a:bodyPr>
          <a:lstStyle>
            <a:lvl1pPr lvl="0" marR="0" rtl="0" algn="l">
              <a:lnSpc>
                <a:spcPct val="101125"/>
              </a:lnSpc>
              <a:spcBef>
                <a:spcPts val="0"/>
              </a:spcBef>
              <a:spcAft>
                <a:spcPts val="0"/>
              </a:spcAft>
              <a:buSzPts val="1400"/>
              <a:buNone/>
              <a:defRPr b="1" i="0" sz="2400" u="none" cap="none" strike="noStrike">
                <a:solidFill>
                  <a:srgbClr val="000000"/>
                </a:solidFill>
                <a:latin typeface="Open Sans"/>
                <a:ea typeface="Open Sans"/>
                <a:cs typeface="Open Sans"/>
                <a:sym typeface="Open Sans"/>
              </a:defRPr>
            </a:lvl1pPr>
            <a:lvl2pPr lvl="1"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884">
          <p15:clr>
            <a:srgbClr val="A4A3A4"/>
          </p15:clr>
        </p15:guide>
        <p15:guide id="2" orient="horz" pos="639">
          <p15:clr>
            <a:srgbClr val="A4A3A4"/>
          </p15:clr>
        </p15:guide>
        <p15:guide id="3" orient="horz" pos="4009">
          <p15:clr>
            <a:srgbClr val="A4A3A4"/>
          </p15:clr>
        </p15:guide>
        <p15:guide id="4" pos="208">
          <p15:clr>
            <a:srgbClr val="A4A3A4"/>
          </p15:clr>
        </p15:guide>
        <p15:guide id="5" pos="7472">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4" name="Shape 224"/>
        <p:cNvGrpSpPr/>
        <p:nvPr/>
      </p:nvGrpSpPr>
      <p:grpSpPr>
        <a:xfrm>
          <a:off x="0" y="0"/>
          <a:ext cx="0" cy="0"/>
          <a:chOff x="0" y="0"/>
          <a:chExt cx="0" cy="0"/>
        </a:xfrm>
      </p:grpSpPr>
      <p:sp>
        <p:nvSpPr>
          <p:cNvPr id="225" name="Google Shape;225;p139"/>
          <p:cNvSpPr txBox="1"/>
          <p:nvPr/>
        </p:nvSpPr>
        <p:spPr>
          <a:xfrm>
            <a:off x="11457517" y="6400800"/>
            <a:ext cx="31130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53565A"/>
              </a:buClr>
              <a:buSzPts val="800"/>
              <a:buFont typeface="Open Sans"/>
              <a:buNone/>
            </a:pPr>
            <a:fld id="{00000000-1234-1234-1234-123412341234}" type="slidenum">
              <a:rPr b="0" i="0" lang="es-MX" sz="800" u="none" cap="none" strike="noStrike">
                <a:solidFill>
                  <a:srgbClr val="53565A"/>
                </a:solidFill>
                <a:latin typeface="Open Sans"/>
                <a:ea typeface="Open Sans"/>
                <a:cs typeface="Open Sans"/>
                <a:sym typeface="Open Sans"/>
              </a:rPr>
              <a:t>‹#›</a:t>
            </a:fld>
            <a:endParaRPr b="0" i="0" sz="800" u="none" cap="none" strike="noStrike">
              <a:solidFill>
                <a:srgbClr val="53565A"/>
              </a:solidFill>
              <a:latin typeface="Open Sans"/>
              <a:ea typeface="Open Sans"/>
              <a:cs typeface="Open Sans"/>
              <a:sym typeface="Open Sans"/>
            </a:endParaRPr>
          </a:p>
        </p:txBody>
      </p:sp>
      <p:sp>
        <p:nvSpPr>
          <p:cNvPr id="226" name="Google Shape;226;p139"/>
          <p:cNvSpPr txBox="1"/>
          <p:nvPr/>
        </p:nvSpPr>
        <p:spPr>
          <a:xfrm>
            <a:off x="5583238" y="6642100"/>
            <a:ext cx="10541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s-MX" sz="1000" u="none" cap="none" strike="noStrike">
                <a:solidFill>
                  <a:srgbClr val="000000"/>
                </a:solidFill>
                <a:latin typeface="Calibri"/>
                <a:ea typeface="Calibri"/>
                <a:cs typeface="Calibri"/>
                <a:sym typeface="Calibri"/>
              </a:rPr>
              <a:t>OXXO | Uso Interno</a:t>
            </a:r>
            <a:endParaRPr/>
          </a:p>
        </p:txBody>
      </p:sp>
      <p:sp>
        <p:nvSpPr>
          <p:cNvPr id="227" name="Google Shape;227;p139"/>
          <p:cNvSpPr txBox="1"/>
          <p:nvPr>
            <p:ph type="title"/>
          </p:nvPr>
        </p:nvSpPr>
        <p:spPr>
          <a:xfrm>
            <a:off x="508799" y="250442"/>
            <a:ext cx="11352999" cy="461665"/>
          </a:xfrm>
          <a:prstGeom prst="rect">
            <a:avLst/>
          </a:prstGeom>
          <a:noFill/>
          <a:ln>
            <a:noFill/>
          </a:ln>
        </p:spPr>
        <p:txBody>
          <a:bodyPr anchorCtr="0" anchor="b" bIns="45700" lIns="91425" spcFirstLastPara="1" rIns="91425" wrap="square" tIns="45700">
            <a:spAutoFit/>
          </a:bodyPr>
          <a:lstStyle>
            <a:lvl1pPr lvl="0" marR="0" rtl="0" algn="l">
              <a:lnSpc>
                <a:spcPct val="101125"/>
              </a:lnSpc>
              <a:spcBef>
                <a:spcPts val="0"/>
              </a:spcBef>
              <a:spcAft>
                <a:spcPts val="0"/>
              </a:spcAft>
              <a:buSzPts val="1400"/>
              <a:buNone/>
              <a:defRPr b="1" i="0" sz="2400" u="none" cap="none" strike="noStrike">
                <a:solidFill>
                  <a:srgbClr val="000000"/>
                </a:solidFill>
                <a:latin typeface="Open Sans"/>
                <a:ea typeface="Open Sans"/>
                <a:cs typeface="Open Sans"/>
                <a:sym typeface="Open Sans"/>
              </a:defRPr>
            </a:lvl1pPr>
            <a:lvl2pPr lvl="1"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5867"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884">
          <p15:clr>
            <a:srgbClr val="A4A3A4"/>
          </p15:clr>
        </p15:guide>
        <p15:guide id="2" orient="horz" pos="639">
          <p15:clr>
            <a:srgbClr val="A4A3A4"/>
          </p15:clr>
        </p15:guide>
        <p15:guide id="3" orient="horz" pos="4009">
          <p15:clr>
            <a:srgbClr val="A4A3A4"/>
          </p15:clr>
        </p15:guide>
        <p15:guide id="4" pos="208">
          <p15:clr>
            <a:srgbClr val="A4A3A4"/>
          </p15:clr>
        </p15:guide>
        <p15:guide id="5" pos="7472">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5.xml"/><Relationship Id="rId3" Type="http://schemas.openxmlformats.org/officeDocument/2006/relationships/image" Target="../media/image14.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 Id="rId3" Type="http://schemas.openxmlformats.org/officeDocument/2006/relationships/image" Target="../media/image14.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8.xml"/><Relationship Id="rId3" Type="http://schemas.openxmlformats.org/officeDocument/2006/relationships/image" Target="../media/image14.png"/><Relationship Id="rId4" Type="http://schemas.openxmlformats.org/officeDocument/2006/relationships/image" Target="../media/image1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4.xml"/><Relationship Id="rId3" Type="http://schemas.openxmlformats.org/officeDocument/2006/relationships/image" Target="../media/image1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5.xml"/><Relationship Id="rId3" Type="http://schemas.openxmlformats.org/officeDocument/2006/relationships/image" Target="../media/image2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2.xml"/><Relationship Id="rId3" Type="http://schemas.openxmlformats.org/officeDocument/2006/relationships/image" Target="../media/image1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8.xml"/><Relationship Id="rId3" Type="http://schemas.openxmlformats.org/officeDocument/2006/relationships/image" Target="../media/image14.png"/><Relationship Id="rId4" Type="http://schemas.openxmlformats.org/officeDocument/2006/relationships/image" Target="../media/image22.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grpSp>
        <p:nvGrpSpPr>
          <p:cNvPr id="297" name="Google Shape;297;p1"/>
          <p:cNvGrpSpPr/>
          <p:nvPr/>
        </p:nvGrpSpPr>
        <p:grpSpPr>
          <a:xfrm>
            <a:off x="0" y="6926580"/>
            <a:ext cx="12192000" cy="137160"/>
            <a:chOff x="0" y="6926580"/>
            <a:chExt cx="12192000" cy="137160"/>
          </a:xfrm>
        </p:grpSpPr>
        <p:sp>
          <p:nvSpPr>
            <p:cNvPr id="298" name="Google Shape;298;p1"/>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Open Sans"/>
                <a:ea typeface="Open Sans"/>
                <a:cs typeface="Open Sans"/>
                <a:sym typeface="Open Sans"/>
              </a:endParaRPr>
            </a:p>
          </p:txBody>
        </p:sp>
        <p:sp>
          <p:nvSpPr>
            <p:cNvPr id="299" name="Google Shape;299;p1"/>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Open Sans"/>
                <a:ea typeface="Open Sans"/>
                <a:cs typeface="Open Sans"/>
                <a:sym typeface="Open Sans"/>
              </a:endParaRPr>
            </a:p>
          </p:txBody>
        </p:sp>
        <p:cxnSp>
          <p:nvCxnSpPr>
            <p:cNvPr id="300" name="Google Shape;300;p1"/>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301" name="Google Shape;301;p1"/>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302" name="Google Shape;302;p1"/>
          <p:cNvGrpSpPr/>
          <p:nvPr/>
        </p:nvGrpSpPr>
        <p:grpSpPr>
          <a:xfrm>
            <a:off x="0" y="-205740"/>
            <a:ext cx="12192000" cy="137160"/>
            <a:chOff x="0" y="-205740"/>
            <a:chExt cx="12192000" cy="137160"/>
          </a:xfrm>
        </p:grpSpPr>
        <p:sp>
          <p:nvSpPr>
            <p:cNvPr id="303" name="Google Shape;303;p1"/>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Open Sans"/>
                <a:ea typeface="Open Sans"/>
                <a:cs typeface="Open Sans"/>
                <a:sym typeface="Open Sans"/>
              </a:endParaRPr>
            </a:p>
          </p:txBody>
        </p:sp>
        <p:sp>
          <p:nvSpPr>
            <p:cNvPr id="304" name="Google Shape;304;p1"/>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000000"/>
                </a:solidFill>
                <a:latin typeface="Open Sans"/>
                <a:ea typeface="Open Sans"/>
                <a:cs typeface="Open Sans"/>
                <a:sym typeface="Open Sans"/>
              </a:endParaRPr>
            </a:p>
          </p:txBody>
        </p:sp>
        <p:cxnSp>
          <p:nvCxnSpPr>
            <p:cNvPr id="305" name="Google Shape;305;p1"/>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306" name="Google Shape;306;p1"/>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307" name="Google Shape;307;p1"/>
          <p:cNvSpPr txBox="1"/>
          <p:nvPr>
            <p:ph type="title"/>
          </p:nvPr>
        </p:nvSpPr>
        <p:spPr>
          <a:xfrm>
            <a:off x="950142" y="2720529"/>
            <a:ext cx="10698933" cy="1065540"/>
          </a:xfrm>
          <a:prstGeom prst="rect">
            <a:avLst/>
          </a:prstGeom>
          <a:noFill/>
          <a:ln>
            <a:noFill/>
          </a:ln>
        </p:spPr>
        <p:txBody>
          <a:bodyPr anchorCtr="0" anchor="ctr" bIns="36000" lIns="91425" spcFirstLastPara="1" rIns="91425" wrap="square" tIns="36000">
            <a:normAutofit/>
          </a:bodyPr>
          <a:lstStyle/>
          <a:p>
            <a:pPr indent="0" lvl="0" marL="0" rtl="0" algn="l">
              <a:lnSpc>
                <a:spcPct val="100000"/>
              </a:lnSpc>
              <a:spcBef>
                <a:spcPts val="0"/>
              </a:spcBef>
              <a:spcAft>
                <a:spcPts val="0"/>
              </a:spcAft>
              <a:buClr>
                <a:srgbClr val="FFFFFF"/>
              </a:buClr>
              <a:buSzPts val="3000"/>
              <a:buFont typeface="Play"/>
              <a:buNone/>
            </a:pPr>
            <a:r>
              <a:rPr lang="es-MX"/>
              <a:t>Plan Aseguramiento y Estabilización</a:t>
            </a:r>
            <a:br>
              <a:rPr lang="es-MX"/>
            </a:br>
            <a:r>
              <a:rPr b="0" lang="es-MX"/>
              <a:t>Fit for Purpose OXXO MX</a:t>
            </a:r>
            <a:endParaRPr/>
          </a:p>
        </p:txBody>
      </p:sp>
      <p:sp>
        <p:nvSpPr>
          <p:cNvPr id="308" name="Google Shape;308;p1"/>
          <p:cNvSpPr txBox="1"/>
          <p:nvPr/>
        </p:nvSpPr>
        <p:spPr>
          <a:xfrm>
            <a:off x="1016817" y="3838575"/>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Open Sans"/>
              <a:buNone/>
            </a:pPr>
            <a:r>
              <a:rPr b="0" i="0" lang="es-MX" sz="1600" u="none" cap="none" strike="noStrike">
                <a:solidFill>
                  <a:srgbClr val="FFFFFF"/>
                </a:solidFill>
                <a:latin typeface="Open Sans"/>
                <a:ea typeface="Open Sans"/>
                <a:cs typeface="Open Sans"/>
                <a:sym typeface="Open Sans"/>
              </a:rPr>
              <a:t>Enero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
          <p:cNvSpPr/>
          <p:nvPr/>
        </p:nvSpPr>
        <p:spPr>
          <a:xfrm>
            <a:off x="2424654" y="603095"/>
            <a:ext cx="6910934" cy="363326"/>
          </a:xfrm>
          <a:prstGeom prst="rect">
            <a:avLst/>
          </a:prstGeom>
          <a:solidFill>
            <a:srgbClr val="FF7F32"/>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FFFFFF"/>
              </a:solidFill>
              <a:latin typeface="Open Sans"/>
              <a:ea typeface="Open Sans"/>
              <a:cs typeface="Open Sans"/>
              <a:sym typeface="Open Sans"/>
            </a:endParaRPr>
          </a:p>
        </p:txBody>
      </p:sp>
      <p:sp>
        <p:nvSpPr>
          <p:cNvPr id="315" name="Google Shape;315;p2"/>
          <p:cNvSpPr/>
          <p:nvPr/>
        </p:nvSpPr>
        <p:spPr>
          <a:xfrm>
            <a:off x="1706883" y="222452"/>
            <a:ext cx="7132317" cy="363326"/>
          </a:xfrm>
          <a:prstGeom prst="rect">
            <a:avLst/>
          </a:prstGeom>
          <a:solidFill>
            <a:srgbClr val="FF7F32"/>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FFFFFF"/>
              </a:solidFill>
              <a:latin typeface="Open Sans"/>
              <a:ea typeface="Open Sans"/>
              <a:cs typeface="Open Sans"/>
              <a:sym typeface="Open Sans"/>
            </a:endParaRPr>
          </a:p>
        </p:txBody>
      </p:sp>
      <p:grpSp>
        <p:nvGrpSpPr>
          <p:cNvPr id="316" name="Google Shape;316;p2"/>
          <p:cNvGrpSpPr/>
          <p:nvPr/>
        </p:nvGrpSpPr>
        <p:grpSpPr>
          <a:xfrm>
            <a:off x="0" y="6926580"/>
            <a:ext cx="12192000" cy="137160"/>
            <a:chOff x="0" y="6926580"/>
            <a:chExt cx="12192000" cy="137160"/>
          </a:xfrm>
        </p:grpSpPr>
        <p:sp>
          <p:nvSpPr>
            <p:cNvPr id="317" name="Google Shape;317;p2"/>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318" name="Google Shape;318;p2"/>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319" name="Google Shape;319;p2"/>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320" name="Google Shape;320;p2"/>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321" name="Google Shape;321;p2"/>
          <p:cNvGrpSpPr/>
          <p:nvPr/>
        </p:nvGrpSpPr>
        <p:grpSpPr>
          <a:xfrm>
            <a:off x="0" y="-205740"/>
            <a:ext cx="12192000" cy="137160"/>
            <a:chOff x="0" y="-205740"/>
            <a:chExt cx="12192000" cy="137160"/>
          </a:xfrm>
        </p:grpSpPr>
        <p:sp>
          <p:nvSpPr>
            <p:cNvPr id="322" name="Google Shape;322;p2"/>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323" name="Google Shape;323;p2"/>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324" name="Google Shape;324;p2"/>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325" name="Google Shape;325;p2"/>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326" name="Google Shape;326;p2"/>
          <p:cNvSpPr txBox="1"/>
          <p:nvPr>
            <p:ph type="title"/>
          </p:nvPr>
        </p:nvSpPr>
        <p:spPr>
          <a:xfrm>
            <a:off x="508760" y="170280"/>
            <a:ext cx="11352998" cy="830997"/>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t>Hemos </a:t>
            </a:r>
            <a:r>
              <a:rPr lang="es-MX">
                <a:solidFill>
                  <a:schemeClr val="lt1"/>
                </a:solidFill>
              </a:rPr>
              <a:t>completado el diseño de nuestra organización, </a:t>
            </a:r>
            <a:r>
              <a:rPr lang="es-MX"/>
              <a:t>un primer paso crítico en la </a:t>
            </a:r>
            <a:r>
              <a:rPr lang="es-MX">
                <a:solidFill>
                  <a:schemeClr val="lt1"/>
                </a:solidFill>
              </a:rPr>
              <a:t>redefinición de nuestra dirección estratégica</a:t>
            </a:r>
            <a:endParaRPr>
              <a:solidFill>
                <a:schemeClr val="lt1"/>
              </a:solidFill>
            </a:endParaRPr>
          </a:p>
        </p:txBody>
      </p:sp>
      <p:sp>
        <p:nvSpPr>
          <p:cNvPr id="327" name="Google Shape;327;p2"/>
          <p:cNvSpPr/>
          <p:nvPr/>
        </p:nvSpPr>
        <p:spPr>
          <a:xfrm>
            <a:off x="330242" y="1430015"/>
            <a:ext cx="11531558" cy="935159"/>
          </a:xfrm>
          <a:prstGeom prst="rect">
            <a:avLst/>
          </a:prstGeom>
          <a:solidFill>
            <a:srgbClr val="FFFFFF"/>
          </a:solidFill>
          <a:ln>
            <a:noFill/>
          </a:ln>
        </p:spPr>
        <p:txBody>
          <a:bodyPr anchorCtr="0" anchor="ctr" bIns="36000" lIns="36000" spcFirstLastPara="1" rIns="36000" wrap="square" tIns="36000">
            <a:noAutofit/>
          </a:bodyPr>
          <a:lstStyle/>
          <a:p>
            <a:pPr indent="-177800" lvl="0" marL="177800" marR="0" rtl="0" algn="l">
              <a:lnSpc>
                <a:spcPct val="100000"/>
              </a:lnSpc>
              <a:spcBef>
                <a:spcPts val="0"/>
              </a:spcBef>
              <a:spcAft>
                <a:spcPts val="0"/>
              </a:spcAft>
              <a:buClr>
                <a:srgbClr val="000000"/>
              </a:buClr>
              <a:buSzPts val="1800"/>
              <a:buFont typeface="Noto Sans Symbols"/>
              <a:buChar char="⮚"/>
            </a:pPr>
            <a:r>
              <a:rPr b="1" i="0" lang="es-MX" sz="1800" u="none" cap="none" strike="noStrike">
                <a:solidFill>
                  <a:srgbClr val="000000"/>
                </a:solidFill>
                <a:latin typeface="Open Sans"/>
                <a:ea typeface="Open Sans"/>
                <a:cs typeface="Open Sans"/>
                <a:sym typeface="Open Sans"/>
              </a:rPr>
              <a:t>La nueva organización que estamos construyendo está adaptada a nuestro propósito y lista para cumplir con nuestra dirección estratégica redefinida.</a:t>
            </a:r>
            <a:endParaRPr/>
          </a:p>
          <a:p>
            <a:pPr indent="-177800" lvl="0" marL="177800" marR="0" rtl="0" algn="l">
              <a:lnSpc>
                <a:spcPct val="100000"/>
              </a:lnSpc>
              <a:spcBef>
                <a:spcPts val="1200"/>
              </a:spcBef>
              <a:spcAft>
                <a:spcPts val="0"/>
              </a:spcAft>
              <a:buClr>
                <a:srgbClr val="000000"/>
              </a:buClr>
              <a:buSzPts val="1800"/>
              <a:buFont typeface="Noto Sans Symbols"/>
              <a:buChar char="⮚"/>
            </a:pPr>
            <a:r>
              <a:rPr b="1" i="0" lang="es-MX" sz="1800" u="none" cap="none" strike="noStrike">
                <a:solidFill>
                  <a:srgbClr val="000000"/>
                </a:solidFill>
                <a:latin typeface="Open Sans"/>
                <a:ea typeface="Open Sans"/>
                <a:cs typeface="Open Sans"/>
                <a:sym typeface="Open Sans"/>
              </a:rPr>
              <a:t>El diseño del modelo operativo contempla 5 cambios principales:</a:t>
            </a:r>
            <a:endParaRPr b="1" i="0" sz="1800" u="none" cap="none" strike="noStrike">
              <a:solidFill>
                <a:srgbClr val="000000"/>
              </a:solidFill>
              <a:latin typeface="Open Sans"/>
              <a:ea typeface="Open Sans"/>
              <a:cs typeface="Open Sans"/>
              <a:sym typeface="Open Sans"/>
            </a:endParaRPr>
          </a:p>
        </p:txBody>
      </p:sp>
      <p:sp>
        <p:nvSpPr>
          <p:cNvPr id="328" name="Google Shape;328;p2"/>
          <p:cNvSpPr/>
          <p:nvPr/>
        </p:nvSpPr>
        <p:spPr>
          <a:xfrm>
            <a:off x="1170517" y="2834940"/>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b="0" i="0" lang="es-MX" sz="1600" u="none" cap="none" strike="noStrike">
                <a:solidFill>
                  <a:srgbClr val="000000"/>
                </a:solidFill>
                <a:latin typeface="Open Sans"/>
                <a:ea typeface="Open Sans"/>
                <a:cs typeface="Open Sans"/>
                <a:sym typeface="Open Sans"/>
              </a:rPr>
              <a:t>Coloca al </a:t>
            </a:r>
            <a:r>
              <a:rPr b="1" i="0" lang="es-MX" sz="1600" u="none" cap="none" strike="noStrike">
                <a:solidFill>
                  <a:srgbClr val="FF7F32"/>
                </a:solidFill>
                <a:latin typeface="Open Sans"/>
                <a:ea typeface="Open Sans"/>
                <a:cs typeface="Open Sans"/>
                <a:sym typeface="Open Sans"/>
              </a:rPr>
              <a:t>Cliente en el centro</a:t>
            </a:r>
            <a:r>
              <a:rPr b="0" i="0" lang="es-MX" sz="1600" u="none" cap="none" strike="noStrike">
                <a:solidFill>
                  <a:srgbClr val="000000"/>
                </a:solidFill>
                <a:latin typeface="Open Sans"/>
                <a:ea typeface="Open Sans"/>
                <a:cs typeface="Open Sans"/>
                <a:sym typeface="Open Sans"/>
              </a:rPr>
              <a:t>, anclando la propuesta de valor en nuestras tiendas y asegurando que el cliente sea el eje de todos nuestros procesos. Fortalecer la </a:t>
            </a:r>
            <a:r>
              <a:rPr b="1" i="0" lang="es-MX" sz="1600" u="none" cap="none" strike="noStrike">
                <a:solidFill>
                  <a:srgbClr val="FF7F32"/>
                </a:solidFill>
                <a:latin typeface="Open Sans"/>
                <a:ea typeface="Open Sans"/>
                <a:cs typeface="Open Sans"/>
                <a:sym typeface="Open Sans"/>
              </a:rPr>
              <a:t>Voz del Cliente </a:t>
            </a:r>
            <a:r>
              <a:rPr b="0" i="0" lang="es-MX" sz="1600" u="none" cap="none" strike="noStrike">
                <a:solidFill>
                  <a:srgbClr val="000000"/>
                </a:solidFill>
                <a:latin typeface="Open Sans"/>
                <a:ea typeface="Open Sans"/>
                <a:cs typeface="Open Sans"/>
                <a:sym typeface="Open Sans"/>
              </a:rPr>
              <a:t>para asegurar el valor a largo plazo.</a:t>
            </a:r>
            <a:endParaRPr/>
          </a:p>
        </p:txBody>
      </p:sp>
      <p:sp>
        <p:nvSpPr>
          <p:cNvPr id="329" name="Google Shape;329;p2"/>
          <p:cNvSpPr/>
          <p:nvPr/>
        </p:nvSpPr>
        <p:spPr>
          <a:xfrm>
            <a:off x="1170517" y="3521201"/>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b="0" i="0" lang="es-MX" sz="1600" u="none" cap="none" strike="noStrike">
                <a:solidFill>
                  <a:srgbClr val="000000"/>
                </a:solidFill>
                <a:latin typeface="Open Sans"/>
                <a:ea typeface="Open Sans"/>
                <a:cs typeface="Open Sans"/>
                <a:sym typeface="Open Sans"/>
              </a:rPr>
              <a:t>Enfoque al </a:t>
            </a:r>
            <a:r>
              <a:rPr b="1" i="0" lang="es-MX" sz="1600" u="none" cap="none" strike="noStrike">
                <a:solidFill>
                  <a:srgbClr val="FF7F32"/>
                </a:solidFill>
                <a:latin typeface="Open Sans"/>
                <a:ea typeface="Open Sans"/>
                <a:cs typeface="Open Sans"/>
                <a:sym typeface="Open Sans"/>
              </a:rPr>
              <a:t>crecimiento principal del negocio</a:t>
            </a:r>
            <a:r>
              <a:rPr b="0" i="0" lang="es-MX" sz="1600" u="none" cap="none" strike="noStrike">
                <a:solidFill>
                  <a:srgbClr val="000000"/>
                </a:solidFill>
                <a:latin typeface="Open Sans"/>
                <a:ea typeface="Open Sans"/>
                <a:cs typeface="Open Sans"/>
                <a:sym typeface="Open Sans"/>
              </a:rPr>
              <a:t>, construyendo alrededor de las tres misiones estratégicas (impulso, reposición diaria y foodvenience), reenfocando nuestra estrategia comercial.</a:t>
            </a:r>
            <a:endParaRPr b="0" i="0" sz="1600" u="none" cap="none" strike="noStrike">
              <a:solidFill>
                <a:srgbClr val="000000"/>
              </a:solidFill>
              <a:latin typeface="Open Sans"/>
              <a:ea typeface="Open Sans"/>
              <a:cs typeface="Open Sans"/>
              <a:sym typeface="Open Sans"/>
            </a:endParaRPr>
          </a:p>
        </p:txBody>
      </p:sp>
      <p:sp>
        <p:nvSpPr>
          <p:cNvPr id="330" name="Google Shape;330;p2"/>
          <p:cNvSpPr/>
          <p:nvPr/>
        </p:nvSpPr>
        <p:spPr>
          <a:xfrm>
            <a:off x="1170517" y="4156662"/>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FF7F32"/>
              </a:buClr>
              <a:buSzPts val="1600"/>
              <a:buFont typeface="Open Sans"/>
              <a:buNone/>
            </a:pPr>
            <a:r>
              <a:rPr b="1" i="0" lang="es-MX" sz="1600" u="none" cap="none" strike="noStrike">
                <a:solidFill>
                  <a:srgbClr val="FF7F32"/>
                </a:solidFill>
                <a:latin typeface="Open Sans"/>
                <a:ea typeface="Open Sans"/>
                <a:cs typeface="Open Sans"/>
                <a:sym typeface="Open Sans"/>
              </a:rPr>
              <a:t>Establece a Servicios Comerciales como un motor de crecimiento </a:t>
            </a:r>
            <a:r>
              <a:rPr b="0" i="0" lang="es-MX" sz="1600" u="none" cap="none" strike="noStrike">
                <a:solidFill>
                  <a:srgbClr val="000000"/>
                </a:solidFill>
                <a:latin typeface="Open Sans"/>
                <a:ea typeface="Open Sans"/>
                <a:cs typeface="Open Sans"/>
                <a:sym typeface="Open Sans"/>
              </a:rPr>
              <a:t>independiente, con enfoque y recursos dedicados.</a:t>
            </a:r>
            <a:endParaRPr b="0" i="0" sz="1600" u="none" cap="none" strike="noStrike">
              <a:solidFill>
                <a:srgbClr val="000000"/>
              </a:solidFill>
              <a:latin typeface="Open Sans"/>
              <a:ea typeface="Open Sans"/>
              <a:cs typeface="Open Sans"/>
              <a:sym typeface="Open Sans"/>
            </a:endParaRPr>
          </a:p>
        </p:txBody>
      </p:sp>
      <p:sp>
        <p:nvSpPr>
          <p:cNvPr id="331" name="Google Shape;331;p2"/>
          <p:cNvSpPr/>
          <p:nvPr/>
        </p:nvSpPr>
        <p:spPr>
          <a:xfrm>
            <a:off x="1170517" y="4792123"/>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FF7F32"/>
              </a:buClr>
              <a:buSzPts val="1600"/>
              <a:buFont typeface="Open Sans"/>
              <a:buNone/>
            </a:pPr>
            <a:r>
              <a:rPr b="1" i="0" lang="es-MX" sz="1600" u="none" cap="none" strike="noStrike">
                <a:solidFill>
                  <a:srgbClr val="FF7F32"/>
                </a:solidFill>
                <a:latin typeface="Open Sans"/>
                <a:ea typeface="Open Sans"/>
                <a:cs typeface="Open Sans"/>
                <a:sym typeface="Open Sans"/>
              </a:rPr>
              <a:t>Incorpora excelencia operativa en los procesos end-to-end</a:t>
            </a:r>
            <a:r>
              <a:rPr b="0" i="0" lang="es-MX" sz="1600" u="none" cap="none" strike="noStrike">
                <a:solidFill>
                  <a:srgbClr val="000000"/>
                </a:solidFill>
                <a:latin typeface="Open Sans"/>
                <a:ea typeface="Open Sans"/>
                <a:cs typeface="Open Sans"/>
                <a:sym typeface="Open Sans"/>
              </a:rPr>
              <a:t>, para ofrecer una ejecución eficiente en tienda y brindar a los clientes una experiencia best-in-class.</a:t>
            </a:r>
            <a:endParaRPr b="0" i="0" sz="1600" u="none" cap="none" strike="noStrike">
              <a:solidFill>
                <a:srgbClr val="000000"/>
              </a:solidFill>
              <a:latin typeface="Open Sans"/>
              <a:ea typeface="Open Sans"/>
              <a:cs typeface="Open Sans"/>
              <a:sym typeface="Open Sans"/>
            </a:endParaRPr>
          </a:p>
        </p:txBody>
      </p:sp>
      <p:sp>
        <p:nvSpPr>
          <p:cNvPr id="332" name="Google Shape;332;p2"/>
          <p:cNvSpPr/>
          <p:nvPr/>
        </p:nvSpPr>
        <p:spPr>
          <a:xfrm>
            <a:off x="1170517" y="5528946"/>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FF7F32"/>
              </a:buClr>
              <a:buSzPts val="1600"/>
              <a:buFont typeface="Open Sans"/>
              <a:buNone/>
            </a:pPr>
            <a:r>
              <a:rPr b="1" i="0" lang="es-MX" sz="1600" u="none" cap="none" strike="noStrike">
                <a:solidFill>
                  <a:srgbClr val="FF7F32"/>
                </a:solidFill>
                <a:latin typeface="Open Sans"/>
                <a:ea typeface="Open Sans"/>
                <a:cs typeface="Open Sans"/>
                <a:sym typeface="Open Sans"/>
              </a:rPr>
              <a:t>Fortalece Estrategia y Transformación </a:t>
            </a:r>
            <a:r>
              <a:rPr b="0" i="0" lang="es-MX" sz="1600" u="none" cap="none" strike="noStrike">
                <a:solidFill>
                  <a:srgbClr val="000000"/>
                </a:solidFill>
                <a:latin typeface="Open Sans"/>
                <a:ea typeface="Open Sans"/>
                <a:cs typeface="Open Sans"/>
                <a:sym typeface="Open Sans"/>
              </a:rPr>
              <a:t>como el orquestador del cambio y asegurador de la generación de valor en nuestras iniciativas de negocio a largo plazo.</a:t>
            </a:r>
            <a:endParaRPr b="0" i="0" sz="1600" u="none" cap="none" strike="noStrike">
              <a:solidFill>
                <a:srgbClr val="000000"/>
              </a:solidFill>
              <a:latin typeface="Open Sans"/>
              <a:ea typeface="Open Sans"/>
              <a:cs typeface="Open Sans"/>
              <a:sym typeface="Open Sans"/>
            </a:endParaRPr>
          </a:p>
        </p:txBody>
      </p:sp>
      <p:sp>
        <p:nvSpPr>
          <p:cNvPr id="333" name="Google Shape;333;p2"/>
          <p:cNvSpPr/>
          <p:nvPr/>
        </p:nvSpPr>
        <p:spPr>
          <a:xfrm>
            <a:off x="791399" y="2764299"/>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1</a:t>
            </a:r>
            <a:endParaRPr/>
          </a:p>
        </p:txBody>
      </p:sp>
      <p:sp>
        <p:nvSpPr>
          <p:cNvPr id="334" name="Google Shape;334;p2"/>
          <p:cNvSpPr/>
          <p:nvPr/>
        </p:nvSpPr>
        <p:spPr>
          <a:xfrm>
            <a:off x="791399" y="3583848"/>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2</a:t>
            </a:r>
            <a:endParaRPr/>
          </a:p>
        </p:txBody>
      </p:sp>
      <p:sp>
        <p:nvSpPr>
          <p:cNvPr id="335" name="Google Shape;335;p2"/>
          <p:cNvSpPr/>
          <p:nvPr/>
        </p:nvSpPr>
        <p:spPr>
          <a:xfrm>
            <a:off x="791399" y="4191559"/>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3</a:t>
            </a:r>
            <a:endParaRPr/>
          </a:p>
        </p:txBody>
      </p:sp>
      <p:sp>
        <p:nvSpPr>
          <p:cNvPr id="336" name="Google Shape;336;p2"/>
          <p:cNvSpPr/>
          <p:nvPr/>
        </p:nvSpPr>
        <p:spPr>
          <a:xfrm>
            <a:off x="791399" y="4822589"/>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4</a:t>
            </a:r>
            <a:endParaRPr/>
          </a:p>
        </p:txBody>
      </p:sp>
      <p:sp>
        <p:nvSpPr>
          <p:cNvPr id="337" name="Google Shape;337;p2"/>
          <p:cNvSpPr/>
          <p:nvPr/>
        </p:nvSpPr>
        <p:spPr>
          <a:xfrm>
            <a:off x="791399" y="5573800"/>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grpSp>
        <p:nvGrpSpPr>
          <p:cNvPr id="343" name="Google Shape;343;p3"/>
          <p:cNvGrpSpPr/>
          <p:nvPr/>
        </p:nvGrpSpPr>
        <p:grpSpPr>
          <a:xfrm>
            <a:off x="0" y="6926580"/>
            <a:ext cx="12192000" cy="137160"/>
            <a:chOff x="0" y="6926580"/>
            <a:chExt cx="12192000" cy="137160"/>
          </a:xfrm>
        </p:grpSpPr>
        <p:sp>
          <p:nvSpPr>
            <p:cNvPr id="344" name="Google Shape;344;p3"/>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345" name="Google Shape;345;p3"/>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346" name="Google Shape;346;p3"/>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347" name="Google Shape;347;p3"/>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348" name="Google Shape;348;p3"/>
          <p:cNvGrpSpPr/>
          <p:nvPr/>
        </p:nvGrpSpPr>
        <p:grpSpPr>
          <a:xfrm>
            <a:off x="0" y="-205740"/>
            <a:ext cx="12192000" cy="137160"/>
            <a:chOff x="0" y="-205740"/>
            <a:chExt cx="12192000" cy="137160"/>
          </a:xfrm>
        </p:grpSpPr>
        <p:sp>
          <p:nvSpPr>
            <p:cNvPr id="349" name="Google Shape;349;p3"/>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350" name="Google Shape;350;p3"/>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351" name="Google Shape;351;p3"/>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352" name="Google Shape;352;p3"/>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353" name="Google Shape;353;p3"/>
          <p:cNvSpPr/>
          <p:nvPr/>
        </p:nvSpPr>
        <p:spPr>
          <a:xfrm>
            <a:off x="0" y="1494482"/>
            <a:ext cx="12191998" cy="887580"/>
          </a:xfrm>
          <a:prstGeom prst="rect">
            <a:avLst/>
          </a:prstGeom>
          <a:solidFill>
            <a:srgbClr val="CC0000">
              <a:alpha val="2509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Open Sans"/>
              <a:buNone/>
            </a:pPr>
            <a:r>
              <a:t/>
            </a:r>
            <a:endParaRPr b="1" i="1" sz="1800" u="none" cap="none" strike="noStrike">
              <a:solidFill>
                <a:srgbClr val="FFFFFF"/>
              </a:solidFill>
              <a:latin typeface="Open Sans"/>
              <a:ea typeface="Open Sans"/>
              <a:cs typeface="Open Sans"/>
              <a:sym typeface="Open Sans"/>
            </a:endParaRPr>
          </a:p>
        </p:txBody>
      </p:sp>
      <p:sp>
        <p:nvSpPr>
          <p:cNvPr id="354" name="Google Shape;354;p3"/>
          <p:cNvSpPr txBox="1"/>
          <p:nvPr>
            <p:ph type="title"/>
          </p:nvPr>
        </p:nvSpPr>
        <p:spPr>
          <a:xfrm>
            <a:off x="508800" y="250442"/>
            <a:ext cx="8400000" cy="461665"/>
          </a:xfrm>
          <a:prstGeom prst="rect">
            <a:avLst/>
          </a:prstGeom>
          <a:noFill/>
          <a:ln>
            <a:noFill/>
          </a:ln>
        </p:spPr>
        <p:txBody>
          <a:bodyPr anchorCtr="0" anchor="b"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OXXO MX  |</a:t>
            </a:r>
            <a:r>
              <a:rPr lang="es-MX"/>
              <a:t> </a:t>
            </a:r>
            <a:r>
              <a:rPr lang="es-MX">
                <a:latin typeface="Open Sans"/>
                <a:ea typeface="Open Sans"/>
                <a:cs typeface="Open Sans"/>
                <a:sym typeface="Open Sans"/>
              </a:rPr>
              <a:t>Principios de Diseño FFP</a:t>
            </a:r>
            <a:endParaRPr/>
          </a:p>
        </p:txBody>
      </p:sp>
      <p:sp>
        <p:nvSpPr>
          <p:cNvPr id="355" name="Google Shape;355;p3"/>
          <p:cNvSpPr txBox="1"/>
          <p:nvPr/>
        </p:nvSpPr>
        <p:spPr>
          <a:xfrm>
            <a:off x="225287" y="2418652"/>
            <a:ext cx="2871290" cy="34701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Open Sans"/>
              <a:buNone/>
            </a:pPr>
            <a:r>
              <a:rPr b="0" i="0" lang="es-MX" sz="1050" u="none" cap="none" strike="noStrike">
                <a:solidFill>
                  <a:srgbClr val="000000"/>
                </a:solidFill>
                <a:latin typeface="Open Sans"/>
                <a:ea typeface="Open Sans"/>
                <a:cs typeface="Open Sans"/>
                <a:sym typeface="Open Sans"/>
              </a:rPr>
              <a:t>Nos estructuramos </a:t>
            </a:r>
            <a:r>
              <a:rPr b="1" i="0" lang="es-MX" sz="1050" u="none" cap="none" strike="noStrike">
                <a:solidFill>
                  <a:srgbClr val="000000"/>
                </a:solidFill>
                <a:latin typeface="Open Sans"/>
                <a:ea typeface="Open Sans"/>
                <a:cs typeface="Open Sans"/>
                <a:sym typeface="Open Sans"/>
              </a:rPr>
              <a:t>en torno al negocio actual </a:t>
            </a:r>
            <a:r>
              <a:rPr b="0" i="0" lang="es-MX" sz="1050" u="none" cap="none" strike="noStrike">
                <a:solidFill>
                  <a:srgbClr val="000000"/>
                </a:solidFill>
                <a:latin typeface="Open Sans"/>
                <a:ea typeface="Open Sans"/>
                <a:cs typeface="Open Sans"/>
                <a:sym typeface="Open Sans"/>
              </a:rPr>
              <a:t>—y al que </a:t>
            </a:r>
            <a:r>
              <a:rPr b="1" i="0" lang="es-MX" sz="1050" u="none" cap="none" strike="noStrike">
                <a:solidFill>
                  <a:srgbClr val="000000"/>
                </a:solidFill>
                <a:latin typeface="Open Sans"/>
                <a:ea typeface="Open Sans"/>
                <a:cs typeface="Open Sans"/>
                <a:sym typeface="Open Sans"/>
              </a:rPr>
              <a:t>necesitamos convertirnos</a:t>
            </a:r>
            <a:r>
              <a:rPr b="0" i="0" lang="es-MX" sz="1050" u="none" cap="none" strike="noStrike">
                <a:solidFill>
                  <a:srgbClr val="000000"/>
                </a:solidFill>
                <a:latin typeface="Open Sans"/>
                <a:ea typeface="Open Sans"/>
                <a:cs typeface="Open Sans"/>
                <a:sym typeface="Open Sans"/>
              </a:rPr>
              <a:t>— con </a:t>
            </a:r>
            <a:r>
              <a:rPr b="1" i="0" lang="es-MX" sz="1050" u="none" cap="none" strike="noStrike">
                <a:solidFill>
                  <a:srgbClr val="000000"/>
                </a:solidFill>
                <a:latin typeface="Open Sans"/>
                <a:ea typeface="Open Sans"/>
                <a:cs typeface="Open Sans"/>
                <a:sym typeface="Open Sans"/>
              </a:rPr>
              <a:t>pocas apuestas </a:t>
            </a:r>
            <a:r>
              <a:rPr b="0" i="0" lang="es-MX" sz="1050" u="none" cap="none" strike="noStrike">
                <a:solidFill>
                  <a:srgbClr val="000000"/>
                </a:solidFill>
                <a:latin typeface="Open Sans"/>
                <a:ea typeface="Open Sans"/>
                <a:cs typeface="Open Sans"/>
                <a:sym typeface="Open Sans"/>
              </a:rPr>
              <a:t>grandes para transformar, pasando de una </a:t>
            </a:r>
            <a:r>
              <a:rPr b="1" i="0" lang="es-MX" sz="1050" u="none" cap="none" strike="noStrike">
                <a:solidFill>
                  <a:srgbClr val="000000"/>
                </a:solidFill>
                <a:latin typeface="Open Sans"/>
                <a:ea typeface="Open Sans"/>
                <a:cs typeface="Open Sans"/>
                <a:sym typeface="Open Sans"/>
              </a:rPr>
              <a:t>mentalidad </a:t>
            </a:r>
            <a:r>
              <a:rPr b="0" i="0" lang="es-MX" sz="1050" u="none" cap="none" strike="noStrike">
                <a:solidFill>
                  <a:srgbClr val="000000"/>
                </a:solidFill>
                <a:latin typeface="Open Sans"/>
                <a:ea typeface="Open Sans"/>
                <a:cs typeface="Open Sans"/>
                <a:sym typeface="Open Sans"/>
              </a:rPr>
              <a:t>enfocada en </a:t>
            </a:r>
            <a:r>
              <a:rPr b="1" i="0" lang="es-MX" sz="1050" u="none" cap="none" strike="noStrike">
                <a:solidFill>
                  <a:srgbClr val="000000"/>
                </a:solidFill>
                <a:latin typeface="Open Sans"/>
                <a:ea typeface="Open Sans"/>
                <a:cs typeface="Open Sans"/>
                <a:sym typeface="Open Sans"/>
              </a:rPr>
              <a:t>tráfico</a:t>
            </a:r>
            <a:r>
              <a:rPr b="0" i="0" lang="es-MX" sz="1050" u="none" cap="none" strike="noStrike">
                <a:solidFill>
                  <a:srgbClr val="000000"/>
                </a:solidFill>
                <a:latin typeface="Open Sans"/>
                <a:ea typeface="Open Sans"/>
                <a:cs typeface="Open Sans"/>
                <a:sym typeface="Open Sans"/>
              </a:rPr>
              <a:t> y </a:t>
            </a:r>
            <a:r>
              <a:rPr b="1" i="0" lang="es-MX" sz="1050" u="none" cap="none" strike="noStrike">
                <a:solidFill>
                  <a:srgbClr val="000000"/>
                </a:solidFill>
                <a:latin typeface="Open Sans"/>
                <a:ea typeface="Open Sans"/>
                <a:cs typeface="Open Sans"/>
                <a:sym typeface="Open Sans"/>
              </a:rPr>
              <a:t>crecimiento</a:t>
            </a:r>
            <a:r>
              <a:rPr b="0" i="0" lang="es-MX" sz="1050" u="none" cap="none" strike="noStrike">
                <a:solidFill>
                  <a:srgbClr val="000000"/>
                </a:solidFill>
                <a:latin typeface="Open Sans"/>
                <a:ea typeface="Open Sans"/>
                <a:cs typeface="Open Sans"/>
                <a:sym typeface="Open Sans"/>
              </a:rPr>
              <a:t> </a:t>
            </a:r>
            <a:r>
              <a:rPr b="1" i="0" lang="es-MX" sz="1050" u="none" cap="none" strike="noStrike">
                <a:solidFill>
                  <a:srgbClr val="000000"/>
                </a:solidFill>
                <a:latin typeface="Open Sans"/>
                <a:ea typeface="Open Sans"/>
                <a:cs typeface="Open Sans"/>
                <a:sym typeface="Open Sans"/>
              </a:rPr>
              <a:t>rentable</a:t>
            </a:r>
            <a:r>
              <a:rPr b="0" i="0" lang="es-MX" sz="1050" u="none" cap="none" strike="noStrike">
                <a:solidFill>
                  <a:srgbClr val="000000"/>
                </a:solidFill>
                <a:latin typeface="Open Sans"/>
                <a:ea typeface="Open Sans"/>
                <a:cs typeface="Open Sans"/>
                <a:sym typeface="Open Sans"/>
              </a:rPr>
              <a:t> y </a:t>
            </a:r>
            <a:r>
              <a:rPr b="1" i="0" lang="es-MX" sz="1050" u="none" cap="none" strike="noStrike">
                <a:solidFill>
                  <a:srgbClr val="000000"/>
                </a:solidFill>
                <a:latin typeface="Open Sans"/>
                <a:ea typeface="Open Sans"/>
                <a:cs typeface="Open Sans"/>
                <a:sym typeface="Open Sans"/>
              </a:rPr>
              <a:t>sostenible</a:t>
            </a:r>
            <a:r>
              <a:rPr b="0" i="0" lang="es-MX" sz="1050" u="none" cap="none" strike="noStrike">
                <a:solidFill>
                  <a:srgbClr val="000000"/>
                </a:solidFill>
                <a:latin typeface="Open Sans"/>
                <a:ea typeface="Open Sans"/>
                <a:cs typeface="Open Sans"/>
                <a:sym typeface="Open Sans"/>
              </a:rPr>
              <a:t>.</a:t>
            </a:r>
            <a:endParaRPr b="0" i="0" sz="1050" u="none" cap="none" strike="noStrike">
              <a:solidFill>
                <a:srgbClr val="000000"/>
              </a:solidFill>
              <a:latin typeface="Open Sans"/>
              <a:ea typeface="Open Sans"/>
              <a:cs typeface="Open Sans"/>
              <a:sym typeface="Open Sans"/>
            </a:endParaRPr>
          </a:p>
          <a:p>
            <a:pPr indent="-171450" lvl="0" marL="171450" marR="0" rtl="0" algn="l">
              <a:lnSpc>
                <a:spcPct val="100000"/>
              </a:lnSpc>
              <a:spcBef>
                <a:spcPts val="600"/>
              </a:spcBef>
              <a:spcAft>
                <a:spcPts val="0"/>
              </a:spcAft>
              <a:buClr>
                <a:srgbClr val="000000"/>
              </a:buClr>
              <a:buSzPts val="1050"/>
              <a:buFont typeface="Arial"/>
              <a:buChar char="•"/>
            </a:pPr>
            <a:r>
              <a:rPr b="1" i="0" lang="es-MX" sz="1050" u="none" cap="none" strike="noStrike">
                <a:solidFill>
                  <a:srgbClr val="000000"/>
                </a:solidFill>
                <a:latin typeface="Open Sans"/>
                <a:ea typeface="Open Sans"/>
                <a:cs typeface="Open Sans"/>
                <a:sym typeface="Open Sans"/>
              </a:rPr>
              <a:t>Anclar la organización </a:t>
            </a:r>
            <a:r>
              <a:rPr b="0" i="0" lang="es-MX" sz="1050" u="none" cap="none" strike="noStrike">
                <a:solidFill>
                  <a:srgbClr val="000000"/>
                </a:solidFill>
                <a:latin typeface="Open Sans"/>
                <a:ea typeface="Open Sans"/>
                <a:cs typeface="Open Sans"/>
                <a:sym typeface="Open Sans"/>
              </a:rPr>
              <a:t>en capacidades para ganar en </a:t>
            </a:r>
            <a:r>
              <a:rPr b="1" i="0" lang="es-MX" sz="1050" u="none" cap="none" strike="noStrike">
                <a:solidFill>
                  <a:srgbClr val="000000"/>
                </a:solidFill>
                <a:latin typeface="Open Sans"/>
                <a:ea typeface="Open Sans"/>
                <a:cs typeface="Open Sans"/>
                <a:sym typeface="Open Sans"/>
              </a:rPr>
              <a:t>Impulso, Reposición Diaria y Foodvenience </a:t>
            </a:r>
            <a:r>
              <a:rPr b="0" i="0" lang="es-MX" sz="1050" u="none" cap="none" strike="noStrike">
                <a:solidFill>
                  <a:srgbClr val="000000"/>
                </a:solidFill>
                <a:latin typeface="Open Sans"/>
                <a:ea typeface="Open Sans"/>
                <a:cs typeface="Open Sans"/>
                <a:sym typeface="Open Sans"/>
              </a:rPr>
              <a:t>con propuestas de valor sólidas.</a:t>
            </a:r>
            <a:endParaRPr/>
          </a:p>
          <a:p>
            <a:pPr indent="-171450" lvl="0" marL="171450" marR="0" rtl="0" algn="l">
              <a:lnSpc>
                <a:spcPct val="100000"/>
              </a:lnSpc>
              <a:spcBef>
                <a:spcPts val="600"/>
              </a:spcBef>
              <a:spcAft>
                <a:spcPts val="0"/>
              </a:spcAft>
              <a:buClr>
                <a:srgbClr val="000000"/>
              </a:buClr>
              <a:buSzPts val="1050"/>
              <a:buFont typeface="Arial"/>
              <a:buChar char="•"/>
            </a:pPr>
            <a:r>
              <a:rPr b="0" i="0" lang="es-MX" sz="1050" u="none" cap="none" strike="noStrike">
                <a:solidFill>
                  <a:srgbClr val="000000"/>
                </a:solidFill>
                <a:latin typeface="Open Sans"/>
                <a:ea typeface="Open Sans"/>
                <a:cs typeface="Open Sans"/>
                <a:sym typeface="Open Sans"/>
              </a:rPr>
              <a:t>Construir el </a:t>
            </a:r>
            <a:r>
              <a:rPr b="1" i="0" lang="es-MX" sz="1050" u="none" cap="none" strike="noStrike">
                <a:solidFill>
                  <a:srgbClr val="000000"/>
                </a:solidFill>
                <a:latin typeface="Open Sans"/>
                <a:ea typeface="Open Sans"/>
                <a:cs typeface="Open Sans"/>
                <a:sym typeface="Open Sans"/>
              </a:rPr>
              <a:t>ecosistema omnicanal más grande</a:t>
            </a:r>
            <a:r>
              <a:rPr b="0" i="0" lang="es-MX" sz="1050" u="none" cap="none" strike="noStrike">
                <a:solidFill>
                  <a:srgbClr val="000000"/>
                </a:solidFill>
                <a:latin typeface="Open Sans"/>
                <a:ea typeface="Open Sans"/>
                <a:cs typeface="Open Sans"/>
                <a:sym typeface="Open Sans"/>
              </a:rPr>
              <a:t>, habilitando </a:t>
            </a:r>
            <a:r>
              <a:rPr b="1" i="0" lang="es-MX" sz="1050" u="none" cap="none" strike="noStrike">
                <a:solidFill>
                  <a:srgbClr val="000000"/>
                </a:solidFill>
                <a:latin typeface="Open Sans"/>
                <a:ea typeface="Open Sans"/>
                <a:cs typeface="Open Sans"/>
                <a:sym typeface="Open Sans"/>
              </a:rPr>
              <a:t>nuevas vías de crecimiento</a:t>
            </a:r>
            <a:r>
              <a:rPr b="0" i="0" lang="es-MX" sz="1050" u="none" cap="none" strike="noStrike">
                <a:solidFill>
                  <a:srgbClr val="000000"/>
                </a:solidFill>
                <a:latin typeface="Open Sans"/>
                <a:ea typeface="Open Sans"/>
                <a:cs typeface="Open Sans"/>
                <a:sym typeface="Open Sans"/>
              </a:rPr>
              <a:t>.</a:t>
            </a:r>
            <a:endParaRPr/>
          </a:p>
          <a:p>
            <a:pPr indent="-171450" lvl="0" marL="171450" marR="0" rtl="0" algn="l">
              <a:lnSpc>
                <a:spcPct val="100000"/>
              </a:lnSpc>
              <a:spcBef>
                <a:spcPts val="600"/>
              </a:spcBef>
              <a:spcAft>
                <a:spcPts val="0"/>
              </a:spcAft>
              <a:buClr>
                <a:srgbClr val="000000"/>
              </a:buClr>
              <a:buSzPts val="1050"/>
              <a:buFont typeface="Arial"/>
              <a:buChar char="•"/>
            </a:pPr>
            <a:r>
              <a:rPr b="0" i="0" lang="es-MX" sz="1050" u="none" cap="none" strike="noStrike">
                <a:solidFill>
                  <a:srgbClr val="000000"/>
                </a:solidFill>
                <a:latin typeface="Open Sans"/>
                <a:ea typeface="Open Sans"/>
                <a:cs typeface="Open Sans"/>
                <a:sym typeface="Open Sans"/>
              </a:rPr>
              <a:t>Institucionalizar la </a:t>
            </a:r>
            <a:r>
              <a:rPr b="1" i="0" lang="es-MX" sz="1050" u="none" cap="none" strike="noStrike">
                <a:solidFill>
                  <a:srgbClr val="000000"/>
                </a:solidFill>
                <a:latin typeface="Open Sans"/>
                <a:ea typeface="Open Sans"/>
                <a:cs typeface="Open Sans"/>
                <a:sym typeface="Open Sans"/>
              </a:rPr>
              <a:t>innovación</a:t>
            </a:r>
            <a:r>
              <a:rPr b="0" i="0" lang="es-MX" sz="1050" u="none" cap="none" strike="noStrike">
                <a:solidFill>
                  <a:srgbClr val="000000"/>
                </a:solidFill>
                <a:latin typeface="Open Sans"/>
                <a:ea typeface="Open Sans"/>
                <a:cs typeface="Open Sans"/>
                <a:sym typeface="Open Sans"/>
              </a:rPr>
              <a:t> y </a:t>
            </a:r>
            <a:r>
              <a:rPr b="1" i="0" lang="es-MX" sz="1050" u="none" cap="none" strike="noStrike">
                <a:solidFill>
                  <a:srgbClr val="000000"/>
                </a:solidFill>
                <a:latin typeface="Open Sans"/>
                <a:ea typeface="Open Sans"/>
                <a:cs typeface="Open Sans"/>
                <a:sym typeface="Open Sans"/>
              </a:rPr>
              <a:t>empoderar a los equipos para probar</a:t>
            </a:r>
            <a:r>
              <a:rPr b="0" i="0" lang="es-MX" sz="1050" u="none" cap="none" strike="noStrike">
                <a:solidFill>
                  <a:srgbClr val="000000"/>
                </a:solidFill>
                <a:latin typeface="Open Sans"/>
                <a:ea typeface="Open Sans"/>
                <a:cs typeface="Open Sans"/>
                <a:sym typeface="Open Sans"/>
              </a:rPr>
              <a:t>, </a:t>
            </a:r>
            <a:r>
              <a:rPr b="1" i="0" lang="es-MX" sz="1050" u="none" cap="none" strike="noStrike">
                <a:solidFill>
                  <a:srgbClr val="000000"/>
                </a:solidFill>
                <a:latin typeface="Open Sans"/>
                <a:ea typeface="Open Sans"/>
                <a:cs typeface="Open Sans"/>
                <a:sym typeface="Open Sans"/>
              </a:rPr>
              <a:t>aprender</a:t>
            </a:r>
            <a:r>
              <a:rPr b="0" i="0" lang="es-MX" sz="1050" u="none" cap="none" strike="noStrike">
                <a:solidFill>
                  <a:srgbClr val="000000"/>
                </a:solidFill>
                <a:latin typeface="Open Sans"/>
                <a:ea typeface="Open Sans"/>
                <a:cs typeface="Open Sans"/>
                <a:sym typeface="Open Sans"/>
              </a:rPr>
              <a:t> y </a:t>
            </a:r>
            <a:r>
              <a:rPr b="1" i="0" lang="es-MX" sz="1050" u="none" cap="none" strike="noStrike">
                <a:solidFill>
                  <a:srgbClr val="000000"/>
                </a:solidFill>
                <a:latin typeface="Open Sans"/>
                <a:ea typeface="Open Sans"/>
                <a:cs typeface="Open Sans"/>
                <a:sym typeface="Open Sans"/>
              </a:rPr>
              <a:t>escalar</a:t>
            </a:r>
            <a:r>
              <a:rPr b="0" i="0" lang="es-MX" sz="1050" u="none" cap="none" strike="noStrike">
                <a:solidFill>
                  <a:srgbClr val="000000"/>
                </a:solidFill>
                <a:latin typeface="Open Sans"/>
                <a:ea typeface="Open Sans"/>
                <a:cs typeface="Open Sans"/>
                <a:sym typeface="Open Sans"/>
              </a:rPr>
              <a:t> lo que funciona.</a:t>
            </a:r>
            <a:endParaRPr b="0" i="0" sz="1050" u="none" cap="none" strike="noStrike">
              <a:solidFill>
                <a:srgbClr val="000000"/>
              </a:solidFill>
              <a:latin typeface="Open Sans"/>
              <a:ea typeface="Open Sans"/>
              <a:cs typeface="Open Sans"/>
              <a:sym typeface="Open Sans"/>
            </a:endParaRPr>
          </a:p>
          <a:p>
            <a:pPr indent="-171450" lvl="0" marL="171450" marR="0" rtl="0" algn="l">
              <a:lnSpc>
                <a:spcPct val="100000"/>
              </a:lnSpc>
              <a:spcBef>
                <a:spcPts val="600"/>
              </a:spcBef>
              <a:spcAft>
                <a:spcPts val="0"/>
              </a:spcAft>
              <a:buClr>
                <a:srgbClr val="000000"/>
              </a:buClr>
              <a:buSzPts val="1050"/>
              <a:buFont typeface="Arial"/>
              <a:buChar char="•"/>
            </a:pPr>
            <a:r>
              <a:rPr b="1" i="0" lang="es-MX" sz="1050" u="none" cap="none" strike="noStrike">
                <a:solidFill>
                  <a:srgbClr val="000000"/>
                </a:solidFill>
                <a:latin typeface="Open Sans"/>
                <a:ea typeface="Open Sans"/>
                <a:cs typeface="Open Sans"/>
                <a:sym typeface="Open Sans"/>
              </a:rPr>
              <a:t>Establecer un sistema de gestión </a:t>
            </a:r>
            <a:r>
              <a:rPr b="0" i="0" lang="es-MX" sz="1050" u="none" cap="none" strike="noStrike">
                <a:solidFill>
                  <a:srgbClr val="000000"/>
                </a:solidFill>
                <a:latin typeface="Open Sans"/>
                <a:ea typeface="Open Sans"/>
                <a:cs typeface="Open Sans"/>
                <a:sym typeface="Open Sans"/>
              </a:rPr>
              <a:t>que permita equilibrar la agenda de entrega y desarrollo.</a:t>
            </a:r>
            <a:endParaRPr b="0" i="0" sz="1050" u="none" cap="none" strike="noStrike">
              <a:solidFill>
                <a:srgbClr val="000000"/>
              </a:solidFill>
              <a:latin typeface="Open Sans"/>
              <a:ea typeface="Open Sans"/>
              <a:cs typeface="Open Sans"/>
              <a:sym typeface="Open Sans"/>
            </a:endParaRPr>
          </a:p>
        </p:txBody>
      </p:sp>
      <p:sp>
        <p:nvSpPr>
          <p:cNvPr id="356" name="Google Shape;356;p3"/>
          <p:cNvSpPr txBox="1"/>
          <p:nvPr/>
        </p:nvSpPr>
        <p:spPr>
          <a:xfrm>
            <a:off x="343520" y="1571504"/>
            <a:ext cx="513110" cy="685777"/>
          </a:xfrm>
          <a:prstGeom prst="rect">
            <a:avLst/>
          </a:prstGeom>
          <a:no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CC0000"/>
              </a:buClr>
              <a:buSzPts val="3000"/>
              <a:buFont typeface="Open Sans"/>
              <a:buNone/>
            </a:pPr>
            <a:r>
              <a:rPr b="1" i="0" lang="es-MX" sz="3000" u="none" cap="none" strike="noStrike">
                <a:solidFill>
                  <a:srgbClr val="CC0000"/>
                </a:solidFill>
                <a:latin typeface="Open Sans"/>
                <a:ea typeface="Open Sans"/>
                <a:cs typeface="Open Sans"/>
                <a:sym typeface="Open Sans"/>
              </a:rPr>
              <a:t>01</a:t>
            </a:r>
            <a:endParaRPr/>
          </a:p>
        </p:txBody>
      </p:sp>
      <p:sp>
        <p:nvSpPr>
          <p:cNvPr id="357" name="Google Shape;357;p3"/>
          <p:cNvSpPr txBox="1"/>
          <p:nvPr/>
        </p:nvSpPr>
        <p:spPr>
          <a:xfrm>
            <a:off x="804108" y="1545060"/>
            <a:ext cx="2479582" cy="73866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CC0000"/>
              </a:buClr>
              <a:buSzPts val="1400"/>
              <a:buFont typeface="Open Sans"/>
              <a:buNone/>
            </a:pPr>
            <a:r>
              <a:rPr b="1" i="0" lang="es-MX" sz="1400" u="none" cap="none" strike="noStrike">
                <a:solidFill>
                  <a:srgbClr val="CC0000"/>
                </a:solidFill>
                <a:latin typeface="Open Sans"/>
                <a:ea typeface="Open Sans"/>
                <a:cs typeface="Open Sans"/>
                <a:sym typeface="Open Sans"/>
              </a:rPr>
              <a:t>Organizarnos para escalar nuestro </a:t>
            </a:r>
            <a:r>
              <a:rPr b="1" i="1" lang="es-MX" sz="1400" u="none" cap="none" strike="noStrike">
                <a:solidFill>
                  <a:srgbClr val="CC0000"/>
                </a:solidFill>
                <a:latin typeface="Open Sans"/>
                <a:ea typeface="Open Sans"/>
                <a:cs typeface="Open Sans"/>
                <a:sym typeface="Open Sans"/>
              </a:rPr>
              <a:t>core </a:t>
            </a:r>
            <a:r>
              <a:rPr b="1" i="0" lang="es-MX" sz="1400" u="none" cap="none" strike="noStrike">
                <a:solidFill>
                  <a:srgbClr val="CC0000"/>
                </a:solidFill>
                <a:latin typeface="Open Sans"/>
                <a:ea typeface="Open Sans"/>
                <a:cs typeface="Open Sans"/>
                <a:sym typeface="Open Sans"/>
              </a:rPr>
              <a:t>y crear el futuro</a:t>
            </a:r>
            <a:endParaRPr b="1" i="0" sz="1400" u="none" cap="none" strike="noStrike">
              <a:solidFill>
                <a:srgbClr val="CC0000"/>
              </a:solidFill>
              <a:latin typeface="Open Sans"/>
              <a:ea typeface="Open Sans"/>
              <a:cs typeface="Open Sans"/>
              <a:sym typeface="Open Sans"/>
            </a:endParaRPr>
          </a:p>
        </p:txBody>
      </p:sp>
      <p:sp>
        <p:nvSpPr>
          <p:cNvPr id="358" name="Google Shape;358;p3"/>
          <p:cNvSpPr txBox="1"/>
          <p:nvPr/>
        </p:nvSpPr>
        <p:spPr>
          <a:xfrm>
            <a:off x="3356288" y="2418652"/>
            <a:ext cx="2642027" cy="22621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Open Sans"/>
              <a:buNone/>
            </a:pPr>
            <a:r>
              <a:rPr b="0" i="0" lang="es-MX" sz="1050" u="none" cap="none" strike="noStrike">
                <a:solidFill>
                  <a:srgbClr val="000000"/>
                </a:solidFill>
                <a:latin typeface="Open Sans"/>
                <a:ea typeface="Open Sans"/>
                <a:cs typeface="Open Sans"/>
                <a:sym typeface="Open Sans"/>
              </a:rPr>
              <a:t>Damos vida a la </a:t>
            </a:r>
            <a:r>
              <a:rPr b="1" i="0" lang="es-MX" sz="1050" u="none" cap="none" strike="noStrike">
                <a:solidFill>
                  <a:srgbClr val="000000"/>
                </a:solidFill>
                <a:latin typeface="Open Sans"/>
                <a:ea typeface="Open Sans"/>
                <a:cs typeface="Open Sans"/>
                <a:sym typeface="Open Sans"/>
              </a:rPr>
              <a:t>ambición estratégica </a:t>
            </a:r>
            <a:r>
              <a:rPr b="0" i="0" lang="es-MX" sz="1050" u="none" cap="none" strike="noStrike">
                <a:solidFill>
                  <a:srgbClr val="000000"/>
                </a:solidFill>
                <a:latin typeface="Open Sans"/>
                <a:ea typeface="Open Sans"/>
                <a:cs typeface="Open Sans"/>
                <a:sym typeface="Open Sans"/>
              </a:rPr>
              <a:t>definida habilitando </a:t>
            </a:r>
            <a:r>
              <a:rPr b="1" i="0" lang="es-MX" sz="1050" u="none" cap="none" strike="noStrike">
                <a:solidFill>
                  <a:srgbClr val="000000"/>
                </a:solidFill>
                <a:latin typeface="Open Sans"/>
                <a:ea typeface="Open Sans"/>
                <a:cs typeface="Open Sans"/>
                <a:sym typeface="Open Sans"/>
              </a:rPr>
              <a:t>capacidades centrales </a:t>
            </a:r>
            <a:r>
              <a:rPr b="0" i="0" lang="es-MX" sz="1050" u="none" cap="none" strike="noStrike">
                <a:solidFill>
                  <a:srgbClr val="000000"/>
                </a:solidFill>
                <a:latin typeface="Open Sans"/>
                <a:ea typeface="Open Sans"/>
                <a:cs typeface="Open Sans"/>
                <a:sym typeface="Open Sans"/>
              </a:rPr>
              <a:t>con </a:t>
            </a:r>
            <a:r>
              <a:rPr b="1" i="0" lang="es-MX" sz="1050" u="none" cap="none" strike="noStrike">
                <a:solidFill>
                  <a:srgbClr val="000000"/>
                </a:solidFill>
                <a:latin typeface="Open Sans"/>
                <a:ea typeface="Open Sans"/>
                <a:cs typeface="Open Sans"/>
                <a:sym typeface="Open Sans"/>
              </a:rPr>
              <a:t>adaptabilidad local </a:t>
            </a:r>
            <a:r>
              <a:rPr b="0" i="0" lang="es-MX" sz="1050" u="none" cap="none" strike="noStrike">
                <a:solidFill>
                  <a:srgbClr val="000000"/>
                </a:solidFill>
                <a:latin typeface="Open Sans"/>
                <a:ea typeface="Open Sans"/>
                <a:cs typeface="Open Sans"/>
                <a:sym typeface="Open Sans"/>
              </a:rPr>
              <a:t>para ganar lealtad.</a:t>
            </a:r>
            <a:endParaRPr b="0" i="0" sz="1050" u="none" cap="none" strike="noStrike">
              <a:solidFill>
                <a:srgbClr val="000000"/>
              </a:solidFill>
              <a:latin typeface="Open Sans"/>
              <a:ea typeface="Open Sans"/>
              <a:cs typeface="Open Sans"/>
              <a:sym typeface="Open Sans"/>
            </a:endParaRPr>
          </a:p>
          <a:p>
            <a:pPr indent="-171450" lvl="0" marL="171450" marR="0" rtl="0" algn="l">
              <a:lnSpc>
                <a:spcPct val="100000"/>
              </a:lnSpc>
              <a:spcBef>
                <a:spcPts val="600"/>
              </a:spcBef>
              <a:spcAft>
                <a:spcPts val="0"/>
              </a:spcAft>
              <a:buClr>
                <a:srgbClr val="000000"/>
              </a:buClr>
              <a:buSzPts val="1000"/>
              <a:buFont typeface="Arial"/>
              <a:buChar char="•"/>
            </a:pPr>
            <a:r>
              <a:rPr b="1" i="0" lang="es-MX" sz="1050" u="none" cap="none" strike="noStrike">
                <a:solidFill>
                  <a:srgbClr val="000000"/>
                </a:solidFill>
                <a:latin typeface="Open Sans"/>
                <a:ea typeface="Open Sans"/>
                <a:cs typeface="Open Sans"/>
                <a:sym typeface="Open Sans"/>
              </a:rPr>
              <a:t>Estrategia y transformación </a:t>
            </a:r>
            <a:r>
              <a:rPr b="0" i="0" lang="es-MX" sz="1050" u="none" cap="none" strike="noStrike">
                <a:solidFill>
                  <a:srgbClr val="000000"/>
                </a:solidFill>
                <a:latin typeface="Open Sans"/>
                <a:ea typeface="Open Sans"/>
                <a:cs typeface="Open Sans"/>
                <a:sym typeface="Open Sans"/>
              </a:rPr>
              <a:t>lideradas y movilizadas centralmente</a:t>
            </a:r>
            <a:r>
              <a:rPr b="1" i="0" lang="es-MX" sz="1050" u="none" cap="none" strike="noStrike">
                <a:solidFill>
                  <a:srgbClr val="000000"/>
                </a:solidFill>
                <a:latin typeface="Open Sans"/>
                <a:ea typeface="Open Sans"/>
                <a:cs typeface="Open Sans"/>
                <a:sym typeface="Open Sans"/>
              </a:rPr>
              <a:t>.</a:t>
            </a:r>
            <a:endParaRPr b="1" i="0" sz="1050" u="none" cap="none" strike="noStrike">
              <a:solidFill>
                <a:srgbClr val="000000"/>
              </a:solidFill>
              <a:latin typeface="Open Sans"/>
              <a:ea typeface="Open Sans"/>
              <a:cs typeface="Open Sans"/>
              <a:sym typeface="Open Sans"/>
            </a:endParaRPr>
          </a:p>
          <a:p>
            <a:pPr indent="-171450" lvl="0" marL="171450" marR="0" rtl="0" algn="l">
              <a:lnSpc>
                <a:spcPct val="100000"/>
              </a:lnSpc>
              <a:spcBef>
                <a:spcPts val="600"/>
              </a:spcBef>
              <a:spcAft>
                <a:spcPts val="0"/>
              </a:spcAft>
              <a:buClr>
                <a:srgbClr val="000000"/>
              </a:buClr>
              <a:buSzPts val="1000"/>
              <a:buFont typeface="Arial"/>
              <a:buChar char="•"/>
            </a:pPr>
            <a:r>
              <a:rPr b="1" i="0" lang="es-MX" sz="1050" u="none" cap="none" strike="noStrike">
                <a:solidFill>
                  <a:srgbClr val="000000"/>
                </a:solidFill>
                <a:latin typeface="Open Sans"/>
                <a:ea typeface="Open Sans"/>
                <a:cs typeface="Open Sans"/>
                <a:sym typeface="Open Sans"/>
              </a:rPr>
              <a:t>Estandarizar donde se crea valor; </a:t>
            </a:r>
            <a:r>
              <a:rPr b="0" i="0" lang="es-MX" sz="1050" u="none" cap="none" strike="noStrike">
                <a:solidFill>
                  <a:srgbClr val="000000"/>
                </a:solidFill>
                <a:latin typeface="Open Sans"/>
                <a:ea typeface="Open Sans"/>
                <a:cs typeface="Open Sans"/>
                <a:sym typeface="Open Sans"/>
              </a:rPr>
              <a:t>adaptar donde se impulsa diferenciación.</a:t>
            </a:r>
            <a:endParaRPr/>
          </a:p>
          <a:p>
            <a:pPr indent="-171450" lvl="0" marL="171450" marR="0" rtl="0" algn="l">
              <a:lnSpc>
                <a:spcPct val="100000"/>
              </a:lnSpc>
              <a:spcBef>
                <a:spcPts val="600"/>
              </a:spcBef>
              <a:spcAft>
                <a:spcPts val="0"/>
              </a:spcAft>
              <a:buClr>
                <a:srgbClr val="000000"/>
              </a:buClr>
              <a:buSzPts val="1000"/>
              <a:buFont typeface="Arial"/>
              <a:buChar char="•"/>
            </a:pPr>
            <a:r>
              <a:rPr b="1" i="0" lang="es-MX" sz="1050" u="none" cap="none" strike="noStrike">
                <a:solidFill>
                  <a:srgbClr val="000000"/>
                </a:solidFill>
                <a:latin typeface="Open Sans"/>
                <a:ea typeface="Open Sans"/>
                <a:cs typeface="Open Sans"/>
                <a:sym typeface="Open Sans"/>
              </a:rPr>
              <a:t>Anclar la ejecución en la cercanía </a:t>
            </a:r>
            <a:r>
              <a:rPr b="0" i="0" lang="es-MX" sz="1050" u="none" cap="none" strike="noStrike">
                <a:solidFill>
                  <a:srgbClr val="000000"/>
                </a:solidFill>
                <a:latin typeface="Open Sans"/>
                <a:ea typeface="Open Sans"/>
                <a:cs typeface="Open Sans"/>
                <a:sym typeface="Open Sans"/>
              </a:rPr>
              <a:t>a nuestros clientes y tiendas.</a:t>
            </a:r>
            <a:endParaRPr b="0" i="0" sz="1050" u="none" cap="none" strike="noStrike">
              <a:solidFill>
                <a:srgbClr val="000000"/>
              </a:solidFill>
              <a:latin typeface="Open Sans"/>
              <a:ea typeface="Open Sans"/>
              <a:cs typeface="Open Sans"/>
              <a:sym typeface="Open Sans"/>
            </a:endParaRPr>
          </a:p>
        </p:txBody>
      </p:sp>
      <p:sp>
        <p:nvSpPr>
          <p:cNvPr id="359" name="Google Shape;359;p3"/>
          <p:cNvSpPr txBox="1"/>
          <p:nvPr/>
        </p:nvSpPr>
        <p:spPr>
          <a:xfrm>
            <a:off x="3310691" y="1571504"/>
            <a:ext cx="513110" cy="685777"/>
          </a:xfrm>
          <a:prstGeom prst="rect">
            <a:avLst/>
          </a:prstGeom>
          <a:no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CC0000"/>
              </a:buClr>
              <a:buSzPts val="3000"/>
              <a:buFont typeface="Open Sans"/>
              <a:buNone/>
            </a:pPr>
            <a:r>
              <a:rPr b="1" i="0" lang="es-MX" sz="3000" u="none" cap="none" strike="noStrike">
                <a:solidFill>
                  <a:srgbClr val="CC0000"/>
                </a:solidFill>
                <a:latin typeface="Open Sans"/>
                <a:ea typeface="Open Sans"/>
                <a:cs typeface="Open Sans"/>
                <a:sym typeface="Open Sans"/>
              </a:rPr>
              <a:t>02</a:t>
            </a:r>
            <a:endParaRPr/>
          </a:p>
        </p:txBody>
      </p:sp>
      <p:sp>
        <p:nvSpPr>
          <p:cNvPr id="360" name="Google Shape;360;p3"/>
          <p:cNvSpPr txBox="1"/>
          <p:nvPr/>
        </p:nvSpPr>
        <p:spPr>
          <a:xfrm>
            <a:off x="3771279" y="1545060"/>
            <a:ext cx="2227040" cy="73866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CC0000"/>
              </a:buClr>
              <a:buSzPts val="1400"/>
              <a:buFont typeface="Open Sans"/>
              <a:buNone/>
            </a:pPr>
            <a:r>
              <a:rPr b="1" i="0" lang="es-MX" sz="1400" u="none" cap="none" strike="noStrike">
                <a:solidFill>
                  <a:srgbClr val="CC0000"/>
                </a:solidFill>
                <a:latin typeface="Open Sans"/>
                <a:ea typeface="Open Sans"/>
                <a:cs typeface="Open Sans"/>
                <a:sym typeface="Open Sans"/>
              </a:rPr>
              <a:t>Liderar centralmente y empoderar la ejecución local</a:t>
            </a:r>
            <a:endParaRPr b="1" i="0" sz="1400" u="none" cap="none" strike="noStrike">
              <a:solidFill>
                <a:srgbClr val="CC0000"/>
              </a:solidFill>
              <a:latin typeface="Open Sans"/>
              <a:ea typeface="Open Sans"/>
              <a:cs typeface="Open Sans"/>
              <a:sym typeface="Open Sans"/>
            </a:endParaRPr>
          </a:p>
        </p:txBody>
      </p:sp>
      <p:sp>
        <p:nvSpPr>
          <p:cNvPr id="361" name="Google Shape;361;p3"/>
          <p:cNvSpPr txBox="1"/>
          <p:nvPr/>
        </p:nvSpPr>
        <p:spPr>
          <a:xfrm>
            <a:off x="6251339" y="2418652"/>
            <a:ext cx="2632060" cy="30546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Open Sans"/>
              <a:buNone/>
            </a:pPr>
            <a:r>
              <a:rPr b="0" i="0" lang="es-MX" sz="1050" u="none" cap="none" strike="noStrike">
                <a:solidFill>
                  <a:srgbClr val="000000"/>
                </a:solidFill>
                <a:latin typeface="Open Sans"/>
                <a:ea typeface="Open Sans"/>
                <a:cs typeface="Open Sans"/>
                <a:sym typeface="Open Sans"/>
              </a:rPr>
              <a:t>Operamos pensando en el </a:t>
            </a:r>
            <a:r>
              <a:rPr b="1" i="0" lang="es-MX" sz="1050" u="none" cap="none" strike="noStrike">
                <a:solidFill>
                  <a:srgbClr val="000000"/>
                </a:solidFill>
                <a:latin typeface="Open Sans"/>
                <a:ea typeface="Open Sans"/>
                <a:cs typeface="Open Sans"/>
                <a:sym typeface="Open Sans"/>
              </a:rPr>
              <a:t>cliente</a:t>
            </a:r>
            <a:r>
              <a:rPr b="0" i="0" lang="es-MX" sz="1050" u="none" cap="none" strike="noStrike">
                <a:solidFill>
                  <a:srgbClr val="000000"/>
                </a:solidFill>
                <a:latin typeface="Open Sans"/>
                <a:ea typeface="Open Sans"/>
                <a:cs typeface="Open Sans"/>
                <a:sym typeface="Open Sans"/>
              </a:rPr>
              <a:t> como </a:t>
            </a:r>
            <a:r>
              <a:rPr b="1" i="0" lang="es-MX" sz="1050" u="none" cap="none" strike="noStrike">
                <a:solidFill>
                  <a:srgbClr val="000000"/>
                </a:solidFill>
                <a:latin typeface="Open Sans"/>
                <a:ea typeface="Open Sans"/>
                <a:cs typeface="Open Sans"/>
                <a:sym typeface="Open Sans"/>
              </a:rPr>
              <a:t>punto final de impacto</a:t>
            </a:r>
            <a:r>
              <a:rPr b="0" i="0" lang="es-MX" sz="1050" u="none" cap="none" strike="noStrike">
                <a:solidFill>
                  <a:srgbClr val="000000"/>
                </a:solidFill>
                <a:latin typeface="Open Sans"/>
                <a:ea typeface="Open Sans"/>
                <a:cs typeface="Open Sans"/>
                <a:sym typeface="Open Sans"/>
              </a:rPr>
              <a:t>, con </a:t>
            </a:r>
            <a:r>
              <a:rPr b="1" i="0" lang="es-MX" sz="1050" u="none" cap="none" strike="noStrike">
                <a:solidFill>
                  <a:srgbClr val="000000"/>
                </a:solidFill>
                <a:latin typeface="Open Sans"/>
                <a:ea typeface="Open Sans"/>
                <a:cs typeface="Open Sans"/>
                <a:sym typeface="Open Sans"/>
              </a:rPr>
              <a:t>disciplina y excelencia continua</a:t>
            </a:r>
            <a:r>
              <a:rPr b="0" i="0" lang="es-MX" sz="1050" u="none" cap="none" strike="noStrike">
                <a:solidFill>
                  <a:srgbClr val="000000"/>
                </a:solidFill>
                <a:latin typeface="Open Sans"/>
                <a:ea typeface="Open Sans"/>
                <a:cs typeface="Open Sans"/>
                <a:sym typeface="Open Sans"/>
              </a:rPr>
              <a:t>.</a:t>
            </a:r>
            <a:endParaRPr b="0" i="0" sz="1050" u="none" cap="none" strike="noStrike">
              <a:solidFill>
                <a:srgbClr val="000000"/>
              </a:solidFill>
              <a:latin typeface="Open Sans"/>
              <a:ea typeface="Open Sans"/>
              <a:cs typeface="Open Sans"/>
              <a:sym typeface="Open Sans"/>
            </a:endParaRPr>
          </a:p>
          <a:p>
            <a:pPr indent="-177800" lvl="0" marL="177800" marR="0" rtl="0" algn="l">
              <a:lnSpc>
                <a:spcPct val="100000"/>
              </a:lnSpc>
              <a:spcBef>
                <a:spcPts val="1400"/>
              </a:spcBef>
              <a:spcAft>
                <a:spcPts val="0"/>
              </a:spcAft>
              <a:buClr>
                <a:srgbClr val="000000"/>
              </a:buClr>
              <a:buSzPts val="1050"/>
              <a:buFont typeface="Open Sans"/>
              <a:buChar char="•"/>
            </a:pPr>
            <a:r>
              <a:rPr b="1" i="0" lang="es-MX" sz="1050" u="none" cap="none" strike="noStrike">
                <a:solidFill>
                  <a:srgbClr val="000000"/>
                </a:solidFill>
                <a:latin typeface="Open Sans"/>
                <a:ea typeface="Open Sans"/>
                <a:cs typeface="Open Sans"/>
                <a:sym typeface="Open Sans"/>
              </a:rPr>
              <a:t>Mentalidad centrada en el cliente</a:t>
            </a:r>
            <a:r>
              <a:rPr b="0" i="0" lang="es-MX" sz="1050" u="none" cap="none" strike="noStrike">
                <a:solidFill>
                  <a:srgbClr val="000000"/>
                </a:solidFill>
                <a:latin typeface="Open Sans"/>
                <a:ea typeface="Open Sans"/>
                <a:cs typeface="Open Sans"/>
                <a:sym typeface="Open Sans"/>
              </a:rPr>
              <a:t>, incorporada en los procesos clave para </a:t>
            </a:r>
            <a:r>
              <a:rPr b="1" i="0" lang="es-MX" sz="1050" u="none" cap="none" strike="noStrike">
                <a:solidFill>
                  <a:srgbClr val="000000"/>
                </a:solidFill>
                <a:latin typeface="Open Sans"/>
                <a:ea typeface="Open Sans"/>
                <a:cs typeface="Open Sans"/>
                <a:sym typeface="Open Sans"/>
              </a:rPr>
              <a:t>avanzar hacia mayor relevancia</a:t>
            </a:r>
            <a:r>
              <a:rPr b="0" i="0" lang="es-MX" sz="1050" u="none" cap="none" strike="noStrike">
                <a:solidFill>
                  <a:srgbClr val="000000"/>
                </a:solidFill>
                <a:latin typeface="Open Sans"/>
                <a:ea typeface="Open Sans"/>
                <a:cs typeface="Open Sans"/>
                <a:sym typeface="Open Sans"/>
              </a:rPr>
              <a:t> (más tráfico y ticket promedio)</a:t>
            </a:r>
            <a:endParaRPr b="0" i="0" sz="1050" u="none" cap="none" strike="noStrike">
              <a:solidFill>
                <a:srgbClr val="000000"/>
              </a:solidFill>
              <a:latin typeface="Open Sans"/>
              <a:ea typeface="Open Sans"/>
              <a:cs typeface="Open Sans"/>
              <a:sym typeface="Open Sans"/>
            </a:endParaRPr>
          </a:p>
          <a:p>
            <a:pPr indent="-177800" lvl="0" marL="177800" marR="0" rtl="0" algn="l">
              <a:lnSpc>
                <a:spcPct val="100000"/>
              </a:lnSpc>
              <a:spcBef>
                <a:spcPts val="1400"/>
              </a:spcBef>
              <a:spcAft>
                <a:spcPts val="0"/>
              </a:spcAft>
              <a:buClr>
                <a:srgbClr val="000000"/>
              </a:buClr>
              <a:buSzPts val="1050"/>
              <a:buFont typeface="Open Sans"/>
              <a:buChar char="•"/>
            </a:pPr>
            <a:r>
              <a:rPr b="1" i="0" lang="es-MX" sz="1050" u="none" cap="none" strike="noStrike">
                <a:solidFill>
                  <a:srgbClr val="000000"/>
                </a:solidFill>
                <a:latin typeface="Open Sans"/>
                <a:ea typeface="Open Sans"/>
                <a:cs typeface="Open Sans"/>
                <a:sym typeface="Open Sans"/>
              </a:rPr>
              <a:t>Aprovechar</a:t>
            </a:r>
            <a:r>
              <a:rPr b="0" i="0" lang="es-MX" sz="1050" u="none" cap="none" strike="noStrike">
                <a:solidFill>
                  <a:srgbClr val="000000"/>
                </a:solidFill>
                <a:latin typeface="Open Sans"/>
                <a:ea typeface="Open Sans"/>
                <a:cs typeface="Open Sans"/>
                <a:sym typeface="Open Sans"/>
              </a:rPr>
              <a:t> datos compartidos y herramientas </a:t>
            </a:r>
            <a:r>
              <a:rPr b="1" i="0" lang="es-MX" sz="1050" u="none" cap="none" strike="noStrike">
                <a:solidFill>
                  <a:srgbClr val="000000"/>
                </a:solidFill>
                <a:latin typeface="Open Sans"/>
                <a:ea typeface="Open Sans"/>
                <a:cs typeface="Open Sans"/>
                <a:sym typeface="Open Sans"/>
              </a:rPr>
              <a:t>digitales</a:t>
            </a:r>
            <a:r>
              <a:rPr b="0" i="0" lang="es-MX" sz="1050" u="none" cap="none" strike="noStrike">
                <a:solidFill>
                  <a:srgbClr val="000000"/>
                </a:solidFill>
                <a:latin typeface="Open Sans"/>
                <a:ea typeface="Open Sans"/>
                <a:cs typeface="Open Sans"/>
                <a:sym typeface="Open Sans"/>
              </a:rPr>
              <a:t> para habilitar una mentalidad </a:t>
            </a:r>
            <a:r>
              <a:rPr b="1" i="0" lang="es-MX" sz="1050" u="none" cap="none" strike="noStrike">
                <a:solidFill>
                  <a:srgbClr val="000000"/>
                </a:solidFill>
                <a:latin typeface="Open Sans"/>
                <a:ea typeface="Open Sans"/>
                <a:cs typeface="Open Sans"/>
                <a:sym typeface="Open Sans"/>
              </a:rPr>
              <a:t>centrada en el cliente.</a:t>
            </a:r>
            <a:endParaRPr/>
          </a:p>
          <a:p>
            <a:pPr indent="-177800" lvl="0" marL="177800" marR="0" rtl="0" algn="l">
              <a:lnSpc>
                <a:spcPct val="100000"/>
              </a:lnSpc>
              <a:spcBef>
                <a:spcPts val="1400"/>
              </a:spcBef>
              <a:spcAft>
                <a:spcPts val="0"/>
              </a:spcAft>
              <a:buClr>
                <a:srgbClr val="000000"/>
              </a:buClr>
              <a:buSzPts val="1050"/>
              <a:buFont typeface="Open Sans"/>
              <a:buChar char="•"/>
            </a:pPr>
            <a:r>
              <a:rPr b="1" i="0" lang="es-MX" sz="1050" u="none" cap="none" strike="noStrike">
                <a:solidFill>
                  <a:srgbClr val="000000"/>
                </a:solidFill>
                <a:latin typeface="Open Sans"/>
                <a:ea typeface="Open Sans"/>
                <a:cs typeface="Open Sans"/>
                <a:sym typeface="Open Sans"/>
              </a:rPr>
              <a:t>Impulsar</a:t>
            </a:r>
            <a:r>
              <a:rPr b="0" i="0" lang="es-MX" sz="1050" u="none" cap="none" strike="noStrike">
                <a:solidFill>
                  <a:srgbClr val="000000"/>
                </a:solidFill>
                <a:latin typeface="Open Sans"/>
                <a:ea typeface="Open Sans"/>
                <a:cs typeface="Open Sans"/>
                <a:sym typeface="Open Sans"/>
              </a:rPr>
              <a:t> la </a:t>
            </a:r>
            <a:r>
              <a:rPr b="1" i="0" lang="es-MX" sz="1050" u="none" cap="none" strike="noStrike">
                <a:solidFill>
                  <a:srgbClr val="000000"/>
                </a:solidFill>
                <a:latin typeface="Open Sans"/>
                <a:ea typeface="Open Sans"/>
                <a:cs typeface="Open Sans"/>
                <a:sym typeface="Open Sans"/>
              </a:rPr>
              <a:t>mejora continua</a:t>
            </a:r>
            <a:r>
              <a:rPr b="0" i="0" lang="es-MX" sz="1050" u="none" cap="none" strike="noStrike">
                <a:solidFill>
                  <a:srgbClr val="000000"/>
                </a:solidFill>
                <a:latin typeface="Open Sans"/>
                <a:ea typeface="Open Sans"/>
                <a:cs typeface="Open Sans"/>
                <a:sym typeface="Open Sans"/>
              </a:rPr>
              <a:t> y la </a:t>
            </a:r>
            <a:r>
              <a:rPr b="1" i="0" lang="es-MX" sz="1050" u="none" cap="none" strike="noStrike">
                <a:solidFill>
                  <a:srgbClr val="000000"/>
                </a:solidFill>
                <a:latin typeface="Open Sans"/>
                <a:ea typeface="Open Sans"/>
                <a:cs typeface="Open Sans"/>
                <a:sym typeface="Open Sans"/>
              </a:rPr>
              <a:t>excelencia operativa</a:t>
            </a:r>
            <a:r>
              <a:rPr b="0" i="0" lang="es-MX" sz="1050" u="none" cap="none" strike="noStrike">
                <a:solidFill>
                  <a:srgbClr val="000000"/>
                </a:solidFill>
                <a:latin typeface="Open Sans"/>
                <a:ea typeface="Open Sans"/>
                <a:cs typeface="Open Sans"/>
                <a:sym typeface="Open Sans"/>
              </a:rPr>
              <a:t> en toda la organización.</a:t>
            </a:r>
            <a:endParaRPr/>
          </a:p>
        </p:txBody>
      </p:sp>
      <p:sp>
        <p:nvSpPr>
          <p:cNvPr id="362" name="Google Shape;362;p3"/>
          <p:cNvSpPr txBox="1"/>
          <p:nvPr/>
        </p:nvSpPr>
        <p:spPr>
          <a:xfrm>
            <a:off x="6158908" y="1571504"/>
            <a:ext cx="513110" cy="685777"/>
          </a:xfrm>
          <a:prstGeom prst="rect">
            <a:avLst/>
          </a:prstGeom>
          <a:no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CC0000"/>
              </a:buClr>
              <a:buSzPts val="3000"/>
              <a:buFont typeface="Open Sans"/>
              <a:buNone/>
            </a:pPr>
            <a:r>
              <a:rPr b="1" i="0" lang="es-MX" sz="3000" u="none" cap="none" strike="noStrike">
                <a:solidFill>
                  <a:srgbClr val="CC0000"/>
                </a:solidFill>
                <a:latin typeface="Open Sans"/>
                <a:ea typeface="Open Sans"/>
                <a:cs typeface="Open Sans"/>
                <a:sym typeface="Open Sans"/>
              </a:rPr>
              <a:t>03</a:t>
            </a:r>
            <a:endParaRPr/>
          </a:p>
        </p:txBody>
      </p:sp>
      <p:sp>
        <p:nvSpPr>
          <p:cNvPr id="363" name="Google Shape;363;p3"/>
          <p:cNvSpPr txBox="1"/>
          <p:nvPr/>
        </p:nvSpPr>
        <p:spPr>
          <a:xfrm>
            <a:off x="6619496" y="1628257"/>
            <a:ext cx="2479582" cy="572273"/>
          </a:xfrm>
          <a:prstGeom prst="rect">
            <a:avLst/>
          </a:prstGeom>
          <a:noFill/>
          <a:ln>
            <a:noFill/>
          </a:ln>
        </p:spPr>
        <p:txBody>
          <a:bodyPr anchorCtr="0" anchor="ctr" bIns="45700" lIns="91425" spcFirstLastPara="1" rIns="91425" wrap="square" tIns="45700">
            <a:spAutoFit/>
          </a:bodyPr>
          <a:lstStyle/>
          <a:p>
            <a:pPr indent="0" lvl="0" marL="0" marR="0" rtl="0" algn="l">
              <a:lnSpc>
                <a:spcPct val="115000"/>
              </a:lnSpc>
              <a:spcBef>
                <a:spcPts val="0"/>
              </a:spcBef>
              <a:spcAft>
                <a:spcPts val="0"/>
              </a:spcAft>
              <a:buClr>
                <a:srgbClr val="CC0000"/>
              </a:buClr>
              <a:buSzPts val="1400"/>
              <a:buFont typeface="Open Sans"/>
              <a:buNone/>
            </a:pPr>
            <a:r>
              <a:rPr b="1" i="0" lang="es-MX" sz="1400" u="none" cap="none" strike="noStrike">
                <a:solidFill>
                  <a:srgbClr val="CC0000"/>
                </a:solidFill>
                <a:latin typeface="Open Sans"/>
                <a:ea typeface="Open Sans"/>
                <a:cs typeface="Open Sans"/>
                <a:sym typeface="Open Sans"/>
              </a:rPr>
              <a:t>Operar con excelencia y orientado al cliente</a:t>
            </a:r>
            <a:endParaRPr b="0" i="0" sz="1400" u="none" cap="none" strike="noStrike">
              <a:solidFill>
                <a:srgbClr val="CC0000"/>
              </a:solidFill>
              <a:latin typeface="Open Sans"/>
              <a:ea typeface="Open Sans"/>
              <a:cs typeface="Open Sans"/>
              <a:sym typeface="Open Sans"/>
            </a:endParaRPr>
          </a:p>
        </p:txBody>
      </p:sp>
      <p:sp>
        <p:nvSpPr>
          <p:cNvPr id="364" name="Google Shape;364;p3"/>
          <p:cNvSpPr txBox="1"/>
          <p:nvPr/>
        </p:nvSpPr>
        <p:spPr>
          <a:xfrm>
            <a:off x="9179629" y="2418652"/>
            <a:ext cx="2850693" cy="37087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50"/>
              <a:buFont typeface="Open Sans"/>
              <a:buNone/>
            </a:pPr>
            <a:r>
              <a:rPr b="0" i="0" lang="es-MX" sz="1050" u="none" cap="none" strike="noStrike">
                <a:solidFill>
                  <a:srgbClr val="000000"/>
                </a:solidFill>
                <a:latin typeface="Open Sans"/>
                <a:ea typeface="Open Sans"/>
                <a:cs typeface="Open Sans"/>
                <a:sym typeface="Open Sans"/>
              </a:rPr>
              <a:t>Creamos una organización </a:t>
            </a:r>
            <a:r>
              <a:rPr b="1" i="0" lang="es-MX" sz="1050" u="none" cap="none" strike="noStrike">
                <a:solidFill>
                  <a:srgbClr val="000000"/>
                </a:solidFill>
                <a:latin typeface="Open Sans"/>
                <a:ea typeface="Open Sans"/>
                <a:cs typeface="Open Sans"/>
                <a:sym typeface="Open Sans"/>
              </a:rPr>
              <a:t>esbelta y ágil</a:t>
            </a:r>
            <a:r>
              <a:rPr b="0" i="0" lang="es-MX" sz="1050" u="none" cap="none" strike="noStrike">
                <a:solidFill>
                  <a:srgbClr val="000000"/>
                </a:solidFill>
                <a:latin typeface="Open Sans"/>
                <a:ea typeface="Open Sans"/>
                <a:cs typeface="Open Sans"/>
                <a:sym typeface="Open Sans"/>
              </a:rPr>
              <a:t> que reduce la </a:t>
            </a:r>
            <a:r>
              <a:rPr b="1" i="0" lang="es-MX" sz="1050" u="none" cap="none" strike="noStrike">
                <a:solidFill>
                  <a:srgbClr val="000000"/>
                </a:solidFill>
                <a:latin typeface="Open Sans"/>
                <a:ea typeface="Open Sans"/>
                <a:cs typeface="Open Sans"/>
                <a:sym typeface="Open Sans"/>
              </a:rPr>
              <a:t>fricción</a:t>
            </a:r>
            <a:r>
              <a:rPr b="0" i="0" lang="es-MX" sz="1050" u="none" cap="none" strike="noStrike">
                <a:solidFill>
                  <a:srgbClr val="000000"/>
                </a:solidFill>
                <a:latin typeface="Open Sans"/>
                <a:ea typeface="Open Sans"/>
                <a:cs typeface="Open Sans"/>
                <a:sym typeface="Open Sans"/>
              </a:rPr>
              <a:t> y maximiza el </a:t>
            </a:r>
            <a:r>
              <a:rPr b="1" i="0" lang="es-MX" sz="1050" u="none" cap="none" strike="noStrike">
                <a:solidFill>
                  <a:srgbClr val="000000"/>
                </a:solidFill>
                <a:latin typeface="Open Sans"/>
                <a:ea typeface="Open Sans"/>
                <a:cs typeface="Open Sans"/>
                <a:sym typeface="Open Sans"/>
              </a:rPr>
              <a:t>retorno del esfuerzo y la inversión</a:t>
            </a:r>
            <a:r>
              <a:rPr b="0" i="0" lang="es-MX" sz="1050" u="none" cap="none" strike="noStrike">
                <a:solidFill>
                  <a:srgbClr val="000000"/>
                </a:solidFill>
                <a:latin typeface="Open Sans"/>
                <a:ea typeface="Open Sans"/>
                <a:cs typeface="Open Sans"/>
                <a:sym typeface="Open Sans"/>
              </a:rPr>
              <a:t>, liberando </a:t>
            </a:r>
            <a:r>
              <a:rPr b="1" i="0" lang="es-MX" sz="1050" u="none" cap="none" strike="noStrike">
                <a:solidFill>
                  <a:srgbClr val="000000"/>
                </a:solidFill>
                <a:latin typeface="Open Sans"/>
                <a:ea typeface="Open Sans"/>
                <a:cs typeface="Open Sans"/>
                <a:sym typeface="Open Sans"/>
              </a:rPr>
              <a:t>capacidad</a:t>
            </a:r>
            <a:r>
              <a:rPr b="0" i="0" lang="es-MX" sz="1050" u="none" cap="none" strike="noStrike">
                <a:solidFill>
                  <a:srgbClr val="000000"/>
                </a:solidFill>
                <a:latin typeface="Open Sans"/>
                <a:ea typeface="Open Sans"/>
                <a:cs typeface="Open Sans"/>
                <a:sym typeface="Open Sans"/>
              </a:rPr>
              <a:t> para servir mejor a </a:t>
            </a:r>
            <a:r>
              <a:rPr b="1" i="0" lang="es-MX" sz="1050" u="none" cap="none" strike="noStrike">
                <a:solidFill>
                  <a:srgbClr val="000000"/>
                </a:solidFill>
                <a:latin typeface="Open Sans"/>
                <a:ea typeface="Open Sans"/>
                <a:cs typeface="Open Sans"/>
                <a:sym typeface="Open Sans"/>
              </a:rPr>
              <a:t>nuestras tiendas hoy</a:t>
            </a:r>
            <a:r>
              <a:rPr b="0" i="0" lang="es-MX" sz="1050" u="none" cap="none" strike="noStrike">
                <a:solidFill>
                  <a:srgbClr val="000000"/>
                </a:solidFill>
                <a:latin typeface="Open Sans"/>
                <a:ea typeface="Open Sans"/>
                <a:cs typeface="Open Sans"/>
                <a:sym typeface="Open Sans"/>
              </a:rPr>
              <a:t> y a </a:t>
            </a:r>
            <a:r>
              <a:rPr b="1" i="0" lang="es-MX" sz="1050" u="none" cap="none" strike="noStrike">
                <a:solidFill>
                  <a:srgbClr val="000000"/>
                </a:solidFill>
                <a:latin typeface="Open Sans"/>
                <a:ea typeface="Open Sans"/>
                <a:cs typeface="Open Sans"/>
                <a:sym typeface="Open Sans"/>
              </a:rPr>
              <a:t>nuestro ecosistema mañana</a:t>
            </a:r>
            <a:r>
              <a:rPr b="0" i="0" lang="es-MX" sz="1050" u="none" cap="none" strike="noStrike">
                <a:solidFill>
                  <a:srgbClr val="000000"/>
                </a:solidFill>
                <a:latin typeface="Open Sans"/>
                <a:ea typeface="Open Sans"/>
                <a:cs typeface="Open Sans"/>
                <a:sym typeface="Open Sans"/>
              </a:rPr>
              <a:t>.</a:t>
            </a:r>
            <a:endParaRPr/>
          </a:p>
          <a:p>
            <a:pPr indent="-171450" lvl="0" marL="171450" marR="0" rtl="0" algn="l">
              <a:lnSpc>
                <a:spcPct val="100000"/>
              </a:lnSpc>
              <a:spcBef>
                <a:spcPts val="600"/>
              </a:spcBef>
              <a:spcAft>
                <a:spcPts val="0"/>
              </a:spcAft>
              <a:buClr>
                <a:srgbClr val="000000"/>
              </a:buClr>
              <a:buSzPts val="1050"/>
              <a:buFont typeface="Arial"/>
              <a:buChar char="•"/>
            </a:pPr>
            <a:r>
              <a:rPr b="1" i="0" lang="es-MX" sz="1050" u="none" cap="none" strike="noStrike">
                <a:solidFill>
                  <a:srgbClr val="000000"/>
                </a:solidFill>
                <a:latin typeface="Open Sans"/>
                <a:ea typeface="Open Sans"/>
                <a:cs typeface="Open Sans"/>
                <a:sym typeface="Open Sans"/>
              </a:rPr>
              <a:t>Optimizar el </a:t>
            </a:r>
            <a:r>
              <a:rPr b="1" i="1" lang="es-MX" sz="1050" u="none" cap="none" strike="noStrike">
                <a:solidFill>
                  <a:srgbClr val="000000"/>
                </a:solidFill>
                <a:latin typeface="Open Sans"/>
                <a:ea typeface="Open Sans"/>
                <a:cs typeface="Open Sans"/>
                <a:sym typeface="Open Sans"/>
              </a:rPr>
              <a:t>overhead</a:t>
            </a:r>
            <a:r>
              <a:rPr b="1" i="0" lang="es-MX" sz="1050" u="none" cap="none" strike="noStrike">
                <a:solidFill>
                  <a:srgbClr val="000000"/>
                </a:solidFill>
                <a:latin typeface="Open Sans"/>
                <a:ea typeface="Open Sans"/>
                <a:cs typeface="Open Sans"/>
                <a:sym typeface="Open Sans"/>
              </a:rPr>
              <a:t> </a:t>
            </a:r>
            <a:r>
              <a:rPr b="0" i="0" lang="es-MX" sz="1050" u="none" cap="none" strike="noStrike">
                <a:solidFill>
                  <a:srgbClr val="000000"/>
                </a:solidFill>
                <a:latin typeface="Open Sans"/>
                <a:ea typeface="Open Sans"/>
                <a:cs typeface="Open Sans"/>
                <a:sym typeface="Open Sans"/>
              </a:rPr>
              <a:t>para </a:t>
            </a:r>
            <a:r>
              <a:rPr b="1" i="0" lang="es-MX" sz="1050" u="none" cap="none" strike="noStrike">
                <a:solidFill>
                  <a:srgbClr val="000000"/>
                </a:solidFill>
                <a:latin typeface="Open Sans"/>
                <a:ea typeface="Open Sans"/>
                <a:cs typeface="Open Sans"/>
                <a:sym typeface="Open Sans"/>
              </a:rPr>
              <a:t>liberar capacidad </a:t>
            </a:r>
            <a:r>
              <a:rPr b="0" i="0" lang="es-MX" sz="1050" u="none" cap="none" strike="noStrike">
                <a:solidFill>
                  <a:srgbClr val="000000"/>
                </a:solidFill>
                <a:latin typeface="Open Sans"/>
                <a:ea typeface="Open Sans"/>
                <a:cs typeface="Open Sans"/>
                <a:sym typeface="Open Sans"/>
              </a:rPr>
              <a:t>para el </a:t>
            </a:r>
            <a:r>
              <a:rPr b="1" i="0" lang="es-MX" sz="1050" u="none" cap="none" strike="noStrike">
                <a:solidFill>
                  <a:srgbClr val="000000"/>
                </a:solidFill>
                <a:latin typeface="Open Sans"/>
                <a:ea typeface="Open Sans"/>
                <a:cs typeface="Open Sans"/>
                <a:sym typeface="Open Sans"/>
              </a:rPr>
              <a:t>crecimiento</a:t>
            </a:r>
            <a:r>
              <a:rPr b="0" i="0" lang="es-MX" sz="1050" u="none" cap="none" strike="noStrike">
                <a:solidFill>
                  <a:srgbClr val="000000"/>
                </a:solidFill>
                <a:latin typeface="Open Sans"/>
                <a:ea typeface="Open Sans"/>
                <a:cs typeface="Open Sans"/>
                <a:sym typeface="Open Sans"/>
              </a:rPr>
              <a:t> y la </a:t>
            </a:r>
            <a:r>
              <a:rPr b="1" i="0" lang="es-MX" sz="1050" u="none" cap="none" strike="noStrike">
                <a:solidFill>
                  <a:srgbClr val="000000"/>
                </a:solidFill>
                <a:latin typeface="Open Sans"/>
                <a:ea typeface="Open Sans"/>
                <a:cs typeface="Open Sans"/>
                <a:sym typeface="Open Sans"/>
              </a:rPr>
              <a:t>innovación</a:t>
            </a:r>
            <a:r>
              <a:rPr b="0" i="0" lang="es-MX" sz="1050" u="none" cap="none" strike="noStrike">
                <a:solidFill>
                  <a:srgbClr val="000000"/>
                </a:solidFill>
                <a:latin typeface="Open Sans"/>
                <a:ea typeface="Open Sans"/>
                <a:cs typeface="Open Sans"/>
                <a:sym typeface="Open Sans"/>
              </a:rPr>
              <a:t>.</a:t>
            </a:r>
            <a:endParaRPr b="0" i="0" sz="1050" u="none" cap="none" strike="noStrike">
              <a:solidFill>
                <a:srgbClr val="000000"/>
              </a:solidFill>
              <a:latin typeface="Open Sans"/>
              <a:ea typeface="Open Sans"/>
              <a:cs typeface="Open Sans"/>
              <a:sym typeface="Open Sans"/>
            </a:endParaRPr>
          </a:p>
          <a:p>
            <a:pPr indent="-171450" lvl="0" marL="171450" marR="0" rtl="0" algn="l">
              <a:lnSpc>
                <a:spcPct val="100000"/>
              </a:lnSpc>
              <a:spcBef>
                <a:spcPts val="600"/>
              </a:spcBef>
              <a:spcAft>
                <a:spcPts val="0"/>
              </a:spcAft>
              <a:buClr>
                <a:srgbClr val="000000"/>
              </a:buClr>
              <a:buSzPts val="1050"/>
              <a:buFont typeface="Arial"/>
              <a:buChar char="•"/>
            </a:pPr>
            <a:r>
              <a:rPr b="1" i="0" lang="es-MX" sz="1050" u="none" cap="none" strike="noStrike">
                <a:solidFill>
                  <a:srgbClr val="000000"/>
                </a:solidFill>
                <a:latin typeface="Open Sans"/>
                <a:ea typeface="Open Sans"/>
                <a:cs typeface="Open Sans"/>
                <a:sym typeface="Open Sans"/>
              </a:rPr>
              <a:t>Reducir </a:t>
            </a:r>
            <a:r>
              <a:rPr b="1" i="1" lang="es-MX" sz="1050" u="none" cap="none" strike="noStrike">
                <a:solidFill>
                  <a:srgbClr val="000000"/>
                </a:solidFill>
                <a:latin typeface="Open Sans"/>
                <a:ea typeface="Open Sans"/>
                <a:cs typeface="Open Sans"/>
                <a:sym typeface="Open Sans"/>
              </a:rPr>
              <a:t>layers</a:t>
            </a:r>
            <a:r>
              <a:rPr b="1" i="0" lang="es-MX" sz="1050" u="none" cap="none" strike="noStrike">
                <a:solidFill>
                  <a:srgbClr val="000000"/>
                </a:solidFill>
                <a:latin typeface="Open Sans"/>
                <a:ea typeface="Open Sans"/>
                <a:cs typeface="Open Sans"/>
                <a:sym typeface="Open Sans"/>
              </a:rPr>
              <a:t> organizacionales </a:t>
            </a:r>
            <a:r>
              <a:rPr b="0" i="0" lang="es-MX" sz="1050" u="none" cap="none" strike="noStrike">
                <a:solidFill>
                  <a:srgbClr val="000000"/>
                </a:solidFill>
                <a:latin typeface="Open Sans"/>
                <a:ea typeface="Open Sans"/>
                <a:cs typeface="Open Sans"/>
                <a:sym typeface="Open Sans"/>
              </a:rPr>
              <a:t>y </a:t>
            </a:r>
            <a:r>
              <a:rPr b="1" i="0" lang="es-MX" sz="1050" u="none" cap="none" strike="noStrike">
                <a:solidFill>
                  <a:srgbClr val="000000"/>
                </a:solidFill>
                <a:latin typeface="Open Sans"/>
                <a:ea typeface="Open Sans"/>
                <a:cs typeface="Open Sans"/>
                <a:sym typeface="Open Sans"/>
              </a:rPr>
              <a:t>eliminar duplicidades </a:t>
            </a:r>
            <a:r>
              <a:rPr b="0" i="0" lang="es-MX" sz="1050" u="none" cap="none" strike="noStrike">
                <a:solidFill>
                  <a:srgbClr val="000000"/>
                </a:solidFill>
                <a:latin typeface="Open Sans"/>
                <a:ea typeface="Open Sans"/>
                <a:cs typeface="Open Sans"/>
                <a:sym typeface="Open Sans"/>
              </a:rPr>
              <a:t>para capitalizar eficiencias.</a:t>
            </a:r>
            <a:endParaRPr/>
          </a:p>
          <a:p>
            <a:pPr indent="-171450" lvl="0" marL="171450" marR="0" rtl="0" algn="l">
              <a:lnSpc>
                <a:spcPct val="100000"/>
              </a:lnSpc>
              <a:spcBef>
                <a:spcPts val="600"/>
              </a:spcBef>
              <a:spcAft>
                <a:spcPts val="0"/>
              </a:spcAft>
              <a:buClr>
                <a:srgbClr val="000000"/>
              </a:buClr>
              <a:buSzPts val="1050"/>
              <a:buFont typeface="Arial"/>
              <a:buChar char="•"/>
            </a:pPr>
            <a:r>
              <a:rPr b="1" i="0" lang="es-MX" sz="1050" u="none" cap="none" strike="noStrike">
                <a:solidFill>
                  <a:srgbClr val="000000"/>
                </a:solidFill>
                <a:latin typeface="Open Sans"/>
                <a:ea typeface="Open Sans"/>
                <a:cs typeface="Open Sans"/>
                <a:sym typeface="Open Sans"/>
              </a:rPr>
              <a:t>Aclarar roles </a:t>
            </a:r>
            <a:r>
              <a:rPr b="0" i="0" lang="es-MX" sz="1050" u="none" cap="none" strike="noStrike">
                <a:solidFill>
                  <a:srgbClr val="000000"/>
                </a:solidFill>
                <a:latin typeface="Open Sans"/>
                <a:ea typeface="Open Sans"/>
                <a:cs typeface="Open Sans"/>
                <a:sym typeface="Open Sans"/>
              </a:rPr>
              <a:t>y </a:t>
            </a:r>
            <a:r>
              <a:rPr b="1" i="0" lang="es-MX" sz="1050" u="none" cap="none" strike="noStrike">
                <a:solidFill>
                  <a:srgbClr val="000000"/>
                </a:solidFill>
                <a:latin typeface="Open Sans"/>
                <a:ea typeface="Open Sans"/>
                <a:cs typeface="Open Sans"/>
                <a:sym typeface="Open Sans"/>
              </a:rPr>
              <a:t>simplificar estructuras</a:t>
            </a:r>
            <a:r>
              <a:rPr b="0" i="0" lang="es-MX" sz="1050" u="none" cap="none" strike="noStrike">
                <a:solidFill>
                  <a:srgbClr val="000000"/>
                </a:solidFill>
                <a:latin typeface="Open Sans"/>
                <a:ea typeface="Open Sans"/>
                <a:cs typeface="Open Sans"/>
                <a:sym typeface="Open Sans"/>
              </a:rPr>
              <a:t> para acelerar la toma de decisiones y fomentar el </a:t>
            </a:r>
            <a:r>
              <a:rPr b="0" i="1" lang="es-MX" sz="1050" u="none" cap="none" strike="noStrike">
                <a:solidFill>
                  <a:srgbClr val="000000"/>
                </a:solidFill>
                <a:latin typeface="Open Sans"/>
                <a:ea typeface="Open Sans"/>
                <a:cs typeface="Open Sans"/>
                <a:sym typeface="Open Sans"/>
              </a:rPr>
              <a:t>accountability</a:t>
            </a:r>
            <a:r>
              <a:rPr b="0" i="0" lang="es-MX" sz="1050" u="none" cap="none" strike="noStrike">
                <a:solidFill>
                  <a:srgbClr val="000000"/>
                </a:solidFill>
                <a:latin typeface="Open Sans"/>
                <a:ea typeface="Open Sans"/>
                <a:cs typeface="Open Sans"/>
                <a:sym typeface="Open Sans"/>
              </a:rPr>
              <a:t>.</a:t>
            </a:r>
            <a:endParaRPr/>
          </a:p>
          <a:p>
            <a:pPr indent="-171450" lvl="0" marL="171450" marR="0" rtl="0" algn="l">
              <a:lnSpc>
                <a:spcPct val="100000"/>
              </a:lnSpc>
              <a:spcBef>
                <a:spcPts val="600"/>
              </a:spcBef>
              <a:spcAft>
                <a:spcPts val="0"/>
              </a:spcAft>
              <a:buClr>
                <a:srgbClr val="000000"/>
              </a:buClr>
              <a:buSzPts val="1050"/>
              <a:buFont typeface="Arial"/>
              <a:buChar char="•"/>
            </a:pPr>
            <a:r>
              <a:rPr b="1" i="0" lang="es-MX" sz="1050" u="none" cap="none" strike="noStrike">
                <a:solidFill>
                  <a:srgbClr val="000000"/>
                </a:solidFill>
                <a:latin typeface="Open Sans"/>
                <a:ea typeface="Open Sans"/>
                <a:cs typeface="Open Sans"/>
                <a:sym typeface="Open Sans"/>
              </a:rPr>
              <a:t>Identificar</a:t>
            </a:r>
            <a:r>
              <a:rPr b="0" i="0" lang="es-MX" sz="1050" u="none" cap="none" strike="noStrike">
                <a:solidFill>
                  <a:srgbClr val="000000"/>
                </a:solidFill>
                <a:latin typeface="Open Sans"/>
                <a:ea typeface="Open Sans"/>
                <a:cs typeface="Open Sans"/>
                <a:sym typeface="Open Sans"/>
              </a:rPr>
              <a:t> procesos </a:t>
            </a:r>
            <a:r>
              <a:rPr b="1" i="0" lang="es-MX" sz="1050" u="none" cap="none" strike="noStrike">
                <a:solidFill>
                  <a:srgbClr val="000000"/>
                </a:solidFill>
                <a:latin typeface="Open Sans"/>
                <a:ea typeface="Open Sans"/>
                <a:cs typeface="Open Sans"/>
                <a:sym typeface="Open Sans"/>
              </a:rPr>
              <a:t>escalables</a:t>
            </a:r>
            <a:r>
              <a:rPr b="0" i="0" lang="es-MX" sz="1050" u="none" cap="none" strike="noStrike">
                <a:solidFill>
                  <a:srgbClr val="000000"/>
                </a:solidFill>
                <a:latin typeface="Open Sans"/>
                <a:ea typeface="Open Sans"/>
                <a:cs typeface="Open Sans"/>
                <a:sym typeface="Open Sans"/>
              </a:rPr>
              <a:t> y </a:t>
            </a:r>
            <a:r>
              <a:rPr b="1" i="0" lang="es-MX" sz="1050" u="none" cap="none" strike="noStrike">
                <a:solidFill>
                  <a:srgbClr val="000000"/>
                </a:solidFill>
                <a:latin typeface="Open Sans"/>
                <a:ea typeface="Open Sans"/>
                <a:cs typeface="Open Sans"/>
                <a:sym typeface="Open Sans"/>
              </a:rPr>
              <a:t>agilizar</a:t>
            </a:r>
            <a:r>
              <a:rPr b="0" i="0" lang="es-MX" sz="1050" u="none" cap="none" strike="noStrike">
                <a:solidFill>
                  <a:srgbClr val="000000"/>
                </a:solidFill>
                <a:latin typeface="Open Sans"/>
                <a:ea typeface="Open Sans"/>
                <a:cs typeface="Open Sans"/>
                <a:sym typeface="Open Sans"/>
              </a:rPr>
              <a:t> la </a:t>
            </a:r>
            <a:r>
              <a:rPr b="1" i="0" lang="es-MX" sz="1050" u="none" cap="none" strike="noStrike">
                <a:solidFill>
                  <a:srgbClr val="000000"/>
                </a:solidFill>
                <a:latin typeface="Open Sans"/>
                <a:ea typeface="Open Sans"/>
                <a:cs typeface="Open Sans"/>
                <a:sym typeface="Open Sans"/>
              </a:rPr>
              <a:t>gobernanza</a:t>
            </a:r>
            <a:r>
              <a:rPr b="0" i="0" lang="es-MX" sz="1050" u="none" cap="none" strike="noStrike">
                <a:solidFill>
                  <a:srgbClr val="000000"/>
                </a:solidFill>
                <a:latin typeface="Open Sans"/>
                <a:ea typeface="Open Sans"/>
                <a:cs typeface="Open Sans"/>
                <a:sym typeface="Open Sans"/>
              </a:rPr>
              <a:t>.</a:t>
            </a:r>
            <a:endParaRPr/>
          </a:p>
          <a:p>
            <a:pPr indent="-171450" lvl="0" marL="171450" marR="0" rtl="0" algn="l">
              <a:lnSpc>
                <a:spcPct val="100000"/>
              </a:lnSpc>
              <a:spcBef>
                <a:spcPts val="600"/>
              </a:spcBef>
              <a:spcAft>
                <a:spcPts val="0"/>
              </a:spcAft>
              <a:buClr>
                <a:srgbClr val="000000"/>
              </a:buClr>
              <a:buSzPts val="1050"/>
              <a:buFont typeface="Arial"/>
              <a:buChar char="•"/>
            </a:pPr>
            <a:r>
              <a:rPr b="1" i="0" lang="es-MX" sz="1050" u="none" cap="none" strike="noStrike">
                <a:solidFill>
                  <a:srgbClr val="000000"/>
                </a:solidFill>
                <a:latin typeface="Open Sans"/>
                <a:ea typeface="Open Sans"/>
                <a:cs typeface="Open Sans"/>
                <a:sym typeface="Open Sans"/>
              </a:rPr>
              <a:t>Eliminar y/o integrar estructuras paralelas </a:t>
            </a:r>
            <a:r>
              <a:rPr b="0" i="0" lang="es-MX" sz="1050" u="none" cap="none" strike="noStrike">
                <a:solidFill>
                  <a:srgbClr val="000000"/>
                </a:solidFill>
                <a:latin typeface="Open Sans"/>
                <a:ea typeface="Open Sans"/>
                <a:cs typeface="Open Sans"/>
                <a:sym typeface="Open Sans"/>
              </a:rPr>
              <a:t>dedicadas a proyectos y transformaciones evitando duplicidad.</a:t>
            </a:r>
            <a:endParaRPr/>
          </a:p>
        </p:txBody>
      </p:sp>
      <p:sp>
        <p:nvSpPr>
          <p:cNvPr id="365" name="Google Shape;365;p3"/>
          <p:cNvSpPr txBox="1"/>
          <p:nvPr/>
        </p:nvSpPr>
        <p:spPr>
          <a:xfrm>
            <a:off x="9108332" y="1571504"/>
            <a:ext cx="513110" cy="685777"/>
          </a:xfrm>
          <a:prstGeom prst="rect">
            <a:avLst/>
          </a:prstGeom>
          <a:no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CC0000"/>
              </a:buClr>
              <a:buSzPts val="3000"/>
              <a:buFont typeface="Open Sans"/>
              <a:buNone/>
            </a:pPr>
            <a:r>
              <a:rPr b="1" i="0" lang="es-MX" sz="3000" u="none" cap="none" strike="noStrike">
                <a:solidFill>
                  <a:srgbClr val="CC0000"/>
                </a:solidFill>
                <a:latin typeface="Open Sans"/>
                <a:ea typeface="Open Sans"/>
                <a:cs typeface="Open Sans"/>
                <a:sym typeface="Open Sans"/>
              </a:rPr>
              <a:t>04</a:t>
            </a:r>
            <a:endParaRPr/>
          </a:p>
        </p:txBody>
      </p:sp>
      <p:sp>
        <p:nvSpPr>
          <p:cNvPr id="366" name="Google Shape;366;p3"/>
          <p:cNvSpPr txBox="1"/>
          <p:nvPr/>
        </p:nvSpPr>
        <p:spPr>
          <a:xfrm>
            <a:off x="9568920" y="1628256"/>
            <a:ext cx="2334609" cy="572273"/>
          </a:xfrm>
          <a:prstGeom prst="rect">
            <a:avLst/>
          </a:prstGeom>
          <a:noFill/>
          <a:ln>
            <a:noFill/>
          </a:ln>
        </p:spPr>
        <p:txBody>
          <a:bodyPr anchorCtr="0" anchor="ctr" bIns="45700" lIns="91425" spcFirstLastPara="1" rIns="91425" wrap="square" tIns="45700">
            <a:spAutoFit/>
          </a:bodyPr>
          <a:lstStyle/>
          <a:p>
            <a:pPr indent="0" lvl="0" marL="0" marR="0" rtl="0" algn="l">
              <a:lnSpc>
                <a:spcPct val="115000"/>
              </a:lnSpc>
              <a:spcBef>
                <a:spcPts val="0"/>
              </a:spcBef>
              <a:spcAft>
                <a:spcPts val="0"/>
              </a:spcAft>
              <a:buClr>
                <a:srgbClr val="CC0000"/>
              </a:buClr>
              <a:buSzPts val="1400"/>
              <a:buFont typeface="Open Sans"/>
              <a:buNone/>
            </a:pPr>
            <a:r>
              <a:rPr b="1" i="0" lang="es-MX" sz="1400" u="none" cap="none" strike="noStrike">
                <a:solidFill>
                  <a:srgbClr val="CC0000"/>
                </a:solidFill>
                <a:latin typeface="Open Sans"/>
                <a:ea typeface="Open Sans"/>
                <a:cs typeface="Open Sans"/>
                <a:sym typeface="Open Sans"/>
              </a:rPr>
              <a:t>Simplificar para un crecimiento rentable</a:t>
            </a:r>
            <a:endParaRPr b="0" i="0" sz="1400" u="none" cap="none" strike="noStrike">
              <a:solidFill>
                <a:srgbClr val="CC0000"/>
              </a:solidFill>
              <a:latin typeface="Open Sans"/>
              <a:ea typeface="Open Sans"/>
              <a:cs typeface="Open Sans"/>
              <a:sym typeface="Open Sans"/>
            </a:endParaRPr>
          </a:p>
        </p:txBody>
      </p:sp>
      <p:cxnSp>
        <p:nvCxnSpPr>
          <p:cNvPr id="367" name="Google Shape;367;p3"/>
          <p:cNvCxnSpPr/>
          <p:nvPr/>
        </p:nvCxnSpPr>
        <p:spPr>
          <a:xfrm>
            <a:off x="3238528" y="1601376"/>
            <a:ext cx="0" cy="703665"/>
          </a:xfrm>
          <a:prstGeom prst="straightConnector1">
            <a:avLst/>
          </a:prstGeom>
          <a:solidFill>
            <a:schemeClr val="accent1"/>
          </a:solidFill>
          <a:ln cap="flat" cmpd="sng" w="19050">
            <a:solidFill>
              <a:srgbClr val="CC0000"/>
            </a:solidFill>
            <a:prstDash val="solid"/>
            <a:round/>
            <a:headEnd len="sm" w="sm" type="none"/>
            <a:tailEnd len="sm" w="sm" type="none"/>
          </a:ln>
        </p:spPr>
      </p:cxnSp>
      <p:cxnSp>
        <p:nvCxnSpPr>
          <p:cNvPr id="368" name="Google Shape;368;p3"/>
          <p:cNvCxnSpPr/>
          <p:nvPr/>
        </p:nvCxnSpPr>
        <p:spPr>
          <a:xfrm>
            <a:off x="6096000" y="1601376"/>
            <a:ext cx="0" cy="703665"/>
          </a:xfrm>
          <a:prstGeom prst="straightConnector1">
            <a:avLst/>
          </a:prstGeom>
          <a:solidFill>
            <a:schemeClr val="accent1"/>
          </a:solidFill>
          <a:ln cap="flat" cmpd="sng" w="19050">
            <a:solidFill>
              <a:srgbClr val="CC0000"/>
            </a:solidFill>
            <a:prstDash val="solid"/>
            <a:round/>
            <a:headEnd len="sm" w="sm" type="none"/>
            <a:tailEnd len="sm" w="sm" type="none"/>
          </a:ln>
        </p:spPr>
      </p:cxnSp>
      <p:cxnSp>
        <p:nvCxnSpPr>
          <p:cNvPr id="369" name="Google Shape;369;p3"/>
          <p:cNvCxnSpPr/>
          <p:nvPr/>
        </p:nvCxnSpPr>
        <p:spPr>
          <a:xfrm>
            <a:off x="9010650" y="1601376"/>
            <a:ext cx="0" cy="703665"/>
          </a:xfrm>
          <a:prstGeom prst="straightConnector1">
            <a:avLst/>
          </a:prstGeom>
          <a:solidFill>
            <a:schemeClr val="accent1"/>
          </a:solidFill>
          <a:ln cap="flat" cmpd="sng" w="19050">
            <a:solidFill>
              <a:srgbClr val="CC0000"/>
            </a:solidFill>
            <a:prstDash val="solid"/>
            <a:round/>
            <a:headEnd len="sm" w="sm" type="none"/>
            <a:tailEnd len="sm" w="sm" type="none"/>
          </a:ln>
        </p:spPr>
      </p:cxnSp>
      <p:cxnSp>
        <p:nvCxnSpPr>
          <p:cNvPr id="370" name="Google Shape;370;p3"/>
          <p:cNvCxnSpPr/>
          <p:nvPr/>
        </p:nvCxnSpPr>
        <p:spPr>
          <a:xfrm>
            <a:off x="3238528" y="2503076"/>
            <a:ext cx="0" cy="3713574"/>
          </a:xfrm>
          <a:prstGeom prst="straightConnector1">
            <a:avLst/>
          </a:prstGeom>
          <a:solidFill>
            <a:schemeClr val="accent1"/>
          </a:solidFill>
          <a:ln cap="flat" cmpd="sng" w="19050">
            <a:solidFill>
              <a:srgbClr val="D6D6D6">
                <a:alpha val="50196"/>
              </a:srgbClr>
            </a:solidFill>
            <a:prstDash val="solid"/>
            <a:round/>
            <a:headEnd len="sm" w="sm" type="none"/>
            <a:tailEnd len="sm" w="sm" type="none"/>
          </a:ln>
        </p:spPr>
      </p:cxnSp>
      <p:cxnSp>
        <p:nvCxnSpPr>
          <p:cNvPr id="371" name="Google Shape;371;p3"/>
          <p:cNvCxnSpPr/>
          <p:nvPr/>
        </p:nvCxnSpPr>
        <p:spPr>
          <a:xfrm>
            <a:off x="6096000" y="2503076"/>
            <a:ext cx="0" cy="3713574"/>
          </a:xfrm>
          <a:prstGeom prst="straightConnector1">
            <a:avLst/>
          </a:prstGeom>
          <a:solidFill>
            <a:schemeClr val="accent1"/>
          </a:solidFill>
          <a:ln cap="flat" cmpd="sng" w="19050">
            <a:solidFill>
              <a:srgbClr val="D6D6D6">
                <a:alpha val="50196"/>
              </a:srgbClr>
            </a:solidFill>
            <a:prstDash val="solid"/>
            <a:round/>
            <a:headEnd len="sm" w="sm" type="none"/>
            <a:tailEnd len="sm" w="sm" type="none"/>
          </a:ln>
        </p:spPr>
      </p:cxnSp>
      <p:cxnSp>
        <p:nvCxnSpPr>
          <p:cNvPr id="372" name="Google Shape;372;p3"/>
          <p:cNvCxnSpPr/>
          <p:nvPr/>
        </p:nvCxnSpPr>
        <p:spPr>
          <a:xfrm>
            <a:off x="9010650" y="2503076"/>
            <a:ext cx="0" cy="3713574"/>
          </a:xfrm>
          <a:prstGeom prst="straightConnector1">
            <a:avLst/>
          </a:prstGeom>
          <a:solidFill>
            <a:schemeClr val="accent1"/>
          </a:solidFill>
          <a:ln cap="flat" cmpd="sng" w="19050">
            <a:solidFill>
              <a:srgbClr val="D6D6D6">
                <a:alpha val="50196"/>
              </a:srgbClr>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lang="es-MX"/>
              <a:t>Metodología </a:t>
            </a:r>
            <a:endParaRPr/>
          </a:p>
        </p:txBody>
      </p:sp>
      <p:sp>
        <p:nvSpPr>
          <p:cNvPr id="378" name="Google Shape;378;p5"/>
          <p:cNvSpPr/>
          <p:nvPr/>
        </p:nvSpPr>
        <p:spPr>
          <a:xfrm>
            <a:off x="6285574" y="1946829"/>
            <a:ext cx="5462727" cy="4290219"/>
          </a:xfrm>
          <a:prstGeom prst="rect">
            <a:avLst/>
          </a:prstGeom>
          <a:noFill/>
          <a:ln cap="rnd"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Open Sans"/>
              <a:buNone/>
            </a:pPr>
            <a:r>
              <a:t/>
            </a:r>
            <a:endParaRPr b="0" i="0" sz="1100" u="none" cap="none" strike="noStrike">
              <a:solidFill>
                <a:srgbClr val="FFFFFF"/>
              </a:solidFill>
              <a:latin typeface="Arial"/>
              <a:ea typeface="Arial"/>
              <a:cs typeface="Arial"/>
              <a:sym typeface="Arial"/>
            </a:endParaRPr>
          </a:p>
        </p:txBody>
      </p:sp>
      <p:sp>
        <p:nvSpPr>
          <p:cNvPr id="379" name="Google Shape;379;p5"/>
          <p:cNvSpPr/>
          <p:nvPr/>
        </p:nvSpPr>
        <p:spPr>
          <a:xfrm>
            <a:off x="6699460" y="2257877"/>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380" name="Google Shape;380;p5"/>
          <p:cNvSpPr/>
          <p:nvPr/>
        </p:nvSpPr>
        <p:spPr>
          <a:xfrm>
            <a:off x="7951580" y="2321414"/>
            <a:ext cx="3654865" cy="468219"/>
          </a:xfrm>
          <a:prstGeom prst="rect">
            <a:avLst/>
          </a:prstGeom>
          <a:solidFill>
            <a:srgbClr val="FFFFFF"/>
          </a:solidFill>
          <a:ln>
            <a:noFill/>
          </a:ln>
        </p:spPr>
        <p:txBody>
          <a:bodyPr anchorCtr="0" anchor="ctr" bIns="41125" lIns="82275" spcFirstLastPara="1" rIns="82275" wrap="square" tIns="41125">
            <a:noAutofit/>
          </a:bodyPr>
          <a:lstStyle/>
          <a:p>
            <a:pPr indent="-69850" lvl="0" marL="0" marR="0" rtl="0" algn="l">
              <a:lnSpc>
                <a:spcPct val="100000"/>
              </a:lnSpc>
              <a:spcBef>
                <a:spcPts val="0"/>
              </a:spcBef>
              <a:spcAft>
                <a:spcPts val="0"/>
              </a:spcAft>
              <a:buClr>
                <a:srgbClr val="575757"/>
              </a:buClr>
              <a:buSzPts val="1100"/>
              <a:buFont typeface="Trebuchet MS"/>
              <a:buChar char="​"/>
            </a:pPr>
            <a:r>
              <a:rPr b="0" i="0" lang="es-MX" sz="1100" u="none" cap="none" strike="noStrike">
                <a:solidFill>
                  <a:srgbClr val="575757"/>
                </a:solidFill>
                <a:latin typeface="Arial"/>
                <a:ea typeface="Arial"/>
                <a:cs typeface="Arial"/>
                <a:sym typeface="Arial"/>
              </a:rPr>
              <a:t>Rol responsable de ejecutar la tarea responsable de la acción o implementación; sólo una persona debe ser asignada como "Responsable".</a:t>
            </a:r>
            <a:endParaRPr b="0" i="0" sz="1100" u="none" cap="none" strike="noStrike">
              <a:solidFill>
                <a:srgbClr val="575757"/>
              </a:solidFill>
              <a:latin typeface="Arial"/>
              <a:ea typeface="Arial"/>
              <a:cs typeface="Arial"/>
              <a:sym typeface="Arial"/>
            </a:endParaRPr>
          </a:p>
        </p:txBody>
      </p:sp>
      <p:sp>
        <p:nvSpPr>
          <p:cNvPr id="381" name="Google Shape;381;p5"/>
          <p:cNvSpPr/>
          <p:nvPr/>
        </p:nvSpPr>
        <p:spPr>
          <a:xfrm>
            <a:off x="6699460" y="3036240"/>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382" name="Google Shape;382;p5"/>
          <p:cNvSpPr/>
          <p:nvPr/>
        </p:nvSpPr>
        <p:spPr>
          <a:xfrm>
            <a:off x="7951580" y="3099777"/>
            <a:ext cx="3654865" cy="468219"/>
          </a:xfrm>
          <a:prstGeom prst="rect">
            <a:avLst/>
          </a:prstGeom>
          <a:solidFill>
            <a:srgbClr val="FFFFFF"/>
          </a:solidFill>
          <a:ln>
            <a:noFill/>
          </a:ln>
        </p:spPr>
        <p:txBody>
          <a:bodyPr anchorCtr="0" anchor="ctr" bIns="41125" lIns="82275" spcFirstLastPara="1" rIns="82275" wrap="square" tIns="41125">
            <a:noAutofit/>
          </a:bodyPr>
          <a:lstStyle/>
          <a:p>
            <a:pPr indent="-69850" lvl="0" marL="0" marR="0" rtl="0" algn="l">
              <a:lnSpc>
                <a:spcPct val="100000"/>
              </a:lnSpc>
              <a:spcBef>
                <a:spcPts val="0"/>
              </a:spcBef>
              <a:spcAft>
                <a:spcPts val="0"/>
              </a:spcAft>
              <a:buClr>
                <a:srgbClr val="575757"/>
              </a:buClr>
              <a:buSzPts val="1100"/>
              <a:buFont typeface="Trebuchet MS"/>
              <a:buChar char="​"/>
            </a:pPr>
            <a:r>
              <a:rPr b="0" i="0" lang="es-MX" sz="1100" u="none" cap="none" strike="noStrike">
                <a:solidFill>
                  <a:srgbClr val="575757"/>
                </a:solidFill>
                <a:latin typeface="Arial"/>
                <a:ea typeface="Arial"/>
                <a:cs typeface="Arial"/>
                <a:sym typeface="Arial"/>
              </a:rPr>
              <a:t>Persona / equipo responsable en última instancia; Incluye autoridad de aprobación y poder de veto; Sólo una persona debe ser asignada como “Accountable”.</a:t>
            </a:r>
            <a:endParaRPr b="0" i="0" sz="1100" u="none" cap="none" strike="noStrike">
              <a:solidFill>
                <a:srgbClr val="575757"/>
              </a:solidFill>
              <a:latin typeface="Arial"/>
              <a:ea typeface="Arial"/>
              <a:cs typeface="Arial"/>
              <a:sym typeface="Arial"/>
            </a:endParaRPr>
          </a:p>
        </p:txBody>
      </p:sp>
      <p:sp>
        <p:nvSpPr>
          <p:cNvPr id="383" name="Google Shape;383;p5"/>
          <p:cNvSpPr/>
          <p:nvPr/>
        </p:nvSpPr>
        <p:spPr>
          <a:xfrm>
            <a:off x="6699460" y="3814603"/>
            <a:ext cx="1110263" cy="595292"/>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384" name="Google Shape;384;p5"/>
          <p:cNvSpPr/>
          <p:nvPr/>
        </p:nvSpPr>
        <p:spPr>
          <a:xfrm>
            <a:off x="7951580" y="3878139"/>
            <a:ext cx="3654865" cy="468219"/>
          </a:xfrm>
          <a:prstGeom prst="rect">
            <a:avLst/>
          </a:prstGeom>
          <a:solidFill>
            <a:srgbClr val="FFFFFF"/>
          </a:solidFill>
          <a:ln>
            <a:noFill/>
          </a:ln>
        </p:spPr>
        <p:txBody>
          <a:bodyPr anchorCtr="0" anchor="ctr" bIns="41125" lIns="82275" spcFirstLastPara="1" rIns="82275" wrap="square" tIns="41125">
            <a:noAutofit/>
          </a:bodyPr>
          <a:lstStyle/>
          <a:p>
            <a:pPr indent="-69850" lvl="0" marL="0" marR="0" rtl="0" algn="l">
              <a:lnSpc>
                <a:spcPct val="100000"/>
              </a:lnSpc>
              <a:spcBef>
                <a:spcPts val="0"/>
              </a:spcBef>
              <a:spcAft>
                <a:spcPts val="0"/>
              </a:spcAft>
              <a:buClr>
                <a:srgbClr val="575757"/>
              </a:buClr>
              <a:buSzPts val="1100"/>
              <a:buFont typeface="Trebuchet MS"/>
              <a:buChar char="​"/>
            </a:pPr>
            <a:r>
              <a:rPr b="0" i="0" lang="es-MX" sz="1100" u="none" cap="none" strike="noStrike">
                <a:solidFill>
                  <a:srgbClr val="575757"/>
                </a:solidFill>
                <a:latin typeface="Arial"/>
                <a:ea typeface="Arial"/>
                <a:cs typeface="Arial"/>
                <a:sym typeface="Arial"/>
              </a:rPr>
              <a:t>Persona / equipo que prestará ayuda a los miembros responsables cuando sea necesario.</a:t>
            </a:r>
            <a:endParaRPr b="0" i="0" sz="1100" u="none" cap="none" strike="noStrike">
              <a:solidFill>
                <a:srgbClr val="575757"/>
              </a:solidFill>
              <a:latin typeface="Arial"/>
              <a:ea typeface="Arial"/>
              <a:cs typeface="Arial"/>
              <a:sym typeface="Arial"/>
            </a:endParaRPr>
          </a:p>
        </p:txBody>
      </p:sp>
      <p:sp>
        <p:nvSpPr>
          <p:cNvPr id="385" name="Google Shape;385;p5"/>
          <p:cNvSpPr/>
          <p:nvPr/>
        </p:nvSpPr>
        <p:spPr>
          <a:xfrm>
            <a:off x="6699460" y="5371330"/>
            <a:ext cx="1110263" cy="595292"/>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386" name="Google Shape;386;p5"/>
          <p:cNvSpPr/>
          <p:nvPr/>
        </p:nvSpPr>
        <p:spPr>
          <a:xfrm>
            <a:off x="7951580" y="5434866"/>
            <a:ext cx="3654865" cy="468219"/>
          </a:xfrm>
          <a:prstGeom prst="rect">
            <a:avLst/>
          </a:prstGeom>
          <a:solidFill>
            <a:srgbClr val="FFFFFF"/>
          </a:solidFill>
          <a:ln>
            <a:noFill/>
          </a:ln>
        </p:spPr>
        <p:txBody>
          <a:bodyPr anchorCtr="0" anchor="ctr" bIns="41125" lIns="82275" spcFirstLastPara="1" rIns="82275" wrap="square" tIns="41125">
            <a:noAutofit/>
          </a:bodyPr>
          <a:lstStyle/>
          <a:p>
            <a:pPr indent="-69850" lvl="0" marL="0" marR="0" rtl="0" algn="l">
              <a:lnSpc>
                <a:spcPct val="100000"/>
              </a:lnSpc>
              <a:spcBef>
                <a:spcPts val="0"/>
              </a:spcBef>
              <a:spcAft>
                <a:spcPts val="0"/>
              </a:spcAft>
              <a:buClr>
                <a:srgbClr val="575757"/>
              </a:buClr>
              <a:buSzPts val="1100"/>
              <a:buFont typeface="Trebuchet MS"/>
              <a:buChar char="​"/>
            </a:pPr>
            <a:r>
              <a:rPr b="0" i="0" lang="es-MX" sz="1100" u="none" cap="none" strike="noStrike">
                <a:solidFill>
                  <a:srgbClr val="575757"/>
                </a:solidFill>
                <a:latin typeface="Arial"/>
                <a:ea typeface="Arial"/>
                <a:cs typeface="Arial"/>
                <a:sym typeface="Arial"/>
              </a:rPr>
              <a:t>Persona / equipo que debe ser informado del resultado porque afecta a sus funciones.</a:t>
            </a:r>
            <a:endParaRPr b="0" i="0" sz="1100" u="none" cap="none" strike="noStrike">
              <a:solidFill>
                <a:srgbClr val="575757"/>
              </a:solidFill>
              <a:latin typeface="Arial"/>
              <a:ea typeface="Arial"/>
              <a:cs typeface="Arial"/>
              <a:sym typeface="Arial"/>
            </a:endParaRPr>
          </a:p>
        </p:txBody>
      </p:sp>
      <p:sp>
        <p:nvSpPr>
          <p:cNvPr id="387" name="Google Shape;387;p5"/>
          <p:cNvSpPr/>
          <p:nvPr/>
        </p:nvSpPr>
        <p:spPr>
          <a:xfrm>
            <a:off x="6699460" y="4592966"/>
            <a:ext cx="1110263" cy="595292"/>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388" name="Google Shape;388;p5"/>
          <p:cNvSpPr/>
          <p:nvPr/>
        </p:nvSpPr>
        <p:spPr>
          <a:xfrm>
            <a:off x="7951580" y="4656503"/>
            <a:ext cx="3654865" cy="468219"/>
          </a:xfrm>
          <a:prstGeom prst="rect">
            <a:avLst/>
          </a:prstGeom>
          <a:solidFill>
            <a:srgbClr val="FFFFFF"/>
          </a:solidFill>
          <a:ln>
            <a:noFill/>
          </a:ln>
        </p:spPr>
        <p:txBody>
          <a:bodyPr anchorCtr="0" anchor="ctr" bIns="41125" lIns="82275" spcFirstLastPara="1" rIns="82275" wrap="square" tIns="41125">
            <a:noAutofit/>
          </a:bodyPr>
          <a:lstStyle/>
          <a:p>
            <a:pPr indent="-69850" lvl="0" marL="0" marR="0" rtl="0" algn="l">
              <a:lnSpc>
                <a:spcPct val="100000"/>
              </a:lnSpc>
              <a:spcBef>
                <a:spcPts val="0"/>
              </a:spcBef>
              <a:spcAft>
                <a:spcPts val="0"/>
              </a:spcAft>
              <a:buClr>
                <a:srgbClr val="575757"/>
              </a:buClr>
              <a:buSzPts val="1100"/>
              <a:buFont typeface="Trebuchet MS"/>
              <a:buChar char="​"/>
            </a:pPr>
            <a:r>
              <a:rPr b="0" i="0" lang="es-MX" sz="1100" u="none" cap="none" strike="noStrike">
                <a:solidFill>
                  <a:srgbClr val="575757"/>
                </a:solidFill>
                <a:latin typeface="Arial"/>
                <a:ea typeface="Arial"/>
                <a:cs typeface="Arial"/>
                <a:sym typeface="Arial"/>
              </a:rPr>
              <a:t>Persona / equipo que debe ser consultado debido a sus capacidades y/o información para el trabajo.</a:t>
            </a:r>
            <a:endParaRPr b="0" i="0" sz="1100" u="none" cap="none" strike="noStrike">
              <a:solidFill>
                <a:srgbClr val="575757"/>
              </a:solidFill>
              <a:latin typeface="Arial"/>
              <a:ea typeface="Arial"/>
              <a:cs typeface="Arial"/>
              <a:sym typeface="Arial"/>
            </a:endParaRPr>
          </a:p>
        </p:txBody>
      </p:sp>
      <p:sp>
        <p:nvSpPr>
          <p:cNvPr id="389" name="Google Shape;389;p5"/>
          <p:cNvSpPr/>
          <p:nvPr/>
        </p:nvSpPr>
        <p:spPr>
          <a:xfrm>
            <a:off x="508800" y="1946831"/>
            <a:ext cx="5462727" cy="4290218"/>
          </a:xfrm>
          <a:prstGeom prst="rect">
            <a:avLst/>
          </a:prstGeom>
          <a:noFill/>
          <a:ln cap="rnd" cmpd="sng" w="12700">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Open Sans"/>
              <a:buNone/>
            </a:pPr>
            <a:r>
              <a:t/>
            </a:r>
            <a:endParaRPr b="0" i="0" sz="1100" u="none" cap="none" strike="noStrike">
              <a:solidFill>
                <a:srgbClr val="FFFFFF"/>
              </a:solidFill>
              <a:latin typeface="Arial"/>
              <a:ea typeface="Arial"/>
              <a:cs typeface="Arial"/>
              <a:sym typeface="Arial"/>
            </a:endParaRPr>
          </a:p>
        </p:txBody>
      </p:sp>
      <p:sp>
        <p:nvSpPr>
          <p:cNvPr id="390" name="Google Shape;390;p5"/>
          <p:cNvSpPr/>
          <p:nvPr/>
        </p:nvSpPr>
        <p:spPr>
          <a:xfrm>
            <a:off x="5769039" y="3675001"/>
            <a:ext cx="685800" cy="685800"/>
          </a:xfrm>
          <a:prstGeom prst="ellipse">
            <a:avLst/>
          </a:prstGeom>
          <a:solidFill>
            <a:srgbClr val="FFC000"/>
          </a:solidFill>
          <a:ln cap="flat" cmpd="sng" w="47625">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Open Sans"/>
              <a:buNone/>
            </a:pPr>
            <a:r>
              <a:t/>
            </a:r>
            <a:endParaRPr b="0" i="0" sz="1600" u="none" cap="none" strike="noStrike">
              <a:solidFill>
                <a:srgbClr val="FFFFFF"/>
              </a:solidFill>
              <a:latin typeface="Arial"/>
              <a:ea typeface="Arial"/>
              <a:cs typeface="Arial"/>
              <a:sym typeface="Arial"/>
            </a:endParaRPr>
          </a:p>
        </p:txBody>
      </p:sp>
      <p:sp>
        <p:nvSpPr>
          <p:cNvPr id="391" name="Google Shape;391;p5"/>
          <p:cNvSpPr/>
          <p:nvPr/>
        </p:nvSpPr>
        <p:spPr>
          <a:xfrm>
            <a:off x="6009819" y="3788530"/>
            <a:ext cx="246080" cy="443753"/>
          </a:xfrm>
          <a:custGeom>
            <a:rect b="b" l="l" r="r" t="t"/>
            <a:pathLst>
              <a:path extrusionOk="0" h="110" w="61">
                <a:moveTo>
                  <a:pt x="6" y="0"/>
                </a:moveTo>
                <a:lnTo>
                  <a:pt x="0" y="7"/>
                </a:lnTo>
                <a:lnTo>
                  <a:pt x="48" y="55"/>
                </a:lnTo>
                <a:lnTo>
                  <a:pt x="0" y="104"/>
                </a:lnTo>
                <a:lnTo>
                  <a:pt x="6" y="110"/>
                </a:lnTo>
                <a:lnTo>
                  <a:pt x="54" y="62"/>
                </a:lnTo>
                <a:lnTo>
                  <a:pt x="61" y="55"/>
                </a:lnTo>
                <a:lnTo>
                  <a:pt x="54" y="49"/>
                </a:lnTo>
                <a:lnTo>
                  <a:pt x="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600"/>
              <a:buFont typeface="Open Sans"/>
              <a:buNone/>
            </a:pPr>
            <a:r>
              <a:t/>
            </a:r>
            <a:endParaRPr b="0" i="0" sz="1600" u="none" cap="none" strike="noStrike">
              <a:solidFill>
                <a:srgbClr val="FFFFFF"/>
              </a:solidFill>
              <a:latin typeface="Arial"/>
              <a:ea typeface="Arial"/>
              <a:cs typeface="Arial"/>
              <a:sym typeface="Arial"/>
            </a:endParaRPr>
          </a:p>
        </p:txBody>
      </p:sp>
      <p:sp>
        <p:nvSpPr>
          <p:cNvPr id="392" name="Google Shape;392;p5"/>
          <p:cNvSpPr txBox="1"/>
          <p:nvPr/>
        </p:nvSpPr>
        <p:spPr>
          <a:xfrm>
            <a:off x="672400" y="1752041"/>
            <a:ext cx="5135526" cy="323182"/>
          </a:xfrm>
          <a:prstGeom prst="rect">
            <a:avLst/>
          </a:prstGeom>
          <a:solidFill>
            <a:srgbClr val="F5A42B"/>
          </a:solidFill>
          <a:ln>
            <a:noFill/>
          </a:ln>
        </p:spPr>
        <p:txBody>
          <a:bodyPr anchorCtr="0" anchor="ctr" bIns="0" lIns="0" spcFirstLastPara="1" rIns="0" wrap="square" tIns="0">
            <a:noAutofit/>
          </a:bodyPr>
          <a:lstStyle/>
          <a:p>
            <a:pPr indent="-76200" lvl="0" marL="0" marR="0" rtl="0" algn="ctr">
              <a:lnSpc>
                <a:spcPct val="100000"/>
              </a:lnSpc>
              <a:spcBef>
                <a:spcPts val="0"/>
              </a:spcBef>
              <a:spcAft>
                <a:spcPts val="0"/>
              </a:spcAft>
              <a:buClr>
                <a:srgbClr val="FFFFFF"/>
              </a:buClr>
              <a:buSzPts val="1200"/>
              <a:buFont typeface="Trebuchet MS"/>
              <a:buChar char="​"/>
            </a:pPr>
            <a:r>
              <a:rPr b="1" i="0" lang="es-MX" sz="1200" u="none" cap="none" strike="noStrike">
                <a:solidFill>
                  <a:srgbClr val="FFFFFF"/>
                </a:solidFill>
                <a:latin typeface="Arial"/>
                <a:ea typeface="Arial"/>
                <a:cs typeface="Arial"/>
                <a:sym typeface="Arial"/>
              </a:rPr>
              <a:t>Impactos esperados</a:t>
            </a:r>
            <a:endParaRPr/>
          </a:p>
        </p:txBody>
      </p:sp>
      <p:sp>
        <p:nvSpPr>
          <p:cNvPr id="393" name="Google Shape;393;p5"/>
          <p:cNvSpPr txBox="1"/>
          <p:nvPr/>
        </p:nvSpPr>
        <p:spPr>
          <a:xfrm>
            <a:off x="6449175" y="1750567"/>
            <a:ext cx="5135526" cy="327599"/>
          </a:xfrm>
          <a:prstGeom prst="rect">
            <a:avLst/>
          </a:prstGeom>
          <a:solidFill>
            <a:srgbClr val="F5A42B"/>
          </a:solidFill>
          <a:ln>
            <a:noFill/>
          </a:ln>
        </p:spPr>
        <p:txBody>
          <a:bodyPr anchorCtr="0" anchor="ctr" bIns="0" lIns="0" spcFirstLastPara="1" rIns="0" wrap="square" tIns="0">
            <a:noAutofit/>
          </a:bodyPr>
          <a:lstStyle/>
          <a:p>
            <a:pPr indent="-76200" lvl="0" marL="0" marR="0" rtl="0" algn="ctr">
              <a:lnSpc>
                <a:spcPct val="100000"/>
              </a:lnSpc>
              <a:spcBef>
                <a:spcPts val="0"/>
              </a:spcBef>
              <a:spcAft>
                <a:spcPts val="0"/>
              </a:spcAft>
              <a:buClr>
                <a:srgbClr val="FFFFFF"/>
              </a:buClr>
              <a:buSzPts val="1200"/>
              <a:buFont typeface="Trebuchet MS"/>
              <a:buChar char="​"/>
            </a:pPr>
            <a:r>
              <a:rPr b="1" i="0" lang="es-MX" sz="1200" u="none" cap="none" strike="noStrike">
                <a:solidFill>
                  <a:srgbClr val="FFFFFF"/>
                </a:solidFill>
                <a:latin typeface="Arial"/>
                <a:ea typeface="Arial"/>
                <a:cs typeface="Arial"/>
                <a:sym typeface="Arial"/>
              </a:rPr>
              <a:t>Roles</a:t>
            </a:r>
            <a:endParaRPr/>
          </a:p>
        </p:txBody>
      </p:sp>
      <p:sp>
        <p:nvSpPr>
          <p:cNvPr id="394" name="Google Shape;394;p5"/>
          <p:cNvSpPr/>
          <p:nvPr/>
        </p:nvSpPr>
        <p:spPr>
          <a:xfrm>
            <a:off x="746175" y="2703883"/>
            <a:ext cx="563088" cy="5630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Open Sans"/>
              <a:buNone/>
            </a:pPr>
            <a:r>
              <a:t/>
            </a:r>
            <a:endParaRPr b="0" i="0" sz="1800" u="none" cap="none" strike="noStrike">
              <a:solidFill>
                <a:srgbClr val="575757"/>
              </a:solidFill>
              <a:latin typeface="Trebuchet MS"/>
              <a:ea typeface="Trebuchet MS"/>
              <a:cs typeface="Trebuchet MS"/>
              <a:sym typeface="Trebuchet MS"/>
            </a:endParaRPr>
          </a:p>
        </p:txBody>
      </p:sp>
      <p:sp>
        <p:nvSpPr>
          <p:cNvPr id="395" name="Google Shape;395;p5"/>
          <p:cNvSpPr/>
          <p:nvPr/>
        </p:nvSpPr>
        <p:spPr>
          <a:xfrm>
            <a:off x="747824" y="3746387"/>
            <a:ext cx="563088" cy="5630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Open Sans"/>
              <a:buNone/>
            </a:pPr>
            <a:r>
              <a:t/>
            </a:r>
            <a:endParaRPr b="0" i="0" sz="1800" u="none" cap="none" strike="noStrike">
              <a:solidFill>
                <a:srgbClr val="575757"/>
              </a:solidFill>
              <a:latin typeface="Trebuchet MS"/>
              <a:ea typeface="Trebuchet MS"/>
              <a:cs typeface="Trebuchet MS"/>
              <a:sym typeface="Trebuchet MS"/>
            </a:endParaRPr>
          </a:p>
        </p:txBody>
      </p:sp>
      <p:grpSp>
        <p:nvGrpSpPr>
          <p:cNvPr id="396" name="Google Shape;396;p5"/>
          <p:cNvGrpSpPr/>
          <p:nvPr/>
        </p:nvGrpSpPr>
        <p:grpSpPr>
          <a:xfrm>
            <a:off x="875429" y="3804272"/>
            <a:ext cx="307880" cy="447319"/>
            <a:chOff x="5646738" y="2774950"/>
            <a:chExt cx="900113" cy="1306513"/>
          </a:xfrm>
        </p:grpSpPr>
        <p:sp>
          <p:nvSpPr>
            <p:cNvPr id="397" name="Google Shape;397;p5"/>
            <p:cNvSpPr/>
            <p:nvPr/>
          </p:nvSpPr>
          <p:spPr>
            <a:xfrm>
              <a:off x="5646738" y="2889250"/>
              <a:ext cx="900113" cy="1192213"/>
            </a:xfrm>
            <a:custGeom>
              <a:rect b="b" l="l" r="r" t="t"/>
              <a:pathLst>
                <a:path extrusionOk="0" h="1670" w="1258">
                  <a:moveTo>
                    <a:pt x="1236" y="0"/>
                  </a:moveTo>
                  <a:cubicBezTo>
                    <a:pt x="876" y="0"/>
                    <a:pt x="876" y="0"/>
                    <a:pt x="876" y="0"/>
                  </a:cubicBezTo>
                  <a:cubicBezTo>
                    <a:pt x="876" y="44"/>
                    <a:pt x="876" y="44"/>
                    <a:pt x="876" y="44"/>
                  </a:cubicBezTo>
                  <a:cubicBezTo>
                    <a:pt x="1214" y="44"/>
                    <a:pt x="1214" y="44"/>
                    <a:pt x="1214" y="44"/>
                  </a:cubicBezTo>
                  <a:cubicBezTo>
                    <a:pt x="1214" y="1626"/>
                    <a:pt x="1214" y="1626"/>
                    <a:pt x="1214" y="1626"/>
                  </a:cubicBezTo>
                  <a:cubicBezTo>
                    <a:pt x="44" y="1626"/>
                    <a:pt x="44" y="1626"/>
                    <a:pt x="44" y="1626"/>
                  </a:cubicBezTo>
                  <a:cubicBezTo>
                    <a:pt x="44" y="44"/>
                    <a:pt x="44" y="44"/>
                    <a:pt x="44" y="44"/>
                  </a:cubicBezTo>
                  <a:cubicBezTo>
                    <a:pt x="382" y="44"/>
                    <a:pt x="382" y="44"/>
                    <a:pt x="382" y="44"/>
                  </a:cubicBezTo>
                  <a:cubicBezTo>
                    <a:pt x="382" y="0"/>
                    <a:pt x="382" y="0"/>
                    <a:pt x="382" y="0"/>
                  </a:cubicBezTo>
                  <a:cubicBezTo>
                    <a:pt x="22" y="0"/>
                    <a:pt x="22" y="0"/>
                    <a:pt x="22" y="0"/>
                  </a:cubicBezTo>
                  <a:cubicBezTo>
                    <a:pt x="9" y="0"/>
                    <a:pt x="0" y="10"/>
                    <a:pt x="0" y="22"/>
                  </a:cubicBezTo>
                  <a:cubicBezTo>
                    <a:pt x="0" y="1648"/>
                    <a:pt x="0" y="1648"/>
                    <a:pt x="0" y="1648"/>
                  </a:cubicBezTo>
                  <a:cubicBezTo>
                    <a:pt x="0" y="1661"/>
                    <a:pt x="9" y="1670"/>
                    <a:pt x="22" y="1670"/>
                  </a:cubicBezTo>
                  <a:cubicBezTo>
                    <a:pt x="1236" y="1670"/>
                    <a:pt x="1236" y="1670"/>
                    <a:pt x="1236" y="1670"/>
                  </a:cubicBezTo>
                  <a:cubicBezTo>
                    <a:pt x="1249" y="1670"/>
                    <a:pt x="1258" y="1661"/>
                    <a:pt x="1258" y="1648"/>
                  </a:cubicBezTo>
                  <a:cubicBezTo>
                    <a:pt x="1258" y="22"/>
                    <a:pt x="1258" y="22"/>
                    <a:pt x="1258" y="22"/>
                  </a:cubicBezTo>
                  <a:cubicBezTo>
                    <a:pt x="1258" y="10"/>
                    <a:pt x="1249" y="0"/>
                    <a:pt x="1236" y="0"/>
                  </a:cubicBezTo>
                  <a:close/>
                </a:path>
              </a:pathLst>
            </a:custGeom>
            <a:solidFill>
              <a:srgbClr val="FFC000"/>
            </a:solidFill>
            <a:ln>
              <a:noFill/>
            </a:ln>
          </p:spPr>
          <p:txBody>
            <a:bodyPr anchorCtr="0" anchor="t" bIns="65375" lIns="130750" spcFirstLastPara="1" rIns="130750" wrap="square" tIns="65375">
              <a:noAutofit/>
            </a:bodyPr>
            <a:lstStyle/>
            <a:p>
              <a:pPr indent="0" lvl="0" marL="0" marR="0" rtl="0" algn="l">
                <a:lnSpc>
                  <a:spcPct val="100000"/>
                </a:lnSpc>
                <a:spcBef>
                  <a:spcPts val="0"/>
                </a:spcBef>
                <a:spcAft>
                  <a:spcPts val="0"/>
                </a:spcAft>
                <a:buClr>
                  <a:schemeClr val="dk1"/>
                </a:buClr>
                <a:buSzPts val="1800"/>
                <a:buFont typeface="Open Sans"/>
                <a:buNone/>
              </a:pPr>
              <a:r>
                <a:t/>
              </a:r>
              <a:endParaRPr b="0" i="0" sz="1800" u="none" cap="none" strike="noStrike">
                <a:solidFill>
                  <a:srgbClr val="575757"/>
                </a:solidFill>
                <a:latin typeface="Trebuchet MS"/>
                <a:ea typeface="Trebuchet MS"/>
                <a:cs typeface="Trebuchet MS"/>
                <a:sym typeface="Trebuchet MS"/>
              </a:endParaRPr>
            </a:p>
          </p:txBody>
        </p:sp>
        <p:sp>
          <p:nvSpPr>
            <p:cNvPr id="398" name="Google Shape;398;p5"/>
            <p:cNvSpPr/>
            <p:nvPr/>
          </p:nvSpPr>
          <p:spPr>
            <a:xfrm>
              <a:off x="5783263" y="2774950"/>
              <a:ext cx="627063" cy="1089025"/>
            </a:xfrm>
            <a:custGeom>
              <a:rect b="b" l="l" r="r" t="t"/>
              <a:pathLst>
                <a:path extrusionOk="0" h="1089025" w="627063">
                  <a:moveTo>
                    <a:pt x="15713" y="1057275"/>
                  </a:moveTo>
                  <a:cubicBezTo>
                    <a:pt x="15713" y="1057275"/>
                    <a:pt x="15713" y="1057275"/>
                    <a:pt x="611351" y="1057275"/>
                  </a:cubicBezTo>
                  <a:cubicBezTo>
                    <a:pt x="620635" y="1057275"/>
                    <a:pt x="627063" y="1064491"/>
                    <a:pt x="627063" y="1073150"/>
                  </a:cubicBezTo>
                  <a:cubicBezTo>
                    <a:pt x="627063" y="1081809"/>
                    <a:pt x="620635" y="1089025"/>
                    <a:pt x="611351" y="1089025"/>
                  </a:cubicBezTo>
                  <a:cubicBezTo>
                    <a:pt x="611351" y="1089025"/>
                    <a:pt x="611351" y="1089025"/>
                    <a:pt x="15713" y="1089025"/>
                  </a:cubicBezTo>
                  <a:cubicBezTo>
                    <a:pt x="6428" y="1089025"/>
                    <a:pt x="0" y="1081809"/>
                    <a:pt x="0" y="1073150"/>
                  </a:cubicBezTo>
                  <a:cubicBezTo>
                    <a:pt x="0" y="1064491"/>
                    <a:pt x="6428" y="1057275"/>
                    <a:pt x="15713" y="1057275"/>
                  </a:cubicBezTo>
                  <a:close/>
                  <a:moveTo>
                    <a:pt x="15713" y="941388"/>
                  </a:moveTo>
                  <a:cubicBezTo>
                    <a:pt x="15713" y="941388"/>
                    <a:pt x="15713" y="941388"/>
                    <a:pt x="611351" y="941388"/>
                  </a:cubicBezTo>
                  <a:cubicBezTo>
                    <a:pt x="620635" y="941388"/>
                    <a:pt x="627063" y="948604"/>
                    <a:pt x="627063" y="957263"/>
                  </a:cubicBezTo>
                  <a:cubicBezTo>
                    <a:pt x="627063" y="965922"/>
                    <a:pt x="620635" y="973138"/>
                    <a:pt x="611351" y="973138"/>
                  </a:cubicBezTo>
                  <a:cubicBezTo>
                    <a:pt x="611351" y="973138"/>
                    <a:pt x="611351" y="973138"/>
                    <a:pt x="15713" y="973138"/>
                  </a:cubicBezTo>
                  <a:cubicBezTo>
                    <a:pt x="6428" y="973138"/>
                    <a:pt x="0" y="965922"/>
                    <a:pt x="0" y="957263"/>
                  </a:cubicBezTo>
                  <a:cubicBezTo>
                    <a:pt x="0" y="948604"/>
                    <a:pt x="6428" y="941388"/>
                    <a:pt x="15713" y="941388"/>
                  </a:cubicBezTo>
                  <a:close/>
                  <a:moveTo>
                    <a:pt x="15713" y="825500"/>
                  </a:moveTo>
                  <a:cubicBezTo>
                    <a:pt x="15713" y="825500"/>
                    <a:pt x="15713" y="825500"/>
                    <a:pt x="611351" y="825500"/>
                  </a:cubicBezTo>
                  <a:cubicBezTo>
                    <a:pt x="620635" y="825500"/>
                    <a:pt x="627063" y="832716"/>
                    <a:pt x="627063" y="841375"/>
                  </a:cubicBezTo>
                  <a:cubicBezTo>
                    <a:pt x="627063" y="850756"/>
                    <a:pt x="620635" y="857250"/>
                    <a:pt x="611351" y="857250"/>
                  </a:cubicBezTo>
                  <a:cubicBezTo>
                    <a:pt x="611351" y="857250"/>
                    <a:pt x="611351" y="857250"/>
                    <a:pt x="15713" y="857250"/>
                  </a:cubicBezTo>
                  <a:cubicBezTo>
                    <a:pt x="6428" y="857250"/>
                    <a:pt x="0" y="850756"/>
                    <a:pt x="0" y="841375"/>
                  </a:cubicBezTo>
                  <a:cubicBezTo>
                    <a:pt x="0" y="832716"/>
                    <a:pt x="6428" y="825500"/>
                    <a:pt x="15713" y="825500"/>
                  </a:cubicBezTo>
                  <a:close/>
                  <a:moveTo>
                    <a:pt x="15713" y="709613"/>
                  </a:moveTo>
                  <a:cubicBezTo>
                    <a:pt x="15713" y="709613"/>
                    <a:pt x="15713" y="709613"/>
                    <a:pt x="611351" y="709613"/>
                  </a:cubicBezTo>
                  <a:cubicBezTo>
                    <a:pt x="620635" y="709613"/>
                    <a:pt x="627063" y="716829"/>
                    <a:pt x="627063" y="725488"/>
                  </a:cubicBezTo>
                  <a:cubicBezTo>
                    <a:pt x="627063" y="734147"/>
                    <a:pt x="620635" y="741363"/>
                    <a:pt x="611351" y="741363"/>
                  </a:cubicBezTo>
                  <a:cubicBezTo>
                    <a:pt x="611351" y="741363"/>
                    <a:pt x="611351" y="741363"/>
                    <a:pt x="15713" y="741363"/>
                  </a:cubicBezTo>
                  <a:cubicBezTo>
                    <a:pt x="6428" y="741363"/>
                    <a:pt x="0" y="734147"/>
                    <a:pt x="0" y="725488"/>
                  </a:cubicBezTo>
                  <a:cubicBezTo>
                    <a:pt x="0" y="716829"/>
                    <a:pt x="6428" y="709613"/>
                    <a:pt x="15713" y="709613"/>
                  </a:cubicBezTo>
                  <a:close/>
                  <a:moveTo>
                    <a:pt x="15713" y="593725"/>
                  </a:moveTo>
                  <a:cubicBezTo>
                    <a:pt x="15713" y="593725"/>
                    <a:pt x="15713" y="593725"/>
                    <a:pt x="611351" y="593725"/>
                  </a:cubicBezTo>
                  <a:cubicBezTo>
                    <a:pt x="620635" y="593725"/>
                    <a:pt x="627063" y="600941"/>
                    <a:pt x="627063" y="609600"/>
                  </a:cubicBezTo>
                  <a:cubicBezTo>
                    <a:pt x="627063" y="618259"/>
                    <a:pt x="620635" y="625475"/>
                    <a:pt x="611351" y="625475"/>
                  </a:cubicBezTo>
                  <a:cubicBezTo>
                    <a:pt x="611351" y="625475"/>
                    <a:pt x="611351" y="625475"/>
                    <a:pt x="15713" y="625475"/>
                  </a:cubicBezTo>
                  <a:cubicBezTo>
                    <a:pt x="6428" y="625475"/>
                    <a:pt x="0" y="618259"/>
                    <a:pt x="0" y="609600"/>
                  </a:cubicBezTo>
                  <a:cubicBezTo>
                    <a:pt x="0" y="600941"/>
                    <a:pt x="6428" y="593725"/>
                    <a:pt x="15713" y="593725"/>
                  </a:cubicBezTo>
                  <a:close/>
                  <a:moveTo>
                    <a:pt x="15713" y="477838"/>
                  </a:moveTo>
                  <a:cubicBezTo>
                    <a:pt x="15713" y="477838"/>
                    <a:pt x="15713" y="477838"/>
                    <a:pt x="611351" y="477838"/>
                  </a:cubicBezTo>
                  <a:cubicBezTo>
                    <a:pt x="620635" y="477838"/>
                    <a:pt x="627063" y="484332"/>
                    <a:pt x="627063" y="493713"/>
                  </a:cubicBezTo>
                  <a:cubicBezTo>
                    <a:pt x="627063" y="502372"/>
                    <a:pt x="620635" y="509588"/>
                    <a:pt x="611351" y="509588"/>
                  </a:cubicBezTo>
                  <a:cubicBezTo>
                    <a:pt x="611351" y="509588"/>
                    <a:pt x="611351" y="509588"/>
                    <a:pt x="15713" y="509588"/>
                  </a:cubicBezTo>
                  <a:cubicBezTo>
                    <a:pt x="6428" y="509588"/>
                    <a:pt x="0" y="502372"/>
                    <a:pt x="0" y="493713"/>
                  </a:cubicBezTo>
                  <a:cubicBezTo>
                    <a:pt x="0" y="484332"/>
                    <a:pt x="6428" y="477838"/>
                    <a:pt x="15713" y="477838"/>
                  </a:cubicBezTo>
                  <a:close/>
                  <a:moveTo>
                    <a:pt x="15713" y="361950"/>
                  </a:moveTo>
                  <a:cubicBezTo>
                    <a:pt x="15713" y="361950"/>
                    <a:pt x="15713" y="361950"/>
                    <a:pt x="611351" y="361950"/>
                  </a:cubicBezTo>
                  <a:cubicBezTo>
                    <a:pt x="620635" y="361950"/>
                    <a:pt x="627063" y="369166"/>
                    <a:pt x="627063" y="377825"/>
                  </a:cubicBezTo>
                  <a:cubicBezTo>
                    <a:pt x="627063" y="386484"/>
                    <a:pt x="620635" y="393700"/>
                    <a:pt x="611351" y="393700"/>
                  </a:cubicBezTo>
                  <a:cubicBezTo>
                    <a:pt x="611351" y="393700"/>
                    <a:pt x="611351" y="393700"/>
                    <a:pt x="15713" y="393700"/>
                  </a:cubicBezTo>
                  <a:cubicBezTo>
                    <a:pt x="6428" y="393700"/>
                    <a:pt x="0" y="386484"/>
                    <a:pt x="0" y="377825"/>
                  </a:cubicBezTo>
                  <a:cubicBezTo>
                    <a:pt x="0" y="369166"/>
                    <a:pt x="6428" y="361950"/>
                    <a:pt x="15713" y="361950"/>
                  </a:cubicBezTo>
                  <a:close/>
                  <a:moveTo>
                    <a:pt x="313532" y="31750"/>
                  </a:moveTo>
                  <a:cubicBezTo>
                    <a:pt x="305584" y="31750"/>
                    <a:pt x="298359" y="33176"/>
                    <a:pt x="291134" y="35314"/>
                  </a:cubicBezTo>
                  <a:cubicBezTo>
                    <a:pt x="276683" y="41016"/>
                    <a:pt x="264400" y="52420"/>
                    <a:pt x="257175" y="66675"/>
                  </a:cubicBezTo>
                  <a:cubicBezTo>
                    <a:pt x="257175" y="66675"/>
                    <a:pt x="257175" y="66675"/>
                    <a:pt x="369888" y="66675"/>
                  </a:cubicBezTo>
                  <a:cubicBezTo>
                    <a:pt x="362663" y="52420"/>
                    <a:pt x="350380" y="41016"/>
                    <a:pt x="335930" y="35314"/>
                  </a:cubicBezTo>
                  <a:cubicBezTo>
                    <a:pt x="328705" y="33176"/>
                    <a:pt x="321479" y="31750"/>
                    <a:pt x="313532" y="31750"/>
                  </a:cubicBezTo>
                  <a:close/>
                  <a:moveTo>
                    <a:pt x="313532" y="0"/>
                  </a:moveTo>
                  <a:cubicBezTo>
                    <a:pt x="342725" y="0"/>
                    <a:pt x="369071" y="13529"/>
                    <a:pt x="386160" y="34890"/>
                  </a:cubicBezTo>
                  <a:cubicBezTo>
                    <a:pt x="393280" y="44147"/>
                    <a:pt x="398977" y="54827"/>
                    <a:pt x="402537" y="66220"/>
                  </a:cubicBezTo>
                  <a:cubicBezTo>
                    <a:pt x="402537" y="66220"/>
                    <a:pt x="402537" y="66220"/>
                    <a:pt x="451668" y="66220"/>
                  </a:cubicBezTo>
                  <a:cubicBezTo>
                    <a:pt x="455228" y="66220"/>
                    <a:pt x="458788" y="69068"/>
                    <a:pt x="458788" y="73340"/>
                  </a:cubicBezTo>
                  <a:cubicBezTo>
                    <a:pt x="458788" y="73340"/>
                    <a:pt x="458788" y="73340"/>
                    <a:pt x="458788" y="113927"/>
                  </a:cubicBezTo>
                  <a:cubicBezTo>
                    <a:pt x="458788" y="113927"/>
                    <a:pt x="458788" y="113927"/>
                    <a:pt x="458788" y="145256"/>
                  </a:cubicBezTo>
                  <a:cubicBezTo>
                    <a:pt x="458788" y="145256"/>
                    <a:pt x="458788" y="145256"/>
                    <a:pt x="458788" y="178010"/>
                  </a:cubicBezTo>
                  <a:cubicBezTo>
                    <a:pt x="458788" y="186555"/>
                    <a:pt x="451668" y="193675"/>
                    <a:pt x="443123" y="193675"/>
                  </a:cubicBezTo>
                  <a:cubicBezTo>
                    <a:pt x="443123" y="193675"/>
                    <a:pt x="443123" y="193675"/>
                    <a:pt x="183940" y="193675"/>
                  </a:cubicBezTo>
                  <a:cubicBezTo>
                    <a:pt x="175396" y="193675"/>
                    <a:pt x="168275" y="186555"/>
                    <a:pt x="168275" y="178010"/>
                  </a:cubicBezTo>
                  <a:cubicBezTo>
                    <a:pt x="168275" y="178010"/>
                    <a:pt x="168275" y="178010"/>
                    <a:pt x="168275" y="145256"/>
                  </a:cubicBezTo>
                  <a:cubicBezTo>
                    <a:pt x="168275" y="145256"/>
                    <a:pt x="168275" y="145256"/>
                    <a:pt x="168275" y="113927"/>
                  </a:cubicBezTo>
                  <a:cubicBezTo>
                    <a:pt x="168275" y="113927"/>
                    <a:pt x="168275" y="113927"/>
                    <a:pt x="168275" y="73340"/>
                  </a:cubicBezTo>
                  <a:cubicBezTo>
                    <a:pt x="168275" y="69068"/>
                    <a:pt x="171835" y="66220"/>
                    <a:pt x="175396" y="66220"/>
                  </a:cubicBezTo>
                  <a:cubicBezTo>
                    <a:pt x="175396" y="66220"/>
                    <a:pt x="175396" y="66220"/>
                    <a:pt x="224527" y="66220"/>
                  </a:cubicBezTo>
                  <a:cubicBezTo>
                    <a:pt x="228087" y="54827"/>
                    <a:pt x="233783" y="44147"/>
                    <a:pt x="240903" y="34890"/>
                  </a:cubicBezTo>
                  <a:cubicBezTo>
                    <a:pt x="257992" y="13529"/>
                    <a:pt x="284338" y="0"/>
                    <a:pt x="313532" y="0"/>
                  </a:cubicBezTo>
                  <a:close/>
                </a:path>
              </a:pathLst>
            </a:custGeom>
            <a:solidFill>
              <a:srgbClr val="FFC000"/>
            </a:solidFill>
            <a:ln>
              <a:noFill/>
            </a:ln>
          </p:spPr>
          <p:txBody>
            <a:bodyPr anchorCtr="0" anchor="t" bIns="65375" lIns="130750" spcFirstLastPara="1" rIns="130750" wrap="square" tIns="65375">
              <a:noAutofit/>
            </a:bodyPr>
            <a:lstStyle/>
            <a:p>
              <a:pPr indent="0" lvl="0" marL="0" marR="0" rtl="0" algn="l">
                <a:lnSpc>
                  <a:spcPct val="100000"/>
                </a:lnSpc>
                <a:spcBef>
                  <a:spcPts val="0"/>
                </a:spcBef>
                <a:spcAft>
                  <a:spcPts val="0"/>
                </a:spcAft>
                <a:buClr>
                  <a:schemeClr val="dk1"/>
                </a:buClr>
                <a:buSzPts val="1800"/>
                <a:buFont typeface="Open Sans"/>
                <a:buNone/>
              </a:pPr>
              <a:r>
                <a:t/>
              </a:r>
              <a:endParaRPr b="0" i="0" sz="1800" u="none" cap="none" strike="noStrike">
                <a:solidFill>
                  <a:srgbClr val="575757"/>
                </a:solidFill>
                <a:latin typeface="Trebuchet MS"/>
                <a:ea typeface="Trebuchet MS"/>
                <a:cs typeface="Trebuchet MS"/>
                <a:sym typeface="Trebuchet MS"/>
              </a:endParaRPr>
            </a:p>
          </p:txBody>
        </p:sp>
      </p:grpSp>
      <p:sp>
        <p:nvSpPr>
          <p:cNvPr id="399" name="Google Shape;399;p5"/>
          <p:cNvSpPr/>
          <p:nvPr/>
        </p:nvSpPr>
        <p:spPr>
          <a:xfrm>
            <a:off x="747824" y="4572329"/>
            <a:ext cx="563088" cy="5630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Open Sans"/>
              <a:buNone/>
            </a:pPr>
            <a:r>
              <a:t/>
            </a:r>
            <a:endParaRPr b="0" i="0" sz="1800" u="none" cap="none" strike="noStrike">
              <a:solidFill>
                <a:srgbClr val="575757"/>
              </a:solidFill>
              <a:latin typeface="Trebuchet MS"/>
              <a:ea typeface="Trebuchet MS"/>
              <a:cs typeface="Trebuchet MS"/>
              <a:sym typeface="Trebuchet MS"/>
            </a:endParaRPr>
          </a:p>
        </p:txBody>
      </p:sp>
      <p:grpSp>
        <p:nvGrpSpPr>
          <p:cNvPr id="400" name="Google Shape;400;p5"/>
          <p:cNvGrpSpPr/>
          <p:nvPr/>
        </p:nvGrpSpPr>
        <p:grpSpPr>
          <a:xfrm>
            <a:off x="704516" y="2669196"/>
            <a:ext cx="647530" cy="647806"/>
            <a:chOff x="1742495" y="2072694"/>
            <a:chExt cx="902208" cy="902592"/>
          </a:xfrm>
        </p:grpSpPr>
        <p:grpSp>
          <p:nvGrpSpPr>
            <p:cNvPr id="401" name="Google Shape;401;p5"/>
            <p:cNvGrpSpPr/>
            <p:nvPr/>
          </p:nvGrpSpPr>
          <p:grpSpPr>
            <a:xfrm>
              <a:off x="1827044" y="2366765"/>
              <a:ext cx="731545" cy="293072"/>
              <a:chOff x="5332413" y="3094038"/>
              <a:chExt cx="1533525" cy="614362"/>
            </a:xfrm>
          </p:grpSpPr>
          <p:sp>
            <p:nvSpPr>
              <p:cNvPr id="402" name="Google Shape;402;p5"/>
              <p:cNvSpPr/>
              <p:nvPr/>
            </p:nvSpPr>
            <p:spPr>
              <a:xfrm>
                <a:off x="5332413" y="3094038"/>
                <a:ext cx="1533525" cy="542925"/>
              </a:xfrm>
              <a:custGeom>
                <a:rect b="b" l="l" r="r" t="t"/>
                <a:pathLst>
                  <a:path extrusionOk="0" h="542925" w="1533525">
                    <a:moveTo>
                      <a:pt x="1246187" y="511175"/>
                    </a:moveTo>
                    <a:cubicBezTo>
                      <a:pt x="1246187" y="511175"/>
                      <a:pt x="1246187" y="511175"/>
                      <a:pt x="1517878" y="511175"/>
                    </a:cubicBezTo>
                    <a:cubicBezTo>
                      <a:pt x="1526413" y="511175"/>
                      <a:pt x="1533525" y="518391"/>
                      <a:pt x="1533525" y="527050"/>
                    </a:cubicBezTo>
                    <a:cubicBezTo>
                      <a:pt x="1533525" y="536431"/>
                      <a:pt x="1526413" y="542925"/>
                      <a:pt x="1517878" y="542925"/>
                    </a:cubicBezTo>
                    <a:cubicBezTo>
                      <a:pt x="1517878" y="542925"/>
                      <a:pt x="1517878" y="542925"/>
                      <a:pt x="1255433" y="542925"/>
                    </a:cubicBezTo>
                    <a:cubicBezTo>
                      <a:pt x="1252588" y="531380"/>
                      <a:pt x="1249032" y="521277"/>
                      <a:pt x="1246187" y="511175"/>
                    </a:cubicBezTo>
                    <a:close/>
                    <a:moveTo>
                      <a:pt x="735012" y="511175"/>
                    </a:moveTo>
                    <a:cubicBezTo>
                      <a:pt x="735012" y="511175"/>
                      <a:pt x="735012" y="511175"/>
                      <a:pt x="792162" y="511175"/>
                    </a:cubicBezTo>
                    <a:cubicBezTo>
                      <a:pt x="789374" y="521277"/>
                      <a:pt x="786586" y="531380"/>
                      <a:pt x="783101" y="542925"/>
                    </a:cubicBezTo>
                    <a:cubicBezTo>
                      <a:pt x="783101" y="542925"/>
                      <a:pt x="783101" y="542925"/>
                      <a:pt x="744072" y="542925"/>
                    </a:cubicBezTo>
                    <a:cubicBezTo>
                      <a:pt x="740587" y="531380"/>
                      <a:pt x="737800" y="521277"/>
                      <a:pt x="735012" y="511175"/>
                    </a:cubicBezTo>
                    <a:close/>
                    <a:moveTo>
                      <a:pt x="15650" y="511175"/>
                    </a:moveTo>
                    <a:cubicBezTo>
                      <a:pt x="15650" y="511175"/>
                      <a:pt x="15650" y="511175"/>
                      <a:pt x="280988" y="511175"/>
                    </a:cubicBezTo>
                    <a:cubicBezTo>
                      <a:pt x="278142" y="521277"/>
                      <a:pt x="274586" y="531380"/>
                      <a:pt x="271740" y="542925"/>
                    </a:cubicBezTo>
                    <a:cubicBezTo>
                      <a:pt x="271740" y="542925"/>
                      <a:pt x="271740" y="542925"/>
                      <a:pt x="15650" y="542925"/>
                    </a:cubicBezTo>
                    <a:cubicBezTo>
                      <a:pt x="6402" y="542925"/>
                      <a:pt x="0" y="536431"/>
                      <a:pt x="0" y="527050"/>
                    </a:cubicBezTo>
                    <a:cubicBezTo>
                      <a:pt x="0" y="518391"/>
                      <a:pt x="6402" y="511175"/>
                      <a:pt x="15650" y="511175"/>
                    </a:cubicBezTo>
                    <a:close/>
                    <a:moveTo>
                      <a:pt x="764317" y="349250"/>
                    </a:moveTo>
                    <a:cubicBezTo>
                      <a:pt x="768693" y="349250"/>
                      <a:pt x="773799" y="349965"/>
                      <a:pt x="778175" y="350679"/>
                    </a:cubicBezTo>
                    <a:cubicBezTo>
                      <a:pt x="782551" y="351393"/>
                      <a:pt x="786198" y="352108"/>
                      <a:pt x="788387" y="352822"/>
                    </a:cubicBezTo>
                    <a:cubicBezTo>
                      <a:pt x="789845" y="352822"/>
                      <a:pt x="790575" y="354251"/>
                      <a:pt x="789845" y="355680"/>
                    </a:cubicBezTo>
                    <a:cubicBezTo>
                      <a:pt x="789845" y="355680"/>
                      <a:pt x="789845" y="355680"/>
                      <a:pt x="773799" y="380683"/>
                    </a:cubicBezTo>
                    <a:cubicBezTo>
                      <a:pt x="773799" y="381397"/>
                      <a:pt x="773799" y="382112"/>
                      <a:pt x="773799" y="382826"/>
                    </a:cubicBezTo>
                    <a:cubicBezTo>
                      <a:pt x="773799" y="382826"/>
                      <a:pt x="773799" y="382826"/>
                      <a:pt x="789116" y="477838"/>
                    </a:cubicBezTo>
                    <a:cubicBezTo>
                      <a:pt x="789116" y="477838"/>
                      <a:pt x="789116" y="477838"/>
                      <a:pt x="736600" y="477838"/>
                    </a:cubicBezTo>
                    <a:lnTo>
                      <a:pt x="753376" y="382826"/>
                    </a:lnTo>
                    <a:cubicBezTo>
                      <a:pt x="753376" y="382112"/>
                      <a:pt x="753376" y="381397"/>
                      <a:pt x="753376" y="380683"/>
                    </a:cubicBezTo>
                    <a:cubicBezTo>
                      <a:pt x="753376" y="380683"/>
                      <a:pt x="753376" y="380683"/>
                      <a:pt x="737329" y="355680"/>
                    </a:cubicBezTo>
                    <a:cubicBezTo>
                      <a:pt x="736600" y="354965"/>
                      <a:pt x="737329" y="352822"/>
                      <a:pt x="738788" y="352822"/>
                    </a:cubicBezTo>
                    <a:cubicBezTo>
                      <a:pt x="741705" y="352108"/>
                      <a:pt x="745352" y="351393"/>
                      <a:pt x="749729" y="350679"/>
                    </a:cubicBezTo>
                    <a:cubicBezTo>
                      <a:pt x="754105" y="349965"/>
                      <a:pt x="759940" y="349250"/>
                      <a:pt x="764317" y="349250"/>
                    </a:cubicBezTo>
                    <a:close/>
                    <a:moveTo>
                      <a:pt x="1200963" y="334962"/>
                    </a:moveTo>
                    <a:cubicBezTo>
                      <a:pt x="1202391" y="334962"/>
                      <a:pt x="1203105" y="335673"/>
                      <a:pt x="1203105" y="337095"/>
                    </a:cubicBezTo>
                    <a:cubicBezTo>
                      <a:pt x="1203105" y="337095"/>
                      <a:pt x="1203105" y="337095"/>
                      <a:pt x="1268787" y="409598"/>
                    </a:cubicBezTo>
                    <a:cubicBezTo>
                      <a:pt x="1271643" y="413863"/>
                      <a:pt x="1277354" y="413863"/>
                      <a:pt x="1280210" y="409598"/>
                    </a:cubicBezTo>
                    <a:cubicBezTo>
                      <a:pt x="1280210" y="409598"/>
                      <a:pt x="1280210" y="409598"/>
                      <a:pt x="1345893" y="337095"/>
                    </a:cubicBezTo>
                    <a:cubicBezTo>
                      <a:pt x="1345893" y="335673"/>
                      <a:pt x="1347320" y="334962"/>
                      <a:pt x="1348034" y="334962"/>
                    </a:cubicBezTo>
                    <a:cubicBezTo>
                      <a:pt x="1359457" y="334962"/>
                      <a:pt x="1411575" y="337095"/>
                      <a:pt x="1441561" y="351311"/>
                    </a:cubicBezTo>
                    <a:cubicBezTo>
                      <a:pt x="1465834" y="361973"/>
                      <a:pt x="1484397" y="447983"/>
                      <a:pt x="1492250" y="477837"/>
                    </a:cubicBezTo>
                    <a:cubicBezTo>
                      <a:pt x="1492250" y="477837"/>
                      <a:pt x="1492250" y="477837"/>
                      <a:pt x="1232376" y="477837"/>
                    </a:cubicBezTo>
                    <a:cubicBezTo>
                      <a:pt x="1223095" y="458645"/>
                      <a:pt x="1212386" y="446561"/>
                      <a:pt x="1198821" y="440164"/>
                    </a:cubicBezTo>
                    <a:cubicBezTo>
                      <a:pt x="1168836" y="425947"/>
                      <a:pt x="1123143" y="422393"/>
                      <a:pt x="1101725" y="421682"/>
                    </a:cubicBezTo>
                    <a:cubicBezTo>
                      <a:pt x="1106008" y="417417"/>
                      <a:pt x="1109578" y="413152"/>
                      <a:pt x="1111720" y="409598"/>
                    </a:cubicBezTo>
                    <a:cubicBezTo>
                      <a:pt x="1111720" y="409598"/>
                      <a:pt x="1111720" y="409598"/>
                      <a:pt x="1112434" y="408177"/>
                    </a:cubicBezTo>
                    <a:cubicBezTo>
                      <a:pt x="1116004" y="402490"/>
                      <a:pt x="1116717" y="400358"/>
                      <a:pt x="1118859" y="394671"/>
                    </a:cubicBezTo>
                    <a:cubicBezTo>
                      <a:pt x="1119573" y="393960"/>
                      <a:pt x="1119573" y="392539"/>
                      <a:pt x="1120287" y="390406"/>
                    </a:cubicBezTo>
                    <a:cubicBezTo>
                      <a:pt x="1133852" y="376901"/>
                      <a:pt x="1148131" y="354865"/>
                      <a:pt x="1155271" y="338516"/>
                    </a:cubicBezTo>
                    <a:cubicBezTo>
                      <a:pt x="1175975" y="335673"/>
                      <a:pt x="1195251" y="334962"/>
                      <a:pt x="1200963" y="334962"/>
                    </a:cubicBezTo>
                    <a:close/>
                    <a:moveTo>
                      <a:pt x="837524" y="334962"/>
                    </a:moveTo>
                    <a:cubicBezTo>
                      <a:pt x="843941" y="334962"/>
                      <a:pt x="862478" y="335679"/>
                      <a:pt x="883153" y="338545"/>
                    </a:cubicBezTo>
                    <a:cubicBezTo>
                      <a:pt x="891709" y="356461"/>
                      <a:pt x="905968" y="377244"/>
                      <a:pt x="917375" y="389427"/>
                    </a:cubicBezTo>
                    <a:cubicBezTo>
                      <a:pt x="918801" y="392294"/>
                      <a:pt x="918801" y="393727"/>
                      <a:pt x="919514" y="395160"/>
                    </a:cubicBezTo>
                    <a:cubicBezTo>
                      <a:pt x="921653" y="402327"/>
                      <a:pt x="923792" y="405910"/>
                      <a:pt x="928069" y="412360"/>
                    </a:cubicBezTo>
                    <a:cubicBezTo>
                      <a:pt x="930208" y="415226"/>
                      <a:pt x="933060" y="418810"/>
                      <a:pt x="936625" y="422393"/>
                    </a:cubicBezTo>
                    <a:cubicBezTo>
                      <a:pt x="915949" y="423110"/>
                      <a:pt x="870320" y="426693"/>
                      <a:pt x="839663" y="441026"/>
                    </a:cubicBezTo>
                    <a:cubicBezTo>
                      <a:pt x="831108" y="444609"/>
                      <a:pt x="823978" y="451059"/>
                      <a:pt x="817562" y="460375"/>
                    </a:cubicBezTo>
                    <a:cubicBezTo>
                      <a:pt x="817562" y="460375"/>
                      <a:pt x="817562" y="460375"/>
                      <a:pt x="835386" y="337112"/>
                    </a:cubicBezTo>
                    <a:cubicBezTo>
                      <a:pt x="835386" y="335679"/>
                      <a:pt x="836811" y="334962"/>
                      <a:pt x="837524" y="334962"/>
                    </a:cubicBezTo>
                    <a:close/>
                    <a:moveTo>
                      <a:pt x="689650" y="334962"/>
                    </a:moveTo>
                    <a:cubicBezTo>
                      <a:pt x="690363" y="334962"/>
                      <a:pt x="691789" y="335679"/>
                      <a:pt x="691789" y="337112"/>
                    </a:cubicBezTo>
                    <a:cubicBezTo>
                      <a:pt x="691789" y="337112"/>
                      <a:pt x="691789" y="337112"/>
                      <a:pt x="709613" y="460375"/>
                    </a:cubicBezTo>
                    <a:cubicBezTo>
                      <a:pt x="703196" y="451059"/>
                      <a:pt x="696067" y="444609"/>
                      <a:pt x="687511" y="441026"/>
                    </a:cubicBezTo>
                    <a:cubicBezTo>
                      <a:pt x="656854" y="426693"/>
                      <a:pt x="611225" y="423110"/>
                      <a:pt x="590550" y="422393"/>
                    </a:cubicBezTo>
                    <a:cubicBezTo>
                      <a:pt x="594827" y="418093"/>
                      <a:pt x="598392" y="413793"/>
                      <a:pt x="600531" y="410210"/>
                    </a:cubicBezTo>
                    <a:cubicBezTo>
                      <a:pt x="600531" y="410210"/>
                      <a:pt x="600531" y="410210"/>
                      <a:pt x="601244" y="408777"/>
                    </a:cubicBezTo>
                    <a:cubicBezTo>
                      <a:pt x="604809" y="403043"/>
                      <a:pt x="605522" y="400894"/>
                      <a:pt x="607661" y="395160"/>
                    </a:cubicBezTo>
                    <a:cubicBezTo>
                      <a:pt x="607661" y="394444"/>
                      <a:pt x="608374" y="393010"/>
                      <a:pt x="609087" y="390860"/>
                    </a:cubicBezTo>
                    <a:cubicBezTo>
                      <a:pt x="622633" y="377244"/>
                      <a:pt x="636179" y="355028"/>
                      <a:pt x="644021" y="338545"/>
                    </a:cubicBezTo>
                    <a:cubicBezTo>
                      <a:pt x="664697" y="335679"/>
                      <a:pt x="683234" y="334962"/>
                      <a:pt x="689650" y="334962"/>
                    </a:cubicBezTo>
                    <a:close/>
                    <a:moveTo>
                      <a:pt x="180120" y="334962"/>
                    </a:moveTo>
                    <a:cubicBezTo>
                      <a:pt x="180120" y="334962"/>
                      <a:pt x="204438" y="368371"/>
                      <a:pt x="252360" y="369082"/>
                    </a:cubicBezTo>
                    <a:cubicBezTo>
                      <a:pt x="299566" y="368371"/>
                      <a:pt x="323885" y="334962"/>
                      <a:pt x="323885" y="334962"/>
                    </a:cubicBezTo>
                    <a:cubicBezTo>
                      <a:pt x="323885" y="334962"/>
                      <a:pt x="346773" y="334962"/>
                      <a:pt x="371806" y="338516"/>
                    </a:cubicBezTo>
                    <a:cubicBezTo>
                      <a:pt x="379674" y="356287"/>
                      <a:pt x="394694" y="376901"/>
                      <a:pt x="406138" y="388985"/>
                    </a:cubicBezTo>
                    <a:cubicBezTo>
                      <a:pt x="406853" y="391828"/>
                      <a:pt x="407569" y="393249"/>
                      <a:pt x="408284" y="394671"/>
                    </a:cubicBezTo>
                    <a:cubicBezTo>
                      <a:pt x="410430" y="401779"/>
                      <a:pt x="411860" y="405333"/>
                      <a:pt x="416867" y="411731"/>
                    </a:cubicBezTo>
                    <a:cubicBezTo>
                      <a:pt x="419013" y="414574"/>
                      <a:pt x="421874" y="418128"/>
                      <a:pt x="425450" y="421682"/>
                    </a:cubicBezTo>
                    <a:cubicBezTo>
                      <a:pt x="404708" y="422393"/>
                      <a:pt x="358932" y="425947"/>
                      <a:pt x="328176" y="440164"/>
                    </a:cubicBezTo>
                    <a:cubicBezTo>
                      <a:pt x="314586" y="446561"/>
                      <a:pt x="303858" y="458645"/>
                      <a:pt x="294560" y="477837"/>
                    </a:cubicBezTo>
                    <a:cubicBezTo>
                      <a:pt x="294560" y="477837"/>
                      <a:pt x="294560" y="477837"/>
                      <a:pt x="34925" y="477837"/>
                    </a:cubicBezTo>
                    <a:cubicBezTo>
                      <a:pt x="43508" y="444429"/>
                      <a:pt x="61389" y="361973"/>
                      <a:pt x="84992" y="351311"/>
                    </a:cubicBezTo>
                    <a:cubicBezTo>
                      <a:pt x="118609" y="335673"/>
                      <a:pt x="180120" y="334962"/>
                      <a:pt x="180120" y="334962"/>
                    </a:cubicBezTo>
                    <a:close/>
                    <a:moveTo>
                      <a:pt x="1381410" y="215900"/>
                    </a:moveTo>
                    <a:cubicBezTo>
                      <a:pt x="1388595" y="215900"/>
                      <a:pt x="1375661" y="294662"/>
                      <a:pt x="1414463" y="298275"/>
                    </a:cubicBezTo>
                    <a:cubicBezTo>
                      <a:pt x="1400811" y="312727"/>
                      <a:pt x="1387158" y="318507"/>
                      <a:pt x="1376380" y="320675"/>
                    </a:cubicBezTo>
                    <a:cubicBezTo>
                      <a:pt x="1364164" y="319230"/>
                      <a:pt x="1354104" y="319230"/>
                      <a:pt x="1349074" y="319230"/>
                    </a:cubicBezTo>
                    <a:cubicBezTo>
                      <a:pt x="1347637" y="318507"/>
                      <a:pt x="1346200" y="317785"/>
                      <a:pt x="1346200" y="317785"/>
                    </a:cubicBezTo>
                    <a:cubicBezTo>
                      <a:pt x="1346200" y="317785"/>
                      <a:pt x="1346200" y="317785"/>
                      <a:pt x="1346200" y="293939"/>
                    </a:cubicBezTo>
                    <a:cubicBezTo>
                      <a:pt x="1346200" y="293939"/>
                      <a:pt x="1376380" y="238300"/>
                      <a:pt x="1381410" y="215900"/>
                    </a:cubicBezTo>
                    <a:close/>
                    <a:moveTo>
                      <a:pt x="1167890" y="215900"/>
                    </a:moveTo>
                    <a:cubicBezTo>
                      <a:pt x="1172851" y="236855"/>
                      <a:pt x="1203325" y="293939"/>
                      <a:pt x="1203325" y="293939"/>
                    </a:cubicBezTo>
                    <a:cubicBezTo>
                      <a:pt x="1203325" y="293939"/>
                      <a:pt x="1203325" y="293939"/>
                      <a:pt x="1203325" y="317785"/>
                    </a:cubicBezTo>
                    <a:cubicBezTo>
                      <a:pt x="1203325" y="317785"/>
                      <a:pt x="1201908" y="318507"/>
                      <a:pt x="1200490" y="319230"/>
                    </a:cubicBezTo>
                    <a:cubicBezTo>
                      <a:pt x="1196238" y="319230"/>
                      <a:pt x="1185607" y="319230"/>
                      <a:pt x="1173559" y="320675"/>
                    </a:cubicBezTo>
                    <a:cubicBezTo>
                      <a:pt x="1170016" y="319953"/>
                      <a:pt x="1167181" y="319230"/>
                      <a:pt x="1163637" y="317785"/>
                    </a:cubicBezTo>
                    <a:cubicBezTo>
                      <a:pt x="1167181" y="306946"/>
                      <a:pt x="1171433" y="293939"/>
                      <a:pt x="1171433" y="278765"/>
                    </a:cubicBezTo>
                    <a:cubicBezTo>
                      <a:pt x="1171433" y="262868"/>
                      <a:pt x="1169307" y="247694"/>
                      <a:pt x="1165055" y="233242"/>
                    </a:cubicBezTo>
                    <a:cubicBezTo>
                      <a:pt x="1165763" y="223126"/>
                      <a:pt x="1165763" y="215900"/>
                      <a:pt x="1167890" y="215900"/>
                    </a:cubicBezTo>
                    <a:close/>
                    <a:moveTo>
                      <a:pt x="1275200" y="0"/>
                    </a:moveTo>
                    <a:cubicBezTo>
                      <a:pt x="1344383" y="0"/>
                      <a:pt x="1397875" y="55508"/>
                      <a:pt x="1397875" y="124537"/>
                    </a:cubicBezTo>
                    <a:cubicBezTo>
                      <a:pt x="1397875" y="138770"/>
                      <a:pt x="1398588" y="153003"/>
                      <a:pt x="1393596" y="166524"/>
                    </a:cubicBezTo>
                    <a:cubicBezTo>
                      <a:pt x="1393596" y="166524"/>
                      <a:pt x="1393596" y="165812"/>
                      <a:pt x="1393596" y="165812"/>
                    </a:cubicBezTo>
                    <a:cubicBezTo>
                      <a:pt x="1392882" y="166524"/>
                      <a:pt x="1391456" y="172217"/>
                      <a:pt x="1380044" y="185026"/>
                    </a:cubicBezTo>
                    <a:cubicBezTo>
                      <a:pt x="1380044" y="185026"/>
                      <a:pt x="1379331" y="185738"/>
                      <a:pt x="1378618" y="185738"/>
                    </a:cubicBezTo>
                    <a:cubicBezTo>
                      <a:pt x="1378618" y="185738"/>
                      <a:pt x="1378618" y="185738"/>
                      <a:pt x="1370772" y="185738"/>
                    </a:cubicBezTo>
                    <a:cubicBezTo>
                      <a:pt x="1370772" y="185738"/>
                      <a:pt x="1370772" y="185738"/>
                      <a:pt x="1370059" y="185026"/>
                    </a:cubicBezTo>
                    <a:cubicBezTo>
                      <a:pt x="1370059" y="185026"/>
                      <a:pt x="1370059" y="185026"/>
                      <a:pt x="1208870" y="100341"/>
                    </a:cubicBezTo>
                    <a:cubicBezTo>
                      <a:pt x="1208157" y="99630"/>
                      <a:pt x="1208157" y="99630"/>
                      <a:pt x="1207444" y="99630"/>
                    </a:cubicBezTo>
                    <a:cubicBezTo>
                      <a:pt x="1171782" y="111728"/>
                      <a:pt x="1171782" y="185738"/>
                      <a:pt x="1159658" y="175064"/>
                    </a:cubicBezTo>
                    <a:cubicBezTo>
                      <a:pt x="1154665" y="161542"/>
                      <a:pt x="1152525" y="139482"/>
                      <a:pt x="1152525" y="124537"/>
                    </a:cubicBezTo>
                    <a:cubicBezTo>
                      <a:pt x="1152525" y="55508"/>
                      <a:pt x="1206017" y="0"/>
                      <a:pt x="1275200" y="0"/>
                    </a:cubicBezTo>
                    <a:close/>
                    <a:moveTo>
                      <a:pt x="763587" y="0"/>
                    </a:moveTo>
                    <a:cubicBezTo>
                      <a:pt x="832122" y="0"/>
                      <a:pt x="884237" y="55458"/>
                      <a:pt x="884237" y="123004"/>
                    </a:cubicBezTo>
                    <a:cubicBezTo>
                      <a:pt x="884237" y="137935"/>
                      <a:pt x="884237" y="152155"/>
                      <a:pt x="879953" y="164953"/>
                    </a:cubicBezTo>
                    <a:cubicBezTo>
                      <a:pt x="879239" y="164953"/>
                      <a:pt x="877098" y="171352"/>
                      <a:pt x="866389" y="184150"/>
                    </a:cubicBezTo>
                    <a:cubicBezTo>
                      <a:pt x="866389" y="184150"/>
                      <a:pt x="866389" y="184150"/>
                      <a:pt x="857108" y="184150"/>
                    </a:cubicBezTo>
                    <a:cubicBezTo>
                      <a:pt x="857108" y="184150"/>
                      <a:pt x="857108" y="179173"/>
                      <a:pt x="856394" y="93142"/>
                    </a:cubicBezTo>
                    <a:cubicBezTo>
                      <a:pt x="842116" y="162109"/>
                      <a:pt x="697194" y="98830"/>
                      <a:pt x="697194" y="98830"/>
                    </a:cubicBezTo>
                    <a:cubicBezTo>
                      <a:pt x="661498" y="110206"/>
                      <a:pt x="667923" y="182017"/>
                      <a:pt x="667923" y="182017"/>
                    </a:cubicBezTo>
                    <a:cubicBezTo>
                      <a:pt x="667923" y="182017"/>
                      <a:pt x="667923" y="182017"/>
                      <a:pt x="660070" y="181306"/>
                    </a:cubicBezTo>
                    <a:cubicBezTo>
                      <a:pt x="660070" y="181306"/>
                      <a:pt x="660070" y="177040"/>
                      <a:pt x="647934" y="166375"/>
                    </a:cubicBezTo>
                    <a:cubicBezTo>
                      <a:pt x="642937" y="152866"/>
                      <a:pt x="642937" y="138646"/>
                      <a:pt x="642937" y="123004"/>
                    </a:cubicBezTo>
                    <a:cubicBezTo>
                      <a:pt x="642937" y="55458"/>
                      <a:pt x="695052" y="0"/>
                      <a:pt x="763587" y="0"/>
                    </a:cubicBezTo>
                    <a:close/>
                    <a:moveTo>
                      <a:pt x="252412" y="0"/>
                    </a:moveTo>
                    <a:cubicBezTo>
                      <a:pt x="320233" y="0"/>
                      <a:pt x="373062" y="55458"/>
                      <a:pt x="373062" y="123004"/>
                    </a:cubicBezTo>
                    <a:cubicBezTo>
                      <a:pt x="373062" y="137935"/>
                      <a:pt x="373062" y="152155"/>
                      <a:pt x="368778" y="164953"/>
                    </a:cubicBezTo>
                    <a:cubicBezTo>
                      <a:pt x="368064" y="164953"/>
                      <a:pt x="368064" y="164953"/>
                      <a:pt x="368064" y="164953"/>
                    </a:cubicBezTo>
                    <a:cubicBezTo>
                      <a:pt x="368064" y="164953"/>
                      <a:pt x="365923" y="171352"/>
                      <a:pt x="354500" y="184150"/>
                    </a:cubicBezTo>
                    <a:cubicBezTo>
                      <a:pt x="354500" y="184150"/>
                      <a:pt x="354500" y="184150"/>
                      <a:pt x="345933" y="184150"/>
                    </a:cubicBezTo>
                    <a:cubicBezTo>
                      <a:pt x="345933" y="184150"/>
                      <a:pt x="345933" y="179173"/>
                      <a:pt x="344506" y="93142"/>
                    </a:cubicBezTo>
                    <a:cubicBezTo>
                      <a:pt x="330941" y="162109"/>
                      <a:pt x="186019" y="98830"/>
                      <a:pt x="186019" y="98830"/>
                    </a:cubicBezTo>
                    <a:cubicBezTo>
                      <a:pt x="150323" y="110206"/>
                      <a:pt x="156748" y="182017"/>
                      <a:pt x="156748" y="182017"/>
                    </a:cubicBezTo>
                    <a:cubicBezTo>
                      <a:pt x="156748" y="182017"/>
                      <a:pt x="156748" y="182017"/>
                      <a:pt x="148182" y="181306"/>
                    </a:cubicBezTo>
                    <a:cubicBezTo>
                      <a:pt x="148182" y="181306"/>
                      <a:pt x="148182" y="177040"/>
                      <a:pt x="136759" y="166375"/>
                    </a:cubicBezTo>
                    <a:cubicBezTo>
                      <a:pt x="131762" y="152866"/>
                      <a:pt x="131762" y="138646"/>
                      <a:pt x="131762" y="123004"/>
                    </a:cubicBezTo>
                    <a:cubicBezTo>
                      <a:pt x="131762" y="55458"/>
                      <a:pt x="183877" y="0"/>
                      <a:pt x="252412" y="0"/>
                    </a:cubicBezTo>
                    <a:close/>
                  </a:path>
                </a:pathLst>
              </a:custGeom>
              <a:solidFill>
                <a:srgbClr val="FFC000"/>
              </a:solidFill>
              <a:ln>
                <a:noFill/>
              </a:ln>
            </p:spPr>
            <p:txBody>
              <a:bodyPr anchorCtr="0" anchor="t" bIns="65375" lIns="130750" spcFirstLastPara="1" rIns="130750" wrap="square" tIns="65375">
                <a:noAutofit/>
              </a:bodyPr>
              <a:lstStyle/>
              <a:p>
                <a:pPr indent="0" lvl="0" marL="0" marR="0" rtl="0" algn="l">
                  <a:lnSpc>
                    <a:spcPct val="100000"/>
                  </a:lnSpc>
                  <a:spcBef>
                    <a:spcPts val="0"/>
                  </a:spcBef>
                  <a:spcAft>
                    <a:spcPts val="0"/>
                  </a:spcAft>
                  <a:buClr>
                    <a:schemeClr val="dk1"/>
                  </a:buClr>
                  <a:buSzPts val="1800"/>
                  <a:buFont typeface="Open Sans"/>
                  <a:buNone/>
                </a:pPr>
                <a:r>
                  <a:t/>
                </a:r>
                <a:endParaRPr b="0" i="0" sz="1800" u="none" cap="none" strike="noStrike">
                  <a:solidFill>
                    <a:srgbClr val="575757"/>
                  </a:solidFill>
                  <a:latin typeface="Trebuchet MS"/>
                  <a:ea typeface="Trebuchet MS"/>
                  <a:cs typeface="Trebuchet MS"/>
                  <a:sym typeface="Trebuchet MS"/>
                </a:endParaRPr>
              </a:p>
            </p:txBody>
          </p:sp>
          <p:sp>
            <p:nvSpPr>
              <p:cNvPr id="403" name="Google Shape;403;p5"/>
              <p:cNvSpPr/>
              <p:nvPr/>
            </p:nvSpPr>
            <p:spPr>
              <a:xfrm>
                <a:off x="5620327" y="3249613"/>
                <a:ext cx="951344" cy="458787"/>
              </a:xfrm>
              <a:custGeom>
                <a:rect b="b" l="l" r="r" t="t"/>
                <a:pathLst>
                  <a:path extrusionOk="0" h="458787" w="951344">
                    <a:moveTo>
                      <a:pt x="660078" y="296862"/>
                    </a:moveTo>
                    <a:cubicBezTo>
                      <a:pt x="660078" y="296862"/>
                      <a:pt x="670756" y="306849"/>
                      <a:pt x="691398" y="313982"/>
                    </a:cubicBezTo>
                    <a:cubicBezTo>
                      <a:pt x="696381" y="315409"/>
                      <a:pt x="702787" y="316835"/>
                      <a:pt x="709193" y="318262"/>
                    </a:cubicBezTo>
                    <a:cubicBezTo>
                      <a:pt x="716312" y="318975"/>
                      <a:pt x="723430" y="319689"/>
                      <a:pt x="731260" y="319689"/>
                    </a:cubicBezTo>
                    <a:cubicBezTo>
                      <a:pt x="739090" y="319689"/>
                      <a:pt x="746920" y="318975"/>
                      <a:pt x="753326" y="318262"/>
                    </a:cubicBezTo>
                    <a:cubicBezTo>
                      <a:pt x="759732" y="316835"/>
                      <a:pt x="766139" y="315409"/>
                      <a:pt x="771121" y="313982"/>
                    </a:cubicBezTo>
                    <a:cubicBezTo>
                      <a:pt x="792476" y="306849"/>
                      <a:pt x="803153" y="296862"/>
                      <a:pt x="803153" y="296862"/>
                    </a:cubicBezTo>
                    <a:cubicBezTo>
                      <a:pt x="803153" y="296862"/>
                      <a:pt x="864369" y="297575"/>
                      <a:pt x="897824" y="313269"/>
                    </a:cubicBezTo>
                    <a:cubicBezTo>
                      <a:pt x="901383" y="314695"/>
                      <a:pt x="904231" y="318262"/>
                      <a:pt x="907790" y="322542"/>
                    </a:cubicBezTo>
                    <a:cubicBezTo>
                      <a:pt x="910637" y="326822"/>
                      <a:pt x="913484" y="331815"/>
                      <a:pt x="916332" y="337522"/>
                    </a:cubicBezTo>
                    <a:cubicBezTo>
                      <a:pt x="918467" y="342515"/>
                      <a:pt x="921314" y="348222"/>
                      <a:pt x="923450" y="353928"/>
                    </a:cubicBezTo>
                    <a:cubicBezTo>
                      <a:pt x="923450" y="354642"/>
                      <a:pt x="923450" y="355355"/>
                      <a:pt x="923450" y="355355"/>
                    </a:cubicBezTo>
                    <a:cubicBezTo>
                      <a:pt x="927721" y="365341"/>
                      <a:pt x="930568" y="376041"/>
                      <a:pt x="934127" y="386741"/>
                    </a:cubicBezTo>
                    <a:cubicBezTo>
                      <a:pt x="941957" y="415274"/>
                      <a:pt x="947651" y="443094"/>
                      <a:pt x="951210" y="451654"/>
                    </a:cubicBezTo>
                    <a:cubicBezTo>
                      <a:pt x="951922" y="455221"/>
                      <a:pt x="949787" y="458787"/>
                      <a:pt x="945516" y="458787"/>
                    </a:cubicBezTo>
                    <a:cubicBezTo>
                      <a:pt x="945516" y="458787"/>
                      <a:pt x="945516" y="458787"/>
                      <a:pt x="517004" y="458787"/>
                    </a:cubicBezTo>
                    <a:cubicBezTo>
                      <a:pt x="513445" y="458787"/>
                      <a:pt x="510597" y="455221"/>
                      <a:pt x="512021" y="451654"/>
                    </a:cubicBezTo>
                    <a:cubicBezTo>
                      <a:pt x="514868" y="443094"/>
                      <a:pt x="520563" y="415274"/>
                      <a:pt x="529104" y="386741"/>
                    </a:cubicBezTo>
                    <a:cubicBezTo>
                      <a:pt x="531952" y="376041"/>
                      <a:pt x="535511" y="365341"/>
                      <a:pt x="539070" y="355355"/>
                    </a:cubicBezTo>
                    <a:cubicBezTo>
                      <a:pt x="539070" y="355355"/>
                      <a:pt x="539070" y="354642"/>
                      <a:pt x="539782" y="353928"/>
                    </a:cubicBezTo>
                    <a:cubicBezTo>
                      <a:pt x="541917" y="348222"/>
                      <a:pt x="544053" y="342515"/>
                      <a:pt x="546188" y="337522"/>
                    </a:cubicBezTo>
                    <a:cubicBezTo>
                      <a:pt x="549035" y="331815"/>
                      <a:pt x="551882" y="326822"/>
                      <a:pt x="554730" y="322542"/>
                    </a:cubicBezTo>
                    <a:cubicBezTo>
                      <a:pt x="558289" y="318262"/>
                      <a:pt x="561848" y="314695"/>
                      <a:pt x="565407" y="313269"/>
                    </a:cubicBezTo>
                    <a:cubicBezTo>
                      <a:pt x="598150" y="297575"/>
                      <a:pt x="660078" y="296862"/>
                      <a:pt x="660078" y="296862"/>
                    </a:cubicBezTo>
                    <a:close/>
                    <a:moveTo>
                      <a:pt x="148191" y="296862"/>
                    </a:moveTo>
                    <a:cubicBezTo>
                      <a:pt x="148191" y="296862"/>
                      <a:pt x="158868" y="306849"/>
                      <a:pt x="178799" y="313269"/>
                    </a:cubicBezTo>
                    <a:cubicBezTo>
                      <a:pt x="184494" y="315409"/>
                      <a:pt x="190900" y="316835"/>
                      <a:pt x="198018" y="318262"/>
                    </a:cubicBezTo>
                    <a:cubicBezTo>
                      <a:pt x="204424" y="318975"/>
                      <a:pt x="212254" y="319689"/>
                      <a:pt x="220084" y="319689"/>
                    </a:cubicBezTo>
                    <a:cubicBezTo>
                      <a:pt x="227914" y="319689"/>
                      <a:pt x="235032" y="318975"/>
                      <a:pt x="242151" y="318262"/>
                    </a:cubicBezTo>
                    <a:cubicBezTo>
                      <a:pt x="248557" y="316835"/>
                      <a:pt x="254963" y="315409"/>
                      <a:pt x="259946" y="313982"/>
                    </a:cubicBezTo>
                    <a:cubicBezTo>
                      <a:pt x="280588" y="306849"/>
                      <a:pt x="291266" y="296862"/>
                      <a:pt x="291266" y="296862"/>
                    </a:cubicBezTo>
                    <a:cubicBezTo>
                      <a:pt x="291266" y="296862"/>
                      <a:pt x="353194" y="297575"/>
                      <a:pt x="385937" y="313269"/>
                    </a:cubicBezTo>
                    <a:cubicBezTo>
                      <a:pt x="389496" y="314695"/>
                      <a:pt x="393055" y="318262"/>
                      <a:pt x="396614" y="322542"/>
                    </a:cubicBezTo>
                    <a:cubicBezTo>
                      <a:pt x="399462" y="326822"/>
                      <a:pt x="402309" y="331815"/>
                      <a:pt x="405156" y="337522"/>
                    </a:cubicBezTo>
                    <a:cubicBezTo>
                      <a:pt x="407291" y="342515"/>
                      <a:pt x="409427" y="348222"/>
                      <a:pt x="411562" y="353928"/>
                    </a:cubicBezTo>
                    <a:cubicBezTo>
                      <a:pt x="412274" y="354642"/>
                      <a:pt x="412274" y="355355"/>
                      <a:pt x="412274" y="355355"/>
                    </a:cubicBezTo>
                    <a:cubicBezTo>
                      <a:pt x="415833" y="365341"/>
                      <a:pt x="419392" y="376041"/>
                      <a:pt x="422240" y="386741"/>
                    </a:cubicBezTo>
                    <a:cubicBezTo>
                      <a:pt x="430781" y="415274"/>
                      <a:pt x="436476" y="443094"/>
                      <a:pt x="439323" y="451654"/>
                    </a:cubicBezTo>
                    <a:cubicBezTo>
                      <a:pt x="440747" y="455221"/>
                      <a:pt x="437900" y="458787"/>
                      <a:pt x="434340" y="458787"/>
                    </a:cubicBezTo>
                    <a:cubicBezTo>
                      <a:pt x="434340" y="458787"/>
                      <a:pt x="434340" y="458787"/>
                      <a:pt x="5828" y="458787"/>
                    </a:cubicBezTo>
                    <a:cubicBezTo>
                      <a:pt x="1557" y="458787"/>
                      <a:pt x="-578" y="455221"/>
                      <a:pt x="134" y="451654"/>
                    </a:cubicBezTo>
                    <a:cubicBezTo>
                      <a:pt x="3693" y="443094"/>
                      <a:pt x="9387" y="415274"/>
                      <a:pt x="17217" y="386741"/>
                    </a:cubicBezTo>
                    <a:cubicBezTo>
                      <a:pt x="20776" y="376041"/>
                      <a:pt x="23623" y="365341"/>
                      <a:pt x="27894" y="355355"/>
                    </a:cubicBezTo>
                    <a:cubicBezTo>
                      <a:pt x="27894" y="355355"/>
                      <a:pt x="27894" y="354642"/>
                      <a:pt x="27894" y="353928"/>
                    </a:cubicBezTo>
                    <a:cubicBezTo>
                      <a:pt x="30030" y="349648"/>
                      <a:pt x="31453" y="345368"/>
                      <a:pt x="33589" y="341088"/>
                    </a:cubicBezTo>
                    <a:cubicBezTo>
                      <a:pt x="36436" y="333955"/>
                      <a:pt x="39995" y="327535"/>
                      <a:pt x="43554" y="322542"/>
                    </a:cubicBezTo>
                    <a:cubicBezTo>
                      <a:pt x="47113" y="318262"/>
                      <a:pt x="49961" y="314695"/>
                      <a:pt x="53520" y="313269"/>
                    </a:cubicBezTo>
                    <a:cubicBezTo>
                      <a:pt x="86975" y="297575"/>
                      <a:pt x="148191" y="296862"/>
                      <a:pt x="148191" y="296862"/>
                    </a:cubicBezTo>
                    <a:close/>
                    <a:moveTo>
                      <a:pt x="731260" y="0"/>
                    </a:moveTo>
                    <a:cubicBezTo>
                      <a:pt x="799795" y="0"/>
                      <a:pt x="851910" y="55541"/>
                      <a:pt x="851910" y="123188"/>
                    </a:cubicBezTo>
                    <a:cubicBezTo>
                      <a:pt x="851910" y="129597"/>
                      <a:pt x="850482" y="136005"/>
                      <a:pt x="849055" y="142414"/>
                    </a:cubicBezTo>
                    <a:cubicBezTo>
                      <a:pt x="849055" y="143126"/>
                      <a:pt x="848341" y="143126"/>
                      <a:pt x="848341" y="143838"/>
                    </a:cubicBezTo>
                    <a:cubicBezTo>
                      <a:pt x="846913" y="150247"/>
                      <a:pt x="844771" y="155943"/>
                      <a:pt x="842629" y="161640"/>
                    </a:cubicBezTo>
                    <a:cubicBezTo>
                      <a:pt x="842629" y="161640"/>
                      <a:pt x="842629" y="161640"/>
                      <a:pt x="842629" y="162352"/>
                    </a:cubicBezTo>
                    <a:cubicBezTo>
                      <a:pt x="842629" y="163776"/>
                      <a:pt x="841202" y="167337"/>
                      <a:pt x="838346" y="171609"/>
                    </a:cubicBezTo>
                    <a:cubicBezTo>
                      <a:pt x="835490" y="178018"/>
                      <a:pt x="831207" y="185850"/>
                      <a:pt x="826210" y="192971"/>
                    </a:cubicBezTo>
                    <a:cubicBezTo>
                      <a:pt x="819785" y="202940"/>
                      <a:pt x="811932" y="212197"/>
                      <a:pt x="806220" y="216470"/>
                    </a:cubicBezTo>
                    <a:cubicBezTo>
                      <a:pt x="799081" y="234983"/>
                      <a:pt x="803365" y="227863"/>
                      <a:pt x="796940" y="238544"/>
                    </a:cubicBezTo>
                    <a:cubicBezTo>
                      <a:pt x="795512" y="240680"/>
                      <a:pt x="793370" y="242816"/>
                      <a:pt x="791228" y="244952"/>
                    </a:cubicBezTo>
                    <a:cubicBezTo>
                      <a:pt x="786231" y="249225"/>
                      <a:pt x="779092" y="254209"/>
                      <a:pt x="770525" y="258482"/>
                    </a:cubicBezTo>
                    <a:cubicBezTo>
                      <a:pt x="757675" y="264890"/>
                      <a:pt x="742683" y="269875"/>
                      <a:pt x="731260" y="269875"/>
                    </a:cubicBezTo>
                    <a:cubicBezTo>
                      <a:pt x="719838" y="269875"/>
                      <a:pt x="704846" y="264178"/>
                      <a:pt x="691995" y="257770"/>
                    </a:cubicBezTo>
                    <a:cubicBezTo>
                      <a:pt x="683429" y="253497"/>
                      <a:pt x="676290" y="248513"/>
                      <a:pt x="671292" y="244240"/>
                    </a:cubicBezTo>
                    <a:cubicBezTo>
                      <a:pt x="669150" y="242104"/>
                      <a:pt x="667009" y="239968"/>
                      <a:pt x="665581" y="238544"/>
                    </a:cubicBezTo>
                    <a:cubicBezTo>
                      <a:pt x="659870" y="229999"/>
                      <a:pt x="663439" y="234983"/>
                      <a:pt x="656300" y="216470"/>
                    </a:cubicBezTo>
                    <a:cubicBezTo>
                      <a:pt x="652017" y="213621"/>
                      <a:pt x="644164" y="203652"/>
                      <a:pt x="637025" y="192971"/>
                    </a:cubicBezTo>
                    <a:cubicBezTo>
                      <a:pt x="632027" y="185850"/>
                      <a:pt x="627744" y="178730"/>
                      <a:pt x="624174" y="171609"/>
                    </a:cubicBezTo>
                    <a:cubicBezTo>
                      <a:pt x="621319" y="166625"/>
                      <a:pt x="619177" y="162352"/>
                      <a:pt x="619177" y="159504"/>
                    </a:cubicBezTo>
                    <a:cubicBezTo>
                      <a:pt x="619177" y="158792"/>
                      <a:pt x="619177" y="158792"/>
                      <a:pt x="619177" y="158080"/>
                    </a:cubicBezTo>
                    <a:cubicBezTo>
                      <a:pt x="616321" y="147399"/>
                      <a:pt x="610610" y="135293"/>
                      <a:pt x="610610" y="123188"/>
                    </a:cubicBezTo>
                    <a:cubicBezTo>
                      <a:pt x="610610" y="55541"/>
                      <a:pt x="663439" y="0"/>
                      <a:pt x="731260" y="0"/>
                    </a:cubicBezTo>
                    <a:close/>
                    <a:moveTo>
                      <a:pt x="220085" y="0"/>
                    </a:moveTo>
                    <a:cubicBezTo>
                      <a:pt x="287906" y="0"/>
                      <a:pt x="340735" y="55541"/>
                      <a:pt x="340735" y="123188"/>
                    </a:cubicBezTo>
                    <a:cubicBezTo>
                      <a:pt x="340735" y="136718"/>
                      <a:pt x="335024" y="149535"/>
                      <a:pt x="331454" y="161640"/>
                    </a:cubicBezTo>
                    <a:cubicBezTo>
                      <a:pt x="331454" y="161640"/>
                      <a:pt x="331454" y="161640"/>
                      <a:pt x="331454" y="162352"/>
                    </a:cubicBezTo>
                    <a:cubicBezTo>
                      <a:pt x="331454" y="163776"/>
                      <a:pt x="330026" y="167337"/>
                      <a:pt x="327171" y="171609"/>
                    </a:cubicBezTo>
                    <a:cubicBezTo>
                      <a:pt x="324315" y="178018"/>
                      <a:pt x="320032" y="185850"/>
                      <a:pt x="315034" y="192971"/>
                    </a:cubicBezTo>
                    <a:cubicBezTo>
                      <a:pt x="307895" y="202940"/>
                      <a:pt x="300756" y="212197"/>
                      <a:pt x="295045" y="216470"/>
                    </a:cubicBezTo>
                    <a:cubicBezTo>
                      <a:pt x="287192" y="234983"/>
                      <a:pt x="291475" y="227863"/>
                      <a:pt x="285764" y="238544"/>
                    </a:cubicBezTo>
                    <a:cubicBezTo>
                      <a:pt x="284336" y="240680"/>
                      <a:pt x="282195" y="242816"/>
                      <a:pt x="279339" y="244952"/>
                    </a:cubicBezTo>
                    <a:cubicBezTo>
                      <a:pt x="274342" y="249225"/>
                      <a:pt x="267203" y="254209"/>
                      <a:pt x="259350" y="258482"/>
                    </a:cubicBezTo>
                    <a:cubicBezTo>
                      <a:pt x="246499" y="264890"/>
                      <a:pt x="231507" y="269875"/>
                      <a:pt x="220085" y="269875"/>
                    </a:cubicBezTo>
                    <a:cubicBezTo>
                      <a:pt x="207948" y="269875"/>
                      <a:pt x="192956" y="264178"/>
                      <a:pt x="180106" y="257770"/>
                    </a:cubicBezTo>
                    <a:cubicBezTo>
                      <a:pt x="172253" y="253497"/>
                      <a:pt x="164400" y="248513"/>
                      <a:pt x="159403" y="244240"/>
                    </a:cubicBezTo>
                    <a:cubicBezTo>
                      <a:pt x="157261" y="242104"/>
                      <a:pt x="155833" y="239968"/>
                      <a:pt x="154405" y="238544"/>
                    </a:cubicBezTo>
                    <a:cubicBezTo>
                      <a:pt x="148694" y="229999"/>
                      <a:pt x="152264" y="234983"/>
                      <a:pt x="145125" y="216470"/>
                    </a:cubicBezTo>
                    <a:cubicBezTo>
                      <a:pt x="140841" y="213621"/>
                      <a:pt x="132988" y="203652"/>
                      <a:pt x="125849" y="192971"/>
                    </a:cubicBezTo>
                    <a:cubicBezTo>
                      <a:pt x="120852" y="185850"/>
                      <a:pt x="115855" y="178730"/>
                      <a:pt x="112999" y="171609"/>
                    </a:cubicBezTo>
                    <a:cubicBezTo>
                      <a:pt x="110143" y="166625"/>
                      <a:pt x="108002" y="162352"/>
                      <a:pt x="108002" y="159504"/>
                    </a:cubicBezTo>
                    <a:cubicBezTo>
                      <a:pt x="107288" y="158792"/>
                      <a:pt x="108002" y="158792"/>
                      <a:pt x="107288" y="158080"/>
                    </a:cubicBezTo>
                    <a:cubicBezTo>
                      <a:pt x="105146" y="147399"/>
                      <a:pt x="99435" y="135293"/>
                      <a:pt x="99435" y="123188"/>
                    </a:cubicBezTo>
                    <a:cubicBezTo>
                      <a:pt x="99435" y="55541"/>
                      <a:pt x="151550" y="0"/>
                      <a:pt x="220085" y="0"/>
                    </a:cubicBezTo>
                    <a:close/>
                  </a:path>
                </a:pathLst>
              </a:custGeom>
              <a:solidFill>
                <a:srgbClr val="FFC000"/>
              </a:solidFill>
              <a:ln>
                <a:noFill/>
              </a:ln>
            </p:spPr>
            <p:txBody>
              <a:bodyPr anchorCtr="0" anchor="t" bIns="65375" lIns="130750" spcFirstLastPara="1" rIns="130750" wrap="square" tIns="65375">
                <a:noAutofit/>
              </a:bodyPr>
              <a:lstStyle/>
              <a:p>
                <a:pPr indent="0" lvl="0" marL="0" marR="0" rtl="0" algn="l">
                  <a:lnSpc>
                    <a:spcPct val="100000"/>
                  </a:lnSpc>
                  <a:spcBef>
                    <a:spcPts val="0"/>
                  </a:spcBef>
                  <a:spcAft>
                    <a:spcPts val="0"/>
                  </a:spcAft>
                  <a:buClr>
                    <a:schemeClr val="dk1"/>
                  </a:buClr>
                  <a:buSzPts val="1800"/>
                  <a:buFont typeface="Open Sans"/>
                  <a:buNone/>
                </a:pPr>
                <a:r>
                  <a:t/>
                </a:r>
                <a:endParaRPr b="0" i="0" sz="1800" u="none" cap="none" strike="noStrike">
                  <a:solidFill>
                    <a:srgbClr val="575757"/>
                  </a:solidFill>
                  <a:latin typeface="Trebuchet MS"/>
                  <a:ea typeface="Trebuchet MS"/>
                  <a:cs typeface="Trebuchet MS"/>
                  <a:sym typeface="Trebuchet MS"/>
                </a:endParaRPr>
              </a:p>
            </p:txBody>
          </p:sp>
        </p:grpSp>
        <p:sp>
          <p:nvSpPr>
            <p:cNvPr id="404" name="Google Shape;404;p5"/>
            <p:cNvSpPr/>
            <p:nvPr/>
          </p:nvSpPr>
          <p:spPr>
            <a:xfrm>
              <a:off x="1742495" y="2072694"/>
              <a:ext cx="902208" cy="902592"/>
            </a:xfrm>
            <a:prstGeom prst="ellipse">
              <a:avLst/>
            </a:prstGeom>
            <a:no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Open Sans"/>
                <a:cs typeface="Open Sans"/>
                <a:sym typeface="Open Sans"/>
              </a:endParaRPr>
            </a:p>
          </p:txBody>
        </p:sp>
      </p:grpSp>
      <p:sp>
        <p:nvSpPr>
          <p:cNvPr id="405" name="Google Shape;405;p5"/>
          <p:cNvSpPr/>
          <p:nvPr/>
        </p:nvSpPr>
        <p:spPr>
          <a:xfrm>
            <a:off x="704516" y="3721080"/>
            <a:ext cx="647530" cy="647806"/>
          </a:xfrm>
          <a:prstGeom prst="ellipse">
            <a:avLst/>
          </a:prstGeom>
          <a:no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Open Sans"/>
              <a:cs typeface="Open Sans"/>
              <a:sym typeface="Open Sans"/>
            </a:endParaRPr>
          </a:p>
        </p:txBody>
      </p:sp>
      <p:grpSp>
        <p:nvGrpSpPr>
          <p:cNvPr id="406" name="Google Shape;406;p5"/>
          <p:cNvGrpSpPr/>
          <p:nvPr/>
        </p:nvGrpSpPr>
        <p:grpSpPr>
          <a:xfrm>
            <a:off x="704516" y="4776483"/>
            <a:ext cx="647530" cy="647806"/>
            <a:chOff x="1740197" y="4385776"/>
            <a:chExt cx="902208" cy="902592"/>
          </a:xfrm>
        </p:grpSpPr>
        <p:grpSp>
          <p:nvGrpSpPr>
            <p:cNvPr id="407" name="Google Shape;407;p5"/>
            <p:cNvGrpSpPr/>
            <p:nvPr/>
          </p:nvGrpSpPr>
          <p:grpSpPr>
            <a:xfrm>
              <a:off x="1930166" y="4600139"/>
              <a:ext cx="522270" cy="522270"/>
              <a:chOff x="3813351" y="1143176"/>
              <a:chExt cx="4565299" cy="4565299"/>
            </a:xfrm>
          </p:grpSpPr>
          <p:sp>
            <p:nvSpPr>
              <p:cNvPr id="408" name="Google Shape;408;p5"/>
              <p:cNvSpPr/>
              <p:nvPr/>
            </p:nvSpPr>
            <p:spPr>
              <a:xfrm>
                <a:off x="3813351" y="1155863"/>
                <a:ext cx="4552666" cy="4546262"/>
              </a:xfrm>
              <a:custGeom>
                <a:rect b="b" l="l" r="r" t="t"/>
                <a:pathLst>
                  <a:path extrusionOk="0" h="4546260" w="4552665">
                    <a:moveTo>
                      <a:pt x="809844" y="3276435"/>
                    </a:moveTo>
                    <a:cubicBezTo>
                      <a:pt x="604554" y="3276435"/>
                      <a:pt x="503397" y="3401374"/>
                      <a:pt x="455794" y="3505490"/>
                    </a:cubicBezTo>
                    <a:cubicBezTo>
                      <a:pt x="366537" y="3689923"/>
                      <a:pt x="512323" y="3877331"/>
                      <a:pt x="580753" y="3951699"/>
                    </a:cubicBezTo>
                    <a:cubicBezTo>
                      <a:pt x="580753" y="3951699"/>
                      <a:pt x="580753" y="3951699"/>
                      <a:pt x="580753" y="4162905"/>
                    </a:cubicBezTo>
                    <a:cubicBezTo>
                      <a:pt x="580753" y="4171830"/>
                      <a:pt x="583728" y="4180754"/>
                      <a:pt x="592654" y="4183729"/>
                    </a:cubicBezTo>
                    <a:cubicBezTo>
                      <a:pt x="732489" y="4240248"/>
                      <a:pt x="913977" y="4243223"/>
                      <a:pt x="928853" y="4243223"/>
                    </a:cubicBezTo>
                    <a:cubicBezTo>
                      <a:pt x="940754" y="4243223"/>
                      <a:pt x="949679" y="4231324"/>
                      <a:pt x="949679" y="4219425"/>
                    </a:cubicBezTo>
                    <a:cubicBezTo>
                      <a:pt x="949679" y="4219425"/>
                      <a:pt x="949679" y="4219425"/>
                      <a:pt x="949679" y="4073663"/>
                    </a:cubicBezTo>
                    <a:cubicBezTo>
                      <a:pt x="1035960" y="4082588"/>
                      <a:pt x="1101415" y="4073663"/>
                      <a:pt x="1122242" y="4064739"/>
                    </a:cubicBezTo>
                    <a:cubicBezTo>
                      <a:pt x="1146043" y="4049866"/>
                      <a:pt x="1146043" y="4023093"/>
                      <a:pt x="1149019" y="3969548"/>
                    </a:cubicBezTo>
                    <a:cubicBezTo>
                      <a:pt x="1149019" y="3969548"/>
                      <a:pt x="1149019" y="3969548"/>
                      <a:pt x="1149019" y="3963598"/>
                    </a:cubicBezTo>
                    <a:cubicBezTo>
                      <a:pt x="1151994" y="3930876"/>
                      <a:pt x="1149019" y="3877331"/>
                      <a:pt x="1146043" y="3847584"/>
                    </a:cubicBezTo>
                    <a:cubicBezTo>
                      <a:pt x="1208523" y="3847584"/>
                      <a:pt x="1226374" y="3811887"/>
                      <a:pt x="1232325" y="3802963"/>
                    </a:cubicBezTo>
                    <a:cubicBezTo>
                      <a:pt x="1241250" y="3776190"/>
                      <a:pt x="1214473" y="3752392"/>
                      <a:pt x="1190672" y="3722645"/>
                    </a:cubicBezTo>
                    <a:cubicBezTo>
                      <a:pt x="1190672" y="3719670"/>
                      <a:pt x="1187696" y="3716696"/>
                      <a:pt x="1184721" y="3713721"/>
                    </a:cubicBezTo>
                    <a:cubicBezTo>
                      <a:pt x="1172820" y="3704797"/>
                      <a:pt x="1157944" y="3678024"/>
                      <a:pt x="1149019" y="3645302"/>
                    </a:cubicBezTo>
                    <a:cubicBezTo>
                      <a:pt x="1146043" y="3639353"/>
                      <a:pt x="1143068" y="3624479"/>
                      <a:pt x="1140093" y="3609605"/>
                    </a:cubicBezTo>
                    <a:cubicBezTo>
                      <a:pt x="1137118" y="3591757"/>
                      <a:pt x="1131167" y="3570934"/>
                      <a:pt x="1125217" y="3556060"/>
                    </a:cubicBezTo>
                    <a:cubicBezTo>
                      <a:pt x="1119266" y="3538212"/>
                      <a:pt x="1116291" y="3484667"/>
                      <a:pt x="1113316" y="3457894"/>
                    </a:cubicBezTo>
                    <a:cubicBezTo>
                      <a:pt x="1116291" y="3457894"/>
                      <a:pt x="1122242" y="3460869"/>
                      <a:pt x="1125217" y="3460869"/>
                    </a:cubicBezTo>
                    <a:cubicBezTo>
                      <a:pt x="1125217" y="3460869"/>
                      <a:pt x="1125217" y="3460869"/>
                      <a:pt x="1128192" y="3457894"/>
                    </a:cubicBezTo>
                    <a:cubicBezTo>
                      <a:pt x="1140093" y="3410298"/>
                      <a:pt x="1205548" y="3332955"/>
                      <a:pt x="1184721" y="3332955"/>
                    </a:cubicBezTo>
                    <a:cubicBezTo>
                      <a:pt x="970506" y="3335930"/>
                      <a:pt x="1038936" y="3276435"/>
                      <a:pt x="809844" y="3276435"/>
                    </a:cubicBezTo>
                    <a:close/>
                    <a:moveTo>
                      <a:pt x="2000716" y="2490967"/>
                    </a:moveTo>
                    <a:cubicBezTo>
                      <a:pt x="2016710" y="2490967"/>
                      <a:pt x="2032331" y="2497661"/>
                      <a:pt x="2044233" y="2511050"/>
                    </a:cubicBezTo>
                    <a:cubicBezTo>
                      <a:pt x="2106719" y="2573528"/>
                      <a:pt x="2193010" y="2612206"/>
                      <a:pt x="2285251" y="2612206"/>
                    </a:cubicBezTo>
                    <a:cubicBezTo>
                      <a:pt x="2320957" y="2612206"/>
                      <a:pt x="2347737" y="2638982"/>
                      <a:pt x="2347737" y="2671709"/>
                    </a:cubicBezTo>
                    <a:cubicBezTo>
                      <a:pt x="2347737" y="2704436"/>
                      <a:pt x="2320957" y="2734188"/>
                      <a:pt x="2285251" y="2734188"/>
                    </a:cubicBezTo>
                    <a:cubicBezTo>
                      <a:pt x="2184083" y="2734188"/>
                      <a:pt x="2085891" y="2701461"/>
                      <a:pt x="2002576" y="2638982"/>
                    </a:cubicBezTo>
                    <a:cubicBezTo>
                      <a:pt x="1748169" y="2892244"/>
                      <a:pt x="1589164" y="3050533"/>
                      <a:pt x="1489786" y="3149463"/>
                    </a:cubicBezTo>
                    <a:lnTo>
                      <a:pt x="1459090" y="3180022"/>
                    </a:lnTo>
                    <a:lnTo>
                      <a:pt x="1470636" y="3192791"/>
                    </a:lnTo>
                    <a:cubicBezTo>
                      <a:pt x="1736869" y="3518976"/>
                      <a:pt x="1717852" y="3998580"/>
                      <a:pt x="1413586" y="4302847"/>
                    </a:cubicBezTo>
                    <a:cubicBezTo>
                      <a:pt x="1092012" y="4627398"/>
                      <a:pt x="567965" y="4627398"/>
                      <a:pt x="243414" y="4302847"/>
                    </a:cubicBezTo>
                    <a:cubicBezTo>
                      <a:pt x="-81138" y="3978295"/>
                      <a:pt x="-81138" y="3454249"/>
                      <a:pt x="243414" y="3129697"/>
                    </a:cubicBezTo>
                    <a:cubicBezTo>
                      <a:pt x="405690" y="2968910"/>
                      <a:pt x="617839" y="2888517"/>
                      <a:pt x="829616" y="2888517"/>
                    </a:cubicBezTo>
                    <a:cubicBezTo>
                      <a:pt x="1014922" y="2888517"/>
                      <a:pt x="1199942" y="2950068"/>
                      <a:pt x="1351016" y="3073171"/>
                    </a:cubicBezTo>
                    <a:lnTo>
                      <a:pt x="1372957" y="3092992"/>
                    </a:lnTo>
                    <a:lnTo>
                      <a:pt x="1474566" y="2991395"/>
                    </a:lnTo>
                    <a:cubicBezTo>
                      <a:pt x="1954968" y="2511050"/>
                      <a:pt x="1954968" y="2511050"/>
                      <a:pt x="1954968" y="2511050"/>
                    </a:cubicBezTo>
                    <a:cubicBezTo>
                      <a:pt x="1968358" y="2497661"/>
                      <a:pt x="1984723" y="2490967"/>
                      <a:pt x="2000716" y="2490967"/>
                    </a:cubicBezTo>
                    <a:close/>
                    <a:moveTo>
                      <a:pt x="2285824" y="2085810"/>
                    </a:moveTo>
                    <a:cubicBezTo>
                      <a:pt x="2389281" y="2085810"/>
                      <a:pt x="2473149" y="2167191"/>
                      <a:pt x="2473149" y="2267579"/>
                    </a:cubicBezTo>
                    <a:cubicBezTo>
                      <a:pt x="2473149" y="2367967"/>
                      <a:pt x="2389281" y="2449348"/>
                      <a:pt x="2285824" y="2449348"/>
                    </a:cubicBezTo>
                    <a:cubicBezTo>
                      <a:pt x="2182367" y="2449348"/>
                      <a:pt x="2098499" y="2367967"/>
                      <a:pt x="2098499" y="2267579"/>
                    </a:cubicBezTo>
                    <a:cubicBezTo>
                      <a:pt x="2098499" y="2167191"/>
                      <a:pt x="2182367" y="2085810"/>
                      <a:pt x="2285824" y="2085810"/>
                    </a:cubicBezTo>
                    <a:close/>
                    <a:moveTo>
                      <a:pt x="3271463" y="853910"/>
                    </a:moveTo>
                    <a:cubicBezTo>
                      <a:pt x="3256580" y="853910"/>
                      <a:pt x="3244674" y="868769"/>
                      <a:pt x="3244674" y="883628"/>
                    </a:cubicBezTo>
                    <a:cubicBezTo>
                      <a:pt x="3244674" y="883628"/>
                      <a:pt x="3244674" y="883628"/>
                      <a:pt x="3244674" y="1201611"/>
                    </a:cubicBezTo>
                    <a:cubicBezTo>
                      <a:pt x="3244674" y="1213498"/>
                      <a:pt x="3256580" y="1225385"/>
                      <a:pt x="3271463" y="1225385"/>
                    </a:cubicBezTo>
                    <a:cubicBezTo>
                      <a:pt x="3271463" y="1225385"/>
                      <a:pt x="3271463" y="1225385"/>
                      <a:pt x="3408385" y="1225385"/>
                    </a:cubicBezTo>
                    <a:cubicBezTo>
                      <a:pt x="3420291" y="1225385"/>
                      <a:pt x="3435174" y="1213498"/>
                      <a:pt x="3435174" y="1201611"/>
                    </a:cubicBezTo>
                    <a:cubicBezTo>
                      <a:pt x="3435174" y="1201611"/>
                      <a:pt x="3435174" y="1201611"/>
                      <a:pt x="3435174" y="883628"/>
                    </a:cubicBezTo>
                    <a:cubicBezTo>
                      <a:pt x="3435174" y="868769"/>
                      <a:pt x="3420291" y="853910"/>
                      <a:pt x="3408385" y="853910"/>
                    </a:cubicBezTo>
                    <a:cubicBezTo>
                      <a:pt x="3408385" y="853910"/>
                      <a:pt x="3408385" y="853910"/>
                      <a:pt x="3271463" y="853910"/>
                    </a:cubicBezTo>
                    <a:close/>
                    <a:moveTo>
                      <a:pt x="3503238" y="707860"/>
                    </a:moveTo>
                    <a:cubicBezTo>
                      <a:pt x="3488355" y="707860"/>
                      <a:pt x="3476449" y="719757"/>
                      <a:pt x="3476449" y="734629"/>
                    </a:cubicBezTo>
                    <a:cubicBezTo>
                      <a:pt x="3476449" y="734629"/>
                      <a:pt x="3476449" y="734629"/>
                      <a:pt x="3476449" y="1201591"/>
                    </a:cubicBezTo>
                    <a:cubicBezTo>
                      <a:pt x="3476449" y="1213488"/>
                      <a:pt x="3488355" y="1225385"/>
                      <a:pt x="3503238" y="1225385"/>
                    </a:cubicBezTo>
                    <a:cubicBezTo>
                      <a:pt x="3503238" y="1225385"/>
                      <a:pt x="3503238" y="1225385"/>
                      <a:pt x="3643137" y="1225385"/>
                    </a:cubicBezTo>
                    <a:cubicBezTo>
                      <a:pt x="3658020" y="1225385"/>
                      <a:pt x="3666949" y="1213488"/>
                      <a:pt x="3666949" y="1201591"/>
                    </a:cubicBezTo>
                    <a:cubicBezTo>
                      <a:pt x="3666949" y="1201591"/>
                      <a:pt x="3666949" y="1201591"/>
                      <a:pt x="3666949" y="734629"/>
                    </a:cubicBezTo>
                    <a:cubicBezTo>
                      <a:pt x="3666949" y="719757"/>
                      <a:pt x="3658020" y="707860"/>
                      <a:pt x="3643137" y="707860"/>
                    </a:cubicBezTo>
                    <a:cubicBezTo>
                      <a:pt x="3643137" y="707860"/>
                      <a:pt x="3643137" y="707860"/>
                      <a:pt x="3503238" y="707860"/>
                    </a:cubicBezTo>
                    <a:close/>
                    <a:moveTo>
                      <a:pt x="3735212" y="545935"/>
                    </a:moveTo>
                    <a:cubicBezTo>
                      <a:pt x="3720329" y="545935"/>
                      <a:pt x="3711399" y="557855"/>
                      <a:pt x="3711399" y="572755"/>
                    </a:cubicBezTo>
                    <a:cubicBezTo>
                      <a:pt x="3711399" y="572755"/>
                      <a:pt x="3711399" y="572755"/>
                      <a:pt x="3711399" y="1201545"/>
                    </a:cubicBezTo>
                    <a:cubicBezTo>
                      <a:pt x="3711399" y="1213465"/>
                      <a:pt x="3720329" y="1225385"/>
                      <a:pt x="3735212" y="1225385"/>
                    </a:cubicBezTo>
                    <a:cubicBezTo>
                      <a:pt x="3735212" y="1225385"/>
                      <a:pt x="3735212" y="1225385"/>
                      <a:pt x="3875110" y="1225385"/>
                    </a:cubicBezTo>
                    <a:cubicBezTo>
                      <a:pt x="3889993" y="1225385"/>
                      <a:pt x="3901899" y="1213465"/>
                      <a:pt x="3901899" y="1201545"/>
                    </a:cubicBezTo>
                    <a:cubicBezTo>
                      <a:pt x="3901899" y="1201545"/>
                      <a:pt x="3901899" y="1201545"/>
                      <a:pt x="3901899" y="572755"/>
                    </a:cubicBezTo>
                    <a:cubicBezTo>
                      <a:pt x="3901899" y="557855"/>
                      <a:pt x="3889993" y="545935"/>
                      <a:pt x="3875110" y="545935"/>
                    </a:cubicBezTo>
                    <a:cubicBezTo>
                      <a:pt x="3875110" y="545935"/>
                      <a:pt x="3875110" y="545935"/>
                      <a:pt x="3735212" y="545935"/>
                    </a:cubicBezTo>
                    <a:close/>
                    <a:moveTo>
                      <a:pt x="3970162" y="334798"/>
                    </a:moveTo>
                    <a:cubicBezTo>
                      <a:pt x="3958255" y="334798"/>
                      <a:pt x="3946349" y="346712"/>
                      <a:pt x="3946349" y="364584"/>
                    </a:cubicBezTo>
                    <a:cubicBezTo>
                      <a:pt x="3946349" y="364584"/>
                      <a:pt x="3946349" y="364584"/>
                      <a:pt x="3946349" y="1201558"/>
                    </a:cubicBezTo>
                    <a:cubicBezTo>
                      <a:pt x="3946349" y="1213472"/>
                      <a:pt x="3958255" y="1225386"/>
                      <a:pt x="3970162" y="1225386"/>
                    </a:cubicBezTo>
                    <a:cubicBezTo>
                      <a:pt x="3970162" y="1225386"/>
                      <a:pt x="3970162" y="1225386"/>
                      <a:pt x="4107084" y="1225386"/>
                    </a:cubicBezTo>
                    <a:cubicBezTo>
                      <a:pt x="4121966" y="1225386"/>
                      <a:pt x="4136849" y="1213472"/>
                      <a:pt x="4136849" y="1201558"/>
                    </a:cubicBezTo>
                    <a:cubicBezTo>
                      <a:pt x="4136849" y="1201558"/>
                      <a:pt x="4136849" y="1201558"/>
                      <a:pt x="4136849" y="364584"/>
                    </a:cubicBezTo>
                    <a:cubicBezTo>
                      <a:pt x="4136849" y="346712"/>
                      <a:pt x="4121966" y="334798"/>
                      <a:pt x="4107084" y="334798"/>
                    </a:cubicBezTo>
                    <a:cubicBezTo>
                      <a:pt x="4107084" y="334798"/>
                      <a:pt x="4107084" y="334798"/>
                      <a:pt x="3970162" y="334798"/>
                    </a:cubicBezTo>
                    <a:close/>
                    <a:moveTo>
                      <a:pt x="3723359" y="0"/>
                    </a:moveTo>
                    <a:cubicBezTo>
                      <a:pt x="3935334" y="0"/>
                      <a:pt x="4147310" y="81126"/>
                      <a:pt x="4309452" y="243379"/>
                    </a:cubicBezTo>
                    <a:cubicBezTo>
                      <a:pt x="4633737" y="564908"/>
                      <a:pt x="4633737" y="1088881"/>
                      <a:pt x="4309452" y="1410410"/>
                    </a:cubicBezTo>
                    <a:cubicBezTo>
                      <a:pt x="4003018" y="1720030"/>
                      <a:pt x="3512127" y="1731939"/>
                      <a:pt x="3184867" y="1455067"/>
                    </a:cubicBezTo>
                    <a:cubicBezTo>
                      <a:pt x="3184867" y="1455067"/>
                      <a:pt x="3184867" y="1455067"/>
                      <a:pt x="2613649" y="2023696"/>
                    </a:cubicBezTo>
                    <a:cubicBezTo>
                      <a:pt x="2601749" y="2038582"/>
                      <a:pt x="2586874" y="2044536"/>
                      <a:pt x="2569023" y="2044536"/>
                    </a:cubicBezTo>
                    <a:cubicBezTo>
                      <a:pt x="2554148" y="2044536"/>
                      <a:pt x="2536297" y="2038582"/>
                      <a:pt x="2527372" y="2023696"/>
                    </a:cubicBezTo>
                    <a:cubicBezTo>
                      <a:pt x="2461920" y="1958200"/>
                      <a:pt x="2375642" y="1925451"/>
                      <a:pt x="2286389" y="1925451"/>
                    </a:cubicBezTo>
                    <a:cubicBezTo>
                      <a:pt x="2247713" y="1925451"/>
                      <a:pt x="2223912" y="1898657"/>
                      <a:pt x="2223912" y="1862932"/>
                    </a:cubicBezTo>
                    <a:cubicBezTo>
                      <a:pt x="2223912" y="1830184"/>
                      <a:pt x="2247713" y="1803390"/>
                      <a:pt x="2286389" y="1803390"/>
                    </a:cubicBezTo>
                    <a:cubicBezTo>
                      <a:pt x="2387542" y="1803390"/>
                      <a:pt x="2488695" y="1836138"/>
                      <a:pt x="2566048" y="1898657"/>
                    </a:cubicBezTo>
                    <a:cubicBezTo>
                      <a:pt x="2566048" y="1898657"/>
                      <a:pt x="2566048" y="1898657"/>
                      <a:pt x="3098589" y="1368730"/>
                    </a:cubicBezTo>
                    <a:cubicBezTo>
                      <a:pt x="2815956" y="1044224"/>
                      <a:pt x="2830831" y="552999"/>
                      <a:pt x="3137266" y="243379"/>
                    </a:cubicBezTo>
                    <a:cubicBezTo>
                      <a:pt x="3299408" y="81126"/>
                      <a:pt x="3511384" y="0"/>
                      <a:pt x="3723359" y="0"/>
                    </a:cubicBezTo>
                    <a:close/>
                  </a:path>
                </a:pathLst>
              </a:custGeom>
              <a:solidFill>
                <a:srgbClr val="FFC000"/>
              </a:solidFill>
              <a:ln>
                <a:noFill/>
              </a:ln>
            </p:spPr>
            <p:txBody>
              <a:bodyPr anchorCtr="0" anchor="t" bIns="65375" lIns="130750" spcFirstLastPara="1" rIns="130750" wrap="square" tIns="65375">
                <a:noAutofit/>
              </a:bodyPr>
              <a:lstStyle/>
              <a:p>
                <a:pPr indent="0" lvl="0" marL="0" marR="0" rtl="0" algn="l">
                  <a:lnSpc>
                    <a:spcPct val="100000"/>
                  </a:lnSpc>
                  <a:spcBef>
                    <a:spcPts val="0"/>
                  </a:spcBef>
                  <a:spcAft>
                    <a:spcPts val="0"/>
                  </a:spcAft>
                  <a:buClr>
                    <a:schemeClr val="dk1"/>
                  </a:buClr>
                  <a:buSzPts val="1800"/>
                  <a:buFont typeface="Open Sans"/>
                  <a:buNone/>
                </a:pPr>
                <a:r>
                  <a:t/>
                </a:r>
                <a:endParaRPr b="0" i="0" sz="1800" u="none" cap="none" strike="noStrike">
                  <a:solidFill>
                    <a:srgbClr val="575757"/>
                  </a:solidFill>
                  <a:latin typeface="Trebuchet MS"/>
                  <a:ea typeface="Trebuchet MS"/>
                  <a:cs typeface="Trebuchet MS"/>
                  <a:sym typeface="Trebuchet MS"/>
                </a:endParaRPr>
              </a:p>
            </p:txBody>
          </p:sp>
          <p:sp>
            <p:nvSpPr>
              <p:cNvPr id="409" name="Google Shape;409;p5"/>
              <p:cNvSpPr/>
              <p:nvPr/>
            </p:nvSpPr>
            <p:spPr>
              <a:xfrm>
                <a:off x="3813351" y="1143176"/>
                <a:ext cx="4565299" cy="4565299"/>
              </a:xfrm>
              <a:custGeom>
                <a:rect b="b" l="l" r="r" t="t"/>
                <a:pathLst>
                  <a:path extrusionOk="0" h="4565299" w="4565299">
                    <a:moveTo>
                      <a:pt x="3737879" y="3535892"/>
                    </a:moveTo>
                    <a:cubicBezTo>
                      <a:pt x="3812627" y="3535753"/>
                      <a:pt x="3885279" y="3580265"/>
                      <a:pt x="3914340" y="3658161"/>
                    </a:cubicBezTo>
                    <a:cubicBezTo>
                      <a:pt x="3959049" y="3759056"/>
                      <a:pt x="3914340" y="3874788"/>
                      <a:pt x="3815980" y="3916332"/>
                    </a:cubicBezTo>
                    <a:cubicBezTo>
                      <a:pt x="3717620" y="3963812"/>
                      <a:pt x="3604356" y="3913365"/>
                      <a:pt x="3562628" y="3815438"/>
                    </a:cubicBezTo>
                    <a:cubicBezTo>
                      <a:pt x="3520899" y="3711576"/>
                      <a:pt x="3565608" y="3595844"/>
                      <a:pt x="3663969" y="3551332"/>
                    </a:cubicBezTo>
                    <a:cubicBezTo>
                      <a:pt x="3687814" y="3540946"/>
                      <a:pt x="3712963" y="3535938"/>
                      <a:pt x="3737879" y="3535892"/>
                    </a:cubicBezTo>
                    <a:close/>
                    <a:moveTo>
                      <a:pt x="3592406" y="3279599"/>
                    </a:moveTo>
                    <a:cubicBezTo>
                      <a:pt x="3559657" y="3288533"/>
                      <a:pt x="3526908" y="3303422"/>
                      <a:pt x="3497137" y="3321289"/>
                    </a:cubicBezTo>
                    <a:cubicBezTo>
                      <a:pt x="3467365" y="3339156"/>
                      <a:pt x="3440570" y="3360001"/>
                      <a:pt x="3416753" y="3383824"/>
                    </a:cubicBezTo>
                    <a:cubicBezTo>
                      <a:pt x="3425684" y="3464227"/>
                      <a:pt x="3425684" y="3464227"/>
                      <a:pt x="3425684" y="3464227"/>
                    </a:cubicBezTo>
                    <a:cubicBezTo>
                      <a:pt x="3389958" y="3502939"/>
                      <a:pt x="3363164" y="3547607"/>
                      <a:pt x="3345300" y="3598230"/>
                    </a:cubicBezTo>
                    <a:cubicBezTo>
                      <a:pt x="3273848" y="3628009"/>
                      <a:pt x="3273848" y="3628009"/>
                      <a:pt x="3273848" y="3628009"/>
                    </a:cubicBezTo>
                    <a:cubicBezTo>
                      <a:pt x="3258962" y="3696500"/>
                      <a:pt x="3258962" y="3767968"/>
                      <a:pt x="3273848" y="3833481"/>
                    </a:cubicBezTo>
                    <a:cubicBezTo>
                      <a:pt x="3342323" y="3869215"/>
                      <a:pt x="3342323" y="3869215"/>
                      <a:pt x="3342323" y="3869215"/>
                    </a:cubicBezTo>
                    <a:cubicBezTo>
                      <a:pt x="3354232" y="3893038"/>
                      <a:pt x="3366141" y="3922817"/>
                      <a:pt x="3381027" y="3943662"/>
                    </a:cubicBezTo>
                    <a:cubicBezTo>
                      <a:pt x="3392935" y="3970463"/>
                      <a:pt x="3410798" y="3991308"/>
                      <a:pt x="3425684" y="4012153"/>
                    </a:cubicBezTo>
                    <a:cubicBezTo>
                      <a:pt x="3416753" y="4089577"/>
                      <a:pt x="3416753" y="4089577"/>
                      <a:pt x="3416753" y="4089577"/>
                    </a:cubicBezTo>
                    <a:cubicBezTo>
                      <a:pt x="3467365" y="4137223"/>
                      <a:pt x="3523931" y="4169979"/>
                      <a:pt x="3589429" y="4190824"/>
                    </a:cubicBezTo>
                    <a:cubicBezTo>
                      <a:pt x="3651950" y="4143178"/>
                      <a:pt x="3651950" y="4143178"/>
                      <a:pt x="3651950" y="4143178"/>
                    </a:cubicBezTo>
                    <a:cubicBezTo>
                      <a:pt x="3705539" y="4158068"/>
                      <a:pt x="3762106" y="4158068"/>
                      <a:pt x="3821649" y="4146156"/>
                    </a:cubicBezTo>
                    <a:cubicBezTo>
                      <a:pt x="3887147" y="4190824"/>
                      <a:pt x="3887147" y="4190824"/>
                      <a:pt x="3887147" y="4190824"/>
                    </a:cubicBezTo>
                    <a:cubicBezTo>
                      <a:pt x="3913942" y="4181891"/>
                      <a:pt x="3943714" y="4169979"/>
                      <a:pt x="3976463" y="4152112"/>
                    </a:cubicBezTo>
                    <a:cubicBezTo>
                      <a:pt x="4003257" y="4134245"/>
                      <a:pt x="4030052" y="4116378"/>
                      <a:pt x="4053869" y="4092555"/>
                    </a:cubicBezTo>
                    <a:cubicBezTo>
                      <a:pt x="4044938" y="4015131"/>
                      <a:pt x="4044938" y="4015131"/>
                      <a:pt x="4044938" y="4015131"/>
                    </a:cubicBezTo>
                    <a:cubicBezTo>
                      <a:pt x="4083641" y="3970463"/>
                      <a:pt x="4113413" y="3919839"/>
                      <a:pt x="4131276" y="3863260"/>
                    </a:cubicBezTo>
                    <a:cubicBezTo>
                      <a:pt x="4199751" y="3830503"/>
                      <a:pt x="4199751" y="3830503"/>
                      <a:pt x="4199751" y="3830503"/>
                    </a:cubicBezTo>
                    <a:cubicBezTo>
                      <a:pt x="4214637" y="3767968"/>
                      <a:pt x="4214637" y="3696500"/>
                      <a:pt x="4196774" y="3630987"/>
                    </a:cubicBezTo>
                    <a:cubicBezTo>
                      <a:pt x="4128299" y="3598230"/>
                      <a:pt x="4128299" y="3598230"/>
                      <a:pt x="4128299" y="3598230"/>
                    </a:cubicBezTo>
                    <a:cubicBezTo>
                      <a:pt x="4116390" y="3574407"/>
                      <a:pt x="4104482" y="3550584"/>
                      <a:pt x="4092573" y="3526762"/>
                    </a:cubicBezTo>
                    <a:cubicBezTo>
                      <a:pt x="4080664" y="3499961"/>
                      <a:pt x="4059824" y="3479116"/>
                      <a:pt x="4041961" y="3455293"/>
                    </a:cubicBezTo>
                    <a:cubicBezTo>
                      <a:pt x="4047915" y="3377869"/>
                      <a:pt x="4047915" y="3377869"/>
                      <a:pt x="4047915" y="3377869"/>
                    </a:cubicBezTo>
                    <a:cubicBezTo>
                      <a:pt x="3997303" y="3333201"/>
                      <a:pt x="3937759" y="3297466"/>
                      <a:pt x="3875239" y="3279599"/>
                    </a:cubicBezTo>
                    <a:cubicBezTo>
                      <a:pt x="3809741" y="3327245"/>
                      <a:pt x="3809741" y="3327245"/>
                      <a:pt x="3809741" y="3327245"/>
                    </a:cubicBezTo>
                    <a:cubicBezTo>
                      <a:pt x="3756151" y="3315334"/>
                      <a:pt x="3705539" y="3318311"/>
                      <a:pt x="3654927" y="3327245"/>
                    </a:cubicBezTo>
                    <a:cubicBezTo>
                      <a:pt x="3592406" y="3279599"/>
                      <a:pt x="3592406" y="3279599"/>
                      <a:pt x="3592406" y="3279599"/>
                    </a:cubicBezTo>
                    <a:close/>
                    <a:moveTo>
                      <a:pt x="2693900" y="2223912"/>
                    </a:moveTo>
                    <a:cubicBezTo>
                      <a:pt x="2726657" y="2223912"/>
                      <a:pt x="2756436" y="2250673"/>
                      <a:pt x="2756436" y="2286354"/>
                    </a:cubicBezTo>
                    <a:cubicBezTo>
                      <a:pt x="2756436" y="2387450"/>
                      <a:pt x="2720701" y="2485572"/>
                      <a:pt x="2655187" y="2565855"/>
                    </a:cubicBezTo>
                    <a:cubicBezTo>
                      <a:pt x="2912033" y="2818966"/>
                      <a:pt x="3072562" y="2977161"/>
                      <a:pt x="3172893" y="3076033"/>
                    </a:cubicBezTo>
                    <a:lnTo>
                      <a:pt x="3201254" y="3103981"/>
                    </a:lnTo>
                    <a:lnTo>
                      <a:pt x="3214284" y="3092210"/>
                    </a:lnTo>
                    <a:cubicBezTo>
                      <a:pt x="3365358" y="2969107"/>
                      <a:pt x="3550378" y="2907556"/>
                      <a:pt x="3735683" y="2907556"/>
                    </a:cubicBezTo>
                    <a:cubicBezTo>
                      <a:pt x="3947461" y="2907556"/>
                      <a:pt x="4159610" y="2987949"/>
                      <a:pt x="4321886" y="3148736"/>
                    </a:cubicBezTo>
                    <a:cubicBezTo>
                      <a:pt x="4646437" y="3473288"/>
                      <a:pt x="4646437" y="3997334"/>
                      <a:pt x="4321886" y="4321886"/>
                    </a:cubicBezTo>
                    <a:cubicBezTo>
                      <a:pt x="3997334" y="4646437"/>
                      <a:pt x="3473288" y="4646437"/>
                      <a:pt x="3151714" y="4321886"/>
                    </a:cubicBezTo>
                    <a:cubicBezTo>
                      <a:pt x="2847447" y="4017619"/>
                      <a:pt x="2828430" y="3538015"/>
                      <a:pt x="3094664" y="3211830"/>
                    </a:cubicBezTo>
                    <a:lnTo>
                      <a:pt x="3114853" y="3189503"/>
                    </a:lnTo>
                    <a:lnTo>
                      <a:pt x="3014894" y="3090517"/>
                    </a:lnTo>
                    <a:cubicBezTo>
                      <a:pt x="2530114" y="2610456"/>
                      <a:pt x="2530114" y="2610456"/>
                      <a:pt x="2530114" y="2610456"/>
                    </a:cubicBezTo>
                    <a:cubicBezTo>
                      <a:pt x="2503312" y="2589642"/>
                      <a:pt x="2503312" y="2550988"/>
                      <a:pt x="2530114" y="2524227"/>
                    </a:cubicBezTo>
                    <a:cubicBezTo>
                      <a:pt x="2595628" y="2461785"/>
                      <a:pt x="2631363" y="2375556"/>
                      <a:pt x="2631363" y="2286354"/>
                    </a:cubicBezTo>
                    <a:cubicBezTo>
                      <a:pt x="2631363" y="2250673"/>
                      <a:pt x="2655187" y="2223912"/>
                      <a:pt x="2693900" y="2223912"/>
                    </a:cubicBezTo>
                    <a:close/>
                    <a:moveTo>
                      <a:pt x="553903" y="374474"/>
                    </a:moveTo>
                    <a:cubicBezTo>
                      <a:pt x="541994" y="374474"/>
                      <a:pt x="530085" y="377451"/>
                      <a:pt x="524131" y="389357"/>
                    </a:cubicBezTo>
                    <a:cubicBezTo>
                      <a:pt x="524131" y="389357"/>
                      <a:pt x="524131" y="389357"/>
                      <a:pt x="390157" y="517349"/>
                    </a:cubicBezTo>
                    <a:cubicBezTo>
                      <a:pt x="384203" y="523302"/>
                      <a:pt x="381225" y="532232"/>
                      <a:pt x="375271" y="544138"/>
                    </a:cubicBezTo>
                    <a:cubicBezTo>
                      <a:pt x="372294" y="550091"/>
                      <a:pt x="366339" y="559021"/>
                      <a:pt x="366339" y="570927"/>
                    </a:cubicBezTo>
                    <a:cubicBezTo>
                      <a:pt x="366339" y="570927"/>
                      <a:pt x="366339" y="576880"/>
                      <a:pt x="366339" y="591763"/>
                    </a:cubicBezTo>
                    <a:cubicBezTo>
                      <a:pt x="363362" y="600693"/>
                      <a:pt x="366339" y="618552"/>
                      <a:pt x="369317" y="639388"/>
                    </a:cubicBezTo>
                    <a:cubicBezTo>
                      <a:pt x="372294" y="657248"/>
                      <a:pt x="378248" y="684037"/>
                      <a:pt x="387180" y="710826"/>
                    </a:cubicBezTo>
                    <a:cubicBezTo>
                      <a:pt x="396111" y="740591"/>
                      <a:pt x="410997" y="773334"/>
                      <a:pt x="428861" y="806076"/>
                    </a:cubicBezTo>
                    <a:cubicBezTo>
                      <a:pt x="446724" y="841795"/>
                      <a:pt x="473519" y="883467"/>
                      <a:pt x="503291" y="922162"/>
                    </a:cubicBezTo>
                    <a:cubicBezTo>
                      <a:pt x="530085" y="963834"/>
                      <a:pt x="571766" y="1008482"/>
                      <a:pt x="616424" y="1053131"/>
                    </a:cubicBezTo>
                    <a:cubicBezTo>
                      <a:pt x="672991" y="1112662"/>
                      <a:pt x="726580" y="1157311"/>
                      <a:pt x="780170" y="1190053"/>
                    </a:cubicBezTo>
                    <a:cubicBezTo>
                      <a:pt x="830782" y="1225771"/>
                      <a:pt x="875440" y="1249584"/>
                      <a:pt x="917121" y="1267443"/>
                    </a:cubicBezTo>
                    <a:cubicBezTo>
                      <a:pt x="958802" y="1282326"/>
                      <a:pt x="991551" y="1294232"/>
                      <a:pt x="1018346" y="1297209"/>
                    </a:cubicBezTo>
                    <a:cubicBezTo>
                      <a:pt x="1048118" y="1303162"/>
                      <a:pt x="1065981" y="1303162"/>
                      <a:pt x="1080867" y="1303162"/>
                    </a:cubicBezTo>
                    <a:cubicBezTo>
                      <a:pt x="1086821" y="1303162"/>
                      <a:pt x="1089799" y="1303162"/>
                      <a:pt x="1092776" y="1303162"/>
                    </a:cubicBezTo>
                    <a:cubicBezTo>
                      <a:pt x="1098730" y="1303162"/>
                      <a:pt x="1098730" y="1303162"/>
                      <a:pt x="1098730" y="1303162"/>
                    </a:cubicBezTo>
                    <a:cubicBezTo>
                      <a:pt x="1107662" y="1303162"/>
                      <a:pt x="1116593" y="1297209"/>
                      <a:pt x="1125525" y="1294232"/>
                    </a:cubicBezTo>
                    <a:cubicBezTo>
                      <a:pt x="1137434" y="1288279"/>
                      <a:pt x="1146365" y="1282326"/>
                      <a:pt x="1149343" y="1279350"/>
                    </a:cubicBezTo>
                    <a:cubicBezTo>
                      <a:pt x="1149343" y="1279350"/>
                      <a:pt x="1149343" y="1279350"/>
                      <a:pt x="1280339" y="1145404"/>
                    </a:cubicBezTo>
                    <a:cubicBezTo>
                      <a:pt x="1292248" y="1133498"/>
                      <a:pt x="1295225" y="1124568"/>
                      <a:pt x="1292248" y="1106709"/>
                    </a:cubicBezTo>
                    <a:cubicBezTo>
                      <a:pt x="1292248" y="1094803"/>
                      <a:pt x="1286294" y="1082896"/>
                      <a:pt x="1271408" y="1076943"/>
                    </a:cubicBezTo>
                    <a:cubicBezTo>
                      <a:pt x="1271408" y="1076943"/>
                      <a:pt x="1271408" y="1076943"/>
                      <a:pt x="1080867" y="963834"/>
                    </a:cubicBezTo>
                    <a:cubicBezTo>
                      <a:pt x="1080867" y="963834"/>
                      <a:pt x="1080867" y="963834"/>
                      <a:pt x="1077890" y="963834"/>
                    </a:cubicBezTo>
                    <a:cubicBezTo>
                      <a:pt x="1071935" y="957881"/>
                      <a:pt x="1063004" y="957881"/>
                      <a:pt x="1054072" y="957881"/>
                    </a:cubicBezTo>
                    <a:cubicBezTo>
                      <a:pt x="1036209" y="957881"/>
                      <a:pt x="1021323" y="963834"/>
                      <a:pt x="1009414" y="972764"/>
                    </a:cubicBezTo>
                    <a:cubicBezTo>
                      <a:pt x="1009414" y="972764"/>
                      <a:pt x="1009414" y="972764"/>
                      <a:pt x="955825" y="1032295"/>
                    </a:cubicBezTo>
                    <a:cubicBezTo>
                      <a:pt x="955825" y="1032295"/>
                      <a:pt x="952847" y="1035271"/>
                      <a:pt x="949870" y="1035271"/>
                    </a:cubicBezTo>
                    <a:cubicBezTo>
                      <a:pt x="946893" y="1035271"/>
                      <a:pt x="943916" y="1035271"/>
                      <a:pt x="943916" y="1035271"/>
                    </a:cubicBezTo>
                    <a:cubicBezTo>
                      <a:pt x="943916" y="1035271"/>
                      <a:pt x="943916" y="1035271"/>
                      <a:pt x="929030" y="1035271"/>
                    </a:cubicBezTo>
                    <a:cubicBezTo>
                      <a:pt x="920098" y="1032295"/>
                      <a:pt x="911167" y="1026342"/>
                      <a:pt x="896281" y="1017412"/>
                    </a:cubicBezTo>
                    <a:cubicBezTo>
                      <a:pt x="878418" y="1011459"/>
                      <a:pt x="860554" y="996576"/>
                      <a:pt x="836737" y="981693"/>
                    </a:cubicBezTo>
                    <a:cubicBezTo>
                      <a:pt x="815896" y="963834"/>
                      <a:pt x="786124" y="940021"/>
                      <a:pt x="759330" y="910256"/>
                    </a:cubicBezTo>
                    <a:cubicBezTo>
                      <a:pt x="726580" y="883467"/>
                      <a:pt x="705740" y="853701"/>
                      <a:pt x="687877" y="832865"/>
                    </a:cubicBezTo>
                    <a:cubicBezTo>
                      <a:pt x="670014" y="809052"/>
                      <a:pt x="661082" y="788216"/>
                      <a:pt x="652150" y="776310"/>
                    </a:cubicBezTo>
                    <a:cubicBezTo>
                      <a:pt x="643219" y="755474"/>
                      <a:pt x="637264" y="740591"/>
                      <a:pt x="634287" y="728685"/>
                    </a:cubicBezTo>
                    <a:cubicBezTo>
                      <a:pt x="634287" y="725709"/>
                      <a:pt x="634287" y="722732"/>
                      <a:pt x="634287" y="719756"/>
                    </a:cubicBezTo>
                    <a:cubicBezTo>
                      <a:pt x="634287" y="716779"/>
                      <a:pt x="637264" y="713802"/>
                      <a:pt x="637264" y="713802"/>
                    </a:cubicBezTo>
                    <a:cubicBezTo>
                      <a:pt x="637264" y="713802"/>
                      <a:pt x="637264" y="713802"/>
                      <a:pt x="687877" y="666177"/>
                    </a:cubicBezTo>
                    <a:cubicBezTo>
                      <a:pt x="696808" y="657248"/>
                      <a:pt x="702763" y="645341"/>
                      <a:pt x="705740" y="633435"/>
                    </a:cubicBezTo>
                    <a:cubicBezTo>
                      <a:pt x="705740" y="621529"/>
                      <a:pt x="705740" y="609623"/>
                      <a:pt x="699786" y="597716"/>
                    </a:cubicBezTo>
                    <a:cubicBezTo>
                      <a:pt x="699786" y="597716"/>
                      <a:pt x="699786" y="597716"/>
                      <a:pt x="592606" y="398287"/>
                    </a:cubicBezTo>
                    <a:cubicBezTo>
                      <a:pt x="589629" y="392333"/>
                      <a:pt x="583675" y="386380"/>
                      <a:pt x="574743" y="380427"/>
                    </a:cubicBezTo>
                    <a:cubicBezTo>
                      <a:pt x="571766" y="374474"/>
                      <a:pt x="562835" y="374474"/>
                      <a:pt x="553903" y="374474"/>
                    </a:cubicBezTo>
                    <a:close/>
                    <a:moveTo>
                      <a:pt x="829616" y="0"/>
                    </a:moveTo>
                    <a:cubicBezTo>
                      <a:pt x="1041394" y="0"/>
                      <a:pt x="1252799" y="81138"/>
                      <a:pt x="1413586" y="243414"/>
                    </a:cubicBezTo>
                    <a:cubicBezTo>
                      <a:pt x="1717853" y="544890"/>
                      <a:pt x="1736869" y="1024319"/>
                      <a:pt x="1470636" y="1352946"/>
                    </a:cubicBezTo>
                    <a:lnTo>
                      <a:pt x="1457160" y="1367973"/>
                    </a:lnTo>
                    <a:lnTo>
                      <a:pt x="1560979" y="1471865"/>
                    </a:lnTo>
                    <a:cubicBezTo>
                      <a:pt x="2041548" y="1952772"/>
                      <a:pt x="2041548" y="1952772"/>
                      <a:pt x="2041548" y="1952772"/>
                    </a:cubicBezTo>
                    <a:cubicBezTo>
                      <a:pt x="2068337" y="1976601"/>
                      <a:pt x="2068337" y="2015323"/>
                      <a:pt x="2041548" y="2039153"/>
                    </a:cubicBezTo>
                    <a:cubicBezTo>
                      <a:pt x="1979040" y="2104683"/>
                      <a:pt x="1943322" y="2191064"/>
                      <a:pt x="1943322" y="2280423"/>
                    </a:cubicBezTo>
                    <a:cubicBezTo>
                      <a:pt x="1943322" y="2316167"/>
                      <a:pt x="1916533" y="2342975"/>
                      <a:pt x="1883790" y="2342975"/>
                    </a:cubicBezTo>
                    <a:cubicBezTo>
                      <a:pt x="1845095" y="2342975"/>
                      <a:pt x="1821283" y="2316167"/>
                      <a:pt x="1821283" y="2280423"/>
                    </a:cubicBezTo>
                    <a:cubicBezTo>
                      <a:pt x="1821283" y="2179149"/>
                      <a:pt x="1854025" y="2080854"/>
                      <a:pt x="1916533" y="2000430"/>
                    </a:cubicBezTo>
                    <a:cubicBezTo>
                      <a:pt x="1662037" y="1745755"/>
                      <a:pt x="1502976" y="1586584"/>
                      <a:pt x="1403564" y="1487101"/>
                    </a:cubicBezTo>
                    <a:lnTo>
                      <a:pt x="1369240" y="1452753"/>
                    </a:lnTo>
                    <a:lnTo>
                      <a:pt x="1284290" y="1522080"/>
                    </a:lnTo>
                    <a:cubicBezTo>
                      <a:pt x="964118" y="1733113"/>
                      <a:pt x="527396" y="1697940"/>
                      <a:pt x="243414" y="1416563"/>
                    </a:cubicBezTo>
                    <a:cubicBezTo>
                      <a:pt x="-81138" y="1089034"/>
                      <a:pt x="-81138" y="564988"/>
                      <a:pt x="243414" y="243414"/>
                    </a:cubicBezTo>
                    <a:cubicBezTo>
                      <a:pt x="405690" y="81138"/>
                      <a:pt x="617839" y="0"/>
                      <a:pt x="829616" y="0"/>
                    </a:cubicBezTo>
                    <a:close/>
                  </a:path>
                </a:pathLst>
              </a:custGeom>
              <a:solidFill>
                <a:srgbClr val="FFC000"/>
              </a:solidFill>
              <a:ln>
                <a:noFill/>
              </a:ln>
            </p:spPr>
            <p:txBody>
              <a:bodyPr anchorCtr="0" anchor="t" bIns="65375" lIns="130750" spcFirstLastPara="1" rIns="130750" wrap="square" tIns="65375">
                <a:noAutofit/>
              </a:bodyPr>
              <a:lstStyle/>
              <a:p>
                <a:pPr indent="0" lvl="0" marL="0" marR="0" rtl="0" algn="l">
                  <a:lnSpc>
                    <a:spcPct val="100000"/>
                  </a:lnSpc>
                  <a:spcBef>
                    <a:spcPts val="0"/>
                  </a:spcBef>
                  <a:spcAft>
                    <a:spcPts val="0"/>
                  </a:spcAft>
                  <a:buClr>
                    <a:schemeClr val="dk1"/>
                  </a:buClr>
                  <a:buSzPts val="1800"/>
                  <a:buFont typeface="Open Sans"/>
                  <a:buNone/>
                </a:pPr>
                <a:r>
                  <a:t/>
                </a:r>
                <a:endParaRPr b="0" i="0" sz="1800" u="none" cap="none" strike="noStrike">
                  <a:solidFill>
                    <a:srgbClr val="575757"/>
                  </a:solidFill>
                  <a:latin typeface="Trebuchet MS"/>
                  <a:ea typeface="Trebuchet MS"/>
                  <a:cs typeface="Trebuchet MS"/>
                  <a:sym typeface="Trebuchet MS"/>
                </a:endParaRPr>
              </a:p>
            </p:txBody>
          </p:sp>
        </p:grpSp>
        <p:sp>
          <p:nvSpPr>
            <p:cNvPr id="410" name="Google Shape;410;p5"/>
            <p:cNvSpPr/>
            <p:nvPr/>
          </p:nvSpPr>
          <p:spPr>
            <a:xfrm>
              <a:off x="1740197" y="4385776"/>
              <a:ext cx="902208" cy="902592"/>
            </a:xfrm>
            <a:prstGeom prst="ellipse">
              <a:avLst/>
            </a:prstGeom>
            <a:noFill/>
            <a:ln cap="flat" cmpd="sng" w="2540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Open Sans"/>
                <a:cs typeface="Open Sans"/>
                <a:sym typeface="Open Sans"/>
              </a:endParaRPr>
            </a:p>
          </p:txBody>
        </p:sp>
      </p:grpSp>
      <p:sp>
        <p:nvSpPr>
          <p:cNvPr id="411" name="Google Shape;411;p5"/>
          <p:cNvSpPr txBox="1"/>
          <p:nvPr/>
        </p:nvSpPr>
        <p:spPr>
          <a:xfrm>
            <a:off x="580175" y="1035932"/>
            <a:ext cx="11188423" cy="461665"/>
          </a:xfrm>
          <a:prstGeom prst="rect">
            <a:avLst/>
          </a:prstGeom>
          <a:noFill/>
          <a:ln>
            <a:noFill/>
          </a:ln>
        </p:spPr>
        <p:txBody>
          <a:bodyPr anchorCtr="0" anchor="t" bIns="45700" lIns="91425" spcFirstLastPara="1" rIns="91425" wrap="square" tIns="45700">
            <a:spAutoFit/>
          </a:bodyPr>
          <a:lstStyle/>
          <a:p>
            <a:pPr indent="-76200" lvl="0" marL="0" marR="0" rtl="0" algn="l">
              <a:lnSpc>
                <a:spcPct val="100000"/>
              </a:lnSpc>
              <a:spcBef>
                <a:spcPts val="0"/>
              </a:spcBef>
              <a:spcAft>
                <a:spcPts val="0"/>
              </a:spcAft>
              <a:buClr>
                <a:srgbClr val="000000"/>
              </a:buClr>
              <a:buSzPts val="1200"/>
              <a:buFont typeface="Trebuchet MS"/>
              <a:buChar char="​"/>
            </a:pPr>
            <a:r>
              <a:rPr b="0" i="0" lang="es-MX" sz="1200" u="none" cap="none" strike="noStrike">
                <a:solidFill>
                  <a:srgbClr val="000000"/>
                </a:solidFill>
                <a:latin typeface="Arial"/>
                <a:ea typeface="Arial"/>
                <a:cs typeface="Arial"/>
                <a:sym typeface="Arial"/>
              </a:rPr>
              <a:t>La </a:t>
            </a:r>
            <a:r>
              <a:rPr b="1" i="0" lang="es-MX" sz="1200" u="none" cap="none" strike="noStrike">
                <a:solidFill>
                  <a:srgbClr val="000000"/>
                </a:solidFill>
                <a:latin typeface="Arial"/>
                <a:ea typeface="Arial"/>
                <a:cs typeface="Arial"/>
                <a:sym typeface="Arial"/>
              </a:rPr>
              <a:t>matriz RASCI </a:t>
            </a:r>
            <a:r>
              <a:rPr b="0" i="0" lang="es-MX" sz="1200" u="none" cap="none" strike="noStrike">
                <a:solidFill>
                  <a:srgbClr val="000000"/>
                </a:solidFill>
                <a:latin typeface="Arial"/>
                <a:ea typeface="Arial"/>
                <a:cs typeface="Arial"/>
                <a:sym typeface="Arial"/>
              </a:rPr>
              <a:t>es un pilar del </a:t>
            </a:r>
            <a:r>
              <a:rPr b="1" i="0" lang="es-MX" sz="1200" u="none" cap="none" strike="noStrike">
                <a:solidFill>
                  <a:srgbClr val="000000"/>
                </a:solidFill>
                <a:latin typeface="Arial"/>
                <a:ea typeface="Arial"/>
                <a:cs typeface="Arial"/>
                <a:sym typeface="Arial"/>
              </a:rPr>
              <a:t>sistema de gestión organizacional</a:t>
            </a:r>
            <a:r>
              <a:rPr b="0" i="0" lang="es-MX" sz="1200" u="none" cap="none" strike="noStrike">
                <a:solidFill>
                  <a:srgbClr val="000000"/>
                </a:solidFill>
                <a:latin typeface="Arial"/>
                <a:ea typeface="Arial"/>
                <a:cs typeface="Arial"/>
                <a:sym typeface="Arial"/>
              </a:rPr>
              <a:t>, que asegura </a:t>
            </a:r>
            <a:r>
              <a:rPr b="1" i="0" lang="es-MX" sz="1200" u="none" cap="none" strike="noStrike">
                <a:solidFill>
                  <a:srgbClr val="000000"/>
                </a:solidFill>
                <a:latin typeface="Arial"/>
                <a:ea typeface="Arial"/>
                <a:cs typeface="Arial"/>
                <a:sym typeface="Arial"/>
              </a:rPr>
              <a:t>claridad de roles</a:t>
            </a:r>
            <a:r>
              <a:rPr b="0" i="0" lang="es-MX" sz="1200" u="none" cap="none" strike="noStrike">
                <a:solidFill>
                  <a:srgbClr val="000000"/>
                </a:solidFill>
                <a:latin typeface="Arial"/>
                <a:ea typeface="Arial"/>
                <a:cs typeface="Arial"/>
                <a:sym typeface="Arial"/>
              </a:rPr>
              <a:t>, </a:t>
            </a:r>
            <a:r>
              <a:rPr b="1" i="0" lang="es-MX" sz="1200" u="none" cap="none" strike="noStrike">
                <a:solidFill>
                  <a:srgbClr val="000000"/>
                </a:solidFill>
                <a:latin typeface="Arial"/>
                <a:ea typeface="Arial"/>
                <a:cs typeface="Arial"/>
                <a:sym typeface="Arial"/>
              </a:rPr>
              <a:t>gobernanza efectiva </a:t>
            </a:r>
            <a:r>
              <a:rPr b="0" i="0" lang="es-MX" sz="1200" u="none" cap="none" strike="noStrike">
                <a:solidFill>
                  <a:srgbClr val="000000"/>
                </a:solidFill>
                <a:latin typeface="Arial"/>
                <a:ea typeface="Arial"/>
                <a:cs typeface="Arial"/>
                <a:sym typeface="Arial"/>
              </a:rPr>
              <a:t>y </a:t>
            </a:r>
            <a:r>
              <a:rPr b="1" i="0" lang="es-MX" sz="1200" u="none" cap="none" strike="noStrike">
                <a:solidFill>
                  <a:srgbClr val="000000"/>
                </a:solidFill>
                <a:latin typeface="Arial"/>
                <a:ea typeface="Arial"/>
                <a:cs typeface="Arial"/>
                <a:sym typeface="Arial"/>
              </a:rPr>
              <a:t>colaboración transversal</a:t>
            </a:r>
            <a:r>
              <a:rPr b="0" i="0" lang="es-MX" sz="1200" u="none" cap="none" strike="noStrike">
                <a:solidFill>
                  <a:srgbClr val="000000"/>
                </a:solidFill>
                <a:latin typeface="Arial"/>
                <a:ea typeface="Arial"/>
                <a:cs typeface="Arial"/>
                <a:sym typeface="Arial"/>
              </a:rPr>
              <a:t>.</a:t>
            </a:r>
            <a:endParaRPr/>
          </a:p>
          <a:p>
            <a:pPr indent="-76200" lvl="0" marL="0" marR="0" rtl="0" algn="l">
              <a:lnSpc>
                <a:spcPct val="100000"/>
              </a:lnSpc>
              <a:spcBef>
                <a:spcPts val="0"/>
              </a:spcBef>
              <a:spcAft>
                <a:spcPts val="0"/>
              </a:spcAft>
              <a:buClr>
                <a:srgbClr val="000000"/>
              </a:buClr>
              <a:buSzPts val="1200"/>
              <a:buFont typeface="Trebuchet MS"/>
              <a:buChar char="​"/>
            </a:pPr>
            <a:r>
              <a:rPr b="0" i="0" lang="es-MX" sz="1200" u="none" cap="none" strike="noStrike">
                <a:solidFill>
                  <a:srgbClr val="000000"/>
                </a:solidFill>
                <a:latin typeface="Arial"/>
                <a:ea typeface="Arial"/>
                <a:cs typeface="Arial"/>
                <a:sym typeface="Arial"/>
              </a:rPr>
              <a:t>Permite traducir la estrategia en ejecución coordinada, fortaleciendo la alineación, la agilidad y la rendición de cuentas en toda la organización.</a:t>
            </a:r>
            <a:endParaRPr/>
          </a:p>
        </p:txBody>
      </p:sp>
      <p:sp>
        <p:nvSpPr>
          <p:cNvPr id="412" name="Google Shape;412;p5"/>
          <p:cNvSpPr/>
          <p:nvPr/>
        </p:nvSpPr>
        <p:spPr>
          <a:xfrm>
            <a:off x="1396356" y="2345993"/>
            <a:ext cx="4392619" cy="3416320"/>
          </a:xfrm>
          <a:prstGeom prst="rect">
            <a:avLst/>
          </a:prstGeom>
          <a:noFill/>
          <a:ln>
            <a:noFill/>
          </a:ln>
        </p:spPr>
        <p:txBody>
          <a:bodyPr anchorCtr="0" anchor="t" bIns="45700" lIns="91425" spcFirstLastPara="1" rIns="91425" wrap="square" tIns="45700">
            <a:spAutoFit/>
          </a:bodyPr>
          <a:lstStyle/>
          <a:p>
            <a:pPr indent="-80963" lvl="0" marL="80963" marR="0" rtl="0" algn="l">
              <a:lnSpc>
                <a:spcPct val="100000"/>
              </a:lnSpc>
              <a:spcBef>
                <a:spcPts val="0"/>
              </a:spcBef>
              <a:spcAft>
                <a:spcPts val="0"/>
              </a:spcAft>
              <a:buClr>
                <a:srgbClr val="000000"/>
              </a:buClr>
              <a:buSzPts val="1200"/>
              <a:buFont typeface="Arial"/>
              <a:buChar char="•"/>
            </a:pPr>
            <a:r>
              <a:rPr b="0" i="0" lang="es-MX" sz="1200" u="none" cap="none" strike="noStrike">
                <a:solidFill>
                  <a:srgbClr val="000000"/>
                </a:solidFill>
                <a:latin typeface="Arial"/>
                <a:ea typeface="Arial"/>
                <a:cs typeface="Arial"/>
                <a:sym typeface="Arial"/>
              </a:rPr>
              <a:t>Establece una </a:t>
            </a:r>
            <a:r>
              <a:rPr b="1" i="0" lang="es-MX" sz="1200" u="none" cap="none" strike="noStrike">
                <a:solidFill>
                  <a:srgbClr val="000000"/>
                </a:solidFill>
                <a:latin typeface="Arial"/>
                <a:ea typeface="Arial"/>
                <a:cs typeface="Arial"/>
                <a:sym typeface="Arial"/>
              </a:rPr>
              <a:t>base sólida de gobernanza</a:t>
            </a:r>
            <a:r>
              <a:rPr b="0" i="0" lang="es-MX" sz="1200" u="none" cap="none" strike="noStrike">
                <a:solidFill>
                  <a:srgbClr val="000000"/>
                </a:solidFill>
                <a:latin typeface="Arial"/>
                <a:ea typeface="Arial"/>
                <a:cs typeface="Arial"/>
                <a:sym typeface="Arial"/>
              </a:rPr>
              <a:t> y rendición de cuentas, asegurando claridad de funciones y evitando duplicidades o vacíos de responsabilidad.</a:t>
            </a:r>
            <a:endParaRPr/>
          </a:p>
          <a:p>
            <a:pPr indent="-4763" lvl="0" marL="80963"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a:p>
            <a:pPr indent="-80963" lvl="0" marL="80963" marR="0" rtl="0" algn="l">
              <a:lnSpc>
                <a:spcPct val="100000"/>
              </a:lnSpc>
              <a:spcBef>
                <a:spcPts val="0"/>
              </a:spcBef>
              <a:spcAft>
                <a:spcPts val="0"/>
              </a:spcAft>
              <a:buClr>
                <a:srgbClr val="000000"/>
              </a:buClr>
              <a:buSzPts val="1200"/>
              <a:buFont typeface="Arial"/>
              <a:buChar char="•"/>
            </a:pPr>
            <a:r>
              <a:rPr b="0" i="0" lang="es-MX" sz="1200" u="none" cap="none" strike="noStrike">
                <a:solidFill>
                  <a:srgbClr val="000000"/>
                </a:solidFill>
                <a:latin typeface="Arial"/>
                <a:ea typeface="Arial"/>
                <a:cs typeface="Arial"/>
                <a:sym typeface="Arial"/>
              </a:rPr>
              <a:t>Promueve la </a:t>
            </a:r>
            <a:r>
              <a:rPr b="1" i="0" lang="es-MX" sz="1200" u="none" cap="none" strike="noStrike">
                <a:solidFill>
                  <a:srgbClr val="000000"/>
                </a:solidFill>
                <a:latin typeface="Arial"/>
                <a:ea typeface="Arial"/>
                <a:cs typeface="Arial"/>
                <a:sym typeface="Arial"/>
              </a:rPr>
              <a:t>colaboración transversal</a:t>
            </a:r>
            <a:r>
              <a:rPr b="0" i="0" lang="es-MX" sz="1200" u="none" cap="none" strike="noStrike">
                <a:solidFill>
                  <a:srgbClr val="000000"/>
                </a:solidFill>
                <a:latin typeface="Arial"/>
                <a:ea typeface="Arial"/>
                <a:cs typeface="Arial"/>
                <a:sym typeface="Arial"/>
              </a:rPr>
              <a:t>, al definir con precisión quién lidera, quién apoya y quién debe ser consultado en cada proceso.</a:t>
            </a:r>
            <a:endParaRPr/>
          </a:p>
          <a:p>
            <a:pPr indent="-4763" lvl="0" marL="80963"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a:p>
            <a:pPr indent="-80963" lvl="0" marL="80963" marR="0" rtl="0" algn="l">
              <a:lnSpc>
                <a:spcPct val="100000"/>
              </a:lnSpc>
              <a:spcBef>
                <a:spcPts val="0"/>
              </a:spcBef>
              <a:spcAft>
                <a:spcPts val="0"/>
              </a:spcAft>
              <a:buClr>
                <a:srgbClr val="000000"/>
              </a:buClr>
              <a:buSzPts val="1200"/>
              <a:buFont typeface="Arial"/>
              <a:buChar char="•"/>
            </a:pPr>
            <a:r>
              <a:rPr b="1" i="0" lang="es-MX" sz="1200" u="none" cap="none" strike="noStrike">
                <a:solidFill>
                  <a:srgbClr val="000000"/>
                </a:solidFill>
                <a:latin typeface="Arial"/>
                <a:ea typeface="Arial"/>
                <a:cs typeface="Arial"/>
                <a:sym typeface="Arial"/>
              </a:rPr>
              <a:t>Alinea a toda la organización con los objetivos estratégicos</a:t>
            </a:r>
            <a:r>
              <a:rPr b="0" i="0" lang="es-MX" sz="1200" u="none" cap="none" strike="noStrike">
                <a:solidFill>
                  <a:srgbClr val="000000"/>
                </a:solidFill>
                <a:latin typeface="Arial"/>
                <a:ea typeface="Arial"/>
                <a:cs typeface="Arial"/>
                <a:sym typeface="Arial"/>
              </a:rPr>
              <a:t>, garantizando que cada área comprenda su contribución al logro de resultados.</a:t>
            </a:r>
            <a:endParaRPr/>
          </a:p>
          <a:p>
            <a:pPr indent="-4763" lvl="0" marL="80963"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a:p>
            <a:pPr indent="-80963" lvl="0" marL="80963" marR="0" rtl="0" algn="l">
              <a:lnSpc>
                <a:spcPct val="100000"/>
              </a:lnSpc>
              <a:spcBef>
                <a:spcPts val="0"/>
              </a:spcBef>
              <a:spcAft>
                <a:spcPts val="0"/>
              </a:spcAft>
              <a:buClr>
                <a:srgbClr val="000000"/>
              </a:buClr>
              <a:buSzPts val="1200"/>
              <a:buFont typeface="Arial"/>
              <a:buChar char="•"/>
            </a:pPr>
            <a:r>
              <a:rPr b="0" i="0" lang="es-MX" sz="1200" u="none" cap="none" strike="noStrike">
                <a:solidFill>
                  <a:srgbClr val="000000"/>
                </a:solidFill>
                <a:latin typeface="Arial"/>
                <a:ea typeface="Arial"/>
                <a:cs typeface="Arial"/>
                <a:sym typeface="Arial"/>
              </a:rPr>
              <a:t>Fortalece la </a:t>
            </a:r>
            <a:r>
              <a:rPr b="1" i="0" lang="es-MX" sz="1200" u="none" cap="none" strike="noStrike">
                <a:solidFill>
                  <a:srgbClr val="000000"/>
                </a:solidFill>
                <a:latin typeface="Arial"/>
                <a:ea typeface="Arial"/>
                <a:cs typeface="Arial"/>
                <a:sym typeface="Arial"/>
              </a:rPr>
              <a:t>disciplina operativa</a:t>
            </a:r>
            <a:r>
              <a:rPr b="0" i="0" lang="es-MX" sz="1200" u="none" cap="none" strike="noStrike">
                <a:solidFill>
                  <a:srgbClr val="000000"/>
                </a:solidFill>
                <a:latin typeface="Arial"/>
                <a:ea typeface="Arial"/>
                <a:cs typeface="Arial"/>
                <a:sym typeface="Arial"/>
              </a:rPr>
              <a:t>, estandarizando la forma de trabajo y mejorando la agilidad en la toma de decisiones.</a:t>
            </a:r>
            <a:endParaRPr/>
          </a:p>
          <a:p>
            <a:pPr indent="-4763" lvl="0" marL="80963" marR="0" rtl="0" algn="l">
              <a:lnSpc>
                <a:spcPct val="100000"/>
              </a:lnSpc>
              <a:spcBef>
                <a:spcPts val="0"/>
              </a:spcBef>
              <a:spcAft>
                <a:spcPts val="0"/>
              </a:spcAft>
              <a:buClr>
                <a:schemeClr val="dk1"/>
              </a:buClr>
              <a:buSzPts val="1200"/>
              <a:buFont typeface="Arial"/>
              <a:buNone/>
            </a:pPr>
            <a:r>
              <a:t/>
            </a:r>
            <a:endParaRPr b="0" i="0" sz="1200" u="none" cap="none" strike="noStrike">
              <a:solidFill>
                <a:srgbClr val="000000"/>
              </a:solidFill>
              <a:latin typeface="Arial"/>
              <a:ea typeface="Arial"/>
              <a:cs typeface="Arial"/>
              <a:sym typeface="Arial"/>
            </a:endParaRPr>
          </a:p>
          <a:p>
            <a:pPr indent="-80963" lvl="0" marL="80963" marR="0" rtl="0" algn="l">
              <a:lnSpc>
                <a:spcPct val="100000"/>
              </a:lnSpc>
              <a:spcBef>
                <a:spcPts val="0"/>
              </a:spcBef>
              <a:spcAft>
                <a:spcPts val="0"/>
              </a:spcAft>
              <a:buClr>
                <a:srgbClr val="000000"/>
              </a:buClr>
              <a:buSzPts val="1200"/>
              <a:buFont typeface="Arial"/>
              <a:buChar char="•"/>
            </a:pPr>
            <a:r>
              <a:rPr b="0" i="0" lang="es-MX" sz="1200" u="none" cap="none" strike="noStrike">
                <a:solidFill>
                  <a:srgbClr val="000000"/>
                </a:solidFill>
                <a:latin typeface="Arial"/>
                <a:ea typeface="Arial"/>
                <a:cs typeface="Arial"/>
                <a:sym typeface="Arial"/>
              </a:rPr>
              <a:t>Optimiza la </a:t>
            </a:r>
            <a:r>
              <a:rPr b="1" i="0" lang="es-MX" sz="1200" u="none" cap="none" strike="noStrike">
                <a:solidFill>
                  <a:srgbClr val="000000"/>
                </a:solidFill>
                <a:latin typeface="Arial"/>
                <a:ea typeface="Arial"/>
                <a:cs typeface="Arial"/>
                <a:sym typeface="Arial"/>
              </a:rPr>
              <a:t>comunicación entre equipos</a:t>
            </a:r>
            <a:r>
              <a:rPr b="0" i="0" lang="es-MX" sz="1200" u="none" cap="none" strike="noStrike">
                <a:solidFill>
                  <a:srgbClr val="000000"/>
                </a:solidFill>
                <a:latin typeface="Arial"/>
                <a:ea typeface="Arial"/>
                <a:cs typeface="Arial"/>
                <a:sym typeface="Arial"/>
              </a:rPr>
              <a:t>, reduciendo retrabajos y retrasos innecesarios en la ejecución de proyectos y procesos clave.</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grpSp>
        <p:nvGrpSpPr>
          <p:cNvPr id="418" name="Google Shape;418;p7"/>
          <p:cNvGrpSpPr/>
          <p:nvPr/>
        </p:nvGrpSpPr>
        <p:grpSpPr>
          <a:xfrm>
            <a:off x="0" y="6926580"/>
            <a:ext cx="12192000" cy="137160"/>
            <a:chOff x="0" y="6926580"/>
            <a:chExt cx="12192000" cy="137160"/>
          </a:xfrm>
        </p:grpSpPr>
        <p:sp>
          <p:nvSpPr>
            <p:cNvPr id="419" name="Google Shape;419;p7"/>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420" name="Google Shape;420;p7"/>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421" name="Google Shape;421;p7"/>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422" name="Google Shape;422;p7"/>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423" name="Google Shape;423;p7"/>
          <p:cNvGrpSpPr/>
          <p:nvPr/>
        </p:nvGrpSpPr>
        <p:grpSpPr>
          <a:xfrm>
            <a:off x="0" y="-205740"/>
            <a:ext cx="12192000" cy="137160"/>
            <a:chOff x="0" y="-205740"/>
            <a:chExt cx="12192000" cy="137160"/>
          </a:xfrm>
        </p:grpSpPr>
        <p:sp>
          <p:nvSpPr>
            <p:cNvPr id="424" name="Google Shape;424;p7"/>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425" name="Google Shape;425;p7"/>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426" name="Google Shape;426;p7"/>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427" name="Google Shape;427;p7"/>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428" name="Google Shape;428;p7"/>
          <p:cNvSpPr txBox="1"/>
          <p:nvPr>
            <p:ph type="title"/>
          </p:nvPr>
        </p:nvSpPr>
        <p:spPr>
          <a:xfrm>
            <a:off x="950142" y="2720529"/>
            <a:ext cx="10698933" cy="1065540"/>
          </a:xfrm>
          <a:prstGeom prst="rect">
            <a:avLst/>
          </a:prstGeom>
          <a:noFill/>
          <a:ln>
            <a:noFill/>
          </a:ln>
        </p:spPr>
        <p:txBody>
          <a:bodyPr anchorCtr="0" anchor="ctr" bIns="36000" lIns="91425" spcFirstLastPara="1" rIns="91425" wrap="square" tIns="36000">
            <a:normAutofit/>
          </a:bodyPr>
          <a:lstStyle/>
          <a:p>
            <a:pPr indent="0" lvl="0" marL="0" rtl="0" algn="l">
              <a:lnSpc>
                <a:spcPct val="100000"/>
              </a:lnSpc>
              <a:spcBef>
                <a:spcPts val="0"/>
              </a:spcBef>
              <a:spcAft>
                <a:spcPts val="0"/>
              </a:spcAft>
              <a:buNone/>
            </a:pPr>
            <a:r>
              <a:rPr lang="es-MX"/>
              <a:t>Customer Value Proposition</a:t>
            </a:r>
            <a:br>
              <a:rPr lang="es-MX"/>
            </a:br>
            <a:r>
              <a:rPr b="0" lang="es-MX"/>
              <a:t>Fit for Purpose OXXO MX</a:t>
            </a:r>
            <a:endParaRPr/>
          </a:p>
        </p:txBody>
      </p:sp>
      <p:sp>
        <p:nvSpPr>
          <p:cNvPr id="429" name="Google Shape;429;p7"/>
          <p:cNvSpPr txBox="1"/>
          <p:nvPr/>
        </p:nvSpPr>
        <p:spPr>
          <a:xfrm>
            <a:off x="1016817" y="3838575"/>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Open Sans"/>
              <a:buNone/>
            </a:pPr>
            <a:r>
              <a:rPr b="0" i="0" lang="es-MX" sz="1600" u="none" cap="none" strike="noStrike">
                <a:solidFill>
                  <a:srgbClr val="FFFFFF"/>
                </a:solidFill>
                <a:latin typeface="Open Sans"/>
                <a:ea typeface="Open Sans"/>
                <a:cs typeface="Open Sans"/>
                <a:sym typeface="Open Sans"/>
              </a:rPr>
              <a:t>Enero 2026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8"/>
          <p:cNvSpPr txBox="1"/>
          <p:nvPr>
            <p:ph type="title"/>
          </p:nvPr>
        </p:nvSpPr>
        <p:spPr>
          <a:xfrm>
            <a:off x="508799" y="250442"/>
            <a:ext cx="11352999" cy="46166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s-MX">
                <a:solidFill>
                  <a:srgbClr val="DE0230"/>
                </a:solidFill>
              </a:rPr>
              <a:t>Plan Aseguramiento y Estabilización | </a:t>
            </a:r>
            <a:r>
              <a:rPr lang="es-MX"/>
              <a:t>Interacciones Críticas (10)</a:t>
            </a:r>
            <a:endParaRPr/>
          </a:p>
        </p:txBody>
      </p:sp>
      <p:graphicFrame>
        <p:nvGraphicFramePr>
          <p:cNvPr id="435" name="Google Shape;435;p8"/>
          <p:cNvGraphicFramePr/>
          <p:nvPr/>
        </p:nvGraphicFramePr>
        <p:xfrm>
          <a:off x="481689" y="899707"/>
          <a:ext cx="3000000" cy="3000000"/>
        </p:xfrm>
        <a:graphic>
          <a:graphicData uri="http://schemas.openxmlformats.org/drawingml/2006/table">
            <a:tbl>
              <a:tblPr>
                <a:solidFill>
                  <a:srgbClr val="F2F2F2"/>
                </a:solidFill>
                <a:tableStyleId>{59F1A6B1-18B9-4B87-B458-7A3E6594CA7B}</a:tableStyleId>
              </a:tblPr>
              <a:tblGrid>
                <a:gridCol w="609700"/>
                <a:gridCol w="3464725"/>
                <a:gridCol w="2647775"/>
                <a:gridCol w="2118425"/>
                <a:gridCol w="2388000"/>
              </a:tblGrid>
              <a:tr h="263125">
                <a:tc>
                  <a:txBody>
                    <a:bodyPr/>
                    <a:lstStyle/>
                    <a:p>
                      <a:pPr indent="0" lvl="0" marL="0" marR="0" rtl="0" algn="ctr">
                        <a:spcBef>
                          <a:spcPts val="0"/>
                        </a:spcBef>
                        <a:spcAft>
                          <a:spcPts val="0"/>
                        </a:spcAft>
                        <a:buClr>
                          <a:schemeClr val="lt1"/>
                        </a:buClr>
                        <a:buSzPts val="1000"/>
                        <a:buFont typeface="Arial"/>
                        <a:buNone/>
                      </a:pPr>
                      <a:r>
                        <a:rPr b="1" lang="es-MX" sz="1000" u="none" cap="none" strike="noStrike">
                          <a:solidFill>
                            <a:schemeClr val="lt1"/>
                          </a:solidFill>
                          <a:latin typeface="Arial"/>
                          <a:ea typeface="Arial"/>
                          <a:cs typeface="Arial"/>
                          <a:sym typeface="Arial"/>
                        </a:rPr>
                        <a:t>Prioridad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u="none" cap="none" strike="noStrike">
                          <a:solidFill>
                            <a:schemeClr val="lt1"/>
                          </a:solidFill>
                          <a:latin typeface="Arial"/>
                          <a:ea typeface="Arial"/>
                          <a:cs typeface="Arial"/>
                          <a:sym typeface="Arial"/>
                        </a:rPr>
                        <a:t>Objetivo Principal</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u="none" cap="none" strike="noStrike">
                          <a:solidFill>
                            <a:schemeClr val="lt1"/>
                          </a:solidFill>
                          <a:latin typeface="Arial"/>
                          <a:ea typeface="Arial"/>
                          <a:cs typeface="Arial"/>
                          <a:sym typeface="Arial"/>
                        </a:rPr>
                        <a:t>Interacción Crítica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u="none" cap="none" strike="noStrike">
                          <a:solidFill>
                            <a:schemeClr val="lt1"/>
                          </a:solidFill>
                          <a:latin typeface="Arial"/>
                          <a:ea typeface="Arial"/>
                          <a:cs typeface="Arial"/>
                          <a:sym typeface="Arial"/>
                        </a:rPr>
                        <a:t>Impacto Estratégico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u="none" cap="none" strike="noStrike">
                          <a:solidFill>
                            <a:schemeClr val="lt1"/>
                          </a:solidFill>
                          <a:latin typeface="Arial"/>
                          <a:ea typeface="Arial"/>
                          <a:cs typeface="Arial"/>
                          <a:sym typeface="Arial"/>
                        </a:rPr>
                        <a:t>Responsables Principales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r>
              <a:tr h="568025">
                <a:tc>
                  <a:txBody>
                    <a:bodyPr/>
                    <a:lstStyle/>
                    <a:p>
                      <a:pPr indent="0" lvl="0" marL="0" marR="0" rtl="0" algn="ctr">
                        <a:spcBef>
                          <a:spcPts val="0"/>
                        </a:spcBef>
                        <a:spcAft>
                          <a:spcPts val="0"/>
                        </a:spcAft>
                        <a:buClr>
                          <a:schemeClr val="dk1"/>
                        </a:buClr>
                        <a:buSzPts val="900"/>
                        <a:buFont typeface="Arial"/>
                        <a:buNone/>
                      </a:pPr>
                      <a:r>
                        <a:rPr b="1" lang="es-MX" sz="900" u="none" cap="none" strike="noStrike">
                          <a:solidFill>
                            <a:schemeClr val="dk1"/>
                          </a:solidFill>
                          <a:latin typeface="Arial"/>
                          <a:ea typeface="Arial"/>
                          <a:cs typeface="Arial"/>
                          <a:sym typeface="Arial"/>
                        </a:rPr>
                        <a:t>1</a:t>
                      </a:r>
                      <a:endParaRPr sz="900" u="none" cap="none" strike="noStrike">
                        <a:solidFill>
                          <a:schemeClr val="dk1"/>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lang="es-MX" sz="900" u="none" cap="none" strike="noStrike">
                          <a:solidFill>
                            <a:schemeClr val="dk1"/>
                          </a:solidFill>
                          <a:latin typeface="Arial"/>
                          <a:ea typeface="Arial"/>
                          <a:cs typeface="Arial"/>
                          <a:sym typeface="Arial"/>
                        </a:rPr>
                        <a:t>Redefinir el </a:t>
                      </a:r>
                      <a:r>
                        <a:rPr b="1" i="1" lang="es-MX" sz="900" u="none" cap="none" strike="noStrike">
                          <a:solidFill>
                            <a:schemeClr val="dk1"/>
                          </a:solidFill>
                          <a:latin typeface="Arial"/>
                          <a:ea typeface="Arial"/>
                          <a:cs typeface="Arial"/>
                          <a:sym typeface="Arial"/>
                        </a:rPr>
                        <a:t>Customer Value Proposition</a:t>
                      </a:r>
                      <a:r>
                        <a:rPr b="1" lang="es-MX" sz="900" u="none" cap="none" strike="noStrike">
                          <a:solidFill>
                            <a:schemeClr val="dk1"/>
                          </a:solidFill>
                          <a:latin typeface="Arial"/>
                          <a:ea typeface="Arial"/>
                          <a:cs typeface="Arial"/>
                          <a:sym typeface="Arial"/>
                        </a:rPr>
                        <a:t> </a:t>
                      </a:r>
                      <a:r>
                        <a:rPr lang="es-MX" sz="900" u="none" cap="none" strike="noStrike">
                          <a:solidFill>
                            <a:schemeClr val="dk1"/>
                          </a:solidFill>
                          <a:latin typeface="Arial"/>
                          <a:ea typeface="Arial"/>
                          <a:cs typeface="Arial"/>
                          <a:sym typeface="Arial"/>
                        </a:rPr>
                        <a:t>(CVP) y distribuir el ownership del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b="1" lang="es-MX" sz="900" u="none" cap="none" strike="noStrike">
                          <a:solidFill>
                            <a:schemeClr val="dk1"/>
                          </a:solidFill>
                          <a:latin typeface="Arial"/>
                          <a:ea typeface="Arial"/>
                          <a:cs typeface="Arial"/>
                          <a:sym typeface="Arial"/>
                        </a:rPr>
                        <a:t>Comercial ↔ Customer &amp; Marketing</a:t>
                      </a:r>
                      <a:endParaRPr sz="900" u="none" cap="none" strike="noStrike">
                        <a:solidFill>
                          <a:schemeClr val="dk1"/>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lang="es-MX" sz="900" u="none" cap="none" strike="noStrike">
                          <a:solidFill>
                            <a:schemeClr val="dk1"/>
                          </a:solidFill>
                          <a:latin typeface="Arial"/>
                          <a:ea typeface="Arial"/>
                          <a:cs typeface="Arial"/>
                          <a:sym typeface="Arial"/>
                        </a:rPr>
                        <a:t>Alinea la propuesta de valor al cliente con las estrategias comerciales.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lang="es-MX" sz="900" u="none" cap="none" strike="noStrike">
                          <a:solidFill>
                            <a:schemeClr val="dk1"/>
                          </a:solidFill>
                          <a:latin typeface="Arial"/>
                          <a:ea typeface="Arial"/>
                          <a:cs typeface="Arial"/>
                          <a:sym typeface="Arial"/>
                        </a:rPr>
                        <a:t>Dir. Comercial </a:t>
                      </a:r>
                      <a:endParaRPr/>
                    </a:p>
                    <a:p>
                      <a:pPr indent="0" lvl="0" marL="0" marR="0" rtl="0" algn="l">
                        <a:spcBef>
                          <a:spcPts val="0"/>
                        </a:spcBef>
                        <a:spcAft>
                          <a:spcPts val="0"/>
                        </a:spcAft>
                        <a:buClr>
                          <a:schemeClr val="dk1"/>
                        </a:buClr>
                        <a:buSzPts val="900"/>
                        <a:buFont typeface="Arial"/>
                        <a:buNone/>
                      </a:pPr>
                      <a:r>
                        <a:rPr lang="es-MX" sz="900" u="none" cap="none" strike="noStrike">
                          <a:solidFill>
                            <a:schemeClr val="dk1"/>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r>
              <a:tr h="519525">
                <a:tc>
                  <a:txBody>
                    <a:bodyPr/>
                    <a:lstStyle/>
                    <a:p>
                      <a:pPr indent="0" lvl="0" marL="0" marR="0" rtl="0" algn="ctr">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2</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Habilitar </a:t>
                      </a:r>
                      <a:r>
                        <a:rPr b="1" i="1" lang="es-MX" sz="900" u="none" cap="none" strike="noStrike">
                          <a:solidFill>
                            <a:srgbClr val="A5A5A5"/>
                          </a:solidFill>
                          <a:latin typeface="Arial"/>
                          <a:ea typeface="Arial"/>
                          <a:cs typeface="Arial"/>
                          <a:sym typeface="Arial"/>
                        </a:rPr>
                        <a:t>decisiones comerciales de precios, variedad, volumen y márgenes </a:t>
                      </a:r>
                      <a:r>
                        <a:rPr lang="es-MX" sz="900" u="none" cap="none" strike="noStrike">
                          <a:solidFill>
                            <a:srgbClr val="A5A5A5"/>
                          </a:solidFill>
                          <a:latin typeface="Arial"/>
                          <a:ea typeface="Arial"/>
                          <a:cs typeface="Arial"/>
                          <a:sym typeface="Arial"/>
                        </a:rPr>
                        <a:t>con soporte de análisis profundo y detallado.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Comercial ↔ Commercial Finance (Finanzas) ↔ Data &amp; Analytics (C&amp;M)</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Mejora la rentabilidad comercial y control financiero.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Comercial</a:t>
                      </a:r>
                      <a:endParaRPr/>
                    </a:p>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Finanzas</a:t>
                      </a:r>
                      <a:endParaRPr/>
                    </a:p>
                    <a:p>
                      <a:pPr indent="0" lvl="0" marL="0" marR="0" rtl="0" algn="l">
                        <a:lnSpc>
                          <a:spcPct val="100000"/>
                        </a:lnSpc>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Customer &amp; Marketing</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3</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Integrar la </a:t>
                      </a:r>
                      <a:r>
                        <a:rPr b="1" i="1" lang="es-MX" sz="900" u="none" cap="none" strike="noStrike">
                          <a:solidFill>
                            <a:srgbClr val="A5A5A5"/>
                          </a:solidFill>
                          <a:latin typeface="Arial"/>
                          <a:ea typeface="Arial"/>
                          <a:cs typeface="Arial"/>
                          <a:sym typeface="Arial"/>
                        </a:rPr>
                        <a:t>Voz del Cliente </a:t>
                      </a:r>
                      <a:r>
                        <a:rPr lang="es-MX" sz="900" u="none" cap="none" strike="noStrike">
                          <a:solidFill>
                            <a:srgbClr val="A5A5A5"/>
                          </a:solidFill>
                          <a:latin typeface="Arial"/>
                          <a:ea typeface="Arial"/>
                          <a:cs typeface="Arial"/>
                          <a:sym typeface="Arial"/>
                        </a:rPr>
                        <a:t>en los procesos comerciales end-to-end para mejorar experiencia y ejecución.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Comercial ↔ Customer &amp; Marketing ↔ Excelencia Operativa</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Conecta diseño comercial con ejecución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Comercial</a:t>
                      </a:r>
                      <a:endParaRPr/>
                    </a:p>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Customer &amp; Marketing</a:t>
                      </a:r>
                      <a:endParaRPr/>
                    </a:p>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Excelencia Operativa</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4</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Implementar la </a:t>
                      </a:r>
                      <a:r>
                        <a:rPr b="1" i="1" lang="es-MX" sz="900" u="none" cap="none" strike="noStrike">
                          <a:solidFill>
                            <a:srgbClr val="A5A5A5"/>
                          </a:solidFill>
                          <a:latin typeface="Arial"/>
                          <a:ea typeface="Arial"/>
                          <a:cs typeface="Arial"/>
                          <a:sym typeface="Arial"/>
                        </a:rPr>
                        <a:t>Value Management Office </a:t>
                      </a:r>
                      <a:r>
                        <a:rPr lang="es-MX" sz="900" u="none" cap="none" strike="noStrike">
                          <a:solidFill>
                            <a:srgbClr val="A5A5A5"/>
                          </a:solidFill>
                          <a:latin typeface="Arial"/>
                          <a:ea typeface="Arial"/>
                          <a:cs typeface="Arial"/>
                          <a:sym typeface="Arial"/>
                        </a:rPr>
                        <a:t>(VMO) y asegurar la inversión, gobernanza, priorización y trazabilidad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Estrategia y Transformación ↔ Todas las Plataformas</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Asegura trazabilidad y captura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Estrategia y Transformación</a:t>
                      </a:r>
                      <a:endParaRPr/>
                    </a:p>
                    <a:p>
                      <a:pPr indent="0" lvl="0" marL="0" marR="0" rtl="0" algn="l">
                        <a:lnSpc>
                          <a:spcPct val="100000"/>
                        </a:lnSpc>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Finanzas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95250">
                <a:tc>
                  <a:txBody>
                    <a:bodyPr/>
                    <a:lstStyle/>
                    <a:p>
                      <a:pPr indent="0" lvl="0" marL="0" marR="0" rtl="0" algn="ctr">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5</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Estandarizar el </a:t>
                      </a:r>
                      <a:r>
                        <a:rPr b="1" i="1" lang="es-MX" sz="900" u="none" cap="none" strike="noStrike">
                          <a:solidFill>
                            <a:srgbClr val="A5A5A5"/>
                          </a:solidFill>
                          <a:latin typeface="Arial"/>
                          <a:ea typeface="Arial"/>
                          <a:cs typeface="Arial"/>
                          <a:sym typeface="Arial"/>
                        </a:rPr>
                        <a:t>Modelo de Madurez</a:t>
                      </a:r>
                      <a:r>
                        <a:rPr lang="es-MX" sz="900" u="none" cap="none" strike="noStrike">
                          <a:solidFill>
                            <a:srgbClr val="A5A5A5"/>
                          </a:solidFill>
                          <a:latin typeface="Arial"/>
                          <a:ea typeface="Arial"/>
                          <a:cs typeface="Arial"/>
                          <a:sym typeface="Arial"/>
                        </a:rPr>
                        <a:t> y orquestar el </a:t>
                      </a:r>
                      <a:r>
                        <a:rPr b="1" i="1" lang="es-MX" sz="900" u="none" cap="none" strike="noStrike">
                          <a:solidFill>
                            <a:srgbClr val="A5A5A5"/>
                          </a:solidFill>
                          <a:latin typeface="Arial"/>
                          <a:ea typeface="Arial"/>
                          <a:cs typeface="Arial"/>
                          <a:sym typeface="Arial"/>
                        </a:rPr>
                        <a:t>modelo operativo end-to-end</a:t>
                      </a:r>
                      <a:r>
                        <a:rPr lang="es-MX" sz="900" u="none" cap="none" strike="noStrike">
                          <a:solidFill>
                            <a:srgbClr val="A5A5A5"/>
                          </a:solidFill>
                          <a:latin typeface="Arial"/>
                          <a:ea typeface="Arial"/>
                          <a:cs typeface="Arial"/>
                          <a:sym typeface="Arial"/>
                        </a:rPr>
                        <a:t>, integrando procesos de excelencia, despliegue operativo y cadena de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Excelencia Operativa ↔ Operaciones Nacionales / Despliegue Op. ↔ Procesos Operativos CDS</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Fortalece la consistencia operativa y accountability.</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Excelencia Operativa</a:t>
                      </a:r>
                      <a:endParaRPr/>
                    </a:p>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Operaciones</a:t>
                      </a:r>
                      <a:endParaRPr/>
                    </a:p>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Cadena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6</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Alinear la </a:t>
                      </a:r>
                      <a:r>
                        <a:rPr b="1" i="1" lang="es-MX" sz="900" u="none" cap="none" strike="noStrike">
                          <a:solidFill>
                            <a:srgbClr val="A5A5A5"/>
                          </a:solidFill>
                          <a:latin typeface="Arial"/>
                          <a:ea typeface="Arial"/>
                          <a:cs typeface="Arial"/>
                          <a:sym typeface="Arial"/>
                        </a:rPr>
                        <a:t>planeación financiera </a:t>
                      </a:r>
                      <a:r>
                        <a:rPr lang="es-MX" sz="900" u="none" cap="none" strike="noStrike">
                          <a:solidFill>
                            <a:srgbClr val="A5A5A5"/>
                          </a:solidFill>
                          <a:latin typeface="Arial"/>
                          <a:ea typeface="Arial"/>
                          <a:cs typeface="Arial"/>
                          <a:sym typeface="Arial"/>
                        </a:rPr>
                        <a:t>con el </a:t>
                      </a:r>
                      <a:r>
                        <a:rPr b="1" i="1" lang="es-MX" sz="900" u="none" cap="none" strike="noStrike">
                          <a:solidFill>
                            <a:srgbClr val="A5A5A5"/>
                          </a:solidFill>
                          <a:latin typeface="Arial"/>
                          <a:ea typeface="Arial"/>
                          <a:cs typeface="Arial"/>
                          <a:sym typeface="Arial"/>
                        </a:rPr>
                        <a:t>portafolio estratégico </a:t>
                      </a:r>
                      <a:r>
                        <a:rPr lang="es-MX" sz="900" u="none" cap="none" strike="noStrike">
                          <a:solidFill>
                            <a:srgbClr val="A5A5A5"/>
                          </a:solidFill>
                          <a:latin typeface="Arial"/>
                          <a:ea typeface="Arial"/>
                          <a:cs typeface="Arial"/>
                          <a:sym typeface="Arial"/>
                        </a:rPr>
                        <a:t>y la medición de beneficios.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Finanzas ↔ Estrategia y Transformación</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Fortalece la disciplina de inversión y valor generado.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Finanzas</a:t>
                      </a:r>
                      <a:endParaRPr/>
                    </a:p>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7</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Consolidar </a:t>
                      </a:r>
                      <a:r>
                        <a:rPr b="1" i="1" lang="es-MX" sz="900" u="none" cap="none" strike="noStrike">
                          <a:solidFill>
                            <a:srgbClr val="A5A5A5"/>
                          </a:solidFill>
                          <a:latin typeface="Arial"/>
                          <a:ea typeface="Arial"/>
                          <a:cs typeface="Arial"/>
                          <a:sym typeface="Arial"/>
                        </a:rPr>
                        <a:t>capacidades digitales </a:t>
                      </a:r>
                      <a:r>
                        <a:rPr lang="es-MX" sz="900" u="none" cap="none" strike="noStrike">
                          <a:solidFill>
                            <a:srgbClr val="A5A5A5"/>
                          </a:solidFill>
                          <a:latin typeface="Arial"/>
                          <a:ea typeface="Arial"/>
                          <a:cs typeface="Arial"/>
                          <a:sym typeface="Arial"/>
                        </a:rPr>
                        <a:t>y analítica avanzada para habilitar </a:t>
                      </a:r>
                      <a:r>
                        <a:rPr b="1" i="1" lang="es-MX" sz="900" u="none" cap="none" strike="noStrike">
                          <a:solidFill>
                            <a:srgbClr val="A5A5A5"/>
                          </a:solidFill>
                          <a:latin typeface="Arial"/>
                          <a:ea typeface="Arial"/>
                          <a:cs typeface="Arial"/>
                          <a:sym typeface="Arial"/>
                        </a:rPr>
                        <a:t>omnicanalidad</a:t>
                      </a:r>
                      <a:r>
                        <a:rPr lang="es-MX" sz="900" u="none" cap="none" strike="noStrike">
                          <a:solidFill>
                            <a:srgbClr val="A5A5A5"/>
                          </a:solidFill>
                          <a:latin typeface="Arial"/>
                          <a:ea typeface="Arial"/>
                          <a:cs typeface="Arial"/>
                          <a:sym typeface="Arial"/>
                        </a:rPr>
                        <a:t> y segmentación dinámica.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TI ↔ Customer &amp; Marketing ↔ Todas las PlataformasT</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Digitalización del core y habilitación de experiencia al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TI OXXO MX</a:t>
                      </a:r>
                      <a:endParaRPr/>
                    </a:p>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8</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i="1" lang="es-MX" sz="900" u="none" cap="none" strike="noStrike">
                          <a:solidFill>
                            <a:srgbClr val="A5A5A5"/>
                          </a:solidFill>
                          <a:latin typeface="Arial"/>
                          <a:ea typeface="Arial"/>
                          <a:cs typeface="Arial"/>
                          <a:sym typeface="Arial"/>
                        </a:rPr>
                        <a:t>Integración de Expansión </a:t>
                      </a:r>
                      <a:r>
                        <a:rPr lang="es-MX" sz="900" u="none" cap="none" strike="noStrike">
                          <a:solidFill>
                            <a:srgbClr val="A5A5A5"/>
                          </a:solidFill>
                          <a:latin typeface="Arial"/>
                          <a:ea typeface="Arial"/>
                          <a:cs typeface="Arial"/>
                          <a:sym typeface="Arial"/>
                        </a:rPr>
                        <a:t>bajo el modelo operativo para fortalecer gobernanza, sostenibilidad y velocidad de apertura.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Expansión ↔ Operaciones</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Maximiza sinergias en aperturas, batting y sostenibilidad.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Operaciones</a:t>
                      </a:r>
                      <a:endParaRPr/>
                    </a:p>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Expansión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9</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Integración de </a:t>
                      </a:r>
                      <a:r>
                        <a:rPr b="1" lang="es-MX" sz="900" u="none" cap="none" strike="noStrike">
                          <a:solidFill>
                            <a:srgbClr val="A5A5A5"/>
                          </a:solidFill>
                          <a:latin typeface="Arial"/>
                          <a:ea typeface="Arial"/>
                          <a:cs typeface="Arial"/>
                          <a:sym typeface="Arial"/>
                        </a:rPr>
                        <a:t>Operaciones Foodservice </a:t>
                      </a:r>
                      <a:r>
                        <a:rPr lang="es-MX" sz="900" u="none" cap="none" strike="noStrike">
                          <a:solidFill>
                            <a:srgbClr val="A5A5A5"/>
                          </a:solidFill>
                          <a:latin typeface="Arial"/>
                          <a:ea typeface="Arial"/>
                          <a:cs typeface="Arial"/>
                          <a:sym typeface="Arial"/>
                        </a:rPr>
                        <a:t>a </a:t>
                      </a:r>
                      <a:r>
                        <a:rPr b="1" lang="es-MX" sz="900" u="none" cap="none" strike="noStrike">
                          <a:solidFill>
                            <a:srgbClr val="A5A5A5"/>
                          </a:solidFill>
                          <a:latin typeface="Arial"/>
                          <a:ea typeface="Arial"/>
                          <a:cs typeface="Arial"/>
                          <a:sym typeface="Arial"/>
                        </a:rPr>
                        <a:t>Operaciones Tiendas </a:t>
                      </a:r>
                      <a:r>
                        <a:rPr b="0" lang="es-MX" sz="900" u="none" cap="none" strike="noStrike">
                          <a:solidFill>
                            <a:srgbClr val="A5A5A5"/>
                          </a:solidFill>
                          <a:latin typeface="Arial"/>
                          <a:ea typeface="Arial"/>
                          <a:cs typeface="Arial"/>
                          <a:sym typeface="Arial"/>
                        </a:rPr>
                        <a:t>para escalar e integrar la ejecución de la propuesta de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Comercial ↔ Operaciones Nacionales ↔ Excelencia Operativa </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Escalabilidad y alineación operativa de la propuesta de valor integrada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Comercial </a:t>
                      </a:r>
                      <a:endParaRPr/>
                    </a:p>
                    <a:p>
                      <a:pPr indent="0" lvl="0" marL="0" marR="0" rtl="0" algn="l">
                        <a:lnSpc>
                          <a:spcPct val="100000"/>
                        </a:lnSpc>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Operaciones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10</a:t>
                      </a:r>
                      <a:endParaRPr b="1"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0" lang="es-MX" sz="900" u="none" cap="none" strike="noStrike">
                          <a:solidFill>
                            <a:srgbClr val="A5A5A5"/>
                          </a:solidFill>
                          <a:latin typeface="Arial"/>
                          <a:ea typeface="Arial"/>
                          <a:cs typeface="Arial"/>
                          <a:sym typeface="Arial"/>
                        </a:rPr>
                        <a:t>Propuesta de valor de </a:t>
                      </a:r>
                      <a:r>
                        <a:rPr b="1" lang="es-MX" sz="900" u="none" cap="none" strike="noStrike">
                          <a:solidFill>
                            <a:srgbClr val="A5A5A5"/>
                          </a:solidFill>
                          <a:latin typeface="Arial"/>
                          <a:ea typeface="Arial"/>
                          <a:cs typeface="Arial"/>
                          <a:sym typeface="Arial"/>
                        </a:rPr>
                        <a:t>Servicios Comerciales </a:t>
                      </a:r>
                      <a:r>
                        <a:rPr b="0" lang="es-MX" sz="900" u="none" cap="none" strike="noStrike">
                          <a:solidFill>
                            <a:srgbClr val="A5A5A5"/>
                          </a:solidFill>
                          <a:latin typeface="Arial"/>
                          <a:ea typeface="Arial"/>
                          <a:cs typeface="Arial"/>
                          <a:sym typeface="Arial"/>
                        </a:rPr>
                        <a:t>independiente, alineada a la estrategia de negocio y </a:t>
                      </a:r>
                      <a:r>
                        <a:rPr b="1" lang="es-MX" sz="900" u="none" cap="none" strike="noStrike">
                          <a:solidFill>
                            <a:srgbClr val="A5A5A5"/>
                          </a:solidFill>
                          <a:latin typeface="Arial"/>
                          <a:ea typeface="Arial"/>
                          <a:cs typeface="Arial"/>
                          <a:sym typeface="Arial"/>
                        </a:rPr>
                        <a:t>en sinergia con Ejecución Comercial</a:t>
                      </a:r>
                      <a:endParaRPr b="1"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u="none" cap="none" strike="noStrike">
                          <a:solidFill>
                            <a:srgbClr val="A5A5A5"/>
                          </a:solidFill>
                          <a:latin typeface="Arial"/>
                          <a:ea typeface="Arial"/>
                          <a:cs typeface="Arial"/>
                          <a:sym typeface="Arial"/>
                        </a:rPr>
                        <a:t>Ejecución Comercial (Comercial) ↔ Servicios Comerciales (E&amp;T)</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Propuesta de valor de Servicios Comerciales en línea con la estrategia de negocio</a:t>
                      </a:r>
                      <a:endParaRPr sz="900" u="none" cap="none" strike="noStrik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Comercial</a:t>
                      </a:r>
                      <a:endParaRPr/>
                    </a:p>
                    <a:p>
                      <a:pPr indent="0" lvl="0" marL="0" marR="0" rtl="0" algn="l">
                        <a:lnSpc>
                          <a:spcPct val="100000"/>
                        </a:lnSpc>
                        <a:spcBef>
                          <a:spcPts val="0"/>
                        </a:spcBef>
                        <a:spcAft>
                          <a:spcPts val="0"/>
                        </a:spcAft>
                        <a:buClr>
                          <a:srgbClr val="A5A5A5"/>
                        </a:buClr>
                        <a:buSzPts val="900"/>
                        <a:buFont typeface="Arial"/>
                        <a:buNone/>
                      </a:pPr>
                      <a:r>
                        <a:rPr lang="es-MX" sz="900" u="none" cap="none" strike="noStrike">
                          <a:solidFill>
                            <a:srgbClr val="A5A5A5"/>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graphicFrame>
        <p:nvGraphicFramePr>
          <p:cNvPr id="440" name="Google Shape;440;p9"/>
          <p:cNvGraphicFramePr/>
          <p:nvPr/>
        </p:nvGraphicFramePr>
        <p:xfrm>
          <a:off x="1803609" y="869587"/>
          <a:ext cx="3000000" cy="3000000"/>
        </p:xfrm>
        <a:graphic>
          <a:graphicData uri="http://schemas.openxmlformats.org/drawingml/2006/table">
            <a:tbl>
              <a:tblPr>
                <a:noFill/>
                <a:tableStyleId>{59F1A6B1-18B9-4B87-B458-7A3E6594CA7B}</a:tableStyleId>
              </a:tblPr>
              <a:tblGrid>
                <a:gridCol w="2545300"/>
                <a:gridCol w="1216625"/>
                <a:gridCol w="1216625"/>
                <a:gridCol w="1216625"/>
                <a:gridCol w="1216625"/>
                <a:gridCol w="1216625"/>
                <a:gridCol w="12166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u="none" cap="none" strike="noStrike">
                          <a:solidFill>
                            <a:schemeClr val="dk1"/>
                          </a:solidFill>
                          <a:latin typeface="Arial"/>
                          <a:ea typeface="Arial"/>
                          <a:cs typeface="Arial"/>
                          <a:sym typeface="Arial"/>
                        </a:rPr>
                        <a:t>Customer y Marketing</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u="none" cap="none" strike="noStrike">
                          <a:solidFill>
                            <a:schemeClr val="dk1"/>
                          </a:solidFill>
                          <a:latin typeface="Arial"/>
                          <a:ea typeface="Arial"/>
                          <a:cs typeface="Arial"/>
                          <a:sym typeface="Arial"/>
                        </a:rPr>
                        <a:t>Comercial</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u="none" cap="none" strike="noStrike">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u="none" cap="none" strike="noStrike">
                          <a:solidFill>
                            <a:schemeClr val="dk1"/>
                          </a:solidFill>
                          <a:latin typeface="Arial"/>
                          <a:ea typeface="Arial"/>
                          <a:cs typeface="Arial"/>
                          <a:sym typeface="Arial"/>
                        </a:rPr>
                        <a:t>Operaciones</a:t>
                      </a:r>
                      <a:r>
                        <a:rPr lang="es-MX" sz="1400" u="none" cap="none" strike="noStrike">
                          <a:solidFill>
                            <a:schemeClr val="dk1"/>
                          </a:solidFill>
                          <a:latin typeface="Arial"/>
                          <a:ea typeface="Arial"/>
                          <a:cs typeface="Arial"/>
                          <a:sym typeface="Arial"/>
                        </a:rPr>
                        <a:t> </a:t>
                      </a:r>
                      <a:r>
                        <a:rPr i="1" lang="es-MX" sz="1100" u="none" cap="none" strike="noStrike">
                          <a:solidFill>
                            <a:schemeClr val="dk1"/>
                          </a:solidFill>
                          <a:latin typeface="Arial"/>
                          <a:ea typeface="Arial"/>
                          <a:cs typeface="Arial"/>
                          <a:sym typeface="Arial"/>
                        </a:rPr>
                        <a:t>(Desp. Op./CdS)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u="none" cap="none" strike="noStrike">
                          <a:solidFill>
                            <a:schemeClr val="dk1"/>
                          </a:solidFill>
                          <a:latin typeface="Arial"/>
                          <a:ea typeface="Arial"/>
                          <a:cs typeface="Arial"/>
                          <a:sym typeface="Arial"/>
                        </a:rPr>
                        <a:t>Operaciones </a:t>
                      </a:r>
                      <a:r>
                        <a:rPr i="1" lang="es-MX" sz="1100" u="none" cap="none" strike="noStrike">
                          <a:solidFill>
                            <a:schemeClr val="dk1"/>
                          </a:solidFill>
                          <a:latin typeface="Arial"/>
                          <a:ea typeface="Arial"/>
                          <a:cs typeface="Arial"/>
                          <a:sym typeface="Arial"/>
                        </a:rPr>
                        <a:t>(Regiones/Plazas)</a:t>
                      </a:r>
                      <a:endParaRPr i="1"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u="none" cap="none" strike="noStrike">
                          <a:solidFill>
                            <a:schemeClr val="dk1"/>
                          </a:solidFill>
                          <a:latin typeface="Arial"/>
                          <a:ea typeface="Arial"/>
                          <a:cs typeface="Arial"/>
                          <a:sym typeface="Arial"/>
                        </a:rPr>
                        <a:t>Commercial Finance</a:t>
                      </a:r>
                      <a:endParaRPr i="1" sz="12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u="none" cap="none" strike="noStrike">
                          <a:solidFill>
                            <a:schemeClr val="dk1"/>
                          </a:solidFill>
                          <a:latin typeface="Arial"/>
                          <a:ea typeface="Arial"/>
                          <a:cs typeface="Arial"/>
                          <a:sym typeface="Arial"/>
                        </a:rPr>
                        <a:t>Formatos de tienda</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u="none" cap="none" strike="noStrike">
                          <a:solidFill>
                            <a:schemeClr val="dk1"/>
                          </a:solidFill>
                          <a:latin typeface="Arial"/>
                          <a:ea typeface="Arial"/>
                          <a:cs typeface="Arial"/>
                          <a:sym typeface="Arial"/>
                        </a:rPr>
                        <a:t>Segmentos de clientes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u="none" cap="none" strike="noStrike">
                          <a:solidFill>
                            <a:schemeClr val="dk1"/>
                          </a:solidFill>
                          <a:latin typeface="Arial"/>
                          <a:ea typeface="Arial"/>
                          <a:cs typeface="Arial"/>
                          <a:sym typeface="Arial"/>
                        </a:rPr>
                        <a:t>Segmentos y macrolayouts por formato de tienda</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u="none" cap="none" strike="noStrike">
                          <a:solidFill>
                            <a:schemeClr val="dk1"/>
                          </a:solidFill>
                          <a:latin typeface="Arial"/>
                          <a:ea typeface="Arial"/>
                          <a:cs typeface="Arial"/>
                          <a:sym typeface="Arial"/>
                        </a:rPr>
                        <a:t>Propuesta de valor y lineamientos de experiencia en tienda</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u="none" cap="none" strike="noStrike">
                          <a:solidFill>
                            <a:schemeClr val="dk1"/>
                          </a:solidFill>
                          <a:latin typeface="Arial"/>
                          <a:ea typeface="Arial"/>
                          <a:cs typeface="Arial"/>
                          <a:sym typeface="Arial"/>
                        </a:rPr>
                        <a:t>Propuesta de valor en sistemas, procesos y lineamientos por segmento y formato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u="none" cap="none" strike="noStrike">
                          <a:solidFill>
                            <a:schemeClr val="dk1"/>
                          </a:solidFill>
                          <a:latin typeface="Arial"/>
                          <a:ea typeface="Arial"/>
                          <a:cs typeface="Arial"/>
                          <a:sym typeface="Arial"/>
                        </a:rPr>
                        <a:t>Propuesta de valor en tienda por segmento y formato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u="none" cap="none" strike="noStrike">
                          <a:solidFill>
                            <a:schemeClr val="dk1"/>
                          </a:solidFill>
                          <a:latin typeface="Arial"/>
                          <a:ea typeface="Arial"/>
                          <a:cs typeface="Arial"/>
                          <a:sym typeface="Arial"/>
                        </a:rPr>
                        <a:t>Pruebas controladas de la propuesta de valor</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u="none" cap="none" strike="noStrike">
                          <a:solidFill>
                            <a:schemeClr val="dk1"/>
                          </a:solidFill>
                          <a:latin typeface="Arial"/>
                          <a:ea typeface="Arial"/>
                          <a:cs typeface="Arial"/>
                          <a:sym typeface="Arial"/>
                        </a:rPr>
                        <a:t>Cumplimiento de la propuesta de valor final</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u="none" cap="none" strike="noStrike">
                          <a:solidFill>
                            <a:schemeClr val="dk1"/>
                          </a:solidFill>
                          <a:latin typeface="Arial"/>
                          <a:ea typeface="Arial"/>
                          <a:cs typeface="Arial"/>
                          <a:sym typeface="Arial"/>
                        </a:rPr>
                        <a:t>Lineamientos de surtido y catálogo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u="none" cap="none" strike="noStrike">
                          <a:solidFill>
                            <a:schemeClr val="dk1"/>
                          </a:solidFill>
                          <a:latin typeface="Arial"/>
                          <a:ea typeface="Arial"/>
                          <a:cs typeface="Arial"/>
                          <a:sym typeface="Arial"/>
                        </a:rPr>
                        <a:t>Lineamientos de precios y promociones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88900" lvl="0" marL="0" marR="0" rtl="0" algn="ctr">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bl>
          </a:graphicData>
        </a:graphic>
      </p:graphicFrame>
      <p:sp>
        <p:nvSpPr>
          <p:cNvPr id="441" name="Google Shape;441;p9"/>
          <p:cNvSpPr/>
          <p:nvPr/>
        </p:nvSpPr>
        <p:spPr>
          <a:xfrm>
            <a:off x="1510153" y="1516076"/>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a:t>
            </a:r>
            <a:endParaRPr/>
          </a:p>
        </p:txBody>
      </p:sp>
      <p:sp>
        <p:nvSpPr>
          <p:cNvPr id="442" name="Google Shape;442;p9"/>
          <p:cNvSpPr/>
          <p:nvPr/>
        </p:nvSpPr>
        <p:spPr>
          <a:xfrm>
            <a:off x="1510153" y="2053932"/>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2</a:t>
            </a:r>
            <a:endParaRPr/>
          </a:p>
        </p:txBody>
      </p:sp>
      <p:sp>
        <p:nvSpPr>
          <p:cNvPr id="443" name="Google Shape;443;p9"/>
          <p:cNvSpPr/>
          <p:nvPr/>
        </p:nvSpPr>
        <p:spPr>
          <a:xfrm>
            <a:off x="8447113" y="1434542"/>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444" name="Google Shape;444;p9"/>
          <p:cNvSpPr/>
          <p:nvPr/>
        </p:nvSpPr>
        <p:spPr>
          <a:xfrm>
            <a:off x="7180992" y="1434542"/>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445" name="Google Shape;445;p9"/>
          <p:cNvSpPr/>
          <p:nvPr/>
        </p:nvSpPr>
        <p:spPr>
          <a:xfrm>
            <a:off x="9624436" y="1434542"/>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446" name="Google Shape;446;p9"/>
          <p:cNvSpPr/>
          <p:nvPr/>
        </p:nvSpPr>
        <p:spPr>
          <a:xfrm>
            <a:off x="4974256" y="1434542"/>
            <a:ext cx="337578" cy="338400"/>
          </a:xfrm>
          <a:prstGeom prst="ellipse">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200"/>
              <a:buFont typeface="Arial"/>
              <a:buNone/>
            </a:pPr>
            <a:r>
              <a:rPr b="0" i="0" lang="es-MX" sz="1200" u="none" cap="none" strike="noStrike">
                <a:solidFill>
                  <a:srgbClr val="03522D"/>
                </a:solidFill>
                <a:latin typeface="Arial"/>
                <a:ea typeface="Arial"/>
                <a:cs typeface="Arial"/>
                <a:sym typeface="Arial"/>
              </a:rPr>
              <a:t>R</a:t>
            </a:r>
            <a:endParaRPr/>
          </a:p>
        </p:txBody>
      </p:sp>
      <p:sp>
        <p:nvSpPr>
          <p:cNvPr id="447" name="Google Shape;447;p9"/>
          <p:cNvSpPr/>
          <p:nvPr/>
        </p:nvSpPr>
        <p:spPr>
          <a:xfrm>
            <a:off x="1510153" y="2591788"/>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3</a:t>
            </a:r>
            <a:endParaRPr/>
          </a:p>
        </p:txBody>
      </p:sp>
      <p:sp>
        <p:nvSpPr>
          <p:cNvPr id="448" name="Google Shape;448;p9"/>
          <p:cNvSpPr/>
          <p:nvPr/>
        </p:nvSpPr>
        <p:spPr>
          <a:xfrm>
            <a:off x="6003137" y="1434542"/>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449" name="Google Shape;449;p9"/>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Customer Value Proposition</a:t>
            </a:r>
            <a:endParaRPr/>
          </a:p>
        </p:txBody>
      </p:sp>
      <p:sp>
        <p:nvSpPr>
          <p:cNvPr id="450" name="Google Shape;450;p9"/>
          <p:cNvSpPr/>
          <p:nvPr/>
        </p:nvSpPr>
        <p:spPr>
          <a:xfrm>
            <a:off x="4597874" y="1434542"/>
            <a:ext cx="337578" cy="338400"/>
          </a:xfrm>
          <a:prstGeom prst="ellipse">
            <a:avLst/>
          </a:prstGeom>
          <a:solidFill>
            <a:srgbClr val="EEE89A"/>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A67310"/>
              </a:buClr>
              <a:buSzPts val="1200"/>
              <a:buFont typeface="Arial"/>
              <a:buNone/>
            </a:pPr>
            <a:r>
              <a:rPr b="0" i="0" lang="es-MX" sz="1200" u="none" cap="none" strike="noStrike">
                <a:solidFill>
                  <a:srgbClr val="A67310"/>
                </a:solidFill>
                <a:latin typeface="Arial"/>
                <a:ea typeface="Arial"/>
                <a:cs typeface="Arial"/>
                <a:sym typeface="Arial"/>
              </a:rPr>
              <a:t>A</a:t>
            </a:r>
            <a:endParaRPr/>
          </a:p>
        </p:txBody>
      </p:sp>
      <p:sp>
        <p:nvSpPr>
          <p:cNvPr id="451" name="Google Shape;451;p9"/>
          <p:cNvSpPr/>
          <p:nvPr/>
        </p:nvSpPr>
        <p:spPr>
          <a:xfrm>
            <a:off x="8435787" y="3637536"/>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
        <p:nvSpPr>
          <p:cNvPr id="452" name="Google Shape;452;p9"/>
          <p:cNvSpPr/>
          <p:nvPr/>
        </p:nvSpPr>
        <p:spPr>
          <a:xfrm>
            <a:off x="4794141" y="4205034"/>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453" name="Google Shape;453;p9"/>
          <p:cNvSpPr/>
          <p:nvPr/>
        </p:nvSpPr>
        <p:spPr>
          <a:xfrm>
            <a:off x="9613110" y="3637536"/>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454" name="Google Shape;454;p9"/>
          <p:cNvSpPr/>
          <p:nvPr/>
        </p:nvSpPr>
        <p:spPr>
          <a:xfrm>
            <a:off x="4794141" y="3640223"/>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455" name="Google Shape;455;p9"/>
          <p:cNvSpPr/>
          <p:nvPr/>
        </p:nvSpPr>
        <p:spPr>
          <a:xfrm>
            <a:off x="5847721" y="3643214"/>
            <a:ext cx="337578" cy="338400"/>
          </a:xfrm>
          <a:prstGeom prst="ellipse">
            <a:avLst/>
          </a:prstGeom>
          <a:solidFill>
            <a:srgbClr val="EEE89A"/>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A67310"/>
              </a:buClr>
              <a:buSzPts val="1200"/>
              <a:buFont typeface="Arial"/>
              <a:buNone/>
            </a:pPr>
            <a:r>
              <a:rPr b="0" i="0" lang="es-MX" sz="1200" u="none" cap="none" strike="noStrike">
                <a:solidFill>
                  <a:srgbClr val="A67310"/>
                </a:solidFill>
                <a:latin typeface="Arial"/>
                <a:ea typeface="Arial"/>
                <a:cs typeface="Arial"/>
                <a:sym typeface="Arial"/>
              </a:rPr>
              <a:t>A</a:t>
            </a:r>
            <a:endParaRPr/>
          </a:p>
        </p:txBody>
      </p:sp>
      <p:sp>
        <p:nvSpPr>
          <p:cNvPr id="456" name="Google Shape;456;p9"/>
          <p:cNvSpPr/>
          <p:nvPr/>
        </p:nvSpPr>
        <p:spPr>
          <a:xfrm>
            <a:off x="8435787" y="4183938"/>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
        <p:nvSpPr>
          <p:cNvPr id="457" name="Google Shape;457;p9"/>
          <p:cNvSpPr/>
          <p:nvPr/>
        </p:nvSpPr>
        <p:spPr>
          <a:xfrm>
            <a:off x="7169666" y="3637536"/>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458" name="Google Shape;458;p9"/>
          <p:cNvSpPr/>
          <p:nvPr/>
        </p:nvSpPr>
        <p:spPr>
          <a:xfrm>
            <a:off x="5991811" y="4207929"/>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459" name="Google Shape;459;p9"/>
          <p:cNvSpPr/>
          <p:nvPr/>
        </p:nvSpPr>
        <p:spPr>
          <a:xfrm>
            <a:off x="1510153" y="3129644"/>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4</a:t>
            </a:r>
            <a:endParaRPr/>
          </a:p>
        </p:txBody>
      </p:sp>
      <p:sp>
        <p:nvSpPr>
          <p:cNvPr id="460" name="Google Shape;460;p9"/>
          <p:cNvSpPr/>
          <p:nvPr/>
        </p:nvSpPr>
        <p:spPr>
          <a:xfrm>
            <a:off x="1510153" y="3667500"/>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5</a:t>
            </a:r>
            <a:endParaRPr/>
          </a:p>
        </p:txBody>
      </p:sp>
      <p:sp>
        <p:nvSpPr>
          <p:cNvPr id="461" name="Google Shape;461;p9"/>
          <p:cNvSpPr/>
          <p:nvPr/>
        </p:nvSpPr>
        <p:spPr>
          <a:xfrm>
            <a:off x="1510153" y="4205356"/>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6</a:t>
            </a:r>
            <a:endParaRPr/>
          </a:p>
        </p:txBody>
      </p:sp>
      <p:sp>
        <p:nvSpPr>
          <p:cNvPr id="462" name="Google Shape;462;p9"/>
          <p:cNvSpPr/>
          <p:nvPr/>
        </p:nvSpPr>
        <p:spPr>
          <a:xfrm>
            <a:off x="1510153" y="4743212"/>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7</a:t>
            </a:r>
            <a:endParaRPr/>
          </a:p>
        </p:txBody>
      </p:sp>
      <p:sp>
        <p:nvSpPr>
          <p:cNvPr id="463" name="Google Shape;463;p9"/>
          <p:cNvSpPr/>
          <p:nvPr/>
        </p:nvSpPr>
        <p:spPr>
          <a:xfrm>
            <a:off x="1510153" y="5281068"/>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8</a:t>
            </a:r>
            <a:endParaRPr/>
          </a:p>
        </p:txBody>
      </p:sp>
      <p:sp>
        <p:nvSpPr>
          <p:cNvPr id="464" name="Google Shape;464;p9"/>
          <p:cNvSpPr/>
          <p:nvPr/>
        </p:nvSpPr>
        <p:spPr>
          <a:xfrm>
            <a:off x="1510153" y="5818924"/>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9</a:t>
            </a:r>
            <a:endParaRPr/>
          </a:p>
        </p:txBody>
      </p:sp>
      <p:sp>
        <p:nvSpPr>
          <p:cNvPr id="465" name="Google Shape;465;p9"/>
          <p:cNvSpPr/>
          <p:nvPr/>
        </p:nvSpPr>
        <p:spPr>
          <a:xfrm>
            <a:off x="8435787" y="2552735"/>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466" name="Google Shape;466;p9"/>
          <p:cNvSpPr/>
          <p:nvPr/>
        </p:nvSpPr>
        <p:spPr>
          <a:xfrm>
            <a:off x="7169666" y="2552735"/>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467" name="Google Shape;467;p9"/>
          <p:cNvSpPr/>
          <p:nvPr/>
        </p:nvSpPr>
        <p:spPr>
          <a:xfrm>
            <a:off x="9613110" y="2552735"/>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468" name="Google Shape;468;p9"/>
          <p:cNvSpPr/>
          <p:nvPr/>
        </p:nvSpPr>
        <p:spPr>
          <a:xfrm>
            <a:off x="4962930" y="2552735"/>
            <a:ext cx="337578" cy="338400"/>
          </a:xfrm>
          <a:prstGeom prst="ellipse">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200"/>
              <a:buFont typeface="Arial"/>
              <a:buNone/>
            </a:pPr>
            <a:r>
              <a:rPr b="0" i="0" lang="es-MX" sz="1200" u="none" cap="none" strike="noStrike">
                <a:solidFill>
                  <a:srgbClr val="03522D"/>
                </a:solidFill>
                <a:latin typeface="Arial"/>
                <a:ea typeface="Arial"/>
                <a:cs typeface="Arial"/>
                <a:sym typeface="Arial"/>
              </a:rPr>
              <a:t>R</a:t>
            </a:r>
            <a:endParaRPr/>
          </a:p>
        </p:txBody>
      </p:sp>
      <p:sp>
        <p:nvSpPr>
          <p:cNvPr id="469" name="Google Shape;469;p9"/>
          <p:cNvSpPr/>
          <p:nvPr/>
        </p:nvSpPr>
        <p:spPr>
          <a:xfrm>
            <a:off x="5991811" y="2552735"/>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470" name="Google Shape;470;p9"/>
          <p:cNvSpPr/>
          <p:nvPr/>
        </p:nvSpPr>
        <p:spPr>
          <a:xfrm>
            <a:off x="4586548" y="2552735"/>
            <a:ext cx="337578" cy="338400"/>
          </a:xfrm>
          <a:prstGeom prst="ellipse">
            <a:avLst/>
          </a:prstGeom>
          <a:solidFill>
            <a:srgbClr val="EEE89A"/>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A67310"/>
              </a:buClr>
              <a:buSzPts val="1200"/>
              <a:buFont typeface="Arial"/>
              <a:buNone/>
            </a:pPr>
            <a:r>
              <a:rPr b="0" i="0" lang="es-MX" sz="1200" u="none" cap="none" strike="noStrike">
                <a:solidFill>
                  <a:srgbClr val="A67310"/>
                </a:solidFill>
                <a:latin typeface="Arial"/>
                <a:ea typeface="Arial"/>
                <a:cs typeface="Arial"/>
                <a:sym typeface="Arial"/>
              </a:rPr>
              <a:t>A</a:t>
            </a:r>
            <a:endParaRPr/>
          </a:p>
        </p:txBody>
      </p:sp>
      <p:sp>
        <p:nvSpPr>
          <p:cNvPr id="471" name="Google Shape;471;p9"/>
          <p:cNvSpPr/>
          <p:nvPr/>
        </p:nvSpPr>
        <p:spPr>
          <a:xfrm>
            <a:off x="8435787" y="3113461"/>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6F0018"/>
              </a:buClr>
              <a:buSzPts val="1200"/>
              <a:buFont typeface="Arial"/>
              <a:buNone/>
            </a:pPr>
            <a:r>
              <a:rPr b="0" i="0" lang="es-MX" sz="1200" u="none" cap="none" strike="noStrike">
                <a:solidFill>
                  <a:srgbClr val="6F0018"/>
                </a:solidFill>
                <a:latin typeface="Arial"/>
                <a:ea typeface="Arial"/>
                <a:cs typeface="Arial"/>
                <a:sym typeface="Arial"/>
              </a:rPr>
              <a:t>S</a:t>
            </a:r>
            <a:endParaRPr/>
          </a:p>
        </p:txBody>
      </p:sp>
      <p:sp>
        <p:nvSpPr>
          <p:cNvPr id="472" name="Google Shape;472;p9"/>
          <p:cNvSpPr/>
          <p:nvPr/>
        </p:nvSpPr>
        <p:spPr>
          <a:xfrm>
            <a:off x="7169666" y="3113461"/>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473" name="Google Shape;473;p9"/>
          <p:cNvSpPr/>
          <p:nvPr/>
        </p:nvSpPr>
        <p:spPr>
          <a:xfrm>
            <a:off x="9613110" y="3113461"/>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474" name="Google Shape;474;p9"/>
          <p:cNvSpPr/>
          <p:nvPr/>
        </p:nvSpPr>
        <p:spPr>
          <a:xfrm>
            <a:off x="4962930" y="3113461"/>
            <a:ext cx="337578" cy="338400"/>
          </a:xfrm>
          <a:prstGeom prst="ellipse">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200"/>
              <a:buFont typeface="Arial"/>
              <a:buNone/>
            </a:pPr>
            <a:r>
              <a:rPr b="0" i="0" lang="es-MX" sz="1200" u="none" cap="none" strike="noStrike">
                <a:solidFill>
                  <a:srgbClr val="03522D"/>
                </a:solidFill>
                <a:latin typeface="Arial"/>
                <a:ea typeface="Arial"/>
                <a:cs typeface="Arial"/>
                <a:sym typeface="Arial"/>
              </a:rPr>
              <a:t>R</a:t>
            </a:r>
            <a:endParaRPr/>
          </a:p>
        </p:txBody>
      </p:sp>
      <p:sp>
        <p:nvSpPr>
          <p:cNvPr id="475" name="Google Shape;475;p9"/>
          <p:cNvSpPr/>
          <p:nvPr/>
        </p:nvSpPr>
        <p:spPr>
          <a:xfrm>
            <a:off x="5991811" y="3113461"/>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476" name="Google Shape;476;p9"/>
          <p:cNvSpPr/>
          <p:nvPr/>
        </p:nvSpPr>
        <p:spPr>
          <a:xfrm>
            <a:off x="4586548" y="3113461"/>
            <a:ext cx="337578" cy="338400"/>
          </a:xfrm>
          <a:prstGeom prst="ellipse">
            <a:avLst/>
          </a:prstGeom>
          <a:solidFill>
            <a:srgbClr val="EEE89A"/>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A67310"/>
              </a:buClr>
              <a:buSzPts val="1200"/>
              <a:buFont typeface="Arial"/>
              <a:buNone/>
            </a:pPr>
            <a:r>
              <a:rPr b="0" i="0" lang="es-MX" sz="1200" u="none" cap="none" strike="noStrike">
                <a:solidFill>
                  <a:srgbClr val="A67310"/>
                </a:solidFill>
                <a:latin typeface="Arial"/>
                <a:ea typeface="Arial"/>
                <a:cs typeface="Arial"/>
                <a:sym typeface="Arial"/>
              </a:rPr>
              <a:t>A</a:t>
            </a:r>
            <a:endParaRPr/>
          </a:p>
        </p:txBody>
      </p:sp>
      <p:sp>
        <p:nvSpPr>
          <p:cNvPr id="477" name="Google Shape;477;p9"/>
          <p:cNvSpPr/>
          <p:nvPr/>
        </p:nvSpPr>
        <p:spPr>
          <a:xfrm>
            <a:off x="6243728" y="3640223"/>
            <a:ext cx="337578" cy="338400"/>
          </a:xfrm>
          <a:prstGeom prst="ellipse">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200"/>
              <a:buFont typeface="Arial"/>
              <a:buNone/>
            </a:pPr>
            <a:r>
              <a:rPr b="0" i="0" lang="es-MX" sz="1200" u="none" cap="none" strike="noStrike">
                <a:solidFill>
                  <a:srgbClr val="03522D"/>
                </a:solidFill>
                <a:latin typeface="Arial"/>
                <a:ea typeface="Arial"/>
                <a:cs typeface="Arial"/>
                <a:sym typeface="Arial"/>
              </a:rPr>
              <a:t>R</a:t>
            </a:r>
            <a:endParaRPr/>
          </a:p>
        </p:txBody>
      </p:sp>
      <p:sp>
        <p:nvSpPr>
          <p:cNvPr id="478" name="Google Shape;478;p9"/>
          <p:cNvSpPr/>
          <p:nvPr/>
        </p:nvSpPr>
        <p:spPr>
          <a:xfrm>
            <a:off x="9444321" y="4205034"/>
            <a:ext cx="337578" cy="338400"/>
          </a:xfrm>
          <a:prstGeom prst="ellipse">
            <a:avLst/>
          </a:prstGeom>
          <a:solidFill>
            <a:srgbClr val="EEE89A"/>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A67310"/>
              </a:buClr>
              <a:buSzPts val="1200"/>
              <a:buFont typeface="Arial"/>
              <a:buNone/>
            </a:pPr>
            <a:r>
              <a:rPr b="0" i="0" lang="es-MX" sz="1200" u="none" cap="none" strike="noStrike">
                <a:solidFill>
                  <a:srgbClr val="A67310"/>
                </a:solidFill>
                <a:latin typeface="Arial"/>
                <a:ea typeface="Arial"/>
                <a:cs typeface="Arial"/>
                <a:sym typeface="Arial"/>
              </a:rPr>
              <a:t>A</a:t>
            </a:r>
            <a:endParaRPr/>
          </a:p>
        </p:txBody>
      </p:sp>
      <p:sp>
        <p:nvSpPr>
          <p:cNvPr id="479" name="Google Shape;479;p9"/>
          <p:cNvSpPr/>
          <p:nvPr/>
        </p:nvSpPr>
        <p:spPr>
          <a:xfrm>
            <a:off x="9840328" y="4205034"/>
            <a:ext cx="337578" cy="338400"/>
          </a:xfrm>
          <a:prstGeom prst="ellipse">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200"/>
              <a:buFont typeface="Arial"/>
              <a:buNone/>
            </a:pPr>
            <a:r>
              <a:rPr b="0" i="0" lang="es-MX" sz="1200" u="none" cap="none" strike="noStrike">
                <a:solidFill>
                  <a:srgbClr val="03522D"/>
                </a:solidFill>
                <a:latin typeface="Arial"/>
                <a:ea typeface="Arial"/>
                <a:cs typeface="Arial"/>
                <a:sym typeface="Arial"/>
              </a:rPr>
              <a:t>R</a:t>
            </a:r>
            <a:endParaRPr/>
          </a:p>
        </p:txBody>
      </p:sp>
      <p:sp>
        <p:nvSpPr>
          <p:cNvPr id="480" name="Google Shape;480;p9"/>
          <p:cNvSpPr/>
          <p:nvPr/>
        </p:nvSpPr>
        <p:spPr>
          <a:xfrm>
            <a:off x="7173625" y="4205034"/>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481" name="Google Shape;481;p9"/>
          <p:cNvSpPr/>
          <p:nvPr/>
        </p:nvSpPr>
        <p:spPr>
          <a:xfrm>
            <a:off x="4566923" y="4710807"/>
            <a:ext cx="337578" cy="338400"/>
          </a:xfrm>
          <a:prstGeom prst="ellipse">
            <a:avLst/>
          </a:prstGeom>
          <a:solidFill>
            <a:srgbClr val="EEE89A"/>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A67310"/>
              </a:buClr>
              <a:buSzPts val="1200"/>
              <a:buFont typeface="Arial"/>
              <a:buNone/>
            </a:pPr>
            <a:r>
              <a:rPr b="0" i="0" lang="es-MX" sz="1200" u="none" cap="none" strike="noStrike">
                <a:solidFill>
                  <a:srgbClr val="A67310"/>
                </a:solidFill>
                <a:latin typeface="Arial"/>
                <a:ea typeface="Arial"/>
                <a:cs typeface="Arial"/>
                <a:sym typeface="Arial"/>
              </a:rPr>
              <a:t>A</a:t>
            </a:r>
            <a:endParaRPr/>
          </a:p>
        </p:txBody>
      </p:sp>
      <p:sp>
        <p:nvSpPr>
          <p:cNvPr id="482" name="Google Shape;482;p9"/>
          <p:cNvSpPr/>
          <p:nvPr/>
        </p:nvSpPr>
        <p:spPr>
          <a:xfrm>
            <a:off x="4962930" y="4710807"/>
            <a:ext cx="337578" cy="338400"/>
          </a:xfrm>
          <a:prstGeom prst="ellipse">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200"/>
              <a:buFont typeface="Arial"/>
              <a:buNone/>
            </a:pPr>
            <a:r>
              <a:rPr b="0" i="0" lang="es-MX" sz="1200" u="none" cap="none" strike="noStrike">
                <a:solidFill>
                  <a:srgbClr val="03522D"/>
                </a:solidFill>
                <a:latin typeface="Arial"/>
                <a:ea typeface="Arial"/>
                <a:cs typeface="Arial"/>
                <a:sym typeface="Arial"/>
              </a:rPr>
              <a:t>R</a:t>
            </a:r>
            <a:endParaRPr/>
          </a:p>
        </p:txBody>
      </p:sp>
      <p:sp>
        <p:nvSpPr>
          <p:cNvPr id="483" name="Google Shape;483;p9"/>
          <p:cNvSpPr/>
          <p:nvPr/>
        </p:nvSpPr>
        <p:spPr>
          <a:xfrm>
            <a:off x="5789292" y="6301324"/>
            <a:ext cx="337578" cy="338400"/>
          </a:xfrm>
          <a:prstGeom prst="ellipse">
            <a:avLst/>
          </a:prstGeom>
          <a:solidFill>
            <a:srgbClr val="EEE89A"/>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A67310"/>
              </a:buClr>
              <a:buSzPts val="1200"/>
              <a:buFont typeface="Arial"/>
              <a:buNone/>
            </a:pPr>
            <a:r>
              <a:rPr b="0" i="0" lang="es-MX" sz="1200" u="none" cap="none" strike="noStrike">
                <a:solidFill>
                  <a:srgbClr val="A67310"/>
                </a:solidFill>
                <a:latin typeface="Arial"/>
                <a:ea typeface="Arial"/>
                <a:cs typeface="Arial"/>
                <a:sym typeface="Arial"/>
              </a:rPr>
              <a:t>A</a:t>
            </a:r>
            <a:endParaRPr/>
          </a:p>
        </p:txBody>
      </p:sp>
      <p:sp>
        <p:nvSpPr>
          <p:cNvPr id="484" name="Google Shape;484;p9"/>
          <p:cNvSpPr/>
          <p:nvPr/>
        </p:nvSpPr>
        <p:spPr>
          <a:xfrm>
            <a:off x="6185299" y="6301324"/>
            <a:ext cx="337578" cy="338400"/>
          </a:xfrm>
          <a:prstGeom prst="ellipse">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200"/>
              <a:buFont typeface="Arial"/>
              <a:buNone/>
            </a:pPr>
            <a:r>
              <a:rPr b="0" i="0" lang="es-MX" sz="1200" u="none" cap="none" strike="noStrike">
                <a:solidFill>
                  <a:srgbClr val="03522D"/>
                </a:solidFill>
                <a:latin typeface="Arial"/>
                <a:ea typeface="Arial"/>
                <a:cs typeface="Arial"/>
                <a:sym typeface="Arial"/>
              </a:rPr>
              <a:t>R</a:t>
            </a:r>
            <a:endParaRPr/>
          </a:p>
        </p:txBody>
      </p:sp>
      <p:sp>
        <p:nvSpPr>
          <p:cNvPr id="485" name="Google Shape;485;p9"/>
          <p:cNvSpPr/>
          <p:nvPr/>
        </p:nvSpPr>
        <p:spPr>
          <a:xfrm>
            <a:off x="10890019" y="1434542"/>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
        <p:nvSpPr>
          <p:cNvPr id="486" name="Google Shape;486;p9"/>
          <p:cNvSpPr/>
          <p:nvPr/>
        </p:nvSpPr>
        <p:spPr>
          <a:xfrm>
            <a:off x="10892361" y="2552735"/>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
        <p:nvSpPr>
          <p:cNvPr id="487" name="Google Shape;487;p9"/>
          <p:cNvSpPr/>
          <p:nvPr/>
        </p:nvSpPr>
        <p:spPr>
          <a:xfrm>
            <a:off x="10893532" y="3108094"/>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488" name="Google Shape;488;p9"/>
          <p:cNvSpPr/>
          <p:nvPr/>
        </p:nvSpPr>
        <p:spPr>
          <a:xfrm>
            <a:off x="10890019" y="3640223"/>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489" name="Google Shape;489;p9"/>
          <p:cNvSpPr/>
          <p:nvPr/>
        </p:nvSpPr>
        <p:spPr>
          <a:xfrm>
            <a:off x="10890019" y="4188356"/>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490" name="Google Shape;490;p9"/>
          <p:cNvSpPr/>
          <p:nvPr/>
        </p:nvSpPr>
        <p:spPr>
          <a:xfrm>
            <a:off x="5789292" y="5805444"/>
            <a:ext cx="337578" cy="338400"/>
          </a:xfrm>
          <a:prstGeom prst="ellipse">
            <a:avLst/>
          </a:prstGeom>
          <a:solidFill>
            <a:srgbClr val="EEE89A"/>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A67310"/>
              </a:buClr>
              <a:buSzPts val="1200"/>
              <a:buFont typeface="Arial"/>
              <a:buNone/>
            </a:pPr>
            <a:r>
              <a:rPr b="0" i="0" lang="es-MX" sz="1200" u="none" cap="none" strike="noStrike">
                <a:solidFill>
                  <a:srgbClr val="A67310"/>
                </a:solidFill>
                <a:latin typeface="Arial"/>
                <a:ea typeface="Arial"/>
                <a:cs typeface="Arial"/>
                <a:sym typeface="Arial"/>
              </a:rPr>
              <a:t>A</a:t>
            </a:r>
            <a:endParaRPr/>
          </a:p>
        </p:txBody>
      </p:sp>
      <p:sp>
        <p:nvSpPr>
          <p:cNvPr id="491" name="Google Shape;491;p9"/>
          <p:cNvSpPr/>
          <p:nvPr/>
        </p:nvSpPr>
        <p:spPr>
          <a:xfrm>
            <a:off x="6185299" y="5805444"/>
            <a:ext cx="337578" cy="338400"/>
          </a:xfrm>
          <a:prstGeom prst="ellipse">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200"/>
              <a:buFont typeface="Arial"/>
              <a:buNone/>
            </a:pPr>
            <a:r>
              <a:rPr b="0" i="0" lang="es-MX" sz="1200" u="none" cap="none" strike="noStrike">
                <a:solidFill>
                  <a:srgbClr val="03522D"/>
                </a:solidFill>
                <a:latin typeface="Arial"/>
                <a:ea typeface="Arial"/>
                <a:cs typeface="Arial"/>
                <a:sym typeface="Arial"/>
              </a:rPr>
              <a:t>R</a:t>
            </a:r>
            <a:endParaRPr/>
          </a:p>
        </p:txBody>
      </p:sp>
      <p:sp>
        <p:nvSpPr>
          <p:cNvPr id="492" name="Google Shape;492;p9"/>
          <p:cNvSpPr/>
          <p:nvPr/>
        </p:nvSpPr>
        <p:spPr>
          <a:xfrm>
            <a:off x="4794141" y="5245478"/>
            <a:ext cx="337578" cy="338400"/>
          </a:xfrm>
          <a:prstGeom prst="ellipse">
            <a:avLst/>
          </a:prstGeom>
          <a:solidFill>
            <a:srgbClr val="EEE89A"/>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A67310"/>
              </a:buClr>
              <a:buSzPts val="1200"/>
              <a:buFont typeface="Arial"/>
              <a:buNone/>
            </a:pPr>
            <a:r>
              <a:rPr b="0" i="0" lang="es-MX" sz="1200" u="none" cap="none" strike="noStrike">
                <a:solidFill>
                  <a:srgbClr val="A67310"/>
                </a:solidFill>
                <a:latin typeface="Arial"/>
                <a:ea typeface="Arial"/>
                <a:cs typeface="Arial"/>
                <a:sym typeface="Arial"/>
              </a:rPr>
              <a:t>A</a:t>
            </a:r>
            <a:endParaRPr/>
          </a:p>
        </p:txBody>
      </p:sp>
      <p:sp>
        <p:nvSpPr>
          <p:cNvPr id="493" name="Google Shape;493;p9"/>
          <p:cNvSpPr/>
          <p:nvPr/>
        </p:nvSpPr>
        <p:spPr>
          <a:xfrm>
            <a:off x="9622856" y="5232508"/>
            <a:ext cx="337578" cy="338400"/>
          </a:xfrm>
          <a:prstGeom prst="ellipse">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200"/>
              <a:buFont typeface="Arial"/>
              <a:buNone/>
            </a:pPr>
            <a:r>
              <a:rPr b="0" i="0" lang="es-MX" sz="1200" u="none" cap="none" strike="noStrike">
                <a:solidFill>
                  <a:srgbClr val="03522D"/>
                </a:solidFill>
                <a:latin typeface="Arial"/>
                <a:ea typeface="Arial"/>
                <a:cs typeface="Arial"/>
                <a:sym typeface="Arial"/>
              </a:rPr>
              <a:t>R</a:t>
            </a:r>
            <a:endParaRPr/>
          </a:p>
        </p:txBody>
      </p:sp>
      <p:sp>
        <p:nvSpPr>
          <p:cNvPr id="494" name="Google Shape;494;p9"/>
          <p:cNvSpPr/>
          <p:nvPr/>
        </p:nvSpPr>
        <p:spPr>
          <a:xfrm>
            <a:off x="8435787" y="4715061"/>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
        <p:nvSpPr>
          <p:cNvPr id="495" name="Google Shape;495;p9"/>
          <p:cNvSpPr/>
          <p:nvPr/>
        </p:nvSpPr>
        <p:spPr>
          <a:xfrm>
            <a:off x="9624436" y="4710807"/>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
        <p:nvSpPr>
          <p:cNvPr id="496" name="Google Shape;496;p9"/>
          <p:cNvSpPr/>
          <p:nvPr/>
        </p:nvSpPr>
        <p:spPr>
          <a:xfrm>
            <a:off x="10890019" y="4705436"/>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
        <p:nvSpPr>
          <p:cNvPr id="497" name="Google Shape;497;p9"/>
          <p:cNvSpPr/>
          <p:nvPr/>
        </p:nvSpPr>
        <p:spPr>
          <a:xfrm>
            <a:off x="6000391" y="4708331"/>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498" name="Google Shape;498;p9"/>
          <p:cNvSpPr/>
          <p:nvPr/>
        </p:nvSpPr>
        <p:spPr>
          <a:xfrm>
            <a:off x="7182205" y="4705436"/>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499" name="Google Shape;499;p9"/>
          <p:cNvSpPr/>
          <p:nvPr/>
        </p:nvSpPr>
        <p:spPr>
          <a:xfrm>
            <a:off x="6000391" y="5232508"/>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
        <p:nvSpPr>
          <p:cNvPr id="500" name="Google Shape;500;p9"/>
          <p:cNvSpPr/>
          <p:nvPr/>
        </p:nvSpPr>
        <p:spPr>
          <a:xfrm>
            <a:off x="7177768" y="5232508"/>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
        <p:nvSpPr>
          <p:cNvPr id="501" name="Google Shape;501;p9"/>
          <p:cNvSpPr/>
          <p:nvPr/>
        </p:nvSpPr>
        <p:spPr>
          <a:xfrm>
            <a:off x="8447113" y="5245478"/>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
        <p:nvSpPr>
          <p:cNvPr id="502" name="Google Shape;502;p9"/>
          <p:cNvSpPr/>
          <p:nvPr/>
        </p:nvSpPr>
        <p:spPr>
          <a:xfrm>
            <a:off x="10890374" y="5231486"/>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
        <p:nvSpPr>
          <p:cNvPr id="503" name="Google Shape;503;p9"/>
          <p:cNvSpPr/>
          <p:nvPr/>
        </p:nvSpPr>
        <p:spPr>
          <a:xfrm>
            <a:off x="4794141" y="5798295"/>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504" name="Google Shape;504;p9"/>
          <p:cNvSpPr/>
          <p:nvPr/>
        </p:nvSpPr>
        <p:spPr>
          <a:xfrm>
            <a:off x="7169666" y="5797009"/>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505" name="Google Shape;505;p9"/>
          <p:cNvSpPr/>
          <p:nvPr/>
        </p:nvSpPr>
        <p:spPr>
          <a:xfrm>
            <a:off x="8447113" y="5797009"/>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506" name="Google Shape;506;p9"/>
          <p:cNvSpPr/>
          <p:nvPr/>
        </p:nvSpPr>
        <p:spPr>
          <a:xfrm>
            <a:off x="9622856" y="5797009"/>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507" name="Google Shape;507;p9"/>
          <p:cNvSpPr/>
          <p:nvPr/>
        </p:nvSpPr>
        <p:spPr>
          <a:xfrm>
            <a:off x="10890374" y="5797009"/>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
        <p:nvSpPr>
          <p:cNvPr id="508" name="Google Shape;508;p9"/>
          <p:cNvSpPr/>
          <p:nvPr/>
        </p:nvSpPr>
        <p:spPr>
          <a:xfrm>
            <a:off x="4793786" y="6300880"/>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509" name="Google Shape;509;p9"/>
          <p:cNvSpPr/>
          <p:nvPr/>
        </p:nvSpPr>
        <p:spPr>
          <a:xfrm>
            <a:off x="7169311" y="6299594"/>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510" name="Google Shape;510;p9"/>
          <p:cNvSpPr/>
          <p:nvPr/>
        </p:nvSpPr>
        <p:spPr>
          <a:xfrm>
            <a:off x="8446758" y="6299594"/>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511" name="Google Shape;511;p9"/>
          <p:cNvSpPr/>
          <p:nvPr/>
        </p:nvSpPr>
        <p:spPr>
          <a:xfrm>
            <a:off x="9622501" y="6299594"/>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512" name="Google Shape;512;p9"/>
          <p:cNvSpPr/>
          <p:nvPr/>
        </p:nvSpPr>
        <p:spPr>
          <a:xfrm>
            <a:off x="10890019" y="6299594"/>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
        <p:nvSpPr>
          <p:cNvPr id="513" name="Google Shape;513;p9"/>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u="none" cap="none" strike="noStrike">
                <a:solidFill>
                  <a:schemeClr val="lt1"/>
                </a:solidFill>
                <a:latin typeface="Open Sans"/>
                <a:ea typeface="Open Sans"/>
                <a:cs typeface="Open Sans"/>
                <a:sym typeface="Open Sans"/>
              </a:rPr>
              <a:t>/ F O R   D I S C U S S I O N</a:t>
            </a:r>
            <a:endParaRPr/>
          </a:p>
        </p:txBody>
      </p:sp>
      <p:sp>
        <p:nvSpPr>
          <p:cNvPr id="514" name="Google Shape;514;p9"/>
          <p:cNvSpPr/>
          <p:nvPr/>
        </p:nvSpPr>
        <p:spPr>
          <a:xfrm>
            <a:off x="1510152" y="6354314"/>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10</a:t>
            </a:r>
            <a:endParaRPr/>
          </a:p>
        </p:txBody>
      </p:sp>
      <p:sp>
        <p:nvSpPr>
          <p:cNvPr id="515" name="Google Shape;515;p9"/>
          <p:cNvSpPr/>
          <p:nvPr/>
        </p:nvSpPr>
        <p:spPr>
          <a:xfrm>
            <a:off x="8435782" y="1968530"/>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516" name="Google Shape;516;p9"/>
          <p:cNvSpPr/>
          <p:nvPr/>
        </p:nvSpPr>
        <p:spPr>
          <a:xfrm>
            <a:off x="7169661" y="1968530"/>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517" name="Google Shape;517;p9"/>
          <p:cNvSpPr/>
          <p:nvPr/>
        </p:nvSpPr>
        <p:spPr>
          <a:xfrm>
            <a:off x="9613105" y="1968530"/>
            <a:ext cx="337578" cy="338400"/>
          </a:xfrm>
          <a:prstGeom prst="ellipse">
            <a:avLst/>
          </a:prstGeom>
          <a:solidFill>
            <a:srgbClr val="BFBFBF"/>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FFFFFF"/>
              </a:buClr>
              <a:buSzPts val="1200"/>
              <a:buFont typeface="Arial"/>
              <a:buNone/>
            </a:pPr>
            <a:r>
              <a:rPr b="0" i="0" lang="es-MX" sz="1200" u="none" cap="none" strike="noStrike">
                <a:solidFill>
                  <a:srgbClr val="FFFFFF"/>
                </a:solidFill>
                <a:latin typeface="Arial"/>
                <a:ea typeface="Arial"/>
                <a:cs typeface="Arial"/>
                <a:sym typeface="Arial"/>
              </a:rPr>
              <a:t>I</a:t>
            </a:r>
            <a:endParaRPr/>
          </a:p>
        </p:txBody>
      </p:sp>
      <p:sp>
        <p:nvSpPr>
          <p:cNvPr id="518" name="Google Shape;518;p9"/>
          <p:cNvSpPr/>
          <p:nvPr/>
        </p:nvSpPr>
        <p:spPr>
          <a:xfrm>
            <a:off x="4962925" y="1968530"/>
            <a:ext cx="337578" cy="338400"/>
          </a:xfrm>
          <a:prstGeom prst="ellipse">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200"/>
              <a:buFont typeface="Arial"/>
              <a:buNone/>
            </a:pPr>
            <a:r>
              <a:rPr b="0" i="0" lang="es-MX" sz="1200" u="none" cap="none" strike="noStrike">
                <a:solidFill>
                  <a:srgbClr val="03522D"/>
                </a:solidFill>
                <a:latin typeface="Arial"/>
                <a:ea typeface="Arial"/>
                <a:cs typeface="Arial"/>
                <a:sym typeface="Arial"/>
              </a:rPr>
              <a:t>R</a:t>
            </a:r>
            <a:endParaRPr/>
          </a:p>
        </p:txBody>
      </p:sp>
      <p:sp>
        <p:nvSpPr>
          <p:cNvPr id="519" name="Google Shape;519;p9"/>
          <p:cNvSpPr/>
          <p:nvPr/>
        </p:nvSpPr>
        <p:spPr>
          <a:xfrm>
            <a:off x="5991806" y="1968530"/>
            <a:ext cx="337578" cy="338400"/>
          </a:xfrm>
          <a:prstGeom prst="ellipse">
            <a:avLst/>
          </a:prstGeom>
          <a:solidFill>
            <a:srgbClr val="BDD7ED"/>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295E7D"/>
              </a:buClr>
              <a:buSzPts val="1200"/>
              <a:buFont typeface="Arial"/>
              <a:buNone/>
            </a:pPr>
            <a:r>
              <a:rPr b="0" i="0" lang="es-MX" sz="1200" u="none" cap="none" strike="noStrike">
                <a:solidFill>
                  <a:srgbClr val="295E7D"/>
                </a:solidFill>
                <a:latin typeface="Arial"/>
                <a:ea typeface="Arial"/>
                <a:cs typeface="Arial"/>
                <a:sym typeface="Arial"/>
              </a:rPr>
              <a:t>C</a:t>
            </a:r>
            <a:endParaRPr/>
          </a:p>
        </p:txBody>
      </p:sp>
      <p:sp>
        <p:nvSpPr>
          <p:cNvPr id="520" name="Google Shape;520;p9"/>
          <p:cNvSpPr/>
          <p:nvPr/>
        </p:nvSpPr>
        <p:spPr>
          <a:xfrm>
            <a:off x="4586543" y="1968530"/>
            <a:ext cx="337578" cy="338400"/>
          </a:xfrm>
          <a:prstGeom prst="ellipse">
            <a:avLst/>
          </a:prstGeom>
          <a:solidFill>
            <a:srgbClr val="EEE89A"/>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lnSpc>
                <a:spcPct val="100000"/>
              </a:lnSpc>
              <a:spcBef>
                <a:spcPts val="0"/>
              </a:spcBef>
              <a:spcAft>
                <a:spcPts val="0"/>
              </a:spcAft>
              <a:buClr>
                <a:srgbClr val="A67310"/>
              </a:buClr>
              <a:buSzPts val="1200"/>
              <a:buFont typeface="Arial"/>
              <a:buNone/>
            </a:pPr>
            <a:r>
              <a:rPr b="0" i="0" lang="es-MX" sz="1200" u="none" cap="none" strike="noStrike">
                <a:solidFill>
                  <a:srgbClr val="A67310"/>
                </a:solidFill>
                <a:latin typeface="Arial"/>
                <a:ea typeface="Arial"/>
                <a:cs typeface="Arial"/>
                <a:sym typeface="Arial"/>
              </a:rPr>
              <a:t>A</a:t>
            </a:r>
            <a:endParaRPr/>
          </a:p>
        </p:txBody>
      </p:sp>
      <p:sp>
        <p:nvSpPr>
          <p:cNvPr id="521" name="Google Shape;521;p9"/>
          <p:cNvSpPr/>
          <p:nvPr/>
        </p:nvSpPr>
        <p:spPr>
          <a:xfrm>
            <a:off x="10892356" y="1968530"/>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b="0" i="0" lang="es-MX" sz="1200" u="none" cap="none" strike="noStrike">
                <a:solidFill>
                  <a:srgbClr val="6F0018"/>
                </a:solidFill>
                <a:latin typeface="Arial"/>
                <a:ea typeface="Arial"/>
                <a:cs typeface="Arial"/>
                <a:sym typeface="Arial"/>
              </a:rPr>
              <a: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23"/>
          <p:cNvSpPr txBox="1"/>
          <p:nvPr/>
        </p:nvSpPr>
        <p:spPr>
          <a:xfrm>
            <a:off x="410646" y="2942312"/>
            <a:ext cx="10698933" cy="1065540"/>
          </a:xfrm>
          <a:prstGeom prst="rect">
            <a:avLst/>
          </a:prstGeom>
          <a:noFill/>
          <a:ln>
            <a:noFill/>
          </a:ln>
        </p:spPr>
        <p:txBody>
          <a:bodyPr anchorCtr="0" anchor="t" bIns="45700" lIns="91425" spcFirstLastPara="1" rIns="91425" wrap="square" tIns="45700">
            <a:noAutofit/>
          </a:bodyPr>
          <a:lstStyle/>
          <a:p>
            <a:pPr indent="0" lvl="0" marL="0" marR="0" rtl="0" algn="l">
              <a:lnSpc>
                <a:spcPct val="101125"/>
              </a:lnSpc>
              <a:spcBef>
                <a:spcPts val="0"/>
              </a:spcBef>
              <a:spcAft>
                <a:spcPts val="0"/>
              </a:spcAft>
              <a:buNone/>
            </a:pPr>
            <a:r>
              <a:rPr b="1" i="0" lang="es-MX" sz="2400" u="none" cap="none" strike="noStrike">
                <a:solidFill>
                  <a:schemeClr val="lt1"/>
                </a:solidFill>
                <a:latin typeface="Open Sans"/>
                <a:ea typeface="Open Sans"/>
                <a:cs typeface="Open Sans"/>
                <a:sym typeface="Open Sans"/>
              </a:rPr>
              <a:t>Construcción de ejemplo – Customer Value Proposition</a:t>
            </a:r>
            <a:endParaRPr b="1" i="0" sz="2400" u="none" cap="none" strike="noStrike">
              <a:solidFill>
                <a:schemeClr val="lt1"/>
              </a:solidFill>
              <a:latin typeface="Open Sans"/>
              <a:ea typeface="Open Sans"/>
              <a:cs typeface="Open Sans"/>
              <a:sym typeface="Open Sans"/>
            </a:endParaRPr>
          </a:p>
          <a:p>
            <a:pPr indent="0" lvl="0" marL="0" marR="0" rtl="0" algn="l">
              <a:lnSpc>
                <a:spcPct val="101125"/>
              </a:lnSpc>
              <a:spcBef>
                <a:spcPts val="0"/>
              </a:spcBef>
              <a:spcAft>
                <a:spcPts val="0"/>
              </a:spcAft>
              <a:buNone/>
            </a:pPr>
            <a:r>
              <a:rPr b="0" i="0" lang="es-MX" sz="2400" u="none" cap="none" strike="noStrike">
                <a:solidFill>
                  <a:schemeClr val="lt1"/>
                </a:solidFill>
                <a:latin typeface="Open Sans"/>
                <a:ea typeface="Open Sans"/>
                <a:cs typeface="Open Sans"/>
                <a:sym typeface="Open Sans"/>
              </a:rPr>
              <a:t>Fit for Purpose OXXO MX</a:t>
            </a:r>
            <a:endParaRPr/>
          </a:p>
        </p:txBody>
      </p:sp>
      <p:sp>
        <p:nvSpPr>
          <p:cNvPr id="528" name="Google Shape;528;p23"/>
          <p:cNvSpPr txBox="1"/>
          <p:nvPr/>
        </p:nvSpPr>
        <p:spPr>
          <a:xfrm>
            <a:off x="450325" y="3669298"/>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Open Sans"/>
              <a:buNone/>
            </a:pPr>
            <a:r>
              <a:rPr b="0" i="0" lang="es-MX" sz="1600" u="none" cap="none" strike="noStrike">
                <a:solidFill>
                  <a:schemeClr val="lt1"/>
                </a:solidFill>
                <a:latin typeface="Open Sans"/>
                <a:ea typeface="Open Sans"/>
                <a:cs typeface="Open Sans"/>
                <a:sym typeface="Open Sans"/>
              </a:rPr>
              <a:t>Enero 2026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24"/>
          <p:cNvSpPr txBox="1"/>
          <p:nvPr>
            <p:ph type="title"/>
          </p:nvPr>
        </p:nvSpPr>
        <p:spPr>
          <a:xfrm>
            <a:off x="419501" y="3167229"/>
            <a:ext cx="11352998" cy="369332"/>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sz="1800">
                <a:solidFill>
                  <a:srgbClr val="DE0230"/>
                </a:solidFill>
              </a:rPr>
              <a:t>Matriz RASCI | </a:t>
            </a:r>
            <a:r>
              <a:rPr lang="es-MX" sz="1800">
                <a:solidFill>
                  <a:schemeClr val="dk1"/>
                </a:solidFill>
              </a:rPr>
              <a:t>CVP</a:t>
            </a:r>
            <a:endParaRPr/>
          </a:p>
        </p:txBody>
      </p:sp>
      <p:sp>
        <p:nvSpPr>
          <p:cNvPr id="534" name="Google Shape;534;p24"/>
          <p:cNvSpPr txBox="1"/>
          <p:nvPr/>
        </p:nvSpPr>
        <p:spPr>
          <a:xfrm>
            <a:off x="213144" y="348435"/>
            <a:ext cx="11352998"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DE0230"/>
              </a:buClr>
              <a:buSzPts val="1800"/>
              <a:buFont typeface="Open Sans"/>
              <a:buNone/>
            </a:pPr>
            <a:r>
              <a:rPr b="0" i="0" lang="es-MX" sz="1800" u="none" cap="none" strike="noStrike">
                <a:solidFill>
                  <a:srgbClr val="DE0230"/>
                </a:solidFill>
                <a:latin typeface="Open Sans"/>
                <a:ea typeface="Open Sans"/>
                <a:cs typeface="Open Sans"/>
                <a:sym typeface="Open Sans"/>
              </a:rPr>
              <a:t>   Objetivo de la sesión                                     Dinámica                                                            Roles RASCI </a:t>
            </a:r>
            <a:endParaRPr b="0" i="1" sz="1800" u="none" cap="none" strike="noStrike">
              <a:solidFill>
                <a:srgbClr val="000000"/>
              </a:solidFill>
              <a:latin typeface="Open Sans"/>
              <a:ea typeface="Open Sans"/>
              <a:cs typeface="Open Sans"/>
              <a:sym typeface="Open Sans"/>
            </a:endParaRPr>
          </a:p>
        </p:txBody>
      </p:sp>
      <p:sp>
        <p:nvSpPr>
          <p:cNvPr id="535" name="Google Shape;535;p24"/>
          <p:cNvSpPr txBox="1"/>
          <p:nvPr/>
        </p:nvSpPr>
        <p:spPr>
          <a:xfrm>
            <a:off x="213144" y="1185484"/>
            <a:ext cx="381021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200" u="none" cap="none" strike="noStrike">
                <a:solidFill>
                  <a:srgbClr val="1D3433"/>
                </a:solidFill>
                <a:latin typeface="Arial"/>
                <a:ea typeface="Arial"/>
                <a:cs typeface="Arial"/>
                <a:sym typeface="Arial"/>
              </a:rPr>
              <a:t>Construir ejemplos claros para roles RASCI aplicados al modelo de madurez operativa, </a:t>
            </a:r>
            <a:endParaRPr/>
          </a:p>
          <a:p>
            <a:pPr indent="0" lvl="0" marL="0" marR="0" rtl="0" algn="l">
              <a:spcBef>
                <a:spcPts val="0"/>
              </a:spcBef>
              <a:spcAft>
                <a:spcPts val="0"/>
              </a:spcAft>
              <a:buNone/>
            </a:pPr>
            <a:r>
              <a:rPr b="1" i="0" lang="es-MX" sz="1200" u="none" strike="noStrike">
                <a:solidFill>
                  <a:srgbClr val="1D3433"/>
                </a:solidFill>
                <a:latin typeface="Arial"/>
                <a:ea typeface="Arial"/>
                <a:cs typeface="Arial"/>
                <a:sym typeface="Arial"/>
              </a:rPr>
              <a:t>facilitando comprensión práctica.</a:t>
            </a:r>
            <a:r>
              <a:rPr b="1" i="0" lang="es-MX" sz="1200">
                <a:solidFill>
                  <a:srgbClr val="000000"/>
                </a:solidFill>
                <a:latin typeface="Arial"/>
                <a:ea typeface="Arial"/>
                <a:cs typeface="Arial"/>
                <a:sym typeface="Arial"/>
              </a:rPr>
              <a:t>​</a:t>
            </a:r>
            <a:endParaRPr b="1" sz="1200">
              <a:solidFill>
                <a:schemeClr val="dk1"/>
              </a:solidFill>
              <a:latin typeface="Open Sans"/>
              <a:ea typeface="Open Sans"/>
              <a:cs typeface="Open Sans"/>
              <a:sym typeface="Open Sans"/>
            </a:endParaRPr>
          </a:p>
        </p:txBody>
      </p:sp>
      <p:sp>
        <p:nvSpPr>
          <p:cNvPr id="536" name="Google Shape;536;p24"/>
          <p:cNvSpPr txBox="1"/>
          <p:nvPr/>
        </p:nvSpPr>
        <p:spPr>
          <a:xfrm>
            <a:off x="3666743" y="1117793"/>
            <a:ext cx="3801189"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Conocer y alinear Matriz RASCI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Desarrollar un ejemplo que genere </a:t>
            </a:r>
            <a:r>
              <a:rPr b="1" lang="es-MX" sz="1200">
                <a:solidFill>
                  <a:srgbClr val="1D3433"/>
                </a:solidFill>
                <a:latin typeface="Arial"/>
                <a:ea typeface="Arial"/>
                <a:cs typeface="Arial"/>
                <a:sym typeface="Arial"/>
              </a:rPr>
              <a:t>claridad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Integrar ejemplo a WS  </a:t>
            </a:r>
            <a:r>
              <a:rPr b="1" lang="es-MX" sz="1200">
                <a:solidFill>
                  <a:srgbClr val="1D3433"/>
                </a:solidFill>
                <a:latin typeface="Arial"/>
                <a:ea typeface="Arial"/>
                <a:cs typeface="Arial"/>
                <a:sym typeface="Arial"/>
              </a:rPr>
              <a:t>- Efectividad Organizacional</a:t>
            </a:r>
            <a:endParaRPr b="1" sz="1200">
              <a:solidFill>
                <a:schemeClr val="dk1"/>
              </a:solidFill>
              <a:latin typeface="Open Sans"/>
              <a:ea typeface="Open Sans"/>
              <a:cs typeface="Open Sans"/>
              <a:sym typeface="Open Sans"/>
            </a:endParaRPr>
          </a:p>
        </p:txBody>
      </p:sp>
      <p:cxnSp>
        <p:nvCxnSpPr>
          <p:cNvPr id="537" name="Google Shape;537;p24"/>
          <p:cNvCxnSpPr/>
          <p:nvPr/>
        </p:nvCxnSpPr>
        <p:spPr>
          <a:xfrm>
            <a:off x="3675888" y="395878"/>
            <a:ext cx="0" cy="2196000"/>
          </a:xfrm>
          <a:prstGeom prst="straightConnector1">
            <a:avLst/>
          </a:prstGeom>
          <a:noFill/>
          <a:ln cap="flat" cmpd="sng" w="12700">
            <a:solidFill>
              <a:schemeClr val="dk1"/>
            </a:solidFill>
            <a:prstDash val="dash"/>
            <a:round/>
            <a:headEnd len="sm" w="sm" type="none"/>
            <a:tailEnd len="sm" w="sm" type="none"/>
          </a:ln>
        </p:spPr>
      </p:cxnSp>
      <p:pic>
        <p:nvPicPr>
          <p:cNvPr descr="Interfaz de usuario gráfica, Aplicación, Sitio web&#10;&#10;El contenido generado por IA puede ser incorrecto." id="538" name="Google Shape;538;p24"/>
          <p:cNvPicPr preferRelativeResize="0"/>
          <p:nvPr/>
        </p:nvPicPr>
        <p:blipFill rotWithShape="1">
          <a:blip r:embed="rId3">
            <a:alphaModFix/>
          </a:blip>
          <a:srcRect b="39364" l="6535" r="4456" t="10433"/>
          <a:stretch/>
        </p:blipFill>
        <p:spPr>
          <a:xfrm>
            <a:off x="7531942" y="643550"/>
            <a:ext cx="3890028" cy="1582106"/>
          </a:xfrm>
          <a:prstGeom prst="rect">
            <a:avLst/>
          </a:prstGeom>
          <a:noFill/>
          <a:ln>
            <a:noFill/>
          </a:ln>
        </p:spPr>
      </p:pic>
      <p:pic>
        <p:nvPicPr>
          <p:cNvPr descr="Interfaz de usuario gráfica, Aplicación, Sitio web&#10;&#10;El contenido generado por IA puede ser incorrecto." id="539" name="Google Shape;539;p24"/>
          <p:cNvPicPr preferRelativeResize="0"/>
          <p:nvPr/>
        </p:nvPicPr>
        <p:blipFill rotWithShape="1">
          <a:blip r:embed="rId3">
            <a:alphaModFix/>
          </a:blip>
          <a:srcRect b="6191" l="6535" r="4456" t="61874"/>
          <a:stretch/>
        </p:blipFill>
        <p:spPr>
          <a:xfrm>
            <a:off x="7531942" y="2196033"/>
            <a:ext cx="3890028" cy="1006374"/>
          </a:xfrm>
          <a:prstGeom prst="rect">
            <a:avLst/>
          </a:prstGeom>
          <a:noFill/>
          <a:ln>
            <a:noFill/>
          </a:ln>
        </p:spPr>
      </p:pic>
      <p:cxnSp>
        <p:nvCxnSpPr>
          <p:cNvPr id="540" name="Google Shape;540;p24"/>
          <p:cNvCxnSpPr/>
          <p:nvPr/>
        </p:nvCxnSpPr>
        <p:spPr>
          <a:xfrm>
            <a:off x="7308324" y="395878"/>
            <a:ext cx="0" cy="2196000"/>
          </a:xfrm>
          <a:prstGeom prst="straightConnector1">
            <a:avLst/>
          </a:prstGeom>
          <a:noFill/>
          <a:ln cap="flat" cmpd="sng" w="12700">
            <a:solidFill>
              <a:schemeClr val="dk1"/>
            </a:solidFill>
            <a:prstDash val="dash"/>
            <a:round/>
            <a:headEnd len="sm" w="sm" type="none"/>
            <a:tailEnd len="sm" w="sm" type="none"/>
          </a:ln>
        </p:spPr>
      </p:cxnSp>
      <p:pic>
        <p:nvPicPr>
          <p:cNvPr id="541" name="Google Shape;541;p24"/>
          <p:cNvPicPr preferRelativeResize="0"/>
          <p:nvPr/>
        </p:nvPicPr>
        <p:blipFill rotWithShape="1">
          <a:blip r:embed="rId4">
            <a:alphaModFix/>
          </a:blip>
          <a:srcRect b="0" l="0" r="0" t="0"/>
          <a:stretch/>
        </p:blipFill>
        <p:spPr>
          <a:xfrm>
            <a:off x="419501" y="3587618"/>
            <a:ext cx="5216486" cy="30177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25"/>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t>Formato construcción de ejemplo</a:t>
            </a:r>
            <a:endParaRPr/>
          </a:p>
        </p:txBody>
      </p:sp>
      <p:sp>
        <p:nvSpPr>
          <p:cNvPr id="547" name="Google Shape;547;p25"/>
          <p:cNvSpPr txBox="1"/>
          <p:nvPr/>
        </p:nvSpPr>
        <p:spPr>
          <a:xfrm>
            <a:off x="652272" y="1104638"/>
            <a:ext cx="147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Open Sans"/>
                <a:ea typeface="Open Sans"/>
                <a:cs typeface="Open Sans"/>
                <a:sym typeface="Open Sans"/>
              </a:rPr>
              <a:t>Ejemplo</a:t>
            </a:r>
            <a:endParaRPr/>
          </a:p>
        </p:txBody>
      </p:sp>
      <p:sp>
        <p:nvSpPr>
          <p:cNvPr id="548" name="Google Shape;548;p25"/>
          <p:cNvSpPr/>
          <p:nvPr/>
        </p:nvSpPr>
        <p:spPr>
          <a:xfrm>
            <a:off x="1856232" y="969264"/>
            <a:ext cx="9674352" cy="64008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MX" sz="1400">
                <a:solidFill>
                  <a:schemeClr val="dk1"/>
                </a:solidFill>
                <a:latin typeface="Open Sans"/>
                <a:ea typeface="Open Sans"/>
                <a:cs typeface="Open Sans"/>
                <a:sym typeface="Open Sans"/>
              </a:rPr>
              <a:t>Triada</a:t>
            </a:r>
            <a:endParaRPr/>
          </a:p>
          <a:p>
            <a:pPr indent="0" lvl="0" marL="0" marR="0" rtl="0" algn="l">
              <a:spcBef>
                <a:spcPts val="0"/>
              </a:spcBef>
              <a:spcAft>
                <a:spcPts val="0"/>
              </a:spcAft>
              <a:buNone/>
            </a:pPr>
            <a:r>
              <a:rPr lang="es-MX" sz="1400">
                <a:solidFill>
                  <a:schemeClr val="dk1"/>
                </a:solidFill>
                <a:latin typeface="Open Sans"/>
                <a:ea typeface="Open Sans"/>
                <a:cs typeface="Open Sans"/>
                <a:sym typeface="Open Sans"/>
              </a:rPr>
              <a:t>Cerveza</a:t>
            </a:r>
            <a:endParaRPr sz="1400">
              <a:solidFill>
                <a:schemeClr val="dk1"/>
              </a:solidFill>
              <a:latin typeface="Open Sans"/>
              <a:ea typeface="Open Sans"/>
              <a:cs typeface="Open Sans"/>
              <a:sym typeface="Open Sans"/>
            </a:endParaRPr>
          </a:p>
        </p:txBody>
      </p:sp>
      <p:graphicFrame>
        <p:nvGraphicFramePr>
          <p:cNvPr id="549" name="Google Shape;549;p25"/>
          <p:cNvGraphicFramePr/>
          <p:nvPr/>
        </p:nvGraphicFramePr>
        <p:xfrm>
          <a:off x="729996" y="1866501"/>
          <a:ext cx="3000000" cy="3000000"/>
        </p:xfrm>
        <a:graphic>
          <a:graphicData uri="http://schemas.openxmlformats.org/drawingml/2006/table">
            <a:tbl>
              <a:tblPr bandRow="1" firstRow="1">
                <a:noFill/>
                <a:tableStyleId>{813A3F68-93AB-42EE-8F31-6030AA077254}</a:tableStyleId>
              </a:tblPr>
              <a:tblGrid>
                <a:gridCol w="1637125"/>
                <a:gridCol w="2799250"/>
                <a:gridCol w="6364225"/>
              </a:tblGrid>
              <a:tr h="370850">
                <a:tc>
                  <a:txBody>
                    <a:bodyPr/>
                    <a:lstStyle/>
                    <a:p>
                      <a:pPr indent="0" lvl="0" marL="0" marR="0" rtl="0" algn="ctr">
                        <a:spcBef>
                          <a:spcPts val="0"/>
                        </a:spcBef>
                        <a:spcAft>
                          <a:spcPts val="0"/>
                        </a:spcAft>
                        <a:buClr>
                          <a:schemeClr val="dk1"/>
                        </a:buClr>
                        <a:buSzPts val="1200"/>
                        <a:buFont typeface="Arial"/>
                        <a:buNone/>
                      </a:pPr>
                      <a:r>
                        <a:rPr lang="es-MX" sz="1200" u="none" cap="none" strike="noStrike"/>
                        <a:t>Rol</a:t>
                      </a:r>
                      <a:endParaRPr sz="1200" u="none" cap="none" strike="noStrike">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Clr>
                          <a:schemeClr val="dk1"/>
                        </a:buClr>
                        <a:buSzPts val="1200"/>
                        <a:buFont typeface="Arial"/>
                        <a:buNone/>
                      </a:pPr>
                      <a:r>
                        <a:rPr lang="es-MX" sz="1200" u="none" cap="none" strike="noStrike"/>
                        <a:t>Área/Puesto </a:t>
                      </a:r>
                      <a:endParaRPr sz="1200" u="none" cap="none" strike="noStrike">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Clr>
                          <a:schemeClr val="dk1"/>
                        </a:buClr>
                        <a:buSzPts val="1200"/>
                        <a:buFont typeface="Arial"/>
                        <a:buNone/>
                      </a:pPr>
                      <a:r>
                        <a:rPr lang="es-MX" sz="1200" u="none" cap="none" strike="noStrike"/>
                        <a:t>Actividad a realizar</a:t>
                      </a:r>
                      <a:endParaRPr sz="1200" u="none" cap="none" strike="noStrike">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Clr>
                          <a:schemeClr val="dk1"/>
                        </a:buClr>
                        <a:buSzPts val="1200"/>
                        <a:buFont typeface="Arial"/>
                        <a:buNone/>
                      </a:pPr>
                      <a:r>
                        <a:rPr lang="es-MX" sz="1200" u="none" cap="none" strike="noStrike"/>
                        <a:t>Accountable</a:t>
                      </a:r>
                      <a:endParaRPr sz="1200" u="none" cap="none" strike="noStrike">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Clr>
                          <a:schemeClr val="dk1"/>
                        </a:buClr>
                        <a:buSzPts val="1200"/>
                        <a:buFont typeface="Arial"/>
                        <a:buNone/>
                      </a:pPr>
                      <a:r>
                        <a:rPr lang="es-MX" sz="1200"/>
                        <a:t>Responsable</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Clr>
                          <a:schemeClr val="dk1"/>
                        </a:buClr>
                        <a:buSzPts val="1200"/>
                        <a:buFont typeface="Arial"/>
                        <a:buNone/>
                      </a:pPr>
                      <a:r>
                        <a:rPr lang="es-MX" sz="1200"/>
                        <a:t>Support</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Clr>
                          <a:schemeClr val="dk1"/>
                        </a:buClr>
                        <a:buSzPts val="1200"/>
                        <a:buFont typeface="Arial"/>
                        <a:buNone/>
                      </a:pPr>
                      <a:r>
                        <a:rPr lang="es-MX" sz="1200"/>
                        <a:t>Consulted</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Clr>
                          <a:schemeClr val="dk1"/>
                        </a:buClr>
                        <a:buSzPts val="1200"/>
                        <a:buFont typeface="Arial"/>
                        <a:buNone/>
                      </a:pPr>
                      <a:r>
                        <a:rPr lang="es-MX" sz="1200"/>
                        <a:t>Informed</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grpSp>
        <p:nvGrpSpPr>
          <p:cNvPr id="555" name="Google Shape;555;p26"/>
          <p:cNvGrpSpPr/>
          <p:nvPr/>
        </p:nvGrpSpPr>
        <p:grpSpPr>
          <a:xfrm>
            <a:off x="0" y="6926580"/>
            <a:ext cx="12192000" cy="137160"/>
            <a:chOff x="0" y="6926580"/>
            <a:chExt cx="12192000" cy="137160"/>
          </a:xfrm>
        </p:grpSpPr>
        <p:sp>
          <p:nvSpPr>
            <p:cNvPr id="556" name="Google Shape;556;p26"/>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557" name="Google Shape;557;p26"/>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558" name="Google Shape;558;p26"/>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559" name="Google Shape;559;p26"/>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560" name="Google Shape;560;p26"/>
          <p:cNvGrpSpPr/>
          <p:nvPr/>
        </p:nvGrpSpPr>
        <p:grpSpPr>
          <a:xfrm>
            <a:off x="0" y="-205740"/>
            <a:ext cx="12192000" cy="137160"/>
            <a:chOff x="0" y="-205740"/>
            <a:chExt cx="12192000" cy="137160"/>
          </a:xfrm>
        </p:grpSpPr>
        <p:sp>
          <p:nvSpPr>
            <p:cNvPr id="561" name="Google Shape;561;p26"/>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562" name="Google Shape;562;p26"/>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563" name="Google Shape;563;p26"/>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564" name="Google Shape;564;p26"/>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565" name="Google Shape;565;p26"/>
          <p:cNvSpPr txBox="1"/>
          <p:nvPr>
            <p:ph type="title"/>
          </p:nvPr>
        </p:nvSpPr>
        <p:spPr>
          <a:xfrm>
            <a:off x="950142" y="2720529"/>
            <a:ext cx="10698933" cy="1065540"/>
          </a:xfrm>
          <a:prstGeom prst="rect">
            <a:avLst/>
          </a:prstGeom>
          <a:noFill/>
          <a:ln>
            <a:noFill/>
          </a:ln>
        </p:spPr>
        <p:txBody>
          <a:bodyPr anchorCtr="0" anchor="ctr" bIns="36000" lIns="91425" spcFirstLastPara="1" rIns="91425" wrap="square" tIns="36000">
            <a:normAutofit/>
          </a:bodyPr>
          <a:lstStyle/>
          <a:p>
            <a:pPr indent="0" lvl="0" marL="0" rtl="0" algn="l">
              <a:lnSpc>
                <a:spcPct val="100000"/>
              </a:lnSpc>
              <a:spcBef>
                <a:spcPts val="0"/>
              </a:spcBef>
              <a:spcAft>
                <a:spcPts val="0"/>
              </a:spcAft>
              <a:buNone/>
            </a:pPr>
            <a:r>
              <a:rPr lang="es-MX"/>
              <a:t>Decisiones Comerciales</a:t>
            </a:r>
            <a:br>
              <a:rPr lang="es-MX"/>
            </a:br>
            <a:r>
              <a:rPr b="0" lang="es-MX"/>
              <a:t>Fit for Purpose OXXO MX</a:t>
            </a:r>
            <a:endParaRPr/>
          </a:p>
        </p:txBody>
      </p:sp>
      <p:sp>
        <p:nvSpPr>
          <p:cNvPr id="566" name="Google Shape;566;p26"/>
          <p:cNvSpPr txBox="1"/>
          <p:nvPr/>
        </p:nvSpPr>
        <p:spPr>
          <a:xfrm>
            <a:off x="1016817" y="3838575"/>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Open Sans"/>
              <a:buNone/>
            </a:pPr>
            <a:r>
              <a:rPr i="0" lang="es-MX" sz="1600" u="none" cap="none" strike="noStrike">
                <a:solidFill>
                  <a:srgbClr val="FFFFFF"/>
                </a:solidFill>
                <a:latin typeface="Open Sans"/>
                <a:ea typeface="Open Sans"/>
                <a:cs typeface="Open Sans"/>
                <a:sym typeface="Open Sans"/>
              </a:rPr>
              <a:t>Enero 2026</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27"/>
          <p:cNvSpPr txBox="1"/>
          <p:nvPr>
            <p:ph type="title"/>
          </p:nvPr>
        </p:nvSpPr>
        <p:spPr>
          <a:xfrm>
            <a:off x="508799" y="250442"/>
            <a:ext cx="11352999" cy="46166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s-MX">
                <a:solidFill>
                  <a:srgbClr val="DE0230"/>
                </a:solidFill>
              </a:rPr>
              <a:t>Plan Aseguramiento y Estabilización | </a:t>
            </a:r>
            <a:r>
              <a:rPr lang="es-MX"/>
              <a:t>Interacciones Críticas (10)</a:t>
            </a:r>
            <a:endParaRPr/>
          </a:p>
        </p:txBody>
      </p:sp>
      <p:graphicFrame>
        <p:nvGraphicFramePr>
          <p:cNvPr id="572" name="Google Shape;572;p27"/>
          <p:cNvGraphicFramePr/>
          <p:nvPr/>
        </p:nvGraphicFramePr>
        <p:xfrm>
          <a:off x="481689" y="899707"/>
          <a:ext cx="3000000" cy="3000000"/>
        </p:xfrm>
        <a:graphic>
          <a:graphicData uri="http://schemas.openxmlformats.org/drawingml/2006/table">
            <a:tbl>
              <a:tblPr>
                <a:solidFill>
                  <a:srgbClr val="F2F2F2"/>
                </a:solidFill>
                <a:tableStyleId>{59F1A6B1-18B9-4B87-B458-7A3E6594CA7B}</a:tableStyleId>
              </a:tblPr>
              <a:tblGrid>
                <a:gridCol w="609700"/>
                <a:gridCol w="3464725"/>
                <a:gridCol w="2647775"/>
                <a:gridCol w="2118425"/>
                <a:gridCol w="2388000"/>
              </a:tblGrid>
              <a:tr h="263125">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Prioridad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Objetivo Principal</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Interacción Crítica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Impacto Estratégico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Responsables Principales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r>
              <a:tr h="568025">
                <a:tc>
                  <a:txBody>
                    <a:bodyPr/>
                    <a:lstStyle/>
                    <a:p>
                      <a:pPr indent="0" lvl="0" marL="0" marR="0" rtl="0" algn="ctr">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1</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Redefinir el </a:t>
                      </a:r>
                      <a:r>
                        <a:rPr b="1" i="1" lang="es-MX" sz="900" cap="none">
                          <a:solidFill>
                            <a:srgbClr val="A5A5A5"/>
                          </a:solidFill>
                          <a:latin typeface="Arial"/>
                          <a:ea typeface="Arial"/>
                          <a:cs typeface="Arial"/>
                          <a:sym typeface="Arial"/>
                        </a:rPr>
                        <a:t>Customer Value Proposition</a:t>
                      </a:r>
                      <a:r>
                        <a:rPr b="1" lang="es-MX" sz="900" cap="none">
                          <a:solidFill>
                            <a:srgbClr val="A5A5A5"/>
                          </a:solidFill>
                          <a:latin typeface="Arial"/>
                          <a:ea typeface="Arial"/>
                          <a:cs typeface="Arial"/>
                          <a:sym typeface="Arial"/>
                        </a:rPr>
                        <a:t> </a:t>
                      </a:r>
                      <a:r>
                        <a:rPr lang="es-MX" sz="900" cap="none">
                          <a:solidFill>
                            <a:srgbClr val="A5A5A5"/>
                          </a:solidFill>
                          <a:latin typeface="Arial"/>
                          <a:ea typeface="Arial"/>
                          <a:cs typeface="Arial"/>
                          <a:sym typeface="Arial"/>
                        </a:rPr>
                        <a:t>(CVP) y distribuir el ownership del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Comercial ↔ Customer &amp; Marketing</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Alinea la propuesta de valor al cliente con las estrategias comerciales.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Comercial </a:t>
                      </a:r>
                      <a:endParaRPr/>
                    </a:p>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000000"/>
                        </a:buClr>
                        <a:buSzPts val="900"/>
                        <a:buFont typeface="Arial"/>
                        <a:buNone/>
                      </a:pPr>
                      <a:r>
                        <a:rPr b="1" lang="es-MX" sz="900" cap="none">
                          <a:solidFill>
                            <a:srgbClr val="000000"/>
                          </a:solidFill>
                          <a:latin typeface="Arial"/>
                          <a:ea typeface="Arial"/>
                          <a:cs typeface="Arial"/>
                          <a:sym typeface="Arial"/>
                        </a:rPr>
                        <a:t>2</a:t>
                      </a:r>
                      <a:endParaRPr sz="900" cap="none">
                        <a:solidFill>
                          <a:srgbClr val="000000"/>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Habilitar </a:t>
                      </a:r>
                      <a:r>
                        <a:rPr b="1" i="1" lang="es-MX" sz="900" cap="none">
                          <a:solidFill>
                            <a:srgbClr val="000000"/>
                          </a:solidFill>
                          <a:latin typeface="Arial"/>
                          <a:ea typeface="Arial"/>
                          <a:cs typeface="Arial"/>
                          <a:sym typeface="Arial"/>
                        </a:rPr>
                        <a:t>decisiones comerciales de precios, variedad, volumen y márgenes </a:t>
                      </a:r>
                      <a:r>
                        <a:rPr lang="es-MX" sz="900" cap="none">
                          <a:solidFill>
                            <a:srgbClr val="000000"/>
                          </a:solidFill>
                          <a:latin typeface="Arial"/>
                          <a:ea typeface="Arial"/>
                          <a:cs typeface="Arial"/>
                          <a:sym typeface="Arial"/>
                        </a:rPr>
                        <a:t>con soporte de análisis profundo y detallado.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rgbClr val="000000"/>
                        </a:buClr>
                        <a:buSzPts val="900"/>
                        <a:buFont typeface="Arial"/>
                        <a:buNone/>
                      </a:pPr>
                      <a:r>
                        <a:rPr b="1" lang="es-MX" sz="900" cap="none">
                          <a:solidFill>
                            <a:srgbClr val="000000"/>
                          </a:solidFill>
                          <a:latin typeface="Arial"/>
                          <a:ea typeface="Arial"/>
                          <a:cs typeface="Arial"/>
                          <a:sym typeface="Arial"/>
                        </a:rPr>
                        <a:t>Comercial ↔ Commercial Finance (Finanzas) ↔ Data &amp; Analytics (C&amp;M)</a:t>
                      </a:r>
                      <a:endParaRPr sz="900" cap="none">
                        <a:solidFill>
                          <a:srgbClr val="000000"/>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Mejora la rentabilidad comercial y control financiero.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Dir. Comercial</a:t>
                      </a:r>
                      <a:endParaRPr/>
                    </a:p>
                    <a:p>
                      <a:pPr indent="0" lvl="0" marL="0" marR="0" rtl="0" algn="l">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Dir. Finanzas</a:t>
                      </a:r>
                      <a:endParaRPr/>
                    </a:p>
                    <a:p>
                      <a:pPr indent="0" lvl="0" marL="0" marR="0" rtl="0" algn="l">
                        <a:lnSpc>
                          <a:spcPct val="100000"/>
                        </a:lnSpc>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Dir. Customer &amp; Marketing</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r>
              <a:tr h="519525">
                <a:tc>
                  <a:txBody>
                    <a:bodyPr/>
                    <a:lstStyle/>
                    <a:p>
                      <a:pPr indent="0" lvl="0" marL="0" marR="0" rtl="0" algn="ctr">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3</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Integrar la </a:t>
                      </a:r>
                      <a:r>
                        <a:rPr b="1" i="1" lang="es-MX" sz="900" cap="none">
                          <a:solidFill>
                            <a:srgbClr val="A5A5A5"/>
                          </a:solidFill>
                          <a:latin typeface="Arial"/>
                          <a:ea typeface="Arial"/>
                          <a:cs typeface="Arial"/>
                          <a:sym typeface="Arial"/>
                        </a:rPr>
                        <a:t>Voz del Cliente </a:t>
                      </a:r>
                      <a:r>
                        <a:rPr lang="es-MX" sz="900" cap="none">
                          <a:solidFill>
                            <a:srgbClr val="A5A5A5"/>
                          </a:solidFill>
                          <a:latin typeface="Arial"/>
                          <a:ea typeface="Arial"/>
                          <a:cs typeface="Arial"/>
                          <a:sym typeface="Arial"/>
                        </a:rPr>
                        <a:t>en los procesos comerciales end-to-end para mejorar experiencia y ejecución.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Comercial ↔ Customer &amp; Marketing ↔ Excelencia Operativa</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Conecta diseño comercial con ejecución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Comercial</a:t>
                      </a:r>
                      <a:endParaRPr/>
                    </a:p>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Customer &amp; Marketing</a:t>
                      </a:r>
                      <a:endParaRPr/>
                    </a:p>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Excelencia Operativa</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4</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Implementar la </a:t>
                      </a:r>
                      <a:r>
                        <a:rPr b="1" i="1" lang="es-MX" sz="900" cap="none">
                          <a:solidFill>
                            <a:srgbClr val="A5A5A5"/>
                          </a:solidFill>
                          <a:latin typeface="Arial"/>
                          <a:ea typeface="Arial"/>
                          <a:cs typeface="Arial"/>
                          <a:sym typeface="Arial"/>
                        </a:rPr>
                        <a:t>Value Management Office </a:t>
                      </a:r>
                      <a:r>
                        <a:rPr lang="es-MX" sz="900" cap="none">
                          <a:solidFill>
                            <a:srgbClr val="A5A5A5"/>
                          </a:solidFill>
                          <a:latin typeface="Arial"/>
                          <a:ea typeface="Arial"/>
                          <a:cs typeface="Arial"/>
                          <a:sym typeface="Arial"/>
                        </a:rPr>
                        <a:t>(VMO) y asegurar la inversión, gobernanza, priorización y trazabilidad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Estrategia y Transformación ↔ Todas las Plataformas</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Asegura trazabilidad y captura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Estrategia y Transformación</a:t>
                      </a:r>
                      <a:endParaRPr/>
                    </a:p>
                    <a:p>
                      <a:pPr indent="0" lvl="0" marL="0" marR="0" rtl="0" algn="l">
                        <a:lnSpc>
                          <a:spcPct val="100000"/>
                        </a:lnSpc>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Finanzas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95250">
                <a:tc>
                  <a:txBody>
                    <a:bodyPr/>
                    <a:lstStyle/>
                    <a:p>
                      <a:pPr indent="0" lvl="0" marL="0" marR="0" rtl="0" algn="ctr">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5</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Estandarizar el </a:t>
                      </a:r>
                      <a:r>
                        <a:rPr b="1" i="1" lang="es-MX" sz="900" cap="none">
                          <a:solidFill>
                            <a:srgbClr val="A5A5A5"/>
                          </a:solidFill>
                          <a:latin typeface="Arial"/>
                          <a:ea typeface="Arial"/>
                          <a:cs typeface="Arial"/>
                          <a:sym typeface="Arial"/>
                        </a:rPr>
                        <a:t>Modelo de Madurez</a:t>
                      </a:r>
                      <a:r>
                        <a:rPr lang="es-MX" sz="900" cap="none">
                          <a:solidFill>
                            <a:srgbClr val="A5A5A5"/>
                          </a:solidFill>
                          <a:latin typeface="Arial"/>
                          <a:ea typeface="Arial"/>
                          <a:cs typeface="Arial"/>
                          <a:sym typeface="Arial"/>
                        </a:rPr>
                        <a:t> y orquestar el </a:t>
                      </a:r>
                      <a:r>
                        <a:rPr b="1" i="1" lang="es-MX" sz="900" cap="none">
                          <a:solidFill>
                            <a:srgbClr val="A5A5A5"/>
                          </a:solidFill>
                          <a:latin typeface="Arial"/>
                          <a:ea typeface="Arial"/>
                          <a:cs typeface="Arial"/>
                          <a:sym typeface="Arial"/>
                        </a:rPr>
                        <a:t>modelo operativo end-to-end</a:t>
                      </a:r>
                      <a:r>
                        <a:rPr lang="es-MX" sz="900" cap="none">
                          <a:solidFill>
                            <a:srgbClr val="A5A5A5"/>
                          </a:solidFill>
                          <a:latin typeface="Arial"/>
                          <a:ea typeface="Arial"/>
                          <a:cs typeface="Arial"/>
                          <a:sym typeface="Arial"/>
                        </a:rPr>
                        <a:t>, integrando procesos de excelencia, despliegue operativo y cadena de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Excelencia Operativa ↔ Operaciones Nacionales / Despliegue Op. ↔ Procesos Operativos CDS</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Fortalece la consistencia operativa y accountability.</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Excelencia Operativa</a:t>
                      </a:r>
                      <a:endParaRPr/>
                    </a:p>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Operaciones</a:t>
                      </a:r>
                      <a:endParaRPr/>
                    </a:p>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Cadena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6</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Alinear la </a:t>
                      </a:r>
                      <a:r>
                        <a:rPr b="1" i="1" lang="es-MX" sz="900" cap="none">
                          <a:solidFill>
                            <a:srgbClr val="A5A5A5"/>
                          </a:solidFill>
                          <a:latin typeface="Arial"/>
                          <a:ea typeface="Arial"/>
                          <a:cs typeface="Arial"/>
                          <a:sym typeface="Arial"/>
                        </a:rPr>
                        <a:t>planeación financiera </a:t>
                      </a:r>
                      <a:r>
                        <a:rPr lang="es-MX" sz="900" cap="none">
                          <a:solidFill>
                            <a:srgbClr val="A5A5A5"/>
                          </a:solidFill>
                          <a:latin typeface="Arial"/>
                          <a:ea typeface="Arial"/>
                          <a:cs typeface="Arial"/>
                          <a:sym typeface="Arial"/>
                        </a:rPr>
                        <a:t>con el </a:t>
                      </a:r>
                      <a:r>
                        <a:rPr b="1" i="1" lang="es-MX" sz="900" cap="none">
                          <a:solidFill>
                            <a:srgbClr val="A5A5A5"/>
                          </a:solidFill>
                          <a:latin typeface="Arial"/>
                          <a:ea typeface="Arial"/>
                          <a:cs typeface="Arial"/>
                          <a:sym typeface="Arial"/>
                        </a:rPr>
                        <a:t>portafolio estratégico </a:t>
                      </a:r>
                      <a:r>
                        <a:rPr lang="es-MX" sz="900" cap="none">
                          <a:solidFill>
                            <a:srgbClr val="A5A5A5"/>
                          </a:solidFill>
                          <a:latin typeface="Arial"/>
                          <a:ea typeface="Arial"/>
                          <a:cs typeface="Arial"/>
                          <a:sym typeface="Arial"/>
                        </a:rPr>
                        <a:t>y la medición de beneficios.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Finanzas ↔ Estrategia y Transformación</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Fortalece la disciplina de inversión y valor generado.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Finanzas</a:t>
                      </a:r>
                      <a:endParaRPr/>
                    </a:p>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7</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Consolidar </a:t>
                      </a:r>
                      <a:r>
                        <a:rPr b="1" i="1" lang="es-MX" sz="900" cap="none">
                          <a:solidFill>
                            <a:srgbClr val="A5A5A5"/>
                          </a:solidFill>
                          <a:latin typeface="Arial"/>
                          <a:ea typeface="Arial"/>
                          <a:cs typeface="Arial"/>
                          <a:sym typeface="Arial"/>
                        </a:rPr>
                        <a:t>capacidades digitales </a:t>
                      </a:r>
                      <a:r>
                        <a:rPr lang="es-MX" sz="900" cap="none">
                          <a:solidFill>
                            <a:srgbClr val="A5A5A5"/>
                          </a:solidFill>
                          <a:latin typeface="Arial"/>
                          <a:ea typeface="Arial"/>
                          <a:cs typeface="Arial"/>
                          <a:sym typeface="Arial"/>
                        </a:rPr>
                        <a:t>y analítica avanzada para habilitar </a:t>
                      </a:r>
                      <a:r>
                        <a:rPr b="1" i="1" lang="es-MX" sz="900" cap="none">
                          <a:solidFill>
                            <a:srgbClr val="A5A5A5"/>
                          </a:solidFill>
                          <a:latin typeface="Arial"/>
                          <a:ea typeface="Arial"/>
                          <a:cs typeface="Arial"/>
                          <a:sym typeface="Arial"/>
                        </a:rPr>
                        <a:t>omnicanalidad</a:t>
                      </a:r>
                      <a:r>
                        <a:rPr lang="es-MX" sz="900" cap="none">
                          <a:solidFill>
                            <a:srgbClr val="A5A5A5"/>
                          </a:solidFill>
                          <a:latin typeface="Arial"/>
                          <a:ea typeface="Arial"/>
                          <a:cs typeface="Arial"/>
                          <a:sym typeface="Arial"/>
                        </a:rPr>
                        <a:t> y segmentación dinámica.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TI ↔ Customer &amp; Marketing ↔ Todas las Plataformas</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Digitalización del core y habilitación de experiencia al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TI OXXO MX</a:t>
                      </a:r>
                      <a:endParaRPr/>
                    </a:p>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8</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i="1" lang="es-MX" sz="900" cap="none">
                          <a:solidFill>
                            <a:srgbClr val="A5A5A5"/>
                          </a:solidFill>
                          <a:latin typeface="Arial"/>
                          <a:ea typeface="Arial"/>
                          <a:cs typeface="Arial"/>
                          <a:sym typeface="Arial"/>
                        </a:rPr>
                        <a:t>Integración de Expansión </a:t>
                      </a:r>
                      <a:r>
                        <a:rPr lang="es-MX" sz="900" cap="none">
                          <a:solidFill>
                            <a:srgbClr val="A5A5A5"/>
                          </a:solidFill>
                          <a:latin typeface="Arial"/>
                          <a:ea typeface="Arial"/>
                          <a:cs typeface="Arial"/>
                          <a:sym typeface="Arial"/>
                        </a:rPr>
                        <a:t>bajo el modelo operativo para fortalecer gobernanza, sostenibilidad y velocidad de apertura.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Expansión ↔ Operaciones</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Maximiza sinergias en aperturas, batting y sostenibilidad.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Operaciones</a:t>
                      </a:r>
                      <a:endParaRPr/>
                    </a:p>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Expansión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9</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Integración de </a:t>
                      </a:r>
                      <a:r>
                        <a:rPr b="1" lang="es-MX" sz="900" cap="none">
                          <a:solidFill>
                            <a:srgbClr val="A5A5A5"/>
                          </a:solidFill>
                          <a:latin typeface="Arial"/>
                          <a:ea typeface="Arial"/>
                          <a:cs typeface="Arial"/>
                          <a:sym typeface="Arial"/>
                        </a:rPr>
                        <a:t>Operaciones Foodservice </a:t>
                      </a:r>
                      <a:r>
                        <a:rPr lang="es-MX" sz="900" cap="none">
                          <a:solidFill>
                            <a:srgbClr val="A5A5A5"/>
                          </a:solidFill>
                          <a:latin typeface="Arial"/>
                          <a:ea typeface="Arial"/>
                          <a:cs typeface="Arial"/>
                          <a:sym typeface="Arial"/>
                        </a:rPr>
                        <a:t>a </a:t>
                      </a:r>
                      <a:r>
                        <a:rPr b="1" lang="es-MX" sz="900" cap="none">
                          <a:solidFill>
                            <a:srgbClr val="A5A5A5"/>
                          </a:solidFill>
                          <a:latin typeface="Arial"/>
                          <a:ea typeface="Arial"/>
                          <a:cs typeface="Arial"/>
                          <a:sym typeface="Arial"/>
                        </a:rPr>
                        <a:t>Operaciones Tiendas </a:t>
                      </a:r>
                      <a:r>
                        <a:rPr b="0" lang="es-MX" sz="900" cap="none">
                          <a:solidFill>
                            <a:srgbClr val="A5A5A5"/>
                          </a:solidFill>
                          <a:latin typeface="Arial"/>
                          <a:ea typeface="Arial"/>
                          <a:cs typeface="Arial"/>
                          <a:sym typeface="Arial"/>
                        </a:rPr>
                        <a:t>para escalar e integrar la ejecución de la propuesta de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Comercial ↔ Operaciones Nacionales ↔ Excelencia Operativa </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Escalabilidad y alineación operativa de la propuesta de valor integrada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Comercial </a:t>
                      </a:r>
                      <a:endParaRPr/>
                    </a:p>
                    <a:p>
                      <a:pPr indent="0" lvl="0" marL="0" marR="0" rtl="0" algn="l">
                        <a:lnSpc>
                          <a:spcPct val="100000"/>
                        </a:lnSpc>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Operaciones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10</a:t>
                      </a:r>
                      <a:endParaRPr b="1"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0" lang="es-MX" sz="900" cap="none">
                          <a:solidFill>
                            <a:srgbClr val="A5A5A5"/>
                          </a:solidFill>
                          <a:latin typeface="Arial"/>
                          <a:ea typeface="Arial"/>
                          <a:cs typeface="Arial"/>
                          <a:sym typeface="Arial"/>
                        </a:rPr>
                        <a:t>Propuesta de valor de </a:t>
                      </a:r>
                      <a:r>
                        <a:rPr b="1" lang="es-MX" sz="900" cap="none">
                          <a:solidFill>
                            <a:srgbClr val="A5A5A5"/>
                          </a:solidFill>
                          <a:latin typeface="Arial"/>
                          <a:ea typeface="Arial"/>
                          <a:cs typeface="Arial"/>
                          <a:sym typeface="Arial"/>
                        </a:rPr>
                        <a:t>Servicios Comerciales </a:t>
                      </a:r>
                      <a:r>
                        <a:rPr b="0" lang="es-MX" sz="900" cap="none">
                          <a:solidFill>
                            <a:srgbClr val="A5A5A5"/>
                          </a:solidFill>
                          <a:latin typeface="Arial"/>
                          <a:ea typeface="Arial"/>
                          <a:cs typeface="Arial"/>
                          <a:sym typeface="Arial"/>
                        </a:rPr>
                        <a:t>independiente, alineada a la estrategia de negocio y </a:t>
                      </a:r>
                      <a:r>
                        <a:rPr b="1" lang="es-MX" sz="900" cap="none">
                          <a:solidFill>
                            <a:srgbClr val="A5A5A5"/>
                          </a:solidFill>
                          <a:latin typeface="Arial"/>
                          <a:ea typeface="Arial"/>
                          <a:cs typeface="Arial"/>
                          <a:sym typeface="Arial"/>
                        </a:rPr>
                        <a:t>en sinergia con Ejecución Comercial</a:t>
                      </a:r>
                      <a:endParaRPr b="1"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b="1" lang="es-MX" sz="900" cap="none">
                          <a:solidFill>
                            <a:srgbClr val="A5A5A5"/>
                          </a:solidFill>
                          <a:latin typeface="Arial"/>
                          <a:ea typeface="Arial"/>
                          <a:cs typeface="Arial"/>
                          <a:sym typeface="Arial"/>
                        </a:rPr>
                        <a:t>Ejecución Comercial (Comercial) ↔ Servicios Comerciales (E&amp;T)</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Propuesta de valor de Servicios Comerciales en línea con la estrategia de negocio</a:t>
                      </a:r>
                      <a:endParaRPr sz="900" cap="none">
                        <a:solidFill>
                          <a:srgbClr val="A5A5A5"/>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Comercial</a:t>
                      </a:r>
                      <a:endParaRPr/>
                    </a:p>
                    <a:p>
                      <a:pPr indent="0" lvl="0" marL="0" marR="0" rtl="0" algn="l">
                        <a:lnSpc>
                          <a:spcPct val="100000"/>
                        </a:lnSpc>
                        <a:spcBef>
                          <a:spcPts val="0"/>
                        </a:spcBef>
                        <a:spcAft>
                          <a:spcPts val="0"/>
                        </a:spcAft>
                        <a:buClr>
                          <a:srgbClr val="A5A5A5"/>
                        </a:buClr>
                        <a:buSzPts val="900"/>
                        <a:buFont typeface="Arial"/>
                        <a:buNone/>
                      </a:pPr>
                      <a:r>
                        <a:rPr lang="es-MX" sz="900" cap="none">
                          <a:solidFill>
                            <a:srgbClr val="A5A5A5"/>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28"/>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Decisiones Comerciales</a:t>
            </a:r>
            <a:endParaRPr/>
          </a:p>
        </p:txBody>
      </p:sp>
      <p:sp>
        <p:nvSpPr>
          <p:cNvPr id="579" name="Google Shape;579;p28"/>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580" name="Google Shape;580;p28"/>
          <p:cNvGraphicFramePr/>
          <p:nvPr/>
        </p:nvGraphicFramePr>
        <p:xfrm>
          <a:off x="882665" y="502557"/>
          <a:ext cx="3000000" cy="3000000"/>
        </p:xfrm>
        <a:graphic>
          <a:graphicData uri="http://schemas.openxmlformats.org/drawingml/2006/table">
            <a:tbl>
              <a:tblPr>
                <a:noFill/>
                <a:tableStyleId>{59F1A6B1-18B9-4B87-B458-7A3E6594CA7B}</a:tableStyleId>
              </a:tblPr>
              <a:tblGrid>
                <a:gridCol w="2440275"/>
                <a:gridCol w="583225"/>
                <a:gridCol w="583225"/>
                <a:gridCol w="583225"/>
                <a:gridCol w="583225"/>
                <a:gridCol w="1166425"/>
                <a:gridCol w="1166425"/>
                <a:gridCol w="1166425"/>
                <a:gridCol w="1166425"/>
                <a:gridCol w="583225"/>
                <a:gridCol w="5832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Customer y Marketing</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Despliegue Operativo</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Procesos CdS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1050">
                          <a:solidFill>
                            <a:schemeClr val="dk1"/>
                          </a:solidFill>
                          <a:latin typeface="Arial"/>
                          <a:ea typeface="Arial"/>
                          <a:cs typeface="Arial"/>
                          <a:sym typeface="Arial"/>
                        </a:rPr>
                        <a:t>(Regiones/Plazas)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Objetivos de ingresos, márgenes y rentabilidad por categoría y misión (nacional)</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Planes comerciales por categoría</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Análisis y monitoreo de rentabilidad comercial end-to-end (efectividad de planes comerciales, precios, promociones)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Medidas correctivas ante bajo desempeño de categorías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Retorno de inversión de estrategias comerciales (post-mortem)</a:t>
                      </a:r>
                      <a:endParaRPr sz="1050">
                        <a:solidFill>
                          <a:schemeClr val="dk1"/>
                        </a:solidFill>
                        <a:latin typeface="Arial"/>
                        <a:ea typeface="Arial"/>
                        <a:cs typeface="Arial"/>
                        <a:sym typeface="Arial"/>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Estrategia comercial por categoría (precios, promociones, variedad, espacios)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a:p>
                    <a:p>
                      <a:pPr indent="0" lvl="0" marL="0" marR="0" rtl="0" algn="ctr">
                        <a:spcBef>
                          <a:spcPts val="0"/>
                        </a:spcBef>
                        <a:spcAft>
                          <a:spcPts val="0"/>
                        </a:spcAft>
                        <a:buClr>
                          <a:schemeClr val="dk1"/>
                        </a:buClr>
                        <a:buSzPts val="900"/>
                        <a:buFont typeface="Arial"/>
                        <a:buNone/>
                      </a:pPr>
                      <a:r>
                        <a:rPr b="0" i="1" lang="es-MX" sz="900" u="none" strike="noStrike">
                          <a:solidFill>
                            <a:schemeClr val="dk1"/>
                          </a:solidFill>
                          <a:latin typeface="Arial"/>
                          <a:ea typeface="Arial"/>
                          <a:cs typeface="Arial"/>
                          <a:sym typeface="Arial"/>
                        </a:rPr>
                        <a:t>*Analítica p/ día a día</a:t>
                      </a:r>
                      <a:endParaRPr b="0" i="1" sz="9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Estrategia de negociación integral con proveedores, por categoría.</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Definición de metodología para la medición del desempeño financiero.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hMerge="1"/>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Visibilidad integral del efecto en el negocio sobre decisiones comerciales.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hMerge="1"/>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Decisión de iniciar / continuar / suspender estrategias comerciales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Optimización de decisiones comerciales (modelo predictivo)</a:t>
                      </a:r>
                      <a:endParaRPr sz="1050">
                        <a:solidFill>
                          <a:schemeClr val="dk1"/>
                        </a:solidFill>
                        <a:latin typeface="Arial"/>
                        <a:ea typeface="Arial"/>
                        <a:cs typeface="Arial"/>
                        <a:sym typeface="Arial"/>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r>
            </a:tbl>
          </a:graphicData>
        </a:graphic>
      </p:graphicFrame>
      <p:sp>
        <p:nvSpPr>
          <p:cNvPr id="581" name="Google Shape;581;p28"/>
          <p:cNvSpPr/>
          <p:nvPr/>
        </p:nvSpPr>
        <p:spPr>
          <a:xfrm>
            <a:off x="18294532" y="1715532"/>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lang="es-MX" sz="1200">
                <a:solidFill>
                  <a:srgbClr val="6F0018"/>
                </a:solidFill>
                <a:latin typeface="Arial"/>
                <a:ea typeface="Arial"/>
                <a:cs typeface="Arial"/>
                <a:sym typeface="Arial"/>
              </a:rPr>
              <a:t>S</a:t>
            </a:r>
            <a:endParaRPr/>
          </a:p>
        </p:txBody>
      </p:sp>
      <p:sp>
        <p:nvSpPr>
          <p:cNvPr id="582" name="Google Shape;582;p28"/>
          <p:cNvSpPr/>
          <p:nvPr/>
        </p:nvSpPr>
        <p:spPr>
          <a:xfrm>
            <a:off x="554066" y="1097390"/>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a:t>
            </a:r>
            <a:endParaRPr/>
          </a:p>
        </p:txBody>
      </p:sp>
      <p:sp>
        <p:nvSpPr>
          <p:cNvPr id="583" name="Google Shape;583;p28"/>
          <p:cNvSpPr/>
          <p:nvPr/>
        </p:nvSpPr>
        <p:spPr>
          <a:xfrm>
            <a:off x="554066" y="161722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2</a:t>
            </a:r>
            <a:endParaRPr b="0" i="0" sz="1152" u="none" cap="none" strike="noStrike">
              <a:solidFill>
                <a:srgbClr val="FFFFFF"/>
              </a:solidFill>
              <a:latin typeface="Arial"/>
              <a:ea typeface="Arial"/>
              <a:cs typeface="Arial"/>
              <a:sym typeface="Arial"/>
            </a:endParaRPr>
          </a:p>
        </p:txBody>
      </p:sp>
      <p:sp>
        <p:nvSpPr>
          <p:cNvPr id="584" name="Google Shape;584;p28"/>
          <p:cNvSpPr/>
          <p:nvPr/>
        </p:nvSpPr>
        <p:spPr>
          <a:xfrm>
            <a:off x="554066" y="2194200"/>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3</a:t>
            </a:r>
            <a:endParaRPr b="0" i="0" sz="1152" u="none" cap="none" strike="noStrike">
              <a:solidFill>
                <a:srgbClr val="FFFFFF"/>
              </a:solidFill>
              <a:latin typeface="Arial"/>
              <a:ea typeface="Arial"/>
              <a:cs typeface="Arial"/>
              <a:sym typeface="Arial"/>
            </a:endParaRPr>
          </a:p>
        </p:txBody>
      </p:sp>
      <p:sp>
        <p:nvSpPr>
          <p:cNvPr id="585" name="Google Shape;585;p28"/>
          <p:cNvSpPr/>
          <p:nvPr/>
        </p:nvSpPr>
        <p:spPr>
          <a:xfrm>
            <a:off x="554066" y="27140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4</a:t>
            </a:r>
            <a:endParaRPr b="0" i="0" sz="1152" u="none" cap="none" strike="noStrike">
              <a:solidFill>
                <a:srgbClr val="FFFFFF"/>
              </a:solidFill>
              <a:latin typeface="Arial"/>
              <a:ea typeface="Arial"/>
              <a:cs typeface="Arial"/>
              <a:sym typeface="Arial"/>
            </a:endParaRPr>
          </a:p>
        </p:txBody>
      </p:sp>
      <p:sp>
        <p:nvSpPr>
          <p:cNvPr id="586" name="Google Shape;586;p28"/>
          <p:cNvSpPr/>
          <p:nvPr/>
        </p:nvSpPr>
        <p:spPr>
          <a:xfrm>
            <a:off x="554066" y="3242026"/>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5</a:t>
            </a:r>
            <a:endParaRPr b="0" i="0" sz="1152" u="none" cap="none" strike="noStrike">
              <a:solidFill>
                <a:srgbClr val="FFFFFF"/>
              </a:solidFill>
              <a:latin typeface="Arial"/>
              <a:ea typeface="Arial"/>
              <a:cs typeface="Arial"/>
              <a:sym typeface="Arial"/>
            </a:endParaRPr>
          </a:p>
        </p:txBody>
      </p:sp>
      <p:sp>
        <p:nvSpPr>
          <p:cNvPr id="587" name="Google Shape;587;p28"/>
          <p:cNvSpPr/>
          <p:nvPr/>
        </p:nvSpPr>
        <p:spPr>
          <a:xfrm>
            <a:off x="554066" y="381084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6</a:t>
            </a:r>
            <a:endParaRPr b="0" i="0" sz="1152" u="none" cap="none" strike="noStrike">
              <a:solidFill>
                <a:srgbClr val="FFFFFF"/>
              </a:solidFill>
              <a:latin typeface="Arial"/>
              <a:ea typeface="Arial"/>
              <a:cs typeface="Arial"/>
              <a:sym typeface="Arial"/>
            </a:endParaRPr>
          </a:p>
        </p:txBody>
      </p:sp>
      <p:sp>
        <p:nvSpPr>
          <p:cNvPr id="588" name="Google Shape;588;p28"/>
          <p:cNvSpPr/>
          <p:nvPr/>
        </p:nvSpPr>
        <p:spPr>
          <a:xfrm>
            <a:off x="554066" y="4330672"/>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7</a:t>
            </a:r>
            <a:endParaRPr b="0" i="0" sz="1152" u="none" cap="none" strike="noStrike">
              <a:solidFill>
                <a:srgbClr val="FFFFFF"/>
              </a:solidFill>
              <a:latin typeface="Arial"/>
              <a:ea typeface="Arial"/>
              <a:cs typeface="Arial"/>
              <a:sym typeface="Arial"/>
            </a:endParaRPr>
          </a:p>
        </p:txBody>
      </p:sp>
      <p:sp>
        <p:nvSpPr>
          <p:cNvPr id="589" name="Google Shape;589;p28"/>
          <p:cNvSpPr/>
          <p:nvPr/>
        </p:nvSpPr>
        <p:spPr>
          <a:xfrm>
            <a:off x="554066" y="4883159"/>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8</a:t>
            </a:r>
            <a:endParaRPr b="0" i="0" sz="1152" u="none" cap="none" strike="noStrike">
              <a:solidFill>
                <a:srgbClr val="FFFFFF"/>
              </a:solidFill>
              <a:latin typeface="Arial"/>
              <a:ea typeface="Arial"/>
              <a:cs typeface="Arial"/>
              <a:sym typeface="Arial"/>
            </a:endParaRPr>
          </a:p>
        </p:txBody>
      </p:sp>
      <p:sp>
        <p:nvSpPr>
          <p:cNvPr id="590" name="Google Shape;590;p28"/>
          <p:cNvSpPr/>
          <p:nvPr/>
        </p:nvSpPr>
        <p:spPr>
          <a:xfrm>
            <a:off x="554066" y="5419318"/>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9</a:t>
            </a:r>
            <a:endParaRPr b="0" i="0" sz="1152" u="none" cap="none" strike="noStrike">
              <a:solidFill>
                <a:srgbClr val="FFFFFF"/>
              </a:solidFill>
              <a:latin typeface="Arial"/>
              <a:ea typeface="Arial"/>
              <a:cs typeface="Arial"/>
              <a:sym typeface="Arial"/>
            </a:endParaRPr>
          </a:p>
        </p:txBody>
      </p:sp>
      <p:sp>
        <p:nvSpPr>
          <p:cNvPr id="591" name="Google Shape;591;p28"/>
          <p:cNvSpPr/>
          <p:nvPr/>
        </p:nvSpPr>
        <p:spPr>
          <a:xfrm>
            <a:off x="554066" y="5971809"/>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10</a:t>
            </a:r>
            <a:endParaRPr b="0" i="0" sz="1152" u="none" cap="none" strike="noStrike">
              <a:solidFill>
                <a:srgbClr val="FFFFFF"/>
              </a:solidFill>
              <a:latin typeface="Arial"/>
              <a:ea typeface="Arial"/>
              <a:cs typeface="Arial"/>
              <a:sym typeface="Arial"/>
            </a:endParaRPr>
          </a:p>
        </p:txBody>
      </p:sp>
      <p:sp>
        <p:nvSpPr>
          <p:cNvPr id="592" name="Google Shape;592;p28"/>
          <p:cNvSpPr/>
          <p:nvPr/>
        </p:nvSpPr>
        <p:spPr>
          <a:xfrm>
            <a:off x="554066" y="6524300"/>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11</a:t>
            </a:r>
            <a:endParaRPr b="0" i="0" sz="1152" u="none" cap="none" strike="noStrike">
              <a:solidFill>
                <a:srgbClr val="FFFFFF"/>
              </a:solidFill>
              <a:latin typeface="Arial"/>
              <a:ea typeface="Arial"/>
              <a:cs typeface="Arial"/>
              <a:sym typeface="Arial"/>
            </a:endParaRPr>
          </a:p>
        </p:txBody>
      </p:sp>
      <p:sp>
        <p:nvSpPr>
          <p:cNvPr id="593" name="Google Shape;593;p28"/>
          <p:cNvSpPr txBox="1"/>
          <p:nvPr/>
        </p:nvSpPr>
        <p:spPr>
          <a:xfrm>
            <a:off x="11581500" y="519578"/>
            <a:ext cx="3770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Open Sans"/>
              <a:buNone/>
            </a:pPr>
            <a:r>
              <a:rPr lang="es-MX" sz="1800">
                <a:solidFill>
                  <a:schemeClr val="dk1"/>
                </a:solidFill>
                <a:latin typeface="Open Sans"/>
                <a:ea typeface="Open Sans"/>
                <a:cs typeface="Open Sans"/>
                <a:sym typeface="Open Sans"/>
              </a:rPr>
              <a:t>TI</a:t>
            </a:r>
            <a:endParaRPr sz="1800">
              <a:solidFill>
                <a:schemeClr val="dk1"/>
              </a:solidFill>
              <a:latin typeface="Open Sans"/>
              <a:ea typeface="Open Sans"/>
              <a:cs typeface="Open Sans"/>
              <a:sym typeface="Open Sans"/>
            </a:endParaRPr>
          </a:p>
        </p:txBody>
      </p:sp>
      <p:sp>
        <p:nvSpPr>
          <p:cNvPr id="594" name="Google Shape;594;p28"/>
          <p:cNvSpPr txBox="1"/>
          <p:nvPr/>
        </p:nvSpPr>
        <p:spPr>
          <a:xfrm>
            <a:off x="11581500" y="907056"/>
            <a:ext cx="2103061"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Open Sans"/>
              <a:buNone/>
            </a:pPr>
            <a:r>
              <a:rPr lang="es-MX" sz="1800">
                <a:solidFill>
                  <a:schemeClr val="dk1"/>
                </a:solidFill>
                <a:latin typeface="Open Sans"/>
                <a:ea typeface="Open Sans"/>
                <a:cs typeface="Open Sans"/>
                <a:sym typeface="Open Sans"/>
              </a:rPr>
              <a:t>Juega el equipo de IMA y en entrar a ambientes productivo (IT OXXO)</a:t>
            </a:r>
            <a:endParaRPr sz="1800">
              <a:solidFill>
                <a:schemeClr val="dk1"/>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2"/>
          <p:cNvSpPr txBox="1"/>
          <p:nvPr/>
        </p:nvSpPr>
        <p:spPr>
          <a:xfrm>
            <a:off x="410646" y="2942312"/>
            <a:ext cx="10698933" cy="1065540"/>
          </a:xfrm>
          <a:prstGeom prst="rect">
            <a:avLst/>
          </a:prstGeom>
          <a:noFill/>
          <a:ln>
            <a:noFill/>
          </a:ln>
        </p:spPr>
        <p:txBody>
          <a:bodyPr anchorCtr="0" anchor="t" bIns="45700" lIns="91425" spcFirstLastPara="1" rIns="91425" wrap="square" tIns="45700">
            <a:noAutofit/>
          </a:bodyPr>
          <a:lstStyle/>
          <a:p>
            <a:pPr indent="0" lvl="0" marL="0" marR="0" rtl="0" algn="l">
              <a:lnSpc>
                <a:spcPct val="101125"/>
              </a:lnSpc>
              <a:spcBef>
                <a:spcPts val="0"/>
              </a:spcBef>
              <a:spcAft>
                <a:spcPts val="0"/>
              </a:spcAft>
              <a:buNone/>
            </a:pPr>
            <a:r>
              <a:rPr b="1" lang="es-MX" sz="2400">
                <a:solidFill>
                  <a:schemeClr val="lt1"/>
                </a:solidFill>
                <a:latin typeface="Open Sans"/>
                <a:ea typeface="Open Sans"/>
                <a:cs typeface="Open Sans"/>
                <a:sym typeface="Open Sans"/>
              </a:rPr>
              <a:t>Construcción de ejemplo – Decisiones Comerciales</a:t>
            </a:r>
            <a:endParaRPr/>
          </a:p>
          <a:p>
            <a:pPr indent="0" lvl="0" marL="0" marR="0" rtl="0" algn="l">
              <a:lnSpc>
                <a:spcPct val="101125"/>
              </a:lnSpc>
              <a:spcBef>
                <a:spcPts val="0"/>
              </a:spcBef>
              <a:spcAft>
                <a:spcPts val="0"/>
              </a:spcAft>
              <a:buNone/>
            </a:pPr>
            <a:r>
              <a:rPr b="0" lang="es-MX" sz="2400">
                <a:solidFill>
                  <a:schemeClr val="lt1"/>
                </a:solidFill>
                <a:latin typeface="Open Sans"/>
                <a:ea typeface="Open Sans"/>
                <a:cs typeface="Open Sans"/>
                <a:sym typeface="Open Sans"/>
              </a:rPr>
              <a:t>Fit for Purpose OXXO MX</a:t>
            </a:r>
            <a:endParaRPr/>
          </a:p>
        </p:txBody>
      </p:sp>
      <p:sp>
        <p:nvSpPr>
          <p:cNvPr id="600" name="Google Shape;600;p42"/>
          <p:cNvSpPr txBox="1"/>
          <p:nvPr/>
        </p:nvSpPr>
        <p:spPr>
          <a:xfrm>
            <a:off x="450325" y="3669298"/>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Open Sans"/>
              <a:buNone/>
            </a:pPr>
            <a:r>
              <a:rPr i="0" lang="es-MX" sz="1600" u="none" cap="none" strike="noStrike">
                <a:solidFill>
                  <a:schemeClr val="lt1"/>
                </a:solidFill>
                <a:latin typeface="Open Sans"/>
                <a:ea typeface="Open Sans"/>
                <a:cs typeface="Open Sans"/>
                <a:sym typeface="Open Sans"/>
              </a:rPr>
              <a:t>Enero 2026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43"/>
          <p:cNvSpPr txBox="1"/>
          <p:nvPr>
            <p:ph type="title"/>
          </p:nvPr>
        </p:nvSpPr>
        <p:spPr>
          <a:xfrm>
            <a:off x="419501" y="2702327"/>
            <a:ext cx="11352998" cy="369332"/>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sz="1800">
                <a:solidFill>
                  <a:srgbClr val="DE0230"/>
                </a:solidFill>
              </a:rPr>
              <a:t>Matriz RASCI | </a:t>
            </a:r>
            <a:r>
              <a:rPr lang="es-MX" sz="1800">
                <a:solidFill>
                  <a:schemeClr val="dk1"/>
                </a:solidFill>
              </a:rPr>
              <a:t>Decisiones Comerciales</a:t>
            </a:r>
            <a:endParaRPr/>
          </a:p>
        </p:txBody>
      </p:sp>
      <p:sp>
        <p:nvSpPr>
          <p:cNvPr id="606" name="Google Shape;606;p43"/>
          <p:cNvSpPr txBox="1"/>
          <p:nvPr/>
        </p:nvSpPr>
        <p:spPr>
          <a:xfrm>
            <a:off x="213144" y="348435"/>
            <a:ext cx="11352998"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DE0230"/>
              </a:buClr>
              <a:buSzPts val="1800"/>
              <a:buFont typeface="Open Sans"/>
              <a:buNone/>
            </a:pPr>
            <a:r>
              <a:rPr lang="es-MX" sz="1800">
                <a:solidFill>
                  <a:srgbClr val="DE0230"/>
                </a:solidFill>
                <a:latin typeface="Open Sans"/>
                <a:ea typeface="Open Sans"/>
                <a:cs typeface="Open Sans"/>
                <a:sym typeface="Open Sans"/>
              </a:rPr>
              <a:t>   Objetivo de la sesión                                     Dinámica                                                            Roles RASCI </a:t>
            </a:r>
            <a:endParaRPr i="1" sz="1800">
              <a:solidFill>
                <a:srgbClr val="000000"/>
              </a:solidFill>
              <a:latin typeface="Open Sans"/>
              <a:ea typeface="Open Sans"/>
              <a:cs typeface="Open Sans"/>
              <a:sym typeface="Open Sans"/>
            </a:endParaRPr>
          </a:p>
        </p:txBody>
      </p:sp>
      <p:sp>
        <p:nvSpPr>
          <p:cNvPr id="607" name="Google Shape;607;p43"/>
          <p:cNvSpPr txBox="1"/>
          <p:nvPr/>
        </p:nvSpPr>
        <p:spPr>
          <a:xfrm>
            <a:off x="213144" y="1185484"/>
            <a:ext cx="381021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200" u="none" strike="noStrike">
                <a:solidFill>
                  <a:srgbClr val="1D3433"/>
                </a:solidFill>
                <a:latin typeface="Arial"/>
                <a:ea typeface="Arial"/>
                <a:cs typeface="Arial"/>
                <a:sym typeface="Arial"/>
              </a:rPr>
              <a:t>Construir ejemplos claros para roles RASCI aplicados al modelo de madurez operativa, </a:t>
            </a:r>
            <a:endParaRPr/>
          </a:p>
          <a:p>
            <a:pPr indent="0" lvl="0" marL="0" marR="0" rtl="0" algn="l">
              <a:spcBef>
                <a:spcPts val="0"/>
              </a:spcBef>
              <a:spcAft>
                <a:spcPts val="0"/>
              </a:spcAft>
              <a:buNone/>
            </a:pPr>
            <a:r>
              <a:rPr b="1" i="0" lang="es-MX" sz="1200" u="none" strike="noStrike">
                <a:solidFill>
                  <a:srgbClr val="1D3433"/>
                </a:solidFill>
                <a:latin typeface="Arial"/>
                <a:ea typeface="Arial"/>
                <a:cs typeface="Arial"/>
                <a:sym typeface="Arial"/>
              </a:rPr>
              <a:t>facilitando comprensión práctica.</a:t>
            </a:r>
            <a:r>
              <a:rPr b="1" i="0" lang="es-MX" sz="1200">
                <a:solidFill>
                  <a:srgbClr val="000000"/>
                </a:solidFill>
                <a:latin typeface="Arial"/>
                <a:ea typeface="Arial"/>
                <a:cs typeface="Arial"/>
                <a:sym typeface="Arial"/>
              </a:rPr>
              <a:t>​</a:t>
            </a:r>
            <a:endParaRPr b="1" sz="1200">
              <a:solidFill>
                <a:schemeClr val="dk1"/>
              </a:solidFill>
              <a:latin typeface="Open Sans"/>
              <a:ea typeface="Open Sans"/>
              <a:cs typeface="Open Sans"/>
              <a:sym typeface="Open Sans"/>
            </a:endParaRPr>
          </a:p>
        </p:txBody>
      </p:sp>
      <p:sp>
        <p:nvSpPr>
          <p:cNvPr id="608" name="Google Shape;608;p43"/>
          <p:cNvSpPr txBox="1"/>
          <p:nvPr/>
        </p:nvSpPr>
        <p:spPr>
          <a:xfrm>
            <a:off x="3666743" y="1117793"/>
            <a:ext cx="3801189"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Conocer y alinear Matriz RASCI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Desarrollar un ejemplo que genere </a:t>
            </a:r>
            <a:r>
              <a:rPr b="1" lang="es-MX" sz="1200">
                <a:solidFill>
                  <a:srgbClr val="1D3433"/>
                </a:solidFill>
                <a:latin typeface="Arial"/>
                <a:ea typeface="Arial"/>
                <a:cs typeface="Arial"/>
                <a:sym typeface="Arial"/>
              </a:rPr>
              <a:t>claridad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Integrar ejemplo a WS  </a:t>
            </a:r>
            <a:r>
              <a:rPr b="1" lang="es-MX" sz="1200">
                <a:solidFill>
                  <a:srgbClr val="1D3433"/>
                </a:solidFill>
                <a:latin typeface="Arial"/>
                <a:ea typeface="Arial"/>
                <a:cs typeface="Arial"/>
                <a:sym typeface="Arial"/>
              </a:rPr>
              <a:t>- Efectividad Organizacional</a:t>
            </a:r>
            <a:endParaRPr b="1" sz="1200">
              <a:solidFill>
                <a:schemeClr val="dk1"/>
              </a:solidFill>
              <a:latin typeface="Open Sans"/>
              <a:ea typeface="Open Sans"/>
              <a:cs typeface="Open Sans"/>
              <a:sym typeface="Open Sans"/>
            </a:endParaRPr>
          </a:p>
        </p:txBody>
      </p:sp>
      <p:cxnSp>
        <p:nvCxnSpPr>
          <p:cNvPr id="609" name="Google Shape;609;p43"/>
          <p:cNvCxnSpPr/>
          <p:nvPr/>
        </p:nvCxnSpPr>
        <p:spPr>
          <a:xfrm>
            <a:off x="3675888" y="395878"/>
            <a:ext cx="0" cy="2196000"/>
          </a:xfrm>
          <a:prstGeom prst="straightConnector1">
            <a:avLst/>
          </a:prstGeom>
          <a:noFill/>
          <a:ln cap="flat" cmpd="sng" w="12700">
            <a:solidFill>
              <a:schemeClr val="dk1"/>
            </a:solidFill>
            <a:prstDash val="dash"/>
            <a:round/>
            <a:headEnd len="sm" w="sm" type="none"/>
            <a:tailEnd len="sm" w="sm" type="none"/>
          </a:ln>
        </p:spPr>
      </p:cxnSp>
      <p:pic>
        <p:nvPicPr>
          <p:cNvPr descr="Interfaz de usuario gráfica, Aplicación, Sitio web&#10;&#10;El contenido generado por IA puede ser incorrecto." id="610" name="Google Shape;610;p43"/>
          <p:cNvPicPr preferRelativeResize="0"/>
          <p:nvPr/>
        </p:nvPicPr>
        <p:blipFill rotWithShape="1">
          <a:blip r:embed="rId3">
            <a:alphaModFix/>
          </a:blip>
          <a:srcRect b="39364" l="6535" r="4456" t="10433"/>
          <a:stretch/>
        </p:blipFill>
        <p:spPr>
          <a:xfrm>
            <a:off x="7531942" y="643550"/>
            <a:ext cx="3890028" cy="1582106"/>
          </a:xfrm>
          <a:prstGeom prst="rect">
            <a:avLst/>
          </a:prstGeom>
          <a:noFill/>
          <a:ln>
            <a:noFill/>
          </a:ln>
        </p:spPr>
      </p:pic>
      <p:pic>
        <p:nvPicPr>
          <p:cNvPr descr="Interfaz de usuario gráfica, Aplicación, Sitio web&#10;&#10;El contenido generado por IA puede ser incorrecto." id="611" name="Google Shape;611;p43"/>
          <p:cNvPicPr preferRelativeResize="0"/>
          <p:nvPr/>
        </p:nvPicPr>
        <p:blipFill rotWithShape="1">
          <a:blip r:embed="rId3">
            <a:alphaModFix/>
          </a:blip>
          <a:srcRect b="6191" l="6535" r="4456" t="61874"/>
          <a:stretch/>
        </p:blipFill>
        <p:spPr>
          <a:xfrm>
            <a:off x="7531942" y="2196033"/>
            <a:ext cx="3890028" cy="1006374"/>
          </a:xfrm>
          <a:prstGeom prst="rect">
            <a:avLst/>
          </a:prstGeom>
          <a:noFill/>
          <a:ln>
            <a:noFill/>
          </a:ln>
        </p:spPr>
      </p:pic>
      <p:cxnSp>
        <p:nvCxnSpPr>
          <p:cNvPr id="612" name="Google Shape;612;p43"/>
          <p:cNvCxnSpPr/>
          <p:nvPr/>
        </p:nvCxnSpPr>
        <p:spPr>
          <a:xfrm>
            <a:off x="7308324" y="395878"/>
            <a:ext cx="0" cy="2196000"/>
          </a:xfrm>
          <a:prstGeom prst="straightConnector1">
            <a:avLst/>
          </a:prstGeom>
          <a:noFill/>
          <a:ln cap="flat" cmpd="sng" w="12700">
            <a:solidFill>
              <a:schemeClr val="dk1"/>
            </a:solidFill>
            <a:prstDash val="dash"/>
            <a:round/>
            <a:headEnd len="sm" w="sm" type="none"/>
            <a:tailEnd len="sm" w="sm" type="none"/>
          </a:ln>
        </p:spPr>
      </p:cxnSp>
      <p:pic>
        <p:nvPicPr>
          <p:cNvPr id="613" name="Google Shape;613;p43"/>
          <p:cNvPicPr preferRelativeResize="0"/>
          <p:nvPr/>
        </p:nvPicPr>
        <p:blipFill rotWithShape="1">
          <a:blip r:embed="rId4">
            <a:alphaModFix/>
          </a:blip>
          <a:srcRect b="0" l="0" r="0" t="0"/>
          <a:stretch/>
        </p:blipFill>
        <p:spPr>
          <a:xfrm>
            <a:off x="419501" y="3154676"/>
            <a:ext cx="6268712" cy="335488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44"/>
          <p:cNvSpPr txBox="1"/>
          <p:nvPr/>
        </p:nvSpPr>
        <p:spPr>
          <a:xfrm>
            <a:off x="652272" y="226814"/>
            <a:ext cx="147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Open Sans"/>
                <a:ea typeface="Open Sans"/>
                <a:cs typeface="Open Sans"/>
                <a:sym typeface="Open Sans"/>
              </a:rPr>
              <a:t>Ejemplo</a:t>
            </a:r>
            <a:endParaRPr/>
          </a:p>
        </p:txBody>
      </p:sp>
      <p:sp>
        <p:nvSpPr>
          <p:cNvPr id="619" name="Google Shape;619;p44"/>
          <p:cNvSpPr/>
          <p:nvPr/>
        </p:nvSpPr>
        <p:spPr>
          <a:xfrm>
            <a:off x="1856232" y="91440"/>
            <a:ext cx="9674352" cy="64008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s-MX" sz="1200">
                <a:solidFill>
                  <a:schemeClr val="dk1"/>
                </a:solidFill>
                <a:latin typeface="Open Sans"/>
                <a:ea typeface="Open Sans"/>
                <a:cs typeface="Open Sans"/>
                <a:sym typeface="Open Sans"/>
              </a:rPr>
              <a:t>Plan anual / objetivo anual Cerveza</a:t>
            </a:r>
            <a:endParaRPr sz="1200">
              <a:solidFill>
                <a:schemeClr val="dk1"/>
              </a:solidFill>
              <a:latin typeface="Open Sans"/>
              <a:ea typeface="Open Sans"/>
              <a:cs typeface="Open Sans"/>
              <a:sym typeface="Open Sans"/>
            </a:endParaRPr>
          </a:p>
        </p:txBody>
      </p:sp>
      <p:graphicFrame>
        <p:nvGraphicFramePr>
          <p:cNvPr id="620" name="Google Shape;620;p44"/>
          <p:cNvGraphicFramePr/>
          <p:nvPr/>
        </p:nvGraphicFramePr>
        <p:xfrm>
          <a:off x="729996" y="988677"/>
          <a:ext cx="3000000" cy="3000000"/>
        </p:xfrm>
        <a:graphic>
          <a:graphicData uri="http://schemas.openxmlformats.org/drawingml/2006/table">
            <a:tbl>
              <a:tblPr bandRow="1" firstRow="1">
                <a:noFill/>
                <a:tableStyleId>{813A3F68-93AB-42EE-8F31-6030AA077254}</a:tableStyleId>
              </a:tblPr>
              <a:tblGrid>
                <a:gridCol w="10800600"/>
              </a:tblGrid>
              <a:tr h="370850">
                <a:tc>
                  <a:txBody>
                    <a:bodyPr/>
                    <a:lstStyle/>
                    <a:p>
                      <a:pPr indent="0" lvl="0" marL="0" marR="0" rtl="0" algn="ctr">
                        <a:spcBef>
                          <a:spcPts val="0"/>
                        </a:spcBef>
                        <a:spcAft>
                          <a:spcPts val="0"/>
                        </a:spcAft>
                        <a:buClr>
                          <a:schemeClr val="dk1"/>
                        </a:buClr>
                        <a:buSzPts val="1200"/>
                        <a:buFont typeface="Arial"/>
                        <a:buNone/>
                      </a:pPr>
                      <a:r>
                        <a:rPr lang="es-MX" sz="1200"/>
                        <a:t>Actividad a realizar</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Finanzas con base a históricos, inputs, diversos rubros de P&amp;L, brinda información de los objetivos que deberían jugar para definición de objetivo final de Cerveza</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Dentro del marco de lineamientos estratégicos definido por CVP, Analíticos comparte información de mercado y baseline para toma de decisiones final del objetivo de Cerveza</a:t>
                      </a:r>
                      <a:endParaRPr/>
                    </a:p>
                    <a:p>
                      <a:pPr indent="-177800" lvl="0" marL="177800" marR="0" rtl="0" algn="l">
                        <a:lnSpc>
                          <a:spcPct val="100000"/>
                        </a:lnSpc>
                        <a:spcBef>
                          <a:spcPts val="1200"/>
                        </a:spcBef>
                        <a:spcAft>
                          <a:spcPts val="0"/>
                        </a:spcAft>
                        <a:buClr>
                          <a:schemeClr val="dk1"/>
                        </a:buClr>
                        <a:buSzPts val="1200"/>
                        <a:buFont typeface="Arial"/>
                        <a:buChar char="•"/>
                      </a:pPr>
                      <a:r>
                        <a:rPr lang="es-MX" sz="1200">
                          <a:latin typeface="Arial"/>
                          <a:ea typeface="Arial"/>
                          <a:cs typeface="Arial"/>
                          <a:sym typeface="Arial"/>
                        </a:rPr>
                        <a:t>Categorías define objetivo final de Cerveza para el año</a:t>
                      </a:r>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Categorías define y aterriza planes comerciales para Cerveza</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Finanzas provee de corridas financieras e información que apoye o rete los planes comerciales propuestos</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Cadena de Suministro ayuda a construir el plan de compra y ayuda en la visibilidad del costo capital</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Finanzas realiza monitoreo y corridas financieras de la rentabilidad y desempeño de los planes comerciales definidos, dar visibilidad de donde existe oportunidad dentro del plan comercial (qué palancas mover)</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Analítica brinda sistemas de alerta o automatizaciones que ayuden a evitar información manual (proactivo, no reactivo)</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Comercial tiene la responsabilidad de brindar todos los inputs a Finanzas para realizar las corridas financieras adecuadas (convenios, promociones, espacios, ingresos adicionales, etc.)</a:t>
                      </a:r>
                      <a:endParaRPr/>
                    </a:p>
                    <a:p>
                      <a:pPr indent="0" lvl="0" marL="0" marR="0" rtl="0" algn="l">
                        <a:spcBef>
                          <a:spcPts val="1200"/>
                        </a:spcBef>
                        <a:spcAft>
                          <a:spcPts val="0"/>
                        </a:spcAft>
                        <a:buClr>
                          <a:schemeClr val="dk1"/>
                        </a:buClr>
                        <a:buSzPts val="1200"/>
                        <a:buFont typeface="Arial"/>
                        <a:buNone/>
                      </a:pPr>
                      <a:r>
                        <a:rPr i="1" lang="es-MX" sz="1200">
                          <a:latin typeface="Arial"/>
                          <a:ea typeface="Arial"/>
                          <a:cs typeface="Arial"/>
                          <a:sym typeface="Arial"/>
                        </a:rPr>
                        <a:t>*Definir un sistema de gestión (rituales / responsables) entre Finanzas, Ejecución Comercial y Comercial Categorías para asegurar que contemple todo lo negociado / pactado por equipo Comercial</a:t>
                      </a:r>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Aterriza medidas correctivas a los planes comerciales con oportunidad según las palancas propuestas por Finanzas</a:t>
                      </a:r>
                      <a:endParaRPr/>
                    </a:p>
                    <a:p>
                      <a:pPr indent="-177800" lvl="0" marL="177800" marR="0" rtl="0" algn="l">
                        <a:lnSpc>
                          <a:spcPct val="100000"/>
                        </a:lnSpc>
                        <a:spcBef>
                          <a:spcPts val="1200"/>
                        </a:spcBef>
                        <a:spcAft>
                          <a:spcPts val="0"/>
                        </a:spcAft>
                        <a:buClr>
                          <a:schemeClr val="dk1"/>
                        </a:buClr>
                        <a:buSzPts val="1200"/>
                        <a:buFont typeface="Arial"/>
                        <a:buChar char="•"/>
                      </a:pPr>
                      <a:r>
                        <a:rPr lang="es-MX" sz="1200">
                          <a:latin typeface="Arial"/>
                          <a:ea typeface="Arial"/>
                          <a:cs typeface="Arial"/>
                          <a:sym typeface="Arial"/>
                        </a:rPr>
                        <a:t>Finanzas realiza corridas financieras para evaluar los accionables comerciales propuestos y respalda o reta, dar visibilidad de donde existe oportunidad dentro del plan comercial (qué palancas mover)</a:t>
                      </a:r>
                      <a:endParaRPr/>
                    </a:p>
                    <a:p>
                      <a:pPr indent="0" lvl="0" marL="0" marR="0" rtl="0" algn="l">
                        <a:spcBef>
                          <a:spcPts val="1200"/>
                        </a:spcBef>
                        <a:spcAft>
                          <a:spcPts val="0"/>
                        </a:spcAft>
                        <a:buClr>
                          <a:schemeClr val="dk1"/>
                        </a:buClr>
                        <a:buSzPts val="1200"/>
                        <a:buFont typeface="Arial"/>
                        <a:buNone/>
                      </a:pPr>
                      <a:r>
                        <a:rPr i="1" lang="es-MX" sz="1200">
                          <a:latin typeface="Arial"/>
                          <a:ea typeface="Arial"/>
                          <a:cs typeface="Arial"/>
                          <a:sym typeface="Arial"/>
                        </a:rPr>
                        <a:t>*Cadena de Suministro entra donde se revisitan negociaciones de precio con compras de oportunidad</a:t>
                      </a:r>
                      <a:endParaRPr/>
                    </a:p>
                  </a:txBody>
                  <a:tcPr marT="45725" marB="45725" marR="91450" marL="91450"/>
                </a:tc>
              </a:tr>
              <a:tr h="370850">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grpSp>
        <p:nvGrpSpPr>
          <p:cNvPr id="626" name="Google Shape;626;p45"/>
          <p:cNvGrpSpPr/>
          <p:nvPr/>
        </p:nvGrpSpPr>
        <p:grpSpPr>
          <a:xfrm>
            <a:off x="0" y="6926580"/>
            <a:ext cx="12192000" cy="137160"/>
            <a:chOff x="0" y="6926580"/>
            <a:chExt cx="12192000" cy="137160"/>
          </a:xfrm>
        </p:grpSpPr>
        <p:sp>
          <p:nvSpPr>
            <p:cNvPr id="627" name="Google Shape;627;p45"/>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628" name="Google Shape;628;p45"/>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629" name="Google Shape;629;p45"/>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630" name="Google Shape;630;p45"/>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631" name="Google Shape;631;p45"/>
          <p:cNvGrpSpPr/>
          <p:nvPr/>
        </p:nvGrpSpPr>
        <p:grpSpPr>
          <a:xfrm>
            <a:off x="0" y="-205740"/>
            <a:ext cx="12192000" cy="137160"/>
            <a:chOff x="0" y="-205740"/>
            <a:chExt cx="12192000" cy="137160"/>
          </a:xfrm>
        </p:grpSpPr>
        <p:sp>
          <p:nvSpPr>
            <p:cNvPr id="632" name="Google Shape;632;p45"/>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633" name="Google Shape;633;p45"/>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634" name="Google Shape;634;p45"/>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635" name="Google Shape;635;p45"/>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636" name="Google Shape;636;p45"/>
          <p:cNvSpPr txBox="1"/>
          <p:nvPr>
            <p:ph type="title"/>
          </p:nvPr>
        </p:nvSpPr>
        <p:spPr>
          <a:xfrm>
            <a:off x="950142" y="2720529"/>
            <a:ext cx="10698933" cy="1065540"/>
          </a:xfrm>
          <a:prstGeom prst="rect">
            <a:avLst/>
          </a:prstGeom>
          <a:noFill/>
          <a:ln>
            <a:noFill/>
          </a:ln>
        </p:spPr>
        <p:txBody>
          <a:bodyPr anchorCtr="0" anchor="ctr" bIns="36000" lIns="91425" spcFirstLastPara="1" rIns="91425" wrap="square" tIns="36000">
            <a:normAutofit/>
          </a:bodyPr>
          <a:lstStyle/>
          <a:p>
            <a:pPr indent="0" lvl="0" marL="0" rtl="0" algn="l">
              <a:lnSpc>
                <a:spcPct val="100000"/>
              </a:lnSpc>
              <a:spcBef>
                <a:spcPts val="0"/>
              </a:spcBef>
              <a:spcAft>
                <a:spcPts val="0"/>
              </a:spcAft>
              <a:buNone/>
            </a:pPr>
            <a:r>
              <a:rPr lang="es-MX"/>
              <a:t>Voz del Cliente</a:t>
            </a:r>
            <a:br>
              <a:rPr lang="es-MX"/>
            </a:br>
            <a:r>
              <a:rPr b="0" lang="es-MX"/>
              <a:t>Fit for Purpose OXXO MX</a:t>
            </a:r>
            <a:endParaRPr/>
          </a:p>
        </p:txBody>
      </p:sp>
      <p:sp>
        <p:nvSpPr>
          <p:cNvPr id="637" name="Google Shape;637;p45"/>
          <p:cNvSpPr txBox="1"/>
          <p:nvPr/>
        </p:nvSpPr>
        <p:spPr>
          <a:xfrm>
            <a:off x="1016817" y="3838575"/>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Open Sans"/>
              <a:buNone/>
            </a:pPr>
            <a:r>
              <a:rPr i="0" lang="es-MX" sz="1600" u="none" cap="none" strike="noStrike">
                <a:solidFill>
                  <a:srgbClr val="FFFFFF"/>
                </a:solidFill>
                <a:latin typeface="Open Sans"/>
                <a:ea typeface="Open Sans"/>
                <a:cs typeface="Open Sans"/>
                <a:sym typeface="Open Sans"/>
              </a:rPr>
              <a:t>Enero 2026</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46"/>
          <p:cNvSpPr txBox="1"/>
          <p:nvPr>
            <p:ph type="title"/>
          </p:nvPr>
        </p:nvSpPr>
        <p:spPr>
          <a:xfrm>
            <a:off x="508799" y="250442"/>
            <a:ext cx="11352999" cy="46166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s-MX">
                <a:solidFill>
                  <a:srgbClr val="DE0230"/>
                </a:solidFill>
              </a:rPr>
              <a:t>Plan Aseguramiento y Estabilización | </a:t>
            </a:r>
            <a:r>
              <a:rPr lang="es-MX"/>
              <a:t>Interacciones Críticas (10)</a:t>
            </a:r>
            <a:endParaRPr/>
          </a:p>
        </p:txBody>
      </p:sp>
      <p:graphicFrame>
        <p:nvGraphicFramePr>
          <p:cNvPr id="643" name="Google Shape;643;p46"/>
          <p:cNvGraphicFramePr/>
          <p:nvPr/>
        </p:nvGraphicFramePr>
        <p:xfrm>
          <a:off x="481689" y="899707"/>
          <a:ext cx="3000000" cy="3000000"/>
        </p:xfrm>
        <a:graphic>
          <a:graphicData uri="http://schemas.openxmlformats.org/drawingml/2006/table">
            <a:tbl>
              <a:tblPr>
                <a:solidFill>
                  <a:srgbClr val="F2F2F2"/>
                </a:solidFill>
                <a:tableStyleId>{59F1A6B1-18B9-4B87-B458-7A3E6594CA7B}</a:tableStyleId>
              </a:tblPr>
              <a:tblGrid>
                <a:gridCol w="609700"/>
                <a:gridCol w="3464725"/>
                <a:gridCol w="2647775"/>
                <a:gridCol w="2118425"/>
                <a:gridCol w="2388000"/>
              </a:tblGrid>
              <a:tr h="263125">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Prioridad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Objetivo Principal</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Interacción Crítica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Impacto Estratégico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Responsables Principales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1</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Redefinir el </a:t>
                      </a:r>
                      <a:r>
                        <a:rPr b="1" i="1" lang="es-MX" sz="900" cap="none">
                          <a:solidFill>
                            <a:srgbClr val="7F7F7F"/>
                          </a:solidFill>
                          <a:latin typeface="Arial"/>
                          <a:ea typeface="Arial"/>
                          <a:cs typeface="Arial"/>
                          <a:sym typeface="Arial"/>
                        </a:rPr>
                        <a:t>Customer Value Proposition</a:t>
                      </a:r>
                      <a:r>
                        <a:rPr b="1" lang="es-MX" sz="900" cap="none">
                          <a:solidFill>
                            <a:srgbClr val="7F7F7F"/>
                          </a:solidFill>
                          <a:latin typeface="Arial"/>
                          <a:ea typeface="Arial"/>
                          <a:cs typeface="Arial"/>
                          <a:sym typeface="Arial"/>
                        </a:rPr>
                        <a:t> </a:t>
                      </a:r>
                      <a:r>
                        <a:rPr lang="es-MX" sz="900" cap="none">
                          <a:solidFill>
                            <a:srgbClr val="7F7F7F"/>
                          </a:solidFill>
                          <a:latin typeface="Arial"/>
                          <a:ea typeface="Arial"/>
                          <a:cs typeface="Arial"/>
                          <a:sym typeface="Arial"/>
                        </a:rPr>
                        <a:t>(CVP) y distribuir el ownership del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Customer &amp; Marketing</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Alinea la propuesta de valor al cliente con las estrategias comerciales.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 </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2</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Habilitar </a:t>
                      </a:r>
                      <a:r>
                        <a:rPr b="1" i="1" lang="es-MX" sz="900" cap="none">
                          <a:solidFill>
                            <a:srgbClr val="7F7F7F"/>
                          </a:solidFill>
                          <a:latin typeface="Arial"/>
                          <a:ea typeface="Arial"/>
                          <a:cs typeface="Arial"/>
                          <a:sym typeface="Arial"/>
                        </a:rPr>
                        <a:t>decisiones comerciales de precios, variedad, volumen y márgenes </a:t>
                      </a:r>
                      <a:r>
                        <a:rPr lang="es-MX" sz="900" cap="none">
                          <a:solidFill>
                            <a:srgbClr val="7F7F7F"/>
                          </a:solidFill>
                          <a:latin typeface="Arial"/>
                          <a:ea typeface="Arial"/>
                          <a:cs typeface="Arial"/>
                          <a:sym typeface="Arial"/>
                        </a:rPr>
                        <a:t>con soporte de análisis profundo y detallado.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Commercial Finance (Finanzas) ↔ Data &amp; Analytics (C&amp;M)</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Mejora la rentabilidad comercial y control financiero.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Finanzas</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000000"/>
                        </a:buClr>
                        <a:buSzPts val="900"/>
                        <a:buFont typeface="Arial"/>
                        <a:buNone/>
                      </a:pPr>
                      <a:r>
                        <a:rPr b="1" lang="es-MX" sz="900" cap="none">
                          <a:solidFill>
                            <a:srgbClr val="000000"/>
                          </a:solidFill>
                          <a:latin typeface="Arial"/>
                          <a:ea typeface="Arial"/>
                          <a:cs typeface="Arial"/>
                          <a:sym typeface="Arial"/>
                        </a:rPr>
                        <a:t>3</a:t>
                      </a:r>
                      <a:endParaRPr sz="900" cap="none">
                        <a:solidFill>
                          <a:srgbClr val="000000"/>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Integrar la </a:t>
                      </a:r>
                      <a:r>
                        <a:rPr b="1" i="1" lang="es-MX" sz="900" cap="none">
                          <a:solidFill>
                            <a:srgbClr val="000000"/>
                          </a:solidFill>
                          <a:latin typeface="Arial"/>
                          <a:ea typeface="Arial"/>
                          <a:cs typeface="Arial"/>
                          <a:sym typeface="Arial"/>
                        </a:rPr>
                        <a:t>Voz del Cliente </a:t>
                      </a:r>
                      <a:r>
                        <a:rPr lang="es-MX" sz="900" cap="none">
                          <a:solidFill>
                            <a:srgbClr val="000000"/>
                          </a:solidFill>
                          <a:latin typeface="Arial"/>
                          <a:ea typeface="Arial"/>
                          <a:cs typeface="Arial"/>
                          <a:sym typeface="Arial"/>
                        </a:rPr>
                        <a:t>en los procesos comerciales end-to-end para mejorar experiencia y ejecución.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rgbClr val="000000"/>
                        </a:buClr>
                        <a:buSzPts val="900"/>
                        <a:buFont typeface="Arial"/>
                        <a:buNone/>
                      </a:pPr>
                      <a:r>
                        <a:rPr b="1" lang="es-MX" sz="900" cap="none">
                          <a:solidFill>
                            <a:srgbClr val="000000"/>
                          </a:solidFill>
                          <a:latin typeface="Arial"/>
                          <a:ea typeface="Arial"/>
                          <a:cs typeface="Arial"/>
                          <a:sym typeface="Arial"/>
                        </a:rPr>
                        <a:t>Comercial ↔ Customer &amp; Marketing ↔ Excelencia Operativa</a:t>
                      </a:r>
                      <a:endParaRPr sz="900" cap="none">
                        <a:solidFill>
                          <a:srgbClr val="000000"/>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Conecta diseño comercial con ejecución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Dir. Comercial</a:t>
                      </a:r>
                      <a:endParaRPr/>
                    </a:p>
                    <a:p>
                      <a:pPr indent="0" lvl="0" marL="0" marR="0" rtl="0" algn="l">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Dir. Customer &amp; Marketing</a:t>
                      </a:r>
                      <a:endParaRPr/>
                    </a:p>
                    <a:p>
                      <a:pPr indent="0" lvl="0" marL="0" marR="0" rtl="0" algn="l">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Dir. Excelencia Operativa</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4</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Implementar la </a:t>
                      </a:r>
                      <a:r>
                        <a:rPr b="1" i="1" lang="es-MX" sz="900" cap="none">
                          <a:solidFill>
                            <a:srgbClr val="7F7F7F"/>
                          </a:solidFill>
                          <a:latin typeface="Arial"/>
                          <a:ea typeface="Arial"/>
                          <a:cs typeface="Arial"/>
                          <a:sym typeface="Arial"/>
                        </a:rPr>
                        <a:t>Value Management Office </a:t>
                      </a:r>
                      <a:r>
                        <a:rPr lang="es-MX" sz="900" cap="none">
                          <a:solidFill>
                            <a:srgbClr val="7F7F7F"/>
                          </a:solidFill>
                          <a:latin typeface="Arial"/>
                          <a:ea typeface="Arial"/>
                          <a:cs typeface="Arial"/>
                          <a:sym typeface="Arial"/>
                        </a:rPr>
                        <a:t>(VMO) y asegurar la inversión, gobernanza, priorización y trazabilidad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Estrategia y Transformación ↔ Todas las Plataformas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Asegura trazabilidad y captura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Estrategia y Transformación</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Finanzas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95250">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5</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Estandarizar el </a:t>
                      </a:r>
                      <a:r>
                        <a:rPr b="1" i="1" lang="es-MX" sz="900" cap="none">
                          <a:solidFill>
                            <a:srgbClr val="7F7F7F"/>
                          </a:solidFill>
                          <a:latin typeface="Arial"/>
                          <a:ea typeface="Arial"/>
                          <a:cs typeface="Arial"/>
                          <a:sym typeface="Arial"/>
                        </a:rPr>
                        <a:t>Modelo de Madurez</a:t>
                      </a:r>
                      <a:r>
                        <a:rPr lang="es-MX" sz="900" cap="none">
                          <a:solidFill>
                            <a:srgbClr val="7F7F7F"/>
                          </a:solidFill>
                          <a:latin typeface="Arial"/>
                          <a:ea typeface="Arial"/>
                          <a:cs typeface="Arial"/>
                          <a:sym typeface="Arial"/>
                        </a:rPr>
                        <a:t> y orquestar el </a:t>
                      </a:r>
                      <a:r>
                        <a:rPr b="1" i="1" lang="es-MX" sz="900" cap="none">
                          <a:solidFill>
                            <a:srgbClr val="7F7F7F"/>
                          </a:solidFill>
                          <a:latin typeface="Arial"/>
                          <a:ea typeface="Arial"/>
                          <a:cs typeface="Arial"/>
                          <a:sym typeface="Arial"/>
                        </a:rPr>
                        <a:t>modelo operativo end-to-end</a:t>
                      </a:r>
                      <a:r>
                        <a:rPr lang="es-MX" sz="900" cap="none">
                          <a:solidFill>
                            <a:srgbClr val="7F7F7F"/>
                          </a:solidFill>
                          <a:latin typeface="Arial"/>
                          <a:ea typeface="Arial"/>
                          <a:cs typeface="Arial"/>
                          <a:sym typeface="Arial"/>
                        </a:rPr>
                        <a:t>, integrando procesos de excelencia, despliegue operativo y cadena de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Excelencia Operativa ↔ Operaciones Nacionales / Despliegue Op. ↔ Procesos Operativos CDS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Fortalece la consistencia operativa y accountability.</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Excelencia Operativa</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Operaciones</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Cadena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6</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Alinear la </a:t>
                      </a:r>
                      <a:r>
                        <a:rPr b="1" i="1" lang="es-MX" sz="900" cap="none">
                          <a:solidFill>
                            <a:srgbClr val="7F7F7F"/>
                          </a:solidFill>
                          <a:latin typeface="Arial"/>
                          <a:ea typeface="Arial"/>
                          <a:cs typeface="Arial"/>
                          <a:sym typeface="Arial"/>
                        </a:rPr>
                        <a:t>planeación financiera </a:t>
                      </a:r>
                      <a:r>
                        <a:rPr lang="es-MX" sz="900" cap="none">
                          <a:solidFill>
                            <a:srgbClr val="7F7F7F"/>
                          </a:solidFill>
                          <a:latin typeface="Arial"/>
                          <a:ea typeface="Arial"/>
                          <a:cs typeface="Arial"/>
                          <a:sym typeface="Arial"/>
                        </a:rPr>
                        <a:t>con el </a:t>
                      </a:r>
                      <a:r>
                        <a:rPr b="1" i="1" lang="es-MX" sz="900" cap="none">
                          <a:solidFill>
                            <a:srgbClr val="7F7F7F"/>
                          </a:solidFill>
                          <a:latin typeface="Arial"/>
                          <a:ea typeface="Arial"/>
                          <a:cs typeface="Arial"/>
                          <a:sym typeface="Arial"/>
                        </a:rPr>
                        <a:t>portafolio estratégico </a:t>
                      </a:r>
                      <a:r>
                        <a:rPr lang="es-MX" sz="900" cap="none">
                          <a:solidFill>
                            <a:srgbClr val="7F7F7F"/>
                          </a:solidFill>
                          <a:latin typeface="Arial"/>
                          <a:ea typeface="Arial"/>
                          <a:cs typeface="Arial"/>
                          <a:sym typeface="Arial"/>
                        </a:rPr>
                        <a:t>y la medición de beneficios.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Finanzas ↔ Estrategia y Transformación</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Fortalece la disciplina de inversión y valor generado.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Finanzas</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7</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Consolidar </a:t>
                      </a:r>
                      <a:r>
                        <a:rPr b="1" i="1" lang="es-MX" sz="900" cap="none">
                          <a:solidFill>
                            <a:srgbClr val="7F7F7F"/>
                          </a:solidFill>
                          <a:latin typeface="Arial"/>
                          <a:ea typeface="Arial"/>
                          <a:cs typeface="Arial"/>
                          <a:sym typeface="Arial"/>
                        </a:rPr>
                        <a:t>capacidades digitales </a:t>
                      </a:r>
                      <a:r>
                        <a:rPr lang="es-MX" sz="900" cap="none">
                          <a:solidFill>
                            <a:srgbClr val="7F7F7F"/>
                          </a:solidFill>
                          <a:latin typeface="Arial"/>
                          <a:ea typeface="Arial"/>
                          <a:cs typeface="Arial"/>
                          <a:sym typeface="Arial"/>
                        </a:rPr>
                        <a:t>y analítica avanzada para habilitar </a:t>
                      </a:r>
                      <a:r>
                        <a:rPr b="1" i="1" lang="es-MX" sz="900" cap="none">
                          <a:solidFill>
                            <a:srgbClr val="7F7F7F"/>
                          </a:solidFill>
                          <a:latin typeface="Arial"/>
                          <a:ea typeface="Arial"/>
                          <a:cs typeface="Arial"/>
                          <a:sym typeface="Arial"/>
                        </a:rPr>
                        <a:t>omnicanalidad</a:t>
                      </a:r>
                      <a:r>
                        <a:rPr lang="es-MX" sz="900" cap="none">
                          <a:solidFill>
                            <a:srgbClr val="7F7F7F"/>
                          </a:solidFill>
                          <a:latin typeface="Arial"/>
                          <a:ea typeface="Arial"/>
                          <a:cs typeface="Arial"/>
                          <a:sym typeface="Arial"/>
                        </a:rPr>
                        <a:t> y segmentación dinámica.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TI ↔ Customer &amp; Marketing ↔ Todas las Plataformas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Digitalización del core y habilitación de experiencia al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TI OXXO MX</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8</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i="1" lang="es-MX" sz="900" cap="none">
                          <a:solidFill>
                            <a:srgbClr val="7F7F7F"/>
                          </a:solidFill>
                          <a:latin typeface="Arial"/>
                          <a:ea typeface="Arial"/>
                          <a:cs typeface="Arial"/>
                          <a:sym typeface="Arial"/>
                        </a:rPr>
                        <a:t>Integración de Expansión </a:t>
                      </a:r>
                      <a:r>
                        <a:rPr lang="es-MX" sz="900" cap="none">
                          <a:solidFill>
                            <a:srgbClr val="7F7F7F"/>
                          </a:solidFill>
                          <a:latin typeface="Arial"/>
                          <a:ea typeface="Arial"/>
                          <a:cs typeface="Arial"/>
                          <a:sym typeface="Arial"/>
                        </a:rPr>
                        <a:t>bajo el modelo operativo para fortalecer gobernanza, sostenibilidad y velocidad de apertura.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Expansión ↔ Operaciones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Maximiza sinergias en aperturas, batting y sostenibilidad.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Operaciones</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Expansión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9</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Integración de </a:t>
                      </a:r>
                      <a:r>
                        <a:rPr b="1" lang="es-MX" sz="900" cap="none">
                          <a:solidFill>
                            <a:srgbClr val="7F7F7F"/>
                          </a:solidFill>
                          <a:latin typeface="Arial"/>
                          <a:ea typeface="Arial"/>
                          <a:cs typeface="Arial"/>
                          <a:sym typeface="Arial"/>
                        </a:rPr>
                        <a:t>Operaciones Foodservice </a:t>
                      </a:r>
                      <a:r>
                        <a:rPr lang="es-MX" sz="900" cap="none">
                          <a:solidFill>
                            <a:srgbClr val="7F7F7F"/>
                          </a:solidFill>
                          <a:latin typeface="Arial"/>
                          <a:ea typeface="Arial"/>
                          <a:cs typeface="Arial"/>
                          <a:sym typeface="Arial"/>
                        </a:rPr>
                        <a:t>a </a:t>
                      </a:r>
                      <a:r>
                        <a:rPr b="1" lang="es-MX" sz="900" cap="none">
                          <a:solidFill>
                            <a:srgbClr val="7F7F7F"/>
                          </a:solidFill>
                          <a:latin typeface="Arial"/>
                          <a:ea typeface="Arial"/>
                          <a:cs typeface="Arial"/>
                          <a:sym typeface="Arial"/>
                        </a:rPr>
                        <a:t>Operaciones Tiendas </a:t>
                      </a:r>
                      <a:r>
                        <a:rPr b="0" lang="es-MX" sz="900" cap="none">
                          <a:solidFill>
                            <a:srgbClr val="7F7F7F"/>
                          </a:solidFill>
                          <a:latin typeface="Arial"/>
                          <a:ea typeface="Arial"/>
                          <a:cs typeface="Arial"/>
                          <a:sym typeface="Arial"/>
                        </a:rPr>
                        <a:t>para escalar e integrar la ejecución de la propuesta de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Operaciones Nacionales ↔ Excelencia Operativa </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Escalabilidad y alineación operativa de la propuesta de valor integrada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 </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Operaciones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10</a:t>
                      </a:r>
                      <a:endParaRPr b="1"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0" lang="es-MX" sz="900" cap="none">
                          <a:solidFill>
                            <a:srgbClr val="7F7F7F"/>
                          </a:solidFill>
                          <a:latin typeface="Arial"/>
                          <a:ea typeface="Arial"/>
                          <a:cs typeface="Arial"/>
                          <a:sym typeface="Arial"/>
                        </a:rPr>
                        <a:t>Propuesta de valor de </a:t>
                      </a:r>
                      <a:r>
                        <a:rPr b="1" lang="es-MX" sz="900" cap="none">
                          <a:solidFill>
                            <a:srgbClr val="7F7F7F"/>
                          </a:solidFill>
                          <a:latin typeface="Arial"/>
                          <a:ea typeface="Arial"/>
                          <a:cs typeface="Arial"/>
                          <a:sym typeface="Arial"/>
                        </a:rPr>
                        <a:t>Servicios Comerciales </a:t>
                      </a:r>
                      <a:r>
                        <a:rPr b="0" lang="es-MX" sz="900" cap="none">
                          <a:solidFill>
                            <a:srgbClr val="7F7F7F"/>
                          </a:solidFill>
                          <a:latin typeface="Arial"/>
                          <a:ea typeface="Arial"/>
                          <a:cs typeface="Arial"/>
                          <a:sym typeface="Arial"/>
                        </a:rPr>
                        <a:t>independiente, alineada a la estrategia de negocio y </a:t>
                      </a:r>
                      <a:r>
                        <a:rPr b="1" lang="es-MX" sz="900" cap="none">
                          <a:solidFill>
                            <a:srgbClr val="7F7F7F"/>
                          </a:solidFill>
                          <a:latin typeface="Arial"/>
                          <a:ea typeface="Arial"/>
                          <a:cs typeface="Arial"/>
                          <a:sym typeface="Arial"/>
                        </a:rPr>
                        <a:t>en sinergia con Ejecución Comercial</a:t>
                      </a:r>
                      <a:endParaRPr b="1"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Ejecución Comercial (Comercial) ↔ Servicios Comerciales (E&amp;T)</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Propuesta de valor de Servicios Comerciales en línea con la estrategia de negocio</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47"/>
          <p:cNvSpPr txBox="1"/>
          <p:nvPr>
            <p:ph type="title"/>
          </p:nvPr>
        </p:nvSpPr>
        <p:spPr>
          <a:xfrm>
            <a:off x="508800" y="65776"/>
            <a:ext cx="11352998" cy="830997"/>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Voz del Cliente y Consumidor – puntos de dolor / feedback a potencializar</a:t>
            </a:r>
            <a:endParaRPr/>
          </a:p>
        </p:txBody>
      </p:sp>
      <p:sp>
        <p:nvSpPr>
          <p:cNvPr id="649" name="Google Shape;649;p47"/>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650" name="Google Shape;650;p47"/>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517225"/>
                <a:gridCol w="517225"/>
                <a:gridCol w="1034475"/>
                <a:gridCol w="1034475"/>
                <a:gridCol w="1034475"/>
                <a:gridCol w="1034475"/>
                <a:gridCol w="874400"/>
                <a:gridCol w="10576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Customer y Marketing</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Despliegue Operativo</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Procesos CdS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​Institucionalización, determinación y gestión de mecanismos de diagnóstico, monitoreo y aprendizaje </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​Recopilación de retroalimentación del cliente</a:t>
                      </a:r>
                      <a:endParaRPr sz="1050">
                        <a:solidFill>
                          <a:schemeClr val="dk1"/>
                        </a:solidFill>
                        <a:latin typeface="Arial"/>
                        <a:ea typeface="Arial"/>
                        <a:cs typeface="Arial"/>
                        <a:sym typeface="Arial"/>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​Identificación de recurrencias / patrones de </a:t>
                      </a:r>
                      <a:r>
                        <a:rPr b="1" lang="es-MX" sz="1050">
                          <a:solidFill>
                            <a:schemeClr val="dk1"/>
                          </a:solidFill>
                          <a:latin typeface="Arial"/>
                          <a:ea typeface="Arial"/>
                          <a:cs typeface="Arial"/>
                          <a:sym typeface="Arial"/>
                        </a:rPr>
                        <a:t>puntos de dolor del cliente </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Análisis y ​traducción de la “voz del cliente” e interpretación de resultados que fortalezcan la satisfacción y CX</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Generación de accionables que atiendan la voz del cliente</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​Alineación de iniciativas basadas en hallazgos de retroalimentación del cliente (estratégicas / tácticas)</a:t>
                      </a:r>
                      <a:endParaRPr/>
                    </a:p>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*Cuidar tener sensbilidad, detalle en ejemplo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Pruebas y despliegue de iniciativas o cambios a procesos por retroalimentación de cliente</a:t>
                      </a:r>
                      <a:endParaRPr sz="1050">
                        <a:solidFill>
                          <a:schemeClr val="dk1"/>
                        </a:solidFill>
                        <a:latin typeface="Arial"/>
                        <a:ea typeface="Arial"/>
                        <a:cs typeface="Arial"/>
                        <a:sym typeface="Arial"/>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​Monitoreo de adopción y desempeño de cambios derivados de retroalimentación de cliente</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651" name="Google Shape;651;p47"/>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a:t>
            </a:r>
            <a:endParaRPr/>
          </a:p>
        </p:txBody>
      </p:sp>
      <p:sp>
        <p:nvSpPr>
          <p:cNvPr id="652" name="Google Shape;652;p47"/>
          <p:cNvSpPr/>
          <p:nvPr/>
        </p:nvSpPr>
        <p:spPr>
          <a:xfrm>
            <a:off x="394585" y="19332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2</a:t>
            </a:r>
            <a:endParaRPr/>
          </a:p>
        </p:txBody>
      </p:sp>
      <p:sp>
        <p:nvSpPr>
          <p:cNvPr id="653" name="Google Shape;653;p47"/>
          <p:cNvSpPr/>
          <p:nvPr/>
        </p:nvSpPr>
        <p:spPr>
          <a:xfrm>
            <a:off x="394585" y="24797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3</a:t>
            </a:r>
            <a:endParaRPr/>
          </a:p>
        </p:txBody>
      </p:sp>
      <p:sp>
        <p:nvSpPr>
          <p:cNvPr id="654" name="Google Shape;654;p47"/>
          <p:cNvSpPr/>
          <p:nvPr/>
        </p:nvSpPr>
        <p:spPr>
          <a:xfrm>
            <a:off x="394585" y="30263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4</a:t>
            </a:r>
            <a:endParaRPr/>
          </a:p>
        </p:txBody>
      </p:sp>
      <p:sp>
        <p:nvSpPr>
          <p:cNvPr id="655" name="Google Shape;655;p47"/>
          <p:cNvSpPr/>
          <p:nvPr/>
        </p:nvSpPr>
        <p:spPr>
          <a:xfrm>
            <a:off x="394585" y="35728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5</a:t>
            </a:r>
            <a:endParaRPr/>
          </a:p>
        </p:txBody>
      </p:sp>
      <p:sp>
        <p:nvSpPr>
          <p:cNvPr id="656" name="Google Shape;656;p47"/>
          <p:cNvSpPr/>
          <p:nvPr/>
        </p:nvSpPr>
        <p:spPr>
          <a:xfrm>
            <a:off x="394585" y="41194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6</a:t>
            </a:r>
            <a:endParaRPr/>
          </a:p>
        </p:txBody>
      </p:sp>
      <p:sp>
        <p:nvSpPr>
          <p:cNvPr id="657" name="Google Shape;657;p47"/>
          <p:cNvSpPr/>
          <p:nvPr/>
        </p:nvSpPr>
        <p:spPr>
          <a:xfrm>
            <a:off x="394585" y="4958589"/>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7</a:t>
            </a:r>
            <a:endParaRPr/>
          </a:p>
        </p:txBody>
      </p:sp>
      <p:sp>
        <p:nvSpPr>
          <p:cNvPr id="658" name="Google Shape;658;p47"/>
          <p:cNvSpPr/>
          <p:nvPr/>
        </p:nvSpPr>
        <p:spPr>
          <a:xfrm>
            <a:off x="394585" y="5505137"/>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8</a:t>
            </a:r>
            <a:endParaRPr/>
          </a:p>
        </p:txBody>
      </p:sp>
      <p:sp>
        <p:nvSpPr>
          <p:cNvPr id="659" name="Google Shape;659;p47"/>
          <p:cNvSpPr txBox="1"/>
          <p:nvPr/>
        </p:nvSpPr>
        <p:spPr>
          <a:xfrm>
            <a:off x="629612" y="5993353"/>
            <a:ext cx="8630889" cy="6001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100"/>
              <a:buFont typeface="Open Sans"/>
              <a:buNone/>
            </a:pPr>
            <a:r>
              <a:rPr i="1" lang="es-MX" sz="1100">
                <a:solidFill>
                  <a:schemeClr val="dk1"/>
                </a:solidFill>
                <a:latin typeface="Open Sans"/>
                <a:ea typeface="Open Sans"/>
                <a:cs typeface="Open Sans"/>
                <a:sym typeface="Open Sans"/>
              </a:rPr>
              <a:t>*Cada función será Responsable y Accountable de generar accionables que atiendan la voz del cliente desde su área de responsabilidad</a:t>
            </a:r>
            <a:endParaRPr/>
          </a:p>
          <a:p>
            <a:pPr indent="0" lvl="0" marL="0" marR="0" rtl="0" algn="l">
              <a:spcBef>
                <a:spcPts val="0"/>
              </a:spcBef>
              <a:spcAft>
                <a:spcPts val="0"/>
              </a:spcAft>
              <a:buClr>
                <a:schemeClr val="dk1"/>
              </a:buClr>
              <a:buSzPts val="1100"/>
              <a:buFont typeface="Open Sans"/>
              <a:buNone/>
            </a:pPr>
            <a:r>
              <a:rPr i="1" lang="es-MX" sz="1100">
                <a:solidFill>
                  <a:schemeClr val="dk1"/>
                </a:solidFill>
                <a:latin typeface="Open Sans"/>
                <a:ea typeface="Open Sans"/>
                <a:cs typeface="Open Sans"/>
                <a:sym typeface="Open Sans"/>
              </a:rPr>
              <a:t>**Estrategia y Transformación está como “R” por Servicios Comerciales</a:t>
            </a:r>
            <a:endParaRPr/>
          </a:p>
          <a:p>
            <a:pPr indent="0" lvl="0" marL="0" marR="0" rtl="0" algn="l">
              <a:spcBef>
                <a:spcPts val="0"/>
              </a:spcBef>
              <a:spcAft>
                <a:spcPts val="0"/>
              </a:spcAft>
              <a:buClr>
                <a:schemeClr val="dk1"/>
              </a:buClr>
              <a:buSzPts val="1100"/>
              <a:buFont typeface="Open Sans"/>
              <a:buNone/>
            </a:pPr>
            <a:r>
              <a:rPr i="1" lang="es-MX" sz="1100">
                <a:solidFill>
                  <a:schemeClr val="dk1"/>
                </a:solidFill>
                <a:latin typeface="Open Sans"/>
                <a:ea typeface="Open Sans"/>
                <a:cs typeface="Open Sans"/>
                <a:sym typeface="Open Sans"/>
              </a:rPr>
              <a:t>***VMO prioriza iniciativas a desplegar de acuerdo a su valor</a:t>
            </a:r>
            <a:endParaRPr i="1" sz="1100">
              <a:solidFill>
                <a:schemeClr val="dk1"/>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48"/>
          <p:cNvSpPr txBox="1"/>
          <p:nvPr>
            <p:ph type="title"/>
          </p:nvPr>
        </p:nvSpPr>
        <p:spPr>
          <a:xfrm>
            <a:off x="508800" y="65776"/>
            <a:ext cx="11352998" cy="830997"/>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Voz del Cliente y </a:t>
            </a:r>
            <a:r>
              <a:rPr i="1" lang="es-MX">
                <a:highlight>
                  <a:srgbClr val="FFFF00"/>
                </a:highlight>
              </a:rPr>
              <a:t>Consumidor</a:t>
            </a:r>
            <a:r>
              <a:rPr i="1" lang="es-MX"/>
              <a:t> – monitoreo del comportamiento</a:t>
            </a:r>
            <a:endParaRPr/>
          </a:p>
        </p:txBody>
      </p:sp>
      <p:sp>
        <p:nvSpPr>
          <p:cNvPr id="665" name="Google Shape;665;p48"/>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666" name="Google Shape;666;p48"/>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517225"/>
                <a:gridCol w="517225"/>
                <a:gridCol w="1034475"/>
                <a:gridCol w="1034475"/>
                <a:gridCol w="1034475"/>
                <a:gridCol w="1034475"/>
                <a:gridCol w="874400"/>
                <a:gridCol w="10576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Customer y Marketing</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Despliegue Operativo</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Procesos CdS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​Institucionalización, determinación y gestión de mecanismos de diagnóstico, monitoreo y aprendizaje </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​Recopilación de retroalimentación del cliente</a:t>
                      </a:r>
                      <a:endParaRPr sz="1050">
                        <a:solidFill>
                          <a:schemeClr val="dk1"/>
                        </a:solidFill>
                        <a:latin typeface="Arial"/>
                        <a:ea typeface="Arial"/>
                        <a:cs typeface="Arial"/>
                        <a:sym typeface="Arial"/>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highlight>
                            <a:srgbClr val="FFFF00"/>
                          </a:highlight>
                          <a:latin typeface="Arial"/>
                          <a:ea typeface="Arial"/>
                          <a:cs typeface="Arial"/>
                          <a:sym typeface="Arial"/>
                        </a:rPr>
                        <a:t>​Identificación de recurrencias / patrones de </a:t>
                      </a:r>
                      <a:r>
                        <a:rPr b="1" lang="es-MX" sz="1050">
                          <a:solidFill>
                            <a:schemeClr val="dk1"/>
                          </a:solidFill>
                          <a:highlight>
                            <a:srgbClr val="FFFF00"/>
                          </a:highlight>
                          <a:latin typeface="Arial"/>
                          <a:ea typeface="Arial"/>
                          <a:cs typeface="Arial"/>
                          <a:sym typeface="Arial"/>
                        </a:rPr>
                        <a:t>monitoreo del comportamiento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highlight>
                            <a:srgbClr val="FFFF00"/>
                          </a:highlight>
                          <a:latin typeface="Arial"/>
                          <a:ea typeface="Arial"/>
                          <a:cs typeface="Arial"/>
                          <a:sym typeface="Arial"/>
                        </a:rPr>
                        <a:t>Análisis y ​traducción de la “voz del cliente” e interpretación de resultados que fortalezcan la satisfacción y CX</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highlight>
                            <a:srgbClr val="FFFF00"/>
                          </a:highlight>
                          <a:latin typeface="Arial"/>
                          <a:ea typeface="Arial"/>
                          <a:cs typeface="Arial"/>
                          <a:sym typeface="Arial"/>
                        </a:rPr>
                        <a:t>Generación de accionables que atiendan la voz del cliente</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highlight>
                            <a:srgbClr val="FFFF00"/>
                          </a:highlight>
                          <a:latin typeface="Arial"/>
                          <a:ea typeface="Arial"/>
                          <a:cs typeface="Arial"/>
                          <a:sym typeface="Arial"/>
                        </a:rPr>
                        <a:t>​Alineación de iniciativas basadas en hallazgos de retroalimentación del cliente</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highlight>
                            <a:srgbClr val="FFFF00"/>
                          </a:highlight>
                          <a:latin typeface="Arial"/>
                          <a:ea typeface="Arial"/>
                          <a:cs typeface="Arial"/>
                          <a:sym typeface="Arial"/>
                        </a:rPr>
                        <a:t>Pruebas y despliegue de iniciativas o cambios a procesos por retroalimentación de cliente</a:t>
                      </a:r>
                      <a:endParaRPr sz="1050">
                        <a:solidFill>
                          <a:schemeClr val="dk1"/>
                        </a:solidFill>
                        <a:highlight>
                          <a:srgbClr val="FFFF00"/>
                        </a:highlight>
                        <a:latin typeface="Arial"/>
                        <a:ea typeface="Arial"/>
                        <a:cs typeface="Arial"/>
                        <a:sym typeface="Arial"/>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highlight>
                            <a:srgbClr val="FFFF00"/>
                          </a:highlight>
                          <a:latin typeface="Arial"/>
                          <a:ea typeface="Arial"/>
                          <a:cs typeface="Arial"/>
                          <a:sym typeface="Arial"/>
                        </a:rPr>
                        <a:t>​Monitoreo de adopción y desempeño de cambios derivados de retroalimentación de cliente</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667" name="Google Shape;667;p48"/>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a:t>
            </a:r>
            <a:endParaRPr/>
          </a:p>
        </p:txBody>
      </p:sp>
      <p:sp>
        <p:nvSpPr>
          <p:cNvPr id="668" name="Google Shape;668;p48"/>
          <p:cNvSpPr/>
          <p:nvPr/>
        </p:nvSpPr>
        <p:spPr>
          <a:xfrm>
            <a:off x="394585" y="19332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2</a:t>
            </a:r>
            <a:endParaRPr/>
          </a:p>
        </p:txBody>
      </p:sp>
      <p:sp>
        <p:nvSpPr>
          <p:cNvPr id="669" name="Google Shape;669;p48"/>
          <p:cNvSpPr/>
          <p:nvPr/>
        </p:nvSpPr>
        <p:spPr>
          <a:xfrm>
            <a:off x="394585" y="24797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3</a:t>
            </a:r>
            <a:endParaRPr/>
          </a:p>
        </p:txBody>
      </p:sp>
      <p:sp>
        <p:nvSpPr>
          <p:cNvPr id="670" name="Google Shape;670;p48"/>
          <p:cNvSpPr/>
          <p:nvPr/>
        </p:nvSpPr>
        <p:spPr>
          <a:xfrm>
            <a:off x="394585" y="30263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4</a:t>
            </a:r>
            <a:endParaRPr/>
          </a:p>
        </p:txBody>
      </p:sp>
      <p:sp>
        <p:nvSpPr>
          <p:cNvPr id="671" name="Google Shape;671;p48"/>
          <p:cNvSpPr/>
          <p:nvPr/>
        </p:nvSpPr>
        <p:spPr>
          <a:xfrm>
            <a:off x="394585" y="35728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5</a:t>
            </a:r>
            <a:endParaRPr/>
          </a:p>
        </p:txBody>
      </p:sp>
      <p:sp>
        <p:nvSpPr>
          <p:cNvPr id="672" name="Google Shape;672;p48"/>
          <p:cNvSpPr/>
          <p:nvPr/>
        </p:nvSpPr>
        <p:spPr>
          <a:xfrm>
            <a:off x="394585" y="41194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6</a:t>
            </a:r>
            <a:endParaRPr/>
          </a:p>
        </p:txBody>
      </p:sp>
      <p:sp>
        <p:nvSpPr>
          <p:cNvPr id="673" name="Google Shape;673;p48"/>
          <p:cNvSpPr/>
          <p:nvPr/>
        </p:nvSpPr>
        <p:spPr>
          <a:xfrm>
            <a:off x="394585" y="46659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7</a:t>
            </a:r>
            <a:endParaRPr/>
          </a:p>
        </p:txBody>
      </p:sp>
      <p:sp>
        <p:nvSpPr>
          <p:cNvPr id="674" name="Google Shape;674;p48"/>
          <p:cNvSpPr/>
          <p:nvPr/>
        </p:nvSpPr>
        <p:spPr>
          <a:xfrm>
            <a:off x="394585" y="5212529"/>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8</a:t>
            </a:r>
            <a:endParaRPr/>
          </a:p>
        </p:txBody>
      </p:sp>
      <p:sp>
        <p:nvSpPr>
          <p:cNvPr id="675" name="Google Shape;675;p48"/>
          <p:cNvSpPr txBox="1"/>
          <p:nvPr/>
        </p:nvSpPr>
        <p:spPr>
          <a:xfrm>
            <a:off x="629612" y="5801329"/>
            <a:ext cx="8630889"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100"/>
              <a:buFont typeface="Open Sans"/>
              <a:buNone/>
            </a:pPr>
            <a:r>
              <a:rPr i="1" lang="es-MX" sz="1100">
                <a:solidFill>
                  <a:schemeClr val="dk1"/>
                </a:solidFill>
                <a:latin typeface="Open Sans"/>
                <a:ea typeface="Open Sans"/>
                <a:cs typeface="Open Sans"/>
                <a:sym typeface="Open Sans"/>
              </a:rPr>
              <a:t>*Cada función será Responsable y Accountable de generar accionables que atiendan la voz del cliente desde su área de responsabilidad</a:t>
            </a:r>
            <a:endParaRPr i="1" sz="1100">
              <a:solidFill>
                <a:schemeClr val="dk1"/>
              </a:solidFill>
              <a:latin typeface="Open Sans"/>
              <a:ea typeface="Open Sans"/>
              <a:cs typeface="Open Sans"/>
              <a:sym typeface="Open Sans"/>
            </a:endParaRPr>
          </a:p>
        </p:txBody>
      </p:sp>
      <p:sp>
        <p:nvSpPr>
          <p:cNvPr id="676" name="Google Shape;676;p48"/>
          <p:cNvSpPr txBox="1"/>
          <p:nvPr/>
        </p:nvSpPr>
        <p:spPr>
          <a:xfrm>
            <a:off x="5227012" y="424054"/>
            <a:ext cx="173797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400"/>
              <a:buFont typeface="Open Sans"/>
              <a:buNone/>
            </a:pPr>
            <a:r>
              <a:rPr i="1" lang="es-MX" sz="1400">
                <a:solidFill>
                  <a:schemeClr val="dk1"/>
                </a:solidFill>
                <a:latin typeface="Open Sans"/>
                <a:ea typeface="Open Sans"/>
                <a:cs typeface="Open Sans"/>
                <a:sym typeface="Open Sans"/>
              </a:rPr>
              <a:t>Cambia punto 1 y 2</a:t>
            </a:r>
            <a:endParaRPr i="1" sz="1400">
              <a:solidFill>
                <a:schemeClr val="dk1"/>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49"/>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Voz del Cliente</a:t>
            </a:r>
            <a:endParaRPr/>
          </a:p>
        </p:txBody>
      </p:sp>
      <p:sp>
        <p:nvSpPr>
          <p:cNvPr id="683" name="Google Shape;683;p49"/>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684" name="Google Shape;684;p49"/>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517225"/>
                <a:gridCol w="517225"/>
                <a:gridCol w="1034475"/>
                <a:gridCol w="1034475"/>
                <a:gridCol w="1034475"/>
                <a:gridCol w="1034475"/>
                <a:gridCol w="874400"/>
                <a:gridCol w="10576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Customer y Marketing</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Despliegue Operativo</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Procesos CdS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​Institucionalización, determinación y gestión de mecanismos de diagnóstico, monitoreo y aprendizaje </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r>
            </a:tbl>
          </a:graphicData>
        </a:graphic>
      </p:graphicFrame>
      <p:sp>
        <p:nvSpPr>
          <p:cNvPr id="685" name="Google Shape;685;p49"/>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a:t>
            </a:r>
            <a:endParaRPr/>
          </a:p>
        </p:txBody>
      </p:sp>
      <p:sp>
        <p:nvSpPr>
          <p:cNvPr id="686" name="Google Shape;686;p49"/>
          <p:cNvSpPr/>
          <p:nvPr/>
        </p:nvSpPr>
        <p:spPr>
          <a:xfrm>
            <a:off x="1668982" y="5287871"/>
            <a:ext cx="9979679" cy="1475238"/>
          </a:xfrm>
          <a:prstGeom prst="rect">
            <a:avLst/>
          </a:prstGeom>
          <a:solidFill>
            <a:srgbClr val="FFFFFF"/>
          </a:solidFill>
          <a:ln cap="rnd" cmpd="sng" w="19050">
            <a:solidFill>
              <a:srgbClr val="BFBFBF"/>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Se mantiene informado sobre los mecanismos definidos y los principales hallazgos, para integrarlos en la estrategia comercial, usa la información generada para ajustar planes por categoría, precios y promociones, no diseña los mecanismos, pero requiere visibilidad de resultados para la toma de decisiones.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(Regiones / Plazas): </a:t>
            </a:r>
            <a:r>
              <a:rPr lang="es-MX" sz="1000">
                <a:solidFill>
                  <a:schemeClr val="dk1"/>
                </a:solidFill>
                <a:latin typeface="Open Sans"/>
                <a:ea typeface="Open Sans"/>
                <a:cs typeface="Open Sans"/>
                <a:sym typeface="Open Sans"/>
              </a:rPr>
              <a:t>Requiere conocer los mecanismos y sus resultados para gestionar mejor a las tiendas de su región, usa los hallazgos para dirigir foco, coaching y prioridades operativas en las plazas y no diseña los mecanismos, pero se apalanca de ellos para mejorar la operación.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Se mantiene informada sobre los indicadores y aprendizajes que puedan tener impacto económico, utiliza la información de monitoreo para contextualizar variaciones en ingresos, costos o rentabilidad, no participa en el diseño, pero incorpora hallazgos clave en sus análisis y modelos.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Necesita visibilidad de los mecanismos y de los insights generados para alimentar el portafolio de transformación, usa los aprendizajes como insumo para priorizar proyectos y cambios estructurales, asegura que la agenda estratégica se base en evidencia proveniente del diagnóstico y monitoreo.</a:t>
            </a:r>
            <a:endParaRPr/>
          </a:p>
        </p:txBody>
      </p:sp>
      <p:sp>
        <p:nvSpPr>
          <p:cNvPr id="687" name="Google Shape;687;p49"/>
          <p:cNvSpPr/>
          <p:nvPr/>
        </p:nvSpPr>
        <p:spPr>
          <a:xfrm>
            <a:off x="1668983" y="1938403"/>
            <a:ext cx="9979679" cy="1244266"/>
          </a:xfrm>
          <a:prstGeom prst="rect">
            <a:avLst/>
          </a:prstGeom>
          <a:solidFill>
            <a:srgbClr val="FFFFFF"/>
          </a:solidFill>
          <a:ln cap="rnd" cmpd="sng" w="19050">
            <a:solidFill>
              <a:srgbClr val="AEE2D5"/>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Es dueña de asegurar que existan mecanismos formales, robustos y sostenibles de diagnóstico, monitoreo y aprendizaje, responde por la calidad, consistencia y uso de estos mecanismos a nivel organizacional, diseña, implementa y administra los procesos, indicadores y rutinas de seguimiento, integra información de cliente, operación y negocio en tableros y reportes de monitoreo, lidera los espacios de revisión y aprendizaje, coordinando a las áreas participantes.</a:t>
            </a:r>
            <a:endParaRPr/>
          </a:p>
        </p:txBody>
      </p:sp>
      <p:sp>
        <p:nvSpPr>
          <p:cNvPr id="688" name="Google Shape;688;p49"/>
          <p:cNvSpPr/>
          <p:nvPr/>
        </p:nvSpPr>
        <p:spPr>
          <a:xfrm>
            <a:off x="1668982" y="3885305"/>
            <a:ext cx="9979679" cy="1284681"/>
          </a:xfrm>
          <a:prstGeom prst="rect">
            <a:avLst/>
          </a:prstGeom>
          <a:solidFill>
            <a:srgbClr val="FFFFFF"/>
          </a:solidFill>
          <a:ln cap="rnd" cmpd="sng" w="19050">
            <a:solidFill>
              <a:srgbClr val="BDD7E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Despliegue Operativo: </a:t>
            </a:r>
            <a:r>
              <a:rPr lang="es-MX" sz="1000">
                <a:solidFill>
                  <a:schemeClr val="dk1"/>
                </a:solidFill>
                <a:latin typeface="Open Sans"/>
                <a:ea typeface="Open Sans"/>
                <a:cs typeface="Open Sans"/>
                <a:sym typeface="Open Sans"/>
              </a:rPr>
              <a:t>Aporta viabilidad y visión de campo sobre cómo aterrizar los mecanismos en tienda y operación diaria, define, junto con Excelencia Operativa, la forma de capturar datos y evidencias en el punto de venta, retroalimenta sobre el esfuerzo operativo requerido y posibles ajustes para asegurar adopción.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Procesos CdS: </a:t>
            </a:r>
            <a:r>
              <a:rPr lang="es-MX" sz="1000">
                <a:solidFill>
                  <a:schemeClr val="dk1"/>
                </a:solidFill>
                <a:latin typeface="Open Sans"/>
                <a:ea typeface="Open Sans"/>
                <a:cs typeface="Open Sans"/>
                <a:sym typeface="Open Sans"/>
              </a:rPr>
              <a:t>Contribuye con indicadores y procesos de cadena de suministro que deben incluirse en el diagnóstico y monitoreo, informa sobre eventos logísticos (quiebres, mermas, tiempos, servicio) que alimentan los mecanismos de aprendizaje, ayuda a asegurar que la visión end-to-end del cliente considere también la CdS.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Define capacidades tecnológicas requeridas para habilitar plataformas, integraciones y automatizaciones de monitoreo, aporta criterios sobre arquitectura de datos, canales y herramientas para capturar y procesar información, es consultado para garantizar que los mecanismos sean tecnológicamente viables, escalables y seguros.</a:t>
            </a:r>
            <a:endParaRPr/>
          </a:p>
        </p:txBody>
      </p:sp>
      <p:sp>
        <p:nvSpPr>
          <p:cNvPr id="689" name="Google Shape;689;p49"/>
          <p:cNvSpPr/>
          <p:nvPr/>
        </p:nvSpPr>
        <p:spPr>
          <a:xfrm>
            <a:off x="1668983" y="3236341"/>
            <a:ext cx="9979679" cy="595292"/>
          </a:xfrm>
          <a:prstGeom prst="rect">
            <a:avLst/>
          </a:prstGeom>
          <a:solidFill>
            <a:srgbClr val="FFFFFF"/>
          </a:solidFill>
          <a:ln cap="rnd" cmpd="sng" w="19050">
            <a:solidFill>
              <a:srgbClr val="E7A1A8"/>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Aporta </a:t>
            </a:r>
            <a:r>
              <a:rPr i="1" lang="es-MX" sz="1000">
                <a:solidFill>
                  <a:schemeClr val="dk1"/>
                </a:solidFill>
                <a:latin typeface="Open Sans"/>
                <a:ea typeface="Open Sans"/>
                <a:cs typeface="Open Sans"/>
                <a:sym typeface="Open Sans"/>
              </a:rPr>
              <a:t>insights</a:t>
            </a:r>
            <a:r>
              <a:rPr lang="es-MX" sz="1000">
                <a:solidFill>
                  <a:schemeClr val="dk1"/>
                </a:solidFill>
                <a:latin typeface="Open Sans"/>
                <a:ea typeface="Open Sans"/>
                <a:cs typeface="Open Sans"/>
                <a:sym typeface="Open Sans"/>
              </a:rPr>
              <a:t> de cliente, NPS, encuestas y estudios que nutren el diseño de los mecanismos de diagnóstico, Provee metodologías de escucha de cliente y herramientas de VOC que fortalecen el monitoreo continuo y colabora en la interpretación de hallazgos para convertirlos en aprendizajes sobre comportamiento y percepción.</a:t>
            </a:r>
            <a:endParaRPr/>
          </a:p>
        </p:txBody>
      </p:sp>
      <p:sp>
        <p:nvSpPr>
          <p:cNvPr id="690" name="Google Shape;690;p49"/>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691" name="Google Shape;691;p49"/>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692" name="Google Shape;692;p49"/>
          <p:cNvSpPr/>
          <p:nvPr/>
        </p:nvSpPr>
        <p:spPr>
          <a:xfrm>
            <a:off x="470554" y="3236341"/>
            <a:ext cx="1110263" cy="595292"/>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693" name="Google Shape;693;p49"/>
          <p:cNvSpPr/>
          <p:nvPr/>
        </p:nvSpPr>
        <p:spPr>
          <a:xfrm>
            <a:off x="470554" y="5287870"/>
            <a:ext cx="1110263" cy="144475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694" name="Google Shape;694;p49"/>
          <p:cNvSpPr/>
          <p:nvPr/>
        </p:nvSpPr>
        <p:spPr>
          <a:xfrm>
            <a:off x="470554" y="3885305"/>
            <a:ext cx="1110263" cy="1284681"/>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50"/>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Voz del Cliente</a:t>
            </a:r>
            <a:endParaRPr/>
          </a:p>
        </p:txBody>
      </p:sp>
      <p:sp>
        <p:nvSpPr>
          <p:cNvPr id="700" name="Google Shape;700;p50"/>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701" name="Google Shape;701;p50"/>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2</a:t>
            </a:r>
            <a:endParaRPr/>
          </a:p>
        </p:txBody>
      </p:sp>
      <p:graphicFrame>
        <p:nvGraphicFramePr>
          <p:cNvPr id="702" name="Google Shape;702;p50"/>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517225"/>
                <a:gridCol w="517225"/>
                <a:gridCol w="1034475"/>
                <a:gridCol w="1034475"/>
                <a:gridCol w="1034475"/>
                <a:gridCol w="1034475"/>
                <a:gridCol w="874400"/>
                <a:gridCol w="10576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Customer y Marketing</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Despliegue Operativo</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Procesos CdS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​Recopilación de retroalimentación del cliente</a:t>
                      </a:r>
                      <a:endParaRPr sz="1050">
                        <a:solidFill>
                          <a:schemeClr val="dk1"/>
                        </a:solidFill>
                        <a:latin typeface="Arial"/>
                        <a:ea typeface="Arial"/>
                        <a:cs typeface="Arial"/>
                        <a:sym typeface="Arial"/>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703" name="Google Shape;703;p50"/>
          <p:cNvSpPr/>
          <p:nvPr/>
        </p:nvSpPr>
        <p:spPr>
          <a:xfrm>
            <a:off x="1668982" y="5132598"/>
            <a:ext cx="9979679" cy="1475238"/>
          </a:xfrm>
          <a:prstGeom prst="rect">
            <a:avLst/>
          </a:prstGeom>
          <a:solidFill>
            <a:srgbClr val="FFFFFF"/>
          </a:solidFill>
          <a:ln cap="rnd" cmpd="sng" w="19050">
            <a:solidFill>
              <a:srgbClr val="BFBFBF"/>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Se mantiene informado de la retroalimentación recopilada para ajustar planes comerciales, precios y promociones, utiliza los hallazgos como insumo para priorizar acciones por categoría y misión, sin liderar la captura.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Se informa de la retroalimentación para entender el contexto detrás de variaciones en ventas, márgenes o costos, usa ciertos hallazgos clave como insumo cualitativo en análisis financieros y de rentabilidad.</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Requiere conocer la voz del cliente recopilada para orientar el portafolio de proyectos y prioridades estratégicas, utiliza la retroalimentación como evidencia para justificar cambios estructurales o nuevas iniciativas.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Se mantiene informado de las necesidades y fuentes de feedback para planear futuras capacidades tecnológicas (apps, CRM, plataformas VOC), usa esta información para priorizar desarrollos o integraciones que faciliten la captura y gestión de la retroalimentación.</a:t>
            </a:r>
            <a:endParaRPr/>
          </a:p>
        </p:txBody>
      </p:sp>
      <p:sp>
        <p:nvSpPr>
          <p:cNvPr id="704" name="Google Shape;704;p50"/>
          <p:cNvSpPr/>
          <p:nvPr/>
        </p:nvSpPr>
        <p:spPr>
          <a:xfrm>
            <a:off x="1668983" y="1938403"/>
            <a:ext cx="9979679" cy="1244266"/>
          </a:xfrm>
          <a:prstGeom prst="rect">
            <a:avLst/>
          </a:prstGeom>
          <a:solidFill>
            <a:srgbClr val="FFFFFF"/>
          </a:solidFill>
          <a:ln cap="rnd" cmpd="sng" w="19050">
            <a:solidFill>
              <a:srgbClr val="AEE2D5"/>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Es responsable de que exista un proceso estándar, confiable y disciplinado para recopilar la voz del cliente, garantiza que la retroalimentación se capture de forma sistemática en toda la organización. Define el modelo integral de recopilación (fuentes, canales, frecuencia, responsables), coordina a áreas de front y back para asegurar que la retroalimentación se registre y centralice correctamente, supervisa la calidad de la información recopilada y su disponibilidad para análisis posteriores.</a:t>
            </a:r>
            <a:endParaRPr/>
          </a:p>
        </p:txBody>
      </p:sp>
      <p:sp>
        <p:nvSpPr>
          <p:cNvPr id="705" name="Google Shape;705;p50"/>
          <p:cNvSpPr/>
          <p:nvPr/>
        </p:nvSpPr>
        <p:spPr>
          <a:xfrm>
            <a:off x="1668982" y="4382219"/>
            <a:ext cx="9979679" cy="651585"/>
          </a:xfrm>
          <a:prstGeom prst="rect">
            <a:avLst/>
          </a:prstGeom>
          <a:solidFill>
            <a:srgbClr val="FFFFFF"/>
          </a:solidFill>
          <a:ln cap="rnd" cmpd="sng" w="19050">
            <a:solidFill>
              <a:srgbClr val="BDD7EE"/>
            </a:solidFill>
            <a:prstDash val="solid"/>
            <a:round/>
            <a:headEnd len="sm" w="sm" type="none"/>
            <a:tailEnd len="sm" w="sm" type="none"/>
          </a:ln>
        </p:spPr>
        <p:txBody>
          <a:bodyPr anchorCtr="1" anchor="ctr" bIns="45700" lIns="91425" spcFirstLastPara="1" rIns="91425" wrap="square" tIns="45700">
            <a:noAutofit/>
          </a:bodyPr>
          <a:lstStyle/>
          <a:p>
            <a:pPr indent="0" lvl="1" marL="457200" marR="0" rtl="0" algn="l">
              <a:spcBef>
                <a:spcPts val="0"/>
              </a:spcBef>
              <a:spcAft>
                <a:spcPts val="0"/>
              </a:spcAft>
              <a:buNone/>
            </a:pPr>
            <a:r>
              <a:rPr b="1" i="0" lang="es-MX" sz="1000" u="none" cap="none" strike="noStrike">
                <a:solidFill>
                  <a:schemeClr val="dk1"/>
                </a:solidFill>
                <a:latin typeface="Open Sans"/>
                <a:ea typeface="Open Sans"/>
                <a:cs typeface="Open Sans"/>
                <a:sym typeface="Open Sans"/>
              </a:rPr>
              <a:t>Despliegue Operativo: </a:t>
            </a:r>
            <a:r>
              <a:rPr b="0" i="0" lang="es-MX" sz="1000" u="none" cap="none" strike="noStrike">
                <a:solidFill>
                  <a:schemeClr val="dk1"/>
                </a:solidFill>
                <a:latin typeface="Open Sans"/>
                <a:ea typeface="Open Sans"/>
                <a:cs typeface="Open Sans"/>
                <a:sym typeface="Open Sans"/>
              </a:rPr>
              <a:t>Aporta visión de campo sobre cómo integrar la captura de feedback en las rutinas de tienda sin afectar la operación, define, junto con Excelencia Operativa, la mejor manera de instruir a equipos para pedir y registrar retroalimentación.</a:t>
            </a:r>
            <a:endParaRPr/>
          </a:p>
        </p:txBody>
      </p:sp>
      <p:sp>
        <p:nvSpPr>
          <p:cNvPr id="706" name="Google Shape;706;p50"/>
          <p:cNvSpPr/>
          <p:nvPr/>
        </p:nvSpPr>
        <p:spPr>
          <a:xfrm>
            <a:off x="1668983" y="3236340"/>
            <a:ext cx="9979679" cy="1027993"/>
          </a:xfrm>
          <a:prstGeom prst="rect">
            <a:avLst/>
          </a:prstGeom>
          <a:solidFill>
            <a:srgbClr val="FFFFFF"/>
          </a:solidFill>
          <a:ln cap="rnd" cmpd="sng" w="19050">
            <a:solidFill>
              <a:srgbClr val="E7A1A8"/>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Aporta metodologías de captura y clasificación de la retroalimentación según segmentos y misiones de compra, da soporte en el análisis preliminar para distinguir entre </a:t>
            </a:r>
            <a:r>
              <a:rPr i="1" lang="es-MX" sz="1000">
                <a:solidFill>
                  <a:schemeClr val="dk1"/>
                </a:solidFill>
                <a:latin typeface="Open Sans"/>
                <a:ea typeface="Open Sans"/>
                <a:cs typeface="Open Sans"/>
                <a:sym typeface="Open Sans"/>
              </a:rPr>
              <a:t>insights</a:t>
            </a:r>
            <a:r>
              <a:rPr lang="es-MX" sz="1000">
                <a:solidFill>
                  <a:schemeClr val="dk1"/>
                </a:solidFill>
                <a:latin typeface="Open Sans"/>
                <a:ea typeface="Open Sans"/>
                <a:cs typeface="Open Sans"/>
                <a:sym typeface="Open Sans"/>
              </a:rPr>
              <a:t> puntuales y patrones relevantes.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Procesos CdS: </a:t>
            </a:r>
            <a:r>
              <a:rPr lang="es-MX" sz="1000">
                <a:solidFill>
                  <a:schemeClr val="dk1"/>
                </a:solidFill>
                <a:latin typeface="Open Sans"/>
                <a:ea typeface="Open Sans"/>
                <a:cs typeface="Open Sans"/>
                <a:sym typeface="Open Sans"/>
              </a:rPr>
              <a:t>Provee información de reclamaciones, tiempos de entrega y niveles de servicio que recogen la voz del cliente sobre la cadena, integra canales de retroalimentación relacionados con abasto (quejas por quiebres, devoluciones, calidad de producto).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(Regiones / Plazas): </a:t>
            </a:r>
            <a:r>
              <a:rPr lang="es-MX" sz="1000">
                <a:solidFill>
                  <a:schemeClr val="dk1"/>
                </a:solidFill>
                <a:latin typeface="Open Sans"/>
                <a:ea typeface="Open Sans"/>
                <a:cs typeface="Open Sans"/>
                <a:sym typeface="Open Sans"/>
              </a:rPr>
              <a:t>Facilita que los equipos de tienda capturen y transmitan la retroalimentación del cliente en el día a día, refuerza disciplina y cultura de escucha activa en las plazas, apoyando campañas específicas de recopilación.</a:t>
            </a:r>
            <a:endParaRPr/>
          </a:p>
        </p:txBody>
      </p:sp>
      <p:sp>
        <p:nvSpPr>
          <p:cNvPr id="707" name="Google Shape;707;p50"/>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708" name="Google Shape;708;p50"/>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709" name="Google Shape;709;p50"/>
          <p:cNvSpPr/>
          <p:nvPr/>
        </p:nvSpPr>
        <p:spPr>
          <a:xfrm>
            <a:off x="470554" y="3236340"/>
            <a:ext cx="1110263" cy="1027993"/>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710" name="Google Shape;710;p50"/>
          <p:cNvSpPr/>
          <p:nvPr/>
        </p:nvSpPr>
        <p:spPr>
          <a:xfrm>
            <a:off x="470554" y="5132597"/>
            <a:ext cx="1110263" cy="144475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711" name="Google Shape;711;p50"/>
          <p:cNvSpPr/>
          <p:nvPr/>
        </p:nvSpPr>
        <p:spPr>
          <a:xfrm>
            <a:off x="470554" y="4382219"/>
            <a:ext cx="1110263" cy="651585"/>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51"/>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Voz del Cliente</a:t>
            </a:r>
            <a:endParaRPr/>
          </a:p>
        </p:txBody>
      </p:sp>
      <p:sp>
        <p:nvSpPr>
          <p:cNvPr id="717" name="Google Shape;717;p51"/>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718" name="Google Shape;718;p51"/>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4</a:t>
            </a:r>
            <a:endParaRPr/>
          </a:p>
        </p:txBody>
      </p:sp>
      <p:graphicFrame>
        <p:nvGraphicFramePr>
          <p:cNvPr id="719" name="Google Shape;719;p51"/>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517225"/>
                <a:gridCol w="517225"/>
                <a:gridCol w="1034475"/>
                <a:gridCol w="1034475"/>
                <a:gridCol w="1034475"/>
                <a:gridCol w="1034475"/>
                <a:gridCol w="874400"/>
                <a:gridCol w="10576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Customer y Marketing</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Despliegue Operativo</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Procesos CdS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​Identificación de recurrencias de puntos de dolor del cliente</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720" name="Google Shape;720;p51"/>
          <p:cNvSpPr/>
          <p:nvPr/>
        </p:nvSpPr>
        <p:spPr>
          <a:xfrm>
            <a:off x="1668982" y="4802949"/>
            <a:ext cx="9979679" cy="1430405"/>
          </a:xfrm>
          <a:prstGeom prst="rect">
            <a:avLst/>
          </a:prstGeom>
          <a:solidFill>
            <a:srgbClr val="FFFFFF"/>
          </a:solidFill>
          <a:ln cap="rnd" cmpd="sng" w="19050">
            <a:solidFill>
              <a:srgbClr val="BFBFBF"/>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Se mantiene informado de los puntos de dolor recurrentes para ajustar planes comerciales por categoría y misión y usa la información para priorizar acciones comerciales en aquellas categorías con mayores fricciones de cliente.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Se informa de los puntos de dolor recurrentes para dimensionar su impacto potencial en ventas, costos y rentabilidad, usa los hallazgos como contexto para explicar variaciones de desempeño económico.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Requiere visibilidad de las recurrencias para incorporarlas al portafolio de proyectos estratégicos, utiliza la información para enfocar iniciativas de transformación donde los puntos de dolor son más críticos.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Se mantiene informado para identificar necesidades de mejora tecnológica que atiendan puntos de dolor recurrentes, usa los hallazgos para priorizar automatizaciones, integraciones o nuevas capacidades digitales.</a:t>
            </a:r>
            <a:endParaRPr/>
          </a:p>
        </p:txBody>
      </p:sp>
      <p:sp>
        <p:nvSpPr>
          <p:cNvPr id="721" name="Google Shape;721;p51"/>
          <p:cNvSpPr/>
          <p:nvPr/>
        </p:nvSpPr>
        <p:spPr>
          <a:xfrm>
            <a:off x="1668983" y="1938403"/>
            <a:ext cx="9979679" cy="1244266"/>
          </a:xfrm>
          <a:prstGeom prst="rect">
            <a:avLst/>
          </a:prstGeom>
          <a:solidFill>
            <a:srgbClr val="FFFFFF"/>
          </a:solidFill>
          <a:ln cap="rnd" cmpd="sng" w="19050">
            <a:solidFill>
              <a:srgbClr val="AEE2D5"/>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Es dueña del marco metodológico para identificar recurrencias: criterios, cortes de análisis y gobernanza, garantiza que el proceso de identificación sea sistemático y se utilice como insumo formal para la mejora continua. Integra datos de VOC, operación y negocio para detectar patrones y causas raíz de los puntos de dolor, genera reportes y tableros que muestran recurrencias por segmento, formato, proceso o región y coordina a las áreas involucradas para validar hallazgos y preparar propuestas de acción.</a:t>
            </a:r>
            <a:endParaRPr/>
          </a:p>
        </p:txBody>
      </p:sp>
      <p:sp>
        <p:nvSpPr>
          <p:cNvPr id="722" name="Google Shape;722;p51"/>
          <p:cNvSpPr/>
          <p:nvPr/>
        </p:nvSpPr>
        <p:spPr>
          <a:xfrm>
            <a:off x="1668982" y="3774127"/>
            <a:ext cx="9979679" cy="998560"/>
          </a:xfrm>
          <a:prstGeom prst="rect">
            <a:avLst/>
          </a:prstGeom>
          <a:solidFill>
            <a:srgbClr val="FFFFFF"/>
          </a:solidFill>
          <a:ln cap="rnd" cmpd="sng" w="19050">
            <a:solidFill>
              <a:srgbClr val="BDD7E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Despliegue Operativo: </a:t>
            </a:r>
            <a:r>
              <a:rPr lang="es-MX" sz="1000">
                <a:solidFill>
                  <a:schemeClr val="dk1"/>
                </a:solidFill>
                <a:latin typeface="Open Sans"/>
                <a:ea typeface="Open Sans"/>
                <a:cs typeface="Open Sans"/>
                <a:sym typeface="Open Sans"/>
              </a:rPr>
              <a:t>Aporta evidencia de campo sobre qué problemas se repiten en tienda y cómo se manifiestan en la operación diaria, valida la interpretación de los hallazgos, precisando dónde y cómo se originan los puntos de dolor.</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Procesos CdS: </a:t>
            </a:r>
            <a:r>
              <a:rPr lang="es-MX" sz="1000">
                <a:solidFill>
                  <a:schemeClr val="dk1"/>
                </a:solidFill>
                <a:latin typeface="Open Sans"/>
                <a:ea typeface="Open Sans"/>
                <a:cs typeface="Open Sans"/>
                <a:sym typeface="Open Sans"/>
              </a:rPr>
              <a:t>Entrega información de incidencias logísticas (quiebres, mermas, tiempos de entrega) que se traducen en recurrencias de insatisfacción, ayuda a identificar si los puntos de dolor están ligados a procesos de abasto o servicio de la cadena.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(Regiones / Plazas): </a:t>
            </a:r>
            <a:r>
              <a:rPr lang="es-MX" sz="1000">
                <a:solidFill>
                  <a:schemeClr val="dk1"/>
                </a:solidFill>
                <a:latin typeface="Open Sans"/>
                <a:ea typeface="Open Sans"/>
                <a:cs typeface="Open Sans"/>
                <a:sym typeface="Open Sans"/>
              </a:rPr>
              <a:t>Comparte la visión regional de los problemas que se repiten en tiendas, diferenciando si son locales o sistémicos, retroalimenta la priorización de los puntos de dolor según su impacto en la operación y en el cliente.</a:t>
            </a:r>
            <a:endParaRPr/>
          </a:p>
        </p:txBody>
      </p:sp>
      <p:sp>
        <p:nvSpPr>
          <p:cNvPr id="723" name="Google Shape;723;p51"/>
          <p:cNvSpPr/>
          <p:nvPr/>
        </p:nvSpPr>
        <p:spPr>
          <a:xfrm>
            <a:off x="1668983" y="3236341"/>
            <a:ext cx="9979679" cy="507524"/>
          </a:xfrm>
          <a:prstGeom prst="rect">
            <a:avLst/>
          </a:prstGeom>
          <a:solidFill>
            <a:srgbClr val="FFFFFF"/>
          </a:solidFill>
          <a:ln cap="rnd" cmpd="sng" w="19050">
            <a:solidFill>
              <a:srgbClr val="E7A1A8"/>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Provee análisis que permiten detectar patrones de quejas o insatisfacción, aporta segmentaciones de cliente y misión que ayudan a identificar en qué perfiles se repiten los puntos de dolor y entrega herramientas de monitoreo de percepción (redes, VOC, etc.) que alimentan la identificación de recurrencias.</a:t>
            </a:r>
            <a:endParaRPr/>
          </a:p>
        </p:txBody>
      </p:sp>
      <p:sp>
        <p:nvSpPr>
          <p:cNvPr id="724" name="Google Shape;724;p51"/>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725" name="Google Shape;725;p51"/>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726" name="Google Shape;726;p51"/>
          <p:cNvSpPr/>
          <p:nvPr/>
        </p:nvSpPr>
        <p:spPr>
          <a:xfrm>
            <a:off x="470554" y="3236341"/>
            <a:ext cx="1110263" cy="507524"/>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727" name="Google Shape;727;p51"/>
          <p:cNvSpPr/>
          <p:nvPr/>
        </p:nvSpPr>
        <p:spPr>
          <a:xfrm>
            <a:off x="470554" y="4802949"/>
            <a:ext cx="1110263" cy="1430405"/>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728" name="Google Shape;728;p51"/>
          <p:cNvSpPr/>
          <p:nvPr/>
        </p:nvSpPr>
        <p:spPr>
          <a:xfrm>
            <a:off x="470554" y="3774127"/>
            <a:ext cx="1110263" cy="998560"/>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52"/>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Voz del Cliente</a:t>
            </a:r>
            <a:endParaRPr/>
          </a:p>
        </p:txBody>
      </p:sp>
      <p:sp>
        <p:nvSpPr>
          <p:cNvPr id="734" name="Google Shape;734;p52"/>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735" name="Google Shape;735;p52"/>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3</a:t>
            </a:r>
            <a:endParaRPr/>
          </a:p>
        </p:txBody>
      </p:sp>
      <p:graphicFrame>
        <p:nvGraphicFramePr>
          <p:cNvPr id="736" name="Google Shape;736;p52"/>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517225"/>
                <a:gridCol w="517225"/>
                <a:gridCol w="1034475"/>
                <a:gridCol w="1034475"/>
                <a:gridCol w="1034475"/>
                <a:gridCol w="1034475"/>
                <a:gridCol w="874400"/>
                <a:gridCol w="10576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Customer y Marketing</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Despliegue Operativo</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Procesos CdS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Análisis y ​traducción de la “voz del cliente” e interpretación de resultados que fortalezcan la satisfacción y CX</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737" name="Google Shape;737;p52"/>
          <p:cNvSpPr/>
          <p:nvPr/>
        </p:nvSpPr>
        <p:spPr>
          <a:xfrm>
            <a:off x="1668982" y="5132598"/>
            <a:ext cx="9979679" cy="1100756"/>
          </a:xfrm>
          <a:prstGeom prst="rect">
            <a:avLst/>
          </a:prstGeom>
          <a:solidFill>
            <a:srgbClr val="FFFFFF"/>
          </a:solidFill>
          <a:ln cap="rnd" cmpd="sng" w="19050">
            <a:solidFill>
              <a:srgbClr val="BFBFBF"/>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(Regiones / Plazas): </a:t>
            </a:r>
            <a:r>
              <a:rPr lang="es-MX" sz="1000">
                <a:solidFill>
                  <a:schemeClr val="dk1"/>
                </a:solidFill>
                <a:latin typeface="Open Sans"/>
                <a:ea typeface="Open Sans"/>
                <a:cs typeface="Open Sans"/>
                <a:sym typeface="Open Sans"/>
              </a:rPr>
              <a:t>Se mantiene informada sobre conclusiones y focos de mejora para orientar la gestión con tiendas, usa los hallazgos como guía para coaching, acompañamiento y priorización operativa en las plazas.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Requiere conocer los resultados para vincularlos con el portafolio de proyectos estratégicos, usa la interpretación de la voz del cliente como evidencia para impulsar cambios estructurales.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Se mantiene informada de los hallazgos para identificar necesidades tecnológicas que habiliten mejoras en CX y utiliza la información para priorizar desarrollos o integraciones en canales y sistemas de atención al cliente.</a:t>
            </a:r>
            <a:endParaRPr/>
          </a:p>
        </p:txBody>
      </p:sp>
      <p:sp>
        <p:nvSpPr>
          <p:cNvPr id="738" name="Google Shape;738;p52"/>
          <p:cNvSpPr/>
          <p:nvPr/>
        </p:nvSpPr>
        <p:spPr>
          <a:xfrm>
            <a:off x="1668983" y="1938403"/>
            <a:ext cx="9979679" cy="1244266"/>
          </a:xfrm>
          <a:prstGeom prst="rect">
            <a:avLst/>
          </a:prstGeom>
          <a:solidFill>
            <a:srgbClr val="FFFFFF"/>
          </a:solidFill>
          <a:ln cap="rnd" cmpd="sng" w="19050">
            <a:solidFill>
              <a:srgbClr val="AEE2D5"/>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Es responsable de que exista un marco estructurado para analizar y traducir la voz del cliente en oportunidades de CX, garantiza que los resultados se integren en rutinas formales de revisión y toma de decisiones y responde por la calidad del análisis y la claridad de las recomendaciones. Lidera el análisis cruzando información de cliente, operación y negocio para identificar causas raíz, traduce hallazgos en propuestas de mejora de procesos, estándares y experiencia y elabora reportes y narrativas ejecutivas que facilitan la decisión y la priorización</a:t>
            </a:r>
            <a:endParaRPr/>
          </a:p>
        </p:txBody>
      </p:sp>
      <p:sp>
        <p:nvSpPr>
          <p:cNvPr id="739" name="Google Shape;739;p52"/>
          <p:cNvSpPr/>
          <p:nvPr/>
        </p:nvSpPr>
        <p:spPr>
          <a:xfrm>
            <a:off x="1668982" y="4382219"/>
            <a:ext cx="9979679" cy="651585"/>
          </a:xfrm>
          <a:prstGeom prst="rect">
            <a:avLst/>
          </a:prstGeom>
          <a:solidFill>
            <a:srgbClr val="FFFFFF"/>
          </a:solidFill>
          <a:ln cap="rnd" cmpd="sng" w="19050">
            <a:solidFill>
              <a:srgbClr val="BDD7E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Despliegue Operativo: </a:t>
            </a:r>
            <a:r>
              <a:rPr lang="es-MX" sz="1000">
                <a:solidFill>
                  <a:schemeClr val="dk1"/>
                </a:solidFill>
                <a:latin typeface="Open Sans"/>
                <a:ea typeface="Open Sans"/>
                <a:cs typeface="Open Sans"/>
                <a:sym typeface="Open Sans"/>
              </a:rPr>
              <a:t>Entrega perspectiva sobre qué tan factibles son las mejoras propuestas en la operación diaria, aporta ejemplos y evidencia de campo que ayudan a interpretar correctamente las quejas o comentarios del cliente.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Procesos CdS: </a:t>
            </a:r>
            <a:r>
              <a:rPr lang="es-MX" sz="1000">
                <a:solidFill>
                  <a:schemeClr val="dk1"/>
                </a:solidFill>
                <a:latin typeface="Open Sans"/>
                <a:ea typeface="Open Sans"/>
                <a:cs typeface="Open Sans"/>
                <a:sym typeface="Open Sans"/>
              </a:rPr>
              <a:t>Contribuye con análisis de impacto de la cadena de suministro en los puntos de dolor detectados, ayuda a identificar si los problemas de CX provienen de abasto, tiempos de entrega o calidad logística.</a:t>
            </a:r>
            <a:endParaRPr/>
          </a:p>
        </p:txBody>
      </p:sp>
      <p:sp>
        <p:nvSpPr>
          <p:cNvPr id="740" name="Google Shape;740;p52"/>
          <p:cNvSpPr/>
          <p:nvPr/>
        </p:nvSpPr>
        <p:spPr>
          <a:xfrm>
            <a:off x="1668983" y="3236340"/>
            <a:ext cx="9979679" cy="1027993"/>
          </a:xfrm>
          <a:prstGeom prst="rect">
            <a:avLst/>
          </a:prstGeom>
          <a:solidFill>
            <a:srgbClr val="FFFFFF"/>
          </a:solidFill>
          <a:ln cap="rnd" cmpd="sng" w="19050">
            <a:solidFill>
              <a:srgbClr val="E7A1A8"/>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Aporta </a:t>
            </a:r>
            <a:r>
              <a:rPr i="1" lang="es-MX" sz="1000">
                <a:solidFill>
                  <a:schemeClr val="dk1"/>
                </a:solidFill>
                <a:latin typeface="Open Sans"/>
                <a:ea typeface="Open Sans"/>
                <a:cs typeface="Open Sans"/>
                <a:sym typeface="Open Sans"/>
              </a:rPr>
              <a:t>insights</a:t>
            </a:r>
            <a:r>
              <a:rPr lang="es-MX" sz="1000">
                <a:solidFill>
                  <a:schemeClr val="dk1"/>
                </a:solidFill>
                <a:latin typeface="Open Sans"/>
                <a:ea typeface="Open Sans"/>
                <a:cs typeface="Open Sans"/>
                <a:sym typeface="Open Sans"/>
              </a:rPr>
              <a:t> de consumidor, segmentaciones y benchmarks de CX para enriquecer el análisis, ayuda a traducir los hallazgos en implicaciones sobre percepción de marca, lealtad y misiones de compra, colabora en identificar qué palancas de experiencia (comunicación, servicios, propuesta de valor) deben ajustarse.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Entrega contexto comercial (planes por categoría, precios, promociones) para interpretar resultados desde el negocio, ayuda a vincular la voz del cliente con oportunidades comerciales concretas y participa en la priorización de hallazgos según impacto en ventas y rentabilidad.</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Aporta cuantificación económica de los hallazgos (impacto en ventas, margen, costos de servicio), ayuda a priorizar oportunidades de mejora según su potencial de valor para el negocio.</a:t>
            </a:r>
            <a:endParaRPr/>
          </a:p>
        </p:txBody>
      </p:sp>
      <p:sp>
        <p:nvSpPr>
          <p:cNvPr id="741" name="Google Shape;741;p52"/>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742" name="Google Shape;742;p52"/>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743" name="Google Shape;743;p52"/>
          <p:cNvSpPr/>
          <p:nvPr/>
        </p:nvSpPr>
        <p:spPr>
          <a:xfrm>
            <a:off x="470554" y="3236340"/>
            <a:ext cx="1110263" cy="1027993"/>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744" name="Google Shape;744;p52"/>
          <p:cNvSpPr/>
          <p:nvPr/>
        </p:nvSpPr>
        <p:spPr>
          <a:xfrm>
            <a:off x="470554" y="5132598"/>
            <a:ext cx="1110263" cy="1100756"/>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745" name="Google Shape;745;p52"/>
          <p:cNvSpPr/>
          <p:nvPr/>
        </p:nvSpPr>
        <p:spPr>
          <a:xfrm>
            <a:off x="470554" y="4382219"/>
            <a:ext cx="1110263" cy="651585"/>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53"/>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Voz del Cliente</a:t>
            </a:r>
            <a:endParaRPr/>
          </a:p>
        </p:txBody>
      </p:sp>
      <p:sp>
        <p:nvSpPr>
          <p:cNvPr id="751" name="Google Shape;751;p53"/>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752" name="Google Shape;752;p53"/>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5</a:t>
            </a:r>
            <a:endParaRPr b="0" i="0" sz="1152" u="none" cap="none" strike="noStrike">
              <a:solidFill>
                <a:srgbClr val="FFFFFF"/>
              </a:solidFill>
              <a:latin typeface="Arial"/>
              <a:ea typeface="Arial"/>
              <a:cs typeface="Arial"/>
              <a:sym typeface="Arial"/>
            </a:endParaRPr>
          </a:p>
        </p:txBody>
      </p:sp>
      <p:graphicFrame>
        <p:nvGraphicFramePr>
          <p:cNvPr id="753" name="Google Shape;753;p53"/>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1034475"/>
                <a:gridCol w="874400"/>
                <a:gridCol w="10576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Customer y Marketing</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Despliegue Operativo</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Procesos CdS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Generación de accionables que atiendan la voz del cliente</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r>
            </a:tbl>
          </a:graphicData>
        </a:graphic>
      </p:graphicFrame>
      <p:sp>
        <p:nvSpPr>
          <p:cNvPr id="754" name="Google Shape;754;p53"/>
          <p:cNvSpPr txBox="1"/>
          <p:nvPr/>
        </p:nvSpPr>
        <p:spPr>
          <a:xfrm>
            <a:off x="629612" y="1824197"/>
            <a:ext cx="8630889"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100"/>
              <a:buFont typeface="Open Sans"/>
              <a:buNone/>
            </a:pPr>
            <a:r>
              <a:rPr i="1" lang="es-MX" sz="1100">
                <a:solidFill>
                  <a:schemeClr val="dk1"/>
                </a:solidFill>
                <a:latin typeface="Open Sans"/>
                <a:ea typeface="Open Sans"/>
                <a:cs typeface="Open Sans"/>
                <a:sym typeface="Open Sans"/>
              </a:rPr>
              <a:t>*Cada función será Responsable y Accountable de generar accionables que atiendan la voz del cliente desde su área de responsabilidad</a:t>
            </a:r>
            <a:endParaRPr i="1" sz="1100">
              <a:solidFill>
                <a:schemeClr val="dk1"/>
              </a:solidFill>
              <a:latin typeface="Open Sans"/>
              <a:ea typeface="Open Sans"/>
              <a:cs typeface="Open Sans"/>
              <a:sym typeface="Open Sans"/>
            </a:endParaRPr>
          </a:p>
        </p:txBody>
      </p:sp>
      <p:sp>
        <p:nvSpPr>
          <p:cNvPr id="755" name="Google Shape;755;p53"/>
          <p:cNvSpPr/>
          <p:nvPr/>
        </p:nvSpPr>
        <p:spPr>
          <a:xfrm>
            <a:off x="1668982" y="5440335"/>
            <a:ext cx="9979679" cy="1077692"/>
          </a:xfrm>
          <a:prstGeom prst="rect">
            <a:avLst/>
          </a:prstGeom>
          <a:solidFill>
            <a:srgbClr val="FFFFFF"/>
          </a:solidFill>
          <a:ln cap="rnd" cmpd="sng" w="19050">
            <a:solidFill>
              <a:srgbClr val="BFBFBF"/>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Se mantiene informado de los accionables definidos para alinear campañas, mensajes y tácticas de CX, usa la lista de acciones como insumo para reforzar la propuesta de valor y comunicaciones al cliente.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Despliegue Operativo: </a:t>
            </a:r>
            <a:r>
              <a:rPr lang="es-MX" sz="1000">
                <a:solidFill>
                  <a:schemeClr val="dk1"/>
                </a:solidFill>
                <a:latin typeface="Open Sans"/>
                <a:ea typeface="Open Sans"/>
                <a:cs typeface="Open Sans"/>
                <a:sym typeface="Open Sans"/>
              </a:rPr>
              <a:t>Se informa de los accionables aprobados para planear su despliegue en tienda y en la operación diaria, usa esta visibilidad para preparar materiales, comunicaciones y acompañamiento a las tiendas.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(Regiones / Plazas): </a:t>
            </a:r>
            <a:r>
              <a:rPr lang="es-MX" sz="1000">
                <a:solidFill>
                  <a:schemeClr val="dk1"/>
                </a:solidFill>
                <a:latin typeface="Open Sans"/>
                <a:ea typeface="Open Sans"/>
                <a:cs typeface="Open Sans"/>
                <a:sym typeface="Open Sans"/>
              </a:rPr>
              <a:t>Se mantiene informada de las acciones definidas para poder organizar su futura implementación en campo, utiliza la lista de accionables como guía para preparar a los equipos de tienda.</a:t>
            </a:r>
            <a:endParaRPr/>
          </a:p>
        </p:txBody>
      </p:sp>
      <p:sp>
        <p:nvSpPr>
          <p:cNvPr id="756" name="Google Shape;756;p53"/>
          <p:cNvSpPr/>
          <p:nvPr/>
        </p:nvSpPr>
        <p:spPr>
          <a:xfrm>
            <a:off x="1668983" y="2223076"/>
            <a:ext cx="9979679" cy="1244266"/>
          </a:xfrm>
          <a:prstGeom prst="rect">
            <a:avLst/>
          </a:prstGeom>
          <a:solidFill>
            <a:srgbClr val="FFFFFF"/>
          </a:solidFill>
          <a:ln cap="rnd" cmpd="sng" w="19050">
            <a:solidFill>
              <a:srgbClr val="AEE2D5"/>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Cada función: </a:t>
            </a:r>
            <a:r>
              <a:rPr lang="es-MX" sz="1000">
                <a:solidFill>
                  <a:schemeClr val="dk1"/>
                </a:solidFill>
                <a:latin typeface="Open Sans"/>
                <a:ea typeface="Open Sans"/>
                <a:cs typeface="Open Sans"/>
                <a:sym typeface="Open Sans"/>
              </a:rPr>
              <a:t>Lidera la </a:t>
            </a:r>
            <a:r>
              <a:rPr b="1" lang="es-MX" sz="1000">
                <a:solidFill>
                  <a:schemeClr val="dk1"/>
                </a:solidFill>
                <a:latin typeface="Open Sans"/>
                <a:ea typeface="Open Sans"/>
                <a:cs typeface="Open Sans"/>
                <a:sym typeface="Open Sans"/>
              </a:rPr>
              <a:t>definición, consolidación y priorización</a:t>
            </a:r>
            <a:r>
              <a:rPr lang="es-MX" sz="1000">
                <a:solidFill>
                  <a:schemeClr val="dk1"/>
                </a:solidFill>
                <a:latin typeface="Open Sans"/>
                <a:ea typeface="Open Sans"/>
                <a:cs typeface="Open Sans"/>
                <a:sym typeface="Open Sans"/>
              </a:rPr>
              <a:t> de accionables que respondan a la voz del cliente, asegura que se genere y ejecute acciones en su ámbito, manteniendo coherencia con la estrategia y da seguimiento a que los accionables tengan dueño, fechas y métricas de impacto.</a:t>
            </a:r>
            <a:endParaRPr/>
          </a:p>
        </p:txBody>
      </p:sp>
      <p:sp>
        <p:nvSpPr>
          <p:cNvPr id="757" name="Google Shape;757;p53"/>
          <p:cNvSpPr/>
          <p:nvPr/>
        </p:nvSpPr>
        <p:spPr>
          <a:xfrm>
            <a:off x="1668982" y="4058799"/>
            <a:ext cx="9979679" cy="1315457"/>
          </a:xfrm>
          <a:prstGeom prst="rect">
            <a:avLst/>
          </a:prstGeom>
          <a:solidFill>
            <a:srgbClr val="FFFFFF"/>
          </a:solidFill>
          <a:ln cap="rnd" cmpd="sng" w="19050">
            <a:solidFill>
              <a:srgbClr val="BDD7E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Es consultada para traducir los hallazgos en mejoras de procesos, estándares y modelos operativos y valida factibilidad, complejidad e impacto operativo de los accionables propuestos.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Procesos CdS: </a:t>
            </a:r>
            <a:r>
              <a:rPr lang="es-MX" sz="1000">
                <a:solidFill>
                  <a:schemeClr val="dk1"/>
                </a:solidFill>
                <a:latin typeface="Open Sans"/>
                <a:ea typeface="Open Sans"/>
                <a:cs typeface="Open Sans"/>
                <a:sym typeface="Open Sans"/>
              </a:rPr>
              <a:t>Es consultado para incorporar requerimientos y restricciones de la cadena de suministro en los accionables, aporta ideas de mejora en abasto, inventario y servicio que respondan a la voz del cliente.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Es consultada para asegurar que los accionables estén alineados al roadmap de transformación y prioridades estratégicas, sugiere ajustes o sinergias con proyectos en curso para evitar duplicidades.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Identifica habilitadores tecnológicos necesarios para que los accionables se puedan implementar (sistemas, datos, canales), evalúa esfuerzo y viabilidad técnica de las iniciativas antes de su aprobación definitiva.</a:t>
            </a:r>
            <a:endParaRPr/>
          </a:p>
        </p:txBody>
      </p:sp>
      <p:sp>
        <p:nvSpPr>
          <p:cNvPr id="758" name="Google Shape;758;p53"/>
          <p:cNvSpPr/>
          <p:nvPr/>
        </p:nvSpPr>
        <p:spPr>
          <a:xfrm>
            <a:off x="1668983" y="3521014"/>
            <a:ext cx="9979679" cy="507524"/>
          </a:xfrm>
          <a:prstGeom prst="rect">
            <a:avLst/>
          </a:prstGeom>
          <a:solidFill>
            <a:srgbClr val="FFFFFF"/>
          </a:solidFill>
          <a:ln cap="rnd" cmpd="sng" w="19050">
            <a:solidFill>
              <a:srgbClr val="E7A1A8"/>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Da soporte en la evaluación económica de los accionables (costo, beneficio, ROI), ayuda a priorizar acciones según su impacto en ingresos, margen y eficiencia.</a:t>
            </a:r>
            <a:endParaRPr/>
          </a:p>
        </p:txBody>
      </p:sp>
      <p:sp>
        <p:nvSpPr>
          <p:cNvPr id="759" name="Google Shape;759;p53"/>
          <p:cNvSpPr/>
          <p:nvPr/>
        </p:nvSpPr>
        <p:spPr>
          <a:xfrm>
            <a:off x="470554" y="2223076"/>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760" name="Google Shape;760;p53"/>
          <p:cNvSpPr/>
          <p:nvPr/>
        </p:nvSpPr>
        <p:spPr>
          <a:xfrm>
            <a:off x="470554" y="2872049"/>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761" name="Google Shape;761;p53"/>
          <p:cNvSpPr/>
          <p:nvPr/>
        </p:nvSpPr>
        <p:spPr>
          <a:xfrm>
            <a:off x="470554" y="3521014"/>
            <a:ext cx="1110263" cy="507524"/>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762" name="Google Shape;762;p53"/>
          <p:cNvSpPr/>
          <p:nvPr/>
        </p:nvSpPr>
        <p:spPr>
          <a:xfrm>
            <a:off x="470554" y="5440335"/>
            <a:ext cx="1110263" cy="1077692"/>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763" name="Google Shape;763;p53"/>
          <p:cNvSpPr/>
          <p:nvPr/>
        </p:nvSpPr>
        <p:spPr>
          <a:xfrm>
            <a:off x="470554" y="4058799"/>
            <a:ext cx="1110263" cy="1315457"/>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54"/>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Voz del Cliente</a:t>
            </a:r>
            <a:endParaRPr/>
          </a:p>
        </p:txBody>
      </p:sp>
      <p:sp>
        <p:nvSpPr>
          <p:cNvPr id="769" name="Google Shape;769;p54"/>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770" name="Google Shape;770;p54"/>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6</a:t>
            </a:r>
            <a:endParaRPr b="0" i="0" sz="1152" u="none" cap="none" strike="noStrike">
              <a:solidFill>
                <a:srgbClr val="FFFFFF"/>
              </a:solidFill>
              <a:latin typeface="Arial"/>
              <a:ea typeface="Arial"/>
              <a:cs typeface="Arial"/>
              <a:sym typeface="Arial"/>
            </a:endParaRPr>
          </a:p>
        </p:txBody>
      </p:sp>
      <p:graphicFrame>
        <p:nvGraphicFramePr>
          <p:cNvPr id="771" name="Google Shape;771;p54"/>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1034475"/>
                <a:gridCol w="874400"/>
                <a:gridCol w="10576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Customer y Marketing</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Despliegue Operativo</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Procesos CdS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​Alineación de iniciativas basadas en hallazgos de retroalimentación del cliente</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772" name="Google Shape;772;p54"/>
          <p:cNvSpPr/>
          <p:nvPr/>
        </p:nvSpPr>
        <p:spPr>
          <a:xfrm>
            <a:off x="1668982" y="5287871"/>
            <a:ext cx="9979679" cy="744492"/>
          </a:xfrm>
          <a:prstGeom prst="rect">
            <a:avLst/>
          </a:prstGeom>
          <a:solidFill>
            <a:srgbClr val="FFFFFF"/>
          </a:solidFill>
          <a:ln cap="rnd" cmpd="sng" w="19050">
            <a:solidFill>
              <a:srgbClr val="BFBFBF"/>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Se mantiene informado de las iniciativas alineadas para ajustar planes comerciales, precios y promociones, utiliza esta visibilidad para asegurar que las iniciativas no choquen con prioridades comerciales vigentes.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Se mantiene informado de las iniciativas para anticipar requerimientos tecnológicos y capacidad de entrega, usa esta visibilidad para planear desarrollos, integraciones o mejoras a sistemas que las iniciativas demanden.</a:t>
            </a:r>
            <a:endParaRPr/>
          </a:p>
        </p:txBody>
      </p:sp>
      <p:sp>
        <p:nvSpPr>
          <p:cNvPr id="773" name="Google Shape;773;p54"/>
          <p:cNvSpPr/>
          <p:nvPr/>
        </p:nvSpPr>
        <p:spPr>
          <a:xfrm>
            <a:off x="1668983" y="2587375"/>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Es responsable de que exista un proceso formal para alinear iniciativas con los hallazgos de retroalimentación, garantiza que las iniciativas priorizadas sean consistentes entre áreas y estén enfocadas en resolver los principales puntos de dolor.</a:t>
            </a:r>
            <a:endParaRPr/>
          </a:p>
        </p:txBody>
      </p:sp>
      <p:sp>
        <p:nvSpPr>
          <p:cNvPr id="774" name="Google Shape;774;p54"/>
          <p:cNvSpPr/>
          <p:nvPr/>
        </p:nvSpPr>
        <p:spPr>
          <a:xfrm>
            <a:off x="1668982" y="3885305"/>
            <a:ext cx="9979679" cy="1284681"/>
          </a:xfrm>
          <a:prstGeom prst="rect">
            <a:avLst/>
          </a:prstGeom>
          <a:solidFill>
            <a:srgbClr val="FFFFFF"/>
          </a:solidFill>
          <a:ln cap="rnd" cmpd="sng" w="19050">
            <a:solidFill>
              <a:srgbClr val="BDD7EE"/>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Aporta la lectura de cliente y de misiones de compra para asegurar que las iniciativas respondan realmente a la voz del cliente, valida que las propuestas mantengan coherencia con la promesa de marca y la experiencia deseada.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Despliegue Operativo: </a:t>
            </a:r>
            <a:r>
              <a:rPr lang="es-MX" sz="1000">
                <a:solidFill>
                  <a:schemeClr val="dk1"/>
                </a:solidFill>
                <a:latin typeface="Open Sans"/>
                <a:ea typeface="Open Sans"/>
                <a:cs typeface="Open Sans"/>
                <a:sym typeface="Open Sans"/>
              </a:rPr>
              <a:t>Es consultado para validar la factibilidad operativa y el </a:t>
            </a:r>
            <a:r>
              <a:rPr i="1" lang="es-MX" sz="1000">
                <a:solidFill>
                  <a:schemeClr val="dk1"/>
                </a:solidFill>
                <a:latin typeface="Open Sans"/>
                <a:ea typeface="Open Sans"/>
                <a:cs typeface="Open Sans"/>
                <a:sym typeface="Open Sans"/>
              </a:rPr>
              <a:t>timing</a:t>
            </a:r>
            <a:r>
              <a:rPr lang="es-MX" sz="1000">
                <a:solidFill>
                  <a:schemeClr val="dk1"/>
                </a:solidFill>
                <a:latin typeface="Open Sans"/>
                <a:ea typeface="Open Sans"/>
                <a:cs typeface="Open Sans"/>
                <a:sym typeface="Open Sans"/>
              </a:rPr>
              <a:t> de las iniciativas a desplegar en tienda, aporta criterios sobre esfuerzo, complejidad y riesgos de implementación.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Procesos CdS: </a:t>
            </a:r>
            <a:r>
              <a:rPr lang="es-MX" sz="1000">
                <a:solidFill>
                  <a:schemeClr val="dk1"/>
                </a:solidFill>
                <a:latin typeface="Open Sans"/>
                <a:ea typeface="Open Sans"/>
                <a:cs typeface="Open Sans"/>
                <a:sym typeface="Open Sans"/>
              </a:rPr>
              <a:t>Contribuye a evaluar el impacto de las iniciativas sobre la cadena de suministro (servicio, inventarios, costos), sugiere ajustes para que la alineación contemple capacidades y restricciones logísticas.</a:t>
            </a:r>
            <a:endParaRPr/>
          </a:p>
        </p:txBody>
      </p:sp>
      <p:sp>
        <p:nvSpPr>
          <p:cNvPr id="775" name="Google Shape;775;p54"/>
          <p:cNvSpPr/>
          <p:nvPr/>
        </p:nvSpPr>
        <p:spPr>
          <a:xfrm>
            <a:off x="1668983" y="3236341"/>
            <a:ext cx="9979679" cy="595292"/>
          </a:xfrm>
          <a:prstGeom prst="rect">
            <a:avLst/>
          </a:prstGeom>
          <a:solidFill>
            <a:srgbClr val="FFFFFF"/>
          </a:solidFill>
          <a:ln cap="rnd" cmpd="sng" w="19050">
            <a:solidFill>
              <a:srgbClr val="E7A1A8"/>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(Regiones / Plazas): </a:t>
            </a:r>
            <a:r>
              <a:rPr lang="es-MX" sz="1000">
                <a:solidFill>
                  <a:schemeClr val="dk1"/>
                </a:solidFill>
                <a:latin typeface="Open Sans"/>
                <a:ea typeface="Open Sans"/>
                <a:cs typeface="Open Sans"/>
                <a:sym typeface="Open Sans"/>
              </a:rPr>
              <a:t>Da soporte en la adaptación de las iniciativas a la realidad de las distintas regiones y formatos de tienda, aporta retroalimentación de campo para afinar el alcance y la prioridad de las acciones.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Apoya con análisis de impacto económico para priorizar las iniciativas alineadas a partir de su valor potencial, asegura que la alineación considere restricciones presupuestales y metas de rentabilidad.</a:t>
            </a:r>
            <a:endParaRPr/>
          </a:p>
        </p:txBody>
      </p:sp>
      <p:sp>
        <p:nvSpPr>
          <p:cNvPr id="776" name="Google Shape;776;p54"/>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777" name="Google Shape;777;p54"/>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778" name="Google Shape;778;p54"/>
          <p:cNvSpPr/>
          <p:nvPr/>
        </p:nvSpPr>
        <p:spPr>
          <a:xfrm>
            <a:off x="470554" y="3236341"/>
            <a:ext cx="1110263" cy="595292"/>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779" name="Google Shape;779;p54"/>
          <p:cNvSpPr/>
          <p:nvPr/>
        </p:nvSpPr>
        <p:spPr>
          <a:xfrm>
            <a:off x="470554" y="5287871"/>
            <a:ext cx="1110263" cy="729106"/>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780" name="Google Shape;780;p54"/>
          <p:cNvSpPr/>
          <p:nvPr/>
        </p:nvSpPr>
        <p:spPr>
          <a:xfrm>
            <a:off x="470554" y="3885305"/>
            <a:ext cx="1110263" cy="1284681"/>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781" name="Google Shape;781;p54"/>
          <p:cNvSpPr/>
          <p:nvPr/>
        </p:nvSpPr>
        <p:spPr>
          <a:xfrm>
            <a:off x="1668981" y="1931541"/>
            <a:ext cx="9979679" cy="595293"/>
          </a:xfrm>
          <a:prstGeom prst="rect">
            <a:avLst/>
          </a:prstGeom>
          <a:solidFill>
            <a:srgbClr val="FFFFFF"/>
          </a:solidFill>
          <a:ln cap="rnd" cmpd="sng" w="19050">
            <a:solidFill>
              <a:srgbClr val="AEE2D5"/>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Lidera la alineación de iniciativas con el roadmap estratégico y el portafolio de proyectos de transformación, conecta los hallazgos de retroalimentación con las grandes apuestas de cambio de la organización.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55"/>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Voz del Cliente</a:t>
            </a:r>
            <a:endParaRPr/>
          </a:p>
        </p:txBody>
      </p:sp>
      <p:sp>
        <p:nvSpPr>
          <p:cNvPr id="787" name="Google Shape;787;p55"/>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788" name="Google Shape;788;p55"/>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7</a:t>
            </a:r>
            <a:endParaRPr/>
          </a:p>
        </p:txBody>
      </p:sp>
      <p:graphicFrame>
        <p:nvGraphicFramePr>
          <p:cNvPr id="789" name="Google Shape;789;p55"/>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1034475"/>
                <a:gridCol w="874400"/>
                <a:gridCol w="10576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Customer y Marketing</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Despliegue Operativo</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Procesos CdS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Pruebas y despliegue de iniciativas o cambios a procesos por retroalimentación de cliente</a:t>
                      </a:r>
                      <a:endParaRPr sz="1050">
                        <a:solidFill>
                          <a:schemeClr val="dk1"/>
                        </a:solidFill>
                        <a:latin typeface="Arial"/>
                        <a:ea typeface="Arial"/>
                        <a:cs typeface="Arial"/>
                        <a:sym typeface="Arial"/>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790" name="Google Shape;790;p55"/>
          <p:cNvSpPr/>
          <p:nvPr/>
        </p:nvSpPr>
        <p:spPr>
          <a:xfrm>
            <a:off x="1668982" y="4804917"/>
            <a:ext cx="9979679" cy="1089427"/>
          </a:xfrm>
          <a:prstGeom prst="rect">
            <a:avLst/>
          </a:prstGeom>
          <a:solidFill>
            <a:srgbClr val="FFFFFF"/>
          </a:solidFill>
          <a:ln cap="rnd" cmpd="sng" w="19050">
            <a:solidFill>
              <a:srgbClr val="BFBFBF"/>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Se mantiene informado de qué iniciativas se probarán y desplegarán para ajustar mensajes y CX y usa la información para coordinar comunicación al cliente cuando los cambios impactan la propuesta de valor.</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Requiere visibilidad de las pruebas y despliegues para alinear planes comerciales y metas por categoría y se informa para evitar conflictos entre iniciativas en prueba y promociones o tácticas comerciales vigentes.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Se mantiene informado de las iniciativas que se probarán para anticipar demandas tecnológicas o ajustes a sistemas, usa esta visibilidad para planear capacidad y tiempos de desarrollo si la prueba requiere soporte tecnológico posterior.</a:t>
            </a:r>
            <a:endParaRPr/>
          </a:p>
        </p:txBody>
      </p:sp>
      <p:sp>
        <p:nvSpPr>
          <p:cNvPr id="791" name="Google Shape;791;p55"/>
          <p:cNvSpPr/>
          <p:nvPr/>
        </p:nvSpPr>
        <p:spPr>
          <a:xfrm>
            <a:off x="1668983" y="2587375"/>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Es responsable final de que las pruebas y despliegues se diseñen con metodología clara, criterios de éxito y gobernanza, garantiza que los cambios a procesos estén correctamente documentados y estandarizados una vez validados.</a:t>
            </a:r>
            <a:endParaRPr/>
          </a:p>
        </p:txBody>
      </p:sp>
      <p:sp>
        <p:nvSpPr>
          <p:cNvPr id="792" name="Google Shape;792;p55"/>
          <p:cNvSpPr/>
          <p:nvPr/>
        </p:nvSpPr>
        <p:spPr>
          <a:xfrm>
            <a:off x="1668983" y="3236340"/>
            <a:ext cx="9979679" cy="1456429"/>
          </a:xfrm>
          <a:prstGeom prst="rect">
            <a:avLst/>
          </a:prstGeom>
          <a:solidFill>
            <a:srgbClr val="FFFFFF"/>
          </a:solidFill>
          <a:ln cap="rnd" cmpd="sng" w="19050">
            <a:solidFill>
              <a:srgbClr val="E7A1A8"/>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Procesos CdS: </a:t>
            </a:r>
            <a:r>
              <a:rPr lang="es-MX" sz="1000">
                <a:solidFill>
                  <a:schemeClr val="dk1"/>
                </a:solidFill>
                <a:latin typeface="Open Sans"/>
                <a:ea typeface="Open Sans"/>
                <a:cs typeface="Open Sans"/>
                <a:sym typeface="Open Sans"/>
              </a:rPr>
              <a:t>Ajusta procesos de abasto, inventario y logística para soportar los cambios que se prueban o despliegan, asegura que la cadena de suministro pueda responder a nuevas frecuencias, surtidos o flujos operativos derivados de la iniciativa.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(Regiones / Plazas): </a:t>
            </a:r>
            <a:r>
              <a:rPr lang="es-MX" sz="1000">
                <a:solidFill>
                  <a:schemeClr val="dk1"/>
                </a:solidFill>
                <a:latin typeface="Open Sans"/>
                <a:ea typeface="Open Sans"/>
                <a:cs typeface="Open Sans"/>
                <a:sym typeface="Open Sans"/>
              </a:rPr>
              <a:t>Da soporte en la implementación en las tiendas de su región, garantizando disciplina y consistencia, y aporta retroalimentación de campo sobre el funcionamiento real de los cambios durante el piloto y el despliegue.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Acompaña las pruebas con medición de impactos financieros (ventas, margen, costos) para validar la viabilidad del cambio, define, junto con Excelencia Operativa, los indicadores económicos que deben monitorearse en la etapa piloto.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Asegura que las pruebas y despliegues estén alineados al roadmap de transformación y no dupliquen esfuerzos, brinda metodologías de gestión del cambio, comunicación y escalamiento de iniciativas exitosas.</a:t>
            </a:r>
            <a:endParaRPr/>
          </a:p>
        </p:txBody>
      </p:sp>
      <p:sp>
        <p:nvSpPr>
          <p:cNvPr id="793" name="Google Shape;793;p55"/>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794" name="Google Shape;794;p55"/>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795" name="Google Shape;795;p55"/>
          <p:cNvSpPr/>
          <p:nvPr/>
        </p:nvSpPr>
        <p:spPr>
          <a:xfrm>
            <a:off x="470554" y="3236340"/>
            <a:ext cx="1110263" cy="1456429"/>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796" name="Google Shape;796;p55"/>
          <p:cNvSpPr/>
          <p:nvPr/>
        </p:nvSpPr>
        <p:spPr>
          <a:xfrm>
            <a:off x="470554" y="4812046"/>
            <a:ext cx="1110263" cy="1066912"/>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797" name="Google Shape;797;p55"/>
          <p:cNvSpPr/>
          <p:nvPr/>
        </p:nvSpPr>
        <p:spPr>
          <a:xfrm>
            <a:off x="1668981" y="1931541"/>
            <a:ext cx="9979679" cy="595293"/>
          </a:xfrm>
          <a:prstGeom prst="rect">
            <a:avLst/>
          </a:prstGeom>
          <a:solidFill>
            <a:srgbClr val="FFFFFF"/>
          </a:solidFill>
          <a:ln cap="rnd" cmpd="sng" w="19050">
            <a:solidFill>
              <a:srgbClr val="AEE2D5"/>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Despliegue Operativo: </a:t>
            </a:r>
            <a:r>
              <a:rPr lang="es-MX" sz="1000">
                <a:solidFill>
                  <a:schemeClr val="dk1"/>
                </a:solidFill>
                <a:latin typeface="Open Sans"/>
                <a:ea typeface="Open Sans"/>
                <a:cs typeface="Open Sans"/>
                <a:sym typeface="Open Sans"/>
              </a:rPr>
              <a:t>Lidera la ejecución de pilotos y el despliegue en tiendas y operaciones de los cambios aprobados, coordina recursos, comunicación y capacitación necesaria para que las iniciativas se implementen según lo definido y monitorea la correcta adopción en campo durante las pruebas.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56"/>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Voz del Cliente</a:t>
            </a:r>
            <a:endParaRPr/>
          </a:p>
        </p:txBody>
      </p:sp>
      <p:sp>
        <p:nvSpPr>
          <p:cNvPr id="803" name="Google Shape;803;p56"/>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804" name="Google Shape;804;p56"/>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8</a:t>
            </a:r>
            <a:endParaRPr/>
          </a:p>
        </p:txBody>
      </p:sp>
      <p:graphicFrame>
        <p:nvGraphicFramePr>
          <p:cNvPr id="805" name="Google Shape;805;p56"/>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517225"/>
                <a:gridCol w="517225"/>
                <a:gridCol w="1034475"/>
                <a:gridCol w="1034475"/>
                <a:gridCol w="1034475"/>
                <a:gridCol w="1034475"/>
                <a:gridCol w="874400"/>
                <a:gridCol w="10576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Customer y Marketing</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Despliegue Operativo</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Procesos CdS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​Monitoreo de adopción y desempeño de cambios derivados de retroalimentación de cliente</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806" name="Google Shape;806;p56"/>
          <p:cNvSpPr/>
          <p:nvPr/>
        </p:nvSpPr>
        <p:spPr>
          <a:xfrm>
            <a:off x="1668982" y="4882551"/>
            <a:ext cx="9979679" cy="1089427"/>
          </a:xfrm>
          <a:prstGeom prst="rect">
            <a:avLst/>
          </a:prstGeom>
          <a:solidFill>
            <a:srgbClr val="FFFFFF"/>
          </a:solidFill>
          <a:ln cap="rnd" cmpd="sng" w="19050">
            <a:solidFill>
              <a:srgbClr val="BFBFBF"/>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Se informa de los niveles de adopción y desempeño para ajustar iniciativas de CX, comunicación y campañas, usa los resultados para entender cómo los cambios impactan la percepción y comportamiento del cliente.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Requiere visibilidad de indicadores de adopción y resultados para ajustar planes comerciales por categoría y utiliza el monitoreo para decidir si escalar, corregir o retirar cambios ligados a estrategias comerciales.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Se mantiene informado sobre los resultados para identificar necesidades de mejora en sistemas y herramientas, usa la información para priorizar automatizaciones o desarrollos que ayuden a mejorar la adopción o el desempeño.</a:t>
            </a:r>
            <a:endParaRPr/>
          </a:p>
        </p:txBody>
      </p:sp>
      <p:sp>
        <p:nvSpPr>
          <p:cNvPr id="807" name="Google Shape;807;p56"/>
          <p:cNvSpPr/>
          <p:nvPr/>
        </p:nvSpPr>
        <p:spPr>
          <a:xfrm>
            <a:off x="1668983" y="3236340"/>
            <a:ext cx="9979679" cy="1575706"/>
          </a:xfrm>
          <a:prstGeom prst="rect">
            <a:avLst/>
          </a:prstGeom>
          <a:solidFill>
            <a:srgbClr val="FFFFFF"/>
          </a:solidFill>
          <a:ln cap="rnd" cmpd="sng" w="19050">
            <a:solidFill>
              <a:srgbClr val="E7A1A8"/>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Despliegue Operativo: </a:t>
            </a:r>
            <a:r>
              <a:rPr lang="es-MX" sz="1000">
                <a:solidFill>
                  <a:schemeClr val="dk1"/>
                </a:solidFill>
                <a:latin typeface="Open Sans"/>
                <a:ea typeface="Open Sans"/>
                <a:cs typeface="Open Sans"/>
                <a:sym typeface="Open Sans"/>
              </a:rPr>
              <a:t>Apoya en la captura de datos operativos y de ejecución en tienda necesarios para medir adopción real, provee retroalimentación de campo sobre barreras y facilitadores que afectan el desempeño de los cambios.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Procesos CdS: </a:t>
            </a:r>
            <a:r>
              <a:rPr lang="es-MX" sz="1000">
                <a:solidFill>
                  <a:schemeClr val="dk1"/>
                </a:solidFill>
                <a:latin typeface="Open Sans"/>
                <a:ea typeface="Open Sans"/>
                <a:cs typeface="Open Sans"/>
                <a:sym typeface="Open Sans"/>
              </a:rPr>
              <a:t>Entrega indicadores logísticos (nivel de servicio, quiebres, mermas) que influyen en el desempeño de los cambios, ayuda a interpretar si resultados bajos se vinculan con restricciones o fallas en la cadena de suministro.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(Regiones / Plazas): </a:t>
            </a:r>
            <a:r>
              <a:rPr lang="es-MX" sz="1000">
                <a:solidFill>
                  <a:schemeClr val="dk1"/>
                </a:solidFill>
                <a:latin typeface="Open Sans"/>
                <a:ea typeface="Open Sans"/>
                <a:cs typeface="Open Sans"/>
                <a:sym typeface="Open Sans"/>
              </a:rPr>
              <a:t>Levanta información de cumplimiento en tienda y percepción de colaboradores sobre los cambios implementados, contribuye a explicar diferencias de adopción entre regiones y formatos, proponiendo ajustes tácticos.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Traduce el desempeño operacional en impacto financiero (ventas, margen, costos) de los cambios, da soporte en la evaluación de si los resultados justifican mantener, ampliar o ajustar las iniciativas.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Integra los resultados de monitoreo en el seguimiento del portafolio de proyectos de transformación, utiliza los aprendizajes para recalibrar prioridades y definir nuevas olas de cambio.</a:t>
            </a:r>
            <a:endParaRPr/>
          </a:p>
        </p:txBody>
      </p:sp>
      <p:sp>
        <p:nvSpPr>
          <p:cNvPr id="808" name="Google Shape;808;p56"/>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809" name="Google Shape;809;p56"/>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810" name="Google Shape;810;p56"/>
          <p:cNvSpPr/>
          <p:nvPr/>
        </p:nvSpPr>
        <p:spPr>
          <a:xfrm>
            <a:off x="470554" y="3236340"/>
            <a:ext cx="1110263" cy="1575706"/>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811" name="Google Shape;811;p56"/>
          <p:cNvSpPr/>
          <p:nvPr/>
        </p:nvSpPr>
        <p:spPr>
          <a:xfrm>
            <a:off x="470554" y="4889680"/>
            <a:ext cx="1110263" cy="1066912"/>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812" name="Google Shape;812;p56"/>
          <p:cNvSpPr/>
          <p:nvPr/>
        </p:nvSpPr>
        <p:spPr>
          <a:xfrm>
            <a:off x="1668981" y="1931541"/>
            <a:ext cx="9979679" cy="1192651"/>
          </a:xfrm>
          <a:prstGeom prst="rect">
            <a:avLst/>
          </a:prstGeom>
          <a:solidFill>
            <a:srgbClr val="FFFFFF"/>
          </a:solidFill>
          <a:ln cap="rnd" cmpd="sng" w="19050">
            <a:solidFill>
              <a:srgbClr val="AEE2D5"/>
            </a:solidFill>
            <a:prstDash val="solid"/>
            <a:round/>
            <a:headEnd len="sm" w="sm" type="none"/>
            <a:tailEnd len="sm" w="sm" type="none"/>
          </a:ln>
        </p:spPr>
        <p:txBody>
          <a:bodyPr anchorCtr="1"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Es responsable de que exista un marco formal de métricas, tableros y rutinas de seguimiento de los cambios, garantiza que el monitoreo se use sistemáticamente como insumo para la mejora continua. Define KPIs, fuentes de datos y cadencias de revisión para medir adopción y desempeño, consolida información, analiza desviaciones y coordina la definición de planes de acción.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58"/>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Cierre y siguientes pasos</a:t>
            </a:r>
            <a:endParaRPr i="1"/>
          </a:p>
        </p:txBody>
      </p:sp>
      <p:sp>
        <p:nvSpPr>
          <p:cNvPr id="818" name="Google Shape;818;p58"/>
          <p:cNvSpPr txBox="1"/>
          <p:nvPr/>
        </p:nvSpPr>
        <p:spPr>
          <a:xfrm>
            <a:off x="9732264" y="0"/>
            <a:ext cx="2459736" cy="307777"/>
          </a:xfrm>
          <a:prstGeom prst="rect">
            <a:avLst/>
          </a:prstGeom>
          <a:solidFill>
            <a:schemeClr val="dk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N O N   E X H A U S T I V E</a:t>
            </a:r>
            <a:endParaRPr/>
          </a:p>
        </p:txBody>
      </p:sp>
      <p:sp>
        <p:nvSpPr>
          <p:cNvPr id="819" name="Google Shape;819;p58"/>
          <p:cNvSpPr/>
          <p:nvPr/>
        </p:nvSpPr>
        <p:spPr>
          <a:xfrm>
            <a:off x="1060789" y="1106724"/>
            <a:ext cx="9611444" cy="1023828"/>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b="0" i="1" lang="es-MX" sz="1600" u="none" cap="none" strike="noStrike">
                <a:solidFill>
                  <a:srgbClr val="000000"/>
                </a:solidFill>
                <a:latin typeface="Open Sans"/>
                <a:ea typeface="Open Sans"/>
                <a:cs typeface="Open Sans"/>
                <a:sym typeface="Open Sans"/>
              </a:rPr>
              <a:t>Cascadeo</a:t>
            </a:r>
            <a:r>
              <a:rPr b="0" i="0" lang="es-MX" sz="1600" u="none" cap="none" strike="noStrike">
                <a:solidFill>
                  <a:srgbClr val="000000"/>
                </a:solidFill>
                <a:latin typeface="Open Sans"/>
                <a:ea typeface="Open Sans"/>
                <a:cs typeface="Open Sans"/>
                <a:sym typeface="Open Sans"/>
              </a:rPr>
              <a:t> de información hacia los equipos que forman parte de esta interacción crítica para asegurar entendimiento de roles y responsabilidades</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¿Falta el mapeo de algún proceso crítico con relación a Voz del Cliente?</a:t>
            </a:r>
            <a:endParaRPr/>
          </a:p>
          <a:p>
            <a:pPr indent="-285750" lvl="0" marL="285750" marR="0" rtl="0" algn="l">
              <a:lnSpc>
                <a:spcPct val="100000"/>
              </a:lnSpc>
              <a:spcBef>
                <a:spcPts val="1200"/>
              </a:spcBef>
              <a:spcAft>
                <a:spcPts val="0"/>
              </a:spcAft>
              <a:buClr>
                <a:srgbClr val="000000"/>
              </a:buClr>
              <a:buSzPts val="1600"/>
              <a:buFont typeface="Courier New"/>
              <a:buChar char="o"/>
            </a:pPr>
            <a:r>
              <a:rPr b="0" i="0" lang="es-MX" sz="1600" u="none" cap="none" strike="noStrike">
                <a:solidFill>
                  <a:srgbClr val="000000"/>
                </a:solidFill>
                <a:latin typeface="Open Sans"/>
                <a:ea typeface="Open Sans"/>
                <a:cs typeface="Open Sans"/>
                <a:sym typeface="Open Sans"/>
              </a:rPr>
              <a:t>¿Existen preocu</a:t>
            </a:r>
            <a:r>
              <a:rPr lang="es-MX" sz="1600">
                <a:solidFill>
                  <a:srgbClr val="000000"/>
                </a:solidFill>
                <a:latin typeface="Open Sans"/>
                <a:ea typeface="Open Sans"/>
                <a:cs typeface="Open Sans"/>
                <a:sym typeface="Open Sans"/>
              </a:rPr>
              <a:t>paciones sobre lo definido / acordado?</a:t>
            </a:r>
            <a:endParaRPr/>
          </a:p>
        </p:txBody>
      </p:sp>
      <p:sp>
        <p:nvSpPr>
          <p:cNvPr id="820" name="Google Shape;820;p58"/>
          <p:cNvSpPr/>
          <p:nvPr/>
        </p:nvSpPr>
        <p:spPr>
          <a:xfrm>
            <a:off x="1060789" y="2545290"/>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b="0" i="0" lang="es-MX" sz="1600" u="none" cap="none" strike="noStrike">
                <a:solidFill>
                  <a:srgbClr val="000000"/>
                </a:solidFill>
                <a:latin typeface="Open Sans"/>
                <a:ea typeface="Open Sans"/>
                <a:cs typeface="Open Sans"/>
                <a:sym typeface="Open Sans"/>
              </a:rPr>
              <a:t>Mapeo del resto de procesos e interacciones críticas de organización para clarificar y transparentar roles y responsabilidades de cada área</a:t>
            </a:r>
            <a:r>
              <a:rPr lang="es-MX" sz="1600">
                <a:solidFill>
                  <a:srgbClr val="000000"/>
                </a:solidFill>
                <a:latin typeface="Open Sans"/>
                <a:ea typeface="Open Sans"/>
                <a:cs typeface="Open Sans"/>
                <a:sym typeface="Open Sans"/>
              </a:rPr>
              <a:t> </a:t>
            </a:r>
            <a:endParaRPr b="0" i="0" sz="1600" u="none" cap="none" strike="noStrike">
              <a:solidFill>
                <a:srgbClr val="000000"/>
              </a:solidFill>
              <a:latin typeface="Open Sans"/>
              <a:ea typeface="Open Sans"/>
              <a:cs typeface="Open Sans"/>
              <a:sym typeface="Open Sans"/>
            </a:endParaRPr>
          </a:p>
        </p:txBody>
      </p:sp>
      <p:sp>
        <p:nvSpPr>
          <p:cNvPr id="821" name="Google Shape;821;p58"/>
          <p:cNvSpPr/>
          <p:nvPr/>
        </p:nvSpPr>
        <p:spPr>
          <a:xfrm>
            <a:off x="1060789" y="3818334"/>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lang="es-MX" sz="1600">
                <a:solidFill>
                  <a:srgbClr val="000000"/>
                </a:solidFill>
                <a:latin typeface="Open Sans"/>
                <a:ea typeface="Open Sans"/>
                <a:cs typeface="Open Sans"/>
                <a:sym typeface="Open Sans"/>
              </a:rPr>
              <a:t>Definición de metodología para diagnóstico de madurez de las capacidades organizacionales de OXXO que se desarrollarán derivado de FFP</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Rituales</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KPIs clave</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Frecuencia del diagnóstico</a:t>
            </a:r>
            <a:endParaRPr sz="1600">
              <a:solidFill>
                <a:srgbClr val="000000"/>
              </a:solidFill>
              <a:latin typeface="Open Sans"/>
              <a:ea typeface="Open Sans"/>
              <a:cs typeface="Open Sans"/>
              <a:sym typeface="Open Sans"/>
            </a:endParaRPr>
          </a:p>
        </p:txBody>
      </p:sp>
      <p:sp>
        <p:nvSpPr>
          <p:cNvPr id="822" name="Google Shape;822;p58"/>
          <p:cNvSpPr/>
          <p:nvPr/>
        </p:nvSpPr>
        <p:spPr>
          <a:xfrm>
            <a:off x="1060789" y="5075587"/>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lang="es-MX" sz="1600">
                <a:solidFill>
                  <a:srgbClr val="000000"/>
                </a:solidFill>
                <a:latin typeface="Open Sans"/>
                <a:ea typeface="Open Sans"/>
                <a:cs typeface="Open Sans"/>
                <a:sym typeface="Open Sans"/>
              </a:rPr>
              <a:t>Evaluación de madurez de desarrollo de capacidades – TBD 2026</a:t>
            </a:r>
            <a:endParaRPr sz="1600">
              <a:solidFill>
                <a:srgbClr val="000000"/>
              </a:solidFill>
              <a:latin typeface="Open Sans"/>
              <a:ea typeface="Open Sans"/>
              <a:cs typeface="Open Sans"/>
              <a:sym typeface="Open Sans"/>
            </a:endParaRPr>
          </a:p>
        </p:txBody>
      </p:sp>
      <p:sp>
        <p:nvSpPr>
          <p:cNvPr id="823" name="Google Shape;823;p58"/>
          <p:cNvSpPr/>
          <p:nvPr/>
        </p:nvSpPr>
        <p:spPr>
          <a:xfrm>
            <a:off x="681671" y="1036083"/>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1</a:t>
            </a:r>
            <a:endParaRPr/>
          </a:p>
        </p:txBody>
      </p:sp>
      <p:sp>
        <p:nvSpPr>
          <p:cNvPr id="824" name="Google Shape;824;p58"/>
          <p:cNvSpPr/>
          <p:nvPr/>
        </p:nvSpPr>
        <p:spPr>
          <a:xfrm>
            <a:off x="681671" y="2587152"/>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2</a:t>
            </a:r>
            <a:endParaRPr/>
          </a:p>
        </p:txBody>
      </p:sp>
      <p:sp>
        <p:nvSpPr>
          <p:cNvPr id="825" name="Google Shape;825;p58"/>
          <p:cNvSpPr/>
          <p:nvPr/>
        </p:nvSpPr>
        <p:spPr>
          <a:xfrm>
            <a:off x="681671" y="3249727"/>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3</a:t>
            </a:r>
            <a:endParaRPr/>
          </a:p>
        </p:txBody>
      </p:sp>
      <p:sp>
        <p:nvSpPr>
          <p:cNvPr id="826" name="Google Shape;826;p58"/>
          <p:cNvSpPr/>
          <p:nvPr/>
        </p:nvSpPr>
        <p:spPr>
          <a:xfrm>
            <a:off x="681671" y="5133485"/>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4</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grpSp>
        <p:nvGrpSpPr>
          <p:cNvPr id="832" name="Google Shape;832;p59"/>
          <p:cNvGrpSpPr/>
          <p:nvPr/>
        </p:nvGrpSpPr>
        <p:grpSpPr>
          <a:xfrm>
            <a:off x="0" y="6926580"/>
            <a:ext cx="12192000" cy="137160"/>
            <a:chOff x="0" y="6926580"/>
            <a:chExt cx="12192000" cy="137160"/>
          </a:xfrm>
        </p:grpSpPr>
        <p:sp>
          <p:nvSpPr>
            <p:cNvPr id="833" name="Google Shape;833;p59"/>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834" name="Google Shape;834;p59"/>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835" name="Google Shape;835;p59"/>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836" name="Google Shape;836;p59"/>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837" name="Google Shape;837;p59"/>
          <p:cNvGrpSpPr/>
          <p:nvPr/>
        </p:nvGrpSpPr>
        <p:grpSpPr>
          <a:xfrm>
            <a:off x="0" y="-205740"/>
            <a:ext cx="12192000" cy="137160"/>
            <a:chOff x="0" y="-205740"/>
            <a:chExt cx="12192000" cy="137160"/>
          </a:xfrm>
        </p:grpSpPr>
        <p:sp>
          <p:nvSpPr>
            <p:cNvPr id="838" name="Google Shape;838;p59"/>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839" name="Google Shape;839;p59"/>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840" name="Google Shape;840;p59"/>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841" name="Google Shape;841;p59"/>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842" name="Google Shape;842;p59"/>
          <p:cNvSpPr txBox="1"/>
          <p:nvPr>
            <p:ph type="title"/>
          </p:nvPr>
        </p:nvSpPr>
        <p:spPr>
          <a:xfrm>
            <a:off x="950142" y="2720529"/>
            <a:ext cx="10698933" cy="1065540"/>
          </a:xfrm>
          <a:prstGeom prst="rect">
            <a:avLst/>
          </a:prstGeom>
          <a:noFill/>
          <a:ln>
            <a:noFill/>
          </a:ln>
        </p:spPr>
        <p:txBody>
          <a:bodyPr anchorCtr="0" anchor="ctr" bIns="36000" lIns="91425" spcFirstLastPara="1" rIns="91425" wrap="square" tIns="36000">
            <a:normAutofit/>
          </a:bodyPr>
          <a:lstStyle/>
          <a:p>
            <a:pPr indent="0" lvl="0" marL="0" rtl="0" algn="l">
              <a:lnSpc>
                <a:spcPct val="100000"/>
              </a:lnSpc>
              <a:spcBef>
                <a:spcPts val="0"/>
              </a:spcBef>
              <a:spcAft>
                <a:spcPts val="0"/>
              </a:spcAft>
              <a:buNone/>
            </a:pPr>
            <a:r>
              <a:rPr lang="es-MX"/>
              <a:t>¡Gracias!</a:t>
            </a:r>
            <a:endParaRPr b="0"/>
          </a:p>
        </p:txBody>
      </p:sp>
      <p:sp>
        <p:nvSpPr>
          <p:cNvPr id="843" name="Google Shape;843;p59"/>
          <p:cNvSpPr txBox="1"/>
          <p:nvPr/>
        </p:nvSpPr>
        <p:spPr>
          <a:xfrm>
            <a:off x="1016817" y="3838575"/>
            <a:ext cx="1680973"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Open Sans"/>
              <a:buNone/>
            </a:pPr>
            <a:r>
              <a:rPr i="0" lang="es-MX" sz="1600" u="none" cap="none" strike="noStrike">
                <a:solidFill>
                  <a:srgbClr val="FFFFFF"/>
                </a:solidFill>
                <a:latin typeface="Open Sans"/>
                <a:ea typeface="Open Sans"/>
                <a:cs typeface="Open Sans"/>
                <a:sym typeface="Open Sans"/>
              </a:rPr>
              <a:t>Diciembre 2025</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p60"/>
          <p:cNvSpPr txBox="1"/>
          <p:nvPr/>
        </p:nvSpPr>
        <p:spPr>
          <a:xfrm>
            <a:off x="410646" y="2942312"/>
            <a:ext cx="10698933" cy="1065540"/>
          </a:xfrm>
          <a:prstGeom prst="rect">
            <a:avLst/>
          </a:prstGeom>
          <a:noFill/>
          <a:ln>
            <a:noFill/>
          </a:ln>
        </p:spPr>
        <p:txBody>
          <a:bodyPr anchorCtr="0" anchor="t" bIns="45700" lIns="91425" spcFirstLastPara="1" rIns="91425" wrap="square" tIns="45700">
            <a:noAutofit/>
          </a:bodyPr>
          <a:lstStyle/>
          <a:p>
            <a:pPr indent="0" lvl="0" marL="0" marR="0" rtl="0" algn="l">
              <a:lnSpc>
                <a:spcPct val="101125"/>
              </a:lnSpc>
              <a:spcBef>
                <a:spcPts val="0"/>
              </a:spcBef>
              <a:spcAft>
                <a:spcPts val="0"/>
              </a:spcAft>
              <a:buNone/>
            </a:pPr>
            <a:r>
              <a:rPr b="1" lang="es-MX" sz="2400">
                <a:solidFill>
                  <a:schemeClr val="lt1"/>
                </a:solidFill>
                <a:latin typeface="Open Sans"/>
                <a:ea typeface="Open Sans"/>
                <a:cs typeface="Open Sans"/>
                <a:sym typeface="Open Sans"/>
              </a:rPr>
              <a:t>Construcción de ejemplo –  Voz Cliente</a:t>
            </a:r>
            <a:endParaRPr/>
          </a:p>
          <a:p>
            <a:pPr indent="0" lvl="0" marL="0" marR="0" rtl="0" algn="l">
              <a:lnSpc>
                <a:spcPct val="101125"/>
              </a:lnSpc>
              <a:spcBef>
                <a:spcPts val="0"/>
              </a:spcBef>
              <a:spcAft>
                <a:spcPts val="0"/>
              </a:spcAft>
              <a:buNone/>
            </a:pPr>
            <a:r>
              <a:rPr b="0" lang="es-MX" sz="2400">
                <a:solidFill>
                  <a:schemeClr val="lt1"/>
                </a:solidFill>
                <a:latin typeface="Open Sans"/>
                <a:ea typeface="Open Sans"/>
                <a:cs typeface="Open Sans"/>
                <a:sym typeface="Open Sans"/>
              </a:rPr>
              <a:t>Fit for Purpose OXXO MX</a:t>
            </a:r>
            <a:endParaRPr/>
          </a:p>
        </p:txBody>
      </p:sp>
      <p:sp>
        <p:nvSpPr>
          <p:cNvPr id="849" name="Google Shape;849;p60"/>
          <p:cNvSpPr txBox="1"/>
          <p:nvPr/>
        </p:nvSpPr>
        <p:spPr>
          <a:xfrm>
            <a:off x="450325" y="3669298"/>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Open Sans"/>
              <a:buNone/>
            </a:pPr>
            <a:r>
              <a:rPr i="0" lang="es-MX" sz="1600" u="none" cap="none" strike="noStrike">
                <a:solidFill>
                  <a:schemeClr val="lt1"/>
                </a:solidFill>
                <a:latin typeface="Open Sans"/>
                <a:ea typeface="Open Sans"/>
                <a:cs typeface="Open Sans"/>
                <a:sym typeface="Open Sans"/>
              </a:rPr>
              <a:t>Enero 2026</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61"/>
          <p:cNvSpPr txBox="1"/>
          <p:nvPr>
            <p:ph type="title"/>
          </p:nvPr>
        </p:nvSpPr>
        <p:spPr>
          <a:xfrm>
            <a:off x="419501" y="3167229"/>
            <a:ext cx="11352998" cy="369332"/>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sz="1800">
                <a:solidFill>
                  <a:srgbClr val="DE0230"/>
                </a:solidFill>
              </a:rPr>
              <a:t>Matriz RASCI | </a:t>
            </a:r>
            <a:r>
              <a:rPr lang="es-MX" sz="1800">
                <a:solidFill>
                  <a:schemeClr val="dk1"/>
                </a:solidFill>
              </a:rPr>
              <a:t>Voz Cliente</a:t>
            </a:r>
            <a:endParaRPr/>
          </a:p>
        </p:txBody>
      </p:sp>
      <p:sp>
        <p:nvSpPr>
          <p:cNvPr id="855" name="Google Shape;855;p61"/>
          <p:cNvSpPr txBox="1"/>
          <p:nvPr/>
        </p:nvSpPr>
        <p:spPr>
          <a:xfrm>
            <a:off x="213144" y="348435"/>
            <a:ext cx="11352998"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DE0230"/>
              </a:buClr>
              <a:buSzPts val="1800"/>
              <a:buFont typeface="Open Sans"/>
              <a:buNone/>
            </a:pPr>
            <a:r>
              <a:rPr lang="es-MX" sz="1800">
                <a:solidFill>
                  <a:srgbClr val="DE0230"/>
                </a:solidFill>
                <a:latin typeface="Open Sans"/>
                <a:ea typeface="Open Sans"/>
                <a:cs typeface="Open Sans"/>
                <a:sym typeface="Open Sans"/>
              </a:rPr>
              <a:t>   Objetivo de la sesión                                     Dinámica                                                            Roles RASCI </a:t>
            </a:r>
            <a:endParaRPr i="1" sz="1800">
              <a:solidFill>
                <a:srgbClr val="000000"/>
              </a:solidFill>
              <a:latin typeface="Open Sans"/>
              <a:ea typeface="Open Sans"/>
              <a:cs typeface="Open Sans"/>
              <a:sym typeface="Open Sans"/>
            </a:endParaRPr>
          </a:p>
        </p:txBody>
      </p:sp>
      <p:sp>
        <p:nvSpPr>
          <p:cNvPr id="856" name="Google Shape;856;p61"/>
          <p:cNvSpPr txBox="1"/>
          <p:nvPr/>
        </p:nvSpPr>
        <p:spPr>
          <a:xfrm>
            <a:off x="213144" y="1185484"/>
            <a:ext cx="381021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200" u="none" strike="noStrike">
                <a:solidFill>
                  <a:srgbClr val="1D3433"/>
                </a:solidFill>
                <a:latin typeface="Arial"/>
                <a:ea typeface="Arial"/>
                <a:cs typeface="Arial"/>
                <a:sym typeface="Arial"/>
              </a:rPr>
              <a:t>Construir ejemplos claros para roles RASCI aplicados al modelo de madurez operativa, </a:t>
            </a:r>
            <a:endParaRPr/>
          </a:p>
          <a:p>
            <a:pPr indent="0" lvl="0" marL="0" marR="0" rtl="0" algn="l">
              <a:spcBef>
                <a:spcPts val="0"/>
              </a:spcBef>
              <a:spcAft>
                <a:spcPts val="0"/>
              </a:spcAft>
              <a:buNone/>
            </a:pPr>
            <a:r>
              <a:rPr b="1" i="0" lang="es-MX" sz="1200" u="none" strike="noStrike">
                <a:solidFill>
                  <a:srgbClr val="1D3433"/>
                </a:solidFill>
                <a:latin typeface="Arial"/>
                <a:ea typeface="Arial"/>
                <a:cs typeface="Arial"/>
                <a:sym typeface="Arial"/>
              </a:rPr>
              <a:t>facilitando comprensión práctica.</a:t>
            </a:r>
            <a:r>
              <a:rPr b="1" i="0" lang="es-MX" sz="1200">
                <a:solidFill>
                  <a:srgbClr val="000000"/>
                </a:solidFill>
                <a:latin typeface="Arial"/>
                <a:ea typeface="Arial"/>
                <a:cs typeface="Arial"/>
                <a:sym typeface="Arial"/>
              </a:rPr>
              <a:t>​</a:t>
            </a:r>
            <a:endParaRPr b="1" sz="1200">
              <a:solidFill>
                <a:schemeClr val="dk1"/>
              </a:solidFill>
              <a:latin typeface="Open Sans"/>
              <a:ea typeface="Open Sans"/>
              <a:cs typeface="Open Sans"/>
              <a:sym typeface="Open Sans"/>
            </a:endParaRPr>
          </a:p>
        </p:txBody>
      </p:sp>
      <p:sp>
        <p:nvSpPr>
          <p:cNvPr id="857" name="Google Shape;857;p61"/>
          <p:cNvSpPr txBox="1"/>
          <p:nvPr/>
        </p:nvSpPr>
        <p:spPr>
          <a:xfrm>
            <a:off x="3666743" y="1117793"/>
            <a:ext cx="3801189"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Conocer y alinear Matriz RASCI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Desarrollar un ejemplo que genere </a:t>
            </a:r>
            <a:r>
              <a:rPr b="1" lang="es-MX" sz="1200">
                <a:solidFill>
                  <a:srgbClr val="1D3433"/>
                </a:solidFill>
                <a:latin typeface="Arial"/>
                <a:ea typeface="Arial"/>
                <a:cs typeface="Arial"/>
                <a:sym typeface="Arial"/>
              </a:rPr>
              <a:t>claridad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Integrar ejemplo a WS  </a:t>
            </a:r>
            <a:r>
              <a:rPr b="1" lang="es-MX" sz="1200">
                <a:solidFill>
                  <a:srgbClr val="1D3433"/>
                </a:solidFill>
                <a:latin typeface="Arial"/>
                <a:ea typeface="Arial"/>
                <a:cs typeface="Arial"/>
                <a:sym typeface="Arial"/>
              </a:rPr>
              <a:t>- Efectividad Organizacional</a:t>
            </a:r>
            <a:endParaRPr b="1" sz="1200">
              <a:solidFill>
                <a:schemeClr val="dk1"/>
              </a:solidFill>
              <a:latin typeface="Open Sans"/>
              <a:ea typeface="Open Sans"/>
              <a:cs typeface="Open Sans"/>
              <a:sym typeface="Open Sans"/>
            </a:endParaRPr>
          </a:p>
        </p:txBody>
      </p:sp>
      <p:cxnSp>
        <p:nvCxnSpPr>
          <p:cNvPr id="858" name="Google Shape;858;p61"/>
          <p:cNvCxnSpPr/>
          <p:nvPr/>
        </p:nvCxnSpPr>
        <p:spPr>
          <a:xfrm>
            <a:off x="3675888" y="395878"/>
            <a:ext cx="0" cy="2196000"/>
          </a:xfrm>
          <a:prstGeom prst="straightConnector1">
            <a:avLst/>
          </a:prstGeom>
          <a:noFill/>
          <a:ln cap="flat" cmpd="sng" w="12700">
            <a:solidFill>
              <a:schemeClr val="dk1"/>
            </a:solidFill>
            <a:prstDash val="dash"/>
            <a:round/>
            <a:headEnd len="sm" w="sm" type="none"/>
            <a:tailEnd len="sm" w="sm" type="none"/>
          </a:ln>
        </p:spPr>
      </p:cxnSp>
      <p:pic>
        <p:nvPicPr>
          <p:cNvPr descr="Interfaz de usuario gráfica, Aplicación, Sitio web&#10;&#10;El contenido generado por IA puede ser incorrecto." id="859" name="Google Shape;859;p61"/>
          <p:cNvPicPr preferRelativeResize="0"/>
          <p:nvPr/>
        </p:nvPicPr>
        <p:blipFill rotWithShape="1">
          <a:blip r:embed="rId3">
            <a:alphaModFix/>
          </a:blip>
          <a:srcRect b="39364" l="6535" r="4456" t="10433"/>
          <a:stretch/>
        </p:blipFill>
        <p:spPr>
          <a:xfrm>
            <a:off x="7531942" y="643550"/>
            <a:ext cx="3890028" cy="1582106"/>
          </a:xfrm>
          <a:prstGeom prst="rect">
            <a:avLst/>
          </a:prstGeom>
          <a:noFill/>
          <a:ln>
            <a:noFill/>
          </a:ln>
        </p:spPr>
      </p:pic>
      <p:pic>
        <p:nvPicPr>
          <p:cNvPr descr="Interfaz de usuario gráfica, Aplicación, Sitio web&#10;&#10;El contenido generado por IA puede ser incorrecto." id="860" name="Google Shape;860;p61"/>
          <p:cNvPicPr preferRelativeResize="0"/>
          <p:nvPr/>
        </p:nvPicPr>
        <p:blipFill rotWithShape="1">
          <a:blip r:embed="rId3">
            <a:alphaModFix/>
          </a:blip>
          <a:srcRect b="6191" l="6535" r="4456" t="61874"/>
          <a:stretch/>
        </p:blipFill>
        <p:spPr>
          <a:xfrm>
            <a:off x="7531942" y="2196033"/>
            <a:ext cx="3890028" cy="1006374"/>
          </a:xfrm>
          <a:prstGeom prst="rect">
            <a:avLst/>
          </a:prstGeom>
          <a:noFill/>
          <a:ln>
            <a:noFill/>
          </a:ln>
        </p:spPr>
      </p:pic>
      <p:cxnSp>
        <p:nvCxnSpPr>
          <p:cNvPr id="861" name="Google Shape;861;p61"/>
          <p:cNvCxnSpPr/>
          <p:nvPr/>
        </p:nvCxnSpPr>
        <p:spPr>
          <a:xfrm>
            <a:off x="7308324" y="395878"/>
            <a:ext cx="0" cy="2196000"/>
          </a:xfrm>
          <a:prstGeom prst="straightConnector1">
            <a:avLst/>
          </a:prstGeom>
          <a:noFill/>
          <a:ln cap="flat" cmpd="sng" w="12700">
            <a:solidFill>
              <a:schemeClr val="dk1"/>
            </a:solidFill>
            <a:prstDash val="dash"/>
            <a:round/>
            <a:headEnd len="sm" w="sm" type="none"/>
            <a:tailEnd len="sm" w="sm" type="none"/>
          </a:ln>
        </p:spPr>
      </p:cxnSp>
      <p:pic>
        <p:nvPicPr>
          <p:cNvPr descr="Gráfico&#10;&#10;El contenido generado por IA puede ser incorrecto." id="862" name="Google Shape;862;p61"/>
          <p:cNvPicPr preferRelativeResize="0"/>
          <p:nvPr/>
        </p:nvPicPr>
        <p:blipFill rotWithShape="1">
          <a:blip r:embed="rId4">
            <a:alphaModFix/>
          </a:blip>
          <a:srcRect b="0" l="0" r="0" t="0"/>
          <a:stretch/>
        </p:blipFill>
        <p:spPr>
          <a:xfrm>
            <a:off x="337205" y="3533451"/>
            <a:ext cx="7554067" cy="316067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62"/>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t>EJEMPLO</a:t>
            </a:r>
            <a:endParaRPr/>
          </a:p>
        </p:txBody>
      </p:sp>
      <p:sp>
        <p:nvSpPr>
          <p:cNvPr id="868" name="Google Shape;868;p62"/>
          <p:cNvSpPr txBox="1"/>
          <p:nvPr/>
        </p:nvSpPr>
        <p:spPr>
          <a:xfrm>
            <a:off x="652272" y="1104638"/>
            <a:ext cx="147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Open Sans"/>
                <a:ea typeface="Open Sans"/>
                <a:cs typeface="Open Sans"/>
                <a:sym typeface="Open Sans"/>
              </a:rPr>
              <a:t>Tarea</a:t>
            </a:r>
            <a:endParaRPr/>
          </a:p>
        </p:txBody>
      </p:sp>
      <p:sp>
        <p:nvSpPr>
          <p:cNvPr id="869" name="Google Shape;869;p62"/>
          <p:cNvSpPr/>
          <p:nvPr/>
        </p:nvSpPr>
        <p:spPr>
          <a:xfrm>
            <a:off x="1856232" y="969264"/>
            <a:ext cx="9674352" cy="64008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graphicFrame>
        <p:nvGraphicFramePr>
          <p:cNvPr id="870" name="Google Shape;870;p62"/>
          <p:cNvGraphicFramePr/>
          <p:nvPr/>
        </p:nvGraphicFramePr>
        <p:xfrm>
          <a:off x="729996" y="1866501"/>
          <a:ext cx="3000000" cy="3000000"/>
        </p:xfrm>
        <a:graphic>
          <a:graphicData uri="http://schemas.openxmlformats.org/drawingml/2006/table">
            <a:tbl>
              <a:tblPr bandRow="1" firstRow="1">
                <a:noFill/>
                <a:tableStyleId>{813A3F68-93AB-42EE-8F31-6030AA077254}</a:tableStyleId>
              </a:tblPr>
              <a:tblGrid>
                <a:gridCol w="1637125"/>
                <a:gridCol w="2799250"/>
                <a:gridCol w="6364225"/>
              </a:tblGrid>
              <a:tr h="370850">
                <a:tc>
                  <a:txBody>
                    <a:bodyPr/>
                    <a:lstStyle/>
                    <a:p>
                      <a:pPr indent="-177800" lvl="0" marL="177800" marR="0" rtl="0" algn="l">
                        <a:spcBef>
                          <a:spcPts val="0"/>
                        </a:spcBef>
                        <a:spcAft>
                          <a:spcPts val="0"/>
                        </a:spcAft>
                        <a:buClr>
                          <a:schemeClr val="dk1"/>
                        </a:buClr>
                        <a:buSzPts val="1200"/>
                        <a:buFont typeface="Arial"/>
                        <a:buChar char="•"/>
                      </a:pPr>
                      <a:r>
                        <a:rPr lang="es-MX" sz="1200"/>
                        <a:t>Rol</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Área/Puesto </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Actividad a realizar</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Accountable</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Excelencia Operativa (Exp. Cliente)</a:t>
                      </a:r>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Establece mecanismo oficial de escucha al cliente</a:t>
                      </a:r>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bl>
          </a:graphicData>
        </a:graphic>
      </p:graphicFrame>
      <p:sp>
        <p:nvSpPr>
          <p:cNvPr id="871" name="Google Shape;871;p62"/>
          <p:cNvSpPr txBox="1"/>
          <p:nvPr/>
        </p:nvSpPr>
        <p:spPr>
          <a:xfrm>
            <a:off x="1934064" y="1027694"/>
            <a:ext cx="951868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400">
                <a:solidFill>
                  <a:schemeClr val="dk1"/>
                </a:solidFill>
                <a:latin typeface="Open Sans"/>
                <a:ea typeface="Open Sans"/>
                <a:cs typeface="Open Sans"/>
                <a:sym typeface="Open Sans"/>
              </a:rPr>
              <a:t>Modificar proceso de pago con tarjeta para agilizarlo</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63"/>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t>Formato construcción de ejemplo</a:t>
            </a:r>
            <a:endParaRPr/>
          </a:p>
        </p:txBody>
      </p:sp>
      <p:sp>
        <p:nvSpPr>
          <p:cNvPr id="877" name="Google Shape;877;p63"/>
          <p:cNvSpPr txBox="1"/>
          <p:nvPr/>
        </p:nvSpPr>
        <p:spPr>
          <a:xfrm>
            <a:off x="652272" y="1104638"/>
            <a:ext cx="147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Open Sans"/>
                <a:ea typeface="Open Sans"/>
                <a:cs typeface="Open Sans"/>
                <a:sym typeface="Open Sans"/>
              </a:rPr>
              <a:t>Ejemplo</a:t>
            </a:r>
            <a:endParaRPr/>
          </a:p>
        </p:txBody>
      </p:sp>
      <p:sp>
        <p:nvSpPr>
          <p:cNvPr id="878" name="Google Shape;878;p63"/>
          <p:cNvSpPr/>
          <p:nvPr/>
        </p:nvSpPr>
        <p:spPr>
          <a:xfrm>
            <a:off x="1856232" y="969264"/>
            <a:ext cx="9674352" cy="64008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graphicFrame>
        <p:nvGraphicFramePr>
          <p:cNvPr id="879" name="Google Shape;879;p63"/>
          <p:cNvGraphicFramePr/>
          <p:nvPr/>
        </p:nvGraphicFramePr>
        <p:xfrm>
          <a:off x="729996" y="1866501"/>
          <a:ext cx="3000000" cy="3000000"/>
        </p:xfrm>
        <a:graphic>
          <a:graphicData uri="http://schemas.openxmlformats.org/drawingml/2006/table">
            <a:tbl>
              <a:tblPr bandRow="1" firstRow="1">
                <a:noFill/>
                <a:tableStyleId>{813A3F68-93AB-42EE-8F31-6030AA077254}</a:tableStyleId>
              </a:tblPr>
              <a:tblGrid>
                <a:gridCol w="1637125"/>
                <a:gridCol w="2799250"/>
                <a:gridCol w="6364225"/>
              </a:tblGrid>
              <a:tr h="370850">
                <a:tc>
                  <a:txBody>
                    <a:bodyPr/>
                    <a:lstStyle/>
                    <a:p>
                      <a:pPr indent="-177800" lvl="0" marL="177800" marR="0" rtl="0" algn="l">
                        <a:spcBef>
                          <a:spcPts val="0"/>
                        </a:spcBef>
                        <a:spcAft>
                          <a:spcPts val="0"/>
                        </a:spcAft>
                        <a:buClr>
                          <a:schemeClr val="dk1"/>
                        </a:buClr>
                        <a:buSzPts val="1200"/>
                        <a:buFont typeface="Arial"/>
                        <a:buChar char="•"/>
                      </a:pPr>
                      <a:r>
                        <a:rPr lang="es-MX" sz="1200"/>
                        <a:t>Rol</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Área/Puesto </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Actividad a realizar</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Accountable</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Responsable</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Support</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Consulted</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Informed</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bl>
          </a:graphicData>
        </a:graphic>
      </p:graphicFrame>
      <p:sp>
        <p:nvSpPr>
          <p:cNvPr id="880" name="Google Shape;880;p63"/>
          <p:cNvSpPr txBox="1"/>
          <p:nvPr/>
        </p:nvSpPr>
        <p:spPr>
          <a:xfrm>
            <a:off x="1934064" y="1027694"/>
            <a:ext cx="951868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400">
                <a:solidFill>
                  <a:schemeClr val="dk1"/>
                </a:solidFill>
                <a:latin typeface="Open Sans"/>
                <a:ea typeface="Open Sans"/>
                <a:cs typeface="Open Sans"/>
                <a:sym typeface="Open Sans"/>
              </a:rPr>
              <a:t>XXX</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grpSp>
        <p:nvGrpSpPr>
          <p:cNvPr id="886" name="Google Shape;886;p64"/>
          <p:cNvGrpSpPr/>
          <p:nvPr/>
        </p:nvGrpSpPr>
        <p:grpSpPr>
          <a:xfrm>
            <a:off x="0" y="6926580"/>
            <a:ext cx="12192000" cy="137160"/>
            <a:chOff x="0" y="6926580"/>
            <a:chExt cx="12192000" cy="137160"/>
          </a:xfrm>
        </p:grpSpPr>
        <p:sp>
          <p:nvSpPr>
            <p:cNvPr id="887" name="Google Shape;887;p64"/>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888" name="Google Shape;888;p64"/>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889" name="Google Shape;889;p64"/>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890" name="Google Shape;890;p64"/>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891" name="Google Shape;891;p64"/>
          <p:cNvGrpSpPr/>
          <p:nvPr/>
        </p:nvGrpSpPr>
        <p:grpSpPr>
          <a:xfrm>
            <a:off x="0" y="-205740"/>
            <a:ext cx="12192000" cy="137160"/>
            <a:chOff x="0" y="-205740"/>
            <a:chExt cx="12192000" cy="137160"/>
          </a:xfrm>
        </p:grpSpPr>
        <p:sp>
          <p:nvSpPr>
            <p:cNvPr id="892" name="Google Shape;892;p64"/>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893" name="Google Shape;893;p64"/>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894" name="Google Shape;894;p64"/>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895" name="Google Shape;895;p64"/>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896" name="Google Shape;896;p64"/>
          <p:cNvSpPr txBox="1"/>
          <p:nvPr>
            <p:ph type="title"/>
          </p:nvPr>
        </p:nvSpPr>
        <p:spPr>
          <a:xfrm>
            <a:off x="950142" y="2720529"/>
            <a:ext cx="10698933" cy="1065540"/>
          </a:xfrm>
          <a:prstGeom prst="rect">
            <a:avLst/>
          </a:prstGeom>
          <a:noFill/>
          <a:ln>
            <a:noFill/>
          </a:ln>
        </p:spPr>
        <p:txBody>
          <a:bodyPr anchorCtr="0" anchor="ctr" bIns="36000" lIns="91425" spcFirstLastPara="1" rIns="91425" wrap="square" tIns="36000">
            <a:normAutofit/>
          </a:bodyPr>
          <a:lstStyle/>
          <a:p>
            <a:pPr indent="0" lvl="0" marL="0" rtl="0" algn="l">
              <a:lnSpc>
                <a:spcPct val="100000"/>
              </a:lnSpc>
              <a:spcBef>
                <a:spcPts val="0"/>
              </a:spcBef>
              <a:spcAft>
                <a:spcPts val="0"/>
              </a:spcAft>
              <a:buNone/>
            </a:pPr>
            <a:r>
              <a:rPr lang="es-MX"/>
              <a:t>VMO y Planeación Financiera</a:t>
            </a:r>
            <a:br>
              <a:rPr lang="es-MX"/>
            </a:br>
            <a:r>
              <a:rPr b="0" lang="es-MX"/>
              <a:t>Fit for Purpose OXXO MX</a:t>
            </a:r>
            <a:endParaRPr/>
          </a:p>
        </p:txBody>
      </p:sp>
      <p:sp>
        <p:nvSpPr>
          <p:cNvPr id="897" name="Google Shape;897;p64"/>
          <p:cNvSpPr txBox="1"/>
          <p:nvPr/>
        </p:nvSpPr>
        <p:spPr>
          <a:xfrm>
            <a:off x="1016817" y="3838575"/>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Open Sans"/>
              <a:buNone/>
            </a:pPr>
            <a:r>
              <a:rPr i="0" lang="es-MX" sz="1600" u="none" cap="none" strike="noStrike">
                <a:solidFill>
                  <a:srgbClr val="FFFFFF"/>
                </a:solidFill>
                <a:latin typeface="Open Sans"/>
                <a:ea typeface="Open Sans"/>
                <a:cs typeface="Open Sans"/>
                <a:sym typeface="Open Sans"/>
              </a:rPr>
              <a:t>Enero 2026</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65"/>
          <p:cNvSpPr txBox="1"/>
          <p:nvPr>
            <p:ph type="title"/>
          </p:nvPr>
        </p:nvSpPr>
        <p:spPr>
          <a:xfrm>
            <a:off x="508799" y="250442"/>
            <a:ext cx="11352999" cy="46166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s-MX">
                <a:solidFill>
                  <a:srgbClr val="DE0230"/>
                </a:solidFill>
              </a:rPr>
              <a:t>Plan Aseguramiento y Estabilización | </a:t>
            </a:r>
            <a:r>
              <a:rPr lang="es-MX"/>
              <a:t>Interacciones Críticas (10)</a:t>
            </a:r>
            <a:endParaRPr/>
          </a:p>
        </p:txBody>
      </p:sp>
      <p:graphicFrame>
        <p:nvGraphicFramePr>
          <p:cNvPr id="903" name="Google Shape;903;p65"/>
          <p:cNvGraphicFramePr/>
          <p:nvPr/>
        </p:nvGraphicFramePr>
        <p:xfrm>
          <a:off x="481689" y="899707"/>
          <a:ext cx="3000000" cy="3000000"/>
        </p:xfrm>
        <a:graphic>
          <a:graphicData uri="http://schemas.openxmlformats.org/drawingml/2006/table">
            <a:tbl>
              <a:tblPr>
                <a:solidFill>
                  <a:srgbClr val="F2F2F2"/>
                </a:solidFill>
                <a:tableStyleId>{59F1A6B1-18B9-4B87-B458-7A3E6594CA7B}</a:tableStyleId>
              </a:tblPr>
              <a:tblGrid>
                <a:gridCol w="609700"/>
                <a:gridCol w="3464725"/>
                <a:gridCol w="2647775"/>
                <a:gridCol w="2118425"/>
                <a:gridCol w="2388000"/>
              </a:tblGrid>
              <a:tr h="263125">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Prioridad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Objetivo Principal</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Interacción Crítica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Impacto Estratégico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Responsables Principales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1</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Redefinir el </a:t>
                      </a:r>
                      <a:r>
                        <a:rPr b="1" i="1" lang="es-MX" sz="900" cap="none">
                          <a:solidFill>
                            <a:srgbClr val="7F7F7F"/>
                          </a:solidFill>
                          <a:latin typeface="Arial"/>
                          <a:ea typeface="Arial"/>
                          <a:cs typeface="Arial"/>
                          <a:sym typeface="Arial"/>
                        </a:rPr>
                        <a:t>Customer Value Proposition</a:t>
                      </a:r>
                      <a:r>
                        <a:rPr b="1" lang="es-MX" sz="900" cap="none">
                          <a:solidFill>
                            <a:srgbClr val="7F7F7F"/>
                          </a:solidFill>
                          <a:latin typeface="Arial"/>
                          <a:ea typeface="Arial"/>
                          <a:cs typeface="Arial"/>
                          <a:sym typeface="Arial"/>
                        </a:rPr>
                        <a:t> </a:t>
                      </a:r>
                      <a:r>
                        <a:rPr lang="es-MX" sz="900" cap="none">
                          <a:solidFill>
                            <a:srgbClr val="7F7F7F"/>
                          </a:solidFill>
                          <a:latin typeface="Arial"/>
                          <a:ea typeface="Arial"/>
                          <a:cs typeface="Arial"/>
                          <a:sym typeface="Arial"/>
                        </a:rPr>
                        <a:t>(CVP) y distribuir el ownership del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Customer &amp; Marketing</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Alinea la propuesta de valor al cliente con las estrategias comerciales.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 </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2</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Habilitar </a:t>
                      </a:r>
                      <a:r>
                        <a:rPr b="1" i="1" lang="es-MX" sz="900" cap="none">
                          <a:solidFill>
                            <a:srgbClr val="7F7F7F"/>
                          </a:solidFill>
                          <a:latin typeface="Arial"/>
                          <a:ea typeface="Arial"/>
                          <a:cs typeface="Arial"/>
                          <a:sym typeface="Arial"/>
                        </a:rPr>
                        <a:t>decisiones comerciales de precios, variedad, volumen y márgenes </a:t>
                      </a:r>
                      <a:r>
                        <a:rPr lang="es-MX" sz="900" cap="none">
                          <a:solidFill>
                            <a:srgbClr val="7F7F7F"/>
                          </a:solidFill>
                          <a:latin typeface="Arial"/>
                          <a:ea typeface="Arial"/>
                          <a:cs typeface="Arial"/>
                          <a:sym typeface="Arial"/>
                        </a:rPr>
                        <a:t>con soporte de análisis profundo y detallado.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Commercial Finance (Finanzas) ↔ Data &amp; Analytics (C&amp;M)</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Mejora la rentabilidad comercial y control financiero.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Finanzas</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3</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Integrar la </a:t>
                      </a:r>
                      <a:r>
                        <a:rPr b="1" i="1" lang="es-MX" sz="900" cap="none">
                          <a:solidFill>
                            <a:srgbClr val="7F7F7F"/>
                          </a:solidFill>
                          <a:latin typeface="Arial"/>
                          <a:ea typeface="Arial"/>
                          <a:cs typeface="Arial"/>
                          <a:sym typeface="Arial"/>
                        </a:rPr>
                        <a:t>Voz del Cliente </a:t>
                      </a:r>
                      <a:r>
                        <a:rPr lang="es-MX" sz="900" cap="none">
                          <a:solidFill>
                            <a:srgbClr val="7F7F7F"/>
                          </a:solidFill>
                          <a:latin typeface="Arial"/>
                          <a:ea typeface="Arial"/>
                          <a:cs typeface="Arial"/>
                          <a:sym typeface="Arial"/>
                        </a:rPr>
                        <a:t>en los procesos comerciales end-to-end para mejorar experiencia y ejecución.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Customer &amp; Marketing ↔ Excelencia Operativa</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Conecta diseño comercial con ejecución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Excelencia Operativa</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000000"/>
                        </a:buClr>
                        <a:buSzPts val="900"/>
                        <a:buFont typeface="Arial"/>
                        <a:buNone/>
                      </a:pPr>
                      <a:r>
                        <a:rPr b="1" lang="es-MX" sz="900" cap="none">
                          <a:solidFill>
                            <a:srgbClr val="000000"/>
                          </a:solidFill>
                          <a:latin typeface="Arial"/>
                          <a:ea typeface="Arial"/>
                          <a:cs typeface="Arial"/>
                          <a:sym typeface="Arial"/>
                        </a:rPr>
                        <a:t>4</a:t>
                      </a:r>
                      <a:endParaRPr sz="900" cap="none">
                        <a:solidFill>
                          <a:srgbClr val="000000"/>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Implementar la </a:t>
                      </a:r>
                      <a:r>
                        <a:rPr b="1" i="1" lang="es-MX" sz="900" cap="none">
                          <a:solidFill>
                            <a:srgbClr val="000000"/>
                          </a:solidFill>
                          <a:latin typeface="Arial"/>
                          <a:ea typeface="Arial"/>
                          <a:cs typeface="Arial"/>
                          <a:sym typeface="Arial"/>
                        </a:rPr>
                        <a:t>Value Management Office </a:t>
                      </a:r>
                      <a:r>
                        <a:rPr lang="es-MX" sz="900" cap="none">
                          <a:solidFill>
                            <a:srgbClr val="000000"/>
                          </a:solidFill>
                          <a:latin typeface="Arial"/>
                          <a:ea typeface="Arial"/>
                          <a:cs typeface="Arial"/>
                          <a:sym typeface="Arial"/>
                        </a:rPr>
                        <a:t>(VMO) y asegurar la inversión, gobernanza, priorización y trazabilidad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rgbClr val="000000"/>
                        </a:buClr>
                        <a:buSzPts val="900"/>
                        <a:buFont typeface="Arial"/>
                        <a:buNone/>
                      </a:pPr>
                      <a:r>
                        <a:rPr b="1" lang="es-MX" sz="900" cap="none">
                          <a:solidFill>
                            <a:srgbClr val="000000"/>
                          </a:solidFill>
                          <a:latin typeface="Arial"/>
                          <a:ea typeface="Arial"/>
                          <a:cs typeface="Arial"/>
                          <a:sym typeface="Arial"/>
                        </a:rPr>
                        <a:t>Estrategia y Transformación ↔ Todas las Plataformas</a:t>
                      </a:r>
                      <a:endParaRPr sz="900" cap="none">
                        <a:solidFill>
                          <a:srgbClr val="000000"/>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Asegura trazabilidad y captura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Dir. Estrategia y Transformación</a:t>
                      </a:r>
                      <a:endParaRPr/>
                    </a:p>
                    <a:p>
                      <a:pPr indent="0" lvl="0" marL="0" marR="0" rtl="0" algn="l">
                        <a:lnSpc>
                          <a:spcPct val="100000"/>
                        </a:lnSpc>
                        <a:spcBef>
                          <a:spcPts val="0"/>
                        </a:spcBef>
                        <a:spcAft>
                          <a:spcPts val="0"/>
                        </a:spcAft>
                        <a:buClr>
                          <a:srgbClr val="000000"/>
                        </a:buClr>
                        <a:buSzPts val="900"/>
                        <a:buFont typeface="Arial"/>
                        <a:buNone/>
                      </a:pPr>
                      <a:r>
                        <a:rPr lang="es-MX" sz="900" cap="none">
                          <a:solidFill>
                            <a:srgbClr val="000000"/>
                          </a:solidFill>
                          <a:latin typeface="Arial"/>
                          <a:ea typeface="Arial"/>
                          <a:cs typeface="Arial"/>
                          <a:sym typeface="Arial"/>
                        </a:rPr>
                        <a:t>Dir. Finanzas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r>
              <a:tr h="595250">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5</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Estandarizar el </a:t>
                      </a:r>
                      <a:r>
                        <a:rPr b="1" i="1" lang="es-MX" sz="900" cap="none">
                          <a:solidFill>
                            <a:srgbClr val="7F7F7F"/>
                          </a:solidFill>
                          <a:latin typeface="Arial"/>
                          <a:ea typeface="Arial"/>
                          <a:cs typeface="Arial"/>
                          <a:sym typeface="Arial"/>
                        </a:rPr>
                        <a:t>Modelo de Madurez</a:t>
                      </a:r>
                      <a:r>
                        <a:rPr lang="es-MX" sz="900" cap="none">
                          <a:solidFill>
                            <a:srgbClr val="7F7F7F"/>
                          </a:solidFill>
                          <a:latin typeface="Arial"/>
                          <a:ea typeface="Arial"/>
                          <a:cs typeface="Arial"/>
                          <a:sym typeface="Arial"/>
                        </a:rPr>
                        <a:t> y orquestar el </a:t>
                      </a:r>
                      <a:r>
                        <a:rPr b="1" i="1" lang="es-MX" sz="900" cap="none">
                          <a:solidFill>
                            <a:srgbClr val="7F7F7F"/>
                          </a:solidFill>
                          <a:latin typeface="Arial"/>
                          <a:ea typeface="Arial"/>
                          <a:cs typeface="Arial"/>
                          <a:sym typeface="Arial"/>
                        </a:rPr>
                        <a:t>modelo operativo end-to-end</a:t>
                      </a:r>
                      <a:r>
                        <a:rPr lang="es-MX" sz="900" cap="none">
                          <a:solidFill>
                            <a:srgbClr val="7F7F7F"/>
                          </a:solidFill>
                          <a:latin typeface="Arial"/>
                          <a:ea typeface="Arial"/>
                          <a:cs typeface="Arial"/>
                          <a:sym typeface="Arial"/>
                        </a:rPr>
                        <a:t>, integrando procesos de excelencia, despliegue operativo y cadena de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Excelencia Operativa ↔ Operaciones Nacionales / Despliegue Op. ↔ Procesos Operativos CDS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Fortalece la consistencia operativa y accountability.</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Excelencia Operativa</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Operaciones</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Cadena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chemeClr val="dk1"/>
                        </a:buClr>
                        <a:buSzPts val="900"/>
                        <a:buFont typeface="Arial"/>
                        <a:buNone/>
                      </a:pPr>
                      <a:r>
                        <a:rPr b="1" lang="es-MX" sz="900" cap="none">
                          <a:solidFill>
                            <a:schemeClr val="dk1"/>
                          </a:solidFill>
                          <a:latin typeface="Arial"/>
                          <a:ea typeface="Arial"/>
                          <a:cs typeface="Arial"/>
                          <a:sym typeface="Arial"/>
                        </a:rPr>
                        <a:t>6</a:t>
                      </a:r>
                      <a:endParaRPr sz="900" cap="none">
                        <a:solidFill>
                          <a:schemeClr val="dk1"/>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Alinear la </a:t>
                      </a:r>
                      <a:r>
                        <a:rPr b="1" i="1" lang="es-MX" sz="900" cap="none">
                          <a:solidFill>
                            <a:schemeClr val="dk1"/>
                          </a:solidFill>
                          <a:latin typeface="Arial"/>
                          <a:ea typeface="Arial"/>
                          <a:cs typeface="Arial"/>
                          <a:sym typeface="Arial"/>
                        </a:rPr>
                        <a:t>planeación financiera </a:t>
                      </a:r>
                      <a:r>
                        <a:rPr lang="es-MX" sz="900" cap="none">
                          <a:solidFill>
                            <a:schemeClr val="dk1"/>
                          </a:solidFill>
                          <a:latin typeface="Arial"/>
                          <a:ea typeface="Arial"/>
                          <a:cs typeface="Arial"/>
                          <a:sym typeface="Arial"/>
                        </a:rPr>
                        <a:t>con el </a:t>
                      </a:r>
                      <a:r>
                        <a:rPr b="1" i="1" lang="es-MX" sz="900" cap="none">
                          <a:solidFill>
                            <a:schemeClr val="dk1"/>
                          </a:solidFill>
                          <a:latin typeface="Arial"/>
                          <a:ea typeface="Arial"/>
                          <a:cs typeface="Arial"/>
                          <a:sym typeface="Arial"/>
                        </a:rPr>
                        <a:t>portafolio estratégico </a:t>
                      </a:r>
                      <a:r>
                        <a:rPr lang="es-MX" sz="900" cap="none">
                          <a:solidFill>
                            <a:schemeClr val="dk1"/>
                          </a:solidFill>
                          <a:latin typeface="Arial"/>
                          <a:ea typeface="Arial"/>
                          <a:cs typeface="Arial"/>
                          <a:sym typeface="Arial"/>
                        </a:rPr>
                        <a:t>y la medición de beneficios.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b="1" lang="es-MX" sz="900" cap="none">
                          <a:solidFill>
                            <a:schemeClr val="dk1"/>
                          </a:solidFill>
                          <a:latin typeface="Arial"/>
                          <a:ea typeface="Arial"/>
                          <a:cs typeface="Arial"/>
                          <a:sym typeface="Arial"/>
                        </a:rPr>
                        <a:t>Finanzas ↔ Estrategia y Transformación</a:t>
                      </a:r>
                      <a:endParaRPr sz="900" cap="none">
                        <a:solidFill>
                          <a:schemeClr val="dk1"/>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Fortalece la disciplina de inversión y valor generado.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Dir. Finanzas</a:t>
                      </a:r>
                      <a:endParaRPr/>
                    </a:p>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7</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Consolidar </a:t>
                      </a:r>
                      <a:r>
                        <a:rPr b="1" i="1" lang="es-MX" sz="900" cap="none">
                          <a:solidFill>
                            <a:srgbClr val="7F7F7F"/>
                          </a:solidFill>
                          <a:latin typeface="Arial"/>
                          <a:ea typeface="Arial"/>
                          <a:cs typeface="Arial"/>
                          <a:sym typeface="Arial"/>
                        </a:rPr>
                        <a:t>capacidades digitales </a:t>
                      </a:r>
                      <a:r>
                        <a:rPr lang="es-MX" sz="900" cap="none">
                          <a:solidFill>
                            <a:srgbClr val="7F7F7F"/>
                          </a:solidFill>
                          <a:latin typeface="Arial"/>
                          <a:ea typeface="Arial"/>
                          <a:cs typeface="Arial"/>
                          <a:sym typeface="Arial"/>
                        </a:rPr>
                        <a:t>y analítica avanzada para habilitar </a:t>
                      </a:r>
                      <a:r>
                        <a:rPr b="1" i="1" lang="es-MX" sz="900" cap="none">
                          <a:solidFill>
                            <a:srgbClr val="7F7F7F"/>
                          </a:solidFill>
                          <a:latin typeface="Arial"/>
                          <a:ea typeface="Arial"/>
                          <a:cs typeface="Arial"/>
                          <a:sym typeface="Arial"/>
                        </a:rPr>
                        <a:t>omnicanalidad</a:t>
                      </a:r>
                      <a:r>
                        <a:rPr lang="es-MX" sz="900" cap="none">
                          <a:solidFill>
                            <a:srgbClr val="7F7F7F"/>
                          </a:solidFill>
                          <a:latin typeface="Arial"/>
                          <a:ea typeface="Arial"/>
                          <a:cs typeface="Arial"/>
                          <a:sym typeface="Arial"/>
                        </a:rPr>
                        <a:t> y segmentación dinámica.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TI ↔ Customer &amp; Marketing ↔ Todas las Plataformas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Digitalización del core y habilitación de experiencia al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TI OXXO MX</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8</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i="1" lang="es-MX" sz="900" cap="none">
                          <a:solidFill>
                            <a:srgbClr val="7F7F7F"/>
                          </a:solidFill>
                          <a:latin typeface="Arial"/>
                          <a:ea typeface="Arial"/>
                          <a:cs typeface="Arial"/>
                          <a:sym typeface="Arial"/>
                        </a:rPr>
                        <a:t>Integración de Expansión </a:t>
                      </a:r>
                      <a:r>
                        <a:rPr lang="es-MX" sz="900" cap="none">
                          <a:solidFill>
                            <a:srgbClr val="7F7F7F"/>
                          </a:solidFill>
                          <a:latin typeface="Arial"/>
                          <a:ea typeface="Arial"/>
                          <a:cs typeface="Arial"/>
                          <a:sym typeface="Arial"/>
                        </a:rPr>
                        <a:t>bajo el modelo operativo para fortalecer gobernanza, sostenibilidad y velocidad de apertura.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Expansión ↔ Operaciones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Maximiza sinergias en aperturas, batting y sostenibilidad.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Operaciones</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Expansión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9</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Integración de </a:t>
                      </a:r>
                      <a:r>
                        <a:rPr b="1" lang="es-MX" sz="900" cap="none">
                          <a:solidFill>
                            <a:srgbClr val="7F7F7F"/>
                          </a:solidFill>
                          <a:latin typeface="Arial"/>
                          <a:ea typeface="Arial"/>
                          <a:cs typeface="Arial"/>
                          <a:sym typeface="Arial"/>
                        </a:rPr>
                        <a:t>Operaciones Foodservice </a:t>
                      </a:r>
                      <a:r>
                        <a:rPr lang="es-MX" sz="900" cap="none">
                          <a:solidFill>
                            <a:srgbClr val="7F7F7F"/>
                          </a:solidFill>
                          <a:latin typeface="Arial"/>
                          <a:ea typeface="Arial"/>
                          <a:cs typeface="Arial"/>
                          <a:sym typeface="Arial"/>
                        </a:rPr>
                        <a:t>a </a:t>
                      </a:r>
                      <a:r>
                        <a:rPr b="1" lang="es-MX" sz="900" cap="none">
                          <a:solidFill>
                            <a:srgbClr val="7F7F7F"/>
                          </a:solidFill>
                          <a:latin typeface="Arial"/>
                          <a:ea typeface="Arial"/>
                          <a:cs typeface="Arial"/>
                          <a:sym typeface="Arial"/>
                        </a:rPr>
                        <a:t>Operaciones Tiendas </a:t>
                      </a:r>
                      <a:r>
                        <a:rPr b="0" lang="es-MX" sz="900" cap="none">
                          <a:solidFill>
                            <a:srgbClr val="7F7F7F"/>
                          </a:solidFill>
                          <a:latin typeface="Arial"/>
                          <a:ea typeface="Arial"/>
                          <a:cs typeface="Arial"/>
                          <a:sym typeface="Arial"/>
                        </a:rPr>
                        <a:t>para escalar e integrar la ejecución de la propuesta de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Operaciones Nacionales ↔ Excelencia Operativa </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Escalabilidad y alineación operativa de la propuesta de valor integrada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 </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Operaciones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10</a:t>
                      </a:r>
                      <a:endParaRPr b="1"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0" lang="es-MX" sz="900" cap="none">
                          <a:solidFill>
                            <a:srgbClr val="7F7F7F"/>
                          </a:solidFill>
                          <a:latin typeface="Arial"/>
                          <a:ea typeface="Arial"/>
                          <a:cs typeface="Arial"/>
                          <a:sym typeface="Arial"/>
                        </a:rPr>
                        <a:t>Propuesta de valor de </a:t>
                      </a:r>
                      <a:r>
                        <a:rPr b="1" lang="es-MX" sz="900" cap="none">
                          <a:solidFill>
                            <a:srgbClr val="7F7F7F"/>
                          </a:solidFill>
                          <a:latin typeface="Arial"/>
                          <a:ea typeface="Arial"/>
                          <a:cs typeface="Arial"/>
                          <a:sym typeface="Arial"/>
                        </a:rPr>
                        <a:t>Servicios Comerciales </a:t>
                      </a:r>
                      <a:r>
                        <a:rPr b="0" lang="es-MX" sz="900" cap="none">
                          <a:solidFill>
                            <a:srgbClr val="7F7F7F"/>
                          </a:solidFill>
                          <a:latin typeface="Arial"/>
                          <a:ea typeface="Arial"/>
                          <a:cs typeface="Arial"/>
                          <a:sym typeface="Arial"/>
                        </a:rPr>
                        <a:t>independiente, alineada a la estrategia de negocio y </a:t>
                      </a:r>
                      <a:r>
                        <a:rPr b="1" lang="es-MX" sz="900" cap="none">
                          <a:solidFill>
                            <a:srgbClr val="7F7F7F"/>
                          </a:solidFill>
                          <a:latin typeface="Arial"/>
                          <a:ea typeface="Arial"/>
                          <a:cs typeface="Arial"/>
                          <a:sym typeface="Arial"/>
                        </a:rPr>
                        <a:t>en sinergia con Ejecución Comercial</a:t>
                      </a:r>
                      <a:endParaRPr b="1"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Ejecución Comercial (Comercial) ↔ Servicios Comerciales (E&amp;T)</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Propuesta de valor de Servicios Comerciales en línea con la estrategia de negocio</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66"/>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VMO</a:t>
            </a:r>
            <a:endParaRPr/>
          </a:p>
        </p:txBody>
      </p:sp>
      <p:sp>
        <p:nvSpPr>
          <p:cNvPr id="909" name="Google Shape;909;p66"/>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910" name="Google Shape;910;p66"/>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517225"/>
                <a:gridCol w="517225"/>
                <a:gridCol w="1034475"/>
                <a:gridCol w="517225"/>
                <a:gridCol w="517225"/>
                <a:gridCol w="517225"/>
                <a:gridCol w="51722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Priorización y gobernanza del portafolio estratégico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Evaluación y aprobación de business cases / inversiones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Asignación de recursos (CAPEX / OPEX / capacidad)</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Ejecución y despliegue de iniciativas estratégicas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Seguimiento de valor, KPIs y beneficios realizados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Corrección de rumbo / pausa / cancelación de iniciativas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911" name="Google Shape;911;p66"/>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a:t>
            </a:r>
            <a:endParaRPr/>
          </a:p>
        </p:txBody>
      </p:sp>
      <p:sp>
        <p:nvSpPr>
          <p:cNvPr id="912" name="Google Shape;912;p66"/>
          <p:cNvSpPr/>
          <p:nvPr/>
        </p:nvSpPr>
        <p:spPr>
          <a:xfrm>
            <a:off x="394585" y="19332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2</a:t>
            </a:r>
            <a:endParaRPr/>
          </a:p>
        </p:txBody>
      </p:sp>
      <p:sp>
        <p:nvSpPr>
          <p:cNvPr id="913" name="Google Shape;913;p66"/>
          <p:cNvSpPr/>
          <p:nvPr/>
        </p:nvSpPr>
        <p:spPr>
          <a:xfrm>
            <a:off x="394585" y="24797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3</a:t>
            </a:r>
            <a:endParaRPr/>
          </a:p>
        </p:txBody>
      </p:sp>
      <p:sp>
        <p:nvSpPr>
          <p:cNvPr id="914" name="Google Shape;914;p66"/>
          <p:cNvSpPr/>
          <p:nvPr/>
        </p:nvSpPr>
        <p:spPr>
          <a:xfrm>
            <a:off x="394585" y="30263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4</a:t>
            </a:r>
            <a:endParaRPr/>
          </a:p>
        </p:txBody>
      </p:sp>
      <p:sp>
        <p:nvSpPr>
          <p:cNvPr id="915" name="Google Shape;915;p66"/>
          <p:cNvSpPr/>
          <p:nvPr/>
        </p:nvSpPr>
        <p:spPr>
          <a:xfrm>
            <a:off x="394585" y="35728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5</a:t>
            </a:r>
            <a:endParaRPr/>
          </a:p>
        </p:txBody>
      </p:sp>
      <p:sp>
        <p:nvSpPr>
          <p:cNvPr id="916" name="Google Shape;916;p66"/>
          <p:cNvSpPr/>
          <p:nvPr/>
        </p:nvSpPr>
        <p:spPr>
          <a:xfrm>
            <a:off x="394585" y="41194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6</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67"/>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VMO</a:t>
            </a:r>
            <a:endParaRPr/>
          </a:p>
        </p:txBody>
      </p:sp>
      <p:sp>
        <p:nvSpPr>
          <p:cNvPr id="922" name="Google Shape;922;p67"/>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923" name="Google Shape;923;p67"/>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517225"/>
                <a:gridCol w="51722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Priorización y gobernanza del portafolio estratégico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924" name="Google Shape;924;p67"/>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a:t>
            </a:r>
            <a:endParaRPr/>
          </a:p>
        </p:txBody>
      </p:sp>
      <p:sp>
        <p:nvSpPr>
          <p:cNvPr id="925" name="Google Shape;925;p67"/>
          <p:cNvSpPr/>
          <p:nvPr/>
        </p:nvSpPr>
        <p:spPr>
          <a:xfrm>
            <a:off x="1668982" y="4949543"/>
            <a:ext cx="9979679" cy="1475238"/>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Requiere visibilidad de las prioridades estratégicas para alinear planes comerciales, categorías y timing de iniciativas, usa el portafolio como marco de referencia para evitar esfuerzos comerciales fuera de foco estratégico.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(Regiones / Plazas): </a:t>
            </a:r>
            <a:r>
              <a:rPr lang="es-MX" sz="1000">
                <a:solidFill>
                  <a:schemeClr val="dk1"/>
                </a:solidFill>
                <a:latin typeface="Open Sans"/>
                <a:ea typeface="Open Sans"/>
                <a:cs typeface="Open Sans"/>
                <a:sym typeface="Open Sans"/>
              </a:rPr>
              <a:t>Necesita conocer las prioridades para anticipar impactos en carga operativa y planeación regional, la visibilidad temprana permite preparar capacidades sin intervenir en la priorización.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Requiere visibilidad del portafolio para anticipar impactos futuros en abasto, logística e infraestructura, permite planear capacidades sin ser parte del proceso de priorización.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Necesita conocer el portafolio priorizado para planear demanda tecnológica y secuenciar iniciativas, evita comprometer capacidades tecnológicas en iniciativas no prioritarias.</a:t>
            </a:r>
            <a:endParaRPr/>
          </a:p>
        </p:txBody>
      </p:sp>
      <p:sp>
        <p:nvSpPr>
          <p:cNvPr id="926" name="Google Shape;926;p67"/>
          <p:cNvSpPr/>
          <p:nvPr/>
        </p:nvSpPr>
        <p:spPr>
          <a:xfrm>
            <a:off x="1668983" y="1938403"/>
            <a:ext cx="9979679" cy="1244266"/>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Es responsable de definir y custodiar los criterios de priorización alineados a la estrategia del negocio, integra las distintas iniciativas en un portafolio único, asegurando foco, coherencia y balance entre corto y largo plazo y gobierna la cadencia de revisión y seguimiento del portafolio, habilitando decisiones oportunas basadas en valor.</a:t>
            </a:r>
            <a:endParaRPr/>
          </a:p>
        </p:txBody>
      </p:sp>
      <p:sp>
        <p:nvSpPr>
          <p:cNvPr id="927" name="Google Shape;927;p67"/>
          <p:cNvSpPr/>
          <p:nvPr/>
        </p:nvSpPr>
        <p:spPr>
          <a:xfrm>
            <a:off x="1668982" y="3885305"/>
            <a:ext cx="9979679" cy="998561"/>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Contribuye con insights de cliente y CX relevantes para orientar la priorización y asegura que la voz del cliente esté considerada en la agenda estratégica.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Aporta criterios de madurez operativa y complejidad de procesos y anticipa impactos en modelo operativo y adopción.</a:t>
            </a:r>
            <a:endParaRPr/>
          </a:p>
        </p:txBody>
      </p:sp>
      <p:sp>
        <p:nvSpPr>
          <p:cNvPr id="928" name="Google Shape;928;p67"/>
          <p:cNvSpPr/>
          <p:nvPr/>
        </p:nvSpPr>
        <p:spPr>
          <a:xfrm>
            <a:off x="1668983" y="3236341"/>
            <a:ext cx="9979679" cy="595292"/>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Aporta visibilidad financiera para soportar decisiones de priorización, señala restricciones, riesgos y trade-offs económicos que deben considerarse en el portafolio. No define prioridades, pero habilita decisiones informadas.</a:t>
            </a:r>
            <a:endParaRPr/>
          </a:p>
        </p:txBody>
      </p:sp>
      <p:sp>
        <p:nvSpPr>
          <p:cNvPr id="929" name="Google Shape;929;p67"/>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930" name="Google Shape;930;p67"/>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931" name="Google Shape;931;p67"/>
          <p:cNvSpPr/>
          <p:nvPr/>
        </p:nvSpPr>
        <p:spPr>
          <a:xfrm>
            <a:off x="470554" y="3236341"/>
            <a:ext cx="1110263" cy="595292"/>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932" name="Google Shape;932;p67"/>
          <p:cNvSpPr/>
          <p:nvPr/>
        </p:nvSpPr>
        <p:spPr>
          <a:xfrm>
            <a:off x="470554" y="4949542"/>
            <a:ext cx="1110263" cy="144475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933" name="Google Shape;933;p67"/>
          <p:cNvSpPr/>
          <p:nvPr/>
        </p:nvSpPr>
        <p:spPr>
          <a:xfrm>
            <a:off x="470554" y="3885305"/>
            <a:ext cx="1110263" cy="998561"/>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68"/>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VMO</a:t>
            </a:r>
            <a:endParaRPr/>
          </a:p>
        </p:txBody>
      </p:sp>
      <p:sp>
        <p:nvSpPr>
          <p:cNvPr id="939" name="Google Shape;939;p68"/>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940" name="Google Shape;940;p68"/>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Evaluación y aprobación de business cases / inversiones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941" name="Google Shape;941;p68"/>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2</a:t>
            </a:r>
            <a:endParaRPr/>
          </a:p>
        </p:txBody>
      </p:sp>
      <p:sp>
        <p:nvSpPr>
          <p:cNvPr id="942" name="Google Shape;942;p68"/>
          <p:cNvSpPr/>
          <p:nvPr/>
        </p:nvSpPr>
        <p:spPr>
          <a:xfrm>
            <a:off x="1668982" y="3238934"/>
            <a:ext cx="9979679" cy="1475238"/>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Requiere visibilidad de iniciativas aprobadas para anticipar impactos en experiencia de cliente y comunicación, asegura alineación posterior sin participar en la evaluación financiera.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Necesita conocer decisiones de inversión para ajustar planes comerciales y compromisos con proveedores, permite alinear expectativas de ejecución sin intervenir en la aprobación.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Requiere visibilidad para anticipar impactos futuros en procesos y estándares, no valida el caso, pero se prepara para soportar la ejecución posterior.</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 Cadena de Suministro / TI: </a:t>
            </a:r>
            <a:r>
              <a:rPr lang="es-MX" sz="1000">
                <a:solidFill>
                  <a:schemeClr val="dk1"/>
                </a:solidFill>
                <a:latin typeface="Open Sans"/>
                <a:ea typeface="Open Sans"/>
                <a:cs typeface="Open Sans"/>
                <a:sym typeface="Open Sans"/>
              </a:rPr>
              <a:t>Necesitan conocer las decisiones tomadas para planear capacidad, recursos y tiempos de respuesta, la información temprana reduce fricciones en etapas posteriores.</a:t>
            </a:r>
            <a:endParaRPr/>
          </a:p>
        </p:txBody>
      </p:sp>
      <p:sp>
        <p:nvSpPr>
          <p:cNvPr id="943" name="Google Shape;943;p68"/>
          <p:cNvSpPr/>
          <p:nvPr/>
        </p:nvSpPr>
        <p:spPr>
          <a:xfrm>
            <a:off x="1668983" y="2587375"/>
            <a:ext cx="9979679" cy="595293"/>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Asegura que los business cases estén alineados a la estrategia y al portafolio vigente, reta el alcance, beneficios y supuestos estratégicos de las iniciativas y valida que el valor esperado sea claro, medible y trazable.</a:t>
            </a:r>
            <a:endParaRPr/>
          </a:p>
        </p:txBody>
      </p:sp>
      <p:sp>
        <p:nvSpPr>
          <p:cNvPr id="944" name="Google Shape;944;p68"/>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945" name="Google Shape;945;p68"/>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946" name="Google Shape;946;p68"/>
          <p:cNvSpPr/>
          <p:nvPr/>
        </p:nvSpPr>
        <p:spPr>
          <a:xfrm>
            <a:off x="470554" y="3238933"/>
            <a:ext cx="1110263" cy="144475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947" name="Google Shape;947;p68"/>
          <p:cNvSpPr/>
          <p:nvPr/>
        </p:nvSpPr>
        <p:spPr>
          <a:xfrm>
            <a:off x="1668983" y="1934977"/>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Lidera la evaluación financiera de las iniciativas (ROI, riesgos, payback), valida supuestos económicos y consistencia financiera del caso y proporciona insumos clave para la decisión de aprobación.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69"/>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VMO</a:t>
            </a:r>
            <a:endParaRPr/>
          </a:p>
        </p:txBody>
      </p:sp>
      <p:sp>
        <p:nvSpPr>
          <p:cNvPr id="953" name="Google Shape;953;p69"/>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954" name="Google Shape;954;p69"/>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Asignación de recursos (CAPEX / OPEX / capacidad)</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955" name="Google Shape;955;p69"/>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3</a:t>
            </a:r>
            <a:endParaRPr b="0" i="0" sz="1152" u="none" cap="none" strike="noStrike">
              <a:solidFill>
                <a:srgbClr val="FFFFFF"/>
              </a:solidFill>
              <a:latin typeface="Arial"/>
              <a:ea typeface="Arial"/>
              <a:cs typeface="Arial"/>
              <a:sym typeface="Arial"/>
            </a:endParaRPr>
          </a:p>
        </p:txBody>
      </p:sp>
      <p:sp>
        <p:nvSpPr>
          <p:cNvPr id="956" name="Google Shape;956;p69"/>
          <p:cNvSpPr/>
          <p:nvPr/>
        </p:nvSpPr>
        <p:spPr>
          <a:xfrm>
            <a:off x="1668982" y="3971300"/>
            <a:ext cx="9979679" cy="1475238"/>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Requiere visibilidad de asignaciones para alinear expectativas de iniciativas orientadas a cliente y permite ajustar planes sin intervenir en la decisión financiera.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Necesita conocer asignaciones para planear ejecución comercial y compromisos de mercado, evita dependencias no financiadas.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Requiere visibilidad para anticipar cambios en procesos derivados de la asignación de recursos y se prepara para estandarización futura sin decidir recursos.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Necesita conocer asignaciones para planear capacidad tecnológica y roadmap de habilitación y evita sobrecarga de demanda no financiada.</a:t>
            </a:r>
            <a:endParaRPr/>
          </a:p>
        </p:txBody>
      </p:sp>
      <p:sp>
        <p:nvSpPr>
          <p:cNvPr id="957" name="Google Shape;957;p69"/>
          <p:cNvSpPr/>
          <p:nvPr/>
        </p:nvSpPr>
        <p:spPr>
          <a:xfrm>
            <a:off x="1668983" y="1938403"/>
            <a:ext cx="9979679" cy="595292"/>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Asegura que la asignación de recursos siga la lógica del portafolio estratégico e identifica trade-offs estratégicos cuando los recursos son limitados.</a:t>
            </a:r>
            <a:endParaRPr/>
          </a:p>
        </p:txBody>
      </p:sp>
      <p:sp>
        <p:nvSpPr>
          <p:cNvPr id="958" name="Google Shape;958;p69"/>
          <p:cNvSpPr/>
          <p:nvPr/>
        </p:nvSpPr>
        <p:spPr>
          <a:xfrm>
            <a:off x="1668982" y="3233365"/>
            <a:ext cx="9979679" cy="678235"/>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a:t>
            </a:r>
            <a:r>
              <a:rPr lang="es-MX" sz="1000">
                <a:solidFill>
                  <a:schemeClr val="dk1"/>
                </a:solidFill>
                <a:latin typeface="Open Sans"/>
                <a:ea typeface="Open Sans"/>
                <a:cs typeface="Open Sans"/>
                <a:sym typeface="Open Sans"/>
              </a:rPr>
              <a:t>Valida capacidad real de ejecución en campo, anticipa impactos en carga operativa y prioridades regionales.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Aporta visibilidad sobre capacidades logísticas y restricciones de abasto, identifica riesgos operativos derivados de la asignación de recursos.</a:t>
            </a:r>
            <a:endParaRPr/>
          </a:p>
        </p:txBody>
      </p:sp>
      <p:sp>
        <p:nvSpPr>
          <p:cNvPr id="959" name="Google Shape;959;p69"/>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960" name="Google Shape;960;p69"/>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961" name="Google Shape;961;p69"/>
          <p:cNvSpPr/>
          <p:nvPr/>
        </p:nvSpPr>
        <p:spPr>
          <a:xfrm>
            <a:off x="470554" y="3971299"/>
            <a:ext cx="1110263" cy="144475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962" name="Google Shape;962;p69"/>
          <p:cNvSpPr/>
          <p:nvPr/>
        </p:nvSpPr>
        <p:spPr>
          <a:xfrm>
            <a:off x="470554" y="3233365"/>
            <a:ext cx="1110263" cy="678235"/>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963" name="Google Shape;963;p69"/>
          <p:cNvSpPr/>
          <p:nvPr/>
        </p:nvSpPr>
        <p:spPr>
          <a:xfrm>
            <a:off x="1668982" y="2587376"/>
            <a:ext cx="9979679" cy="595292"/>
          </a:xfrm>
          <a:prstGeom prst="rect">
            <a:avLst/>
          </a:prstGeom>
          <a:solidFill>
            <a:srgbClr val="FFFFFF"/>
          </a:solidFill>
          <a:ln cap="rnd" cmpd="sng" w="19050">
            <a:solidFill>
              <a:srgbClr val="EEE8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Es </a:t>
            </a:r>
            <a:r>
              <a:rPr i="1" lang="es-MX" sz="1000">
                <a:solidFill>
                  <a:schemeClr val="dk1"/>
                </a:solidFill>
                <a:latin typeface="Open Sans"/>
                <a:ea typeface="Open Sans"/>
                <a:cs typeface="Open Sans"/>
                <a:sym typeface="Open Sans"/>
              </a:rPr>
              <a:t>accountable</a:t>
            </a:r>
            <a:r>
              <a:rPr lang="es-MX" sz="1000">
                <a:solidFill>
                  <a:schemeClr val="dk1"/>
                </a:solidFill>
                <a:latin typeface="Open Sans"/>
                <a:ea typeface="Open Sans"/>
                <a:cs typeface="Open Sans"/>
                <a:sym typeface="Open Sans"/>
              </a:rPr>
              <a:t> de la asignación de recursos financieros conforme a prioridades aprobadas, balancea restricciones presupuestales, riesgos y retorno esperado y ajusta asignaciones ante cambios en contexto o desempeño.</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7" name="Shape 967"/>
        <p:cNvGrpSpPr/>
        <p:nvPr/>
      </p:nvGrpSpPr>
      <p:grpSpPr>
        <a:xfrm>
          <a:off x="0" y="0"/>
          <a:ext cx="0" cy="0"/>
          <a:chOff x="0" y="0"/>
          <a:chExt cx="0" cy="0"/>
        </a:xfrm>
      </p:grpSpPr>
      <p:sp>
        <p:nvSpPr>
          <p:cNvPr id="968" name="Google Shape;968;p70"/>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VMO</a:t>
            </a:r>
            <a:endParaRPr/>
          </a:p>
        </p:txBody>
      </p:sp>
      <p:sp>
        <p:nvSpPr>
          <p:cNvPr id="969" name="Google Shape;969;p70"/>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970" name="Google Shape;970;p70"/>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517225"/>
                <a:gridCol w="51722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Ejecución y despliegue de iniciativas estratégicas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r>
            </a:tbl>
          </a:graphicData>
        </a:graphic>
      </p:graphicFrame>
      <p:sp>
        <p:nvSpPr>
          <p:cNvPr id="971" name="Google Shape;971;p70"/>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4</a:t>
            </a:r>
            <a:endParaRPr b="0" i="0" sz="1152" u="none" cap="none" strike="noStrike">
              <a:solidFill>
                <a:srgbClr val="FFFFFF"/>
              </a:solidFill>
              <a:latin typeface="Arial"/>
              <a:ea typeface="Arial"/>
              <a:cs typeface="Arial"/>
              <a:sym typeface="Arial"/>
            </a:endParaRPr>
          </a:p>
        </p:txBody>
      </p:sp>
      <p:sp>
        <p:nvSpPr>
          <p:cNvPr id="972" name="Google Shape;972;p70"/>
          <p:cNvSpPr/>
          <p:nvPr/>
        </p:nvSpPr>
        <p:spPr>
          <a:xfrm>
            <a:off x="1668982" y="4762934"/>
            <a:ext cx="9979679" cy="968999"/>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Requiere visibilidad del despliegue para alinear mensajes, campañas y gestión de expectativas del cliente y permite ajustar acciones de CX sin interferir en la ejecución operativa.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Necesita conocer el avance del despliegue para sincronizar ejecución comercial y promociones y evita desalineaciones entre operación y propuesta comercial.</a:t>
            </a:r>
            <a:endParaRPr/>
          </a:p>
        </p:txBody>
      </p:sp>
      <p:sp>
        <p:nvSpPr>
          <p:cNvPr id="973" name="Google Shape;973;p70"/>
          <p:cNvSpPr/>
          <p:nvPr/>
        </p:nvSpPr>
        <p:spPr>
          <a:xfrm>
            <a:off x="1668983" y="1938403"/>
            <a:ext cx="9979679" cy="1244266"/>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a:t>
            </a:r>
            <a:r>
              <a:rPr lang="es-MX" sz="1000">
                <a:solidFill>
                  <a:schemeClr val="dk1"/>
                </a:solidFill>
                <a:latin typeface="Open Sans"/>
                <a:ea typeface="Open Sans"/>
                <a:cs typeface="Open Sans"/>
                <a:sym typeface="Open Sans"/>
              </a:rPr>
              <a:t>Es </a:t>
            </a:r>
            <a:r>
              <a:rPr i="1" lang="es-MX" sz="1000">
                <a:solidFill>
                  <a:schemeClr val="dk1"/>
                </a:solidFill>
                <a:latin typeface="Open Sans"/>
                <a:ea typeface="Open Sans"/>
                <a:cs typeface="Open Sans"/>
                <a:sym typeface="Open Sans"/>
              </a:rPr>
              <a:t>accountable</a:t>
            </a:r>
            <a:r>
              <a:rPr lang="es-MX" sz="1000">
                <a:solidFill>
                  <a:schemeClr val="dk1"/>
                </a:solidFill>
                <a:latin typeface="Open Sans"/>
                <a:ea typeface="Open Sans"/>
                <a:cs typeface="Open Sans"/>
                <a:sym typeface="Open Sans"/>
              </a:rPr>
              <a:t> de la ejecución de iniciativas en regiones y plazas, asegura adopción operativa y continuidad del negocio y gestiona impactos en la operación diaria.</a:t>
            </a:r>
            <a:endParaRPr/>
          </a:p>
        </p:txBody>
      </p:sp>
      <p:sp>
        <p:nvSpPr>
          <p:cNvPr id="974" name="Google Shape;974;p70"/>
          <p:cNvSpPr/>
          <p:nvPr/>
        </p:nvSpPr>
        <p:spPr>
          <a:xfrm>
            <a:off x="1668982" y="4071575"/>
            <a:ext cx="9979679" cy="627425"/>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Asegura que los cambios respeten estándares y modelo operativo. apoya en la definición de procesos simples y adoptables.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Monitorea el uso de recursos y desviaciones relevantes. No ejecuta, pero da seguimiento financiero.</a:t>
            </a:r>
            <a:endParaRPr/>
          </a:p>
        </p:txBody>
      </p:sp>
      <p:sp>
        <p:nvSpPr>
          <p:cNvPr id="975" name="Google Shape;975;p70"/>
          <p:cNvSpPr/>
          <p:nvPr/>
        </p:nvSpPr>
        <p:spPr>
          <a:xfrm>
            <a:off x="1668983" y="3236341"/>
            <a:ext cx="9979679" cy="785326"/>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Soporta la ejecución asegurando abasto, logística y tiempos, ajusta operaciones logísticas para habilitar el despliegue.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Da seguimiento a la ejecución para asegurar alineación con objetivos estratégicos y apoya en la resolución de desviaciones relevantes sin ejecutar.</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Habilita soluciones tecnológicas necesarias para el despliegue y asegura estabilidad, escalabilidad y soporte de herramientas.</a:t>
            </a:r>
            <a:endParaRPr/>
          </a:p>
        </p:txBody>
      </p:sp>
      <p:sp>
        <p:nvSpPr>
          <p:cNvPr id="976" name="Google Shape;976;p70"/>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977" name="Google Shape;977;p70"/>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978" name="Google Shape;978;p70"/>
          <p:cNvSpPr/>
          <p:nvPr/>
        </p:nvSpPr>
        <p:spPr>
          <a:xfrm>
            <a:off x="470554" y="3236341"/>
            <a:ext cx="1110263" cy="785326"/>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979" name="Google Shape;979;p70"/>
          <p:cNvSpPr/>
          <p:nvPr/>
        </p:nvSpPr>
        <p:spPr>
          <a:xfrm>
            <a:off x="470554" y="4762934"/>
            <a:ext cx="1110263" cy="948974"/>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980" name="Google Shape;980;p70"/>
          <p:cNvSpPr/>
          <p:nvPr/>
        </p:nvSpPr>
        <p:spPr>
          <a:xfrm>
            <a:off x="470554" y="4071575"/>
            <a:ext cx="1110263" cy="627425"/>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71"/>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VMO</a:t>
            </a:r>
            <a:endParaRPr/>
          </a:p>
        </p:txBody>
      </p:sp>
      <p:sp>
        <p:nvSpPr>
          <p:cNvPr id="986" name="Google Shape;986;p71"/>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987" name="Google Shape;987;p71"/>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Seguimiento de valor, KPIs y beneficios realizados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988" name="Google Shape;988;p71"/>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5</a:t>
            </a:r>
            <a:endParaRPr/>
          </a:p>
        </p:txBody>
      </p:sp>
      <p:sp>
        <p:nvSpPr>
          <p:cNvPr id="989" name="Google Shape;989;p71"/>
          <p:cNvSpPr/>
          <p:nvPr/>
        </p:nvSpPr>
        <p:spPr>
          <a:xfrm>
            <a:off x="1668982" y="3890870"/>
            <a:ext cx="9979679" cy="1475238"/>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Requiere visibilidad de resultados para entender impactos en experiencia y percepción del cliente y usa los aprendizajes como insumo para futuras iniciativas de CX.</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Necesita conocer resultados para ajustar estrategias comerciales y planes de crecimiento y permite retroalimentar decisiones comerciales futuras.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Requiere visibilidad de resultados para identificar oportunidades de mejora sistémica y usa los aprendizajes como insumo para evolución del modelo operativo.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Necesita conocer resultados para evaluar desempeño de soluciones tecnológicas implementadas y permite ajustar plataformas y capacidades de soporte.</a:t>
            </a:r>
            <a:endParaRPr/>
          </a:p>
        </p:txBody>
      </p:sp>
      <p:sp>
        <p:nvSpPr>
          <p:cNvPr id="990" name="Google Shape;990;p71"/>
          <p:cNvSpPr/>
          <p:nvPr/>
        </p:nvSpPr>
        <p:spPr>
          <a:xfrm>
            <a:off x="1668983" y="2587375"/>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Es accountable de asegurar la materialización del valor comprometido, define y gobierna KPIs estratégicos y de beneficios y activa ajustes cuando el valor no se materializa.</a:t>
            </a:r>
            <a:endParaRPr/>
          </a:p>
        </p:txBody>
      </p:sp>
      <p:sp>
        <p:nvSpPr>
          <p:cNvPr id="991" name="Google Shape;991;p71"/>
          <p:cNvSpPr/>
          <p:nvPr/>
        </p:nvSpPr>
        <p:spPr>
          <a:xfrm>
            <a:off x="1668983" y="3236341"/>
            <a:ext cx="9979679" cy="595292"/>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a:t>
            </a:r>
            <a:r>
              <a:rPr lang="es-MX" sz="1000">
                <a:solidFill>
                  <a:schemeClr val="dk1"/>
                </a:solidFill>
                <a:latin typeface="Open Sans"/>
                <a:ea typeface="Open Sans"/>
                <a:cs typeface="Open Sans"/>
                <a:sym typeface="Open Sans"/>
              </a:rPr>
              <a:t>Aporta información de desempeño real en campo y ejecuta ajustes operativos para capturar valor.</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Contribuye con indicadores de servicio, costos y eficiencia logística y ajusta procesos para habilitar beneficios operativos.</a:t>
            </a:r>
            <a:endParaRPr/>
          </a:p>
        </p:txBody>
      </p:sp>
      <p:sp>
        <p:nvSpPr>
          <p:cNvPr id="992" name="Google Shape;992;p71"/>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993" name="Google Shape;993;p71"/>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994" name="Google Shape;994;p71"/>
          <p:cNvSpPr/>
          <p:nvPr/>
        </p:nvSpPr>
        <p:spPr>
          <a:xfrm>
            <a:off x="470554" y="3236341"/>
            <a:ext cx="1110263" cy="595292"/>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995" name="Google Shape;995;p71"/>
          <p:cNvSpPr/>
          <p:nvPr/>
        </p:nvSpPr>
        <p:spPr>
          <a:xfrm>
            <a:off x="470554" y="3890869"/>
            <a:ext cx="1110263" cy="144475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996" name="Google Shape;996;p71"/>
          <p:cNvSpPr/>
          <p:nvPr/>
        </p:nvSpPr>
        <p:spPr>
          <a:xfrm>
            <a:off x="1668982" y="1951484"/>
            <a:ext cx="9979679" cy="595293"/>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Mide y valida beneficios financieros reales vs. Estimados e integra resultados en análisis y reportes financieros.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72"/>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VMO</a:t>
            </a:r>
            <a:endParaRPr/>
          </a:p>
        </p:txBody>
      </p:sp>
      <p:sp>
        <p:nvSpPr>
          <p:cNvPr id="1002" name="Google Shape;1002;p72"/>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1003" name="Google Shape;1003;p72"/>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517225"/>
                <a:gridCol w="51722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Corrección de rumbo / pausa / cancelación de iniciativas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1004" name="Google Shape;1004;p72"/>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6</a:t>
            </a:r>
            <a:endParaRPr b="0" i="0" sz="1152" u="none" cap="none" strike="noStrike">
              <a:solidFill>
                <a:srgbClr val="FFFFFF"/>
              </a:solidFill>
              <a:latin typeface="Arial"/>
              <a:ea typeface="Arial"/>
              <a:cs typeface="Arial"/>
              <a:sym typeface="Arial"/>
            </a:endParaRPr>
          </a:p>
        </p:txBody>
      </p:sp>
      <p:sp>
        <p:nvSpPr>
          <p:cNvPr id="1005" name="Google Shape;1005;p72"/>
          <p:cNvSpPr/>
          <p:nvPr/>
        </p:nvSpPr>
        <p:spPr>
          <a:xfrm>
            <a:off x="1668982" y="4695199"/>
            <a:ext cx="9979679" cy="1475238"/>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Requiere visibilidad de decisiones para ajustar estándares, procesos y guías operativas y evita continuar desplegando cambios que han sido pausados o cancelados.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(Regiones / Plazas): </a:t>
            </a:r>
            <a:r>
              <a:rPr lang="es-MX" sz="1000">
                <a:solidFill>
                  <a:schemeClr val="dk1"/>
                </a:solidFill>
                <a:latin typeface="Open Sans"/>
                <a:ea typeface="Open Sans"/>
                <a:cs typeface="Open Sans"/>
                <a:sym typeface="Open Sans"/>
              </a:rPr>
              <a:t>Necesita conocer decisiones de ajuste o cancelación para reorientar esfuerzos en campo y reduce confusión operativa y retrabajo.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Requiere visibilidad para ajustar planes logísticos y de abasto y evita inversiones o movimientos innecesarios ante cambios de rumbo.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Necesita conocer decisiones para detener, ajustar o reconfigurar desarrollos tecnológicos y protege capacidad y evita costos hundidos innecesarios.</a:t>
            </a:r>
            <a:endParaRPr/>
          </a:p>
        </p:txBody>
      </p:sp>
      <p:sp>
        <p:nvSpPr>
          <p:cNvPr id="1006" name="Google Shape;1006;p72"/>
          <p:cNvSpPr/>
          <p:nvPr/>
        </p:nvSpPr>
        <p:spPr>
          <a:xfrm>
            <a:off x="1668983" y="1938403"/>
            <a:ext cx="9979679" cy="1244266"/>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Lidera el análisis integral de desviaciones estratégicas y de valor, define recomendaciones de ajuste, pausa o cancelación y protege el foco estratégico y evita dispersión de recursos.</a:t>
            </a:r>
            <a:endParaRPr/>
          </a:p>
        </p:txBody>
      </p:sp>
      <p:sp>
        <p:nvSpPr>
          <p:cNvPr id="1007" name="Google Shape;1007;p72"/>
          <p:cNvSpPr/>
          <p:nvPr/>
        </p:nvSpPr>
        <p:spPr>
          <a:xfrm>
            <a:off x="1668982" y="3885306"/>
            <a:ext cx="9979679" cy="753602"/>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Aporta impactos en experiencia de cliente y percepción de marca y ayuda a dimensionar efectos en satisfacción y CX.</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Contribuye con impactos en ventas, margen y ejecución comercial y aporta visibilidad de riesgos u oportunidades comerciales.</a:t>
            </a:r>
            <a:endParaRPr/>
          </a:p>
        </p:txBody>
      </p:sp>
      <p:sp>
        <p:nvSpPr>
          <p:cNvPr id="1008" name="Google Shape;1008;p72"/>
          <p:cNvSpPr/>
          <p:nvPr/>
        </p:nvSpPr>
        <p:spPr>
          <a:xfrm>
            <a:off x="1668983" y="3236341"/>
            <a:ext cx="9979679" cy="595292"/>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Evalúa impacto financiero de las alternativas (sunk cost vs. valor futuro) e informa riesgos económicos asociados a cada decisión.</a:t>
            </a:r>
            <a:endParaRPr/>
          </a:p>
        </p:txBody>
      </p:sp>
      <p:sp>
        <p:nvSpPr>
          <p:cNvPr id="1009" name="Google Shape;1009;p72"/>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010" name="Google Shape;1010;p72"/>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011" name="Google Shape;1011;p72"/>
          <p:cNvSpPr/>
          <p:nvPr/>
        </p:nvSpPr>
        <p:spPr>
          <a:xfrm>
            <a:off x="470554" y="3236341"/>
            <a:ext cx="1110263" cy="595292"/>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1012" name="Google Shape;1012;p72"/>
          <p:cNvSpPr/>
          <p:nvPr/>
        </p:nvSpPr>
        <p:spPr>
          <a:xfrm>
            <a:off x="470554" y="4695198"/>
            <a:ext cx="1110263" cy="144475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013" name="Google Shape;1013;p72"/>
          <p:cNvSpPr/>
          <p:nvPr/>
        </p:nvSpPr>
        <p:spPr>
          <a:xfrm>
            <a:off x="470554" y="3885306"/>
            <a:ext cx="1110263" cy="753602"/>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grpSp>
        <p:nvGrpSpPr>
          <p:cNvPr id="1018" name="Google Shape;1018;p73"/>
          <p:cNvGrpSpPr/>
          <p:nvPr/>
        </p:nvGrpSpPr>
        <p:grpSpPr>
          <a:xfrm>
            <a:off x="0" y="-205740"/>
            <a:ext cx="12192000" cy="137160"/>
            <a:chOff x="0" y="-205740"/>
            <a:chExt cx="12192000" cy="137160"/>
          </a:xfrm>
        </p:grpSpPr>
        <p:sp>
          <p:nvSpPr>
            <p:cNvPr id="1019" name="Google Shape;1019;p73"/>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020" name="Google Shape;1020;p73"/>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021" name="Google Shape;1021;p73"/>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022" name="Google Shape;1022;p73"/>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1023" name="Google Shape;1023;p73"/>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Plan Aseguramiento y Estabilización | </a:t>
            </a:r>
            <a:r>
              <a:rPr lang="es-MX"/>
              <a:t>Fit for Purpose</a:t>
            </a:r>
            <a:endParaRPr/>
          </a:p>
        </p:txBody>
      </p:sp>
      <p:sp>
        <p:nvSpPr>
          <p:cNvPr id="1024" name="Google Shape;1024;p73"/>
          <p:cNvSpPr/>
          <p:nvPr/>
        </p:nvSpPr>
        <p:spPr>
          <a:xfrm>
            <a:off x="168211" y="2551574"/>
            <a:ext cx="2147110" cy="2048745"/>
          </a:xfrm>
          <a:prstGeom prst="rect">
            <a:avLst/>
          </a:prstGeom>
          <a:solidFill>
            <a:srgbClr val="00000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FFFFFF"/>
              </a:buClr>
              <a:buSzPts val="1200"/>
              <a:buFont typeface="Arial"/>
              <a:buNone/>
            </a:pPr>
            <a:r>
              <a:rPr b="1" i="0" lang="es-MX" sz="1200" u="none" cap="none" strike="noStrike">
                <a:solidFill>
                  <a:srgbClr val="FFFFFF"/>
                </a:solidFill>
                <a:latin typeface="Arial"/>
                <a:ea typeface="Arial"/>
                <a:cs typeface="Arial"/>
                <a:sym typeface="Arial"/>
              </a:rPr>
              <a:t>Interacciones Críticas</a:t>
            </a:r>
            <a:endParaRPr/>
          </a:p>
          <a:p>
            <a:pPr indent="0" lvl="0" marL="0" marR="0" rtl="0" algn="ctr">
              <a:lnSpc>
                <a:spcPct val="100000"/>
              </a:lnSpc>
              <a:spcBef>
                <a:spcPts val="1200"/>
              </a:spcBef>
              <a:spcAft>
                <a:spcPts val="0"/>
              </a:spcAft>
              <a:buClr>
                <a:srgbClr val="FFFFFF"/>
              </a:buClr>
              <a:buSzPts val="800"/>
              <a:buFont typeface="Arial"/>
              <a:buNone/>
            </a:pPr>
            <a:r>
              <a:rPr b="0" i="0" lang="es-MX" sz="800" u="none" cap="none" strike="noStrike">
                <a:solidFill>
                  <a:srgbClr val="FFFFFF"/>
                </a:solidFill>
                <a:latin typeface="Arial"/>
                <a:ea typeface="Arial"/>
                <a:cs typeface="Arial"/>
                <a:sym typeface="Arial"/>
              </a:rPr>
              <a:t>Workshops Cross-plataformas</a:t>
            </a:r>
            <a:endParaRPr/>
          </a:p>
        </p:txBody>
      </p:sp>
      <p:sp>
        <p:nvSpPr>
          <p:cNvPr id="1025" name="Google Shape;1025;p73"/>
          <p:cNvSpPr/>
          <p:nvPr/>
        </p:nvSpPr>
        <p:spPr>
          <a:xfrm>
            <a:off x="168211" y="1391112"/>
            <a:ext cx="2147110" cy="928284"/>
          </a:xfrm>
          <a:prstGeom prst="rect">
            <a:avLst/>
          </a:prstGeom>
          <a:solidFill>
            <a:srgbClr val="00000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FFFFFF"/>
              </a:buClr>
              <a:buSzPts val="1200"/>
              <a:buFont typeface="Arial"/>
              <a:buNone/>
            </a:pPr>
            <a:r>
              <a:rPr b="1" i="0" lang="es-MX" sz="1200" u="none" cap="none" strike="noStrike">
                <a:solidFill>
                  <a:srgbClr val="FFFFFF"/>
                </a:solidFill>
                <a:latin typeface="Arial"/>
                <a:ea typeface="Arial"/>
                <a:cs typeface="Arial"/>
                <a:sym typeface="Arial"/>
              </a:rPr>
              <a:t>Higiénicos Organizacionales </a:t>
            </a:r>
            <a:endParaRPr/>
          </a:p>
          <a:p>
            <a:pPr indent="0" lvl="0" marL="0" marR="0" rtl="0" algn="ctr">
              <a:lnSpc>
                <a:spcPct val="100000"/>
              </a:lnSpc>
              <a:spcBef>
                <a:spcPts val="1200"/>
              </a:spcBef>
              <a:spcAft>
                <a:spcPts val="0"/>
              </a:spcAft>
              <a:buClr>
                <a:srgbClr val="FFFFFF"/>
              </a:buClr>
              <a:buSzPts val="800"/>
              <a:buFont typeface="Arial"/>
              <a:buNone/>
            </a:pPr>
            <a:r>
              <a:rPr b="0" i="0" lang="es-MX" sz="800" u="none" cap="none" strike="noStrike">
                <a:solidFill>
                  <a:srgbClr val="FFFFFF"/>
                </a:solidFill>
                <a:latin typeface="Arial"/>
                <a:ea typeface="Arial"/>
                <a:cs typeface="Arial"/>
                <a:sym typeface="Arial"/>
              </a:rPr>
              <a:t>Documentación de Roles</a:t>
            </a:r>
            <a:endParaRPr/>
          </a:p>
        </p:txBody>
      </p:sp>
      <p:sp>
        <p:nvSpPr>
          <p:cNvPr id="1026" name="Google Shape;1026;p73"/>
          <p:cNvSpPr/>
          <p:nvPr/>
        </p:nvSpPr>
        <p:spPr>
          <a:xfrm>
            <a:off x="168211" y="5905394"/>
            <a:ext cx="2147110" cy="539924"/>
          </a:xfrm>
          <a:prstGeom prst="rect">
            <a:avLst/>
          </a:prstGeom>
          <a:solidFill>
            <a:srgbClr val="00000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FFFFFF"/>
              </a:buClr>
              <a:buSzPts val="1100"/>
              <a:buFont typeface="Arial"/>
              <a:buNone/>
            </a:pPr>
            <a:r>
              <a:rPr b="1" i="0" lang="es-MX" sz="1100" u="none" cap="none" strike="noStrike">
                <a:solidFill>
                  <a:srgbClr val="FFFFFF"/>
                </a:solidFill>
                <a:latin typeface="Arial"/>
                <a:ea typeface="Arial"/>
                <a:cs typeface="Arial"/>
                <a:sym typeface="Arial"/>
              </a:rPr>
              <a:t>Integración al Sistema de Gestión </a:t>
            </a:r>
            <a:r>
              <a:rPr b="0" i="0" lang="es-MX" sz="600" u="none" cap="none" strike="noStrike">
                <a:solidFill>
                  <a:srgbClr val="FFFFFF"/>
                </a:solidFill>
                <a:latin typeface="Arial"/>
                <a:ea typeface="Arial"/>
                <a:cs typeface="Arial"/>
                <a:sym typeface="Arial"/>
              </a:rPr>
              <a:t>Consolidación y Seguimiento</a:t>
            </a:r>
            <a:endParaRPr/>
          </a:p>
        </p:txBody>
      </p:sp>
      <p:sp>
        <p:nvSpPr>
          <p:cNvPr id="1027" name="Google Shape;1027;p73"/>
          <p:cNvSpPr/>
          <p:nvPr/>
        </p:nvSpPr>
        <p:spPr>
          <a:xfrm>
            <a:off x="168211" y="4866393"/>
            <a:ext cx="2147110" cy="928284"/>
          </a:xfrm>
          <a:prstGeom prst="rect">
            <a:avLst/>
          </a:prstGeom>
          <a:solidFill>
            <a:srgbClr val="00000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FFFFFF"/>
              </a:buClr>
              <a:buSzPts val="1200"/>
              <a:buFont typeface="Arial"/>
              <a:buNone/>
            </a:pPr>
            <a:r>
              <a:rPr b="1" i="0" lang="es-MX" sz="1200" u="none" cap="none" strike="noStrike">
                <a:solidFill>
                  <a:srgbClr val="FFFFFF"/>
                </a:solidFill>
                <a:latin typeface="Arial"/>
                <a:ea typeface="Arial"/>
                <a:cs typeface="Arial"/>
                <a:sym typeface="Arial"/>
              </a:rPr>
              <a:t>RASCI por Función de Procesos Clave</a:t>
            </a:r>
            <a:endParaRPr/>
          </a:p>
          <a:p>
            <a:pPr indent="0" lvl="0" marL="0" marR="0" rtl="0" algn="ctr">
              <a:lnSpc>
                <a:spcPct val="100000"/>
              </a:lnSpc>
              <a:spcBef>
                <a:spcPts val="1200"/>
              </a:spcBef>
              <a:spcAft>
                <a:spcPts val="0"/>
              </a:spcAft>
              <a:buClr>
                <a:srgbClr val="FFFFFF"/>
              </a:buClr>
              <a:buSzPts val="800"/>
              <a:buFont typeface="Arial"/>
              <a:buNone/>
            </a:pPr>
            <a:r>
              <a:rPr b="0" i="0" lang="es-MX" sz="800" u="none" cap="none" strike="noStrike">
                <a:solidFill>
                  <a:srgbClr val="FFFFFF"/>
                </a:solidFill>
                <a:latin typeface="Arial"/>
                <a:ea typeface="Arial"/>
                <a:cs typeface="Arial"/>
                <a:sym typeface="Arial"/>
              </a:rPr>
              <a:t>Workshops Internos x Área</a:t>
            </a:r>
            <a:endParaRPr/>
          </a:p>
        </p:txBody>
      </p:sp>
      <p:graphicFrame>
        <p:nvGraphicFramePr>
          <p:cNvPr id="1028" name="Google Shape;1028;p73"/>
          <p:cNvGraphicFramePr/>
          <p:nvPr/>
        </p:nvGraphicFramePr>
        <p:xfrm>
          <a:off x="5444083" y="848250"/>
          <a:ext cx="3000000" cy="3000000"/>
        </p:xfrm>
        <a:graphic>
          <a:graphicData uri="http://schemas.openxmlformats.org/drawingml/2006/table">
            <a:tbl>
              <a:tblPr firstCol="1" firstRow="1">
                <a:noFill/>
                <a:tableStyleId>{813A3F68-93AB-42EE-8F31-6030AA077254}</a:tableStyleId>
              </a:tblPr>
              <a:tblGrid>
                <a:gridCol w="391825"/>
                <a:gridCol w="420450"/>
                <a:gridCol w="420450"/>
                <a:gridCol w="493075"/>
                <a:gridCol w="448950"/>
                <a:gridCol w="500425"/>
                <a:gridCol w="498625"/>
                <a:gridCol w="271900"/>
                <a:gridCol w="183025"/>
                <a:gridCol w="428500"/>
                <a:gridCol w="428500"/>
                <a:gridCol w="428500"/>
                <a:gridCol w="428500"/>
                <a:gridCol w="428500"/>
                <a:gridCol w="428500"/>
                <a:gridCol w="428500"/>
              </a:tblGrid>
              <a:tr h="200350">
                <a:tc gridSpan="3">
                  <a:txBody>
                    <a:bodyPr/>
                    <a:lstStyle/>
                    <a:p>
                      <a:pPr indent="0" lvl="0" marL="0" marR="0" rtl="0" algn="ctr">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Noviembre</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hMerge="1"/>
                <a:tc gridSpan="5">
                  <a:txBody>
                    <a:bodyPr/>
                    <a:lstStyle/>
                    <a:p>
                      <a:pPr indent="0" lvl="0" marL="0" marR="0" rtl="0" algn="ctr">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Diciembre</a:t>
                      </a:r>
                      <a:endParaRPr b="1" sz="800">
                        <a:solidFill>
                          <a:srgbClr val="333333"/>
                        </a:solidFill>
                        <a:latin typeface="Arial"/>
                        <a:ea typeface="Arial"/>
                        <a:cs typeface="Arial"/>
                        <a:sym typeface="Arial"/>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hMerge="1"/>
                <a:tc hMerge="1"/>
                <a:tc hMerge="1"/>
                <a:tc gridSpan="5">
                  <a:txBody>
                    <a:bodyPr/>
                    <a:lstStyle/>
                    <a:p>
                      <a:pPr indent="0" lvl="0" marL="0" marR="0" rtl="0" algn="ctr">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Enero</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hMerge="1"/>
                <a:tc hMerge="1"/>
                <a:tc hMerge="1"/>
                <a:tc gridSpan="3">
                  <a:txBody>
                    <a:bodyPr/>
                    <a:lstStyle/>
                    <a:p>
                      <a:pPr indent="0" lvl="0" marL="0" marR="0" rtl="0" algn="ctr">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Febrero</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hMerge="1"/>
              </a:tr>
              <a:tr h="209050">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10 - 14</a:t>
                      </a:r>
                      <a:endParaRPr/>
                    </a:p>
                  </a:txBody>
                  <a:tcPr marT="0" marB="0" marR="0" marL="72000" anchor="ctr">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17 - 21</a:t>
                      </a:r>
                      <a:endParaRPr/>
                    </a:p>
                  </a:txBody>
                  <a:tcPr marT="0" marB="0" marR="0" marL="720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24 - 28</a:t>
                      </a:r>
                      <a:endParaRPr/>
                    </a:p>
                  </a:txBody>
                  <a:tcPr marT="0" marB="0" marR="0" marL="72000" anchor="ctr">
                    <a:lnL cap="flat" cmpd="sng" w="12700">
                      <a:solidFill>
                        <a:schemeClr val="lt2"/>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01 – 05</a:t>
                      </a:r>
                      <a:endParaRPr b="1" baseline="30000" sz="800">
                        <a:solidFill>
                          <a:srgbClr val="333333"/>
                        </a:solidFill>
                        <a:latin typeface="Arial"/>
                        <a:ea typeface="Arial"/>
                        <a:cs typeface="Arial"/>
                        <a:sym typeface="Arial"/>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08 – 12</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15 – 19 </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22 - 26</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gridSpan="2">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29 – 02</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05 – 09</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12 - 16</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19 - 23</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26 - 30</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02 - 06</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09 - 13</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16 - 20</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r>
              <a:tr h="1172050">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rgbClr val="D6D6D6">
                          <a:alpha val="25098"/>
                        </a:srgbClr>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r>
              <a:tr h="2244100">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rgbClr val="D6D6D6">
                          <a:alpha val="25098"/>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42575">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rgbClr val="D6D6D6">
                          <a:alpha val="25098"/>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63850">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rgbClr val="D6D6D6">
                          <a:alpha val="25098"/>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029" name="Google Shape;1029;p73"/>
          <p:cNvSpPr/>
          <p:nvPr/>
        </p:nvSpPr>
        <p:spPr>
          <a:xfrm>
            <a:off x="42863" y="1249615"/>
            <a:ext cx="250694" cy="250694"/>
          </a:xfrm>
          <a:prstGeom prst="ellipse">
            <a:avLst/>
          </a:prstGeom>
          <a:solidFill>
            <a:srgbClr val="DE0230"/>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Open Sans"/>
              <a:buNone/>
            </a:pPr>
            <a:r>
              <a:rPr b="1" i="0" lang="es-MX" sz="1400" u="none" cap="none" strike="noStrike">
                <a:solidFill>
                  <a:srgbClr val="FFFFFF"/>
                </a:solidFill>
                <a:latin typeface="Open Sans"/>
                <a:ea typeface="Open Sans"/>
                <a:cs typeface="Open Sans"/>
                <a:sym typeface="Open Sans"/>
              </a:rPr>
              <a:t>1</a:t>
            </a:r>
            <a:endParaRPr/>
          </a:p>
        </p:txBody>
      </p:sp>
      <p:sp>
        <p:nvSpPr>
          <p:cNvPr id="1030" name="Google Shape;1030;p73"/>
          <p:cNvSpPr/>
          <p:nvPr/>
        </p:nvSpPr>
        <p:spPr>
          <a:xfrm>
            <a:off x="42863" y="2418400"/>
            <a:ext cx="250694" cy="250694"/>
          </a:xfrm>
          <a:prstGeom prst="ellipse">
            <a:avLst/>
          </a:prstGeom>
          <a:solidFill>
            <a:srgbClr val="DE0230"/>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Open Sans"/>
              <a:buNone/>
            </a:pPr>
            <a:r>
              <a:rPr b="1" i="0" lang="es-MX" sz="1400" u="none" cap="none" strike="noStrike">
                <a:solidFill>
                  <a:srgbClr val="FFFFFF"/>
                </a:solidFill>
                <a:latin typeface="Open Sans"/>
                <a:ea typeface="Open Sans"/>
                <a:cs typeface="Open Sans"/>
                <a:sym typeface="Open Sans"/>
              </a:rPr>
              <a:t>2</a:t>
            </a:r>
            <a:endParaRPr/>
          </a:p>
        </p:txBody>
      </p:sp>
      <p:sp>
        <p:nvSpPr>
          <p:cNvPr id="1031" name="Google Shape;1031;p73"/>
          <p:cNvSpPr/>
          <p:nvPr/>
        </p:nvSpPr>
        <p:spPr>
          <a:xfrm>
            <a:off x="42863" y="4742715"/>
            <a:ext cx="250694" cy="250694"/>
          </a:xfrm>
          <a:prstGeom prst="ellipse">
            <a:avLst/>
          </a:prstGeom>
          <a:solidFill>
            <a:srgbClr val="DE0230"/>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Open Sans"/>
              <a:buNone/>
            </a:pPr>
            <a:r>
              <a:rPr b="1" i="0" lang="es-MX" sz="1400" u="none" cap="none" strike="noStrike">
                <a:solidFill>
                  <a:srgbClr val="FFFFFF"/>
                </a:solidFill>
                <a:latin typeface="Open Sans"/>
                <a:ea typeface="Open Sans"/>
                <a:cs typeface="Open Sans"/>
                <a:sym typeface="Open Sans"/>
              </a:rPr>
              <a:t>3</a:t>
            </a:r>
            <a:endParaRPr/>
          </a:p>
        </p:txBody>
      </p:sp>
      <p:sp>
        <p:nvSpPr>
          <p:cNvPr id="1032" name="Google Shape;1032;p73"/>
          <p:cNvSpPr/>
          <p:nvPr/>
        </p:nvSpPr>
        <p:spPr>
          <a:xfrm>
            <a:off x="42863" y="5778527"/>
            <a:ext cx="250694" cy="250694"/>
          </a:xfrm>
          <a:prstGeom prst="ellipse">
            <a:avLst/>
          </a:prstGeom>
          <a:solidFill>
            <a:srgbClr val="DE0230"/>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Open Sans"/>
              <a:buNone/>
            </a:pPr>
            <a:r>
              <a:rPr b="1" i="0" lang="es-MX" sz="1400" u="none" cap="none" strike="noStrike">
                <a:solidFill>
                  <a:srgbClr val="FFFFFF"/>
                </a:solidFill>
                <a:latin typeface="Open Sans"/>
                <a:ea typeface="Open Sans"/>
                <a:cs typeface="Open Sans"/>
                <a:sym typeface="Open Sans"/>
              </a:rPr>
              <a:t>4</a:t>
            </a:r>
            <a:endParaRPr/>
          </a:p>
        </p:txBody>
      </p:sp>
      <p:sp>
        <p:nvSpPr>
          <p:cNvPr id="1033" name="Google Shape;1033;p73"/>
          <p:cNvSpPr/>
          <p:nvPr/>
        </p:nvSpPr>
        <p:spPr>
          <a:xfrm>
            <a:off x="7623079" y="1249615"/>
            <a:ext cx="1458097" cy="5078661"/>
          </a:xfrm>
          <a:prstGeom prst="rect">
            <a:avLst/>
          </a:prstGeom>
          <a:solidFill>
            <a:srgbClr val="D6D6D6">
              <a:alpha val="50196"/>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034" name="Google Shape;1034;p73"/>
          <p:cNvSpPr/>
          <p:nvPr/>
        </p:nvSpPr>
        <p:spPr>
          <a:xfrm>
            <a:off x="5444083" y="1422988"/>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graphicFrame>
        <p:nvGraphicFramePr>
          <p:cNvPr id="1035" name="Google Shape;1035;p73"/>
          <p:cNvGraphicFramePr/>
          <p:nvPr/>
        </p:nvGraphicFramePr>
        <p:xfrm>
          <a:off x="2331205" y="2540299"/>
          <a:ext cx="3000000" cy="3000000"/>
        </p:xfrm>
        <a:graphic>
          <a:graphicData uri="http://schemas.openxmlformats.org/drawingml/2006/table">
            <a:tbl>
              <a:tblPr>
                <a:solidFill>
                  <a:srgbClr val="F2F2F2"/>
                </a:solidFill>
                <a:tableStyleId>{59F1A6B1-18B9-4B87-B458-7A3E6594CA7B}</a:tableStyleId>
              </a:tblPr>
              <a:tblGrid>
                <a:gridCol w="3071450"/>
              </a:tblGrid>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Customer Value Proposition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Decisiones comerciales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Voz del Cliente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Value Management Office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650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Modelo de Madurez de Negocio</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Portafolio estratégico con planeación financiera</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Capacidades digitales y omnicanalidad</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Integración de Expansión con Operaciones</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Integración Operaciones Foodservice a Operaciones Tiendas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Servicios Comerciales en sinergia con Ejecución Comercial</a:t>
                      </a:r>
                      <a:endParaRPr b="0" i="0" sz="700" u="none" cap="none" strike="noStrike">
                        <a:solidFill>
                          <a:srgbClr val="000000"/>
                        </a:solidFill>
                        <a:latin typeface="Arial"/>
                        <a:ea typeface="Arial"/>
                        <a:cs typeface="Arial"/>
                        <a:sym typeface="Arial"/>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bl>
          </a:graphicData>
        </a:graphic>
      </p:graphicFrame>
      <p:graphicFrame>
        <p:nvGraphicFramePr>
          <p:cNvPr id="1036" name="Google Shape;1036;p73"/>
          <p:cNvGraphicFramePr/>
          <p:nvPr/>
        </p:nvGraphicFramePr>
        <p:xfrm>
          <a:off x="2331205" y="1394383"/>
          <a:ext cx="3000000" cy="3000000"/>
        </p:xfrm>
        <a:graphic>
          <a:graphicData uri="http://schemas.openxmlformats.org/drawingml/2006/table">
            <a:tbl>
              <a:tblPr>
                <a:solidFill>
                  <a:srgbClr val="F2F2F2"/>
                </a:solidFill>
                <a:tableStyleId>{59F1A6B1-18B9-4B87-B458-7A3E6594CA7B}</a:tableStyleId>
              </a:tblPr>
              <a:tblGrid>
                <a:gridCol w="3071450"/>
              </a:tblGrid>
              <a:tr h="22610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Documentación áreas, propósitos y responsabilidades</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Descripciones de Puesto L1 y L2, validadas</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Matriz RASCI (Metodología y ejercicio central)</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Diagnóstico de madurez y trazabilidad premisas FFP</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bl>
          </a:graphicData>
        </a:graphic>
      </p:graphicFrame>
      <p:graphicFrame>
        <p:nvGraphicFramePr>
          <p:cNvPr id="1037" name="Google Shape;1037;p73"/>
          <p:cNvGraphicFramePr/>
          <p:nvPr/>
        </p:nvGraphicFramePr>
        <p:xfrm>
          <a:off x="2331205" y="4866393"/>
          <a:ext cx="3000000" cy="3000000"/>
        </p:xfrm>
        <a:graphic>
          <a:graphicData uri="http://schemas.openxmlformats.org/drawingml/2006/table">
            <a:tbl>
              <a:tblPr>
                <a:solidFill>
                  <a:srgbClr val="F2F2F2"/>
                </a:solidFill>
                <a:tableStyleId>{59F1A6B1-18B9-4B87-B458-7A3E6594CA7B}</a:tableStyleId>
              </a:tblPr>
              <a:tblGrid>
                <a:gridCol w="3071450"/>
              </a:tblGrid>
              <a:tr h="226100">
                <a:tc>
                  <a:txBody>
                    <a:bodyPr/>
                    <a:lstStyle/>
                    <a:p>
                      <a:pPr indent="0" lvl="0" marL="0" marR="0" rtl="0" algn="l">
                        <a:spcBef>
                          <a:spcPts val="0"/>
                        </a:spcBef>
                        <a:spcAft>
                          <a:spcPts val="0"/>
                        </a:spcAft>
                        <a:buClr>
                          <a:srgbClr val="000000"/>
                        </a:buClr>
                        <a:buSzPts val="800"/>
                        <a:buFont typeface="Arial"/>
                        <a:buNone/>
                      </a:pPr>
                      <a:r>
                        <a:rPr b="0" i="0" lang="es-MX" sz="800" u="none" cap="none" strike="noStrike">
                          <a:solidFill>
                            <a:srgbClr val="000000"/>
                          </a:solidFill>
                          <a:latin typeface="Arial"/>
                          <a:ea typeface="Arial"/>
                          <a:cs typeface="Arial"/>
                          <a:sym typeface="Arial"/>
                        </a:rPr>
                        <a:t>1) Comercial, 2) Customer &amp; Marketing</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800"/>
                        <a:buFont typeface="Arial"/>
                        <a:buNone/>
                      </a:pPr>
                      <a:r>
                        <a:rPr b="0" i="0" lang="es-MX" sz="800" u="none" cap="none" strike="noStrike">
                          <a:solidFill>
                            <a:srgbClr val="000000"/>
                          </a:solidFill>
                          <a:latin typeface="Arial"/>
                          <a:ea typeface="Arial"/>
                          <a:cs typeface="Arial"/>
                          <a:sym typeface="Arial"/>
                        </a:rPr>
                        <a:t>3) Excelencia Operaciones, 4) Operaciones y Expansión</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800"/>
                        <a:buFont typeface="Arial"/>
                        <a:buNone/>
                      </a:pPr>
                      <a:r>
                        <a:rPr b="0" i="0" lang="es-MX" sz="800" u="none" cap="none" strike="noStrike">
                          <a:solidFill>
                            <a:srgbClr val="000000"/>
                          </a:solidFill>
                          <a:latin typeface="Arial"/>
                          <a:ea typeface="Arial"/>
                          <a:cs typeface="Arial"/>
                          <a:sym typeface="Arial"/>
                        </a:rPr>
                        <a:t>5) Estrategia y Transformación, 6) AYF, 7) TI</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800"/>
                        <a:buFont typeface="Arial"/>
                        <a:buNone/>
                      </a:pPr>
                      <a:r>
                        <a:rPr b="0" i="0" lang="es-MX" sz="800" u="none" cap="none" strike="noStrike">
                          <a:solidFill>
                            <a:srgbClr val="000000"/>
                          </a:solidFill>
                          <a:latin typeface="Arial"/>
                          <a:ea typeface="Arial"/>
                          <a:cs typeface="Arial"/>
                          <a:sym typeface="Arial"/>
                        </a:rPr>
                        <a:t>8) Cadena Suministro, 9) Recursos Humanos</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bl>
          </a:graphicData>
        </a:graphic>
      </p:graphicFrame>
      <p:graphicFrame>
        <p:nvGraphicFramePr>
          <p:cNvPr id="1038" name="Google Shape;1038;p73"/>
          <p:cNvGraphicFramePr/>
          <p:nvPr/>
        </p:nvGraphicFramePr>
        <p:xfrm>
          <a:off x="2331205" y="5924444"/>
          <a:ext cx="3000000" cy="3000000"/>
        </p:xfrm>
        <a:graphic>
          <a:graphicData uri="http://schemas.openxmlformats.org/drawingml/2006/table">
            <a:tbl>
              <a:tblPr>
                <a:solidFill>
                  <a:srgbClr val="F2F2F2"/>
                </a:solidFill>
                <a:tableStyleId>{59F1A6B1-18B9-4B87-B458-7A3E6594CA7B}</a:tableStyleId>
              </a:tblPr>
              <a:tblGrid>
                <a:gridCol w="3071450"/>
              </a:tblGrid>
              <a:tr h="25155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Alineación al Sistema de Gestión</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5155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Sesiones de socialización con L2</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bl>
          </a:graphicData>
        </a:graphic>
      </p:graphicFrame>
      <p:sp>
        <p:nvSpPr>
          <p:cNvPr id="1039" name="Google Shape;1039;p73"/>
          <p:cNvSpPr/>
          <p:nvPr/>
        </p:nvSpPr>
        <p:spPr>
          <a:xfrm>
            <a:off x="5844252" y="1656576"/>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40" name="Google Shape;1040;p73"/>
          <p:cNvSpPr/>
          <p:nvPr/>
        </p:nvSpPr>
        <p:spPr>
          <a:xfrm>
            <a:off x="5456364" y="1890008"/>
            <a:ext cx="532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41" name="Google Shape;1041;p73"/>
          <p:cNvSpPr/>
          <p:nvPr/>
        </p:nvSpPr>
        <p:spPr>
          <a:xfrm>
            <a:off x="11221055" y="2102333"/>
            <a:ext cx="82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42" name="Google Shape;1042;p73"/>
          <p:cNvSpPr/>
          <p:nvPr/>
        </p:nvSpPr>
        <p:spPr>
          <a:xfrm>
            <a:off x="6685098" y="2562998"/>
            <a:ext cx="64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43" name="Google Shape;1043;p73"/>
          <p:cNvSpPr/>
          <p:nvPr/>
        </p:nvSpPr>
        <p:spPr>
          <a:xfrm>
            <a:off x="6685098" y="2764517"/>
            <a:ext cx="64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44" name="Google Shape;1044;p73"/>
          <p:cNvSpPr/>
          <p:nvPr/>
        </p:nvSpPr>
        <p:spPr>
          <a:xfrm>
            <a:off x="6685098" y="2957137"/>
            <a:ext cx="64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45" name="Google Shape;1045;p73"/>
          <p:cNvSpPr/>
          <p:nvPr/>
        </p:nvSpPr>
        <p:spPr>
          <a:xfrm>
            <a:off x="9106730" y="3197602"/>
            <a:ext cx="61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46" name="Google Shape;1046;p73"/>
          <p:cNvSpPr/>
          <p:nvPr/>
        </p:nvSpPr>
        <p:spPr>
          <a:xfrm>
            <a:off x="9106730" y="3395368"/>
            <a:ext cx="61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47" name="Google Shape;1047;p73"/>
          <p:cNvSpPr/>
          <p:nvPr/>
        </p:nvSpPr>
        <p:spPr>
          <a:xfrm>
            <a:off x="9109184" y="3598777"/>
            <a:ext cx="61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48" name="Google Shape;1048;p73"/>
          <p:cNvSpPr/>
          <p:nvPr/>
        </p:nvSpPr>
        <p:spPr>
          <a:xfrm>
            <a:off x="9793572" y="3833198"/>
            <a:ext cx="61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49" name="Google Shape;1049;p73"/>
          <p:cNvSpPr/>
          <p:nvPr/>
        </p:nvSpPr>
        <p:spPr>
          <a:xfrm>
            <a:off x="9790857" y="4027477"/>
            <a:ext cx="61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50" name="Google Shape;1050;p73"/>
          <p:cNvSpPr/>
          <p:nvPr/>
        </p:nvSpPr>
        <p:spPr>
          <a:xfrm>
            <a:off x="11027544" y="4839840"/>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51" name="Google Shape;1051;p73"/>
          <p:cNvSpPr/>
          <p:nvPr/>
        </p:nvSpPr>
        <p:spPr>
          <a:xfrm>
            <a:off x="11031726" y="5063481"/>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52" name="Google Shape;1052;p73"/>
          <p:cNvSpPr/>
          <p:nvPr/>
        </p:nvSpPr>
        <p:spPr>
          <a:xfrm>
            <a:off x="11345594" y="5309450"/>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53" name="Google Shape;1053;p73"/>
          <p:cNvSpPr/>
          <p:nvPr/>
        </p:nvSpPr>
        <p:spPr>
          <a:xfrm>
            <a:off x="11677009" y="5543265"/>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54" name="Google Shape;1054;p73"/>
          <p:cNvSpPr/>
          <p:nvPr/>
        </p:nvSpPr>
        <p:spPr>
          <a:xfrm>
            <a:off x="9085683" y="5955888"/>
            <a:ext cx="298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55" name="Google Shape;1055;p73"/>
          <p:cNvSpPr/>
          <p:nvPr/>
        </p:nvSpPr>
        <p:spPr>
          <a:xfrm>
            <a:off x="9085683" y="6168213"/>
            <a:ext cx="298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56" name="Google Shape;1056;p73"/>
          <p:cNvSpPr/>
          <p:nvPr/>
        </p:nvSpPr>
        <p:spPr>
          <a:xfrm>
            <a:off x="10425221" y="4221748"/>
            <a:ext cx="61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057" name="Google Shape;1057;p73"/>
          <p:cNvSpPr/>
          <p:nvPr/>
        </p:nvSpPr>
        <p:spPr>
          <a:xfrm>
            <a:off x="5181865" y="1423980"/>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73"/>
          <p:cNvSpPr/>
          <p:nvPr/>
        </p:nvSpPr>
        <p:spPr>
          <a:xfrm>
            <a:off x="5182039" y="4413551"/>
            <a:ext cx="172745" cy="172986"/>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9" name="Google Shape;1059;p73"/>
          <p:cNvSpPr/>
          <p:nvPr/>
        </p:nvSpPr>
        <p:spPr>
          <a:xfrm>
            <a:off x="5181865" y="1640629"/>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p73"/>
          <p:cNvSpPr/>
          <p:nvPr/>
        </p:nvSpPr>
        <p:spPr>
          <a:xfrm>
            <a:off x="5181865" y="1869518"/>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1" name="Google Shape;1061;p73"/>
          <p:cNvSpPr/>
          <p:nvPr/>
        </p:nvSpPr>
        <p:spPr>
          <a:xfrm>
            <a:off x="5181865" y="2098214"/>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73"/>
          <p:cNvSpPr/>
          <p:nvPr/>
        </p:nvSpPr>
        <p:spPr>
          <a:xfrm>
            <a:off x="5181865" y="2562412"/>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73"/>
          <p:cNvSpPr/>
          <p:nvPr/>
        </p:nvSpPr>
        <p:spPr>
          <a:xfrm>
            <a:off x="5181865" y="2771515"/>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73"/>
          <p:cNvSpPr/>
          <p:nvPr/>
        </p:nvSpPr>
        <p:spPr>
          <a:xfrm>
            <a:off x="5181865" y="2968903"/>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73"/>
          <p:cNvSpPr/>
          <p:nvPr/>
        </p:nvSpPr>
        <p:spPr>
          <a:xfrm>
            <a:off x="5181865" y="3174340"/>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73"/>
          <p:cNvSpPr/>
          <p:nvPr/>
        </p:nvSpPr>
        <p:spPr>
          <a:xfrm>
            <a:off x="5181865" y="3388706"/>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73"/>
          <p:cNvSpPr/>
          <p:nvPr/>
        </p:nvSpPr>
        <p:spPr>
          <a:xfrm>
            <a:off x="5181865" y="3595515"/>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73"/>
          <p:cNvSpPr/>
          <p:nvPr/>
        </p:nvSpPr>
        <p:spPr>
          <a:xfrm>
            <a:off x="5181865" y="3800241"/>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73"/>
          <p:cNvSpPr/>
          <p:nvPr/>
        </p:nvSpPr>
        <p:spPr>
          <a:xfrm>
            <a:off x="5181865" y="3997629"/>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73"/>
          <p:cNvSpPr/>
          <p:nvPr/>
        </p:nvSpPr>
        <p:spPr>
          <a:xfrm>
            <a:off x="5181865" y="4203461"/>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73"/>
          <p:cNvSpPr/>
          <p:nvPr/>
        </p:nvSpPr>
        <p:spPr>
          <a:xfrm>
            <a:off x="5181865" y="4887219"/>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73"/>
          <p:cNvSpPr/>
          <p:nvPr/>
        </p:nvSpPr>
        <p:spPr>
          <a:xfrm>
            <a:off x="5181865" y="5122821"/>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73"/>
          <p:cNvSpPr/>
          <p:nvPr/>
        </p:nvSpPr>
        <p:spPr>
          <a:xfrm>
            <a:off x="5181865" y="5349272"/>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73"/>
          <p:cNvSpPr/>
          <p:nvPr/>
        </p:nvSpPr>
        <p:spPr>
          <a:xfrm>
            <a:off x="5181865" y="5580095"/>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73"/>
          <p:cNvSpPr/>
          <p:nvPr/>
        </p:nvSpPr>
        <p:spPr>
          <a:xfrm>
            <a:off x="5181865" y="5977434"/>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73"/>
          <p:cNvSpPr/>
          <p:nvPr/>
        </p:nvSpPr>
        <p:spPr>
          <a:xfrm>
            <a:off x="5181865" y="6214013"/>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73"/>
          <p:cNvSpPr/>
          <p:nvPr/>
        </p:nvSpPr>
        <p:spPr>
          <a:xfrm>
            <a:off x="10425221" y="4425906"/>
            <a:ext cx="61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cxnSp>
        <p:nvCxnSpPr>
          <p:cNvPr id="1078" name="Google Shape;1078;p73"/>
          <p:cNvCxnSpPr/>
          <p:nvPr/>
        </p:nvCxnSpPr>
        <p:spPr>
          <a:xfrm>
            <a:off x="9115775" y="1228458"/>
            <a:ext cx="0" cy="5364000"/>
          </a:xfrm>
          <a:prstGeom prst="straightConnector1">
            <a:avLst/>
          </a:prstGeom>
          <a:solidFill>
            <a:schemeClr val="accent1"/>
          </a:solidFill>
          <a:ln cap="flat" cmpd="sng" w="12700">
            <a:solidFill>
              <a:srgbClr val="FF0000"/>
            </a:solidFill>
            <a:prstDash val="dash"/>
            <a:round/>
            <a:headEnd len="sm" w="sm" type="none"/>
            <a:tailEnd len="med" w="med" type="triangle"/>
          </a:ln>
        </p:spPr>
      </p:cxnSp>
      <p:sp>
        <p:nvSpPr>
          <p:cNvPr id="1079" name="Google Shape;1079;p73"/>
          <p:cNvSpPr txBox="1"/>
          <p:nvPr/>
        </p:nvSpPr>
        <p:spPr>
          <a:xfrm>
            <a:off x="8883179" y="6615875"/>
            <a:ext cx="465192" cy="24622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FF0000"/>
              </a:buClr>
              <a:buSzPts val="1000"/>
              <a:buFont typeface="Open Sans"/>
              <a:buNone/>
            </a:pPr>
            <a:r>
              <a:rPr b="1" lang="es-MX" sz="1000">
                <a:solidFill>
                  <a:srgbClr val="FF0000"/>
                </a:solidFill>
                <a:latin typeface="Open Sans"/>
                <a:ea typeface="Open Sans"/>
                <a:cs typeface="Open Sans"/>
                <a:sym typeface="Open Sans"/>
              </a:rPr>
              <a:t>HOY</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74"/>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Cierre y siguientes pasos</a:t>
            </a:r>
            <a:endParaRPr i="1"/>
          </a:p>
        </p:txBody>
      </p:sp>
      <p:sp>
        <p:nvSpPr>
          <p:cNvPr id="1085" name="Google Shape;1085;p74"/>
          <p:cNvSpPr txBox="1"/>
          <p:nvPr/>
        </p:nvSpPr>
        <p:spPr>
          <a:xfrm>
            <a:off x="9732264" y="0"/>
            <a:ext cx="2459736" cy="307777"/>
          </a:xfrm>
          <a:prstGeom prst="rect">
            <a:avLst/>
          </a:prstGeom>
          <a:solidFill>
            <a:schemeClr val="dk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N O N   E X H A U S T I V E</a:t>
            </a:r>
            <a:endParaRPr/>
          </a:p>
        </p:txBody>
      </p:sp>
      <p:sp>
        <p:nvSpPr>
          <p:cNvPr id="1086" name="Google Shape;1086;p74"/>
          <p:cNvSpPr/>
          <p:nvPr/>
        </p:nvSpPr>
        <p:spPr>
          <a:xfrm>
            <a:off x="1060789" y="1106724"/>
            <a:ext cx="9611444" cy="1023828"/>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b="0" i="1" lang="es-MX" sz="1600" u="none" cap="none" strike="noStrike">
                <a:solidFill>
                  <a:srgbClr val="000000"/>
                </a:solidFill>
                <a:latin typeface="Open Sans"/>
                <a:ea typeface="Open Sans"/>
                <a:cs typeface="Open Sans"/>
                <a:sym typeface="Open Sans"/>
              </a:rPr>
              <a:t>Cascadeo</a:t>
            </a:r>
            <a:r>
              <a:rPr b="0" i="0" lang="es-MX" sz="1600" u="none" cap="none" strike="noStrike">
                <a:solidFill>
                  <a:srgbClr val="000000"/>
                </a:solidFill>
                <a:latin typeface="Open Sans"/>
                <a:ea typeface="Open Sans"/>
                <a:cs typeface="Open Sans"/>
                <a:sym typeface="Open Sans"/>
              </a:rPr>
              <a:t> de información hacia los equipos que forman parte de esta interacción crítica para asegurar entendimiento de roles y responsabilidades</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¿Falta el mapeo de algún proceso crítico con relación a VMO?</a:t>
            </a:r>
            <a:endParaRPr/>
          </a:p>
          <a:p>
            <a:pPr indent="-285750" lvl="0" marL="285750" marR="0" rtl="0" algn="l">
              <a:lnSpc>
                <a:spcPct val="100000"/>
              </a:lnSpc>
              <a:spcBef>
                <a:spcPts val="1200"/>
              </a:spcBef>
              <a:spcAft>
                <a:spcPts val="0"/>
              </a:spcAft>
              <a:buClr>
                <a:srgbClr val="000000"/>
              </a:buClr>
              <a:buSzPts val="1600"/>
              <a:buFont typeface="Courier New"/>
              <a:buChar char="o"/>
            </a:pPr>
            <a:r>
              <a:rPr b="0" i="0" lang="es-MX" sz="1600" u="none" cap="none" strike="noStrike">
                <a:solidFill>
                  <a:srgbClr val="000000"/>
                </a:solidFill>
                <a:latin typeface="Open Sans"/>
                <a:ea typeface="Open Sans"/>
                <a:cs typeface="Open Sans"/>
                <a:sym typeface="Open Sans"/>
              </a:rPr>
              <a:t>¿Existen preocu</a:t>
            </a:r>
            <a:r>
              <a:rPr lang="es-MX" sz="1600">
                <a:solidFill>
                  <a:srgbClr val="000000"/>
                </a:solidFill>
                <a:latin typeface="Open Sans"/>
                <a:ea typeface="Open Sans"/>
                <a:cs typeface="Open Sans"/>
                <a:sym typeface="Open Sans"/>
              </a:rPr>
              <a:t>paciones sobre lo definido / acordado?</a:t>
            </a:r>
            <a:endParaRPr/>
          </a:p>
        </p:txBody>
      </p:sp>
      <p:sp>
        <p:nvSpPr>
          <p:cNvPr id="1087" name="Google Shape;1087;p74"/>
          <p:cNvSpPr/>
          <p:nvPr/>
        </p:nvSpPr>
        <p:spPr>
          <a:xfrm>
            <a:off x="1060789" y="2545290"/>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b="0" i="0" lang="es-MX" sz="1600" u="none" cap="none" strike="noStrike">
                <a:solidFill>
                  <a:srgbClr val="000000"/>
                </a:solidFill>
                <a:latin typeface="Open Sans"/>
                <a:ea typeface="Open Sans"/>
                <a:cs typeface="Open Sans"/>
                <a:sym typeface="Open Sans"/>
              </a:rPr>
              <a:t>Mapeo del resto de procesos e interacciones críticas de organización para clarificar y transparentar roles y responsabilidades de cada área</a:t>
            </a:r>
            <a:r>
              <a:rPr lang="es-MX" sz="1600">
                <a:solidFill>
                  <a:srgbClr val="000000"/>
                </a:solidFill>
                <a:latin typeface="Open Sans"/>
                <a:ea typeface="Open Sans"/>
                <a:cs typeface="Open Sans"/>
                <a:sym typeface="Open Sans"/>
              </a:rPr>
              <a:t> </a:t>
            </a:r>
            <a:endParaRPr b="0" i="0" sz="1600" u="none" cap="none" strike="noStrike">
              <a:solidFill>
                <a:srgbClr val="000000"/>
              </a:solidFill>
              <a:latin typeface="Open Sans"/>
              <a:ea typeface="Open Sans"/>
              <a:cs typeface="Open Sans"/>
              <a:sym typeface="Open Sans"/>
            </a:endParaRPr>
          </a:p>
        </p:txBody>
      </p:sp>
      <p:sp>
        <p:nvSpPr>
          <p:cNvPr id="1088" name="Google Shape;1088;p74"/>
          <p:cNvSpPr/>
          <p:nvPr/>
        </p:nvSpPr>
        <p:spPr>
          <a:xfrm>
            <a:off x="1060789" y="3818334"/>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lang="es-MX" sz="1600">
                <a:solidFill>
                  <a:srgbClr val="000000"/>
                </a:solidFill>
                <a:latin typeface="Open Sans"/>
                <a:ea typeface="Open Sans"/>
                <a:cs typeface="Open Sans"/>
                <a:sym typeface="Open Sans"/>
              </a:rPr>
              <a:t>Definición de metodología para diagnóstico de madurez de las capacidades organizacionales de OXXO que se desarrollarán derivado de FFP</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Rituales</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KPIs clave</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Frecuencia del diagnóstico</a:t>
            </a:r>
            <a:endParaRPr sz="1600">
              <a:solidFill>
                <a:srgbClr val="000000"/>
              </a:solidFill>
              <a:latin typeface="Open Sans"/>
              <a:ea typeface="Open Sans"/>
              <a:cs typeface="Open Sans"/>
              <a:sym typeface="Open Sans"/>
            </a:endParaRPr>
          </a:p>
        </p:txBody>
      </p:sp>
      <p:sp>
        <p:nvSpPr>
          <p:cNvPr id="1089" name="Google Shape;1089;p74"/>
          <p:cNvSpPr/>
          <p:nvPr/>
        </p:nvSpPr>
        <p:spPr>
          <a:xfrm>
            <a:off x="1060789" y="5075587"/>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lang="es-MX" sz="1600">
                <a:solidFill>
                  <a:srgbClr val="000000"/>
                </a:solidFill>
                <a:latin typeface="Open Sans"/>
                <a:ea typeface="Open Sans"/>
                <a:cs typeface="Open Sans"/>
                <a:sym typeface="Open Sans"/>
              </a:rPr>
              <a:t>Evaluación de madurez de desarrollo de capacidades – TBD 2026</a:t>
            </a:r>
            <a:endParaRPr sz="1600">
              <a:solidFill>
                <a:srgbClr val="000000"/>
              </a:solidFill>
              <a:latin typeface="Open Sans"/>
              <a:ea typeface="Open Sans"/>
              <a:cs typeface="Open Sans"/>
              <a:sym typeface="Open Sans"/>
            </a:endParaRPr>
          </a:p>
        </p:txBody>
      </p:sp>
      <p:sp>
        <p:nvSpPr>
          <p:cNvPr id="1090" name="Google Shape;1090;p74"/>
          <p:cNvSpPr/>
          <p:nvPr/>
        </p:nvSpPr>
        <p:spPr>
          <a:xfrm>
            <a:off x="681671" y="1036083"/>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1</a:t>
            </a:r>
            <a:endParaRPr/>
          </a:p>
        </p:txBody>
      </p:sp>
      <p:sp>
        <p:nvSpPr>
          <p:cNvPr id="1091" name="Google Shape;1091;p74"/>
          <p:cNvSpPr/>
          <p:nvPr/>
        </p:nvSpPr>
        <p:spPr>
          <a:xfrm>
            <a:off x="681671" y="2587152"/>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2</a:t>
            </a:r>
            <a:endParaRPr/>
          </a:p>
        </p:txBody>
      </p:sp>
      <p:sp>
        <p:nvSpPr>
          <p:cNvPr id="1092" name="Google Shape;1092;p74"/>
          <p:cNvSpPr/>
          <p:nvPr/>
        </p:nvSpPr>
        <p:spPr>
          <a:xfrm>
            <a:off x="681671" y="3249727"/>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3</a:t>
            </a:r>
            <a:endParaRPr/>
          </a:p>
        </p:txBody>
      </p:sp>
      <p:sp>
        <p:nvSpPr>
          <p:cNvPr id="1093" name="Google Shape;1093;p74"/>
          <p:cNvSpPr/>
          <p:nvPr/>
        </p:nvSpPr>
        <p:spPr>
          <a:xfrm>
            <a:off x="681671" y="5133485"/>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4</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grpSp>
        <p:nvGrpSpPr>
          <p:cNvPr id="1099" name="Google Shape;1099;p75"/>
          <p:cNvGrpSpPr/>
          <p:nvPr/>
        </p:nvGrpSpPr>
        <p:grpSpPr>
          <a:xfrm>
            <a:off x="0" y="6926580"/>
            <a:ext cx="12192000" cy="137160"/>
            <a:chOff x="0" y="6926580"/>
            <a:chExt cx="12192000" cy="137160"/>
          </a:xfrm>
        </p:grpSpPr>
        <p:sp>
          <p:nvSpPr>
            <p:cNvPr id="1100" name="Google Shape;1100;p75"/>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101" name="Google Shape;1101;p75"/>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102" name="Google Shape;1102;p75"/>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103" name="Google Shape;1103;p75"/>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1104" name="Google Shape;1104;p75"/>
          <p:cNvGrpSpPr/>
          <p:nvPr/>
        </p:nvGrpSpPr>
        <p:grpSpPr>
          <a:xfrm>
            <a:off x="0" y="-205740"/>
            <a:ext cx="12192000" cy="137160"/>
            <a:chOff x="0" y="-205740"/>
            <a:chExt cx="12192000" cy="137160"/>
          </a:xfrm>
        </p:grpSpPr>
        <p:sp>
          <p:nvSpPr>
            <p:cNvPr id="1105" name="Google Shape;1105;p75"/>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106" name="Google Shape;1106;p75"/>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107" name="Google Shape;1107;p75"/>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108" name="Google Shape;1108;p75"/>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1109" name="Google Shape;1109;p75"/>
          <p:cNvSpPr txBox="1"/>
          <p:nvPr>
            <p:ph type="title"/>
          </p:nvPr>
        </p:nvSpPr>
        <p:spPr>
          <a:xfrm>
            <a:off x="950142" y="2720529"/>
            <a:ext cx="10698933" cy="1065540"/>
          </a:xfrm>
          <a:prstGeom prst="rect">
            <a:avLst/>
          </a:prstGeom>
          <a:noFill/>
          <a:ln>
            <a:noFill/>
          </a:ln>
        </p:spPr>
        <p:txBody>
          <a:bodyPr anchorCtr="0" anchor="ctr" bIns="36000" lIns="91425" spcFirstLastPara="1" rIns="91425" wrap="square" tIns="36000">
            <a:normAutofit/>
          </a:bodyPr>
          <a:lstStyle/>
          <a:p>
            <a:pPr indent="0" lvl="0" marL="0" rtl="0" algn="l">
              <a:lnSpc>
                <a:spcPct val="100000"/>
              </a:lnSpc>
              <a:spcBef>
                <a:spcPts val="0"/>
              </a:spcBef>
              <a:spcAft>
                <a:spcPts val="0"/>
              </a:spcAft>
              <a:buNone/>
            </a:pPr>
            <a:r>
              <a:rPr lang="es-MX"/>
              <a:t>¡Gracias!</a:t>
            </a:r>
            <a:endParaRPr b="0"/>
          </a:p>
        </p:txBody>
      </p:sp>
      <p:sp>
        <p:nvSpPr>
          <p:cNvPr id="1110" name="Google Shape;1110;p75"/>
          <p:cNvSpPr txBox="1"/>
          <p:nvPr/>
        </p:nvSpPr>
        <p:spPr>
          <a:xfrm>
            <a:off x="1016817" y="3838575"/>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Open Sans"/>
              <a:buNone/>
            </a:pPr>
            <a:r>
              <a:rPr i="0" lang="es-MX" sz="1600" u="none" cap="none" strike="noStrike">
                <a:solidFill>
                  <a:srgbClr val="FFFFFF"/>
                </a:solidFill>
                <a:latin typeface="Open Sans"/>
                <a:ea typeface="Open Sans"/>
                <a:cs typeface="Open Sans"/>
                <a:sym typeface="Open Sans"/>
              </a:rPr>
              <a:t>Enero 2026</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76"/>
          <p:cNvSpPr txBox="1"/>
          <p:nvPr/>
        </p:nvSpPr>
        <p:spPr>
          <a:xfrm>
            <a:off x="410646" y="2942312"/>
            <a:ext cx="10698933" cy="1065540"/>
          </a:xfrm>
          <a:prstGeom prst="rect">
            <a:avLst/>
          </a:prstGeom>
          <a:noFill/>
          <a:ln>
            <a:noFill/>
          </a:ln>
        </p:spPr>
        <p:txBody>
          <a:bodyPr anchorCtr="0" anchor="t" bIns="45700" lIns="91425" spcFirstLastPara="1" rIns="91425" wrap="square" tIns="45700">
            <a:noAutofit/>
          </a:bodyPr>
          <a:lstStyle/>
          <a:p>
            <a:pPr indent="0" lvl="0" marL="0" marR="0" rtl="0" algn="l">
              <a:lnSpc>
                <a:spcPct val="101125"/>
              </a:lnSpc>
              <a:spcBef>
                <a:spcPts val="0"/>
              </a:spcBef>
              <a:spcAft>
                <a:spcPts val="0"/>
              </a:spcAft>
              <a:buNone/>
            </a:pPr>
            <a:r>
              <a:rPr b="1" lang="es-MX" sz="2400">
                <a:solidFill>
                  <a:schemeClr val="lt1"/>
                </a:solidFill>
                <a:latin typeface="Open Sans"/>
                <a:ea typeface="Open Sans"/>
                <a:cs typeface="Open Sans"/>
                <a:sym typeface="Open Sans"/>
              </a:rPr>
              <a:t>Construcción de ejemplo –  VMO y Planeación Financiera</a:t>
            </a:r>
            <a:endParaRPr/>
          </a:p>
          <a:p>
            <a:pPr indent="0" lvl="0" marL="0" marR="0" rtl="0" algn="l">
              <a:lnSpc>
                <a:spcPct val="101125"/>
              </a:lnSpc>
              <a:spcBef>
                <a:spcPts val="0"/>
              </a:spcBef>
              <a:spcAft>
                <a:spcPts val="0"/>
              </a:spcAft>
              <a:buNone/>
            </a:pPr>
            <a:r>
              <a:rPr b="0" lang="es-MX" sz="2400">
                <a:solidFill>
                  <a:schemeClr val="lt1"/>
                </a:solidFill>
                <a:latin typeface="Open Sans"/>
                <a:ea typeface="Open Sans"/>
                <a:cs typeface="Open Sans"/>
                <a:sym typeface="Open Sans"/>
              </a:rPr>
              <a:t>Fit for Purpose OXXO MX</a:t>
            </a:r>
            <a:endParaRPr/>
          </a:p>
        </p:txBody>
      </p:sp>
      <p:sp>
        <p:nvSpPr>
          <p:cNvPr id="1116" name="Google Shape;1116;p76"/>
          <p:cNvSpPr txBox="1"/>
          <p:nvPr/>
        </p:nvSpPr>
        <p:spPr>
          <a:xfrm>
            <a:off x="450325" y="3669298"/>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Open Sans"/>
              <a:buNone/>
            </a:pPr>
            <a:r>
              <a:rPr i="0" lang="es-MX" sz="1600" u="none" cap="none" strike="noStrike">
                <a:solidFill>
                  <a:schemeClr val="lt1"/>
                </a:solidFill>
                <a:latin typeface="Open Sans"/>
                <a:ea typeface="Open Sans"/>
                <a:cs typeface="Open Sans"/>
                <a:sym typeface="Open Sans"/>
              </a:rPr>
              <a:t>Enero 2026</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77"/>
          <p:cNvSpPr txBox="1"/>
          <p:nvPr>
            <p:ph type="title"/>
          </p:nvPr>
        </p:nvSpPr>
        <p:spPr>
          <a:xfrm>
            <a:off x="419501" y="3167229"/>
            <a:ext cx="11352998" cy="369332"/>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sz="1800">
                <a:solidFill>
                  <a:srgbClr val="DE0230"/>
                </a:solidFill>
              </a:rPr>
              <a:t>Matriz RASCI | </a:t>
            </a:r>
            <a:r>
              <a:rPr lang="es-MX" sz="1800">
                <a:solidFill>
                  <a:schemeClr val="dk1"/>
                </a:solidFill>
              </a:rPr>
              <a:t>Voz Cliente</a:t>
            </a:r>
            <a:endParaRPr/>
          </a:p>
        </p:txBody>
      </p:sp>
      <p:sp>
        <p:nvSpPr>
          <p:cNvPr id="1122" name="Google Shape;1122;p77"/>
          <p:cNvSpPr txBox="1"/>
          <p:nvPr/>
        </p:nvSpPr>
        <p:spPr>
          <a:xfrm>
            <a:off x="213144" y="348435"/>
            <a:ext cx="11352998"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DE0230"/>
              </a:buClr>
              <a:buSzPts val="1800"/>
              <a:buFont typeface="Open Sans"/>
              <a:buNone/>
            </a:pPr>
            <a:r>
              <a:rPr lang="es-MX" sz="1800">
                <a:solidFill>
                  <a:srgbClr val="DE0230"/>
                </a:solidFill>
                <a:latin typeface="Open Sans"/>
                <a:ea typeface="Open Sans"/>
                <a:cs typeface="Open Sans"/>
                <a:sym typeface="Open Sans"/>
              </a:rPr>
              <a:t>   Objetivo de la sesión                                     Dinámica                                                            Roles RASCI </a:t>
            </a:r>
            <a:endParaRPr i="1" sz="1800">
              <a:solidFill>
                <a:srgbClr val="000000"/>
              </a:solidFill>
              <a:latin typeface="Open Sans"/>
              <a:ea typeface="Open Sans"/>
              <a:cs typeface="Open Sans"/>
              <a:sym typeface="Open Sans"/>
            </a:endParaRPr>
          </a:p>
        </p:txBody>
      </p:sp>
      <p:sp>
        <p:nvSpPr>
          <p:cNvPr id="1123" name="Google Shape;1123;p77"/>
          <p:cNvSpPr txBox="1"/>
          <p:nvPr/>
        </p:nvSpPr>
        <p:spPr>
          <a:xfrm>
            <a:off x="213144" y="1185484"/>
            <a:ext cx="381021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200" u="none" strike="noStrike">
                <a:solidFill>
                  <a:srgbClr val="1D3433"/>
                </a:solidFill>
                <a:latin typeface="Arial"/>
                <a:ea typeface="Arial"/>
                <a:cs typeface="Arial"/>
                <a:sym typeface="Arial"/>
              </a:rPr>
              <a:t>Construir ejemplos claros para roles RASCI aplicados al modelo de madurez operativa, </a:t>
            </a:r>
            <a:endParaRPr/>
          </a:p>
          <a:p>
            <a:pPr indent="0" lvl="0" marL="0" marR="0" rtl="0" algn="l">
              <a:spcBef>
                <a:spcPts val="0"/>
              </a:spcBef>
              <a:spcAft>
                <a:spcPts val="0"/>
              </a:spcAft>
              <a:buNone/>
            </a:pPr>
            <a:r>
              <a:rPr b="1" i="0" lang="es-MX" sz="1200" u="none" strike="noStrike">
                <a:solidFill>
                  <a:srgbClr val="1D3433"/>
                </a:solidFill>
                <a:latin typeface="Arial"/>
                <a:ea typeface="Arial"/>
                <a:cs typeface="Arial"/>
                <a:sym typeface="Arial"/>
              </a:rPr>
              <a:t>facilitando comprensión práctica.</a:t>
            </a:r>
            <a:r>
              <a:rPr b="1" i="0" lang="es-MX" sz="1200">
                <a:solidFill>
                  <a:srgbClr val="000000"/>
                </a:solidFill>
                <a:latin typeface="Arial"/>
                <a:ea typeface="Arial"/>
                <a:cs typeface="Arial"/>
                <a:sym typeface="Arial"/>
              </a:rPr>
              <a:t>​</a:t>
            </a:r>
            <a:endParaRPr b="1" sz="1200">
              <a:solidFill>
                <a:schemeClr val="dk1"/>
              </a:solidFill>
              <a:latin typeface="Open Sans"/>
              <a:ea typeface="Open Sans"/>
              <a:cs typeface="Open Sans"/>
              <a:sym typeface="Open Sans"/>
            </a:endParaRPr>
          </a:p>
        </p:txBody>
      </p:sp>
      <p:sp>
        <p:nvSpPr>
          <p:cNvPr id="1124" name="Google Shape;1124;p77"/>
          <p:cNvSpPr txBox="1"/>
          <p:nvPr/>
        </p:nvSpPr>
        <p:spPr>
          <a:xfrm>
            <a:off x="3666743" y="1117793"/>
            <a:ext cx="3801189"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Conocer y alinear Matriz RASCI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Desarrollar un ejemplo que genere </a:t>
            </a:r>
            <a:r>
              <a:rPr b="1" lang="es-MX" sz="1200">
                <a:solidFill>
                  <a:srgbClr val="1D3433"/>
                </a:solidFill>
                <a:latin typeface="Arial"/>
                <a:ea typeface="Arial"/>
                <a:cs typeface="Arial"/>
                <a:sym typeface="Arial"/>
              </a:rPr>
              <a:t>claridad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Integrar ejemplo a WS  </a:t>
            </a:r>
            <a:r>
              <a:rPr b="1" lang="es-MX" sz="1200">
                <a:solidFill>
                  <a:srgbClr val="1D3433"/>
                </a:solidFill>
                <a:latin typeface="Arial"/>
                <a:ea typeface="Arial"/>
                <a:cs typeface="Arial"/>
                <a:sym typeface="Arial"/>
              </a:rPr>
              <a:t>- Efectividad Organizacional</a:t>
            </a:r>
            <a:endParaRPr b="1" sz="1200">
              <a:solidFill>
                <a:schemeClr val="dk1"/>
              </a:solidFill>
              <a:latin typeface="Open Sans"/>
              <a:ea typeface="Open Sans"/>
              <a:cs typeface="Open Sans"/>
              <a:sym typeface="Open Sans"/>
            </a:endParaRPr>
          </a:p>
        </p:txBody>
      </p:sp>
      <p:cxnSp>
        <p:nvCxnSpPr>
          <p:cNvPr id="1125" name="Google Shape;1125;p77"/>
          <p:cNvCxnSpPr/>
          <p:nvPr/>
        </p:nvCxnSpPr>
        <p:spPr>
          <a:xfrm>
            <a:off x="3675888" y="395878"/>
            <a:ext cx="0" cy="2196000"/>
          </a:xfrm>
          <a:prstGeom prst="straightConnector1">
            <a:avLst/>
          </a:prstGeom>
          <a:noFill/>
          <a:ln cap="flat" cmpd="sng" w="12700">
            <a:solidFill>
              <a:schemeClr val="dk1"/>
            </a:solidFill>
            <a:prstDash val="dash"/>
            <a:round/>
            <a:headEnd len="sm" w="sm" type="none"/>
            <a:tailEnd len="sm" w="sm" type="none"/>
          </a:ln>
        </p:spPr>
      </p:cxnSp>
      <p:pic>
        <p:nvPicPr>
          <p:cNvPr descr="Interfaz de usuario gráfica, Aplicación, Sitio web&#10;&#10;El contenido generado por IA puede ser incorrecto." id="1126" name="Google Shape;1126;p77"/>
          <p:cNvPicPr preferRelativeResize="0"/>
          <p:nvPr/>
        </p:nvPicPr>
        <p:blipFill rotWithShape="1">
          <a:blip r:embed="rId3">
            <a:alphaModFix/>
          </a:blip>
          <a:srcRect b="39364" l="6535" r="4456" t="10433"/>
          <a:stretch/>
        </p:blipFill>
        <p:spPr>
          <a:xfrm>
            <a:off x="7531942" y="643550"/>
            <a:ext cx="3890028" cy="1582106"/>
          </a:xfrm>
          <a:prstGeom prst="rect">
            <a:avLst/>
          </a:prstGeom>
          <a:noFill/>
          <a:ln>
            <a:noFill/>
          </a:ln>
        </p:spPr>
      </p:pic>
      <p:pic>
        <p:nvPicPr>
          <p:cNvPr descr="Interfaz de usuario gráfica, Aplicación, Sitio web&#10;&#10;El contenido generado por IA puede ser incorrecto." id="1127" name="Google Shape;1127;p77"/>
          <p:cNvPicPr preferRelativeResize="0"/>
          <p:nvPr/>
        </p:nvPicPr>
        <p:blipFill rotWithShape="1">
          <a:blip r:embed="rId3">
            <a:alphaModFix/>
          </a:blip>
          <a:srcRect b="6191" l="6535" r="4456" t="61874"/>
          <a:stretch/>
        </p:blipFill>
        <p:spPr>
          <a:xfrm>
            <a:off x="7531942" y="2196033"/>
            <a:ext cx="3890028" cy="1006374"/>
          </a:xfrm>
          <a:prstGeom prst="rect">
            <a:avLst/>
          </a:prstGeom>
          <a:noFill/>
          <a:ln>
            <a:noFill/>
          </a:ln>
        </p:spPr>
      </p:pic>
      <p:cxnSp>
        <p:nvCxnSpPr>
          <p:cNvPr id="1128" name="Google Shape;1128;p77"/>
          <p:cNvCxnSpPr/>
          <p:nvPr/>
        </p:nvCxnSpPr>
        <p:spPr>
          <a:xfrm>
            <a:off x="7308324" y="395878"/>
            <a:ext cx="0" cy="2196000"/>
          </a:xfrm>
          <a:prstGeom prst="straightConnector1">
            <a:avLst/>
          </a:prstGeom>
          <a:noFill/>
          <a:ln cap="flat" cmpd="sng" w="12700">
            <a:solidFill>
              <a:schemeClr val="dk1"/>
            </a:solidFill>
            <a:prstDash val="dash"/>
            <a:round/>
            <a:headEnd len="sm" w="sm" type="none"/>
            <a:tailEnd len="sm" w="sm" type="none"/>
          </a:ln>
        </p:spPr>
      </p:cxnSp>
      <p:pic>
        <p:nvPicPr>
          <p:cNvPr descr="Calendario&#10;&#10;El contenido generado por IA puede ser incorrecto." id="1129" name="Google Shape;1129;p77"/>
          <p:cNvPicPr preferRelativeResize="0"/>
          <p:nvPr/>
        </p:nvPicPr>
        <p:blipFill rotWithShape="1">
          <a:blip r:embed="rId4">
            <a:alphaModFix/>
          </a:blip>
          <a:srcRect b="0" l="0" r="0" t="0"/>
          <a:stretch/>
        </p:blipFill>
        <p:spPr>
          <a:xfrm>
            <a:off x="513433" y="3561070"/>
            <a:ext cx="8231997" cy="2923512"/>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sp>
        <p:nvSpPr>
          <p:cNvPr id="1134" name="Google Shape;1134;p78"/>
          <p:cNvSpPr txBox="1"/>
          <p:nvPr/>
        </p:nvSpPr>
        <p:spPr>
          <a:xfrm>
            <a:off x="661416" y="243879"/>
            <a:ext cx="147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Open Sans"/>
                <a:ea typeface="Open Sans"/>
                <a:cs typeface="Open Sans"/>
                <a:sym typeface="Open Sans"/>
              </a:rPr>
              <a:t>Ejemplo</a:t>
            </a:r>
            <a:endParaRPr/>
          </a:p>
        </p:txBody>
      </p:sp>
      <p:graphicFrame>
        <p:nvGraphicFramePr>
          <p:cNvPr id="1135" name="Google Shape;1135;p78"/>
          <p:cNvGraphicFramePr/>
          <p:nvPr/>
        </p:nvGraphicFramePr>
        <p:xfrm>
          <a:off x="729996" y="741789"/>
          <a:ext cx="3000000" cy="3000000"/>
        </p:xfrm>
        <a:graphic>
          <a:graphicData uri="http://schemas.openxmlformats.org/drawingml/2006/table">
            <a:tbl>
              <a:tblPr bandRow="1" firstRow="1">
                <a:noFill/>
                <a:tableStyleId>{813A3F68-93AB-42EE-8F31-6030AA077254}</a:tableStyleId>
              </a:tblPr>
              <a:tblGrid>
                <a:gridCol w="1656600"/>
                <a:gridCol w="9144000"/>
              </a:tblGrid>
              <a:tr h="370850">
                <a:tc>
                  <a:txBody>
                    <a:bodyPr/>
                    <a:lstStyle/>
                    <a:p>
                      <a:pPr indent="0" lvl="0" marL="0" marR="0" rtl="0" algn="ctr">
                        <a:spcBef>
                          <a:spcPts val="0"/>
                        </a:spcBef>
                        <a:spcAft>
                          <a:spcPts val="0"/>
                        </a:spcAft>
                        <a:buClr>
                          <a:schemeClr val="dk1"/>
                        </a:buClr>
                        <a:buSzPts val="1200"/>
                        <a:buFont typeface="Arial"/>
                        <a:buNone/>
                      </a:pPr>
                      <a:r>
                        <a:rPr lang="es-MX" sz="1200"/>
                        <a:t>Área/Puesto </a:t>
                      </a:r>
                      <a:endParaRPr sz="1200">
                        <a:latin typeface="Arial"/>
                        <a:ea typeface="Arial"/>
                        <a:cs typeface="Arial"/>
                        <a:sym typeface="Arial"/>
                      </a:endParaRPr>
                    </a:p>
                  </a:txBody>
                  <a:tcPr marT="45725" marB="45725" marR="91450" marL="91450"/>
                </a:tc>
                <a:tc>
                  <a:txBody>
                    <a:bodyPr/>
                    <a:lstStyle/>
                    <a:p>
                      <a:pPr indent="0" lvl="0" marL="0" marR="0" rtl="0" algn="ctr">
                        <a:spcBef>
                          <a:spcPts val="0"/>
                        </a:spcBef>
                        <a:spcAft>
                          <a:spcPts val="0"/>
                        </a:spcAft>
                        <a:buClr>
                          <a:schemeClr val="dk1"/>
                        </a:buClr>
                        <a:buSzPts val="1200"/>
                        <a:buFont typeface="Arial"/>
                        <a:buNone/>
                      </a:pPr>
                      <a:r>
                        <a:rPr lang="es-MX" sz="1200"/>
                        <a:t>Actividad a realizar</a:t>
                      </a:r>
                      <a:endParaRPr sz="1200">
                        <a:latin typeface="Arial"/>
                        <a:ea typeface="Arial"/>
                        <a:cs typeface="Arial"/>
                        <a:sym typeface="Arial"/>
                      </a:endParaRPr>
                    </a:p>
                  </a:txBody>
                  <a:tcPr marT="45725" marB="45725" marR="91450" marL="91450"/>
                </a:tc>
              </a:tr>
              <a:tr h="370850">
                <a:tc>
                  <a:txBody>
                    <a:bodyPr/>
                    <a:lstStyle/>
                    <a:p>
                      <a:pPr indent="0" lvl="0" marL="0" marR="0" rtl="0" algn="l">
                        <a:spcBef>
                          <a:spcPts val="0"/>
                        </a:spcBef>
                        <a:spcAft>
                          <a:spcPts val="0"/>
                        </a:spcAft>
                        <a:buClr>
                          <a:schemeClr val="dk1"/>
                        </a:buClr>
                        <a:buSzPts val="1200"/>
                        <a:buFont typeface="Arial"/>
                        <a:buNone/>
                      </a:pPr>
                      <a:r>
                        <a:rPr lang="es-MX" sz="1200">
                          <a:latin typeface="Arial"/>
                          <a:ea typeface="Arial"/>
                          <a:cs typeface="Arial"/>
                          <a:sym typeface="Arial"/>
                        </a:rPr>
                        <a:t>Comercial</a:t>
                      </a:r>
                      <a:endParaRPr/>
                    </a:p>
                    <a:p>
                      <a:pPr indent="0" lvl="0" marL="0" marR="0" rtl="0" algn="l">
                        <a:spcBef>
                          <a:spcPts val="1200"/>
                        </a:spcBef>
                        <a:spcAft>
                          <a:spcPts val="0"/>
                        </a:spcAft>
                        <a:buClr>
                          <a:schemeClr val="dk1"/>
                        </a:buClr>
                        <a:buSzPts val="1200"/>
                        <a:buFont typeface="Arial"/>
                        <a:buNone/>
                      </a:pPr>
                      <a:r>
                        <a:rPr lang="es-MX" sz="1200">
                          <a:latin typeface="Arial"/>
                          <a:ea typeface="Arial"/>
                          <a:cs typeface="Arial"/>
                          <a:sym typeface="Arial"/>
                        </a:rPr>
                        <a:t>VMO</a:t>
                      </a:r>
                      <a:endParaRPr sz="1200">
                        <a:latin typeface="Arial"/>
                        <a:ea typeface="Arial"/>
                        <a:cs typeface="Arial"/>
                        <a:sym typeface="Arial"/>
                      </a:endParaRPr>
                    </a:p>
                  </a:txBody>
                  <a:tcPr marT="45725" marB="45725" marR="91450" marL="91450">
                    <a:solidFill>
                      <a:schemeClr val="lt1"/>
                    </a:solidFill>
                  </a:tcPr>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Detecta oportunidad y propone iniciativa</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Recibe la “ficha” o información básica solicitada para nuevas iniciativas</a:t>
                      </a:r>
                      <a:endParaRPr sz="1200">
                        <a:latin typeface="Arial"/>
                        <a:ea typeface="Arial"/>
                        <a:cs typeface="Arial"/>
                        <a:sym typeface="Arial"/>
                      </a:endParaRPr>
                    </a:p>
                  </a:txBody>
                  <a:tcPr marT="45725" marB="45725" marR="91450" marL="91450">
                    <a:solidFill>
                      <a:schemeClr val="lt1"/>
                    </a:solidFill>
                  </a:tcPr>
                </a:tc>
              </a:tr>
              <a:tr h="370850">
                <a:tc>
                  <a:txBody>
                    <a:bodyPr/>
                    <a:lstStyle/>
                    <a:p>
                      <a:pPr indent="0" lvl="0" marL="0" marR="0" rtl="0" algn="l">
                        <a:spcBef>
                          <a:spcPts val="0"/>
                        </a:spcBef>
                        <a:spcAft>
                          <a:spcPts val="0"/>
                        </a:spcAft>
                        <a:buClr>
                          <a:schemeClr val="dk1"/>
                        </a:buClr>
                        <a:buSzPts val="1200"/>
                        <a:buFont typeface="Arial"/>
                        <a:buNone/>
                      </a:pPr>
                      <a:r>
                        <a:rPr lang="es-MX" sz="1200">
                          <a:latin typeface="Arial"/>
                          <a:ea typeface="Arial"/>
                          <a:cs typeface="Arial"/>
                          <a:sym typeface="Arial"/>
                        </a:rPr>
                        <a:t>VMO</a:t>
                      </a:r>
                      <a:endParaRPr/>
                    </a:p>
                    <a:p>
                      <a:pPr indent="0" lvl="0" marL="0" marR="0" rtl="0" algn="l">
                        <a:spcBef>
                          <a:spcPts val="1200"/>
                        </a:spcBef>
                        <a:spcAft>
                          <a:spcPts val="0"/>
                        </a:spcAft>
                        <a:buClr>
                          <a:schemeClr val="dk1"/>
                        </a:buClr>
                        <a:buSzPts val="1200"/>
                        <a:buFont typeface="Arial"/>
                        <a:buNone/>
                      </a:pPr>
                      <a:r>
                        <a:rPr lang="es-MX" sz="1200">
                          <a:latin typeface="Arial"/>
                          <a:ea typeface="Arial"/>
                          <a:cs typeface="Arial"/>
                          <a:sym typeface="Arial"/>
                        </a:rPr>
                        <a:t>Finanzas</a:t>
                      </a:r>
                      <a:endParaRPr sz="1200">
                        <a:latin typeface="Arial"/>
                        <a:ea typeface="Arial"/>
                        <a:cs typeface="Arial"/>
                        <a:sym typeface="Arial"/>
                      </a:endParaRPr>
                    </a:p>
                  </a:txBody>
                  <a:tcPr marT="45725" marB="45725" marR="91450" marL="91450">
                    <a:solidFill>
                      <a:schemeClr val="lt1"/>
                    </a:solidFill>
                  </a:tcPr>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Valida alineación con estrategia de negocio, evalúa impacto potencial (integral), dependencias, riesgos, urgencias y ubica el proyecto dentro del portafolio</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Aporta marco financiero de priorización (impacto vs riesgo) y valida que la iniciativa sea adecuada para inversión </a:t>
                      </a:r>
                      <a:endParaRPr sz="1200">
                        <a:latin typeface="Arial"/>
                        <a:ea typeface="Arial"/>
                        <a:cs typeface="Arial"/>
                        <a:sym typeface="Arial"/>
                      </a:endParaRPr>
                    </a:p>
                  </a:txBody>
                  <a:tcPr marT="45725" marB="45725" marR="91450" marL="91450">
                    <a:solidFill>
                      <a:schemeClr val="lt1"/>
                    </a:solidFill>
                  </a:tcPr>
                </a:tc>
              </a:tr>
              <a:tr h="370850">
                <a:tc>
                  <a:txBody>
                    <a:bodyPr/>
                    <a:lstStyle/>
                    <a:p>
                      <a:pPr indent="0" lvl="0" marL="0" marR="0" rtl="0" algn="l">
                        <a:spcBef>
                          <a:spcPts val="0"/>
                        </a:spcBef>
                        <a:spcAft>
                          <a:spcPts val="0"/>
                        </a:spcAft>
                        <a:buClr>
                          <a:schemeClr val="dk1"/>
                        </a:buClr>
                        <a:buSzPts val="1200"/>
                        <a:buFont typeface="Arial"/>
                        <a:buNone/>
                      </a:pPr>
                      <a:r>
                        <a:rPr lang="es-MX" sz="1200">
                          <a:latin typeface="Arial"/>
                          <a:ea typeface="Arial"/>
                          <a:cs typeface="Arial"/>
                          <a:sym typeface="Arial"/>
                        </a:rPr>
                        <a:t>VMO</a:t>
                      </a:r>
                      <a:endParaRPr/>
                    </a:p>
                    <a:p>
                      <a:pPr indent="0" lvl="0" marL="0" marR="0" rtl="0" algn="l">
                        <a:spcBef>
                          <a:spcPts val="1200"/>
                        </a:spcBef>
                        <a:spcAft>
                          <a:spcPts val="0"/>
                        </a:spcAft>
                        <a:buClr>
                          <a:schemeClr val="dk1"/>
                        </a:buClr>
                        <a:buSzPts val="1200"/>
                        <a:buFont typeface="Arial"/>
                        <a:buNone/>
                      </a:pPr>
                      <a:r>
                        <a:rPr lang="es-MX" sz="1200">
                          <a:latin typeface="Arial"/>
                          <a:ea typeface="Arial"/>
                          <a:cs typeface="Arial"/>
                          <a:sym typeface="Arial"/>
                        </a:rPr>
                        <a:t>Finanzas</a:t>
                      </a:r>
                      <a:endParaRPr sz="1200">
                        <a:latin typeface="Arial"/>
                        <a:ea typeface="Arial"/>
                        <a:cs typeface="Arial"/>
                        <a:sym typeface="Arial"/>
                      </a:endParaRPr>
                    </a:p>
                  </a:txBody>
                  <a:tcPr marT="45725" marB="45725" marR="91450" marL="91450">
                    <a:solidFill>
                      <a:schemeClr val="lt1"/>
                    </a:solidFill>
                  </a:tcPr>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Coordina construcción del business case con el líder del proyecto, reta supuestos, valida coherencia estratégica, define métricas de éxito</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Construye el modelo financiero, evalúa VPN, payback, identifica riesgos financieros; da seguimiento a la aprobación del business case con comité de inversión</a:t>
                      </a:r>
                      <a:endParaRPr/>
                    </a:p>
                  </a:txBody>
                  <a:tcPr marT="45725" marB="45725" marR="91450" marL="91450">
                    <a:solidFill>
                      <a:schemeClr val="lt1"/>
                    </a:solidFill>
                  </a:tcPr>
                </a:tc>
              </a:tr>
              <a:tr h="370850">
                <a:tc>
                  <a:txBody>
                    <a:bodyPr/>
                    <a:lstStyle/>
                    <a:p>
                      <a:pPr indent="0" lvl="0" marL="0" marR="0" rtl="0" algn="l">
                        <a:spcBef>
                          <a:spcPts val="0"/>
                        </a:spcBef>
                        <a:spcAft>
                          <a:spcPts val="0"/>
                        </a:spcAft>
                        <a:buClr>
                          <a:schemeClr val="dk1"/>
                        </a:buClr>
                        <a:buSzPts val="1200"/>
                        <a:buFont typeface="Arial"/>
                        <a:buNone/>
                      </a:pPr>
                      <a:r>
                        <a:rPr lang="es-MX" sz="1200">
                          <a:latin typeface="Arial"/>
                          <a:ea typeface="Arial"/>
                          <a:cs typeface="Arial"/>
                          <a:sym typeface="Arial"/>
                        </a:rPr>
                        <a:t>VMO</a:t>
                      </a:r>
                      <a:endParaRPr/>
                    </a:p>
                    <a:p>
                      <a:pPr indent="0" lvl="0" marL="0" marR="0" rtl="0" algn="l">
                        <a:spcBef>
                          <a:spcPts val="1200"/>
                        </a:spcBef>
                        <a:spcAft>
                          <a:spcPts val="0"/>
                        </a:spcAft>
                        <a:buClr>
                          <a:schemeClr val="dk1"/>
                        </a:buClr>
                        <a:buSzPts val="1200"/>
                        <a:buFont typeface="Arial"/>
                        <a:buNone/>
                      </a:pPr>
                      <a:r>
                        <a:rPr lang="es-MX" sz="1200">
                          <a:latin typeface="Arial"/>
                          <a:ea typeface="Arial"/>
                          <a:cs typeface="Arial"/>
                          <a:sym typeface="Arial"/>
                        </a:rPr>
                        <a:t>Finanzas</a:t>
                      </a:r>
                      <a:endParaRPr/>
                    </a:p>
                    <a:p>
                      <a:pPr indent="0" lvl="0" marL="0" marR="0" rtl="0" algn="l">
                        <a:spcBef>
                          <a:spcPts val="1200"/>
                        </a:spcBef>
                        <a:spcAft>
                          <a:spcPts val="0"/>
                        </a:spcAft>
                        <a:buClr>
                          <a:schemeClr val="dk1"/>
                        </a:buClr>
                        <a:buSzPts val="1200"/>
                        <a:buFont typeface="Arial"/>
                        <a:buNone/>
                      </a:pPr>
                      <a:r>
                        <a:rPr lang="es-MX" sz="1200">
                          <a:latin typeface="Arial"/>
                          <a:ea typeface="Arial"/>
                          <a:cs typeface="Arial"/>
                          <a:sym typeface="Arial"/>
                        </a:rPr>
                        <a:t>Operaciones / CdS (resto de áreas)</a:t>
                      </a:r>
                      <a:endParaRPr sz="1200">
                        <a:latin typeface="Arial"/>
                        <a:ea typeface="Arial"/>
                        <a:cs typeface="Arial"/>
                        <a:sym typeface="Arial"/>
                      </a:endParaRPr>
                    </a:p>
                  </a:txBody>
                  <a:tcPr marT="45725" marB="45725" marR="91450" marL="91450">
                    <a:solidFill>
                      <a:schemeClr val="lt1"/>
                    </a:solidFill>
                  </a:tcPr>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Prioriza el proyecto dentro del portafolio y traduce la demanda en recursos (en caso de aplicar FTE, se debe tocar base con organización)</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Autoriza CAPEX y OPEX y ajusta dentro de presupuesto anual</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Validan capacidad operativa </a:t>
                      </a:r>
                      <a:endParaRPr/>
                    </a:p>
                  </a:txBody>
                  <a:tcPr marT="45725" marB="45725" marR="91450" marL="91450">
                    <a:solidFill>
                      <a:schemeClr val="lt1"/>
                    </a:solidFill>
                  </a:tcPr>
                </a:tc>
              </a:tr>
              <a:tr h="370850">
                <a:tc>
                  <a:txBody>
                    <a:bodyPr/>
                    <a:lstStyle/>
                    <a:p>
                      <a:pPr indent="0" lvl="0" marL="0" marR="0" rtl="0" algn="l">
                        <a:spcBef>
                          <a:spcPts val="0"/>
                        </a:spcBef>
                        <a:spcAft>
                          <a:spcPts val="0"/>
                        </a:spcAft>
                        <a:buClr>
                          <a:schemeClr val="dk1"/>
                        </a:buClr>
                        <a:buSzPts val="1200"/>
                        <a:buFont typeface="Arial"/>
                        <a:buNone/>
                      </a:pPr>
                      <a:r>
                        <a:rPr lang="es-MX" sz="1200">
                          <a:latin typeface="Arial"/>
                          <a:ea typeface="Arial"/>
                          <a:cs typeface="Arial"/>
                          <a:sym typeface="Arial"/>
                        </a:rPr>
                        <a:t>Despliegue operativo</a:t>
                      </a:r>
                      <a:endParaRPr/>
                    </a:p>
                    <a:p>
                      <a:pPr indent="0" lvl="0" marL="0" marR="0" rtl="0" algn="l">
                        <a:spcBef>
                          <a:spcPts val="1200"/>
                        </a:spcBef>
                        <a:spcAft>
                          <a:spcPts val="0"/>
                        </a:spcAft>
                        <a:buClr>
                          <a:schemeClr val="dk1"/>
                        </a:buClr>
                        <a:buSzPts val="1200"/>
                        <a:buFont typeface="Arial"/>
                        <a:buNone/>
                      </a:pPr>
                      <a:r>
                        <a:rPr lang="es-MX" sz="1200">
                          <a:latin typeface="Arial"/>
                          <a:ea typeface="Arial"/>
                          <a:cs typeface="Arial"/>
                          <a:sym typeface="Arial"/>
                        </a:rPr>
                        <a:t>VMO</a:t>
                      </a:r>
                      <a:endParaRPr/>
                    </a:p>
                    <a:p>
                      <a:pPr indent="0" lvl="0" marL="0" marR="0" rtl="0" algn="l">
                        <a:spcBef>
                          <a:spcPts val="1200"/>
                        </a:spcBef>
                        <a:spcAft>
                          <a:spcPts val="0"/>
                        </a:spcAft>
                        <a:buClr>
                          <a:schemeClr val="dk1"/>
                        </a:buClr>
                        <a:buSzPts val="1200"/>
                        <a:buFont typeface="Arial"/>
                        <a:buNone/>
                      </a:pPr>
                      <a:r>
                        <a:rPr lang="es-MX" sz="1200">
                          <a:latin typeface="Arial"/>
                          <a:ea typeface="Arial"/>
                          <a:cs typeface="Arial"/>
                          <a:sym typeface="Arial"/>
                        </a:rPr>
                        <a:t>Finanzas</a:t>
                      </a:r>
                      <a:endParaRPr sz="1200">
                        <a:latin typeface="Arial"/>
                        <a:ea typeface="Arial"/>
                        <a:cs typeface="Arial"/>
                        <a:sym typeface="Arial"/>
                      </a:endParaRPr>
                    </a:p>
                  </a:txBody>
                  <a:tcPr marT="45725" marB="45725" marR="91450" marL="91450">
                    <a:solidFill>
                      <a:schemeClr val="lt1"/>
                    </a:solidFill>
                  </a:tcPr>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Ejecuta prueba / piloto / despliegue en Tiendas</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Da seguimiento a cumplimiento a hitos e indicadores de éxito, controla roadmap, riesgos, dependencias, asegura cumplimiento a metología</a:t>
                      </a:r>
                      <a:endParaRPr sz="1200">
                        <a:latin typeface="Arial"/>
                        <a:ea typeface="Arial"/>
                        <a:cs typeface="Arial"/>
                        <a:sym typeface="Arial"/>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Valida desviaciones de gasto y acompaña análisis financiero del piloto</a:t>
                      </a:r>
                      <a:endParaRPr/>
                    </a:p>
                  </a:txBody>
                  <a:tcPr marT="45725" marB="45725" marR="91450" marL="91450">
                    <a:solidFill>
                      <a:schemeClr val="lt1"/>
                    </a:solidFill>
                  </a:tcPr>
                </a:tc>
              </a:tr>
              <a:tr h="370850">
                <a:tc>
                  <a:txBody>
                    <a:bodyPr/>
                    <a:lstStyle/>
                    <a:p>
                      <a:pPr indent="0" lvl="0" marL="0" marR="0" rtl="0" algn="l">
                        <a:spcBef>
                          <a:spcPts val="0"/>
                        </a:spcBef>
                        <a:spcAft>
                          <a:spcPts val="0"/>
                        </a:spcAft>
                        <a:buClr>
                          <a:schemeClr val="dk1"/>
                        </a:buClr>
                        <a:buSzPts val="1200"/>
                        <a:buFont typeface="Arial"/>
                        <a:buNone/>
                      </a:pPr>
                      <a:r>
                        <a:rPr lang="es-MX" sz="1200">
                          <a:latin typeface="Arial"/>
                          <a:ea typeface="Arial"/>
                          <a:cs typeface="Arial"/>
                          <a:sym typeface="Arial"/>
                        </a:rPr>
                        <a:t>Finanzas</a:t>
                      </a:r>
                      <a:endParaRPr/>
                    </a:p>
                    <a:p>
                      <a:pPr indent="0" lvl="0" marL="0" marR="0" rtl="0" algn="l">
                        <a:spcBef>
                          <a:spcPts val="1200"/>
                        </a:spcBef>
                        <a:spcAft>
                          <a:spcPts val="0"/>
                        </a:spcAft>
                        <a:buClr>
                          <a:schemeClr val="dk1"/>
                        </a:buClr>
                        <a:buSzPts val="1200"/>
                        <a:buFont typeface="Arial"/>
                        <a:buNone/>
                      </a:pPr>
                      <a:r>
                        <a:rPr lang="es-MX" sz="1200">
                          <a:latin typeface="Arial"/>
                          <a:ea typeface="Arial"/>
                          <a:cs typeface="Arial"/>
                          <a:sym typeface="Arial"/>
                        </a:rPr>
                        <a:t>VMO</a:t>
                      </a:r>
                      <a:endParaRPr sz="1200">
                        <a:latin typeface="Arial"/>
                        <a:ea typeface="Arial"/>
                        <a:cs typeface="Arial"/>
                        <a:sym typeface="Arial"/>
                      </a:endParaRPr>
                    </a:p>
                  </a:txBody>
                  <a:tcPr marT="45725" marB="45725" marR="91450" marL="91450">
                    <a:solidFill>
                      <a:schemeClr val="lt1"/>
                    </a:solidFill>
                  </a:tcPr>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Mide impacto financiero real vs proyectado, valida marguen incremental (comprometido)</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Gobierna medición de valor, reporta a comité ejecutivo, evalúa si cumple con target estratégico</a:t>
                      </a:r>
                      <a:endParaRPr/>
                    </a:p>
                  </a:txBody>
                  <a:tcPr marT="45725" marB="45725" marR="91450" marL="91450">
                    <a:solidFill>
                      <a:schemeClr val="lt1"/>
                    </a:solidFill>
                  </a:tcPr>
                </a:tc>
              </a:tr>
              <a:tr h="370850">
                <a:tc>
                  <a:txBody>
                    <a:bodyPr/>
                    <a:lstStyle/>
                    <a:p>
                      <a:pPr indent="0" lvl="0" marL="0" marR="0" rtl="0" algn="l">
                        <a:spcBef>
                          <a:spcPts val="0"/>
                        </a:spcBef>
                        <a:spcAft>
                          <a:spcPts val="0"/>
                        </a:spcAft>
                        <a:buClr>
                          <a:schemeClr val="dk1"/>
                        </a:buClr>
                        <a:buSzPts val="1200"/>
                        <a:buFont typeface="Arial"/>
                        <a:buNone/>
                      </a:pPr>
                      <a:r>
                        <a:rPr lang="es-MX" sz="1200">
                          <a:latin typeface="Arial"/>
                          <a:ea typeface="Arial"/>
                          <a:cs typeface="Arial"/>
                          <a:sym typeface="Arial"/>
                        </a:rPr>
                        <a:t>Finanzas</a:t>
                      </a:r>
                      <a:endParaRPr/>
                    </a:p>
                    <a:p>
                      <a:pPr indent="0" lvl="0" marL="0" marR="0" rtl="0" algn="l">
                        <a:spcBef>
                          <a:spcPts val="1200"/>
                        </a:spcBef>
                        <a:spcAft>
                          <a:spcPts val="0"/>
                        </a:spcAft>
                        <a:buClr>
                          <a:schemeClr val="dk1"/>
                        </a:buClr>
                        <a:buSzPts val="1200"/>
                        <a:buFont typeface="Arial"/>
                        <a:buNone/>
                      </a:pPr>
                      <a:r>
                        <a:rPr lang="es-MX" sz="1200">
                          <a:latin typeface="Arial"/>
                          <a:ea typeface="Arial"/>
                          <a:cs typeface="Arial"/>
                          <a:sym typeface="Arial"/>
                        </a:rPr>
                        <a:t>VMO</a:t>
                      </a:r>
                      <a:endParaRPr sz="1200">
                        <a:latin typeface="Arial"/>
                        <a:ea typeface="Arial"/>
                        <a:cs typeface="Arial"/>
                        <a:sym typeface="Arial"/>
                      </a:endParaRPr>
                    </a:p>
                  </a:txBody>
                  <a:tcPr marT="45725" marB="45725" marR="91450" marL="91450">
                    <a:solidFill>
                      <a:schemeClr val="lt1"/>
                    </a:solidFill>
                  </a:tcPr>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Alerta desviación financiera</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Convoca a comité, analiza causa raíz de la desviación, decide pausar despliegue </a:t>
                      </a:r>
                      <a:endParaRPr/>
                    </a:p>
                  </a:txBody>
                  <a:tcPr marT="45725" marB="45725" marR="91450" marL="91450">
                    <a:solidFill>
                      <a:schemeClr val="lt1"/>
                    </a:solidFill>
                  </a:tcPr>
                </a:tc>
              </a:tr>
            </a:tbl>
          </a:graphicData>
        </a:graphic>
      </p:graphicFrame>
      <p:graphicFrame>
        <p:nvGraphicFramePr>
          <p:cNvPr id="1136" name="Google Shape;1136;p78"/>
          <p:cNvGraphicFramePr/>
          <p:nvPr/>
        </p:nvGraphicFramePr>
        <p:xfrm>
          <a:off x="1613154" y="76091"/>
          <a:ext cx="3000000" cy="3000000"/>
        </p:xfrm>
        <a:graphic>
          <a:graphicData uri="http://schemas.openxmlformats.org/drawingml/2006/table">
            <a:tbl>
              <a:tblPr>
                <a:noFill/>
                <a:tableStyleId>{59F1A6B1-18B9-4B87-B458-7A3E6594CA7B}</a:tableStyleId>
              </a:tblPr>
              <a:tblGrid>
                <a:gridCol w="9747500"/>
              </a:tblGrid>
              <a:tr h="152400">
                <a:tc>
                  <a:txBody>
                    <a:bodyPr/>
                    <a:lstStyle/>
                    <a:p>
                      <a:pPr indent="-177800" lvl="0" marL="177800" marR="0" rtl="0" algn="l">
                        <a:lnSpc>
                          <a:spcPct val="125000"/>
                        </a:lnSpc>
                        <a:spcBef>
                          <a:spcPts val="0"/>
                        </a:spcBef>
                        <a:spcAft>
                          <a:spcPts val="0"/>
                        </a:spcAft>
                        <a:buClr>
                          <a:schemeClr val="dk1"/>
                        </a:buClr>
                        <a:buSzPts val="1200"/>
                        <a:buFont typeface="Quattrocento Sans"/>
                        <a:buNone/>
                      </a:pPr>
                      <a:r>
                        <a:rPr b="0" i="0" lang="es-MX" sz="1200">
                          <a:latin typeface="Quattrocento Sans"/>
                          <a:ea typeface="Quattrocento Sans"/>
                          <a:cs typeface="Quattrocento Sans"/>
                          <a:sym typeface="Quattrocento Sans"/>
                        </a:rPr>
                        <a:t>Nombre proyecto: Implementación pricing dinámico por zona y franja horaria en OXXO (genérico)</a:t>
                      </a:r>
                      <a:endParaRPr/>
                    </a:p>
                    <a:p>
                      <a:pPr indent="0" lvl="0" marL="0" marR="0" rtl="0" algn="l">
                        <a:lnSpc>
                          <a:spcPct val="125000"/>
                        </a:lnSpc>
                        <a:spcBef>
                          <a:spcPts val="1200"/>
                        </a:spcBef>
                        <a:spcAft>
                          <a:spcPts val="0"/>
                        </a:spcAft>
                        <a:buClr>
                          <a:schemeClr val="dk1"/>
                        </a:buClr>
                        <a:buSzPts val="1200"/>
                        <a:buFont typeface="Quattrocento Sans"/>
                        <a:buNone/>
                      </a:pPr>
                      <a:r>
                        <a:rPr b="0" i="0" lang="es-MX" sz="1200">
                          <a:latin typeface="Quattrocento Sans"/>
                          <a:ea typeface="Quattrocento Sans"/>
                          <a:cs typeface="Quattrocento Sans"/>
                          <a:sym typeface="Quattrocento Sans"/>
                        </a:rPr>
                        <a:t>Objetivo: Incrementar margen bruto +0.4 pp mediante ajustes de precios basados en demanda, clima y competencia</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0">
                <a:tc>
                  <a:txBody>
                    <a:bodyPr/>
                    <a:lstStyle/>
                    <a:p>
                      <a:pPr indent="-101600" lvl="0" marL="177800" marR="0" rtl="0" algn="l">
                        <a:spcBef>
                          <a:spcPts val="0"/>
                        </a:spcBef>
                        <a:spcAft>
                          <a:spcPts val="0"/>
                        </a:spcAft>
                        <a:buClr>
                          <a:schemeClr val="dk1"/>
                        </a:buClr>
                        <a:buSzPts val="1200"/>
                        <a:buFont typeface="Arial"/>
                        <a:buNone/>
                      </a:pPr>
                      <a:r>
                        <a:t/>
                      </a:r>
                      <a:endParaRPr sz="1200"/>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79"/>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t>EJEMPLO</a:t>
            </a:r>
            <a:endParaRPr/>
          </a:p>
        </p:txBody>
      </p:sp>
      <p:sp>
        <p:nvSpPr>
          <p:cNvPr id="1142" name="Google Shape;1142;p79"/>
          <p:cNvSpPr txBox="1"/>
          <p:nvPr/>
        </p:nvSpPr>
        <p:spPr>
          <a:xfrm>
            <a:off x="652272" y="1104638"/>
            <a:ext cx="147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Open Sans"/>
                <a:ea typeface="Open Sans"/>
                <a:cs typeface="Open Sans"/>
                <a:sym typeface="Open Sans"/>
              </a:rPr>
              <a:t>Tarea</a:t>
            </a:r>
            <a:endParaRPr/>
          </a:p>
        </p:txBody>
      </p:sp>
      <p:sp>
        <p:nvSpPr>
          <p:cNvPr id="1143" name="Google Shape;1143;p79"/>
          <p:cNvSpPr/>
          <p:nvPr/>
        </p:nvSpPr>
        <p:spPr>
          <a:xfrm>
            <a:off x="1856232" y="969264"/>
            <a:ext cx="9674352" cy="64008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graphicFrame>
        <p:nvGraphicFramePr>
          <p:cNvPr id="1144" name="Google Shape;1144;p79"/>
          <p:cNvGraphicFramePr/>
          <p:nvPr/>
        </p:nvGraphicFramePr>
        <p:xfrm>
          <a:off x="729996" y="1866501"/>
          <a:ext cx="3000000" cy="3000000"/>
        </p:xfrm>
        <a:graphic>
          <a:graphicData uri="http://schemas.openxmlformats.org/drawingml/2006/table">
            <a:tbl>
              <a:tblPr bandRow="1" firstRow="1">
                <a:noFill/>
                <a:tableStyleId>{813A3F68-93AB-42EE-8F31-6030AA077254}</a:tableStyleId>
              </a:tblPr>
              <a:tblGrid>
                <a:gridCol w="1637125"/>
                <a:gridCol w="2799250"/>
                <a:gridCol w="6364225"/>
              </a:tblGrid>
              <a:tr h="370850">
                <a:tc>
                  <a:txBody>
                    <a:bodyPr/>
                    <a:lstStyle/>
                    <a:p>
                      <a:pPr indent="-177800" lvl="0" marL="177800" marR="0" rtl="0" algn="l">
                        <a:spcBef>
                          <a:spcPts val="0"/>
                        </a:spcBef>
                        <a:spcAft>
                          <a:spcPts val="0"/>
                        </a:spcAft>
                        <a:buClr>
                          <a:schemeClr val="dk1"/>
                        </a:buClr>
                        <a:buSzPts val="1200"/>
                        <a:buFont typeface="Arial"/>
                        <a:buChar char="•"/>
                      </a:pPr>
                      <a:r>
                        <a:rPr lang="es-MX" sz="1200"/>
                        <a:t>Rol</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Área/Puesto </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Actividad a realizar</a:t>
                      </a:r>
                      <a:endParaRPr sz="1200">
                        <a:latin typeface="Arial"/>
                        <a:ea typeface="Arial"/>
                        <a:cs typeface="Arial"/>
                        <a:sym typeface="Arial"/>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bl>
          </a:graphicData>
        </a:graphic>
      </p:graphicFrame>
      <p:sp>
        <p:nvSpPr>
          <p:cNvPr id="1145" name="Google Shape;1145;p79"/>
          <p:cNvSpPr txBox="1"/>
          <p:nvPr/>
        </p:nvSpPr>
        <p:spPr>
          <a:xfrm>
            <a:off x="1934064" y="1027694"/>
            <a:ext cx="951868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400">
                <a:solidFill>
                  <a:schemeClr val="dk1"/>
                </a:solidFill>
                <a:latin typeface="Open Sans"/>
                <a:ea typeface="Open Sans"/>
                <a:cs typeface="Open Sans"/>
                <a:sym typeface="Open Sans"/>
              </a:rPr>
              <a:t>XX</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grpSp>
        <p:nvGrpSpPr>
          <p:cNvPr id="1151" name="Google Shape;1151;p80"/>
          <p:cNvGrpSpPr/>
          <p:nvPr/>
        </p:nvGrpSpPr>
        <p:grpSpPr>
          <a:xfrm>
            <a:off x="0" y="6926580"/>
            <a:ext cx="12192000" cy="137160"/>
            <a:chOff x="0" y="6926580"/>
            <a:chExt cx="12192000" cy="137160"/>
          </a:xfrm>
        </p:grpSpPr>
        <p:sp>
          <p:nvSpPr>
            <p:cNvPr id="1152" name="Google Shape;1152;p80"/>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153" name="Google Shape;1153;p80"/>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154" name="Google Shape;1154;p80"/>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155" name="Google Shape;1155;p80"/>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1156" name="Google Shape;1156;p80"/>
          <p:cNvGrpSpPr/>
          <p:nvPr/>
        </p:nvGrpSpPr>
        <p:grpSpPr>
          <a:xfrm>
            <a:off x="0" y="-205740"/>
            <a:ext cx="12192000" cy="137160"/>
            <a:chOff x="0" y="-205740"/>
            <a:chExt cx="12192000" cy="137160"/>
          </a:xfrm>
        </p:grpSpPr>
        <p:sp>
          <p:nvSpPr>
            <p:cNvPr id="1157" name="Google Shape;1157;p80"/>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158" name="Google Shape;1158;p80"/>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159" name="Google Shape;1159;p80"/>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160" name="Google Shape;1160;p80"/>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1161" name="Google Shape;1161;p80"/>
          <p:cNvSpPr txBox="1"/>
          <p:nvPr>
            <p:ph type="title"/>
          </p:nvPr>
        </p:nvSpPr>
        <p:spPr>
          <a:xfrm>
            <a:off x="950142" y="2720529"/>
            <a:ext cx="10698933" cy="1065540"/>
          </a:xfrm>
          <a:prstGeom prst="rect">
            <a:avLst/>
          </a:prstGeom>
          <a:noFill/>
          <a:ln>
            <a:noFill/>
          </a:ln>
        </p:spPr>
        <p:txBody>
          <a:bodyPr anchorCtr="0" anchor="ctr" bIns="36000" lIns="91425" spcFirstLastPara="1" rIns="91425" wrap="square" tIns="36000">
            <a:normAutofit/>
          </a:bodyPr>
          <a:lstStyle/>
          <a:p>
            <a:pPr indent="0" lvl="0" marL="0" rtl="0" algn="l">
              <a:lnSpc>
                <a:spcPct val="100000"/>
              </a:lnSpc>
              <a:spcBef>
                <a:spcPts val="0"/>
              </a:spcBef>
              <a:spcAft>
                <a:spcPts val="0"/>
              </a:spcAft>
              <a:buNone/>
            </a:pPr>
            <a:r>
              <a:rPr lang="es-MX"/>
              <a:t>Modelo de madurez</a:t>
            </a:r>
            <a:br>
              <a:rPr lang="es-MX"/>
            </a:br>
            <a:r>
              <a:rPr b="0" lang="es-MX"/>
              <a:t>Fit for Purpose OXXO MX</a:t>
            </a:r>
            <a:endParaRPr/>
          </a:p>
        </p:txBody>
      </p:sp>
      <p:sp>
        <p:nvSpPr>
          <p:cNvPr id="1162" name="Google Shape;1162;p80"/>
          <p:cNvSpPr txBox="1"/>
          <p:nvPr/>
        </p:nvSpPr>
        <p:spPr>
          <a:xfrm>
            <a:off x="1016817" y="3838575"/>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Open Sans"/>
              <a:buNone/>
            </a:pPr>
            <a:r>
              <a:rPr i="0" lang="es-MX" sz="1600" u="none" cap="none" strike="noStrike">
                <a:solidFill>
                  <a:srgbClr val="FFFFFF"/>
                </a:solidFill>
                <a:latin typeface="Open Sans"/>
                <a:ea typeface="Open Sans"/>
                <a:cs typeface="Open Sans"/>
                <a:sym typeface="Open Sans"/>
              </a:rPr>
              <a:t>Enero 2026</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81"/>
          <p:cNvSpPr txBox="1"/>
          <p:nvPr>
            <p:ph type="title"/>
          </p:nvPr>
        </p:nvSpPr>
        <p:spPr>
          <a:xfrm>
            <a:off x="508799" y="250442"/>
            <a:ext cx="11352999" cy="46166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s-MX">
                <a:solidFill>
                  <a:srgbClr val="DE0230"/>
                </a:solidFill>
              </a:rPr>
              <a:t>Plan Aseguramiento y Estabilización | </a:t>
            </a:r>
            <a:r>
              <a:rPr lang="es-MX"/>
              <a:t>Interacciones Críticas (10)</a:t>
            </a:r>
            <a:endParaRPr/>
          </a:p>
        </p:txBody>
      </p:sp>
      <p:graphicFrame>
        <p:nvGraphicFramePr>
          <p:cNvPr id="1168" name="Google Shape;1168;p81"/>
          <p:cNvGraphicFramePr/>
          <p:nvPr/>
        </p:nvGraphicFramePr>
        <p:xfrm>
          <a:off x="481689" y="899707"/>
          <a:ext cx="3000000" cy="3000000"/>
        </p:xfrm>
        <a:graphic>
          <a:graphicData uri="http://schemas.openxmlformats.org/drawingml/2006/table">
            <a:tbl>
              <a:tblPr>
                <a:solidFill>
                  <a:srgbClr val="F2F2F2"/>
                </a:solidFill>
                <a:tableStyleId>{59F1A6B1-18B9-4B87-B458-7A3E6594CA7B}</a:tableStyleId>
              </a:tblPr>
              <a:tblGrid>
                <a:gridCol w="609700"/>
                <a:gridCol w="3464725"/>
                <a:gridCol w="2647775"/>
                <a:gridCol w="2118425"/>
                <a:gridCol w="2388000"/>
              </a:tblGrid>
              <a:tr h="263125">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Prioridad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Objetivo Principal</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Interacción Crítica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Impacto Estratégico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Responsables Principales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1</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Redefinir el </a:t>
                      </a:r>
                      <a:r>
                        <a:rPr b="1" i="1" lang="es-MX" sz="900" cap="none">
                          <a:solidFill>
                            <a:srgbClr val="7F7F7F"/>
                          </a:solidFill>
                          <a:latin typeface="Arial"/>
                          <a:ea typeface="Arial"/>
                          <a:cs typeface="Arial"/>
                          <a:sym typeface="Arial"/>
                        </a:rPr>
                        <a:t>Customer Value Proposition</a:t>
                      </a:r>
                      <a:r>
                        <a:rPr b="1" lang="es-MX" sz="900" cap="none">
                          <a:solidFill>
                            <a:srgbClr val="7F7F7F"/>
                          </a:solidFill>
                          <a:latin typeface="Arial"/>
                          <a:ea typeface="Arial"/>
                          <a:cs typeface="Arial"/>
                          <a:sym typeface="Arial"/>
                        </a:rPr>
                        <a:t> </a:t>
                      </a:r>
                      <a:r>
                        <a:rPr lang="es-MX" sz="900" cap="none">
                          <a:solidFill>
                            <a:srgbClr val="7F7F7F"/>
                          </a:solidFill>
                          <a:latin typeface="Arial"/>
                          <a:ea typeface="Arial"/>
                          <a:cs typeface="Arial"/>
                          <a:sym typeface="Arial"/>
                        </a:rPr>
                        <a:t>(CVP) y distribuir el ownership del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Customer &amp; Marketing</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Alinea la propuesta de valor al cliente con las estrategias comerciales.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 </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2</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Habilitar </a:t>
                      </a:r>
                      <a:r>
                        <a:rPr b="1" i="1" lang="es-MX" sz="900" cap="none">
                          <a:solidFill>
                            <a:srgbClr val="7F7F7F"/>
                          </a:solidFill>
                          <a:latin typeface="Arial"/>
                          <a:ea typeface="Arial"/>
                          <a:cs typeface="Arial"/>
                          <a:sym typeface="Arial"/>
                        </a:rPr>
                        <a:t>decisiones comerciales de precios, variedad, volumen y márgenes </a:t>
                      </a:r>
                      <a:r>
                        <a:rPr lang="es-MX" sz="900" cap="none">
                          <a:solidFill>
                            <a:srgbClr val="7F7F7F"/>
                          </a:solidFill>
                          <a:latin typeface="Arial"/>
                          <a:ea typeface="Arial"/>
                          <a:cs typeface="Arial"/>
                          <a:sym typeface="Arial"/>
                        </a:rPr>
                        <a:t>con soporte de análisis profundo y detallado.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Commercial Finance (Finanzas) ↔ Data &amp; Analytics (C&amp;M)</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Mejora la rentabilidad comercial y control financiero.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Finanzas</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3</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Integrar la </a:t>
                      </a:r>
                      <a:r>
                        <a:rPr b="1" i="1" lang="es-MX" sz="900" cap="none">
                          <a:solidFill>
                            <a:srgbClr val="7F7F7F"/>
                          </a:solidFill>
                          <a:latin typeface="Arial"/>
                          <a:ea typeface="Arial"/>
                          <a:cs typeface="Arial"/>
                          <a:sym typeface="Arial"/>
                        </a:rPr>
                        <a:t>Voz del Cliente </a:t>
                      </a:r>
                      <a:r>
                        <a:rPr lang="es-MX" sz="900" cap="none">
                          <a:solidFill>
                            <a:srgbClr val="7F7F7F"/>
                          </a:solidFill>
                          <a:latin typeface="Arial"/>
                          <a:ea typeface="Arial"/>
                          <a:cs typeface="Arial"/>
                          <a:sym typeface="Arial"/>
                        </a:rPr>
                        <a:t>en los procesos comerciales end-to-end para mejorar experiencia y ejecución.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Customer &amp; Marketing ↔ Excelencia Operativa</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Conecta diseño comercial con ejecución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Excelencia Operativa</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4</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Implementar la </a:t>
                      </a:r>
                      <a:r>
                        <a:rPr b="1" i="1" lang="es-MX" sz="900" cap="none">
                          <a:solidFill>
                            <a:srgbClr val="7F7F7F"/>
                          </a:solidFill>
                          <a:latin typeface="Arial"/>
                          <a:ea typeface="Arial"/>
                          <a:cs typeface="Arial"/>
                          <a:sym typeface="Arial"/>
                        </a:rPr>
                        <a:t>Value Management Office </a:t>
                      </a:r>
                      <a:r>
                        <a:rPr lang="es-MX" sz="900" cap="none">
                          <a:solidFill>
                            <a:srgbClr val="7F7F7F"/>
                          </a:solidFill>
                          <a:latin typeface="Arial"/>
                          <a:ea typeface="Arial"/>
                          <a:cs typeface="Arial"/>
                          <a:sym typeface="Arial"/>
                        </a:rPr>
                        <a:t>(VMO) y asegurar la inversión, gobernanza, priorización y trazabilidad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Estrategia y Transformación ↔ Todas las Plataformas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Asegura trazabilidad y captura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Estrategia y Transformación</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Finanzas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95250">
                <a:tc>
                  <a:txBody>
                    <a:bodyPr/>
                    <a:lstStyle/>
                    <a:p>
                      <a:pPr indent="0" lvl="0" marL="0" marR="0" rtl="0" algn="ctr">
                        <a:spcBef>
                          <a:spcPts val="0"/>
                        </a:spcBef>
                        <a:spcAft>
                          <a:spcPts val="0"/>
                        </a:spcAft>
                        <a:buClr>
                          <a:schemeClr val="dk1"/>
                        </a:buClr>
                        <a:buSzPts val="900"/>
                        <a:buFont typeface="Arial"/>
                        <a:buNone/>
                      </a:pPr>
                      <a:r>
                        <a:rPr b="1" lang="es-MX" sz="900" cap="none">
                          <a:solidFill>
                            <a:schemeClr val="dk1"/>
                          </a:solidFill>
                          <a:latin typeface="Arial"/>
                          <a:ea typeface="Arial"/>
                          <a:cs typeface="Arial"/>
                          <a:sym typeface="Arial"/>
                        </a:rPr>
                        <a:t>5</a:t>
                      </a:r>
                      <a:endParaRPr sz="900" cap="none">
                        <a:solidFill>
                          <a:schemeClr val="dk1"/>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Estandarizar el </a:t>
                      </a:r>
                      <a:r>
                        <a:rPr b="1" i="1" lang="es-MX" sz="900" cap="none">
                          <a:solidFill>
                            <a:schemeClr val="dk1"/>
                          </a:solidFill>
                          <a:latin typeface="Arial"/>
                          <a:ea typeface="Arial"/>
                          <a:cs typeface="Arial"/>
                          <a:sym typeface="Arial"/>
                        </a:rPr>
                        <a:t>Modelo de Madurez</a:t>
                      </a:r>
                      <a:r>
                        <a:rPr lang="es-MX" sz="900" cap="none">
                          <a:solidFill>
                            <a:schemeClr val="dk1"/>
                          </a:solidFill>
                          <a:latin typeface="Arial"/>
                          <a:ea typeface="Arial"/>
                          <a:cs typeface="Arial"/>
                          <a:sym typeface="Arial"/>
                        </a:rPr>
                        <a:t> y orquestar el </a:t>
                      </a:r>
                      <a:r>
                        <a:rPr b="1" i="1" lang="es-MX" sz="900" cap="none">
                          <a:solidFill>
                            <a:schemeClr val="dk1"/>
                          </a:solidFill>
                          <a:latin typeface="Arial"/>
                          <a:ea typeface="Arial"/>
                          <a:cs typeface="Arial"/>
                          <a:sym typeface="Arial"/>
                        </a:rPr>
                        <a:t>modelo operativo end-to-end</a:t>
                      </a:r>
                      <a:r>
                        <a:rPr lang="es-MX" sz="900" cap="none">
                          <a:solidFill>
                            <a:schemeClr val="dk1"/>
                          </a:solidFill>
                          <a:latin typeface="Arial"/>
                          <a:ea typeface="Arial"/>
                          <a:cs typeface="Arial"/>
                          <a:sym typeface="Arial"/>
                        </a:rPr>
                        <a:t>, integrando procesos de excelencia, despliegue operativo y cadena de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b="1" lang="es-MX" sz="900" cap="none">
                          <a:solidFill>
                            <a:schemeClr val="dk1"/>
                          </a:solidFill>
                          <a:latin typeface="Arial"/>
                          <a:ea typeface="Arial"/>
                          <a:cs typeface="Arial"/>
                          <a:sym typeface="Arial"/>
                        </a:rPr>
                        <a:t>Excelencia Operativa ↔ Operaciones Nacionales / Despliegue Op. ↔ Procesos Operativos CDS</a:t>
                      </a:r>
                      <a:endParaRPr sz="900" cap="none">
                        <a:solidFill>
                          <a:schemeClr val="dk1"/>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Fortalece la consistencia operativa y accountability.</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Dir. Excelencia Operativa</a:t>
                      </a:r>
                      <a:endParaRPr/>
                    </a:p>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Dir. Operaciones</a:t>
                      </a:r>
                      <a:endParaRPr/>
                    </a:p>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Dir. Cadena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6</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Alinear la </a:t>
                      </a:r>
                      <a:r>
                        <a:rPr b="1" i="1" lang="es-MX" sz="900" cap="none">
                          <a:solidFill>
                            <a:srgbClr val="7F7F7F"/>
                          </a:solidFill>
                          <a:latin typeface="Arial"/>
                          <a:ea typeface="Arial"/>
                          <a:cs typeface="Arial"/>
                          <a:sym typeface="Arial"/>
                        </a:rPr>
                        <a:t>planeación financiera </a:t>
                      </a:r>
                      <a:r>
                        <a:rPr lang="es-MX" sz="900" cap="none">
                          <a:solidFill>
                            <a:srgbClr val="7F7F7F"/>
                          </a:solidFill>
                          <a:latin typeface="Arial"/>
                          <a:ea typeface="Arial"/>
                          <a:cs typeface="Arial"/>
                          <a:sym typeface="Arial"/>
                        </a:rPr>
                        <a:t>con el </a:t>
                      </a:r>
                      <a:r>
                        <a:rPr b="1" i="1" lang="es-MX" sz="900" cap="none">
                          <a:solidFill>
                            <a:srgbClr val="7F7F7F"/>
                          </a:solidFill>
                          <a:latin typeface="Arial"/>
                          <a:ea typeface="Arial"/>
                          <a:cs typeface="Arial"/>
                          <a:sym typeface="Arial"/>
                        </a:rPr>
                        <a:t>portafolio estratégico </a:t>
                      </a:r>
                      <a:r>
                        <a:rPr lang="es-MX" sz="900" cap="none">
                          <a:solidFill>
                            <a:srgbClr val="7F7F7F"/>
                          </a:solidFill>
                          <a:latin typeface="Arial"/>
                          <a:ea typeface="Arial"/>
                          <a:cs typeface="Arial"/>
                          <a:sym typeface="Arial"/>
                        </a:rPr>
                        <a:t>y la medición de beneficios.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Finanzas ↔ Estrategia y Transformación</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Fortalece la disciplina de inversión y valor generado.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Finanzas</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7</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Consolidar </a:t>
                      </a:r>
                      <a:r>
                        <a:rPr b="1" i="1" lang="es-MX" sz="900" cap="none">
                          <a:solidFill>
                            <a:srgbClr val="7F7F7F"/>
                          </a:solidFill>
                          <a:latin typeface="Arial"/>
                          <a:ea typeface="Arial"/>
                          <a:cs typeface="Arial"/>
                          <a:sym typeface="Arial"/>
                        </a:rPr>
                        <a:t>capacidades digitales </a:t>
                      </a:r>
                      <a:r>
                        <a:rPr lang="es-MX" sz="900" cap="none">
                          <a:solidFill>
                            <a:srgbClr val="7F7F7F"/>
                          </a:solidFill>
                          <a:latin typeface="Arial"/>
                          <a:ea typeface="Arial"/>
                          <a:cs typeface="Arial"/>
                          <a:sym typeface="Arial"/>
                        </a:rPr>
                        <a:t>y analítica avanzada para habilitar </a:t>
                      </a:r>
                      <a:r>
                        <a:rPr b="1" i="1" lang="es-MX" sz="900" cap="none">
                          <a:solidFill>
                            <a:srgbClr val="7F7F7F"/>
                          </a:solidFill>
                          <a:latin typeface="Arial"/>
                          <a:ea typeface="Arial"/>
                          <a:cs typeface="Arial"/>
                          <a:sym typeface="Arial"/>
                        </a:rPr>
                        <a:t>omnicanalidad</a:t>
                      </a:r>
                      <a:r>
                        <a:rPr lang="es-MX" sz="900" cap="none">
                          <a:solidFill>
                            <a:srgbClr val="7F7F7F"/>
                          </a:solidFill>
                          <a:latin typeface="Arial"/>
                          <a:ea typeface="Arial"/>
                          <a:cs typeface="Arial"/>
                          <a:sym typeface="Arial"/>
                        </a:rPr>
                        <a:t> y segmentación dinámica.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TI ↔ Customer &amp; Marketing ↔ Todas las Plataformas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Digitalización del core y habilitación de experiencia al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TI OXXO MX</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8</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i="1" lang="es-MX" sz="900" cap="none">
                          <a:solidFill>
                            <a:srgbClr val="7F7F7F"/>
                          </a:solidFill>
                          <a:latin typeface="Arial"/>
                          <a:ea typeface="Arial"/>
                          <a:cs typeface="Arial"/>
                          <a:sym typeface="Arial"/>
                        </a:rPr>
                        <a:t>Integración de Expansión </a:t>
                      </a:r>
                      <a:r>
                        <a:rPr lang="es-MX" sz="900" cap="none">
                          <a:solidFill>
                            <a:srgbClr val="7F7F7F"/>
                          </a:solidFill>
                          <a:latin typeface="Arial"/>
                          <a:ea typeface="Arial"/>
                          <a:cs typeface="Arial"/>
                          <a:sym typeface="Arial"/>
                        </a:rPr>
                        <a:t>bajo el modelo operativo para fortalecer gobernanza, sostenibilidad y velocidad de apertura.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Expansión ↔ Operaciones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Maximiza sinergias en aperturas, batting y sostenibilidad.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Operaciones</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Expansión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9</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Integración de </a:t>
                      </a:r>
                      <a:r>
                        <a:rPr b="1" lang="es-MX" sz="900" cap="none">
                          <a:solidFill>
                            <a:srgbClr val="7F7F7F"/>
                          </a:solidFill>
                          <a:latin typeface="Arial"/>
                          <a:ea typeface="Arial"/>
                          <a:cs typeface="Arial"/>
                          <a:sym typeface="Arial"/>
                        </a:rPr>
                        <a:t>Operaciones Foodservice </a:t>
                      </a:r>
                      <a:r>
                        <a:rPr lang="es-MX" sz="900" cap="none">
                          <a:solidFill>
                            <a:srgbClr val="7F7F7F"/>
                          </a:solidFill>
                          <a:latin typeface="Arial"/>
                          <a:ea typeface="Arial"/>
                          <a:cs typeface="Arial"/>
                          <a:sym typeface="Arial"/>
                        </a:rPr>
                        <a:t>a </a:t>
                      </a:r>
                      <a:r>
                        <a:rPr b="1" lang="es-MX" sz="900" cap="none">
                          <a:solidFill>
                            <a:srgbClr val="7F7F7F"/>
                          </a:solidFill>
                          <a:latin typeface="Arial"/>
                          <a:ea typeface="Arial"/>
                          <a:cs typeface="Arial"/>
                          <a:sym typeface="Arial"/>
                        </a:rPr>
                        <a:t>Operaciones Tiendas </a:t>
                      </a:r>
                      <a:r>
                        <a:rPr b="0" lang="es-MX" sz="900" cap="none">
                          <a:solidFill>
                            <a:srgbClr val="7F7F7F"/>
                          </a:solidFill>
                          <a:latin typeface="Arial"/>
                          <a:ea typeface="Arial"/>
                          <a:cs typeface="Arial"/>
                          <a:sym typeface="Arial"/>
                        </a:rPr>
                        <a:t>para escalar e integrar la ejecución de la propuesta de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Operaciones Nacionales ↔ Excelencia Operativa </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Escalabilidad y alineación operativa de la propuesta de valor integrada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 </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Operaciones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10</a:t>
                      </a:r>
                      <a:endParaRPr b="1"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0" lang="es-MX" sz="900" cap="none">
                          <a:solidFill>
                            <a:srgbClr val="7F7F7F"/>
                          </a:solidFill>
                          <a:latin typeface="Arial"/>
                          <a:ea typeface="Arial"/>
                          <a:cs typeface="Arial"/>
                          <a:sym typeface="Arial"/>
                        </a:rPr>
                        <a:t>Propuesta de valor de </a:t>
                      </a:r>
                      <a:r>
                        <a:rPr b="1" lang="es-MX" sz="900" cap="none">
                          <a:solidFill>
                            <a:srgbClr val="7F7F7F"/>
                          </a:solidFill>
                          <a:latin typeface="Arial"/>
                          <a:ea typeface="Arial"/>
                          <a:cs typeface="Arial"/>
                          <a:sym typeface="Arial"/>
                        </a:rPr>
                        <a:t>Servicios Comerciales </a:t>
                      </a:r>
                      <a:r>
                        <a:rPr b="0" lang="es-MX" sz="900" cap="none">
                          <a:solidFill>
                            <a:srgbClr val="7F7F7F"/>
                          </a:solidFill>
                          <a:latin typeface="Arial"/>
                          <a:ea typeface="Arial"/>
                          <a:cs typeface="Arial"/>
                          <a:sym typeface="Arial"/>
                        </a:rPr>
                        <a:t>independiente, alineada a la estrategia de negocio y </a:t>
                      </a:r>
                      <a:r>
                        <a:rPr b="1" lang="es-MX" sz="900" cap="none">
                          <a:solidFill>
                            <a:srgbClr val="7F7F7F"/>
                          </a:solidFill>
                          <a:latin typeface="Arial"/>
                          <a:ea typeface="Arial"/>
                          <a:cs typeface="Arial"/>
                          <a:sym typeface="Arial"/>
                        </a:rPr>
                        <a:t>en sinergia con Ejecución Comercial</a:t>
                      </a:r>
                      <a:endParaRPr b="1"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Ejecución Comercial (Comercial) ↔ Servicios Comerciales (E&amp;T)</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Propuesta de valor de Servicios Comerciales en línea con la estrategia de negocio</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2" name="Shape 1172"/>
        <p:cNvGrpSpPr/>
        <p:nvPr/>
      </p:nvGrpSpPr>
      <p:grpSpPr>
        <a:xfrm>
          <a:off x="0" y="0"/>
          <a:ext cx="0" cy="0"/>
          <a:chOff x="0" y="0"/>
          <a:chExt cx="0" cy="0"/>
        </a:xfrm>
      </p:grpSpPr>
      <p:sp>
        <p:nvSpPr>
          <p:cNvPr id="1173" name="Google Shape;1173;p82"/>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Modelo de Madurez</a:t>
            </a:r>
            <a:endParaRPr/>
          </a:p>
        </p:txBody>
      </p:sp>
      <p:sp>
        <p:nvSpPr>
          <p:cNvPr id="1174" name="Google Shape;1174;p82"/>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1175" name="Google Shape;1175;p82"/>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517225"/>
                <a:gridCol w="517225"/>
                <a:gridCol w="517225"/>
                <a:gridCol w="51722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Definición del marco de madurez operativa</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Diagnóstico de madurez por proceso / territorio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Priorización de brechas y planes de evolución</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Despliegue de iniciativas de madurez</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Medición, seguimiento y certificación de madurez</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541350">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Evolución y ajuste del modelo de madurez</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1176" name="Google Shape;1176;p82"/>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a:t>
            </a:r>
            <a:endParaRPr/>
          </a:p>
        </p:txBody>
      </p:sp>
      <p:sp>
        <p:nvSpPr>
          <p:cNvPr id="1177" name="Google Shape;1177;p82"/>
          <p:cNvSpPr/>
          <p:nvPr/>
        </p:nvSpPr>
        <p:spPr>
          <a:xfrm>
            <a:off x="394585" y="19332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2</a:t>
            </a:r>
            <a:endParaRPr/>
          </a:p>
        </p:txBody>
      </p:sp>
      <p:sp>
        <p:nvSpPr>
          <p:cNvPr id="1178" name="Google Shape;1178;p82"/>
          <p:cNvSpPr/>
          <p:nvPr/>
        </p:nvSpPr>
        <p:spPr>
          <a:xfrm>
            <a:off x="394585" y="24797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3</a:t>
            </a:r>
            <a:endParaRPr/>
          </a:p>
        </p:txBody>
      </p:sp>
      <p:sp>
        <p:nvSpPr>
          <p:cNvPr id="1179" name="Google Shape;1179;p82"/>
          <p:cNvSpPr/>
          <p:nvPr/>
        </p:nvSpPr>
        <p:spPr>
          <a:xfrm>
            <a:off x="394585" y="30263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4</a:t>
            </a:r>
            <a:endParaRPr/>
          </a:p>
        </p:txBody>
      </p:sp>
      <p:sp>
        <p:nvSpPr>
          <p:cNvPr id="1180" name="Google Shape;1180;p82"/>
          <p:cNvSpPr/>
          <p:nvPr/>
        </p:nvSpPr>
        <p:spPr>
          <a:xfrm>
            <a:off x="394585" y="35728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5</a:t>
            </a:r>
            <a:endParaRPr/>
          </a:p>
        </p:txBody>
      </p:sp>
      <p:sp>
        <p:nvSpPr>
          <p:cNvPr id="1181" name="Google Shape;1181;p82"/>
          <p:cNvSpPr/>
          <p:nvPr/>
        </p:nvSpPr>
        <p:spPr>
          <a:xfrm>
            <a:off x="394585" y="41194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6</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83"/>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Modelo de Madurez</a:t>
            </a:r>
            <a:endParaRPr/>
          </a:p>
        </p:txBody>
      </p:sp>
      <p:sp>
        <p:nvSpPr>
          <p:cNvPr id="1187" name="Google Shape;1187;p83"/>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1188" name="Google Shape;1188;p83"/>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517225"/>
                <a:gridCol w="517225"/>
                <a:gridCol w="103447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Definición del marco de madurez operativa</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1189" name="Google Shape;1189;p83"/>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a:t>
            </a:r>
            <a:endParaRPr/>
          </a:p>
        </p:txBody>
      </p:sp>
      <p:sp>
        <p:nvSpPr>
          <p:cNvPr id="1190" name="Google Shape;1190;p83"/>
          <p:cNvSpPr/>
          <p:nvPr/>
        </p:nvSpPr>
        <p:spPr>
          <a:xfrm>
            <a:off x="1668982" y="4596111"/>
            <a:ext cx="9979679" cy="1136782"/>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Debe conocer el marco para anticipar implicaciones en ejecución comercial (espacios, promociones, operación en tienda). La visibilidad temprana evita iniciativas comerciales que contradigan estándares de madurez operativa.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Necesita estar informada para entender el alcance del modelo y su potencial impacto en eficiencia/costos y da contexto para futuras discusiones de inversión asociadas a brechas de madurez.</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Requiere visibilidad del marco para anticipar necesidades de datos/herramientas, sin condicionar el diseño.</a:t>
            </a:r>
            <a:endParaRPr/>
          </a:p>
        </p:txBody>
      </p:sp>
      <p:sp>
        <p:nvSpPr>
          <p:cNvPr id="1191" name="Google Shape;1191;p83"/>
          <p:cNvSpPr/>
          <p:nvPr/>
        </p:nvSpPr>
        <p:spPr>
          <a:xfrm>
            <a:off x="1668983" y="1938403"/>
            <a:ext cx="9979679" cy="1244266"/>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Es </a:t>
            </a:r>
            <a:r>
              <a:rPr i="1" lang="es-MX" sz="1000">
                <a:solidFill>
                  <a:schemeClr val="dk1"/>
                </a:solidFill>
                <a:latin typeface="Open Sans"/>
                <a:ea typeface="Open Sans"/>
                <a:cs typeface="Open Sans"/>
                <a:sym typeface="Open Sans"/>
              </a:rPr>
              <a:t>accountable</a:t>
            </a:r>
            <a:r>
              <a:rPr lang="es-MX" sz="1000">
                <a:solidFill>
                  <a:schemeClr val="dk1"/>
                </a:solidFill>
                <a:latin typeface="Open Sans"/>
                <a:ea typeface="Open Sans"/>
                <a:cs typeface="Open Sans"/>
                <a:sym typeface="Open Sans"/>
              </a:rPr>
              <a:t> de definir el marco metodológico del modelo de madurez, asegurando consistencia, claridad y aplicabilidad, define niveles, dominios y criterios que permiten evaluar la operación de manera comparable y custodia la integridad del modelo como referencia institucional.</a:t>
            </a:r>
            <a:endParaRPr/>
          </a:p>
        </p:txBody>
      </p:sp>
      <p:sp>
        <p:nvSpPr>
          <p:cNvPr id="1192" name="Google Shape;1192;p83"/>
          <p:cNvSpPr/>
          <p:nvPr/>
        </p:nvSpPr>
        <p:spPr>
          <a:xfrm>
            <a:off x="1668982" y="3249202"/>
            <a:ext cx="9979679" cy="1284681"/>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a:t>
            </a:r>
            <a:r>
              <a:rPr lang="es-MX" sz="1000">
                <a:solidFill>
                  <a:schemeClr val="dk1"/>
                </a:solidFill>
                <a:latin typeface="Open Sans"/>
                <a:ea typeface="Open Sans"/>
                <a:cs typeface="Open Sans"/>
                <a:sym typeface="Open Sans"/>
              </a:rPr>
              <a:t>Aporta la visión de la realidad operativa para aterrizar el marco a la ejecución en campo, traduce los criterios del modelo a condiciones reales de tiendas y regiones y asegura que el marco sea entendible y viable para la operación.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Contribuye con la perspectiva de cliente para asegurar que el modelo considere impacto en experiencia y ayuda a evitar un enfoque exclusivamente interno del modelo de madurez.</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Aporta criterios de madurez logística y de servicio que condicionan la operación y asegura una visión end-to-end del modelo.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Asegura alineación del marco con prioridades estratégicas de mediano plazo y sa el modelo como insumo para decisiones estructurales, sin gobernarlo.</a:t>
            </a:r>
            <a:endParaRPr/>
          </a:p>
        </p:txBody>
      </p:sp>
      <p:sp>
        <p:nvSpPr>
          <p:cNvPr id="1193" name="Google Shape;1193;p83"/>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194" name="Google Shape;1194;p83"/>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195" name="Google Shape;1195;p83"/>
          <p:cNvSpPr/>
          <p:nvPr/>
        </p:nvSpPr>
        <p:spPr>
          <a:xfrm>
            <a:off x="470554" y="4596110"/>
            <a:ext cx="1110263" cy="1113289"/>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196" name="Google Shape;1196;p83"/>
          <p:cNvSpPr/>
          <p:nvPr/>
        </p:nvSpPr>
        <p:spPr>
          <a:xfrm>
            <a:off x="470554" y="3249202"/>
            <a:ext cx="1110263" cy="1284681"/>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0" name="Shape 1200"/>
        <p:cNvGrpSpPr/>
        <p:nvPr/>
      </p:nvGrpSpPr>
      <p:grpSpPr>
        <a:xfrm>
          <a:off x="0" y="0"/>
          <a:ext cx="0" cy="0"/>
          <a:chOff x="0" y="0"/>
          <a:chExt cx="0" cy="0"/>
        </a:xfrm>
      </p:grpSpPr>
      <p:sp>
        <p:nvSpPr>
          <p:cNvPr id="1201" name="Google Shape;1201;p84"/>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Modelo de Madurez</a:t>
            </a:r>
            <a:endParaRPr/>
          </a:p>
        </p:txBody>
      </p:sp>
      <p:sp>
        <p:nvSpPr>
          <p:cNvPr id="1202" name="Google Shape;1202;p84"/>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1203" name="Google Shape;1203;p84"/>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Diagnóstico de madurez por proceso / territorio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1204" name="Google Shape;1204;p84"/>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2</a:t>
            </a:r>
            <a:endParaRPr/>
          </a:p>
        </p:txBody>
      </p:sp>
      <p:sp>
        <p:nvSpPr>
          <p:cNvPr id="1205" name="Google Shape;1205;p84"/>
          <p:cNvSpPr/>
          <p:nvPr/>
        </p:nvSpPr>
        <p:spPr>
          <a:xfrm>
            <a:off x="1668982" y="4103134"/>
            <a:ext cx="9979679" cy="1136782"/>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Necesita conocer resultados de diagnóstico para anticipar afectaciones en ejecución comercial y planes por región. La visibilidad facilita ajustar expectativas de iniciativas comerciales en territorios con menor madurez.</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Debe estar informada para dimensionar impactos potenciales en costos, productividad y riesgos operativos y ayuda a preparar el análisis económico cuando se traduzcan brechas en iniciativas.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Requiere visibilidad de hallazgos para anticipar demandas tecnológicas futuras derivadas de brechas y evita sorpresas en backlog cuando el diagnóstico se convierta en plan de evolución.</a:t>
            </a:r>
            <a:endParaRPr/>
          </a:p>
        </p:txBody>
      </p:sp>
      <p:sp>
        <p:nvSpPr>
          <p:cNvPr id="1206" name="Google Shape;1206;p84"/>
          <p:cNvSpPr/>
          <p:nvPr/>
        </p:nvSpPr>
        <p:spPr>
          <a:xfrm>
            <a:off x="1668983" y="2738450"/>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Define la metodología, herramientas y criterios para realizar diagnósticos homogéneos, es </a:t>
            </a:r>
            <a:r>
              <a:rPr i="1" lang="es-MX" sz="1000">
                <a:solidFill>
                  <a:schemeClr val="dk1"/>
                </a:solidFill>
                <a:latin typeface="Open Sans"/>
                <a:ea typeface="Open Sans"/>
                <a:cs typeface="Open Sans"/>
                <a:sym typeface="Open Sans"/>
              </a:rPr>
              <a:t>accountable</a:t>
            </a:r>
            <a:r>
              <a:rPr lang="es-MX" sz="1000">
                <a:solidFill>
                  <a:schemeClr val="dk1"/>
                </a:solidFill>
                <a:latin typeface="Open Sans"/>
                <a:ea typeface="Open Sans"/>
                <a:cs typeface="Open Sans"/>
                <a:sym typeface="Open Sans"/>
              </a:rPr>
              <a:t> de la calidad, comparabilidad y objetividad de los resultados y garantiza que el diagnóstico sea una herramienta de aprendizaje y no de control.</a:t>
            </a:r>
            <a:endParaRPr/>
          </a:p>
        </p:txBody>
      </p:sp>
      <p:sp>
        <p:nvSpPr>
          <p:cNvPr id="1207" name="Google Shape;1207;p84"/>
          <p:cNvSpPr/>
          <p:nvPr/>
        </p:nvSpPr>
        <p:spPr>
          <a:xfrm>
            <a:off x="1668982" y="3395971"/>
            <a:ext cx="9979679" cy="651243"/>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Aporta información de experiencia y percepción del cliente relevante para el diagnóstico y ayuda a contextualizar brechas desde la óptica de CX.</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Usa los resultados como insumo para análisis estratégicos. No interviene en la ejecución del diagnóstico.</a:t>
            </a:r>
            <a:endParaRPr/>
          </a:p>
        </p:txBody>
      </p:sp>
      <p:sp>
        <p:nvSpPr>
          <p:cNvPr id="1208" name="Google Shape;1208;p84"/>
          <p:cNvSpPr/>
          <p:nvPr/>
        </p:nvSpPr>
        <p:spPr>
          <a:xfrm>
            <a:off x="470554" y="1938403"/>
            <a:ext cx="1110263" cy="738494"/>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209" name="Google Shape;1209;p84"/>
          <p:cNvSpPr/>
          <p:nvPr/>
        </p:nvSpPr>
        <p:spPr>
          <a:xfrm>
            <a:off x="470554" y="2738451"/>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210" name="Google Shape;1210;p84"/>
          <p:cNvSpPr/>
          <p:nvPr/>
        </p:nvSpPr>
        <p:spPr>
          <a:xfrm>
            <a:off x="470554" y="4103133"/>
            <a:ext cx="1110263" cy="1113289"/>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211" name="Google Shape;1211;p84"/>
          <p:cNvSpPr/>
          <p:nvPr/>
        </p:nvSpPr>
        <p:spPr>
          <a:xfrm>
            <a:off x="470554" y="3395971"/>
            <a:ext cx="1110263" cy="651243"/>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1212" name="Google Shape;1212;p84"/>
          <p:cNvSpPr/>
          <p:nvPr/>
        </p:nvSpPr>
        <p:spPr>
          <a:xfrm>
            <a:off x="1668981" y="1937727"/>
            <a:ext cx="9979679" cy="738495"/>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a:t>
            </a:r>
            <a:r>
              <a:rPr lang="es-MX" sz="1000">
                <a:solidFill>
                  <a:schemeClr val="dk1"/>
                </a:solidFill>
                <a:latin typeface="Open Sans"/>
                <a:ea typeface="Open Sans"/>
                <a:cs typeface="Open Sans"/>
                <a:sym typeface="Open Sans"/>
              </a:rPr>
              <a:t>Ejecuta el diagnóstico en campo, aportando evidencia real de la operación, facilita acceso a tiendas, equipos y procesos para la evaluación y asegura que los resultados reflejen la realidad operativa.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Ejecuta diagnósticos en procesos de abasto, logística y servicio, aporta indicadores clave que impactan directamente la madurez operativa y completa la visión del diagnóstico más allá de tienda.</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6" name="Shape 1216"/>
        <p:cNvGrpSpPr/>
        <p:nvPr/>
      </p:nvGrpSpPr>
      <p:grpSpPr>
        <a:xfrm>
          <a:off x="0" y="0"/>
          <a:ext cx="0" cy="0"/>
          <a:chOff x="0" y="0"/>
          <a:chExt cx="0" cy="0"/>
        </a:xfrm>
      </p:grpSpPr>
      <p:sp>
        <p:nvSpPr>
          <p:cNvPr id="1217" name="Google Shape;1217;p85"/>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Modelo de Madurez</a:t>
            </a:r>
            <a:endParaRPr/>
          </a:p>
        </p:txBody>
      </p:sp>
      <p:sp>
        <p:nvSpPr>
          <p:cNvPr id="1218" name="Google Shape;1218;p85"/>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1219" name="Google Shape;1219;p85"/>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517225"/>
                <a:gridCol w="517225"/>
                <a:gridCol w="103447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Priorización de brechas y planes de evolución</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1220" name="Google Shape;1220;p85"/>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3</a:t>
            </a:r>
            <a:endParaRPr/>
          </a:p>
        </p:txBody>
      </p:sp>
      <p:sp>
        <p:nvSpPr>
          <p:cNvPr id="1221" name="Google Shape;1221;p85"/>
          <p:cNvSpPr/>
          <p:nvPr/>
        </p:nvSpPr>
        <p:spPr>
          <a:xfrm>
            <a:off x="1668982" y="4938017"/>
            <a:ext cx="9979679" cy="954725"/>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Debe conocer brechas priorizadas para alinear su agenda a restricciones y capacidades reales de la operación y evita desalineación entre prioridades comerciales y el camino de madurez acordado.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Necesita visibilidad del plan priorizado para alinear roadmap tecnológico y secuenciación de habilitadores y permite anticipar dependencias técnicas sin intervenir en la priorización del negocio.</a:t>
            </a:r>
            <a:endParaRPr/>
          </a:p>
        </p:txBody>
      </p:sp>
      <p:sp>
        <p:nvSpPr>
          <p:cNvPr id="1222" name="Google Shape;1222;p85"/>
          <p:cNvSpPr/>
          <p:nvPr/>
        </p:nvSpPr>
        <p:spPr>
          <a:xfrm>
            <a:off x="1668983" y="1938403"/>
            <a:ext cx="9979679" cy="1244266"/>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Es </a:t>
            </a:r>
            <a:r>
              <a:rPr i="1" lang="es-MX" sz="1000">
                <a:solidFill>
                  <a:schemeClr val="dk1"/>
                </a:solidFill>
                <a:latin typeface="Open Sans"/>
                <a:ea typeface="Open Sans"/>
                <a:cs typeface="Open Sans"/>
                <a:sym typeface="Open Sans"/>
              </a:rPr>
              <a:t>accountable</a:t>
            </a:r>
            <a:r>
              <a:rPr lang="es-MX" sz="1000">
                <a:solidFill>
                  <a:schemeClr val="dk1"/>
                </a:solidFill>
                <a:latin typeface="Open Sans"/>
                <a:ea typeface="Open Sans"/>
                <a:cs typeface="Open Sans"/>
                <a:sym typeface="Open Sans"/>
              </a:rPr>
              <a:t> de traducir los resultados del diagnóstico en brechas estructurales, prioriza brechas considerando impacto operativo, riesgo y escalabilidad y define lineamientos para planes de evolución consistentes.</a:t>
            </a:r>
            <a:endParaRPr/>
          </a:p>
        </p:txBody>
      </p:sp>
      <p:sp>
        <p:nvSpPr>
          <p:cNvPr id="1223" name="Google Shape;1223;p85"/>
          <p:cNvSpPr/>
          <p:nvPr/>
        </p:nvSpPr>
        <p:spPr>
          <a:xfrm>
            <a:off x="1668982" y="3885306"/>
            <a:ext cx="9979679" cy="998560"/>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a:t>
            </a:r>
            <a:r>
              <a:rPr lang="es-MX" sz="1000">
                <a:solidFill>
                  <a:schemeClr val="dk1"/>
                </a:solidFill>
                <a:latin typeface="Open Sans"/>
                <a:ea typeface="Open Sans"/>
                <a:cs typeface="Open Sans"/>
                <a:sym typeface="Open Sans"/>
              </a:rPr>
              <a:t>Aporta contexto operativo para dimensionar impacto y urgencia de las brechas, ayuda a definir la secuencia de atención desde la realidad de campo y evita planes teóricos no ejecutables.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Contribuye con impacto en cliente para orientar la priorización y asegura que la evolución de madurez considere experiencia y percepción.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Aporta implicaciones logísticas y de servicio asociadas a las brechas y asegura alineación entre planes operativos y capacidades de CdS.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Contribuye con visibilidad de impacto económico y eficiencia potencial y ayuda a dimensionar beneficios esperados del cierre de brechas.</a:t>
            </a:r>
            <a:endParaRPr/>
          </a:p>
        </p:txBody>
      </p:sp>
      <p:sp>
        <p:nvSpPr>
          <p:cNvPr id="1224" name="Google Shape;1224;p85"/>
          <p:cNvSpPr/>
          <p:nvPr/>
        </p:nvSpPr>
        <p:spPr>
          <a:xfrm>
            <a:off x="1668983" y="3236341"/>
            <a:ext cx="9979679" cy="595292"/>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Aporta visibilidad financiera para soportar decisiones de priorización, señala restricciones, riesgos y trade-offs económicos que deben considerarse en el portafolio. No define prioridades, pero habilita decisiones informadas.</a:t>
            </a:r>
            <a:endParaRPr/>
          </a:p>
        </p:txBody>
      </p:sp>
      <p:sp>
        <p:nvSpPr>
          <p:cNvPr id="1225" name="Google Shape;1225;p85"/>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226" name="Google Shape;1226;p85"/>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227" name="Google Shape;1227;p85"/>
          <p:cNvSpPr/>
          <p:nvPr/>
        </p:nvSpPr>
        <p:spPr>
          <a:xfrm>
            <a:off x="470554" y="3236341"/>
            <a:ext cx="1110263" cy="595292"/>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1228" name="Google Shape;1228;p85"/>
          <p:cNvSpPr/>
          <p:nvPr/>
        </p:nvSpPr>
        <p:spPr>
          <a:xfrm>
            <a:off x="470554" y="4938016"/>
            <a:ext cx="1110263" cy="934995"/>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229" name="Google Shape;1229;p85"/>
          <p:cNvSpPr/>
          <p:nvPr/>
        </p:nvSpPr>
        <p:spPr>
          <a:xfrm>
            <a:off x="470554" y="3885306"/>
            <a:ext cx="1110263" cy="998560"/>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86"/>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Modelo de Madurez</a:t>
            </a:r>
            <a:endParaRPr/>
          </a:p>
        </p:txBody>
      </p:sp>
      <p:sp>
        <p:nvSpPr>
          <p:cNvPr id="1235" name="Google Shape;1235;p86"/>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1236" name="Google Shape;1236;p86"/>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517225"/>
                <a:gridCol w="51722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Despliegue de iniciativas de madurez</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r>
            </a:tbl>
          </a:graphicData>
        </a:graphic>
      </p:graphicFrame>
      <p:sp>
        <p:nvSpPr>
          <p:cNvPr id="1237" name="Google Shape;1237;p86"/>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4</a:t>
            </a:r>
            <a:endParaRPr/>
          </a:p>
        </p:txBody>
      </p:sp>
      <p:sp>
        <p:nvSpPr>
          <p:cNvPr id="1238" name="Google Shape;1238;p86"/>
          <p:cNvSpPr/>
          <p:nvPr/>
        </p:nvSpPr>
        <p:spPr>
          <a:xfrm>
            <a:off x="1668982" y="4484795"/>
            <a:ext cx="9979679" cy="1486635"/>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Debe conocer resultados para entender cómo la madurez operativa impacta percepción y experiencia del cliente, permite incorporar aprendizajes en futuras prioridades de CX.</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Requiere visibilidad de la evolución de madurez para ajustar planes comerciales y ejecución por región, facilita identificar oportunidades/limitantes comerciales derivadas del nivel de madurez.</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Aporta lectura económica de la evolución de madurez (impacto en costos, productividad, gasto logístico/operativo, eficiencia), valida supuestos y consistencia de beneficios cuando se certifican niveles y se reportan resultados (evita “beneficios declarados” sin sustento), usa los hallazgos para ajustar modelos/escenarios financieros y orientar decisiones de inversión relacionadas a cerrar brechas.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Necesita visibilidad para incorporar la evolución de madurez como insumo de portafolio y decisiones estructurales y permite priorizar iniciativas transformacionales basadas en evidencia, sin gobernar la medición.</a:t>
            </a:r>
            <a:endParaRPr/>
          </a:p>
        </p:txBody>
      </p:sp>
      <p:sp>
        <p:nvSpPr>
          <p:cNvPr id="1239" name="Google Shape;1239;p86"/>
          <p:cNvSpPr/>
          <p:nvPr/>
        </p:nvSpPr>
        <p:spPr>
          <a:xfrm>
            <a:off x="1668983" y="1938403"/>
            <a:ext cx="9979679" cy="1244266"/>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a:t>
            </a:r>
            <a:r>
              <a:rPr lang="es-MX" sz="1000">
                <a:solidFill>
                  <a:schemeClr val="dk1"/>
                </a:solidFill>
                <a:latin typeface="Open Sans"/>
                <a:ea typeface="Open Sans"/>
                <a:cs typeface="Open Sans"/>
                <a:sym typeface="Open Sans"/>
              </a:rPr>
              <a:t>Es </a:t>
            </a:r>
            <a:r>
              <a:rPr i="1" lang="es-MX" sz="1000">
                <a:solidFill>
                  <a:schemeClr val="dk1"/>
                </a:solidFill>
                <a:latin typeface="Open Sans"/>
                <a:ea typeface="Open Sans"/>
                <a:cs typeface="Open Sans"/>
                <a:sym typeface="Open Sans"/>
              </a:rPr>
              <a:t>accountable</a:t>
            </a:r>
            <a:r>
              <a:rPr lang="es-MX" sz="1000">
                <a:solidFill>
                  <a:schemeClr val="dk1"/>
                </a:solidFill>
                <a:latin typeface="Open Sans"/>
                <a:ea typeface="Open Sans"/>
                <a:cs typeface="Open Sans"/>
                <a:sym typeface="Open Sans"/>
              </a:rPr>
              <a:t> del despliegue real de iniciativas en regiones y plazas, asegura adopción en tienda sin comprometer continuidad operativa y gestiona impactos en personas, rutinas y resultados diarios.</a:t>
            </a:r>
            <a:endParaRPr/>
          </a:p>
        </p:txBody>
      </p:sp>
      <p:sp>
        <p:nvSpPr>
          <p:cNvPr id="1240" name="Google Shape;1240;p86"/>
          <p:cNvSpPr/>
          <p:nvPr/>
        </p:nvSpPr>
        <p:spPr>
          <a:xfrm>
            <a:off x="1668982" y="3885306"/>
            <a:ext cx="9979679" cy="523659"/>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Asegura alineación de las iniciativas con el modelo operativo y estándares y apoya en el diseño de procesos simples y consistentes.</a:t>
            </a:r>
            <a:endParaRPr/>
          </a:p>
        </p:txBody>
      </p:sp>
      <p:sp>
        <p:nvSpPr>
          <p:cNvPr id="1241" name="Google Shape;1241;p86"/>
          <p:cNvSpPr/>
          <p:nvPr/>
        </p:nvSpPr>
        <p:spPr>
          <a:xfrm>
            <a:off x="1668983" y="3236341"/>
            <a:ext cx="9979679" cy="595292"/>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Ejecuta los ajustes logísticos y de servicio requeridos por las iniciativas y asegura abasto y soporte operativo durante el despliegue.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Habilita herramientas y soluciones tecnológicas necesarias para el despliegue y asegura estabilidad y soporte durante la implementación.</a:t>
            </a:r>
            <a:endParaRPr/>
          </a:p>
        </p:txBody>
      </p:sp>
      <p:sp>
        <p:nvSpPr>
          <p:cNvPr id="1242" name="Google Shape;1242;p86"/>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243" name="Google Shape;1243;p86"/>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244" name="Google Shape;1244;p86"/>
          <p:cNvSpPr/>
          <p:nvPr/>
        </p:nvSpPr>
        <p:spPr>
          <a:xfrm>
            <a:off x="470554" y="3236341"/>
            <a:ext cx="1110263" cy="595292"/>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1245" name="Google Shape;1245;p86"/>
          <p:cNvSpPr/>
          <p:nvPr/>
        </p:nvSpPr>
        <p:spPr>
          <a:xfrm>
            <a:off x="470554" y="4484794"/>
            <a:ext cx="1110263" cy="1486635"/>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246" name="Google Shape;1246;p86"/>
          <p:cNvSpPr/>
          <p:nvPr/>
        </p:nvSpPr>
        <p:spPr>
          <a:xfrm>
            <a:off x="470554" y="3885306"/>
            <a:ext cx="1110263" cy="523659"/>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87"/>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Modelo de Madurez</a:t>
            </a:r>
            <a:endParaRPr/>
          </a:p>
        </p:txBody>
      </p:sp>
      <p:sp>
        <p:nvSpPr>
          <p:cNvPr id="1252" name="Google Shape;1252;p87"/>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1253" name="Google Shape;1253;p87"/>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517225"/>
                <a:gridCol w="517225"/>
                <a:gridCol w="103447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Medición, seguimiento y certificación de madurez</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1254" name="Google Shape;1254;p87"/>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5</a:t>
            </a:r>
            <a:endParaRPr/>
          </a:p>
        </p:txBody>
      </p:sp>
      <p:sp>
        <p:nvSpPr>
          <p:cNvPr id="1255" name="Google Shape;1255;p87"/>
          <p:cNvSpPr/>
          <p:nvPr/>
        </p:nvSpPr>
        <p:spPr>
          <a:xfrm>
            <a:off x="1668982" y="4484795"/>
            <a:ext cx="9979679" cy="1486635"/>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Debe conocer resultados para entender cómo la madurez operativa impacta percepción y experiencia del cliente, permite incorporar aprendizajes en futuras prioridades de CX.</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Requiere visibilidad de la evolución de madurez para ajustar planes comerciales y ejecución por región, facilita identificar oportunidades/limitantes comerciales derivadas del nivel de madurez.</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Aporta lectura económica de la evolución de madurez (impacto en costos, productividad, gasto logístico/operativo, eficiencia), valida supuestos y consistencia de beneficios cuando se certifican niveles y se reportan resultados (evita “beneficios declarados” sin sustento), usa los hallazgos para ajustar modelos/escenarios financieros y orientar decisiones de inversión relacionadas a cerrar brechas.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Necesita visibilidad para incorporar la evolución de madurez como insumo de portafolio y decisiones estructurales y permite priorizar iniciativas transformacionales basadas en evidencia, sin gobernar la medición.</a:t>
            </a:r>
            <a:endParaRPr/>
          </a:p>
        </p:txBody>
      </p:sp>
      <p:sp>
        <p:nvSpPr>
          <p:cNvPr id="1256" name="Google Shape;1256;p87"/>
          <p:cNvSpPr/>
          <p:nvPr/>
        </p:nvSpPr>
        <p:spPr>
          <a:xfrm>
            <a:off x="1668983" y="1938403"/>
            <a:ext cx="9979679" cy="1244266"/>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a:t>
            </a:r>
            <a:r>
              <a:rPr lang="es-MX" sz="1000">
                <a:solidFill>
                  <a:schemeClr val="dk1"/>
                </a:solidFill>
                <a:latin typeface="Open Sans"/>
                <a:ea typeface="Open Sans"/>
                <a:cs typeface="Open Sans"/>
                <a:sym typeface="Open Sans"/>
              </a:rPr>
              <a:t>Es </a:t>
            </a:r>
            <a:r>
              <a:rPr i="1" lang="es-MX" sz="1000">
                <a:solidFill>
                  <a:schemeClr val="dk1"/>
                </a:solidFill>
                <a:latin typeface="Open Sans"/>
                <a:ea typeface="Open Sans"/>
                <a:cs typeface="Open Sans"/>
                <a:sym typeface="Open Sans"/>
              </a:rPr>
              <a:t>accountable</a:t>
            </a:r>
            <a:r>
              <a:rPr lang="es-MX" sz="1000">
                <a:solidFill>
                  <a:schemeClr val="dk1"/>
                </a:solidFill>
                <a:latin typeface="Open Sans"/>
                <a:ea typeface="Open Sans"/>
                <a:cs typeface="Open Sans"/>
                <a:sym typeface="Open Sans"/>
              </a:rPr>
              <a:t> del despliegue real de iniciativas en regiones y plazas, asegura adopción en tienda sin comprometer continuidad operativa y gestiona impactos en personas, rutinas y resultados diarios.</a:t>
            </a:r>
            <a:endParaRPr/>
          </a:p>
        </p:txBody>
      </p:sp>
      <p:sp>
        <p:nvSpPr>
          <p:cNvPr id="1257" name="Google Shape;1257;p87"/>
          <p:cNvSpPr/>
          <p:nvPr/>
        </p:nvSpPr>
        <p:spPr>
          <a:xfrm>
            <a:off x="1668982" y="3885306"/>
            <a:ext cx="9979679" cy="523659"/>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Asegura alineación de las iniciativas con el modelo operativo y estándares y apoya en el diseño de procesos simples y consistentes.</a:t>
            </a:r>
            <a:endParaRPr/>
          </a:p>
        </p:txBody>
      </p:sp>
      <p:sp>
        <p:nvSpPr>
          <p:cNvPr id="1258" name="Google Shape;1258;p87"/>
          <p:cNvSpPr/>
          <p:nvPr/>
        </p:nvSpPr>
        <p:spPr>
          <a:xfrm>
            <a:off x="1668983" y="3236341"/>
            <a:ext cx="9979679" cy="595292"/>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Ejecuta los ajustes logísticos y de servicio requeridos por las iniciativas y asegura abasto y soporte operativo durante el despliegue.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Habilita herramientas y soluciones tecnológicas necesarias para el despliegue y asegura estabilidad y soporte durante la implementación.</a:t>
            </a:r>
            <a:endParaRPr/>
          </a:p>
        </p:txBody>
      </p:sp>
      <p:sp>
        <p:nvSpPr>
          <p:cNvPr id="1259" name="Google Shape;1259;p87"/>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260" name="Google Shape;1260;p87"/>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261" name="Google Shape;1261;p87"/>
          <p:cNvSpPr/>
          <p:nvPr/>
        </p:nvSpPr>
        <p:spPr>
          <a:xfrm>
            <a:off x="470554" y="3236341"/>
            <a:ext cx="1110263" cy="595292"/>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1262" name="Google Shape;1262;p87"/>
          <p:cNvSpPr/>
          <p:nvPr/>
        </p:nvSpPr>
        <p:spPr>
          <a:xfrm>
            <a:off x="470554" y="4484794"/>
            <a:ext cx="1110263" cy="1486635"/>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263" name="Google Shape;1263;p87"/>
          <p:cNvSpPr/>
          <p:nvPr/>
        </p:nvSpPr>
        <p:spPr>
          <a:xfrm>
            <a:off x="470554" y="3885306"/>
            <a:ext cx="1110263" cy="523659"/>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88"/>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Modelo de Madurez</a:t>
            </a:r>
            <a:endParaRPr/>
          </a:p>
        </p:txBody>
      </p:sp>
      <p:sp>
        <p:nvSpPr>
          <p:cNvPr id="1269" name="Google Shape;1269;p88"/>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1270" name="Google Shape;1270;p88"/>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517225"/>
                <a:gridCol w="517225"/>
                <a:gridCol w="103447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Evolución y ajuste del modelo de madurez</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1271" name="Google Shape;1271;p88"/>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6</a:t>
            </a:r>
            <a:endParaRPr/>
          </a:p>
        </p:txBody>
      </p:sp>
      <p:sp>
        <p:nvSpPr>
          <p:cNvPr id="1272" name="Google Shape;1272;p88"/>
          <p:cNvSpPr/>
          <p:nvPr/>
        </p:nvSpPr>
        <p:spPr>
          <a:xfrm>
            <a:off x="1668982" y="4484796"/>
            <a:ext cx="9979679" cy="1176534"/>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Debe mantenerse informada para alinear su forma de operar a cambios en estándares y niveles de madurez y evitar desalineación entre el modelo actualizado y las prácticas comerciales.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Necesita visibilidad para anticipar implicaciones económicas de cambios al modelo y ayuda a preparar escenarios si la evolución del modelo implica inversiones o cambios de costo.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Debe conocer ajustes al modelo para alinear datos, herramientas y automatizaciones futuras y evita brechas entre el modelo actualizado y la capacidad tecnológica de medición.</a:t>
            </a:r>
            <a:endParaRPr/>
          </a:p>
        </p:txBody>
      </p:sp>
      <p:sp>
        <p:nvSpPr>
          <p:cNvPr id="1273" name="Google Shape;1273;p88"/>
          <p:cNvSpPr/>
          <p:nvPr/>
        </p:nvSpPr>
        <p:spPr>
          <a:xfrm>
            <a:off x="1668983" y="1938403"/>
            <a:ext cx="9979679" cy="1244266"/>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 </a:t>
            </a:r>
            <a:r>
              <a:rPr lang="es-MX" sz="1000">
                <a:solidFill>
                  <a:schemeClr val="dk1"/>
                </a:solidFill>
                <a:latin typeface="Open Sans"/>
                <a:ea typeface="Open Sans"/>
                <a:cs typeface="Open Sans"/>
                <a:sym typeface="Open Sans"/>
              </a:rPr>
              <a:t>Es </a:t>
            </a:r>
            <a:r>
              <a:rPr i="1" lang="es-MX" sz="1000">
                <a:solidFill>
                  <a:schemeClr val="dk1"/>
                </a:solidFill>
                <a:latin typeface="Open Sans"/>
                <a:ea typeface="Open Sans"/>
                <a:cs typeface="Open Sans"/>
                <a:sym typeface="Open Sans"/>
              </a:rPr>
              <a:t>accountable</a:t>
            </a:r>
            <a:r>
              <a:rPr lang="es-MX" sz="1000">
                <a:solidFill>
                  <a:schemeClr val="dk1"/>
                </a:solidFill>
                <a:latin typeface="Open Sans"/>
                <a:ea typeface="Open Sans"/>
                <a:cs typeface="Open Sans"/>
                <a:sym typeface="Open Sans"/>
              </a:rPr>
              <a:t> de evolucionar el modelo con base en aprendizajes y resultados, ajusta niveles y criterios para mantener vigencia y utilidad y evita que el modelo se vuelva rígido o desactualizado</a:t>
            </a:r>
            <a:endParaRPr/>
          </a:p>
        </p:txBody>
      </p:sp>
      <p:sp>
        <p:nvSpPr>
          <p:cNvPr id="1274" name="Google Shape;1274;p88"/>
          <p:cNvSpPr/>
          <p:nvPr/>
        </p:nvSpPr>
        <p:spPr>
          <a:xfrm>
            <a:off x="1668982" y="3885306"/>
            <a:ext cx="9979679" cy="523659"/>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Contribuye con insights de cliente para evolucionar el modelo y asegura que la madurez siga conectada con CX.</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Usa la evolución del modelo como insumo estratégico y asegura alineación con visión de largo plazo.</a:t>
            </a:r>
            <a:endParaRPr/>
          </a:p>
        </p:txBody>
      </p:sp>
      <p:sp>
        <p:nvSpPr>
          <p:cNvPr id="1275" name="Google Shape;1275;p88"/>
          <p:cNvSpPr/>
          <p:nvPr/>
        </p:nvSpPr>
        <p:spPr>
          <a:xfrm>
            <a:off x="1668983" y="3236341"/>
            <a:ext cx="9979679" cy="595292"/>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a:t>
            </a:r>
            <a:r>
              <a:rPr lang="es-MX" sz="1000">
                <a:solidFill>
                  <a:schemeClr val="dk1"/>
                </a:solidFill>
                <a:latin typeface="Open Sans"/>
                <a:ea typeface="Open Sans"/>
                <a:cs typeface="Open Sans"/>
                <a:sym typeface="Open Sans"/>
              </a:rPr>
              <a:t> Retroalimenta desde la experiencia real de campo y señala oportunidades de simplificación o ajuste.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Aporta aprendizajes desde la operación logística y asegura coherencia end-to-end del modelo.</a:t>
            </a:r>
            <a:endParaRPr/>
          </a:p>
        </p:txBody>
      </p:sp>
      <p:sp>
        <p:nvSpPr>
          <p:cNvPr id="1276" name="Google Shape;1276;p88"/>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277" name="Google Shape;1277;p88"/>
          <p:cNvSpPr/>
          <p:nvPr/>
        </p:nvSpPr>
        <p:spPr>
          <a:xfrm>
            <a:off x="470554" y="2587376"/>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278" name="Google Shape;1278;p88"/>
          <p:cNvSpPr/>
          <p:nvPr/>
        </p:nvSpPr>
        <p:spPr>
          <a:xfrm>
            <a:off x="470554" y="3236341"/>
            <a:ext cx="1110263" cy="595292"/>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1279" name="Google Shape;1279;p88"/>
          <p:cNvSpPr/>
          <p:nvPr/>
        </p:nvSpPr>
        <p:spPr>
          <a:xfrm>
            <a:off x="470554" y="4484795"/>
            <a:ext cx="1110263" cy="1176534"/>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280" name="Google Shape;1280;p88"/>
          <p:cNvSpPr/>
          <p:nvPr/>
        </p:nvSpPr>
        <p:spPr>
          <a:xfrm>
            <a:off x="470554" y="3885306"/>
            <a:ext cx="1110263" cy="523659"/>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4" name="Shape 1284"/>
        <p:cNvGrpSpPr/>
        <p:nvPr/>
      </p:nvGrpSpPr>
      <p:grpSpPr>
        <a:xfrm>
          <a:off x="0" y="0"/>
          <a:ext cx="0" cy="0"/>
          <a:chOff x="0" y="0"/>
          <a:chExt cx="0" cy="0"/>
        </a:xfrm>
      </p:grpSpPr>
      <p:grpSp>
        <p:nvGrpSpPr>
          <p:cNvPr id="1285" name="Google Shape;1285;p89"/>
          <p:cNvGrpSpPr/>
          <p:nvPr/>
        </p:nvGrpSpPr>
        <p:grpSpPr>
          <a:xfrm>
            <a:off x="0" y="-205740"/>
            <a:ext cx="12192000" cy="137160"/>
            <a:chOff x="0" y="-205740"/>
            <a:chExt cx="12192000" cy="137160"/>
          </a:xfrm>
        </p:grpSpPr>
        <p:sp>
          <p:nvSpPr>
            <p:cNvPr id="1286" name="Google Shape;1286;p89"/>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287" name="Google Shape;1287;p89"/>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288" name="Google Shape;1288;p89"/>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289" name="Google Shape;1289;p89"/>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1290" name="Google Shape;1290;p89"/>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Plan Aseguramiento y Estabilización | </a:t>
            </a:r>
            <a:r>
              <a:rPr lang="es-MX"/>
              <a:t>Fit for Purpose</a:t>
            </a:r>
            <a:endParaRPr/>
          </a:p>
        </p:txBody>
      </p:sp>
      <p:sp>
        <p:nvSpPr>
          <p:cNvPr id="1291" name="Google Shape;1291;p89"/>
          <p:cNvSpPr/>
          <p:nvPr/>
        </p:nvSpPr>
        <p:spPr>
          <a:xfrm>
            <a:off x="168211" y="2551574"/>
            <a:ext cx="2147110" cy="2048745"/>
          </a:xfrm>
          <a:prstGeom prst="rect">
            <a:avLst/>
          </a:prstGeom>
          <a:solidFill>
            <a:srgbClr val="00000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FFFFFF"/>
              </a:buClr>
              <a:buSzPts val="1200"/>
              <a:buFont typeface="Arial"/>
              <a:buNone/>
            </a:pPr>
            <a:r>
              <a:rPr b="1" i="0" lang="es-MX" sz="1200" u="none" cap="none" strike="noStrike">
                <a:solidFill>
                  <a:srgbClr val="FFFFFF"/>
                </a:solidFill>
                <a:latin typeface="Arial"/>
                <a:ea typeface="Arial"/>
                <a:cs typeface="Arial"/>
                <a:sym typeface="Arial"/>
              </a:rPr>
              <a:t>Interacciones Críticas</a:t>
            </a:r>
            <a:endParaRPr/>
          </a:p>
          <a:p>
            <a:pPr indent="0" lvl="0" marL="0" marR="0" rtl="0" algn="ctr">
              <a:lnSpc>
                <a:spcPct val="100000"/>
              </a:lnSpc>
              <a:spcBef>
                <a:spcPts val="1200"/>
              </a:spcBef>
              <a:spcAft>
                <a:spcPts val="0"/>
              </a:spcAft>
              <a:buClr>
                <a:srgbClr val="FFFFFF"/>
              </a:buClr>
              <a:buSzPts val="800"/>
              <a:buFont typeface="Arial"/>
              <a:buNone/>
            </a:pPr>
            <a:r>
              <a:rPr b="0" i="0" lang="es-MX" sz="800" u="none" cap="none" strike="noStrike">
                <a:solidFill>
                  <a:srgbClr val="FFFFFF"/>
                </a:solidFill>
                <a:latin typeface="Arial"/>
                <a:ea typeface="Arial"/>
                <a:cs typeface="Arial"/>
                <a:sym typeface="Arial"/>
              </a:rPr>
              <a:t>Workshops Cross-plataformas</a:t>
            </a:r>
            <a:endParaRPr/>
          </a:p>
        </p:txBody>
      </p:sp>
      <p:sp>
        <p:nvSpPr>
          <p:cNvPr id="1292" name="Google Shape;1292;p89"/>
          <p:cNvSpPr/>
          <p:nvPr/>
        </p:nvSpPr>
        <p:spPr>
          <a:xfrm>
            <a:off x="168211" y="1391112"/>
            <a:ext cx="2147110" cy="928284"/>
          </a:xfrm>
          <a:prstGeom prst="rect">
            <a:avLst/>
          </a:prstGeom>
          <a:solidFill>
            <a:srgbClr val="00000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FFFFFF"/>
              </a:buClr>
              <a:buSzPts val="1200"/>
              <a:buFont typeface="Arial"/>
              <a:buNone/>
            </a:pPr>
            <a:r>
              <a:rPr b="1" i="0" lang="es-MX" sz="1200" u="none" cap="none" strike="noStrike">
                <a:solidFill>
                  <a:srgbClr val="FFFFFF"/>
                </a:solidFill>
                <a:latin typeface="Arial"/>
                <a:ea typeface="Arial"/>
                <a:cs typeface="Arial"/>
                <a:sym typeface="Arial"/>
              </a:rPr>
              <a:t>Higiénicos Organizacionales </a:t>
            </a:r>
            <a:endParaRPr/>
          </a:p>
          <a:p>
            <a:pPr indent="0" lvl="0" marL="0" marR="0" rtl="0" algn="ctr">
              <a:lnSpc>
                <a:spcPct val="100000"/>
              </a:lnSpc>
              <a:spcBef>
                <a:spcPts val="1200"/>
              </a:spcBef>
              <a:spcAft>
                <a:spcPts val="0"/>
              </a:spcAft>
              <a:buClr>
                <a:srgbClr val="FFFFFF"/>
              </a:buClr>
              <a:buSzPts val="800"/>
              <a:buFont typeface="Arial"/>
              <a:buNone/>
            </a:pPr>
            <a:r>
              <a:rPr b="0" i="0" lang="es-MX" sz="800" u="none" cap="none" strike="noStrike">
                <a:solidFill>
                  <a:srgbClr val="FFFFFF"/>
                </a:solidFill>
                <a:latin typeface="Arial"/>
                <a:ea typeface="Arial"/>
                <a:cs typeface="Arial"/>
                <a:sym typeface="Arial"/>
              </a:rPr>
              <a:t>Documentación de Roles</a:t>
            </a:r>
            <a:endParaRPr/>
          </a:p>
        </p:txBody>
      </p:sp>
      <p:sp>
        <p:nvSpPr>
          <p:cNvPr id="1293" name="Google Shape;1293;p89"/>
          <p:cNvSpPr/>
          <p:nvPr/>
        </p:nvSpPr>
        <p:spPr>
          <a:xfrm>
            <a:off x="168211" y="5905394"/>
            <a:ext cx="2147110" cy="539924"/>
          </a:xfrm>
          <a:prstGeom prst="rect">
            <a:avLst/>
          </a:prstGeom>
          <a:solidFill>
            <a:srgbClr val="00000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FFFFFF"/>
              </a:buClr>
              <a:buSzPts val="1100"/>
              <a:buFont typeface="Arial"/>
              <a:buNone/>
            </a:pPr>
            <a:r>
              <a:rPr b="1" i="0" lang="es-MX" sz="1100" u="none" cap="none" strike="noStrike">
                <a:solidFill>
                  <a:srgbClr val="FFFFFF"/>
                </a:solidFill>
                <a:latin typeface="Arial"/>
                <a:ea typeface="Arial"/>
                <a:cs typeface="Arial"/>
                <a:sym typeface="Arial"/>
              </a:rPr>
              <a:t>Integración al Sistema de Gestión </a:t>
            </a:r>
            <a:r>
              <a:rPr b="0" i="0" lang="es-MX" sz="600" u="none" cap="none" strike="noStrike">
                <a:solidFill>
                  <a:srgbClr val="FFFFFF"/>
                </a:solidFill>
                <a:latin typeface="Arial"/>
                <a:ea typeface="Arial"/>
                <a:cs typeface="Arial"/>
                <a:sym typeface="Arial"/>
              </a:rPr>
              <a:t>Consolidación y Seguimiento</a:t>
            </a:r>
            <a:endParaRPr/>
          </a:p>
        </p:txBody>
      </p:sp>
      <p:sp>
        <p:nvSpPr>
          <p:cNvPr id="1294" name="Google Shape;1294;p89"/>
          <p:cNvSpPr/>
          <p:nvPr/>
        </p:nvSpPr>
        <p:spPr>
          <a:xfrm>
            <a:off x="168211" y="4866393"/>
            <a:ext cx="2147110" cy="928284"/>
          </a:xfrm>
          <a:prstGeom prst="rect">
            <a:avLst/>
          </a:prstGeom>
          <a:solidFill>
            <a:srgbClr val="00000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FFFFFF"/>
              </a:buClr>
              <a:buSzPts val="1200"/>
              <a:buFont typeface="Arial"/>
              <a:buNone/>
            </a:pPr>
            <a:r>
              <a:rPr b="1" i="0" lang="es-MX" sz="1200" u="none" cap="none" strike="noStrike">
                <a:solidFill>
                  <a:srgbClr val="FFFFFF"/>
                </a:solidFill>
                <a:latin typeface="Arial"/>
                <a:ea typeface="Arial"/>
                <a:cs typeface="Arial"/>
                <a:sym typeface="Arial"/>
              </a:rPr>
              <a:t>RASCI por Función de Procesos Clave</a:t>
            </a:r>
            <a:endParaRPr/>
          </a:p>
          <a:p>
            <a:pPr indent="0" lvl="0" marL="0" marR="0" rtl="0" algn="ctr">
              <a:lnSpc>
                <a:spcPct val="100000"/>
              </a:lnSpc>
              <a:spcBef>
                <a:spcPts val="1200"/>
              </a:spcBef>
              <a:spcAft>
                <a:spcPts val="0"/>
              </a:spcAft>
              <a:buClr>
                <a:srgbClr val="FFFFFF"/>
              </a:buClr>
              <a:buSzPts val="800"/>
              <a:buFont typeface="Arial"/>
              <a:buNone/>
            </a:pPr>
            <a:r>
              <a:rPr b="0" i="0" lang="es-MX" sz="800" u="none" cap="none" strike="noStrike">
                <a:solidFill>
                  <a:srgbClr val="FFFFFF"/>
                </a:solidFill>
                <a:latin typeface="Arial"/>
                <a:ea typeface="Arial"/>
                <a:cs typeface="Arial"/>
                <a:sym typeface="Arial"/>
              </a:rPr>
              <a:t>Workshops Internos x Área</a:t>
            </a:r>
            <a:endParaRPr/>
          </a:p>
        </p:txBody>
      </p:sp>
      <p:graphicFrame>
        <p:nvGraphicFramePr>
          <p:cNvPr id="1295" name="Google Shape;1295;p89"/>
          <p:cNvGraphicFramePr/>
          <p:nvPr/>
        </p:nvGraphicFramePr>
        <p:xfrm>
          <a:off x="5444083" y="848250"/>
          <a:ext cx="3000000" cy="3000000"/>
        </p:xfrm>
        <a:graphic>
          <a:graphicData uri="http://schemas.openxmlformats.org/drawingml/2006/table">
            <a:tbl>
              <a:tblPr firstCol="1" firstRow="1">
                <a:noFill/>
                <a:tableStyleId>{813A3F68-93AB-42EE-8F31-6030AA077254}</a:tableStyleId>
              </a:tblPr>
              <a:tblGrid>
                <a:gridCol w="391825"/>
                <a:gridCol w="420450"/>
                <a:gridCol w="420450"/>
                <a:gridCol w="493075"/>
                <a:gridCol w="448950"/>
                <a:gridCol w="500425"/>
                <a:gridCol w="498625"/>
                <a:gridCol w="271900"/>
                <a:gridCol w="183025"/>
                <a:gridCol w="428500"/>
                <a:gridCol w="428500"/>
                <a:gridCol w="428500"/>
                <a:gridCol w="428500"/>
                <a:gridCol w="428500"/>
                <a:gridCol w="428500"/>
                <a:gridCol w="428500"/>
              </a:tblGrid>
              <a:tr h="200350">
                <a:tc gridSpan="3">
                  <a:txBody>
                    <a:bodyPr/>
                    <a:lstStyle/>
                    <a:p>
                      <a:pPr indent="0" lvl="0" marL="0" marR="0" rtl="0" algn="ctr">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Noviembre</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hMerge="1"/>
                <a:tc gridSpan="5">
                  <a:txBody>
                    <a:bodyPr/>
                    <a:lstStyle/>
                    <a:p>
                      <a:pPr indent="0" lvl="0" marL="0" marR="0" rtl="0" algn="ctr">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Diciembre</a:t>
                      </a:r>
                      <a:endParaRPr b="1" sz="800">
                        <a:solidFill>
                          <a:srgbClr val="333333"/>
                        </a:solidFill>
                        <a:latin typeface="Arial"/>
                        <a:ea typeface="Arial"/>
                        <a:cs typeface="Arial"/>
                        <a:sym typeface="Arial"/>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hMerge="1"/>
                <a:tc hMerge="1"/>
                <a:tc hMerge="1"/>
                <a:tc gridSpan="5">
                  <a:txBody>
                    <a:bodyPr/>
                    <a:lstStyle/>
                    <a:p>
                      <a:pPr indent="0" lvl="0" marL="0" marR="0" rtl="0" algn="ctr">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Enero</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hMerge="1"/>
                <a:tc hMerge="1"/>
                <a:tc hMerge="1"/>
                <a:tc gridSpan="3">
                  <a:txBody>
                    <a:bodyPr/>
                    <a:lstStyle/>
                    <a:p>
                      <a:pPr indent="0" lvl="0" marL="0" marR="0" rtl="0" algn="ctr">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Febrero</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hMerge="1"/>
              </a:tr>
              <a:tr h="209050">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10 - 14</a:t>
                      </a:r>
                      <a:endParaRPr/>
                    </a:p>
                  </a:txBody>
                  <a:tcPr marT="0" marB="0" marR="0" marL="72000" anchor="ctr">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17 - 21</a:t>
                      </a:r>
                      <a:endParaRPr/>
                    </a:p>
                  </a:txBody>
                  <a:tcPr marT="0" marB="0" marR="0" marL="720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24 - 28</a:t>
                      </a:r>
                      <a:endParaRPr/>
                    </a:p>
                  </a:txBody>
                  <a:tcPr marT="0" marB="0" marR="0" marL="72000" anchor="ctr">
                    <a:lnL cap="flat" cmpd="sng" w="12700">
                      <a:solidFill>
                        <a:schemeClr val="lt2"/>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01 – 05</a:t>
                      </a:r>
                      <a:endParaRPr b="1" baseline="30000" sz="800">
                        <a:solidFill>
                          <a:srgbClr val="333333"/>
                        </a:solidFill>
                        <a:latin typeface="Arial"/>
                        <a:ea typeface="Arial"/>
                        <a:cs typeface="Arial"/>
                        <a:sym typeface="Arial"/>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08 – 12</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15 – 19 </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22 - 26</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gridSpan="2">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29 – 02</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05 – 09</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12 - 16</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19 - 23</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26 - 30</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02 - 06</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09 - 13</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16 - 20</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r>
              <a:tr h="1172050">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rgbClr val="D6D6D6">
                          <a:alpha val="25098"/>
                        </a:srgbClr>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r>
              <a:tr h="2244100">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rgbClr val="D6D6D6">
                          <a:alpha val="25098"/>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42575">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rgbClr val="D6D6D6">
                          <a:alpha val="25098"/>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63850">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rgbClr val="D6D6D6">
                          <a:alpha val="25098"/>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296" name="Google Shape;1296;p89"/>
          <p:cNvSpPr/>
          <p:nvPr/>
        </p:nvSpPr>
        <p:spPr>
          <a:xfrm>
            <a:off x="42863" y="1249615"/>
            <a:ext cx="250694" cy="250694"/>
          </a:xfrm>
          <a:prstGeom prst="ellipse">
            <a:avLst/>
          </a:prstGeom>
          <a:solidFill>
            <a:srgbClr val="DE0230"/>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Open Sans"/>
              <a:buNone/>
            </a:pPr>
            <a:r>
              <a:rPr b="1" i="0" lang="es-MX" sz="1400" u="none" cap="none" strike="noStrike">
                <a:solidFill>
                  <a:srgbClr val="FFFFFF"/>
                </a:solidFill>
                <a:latin typeface="Open Sans"/>
                <a:ea typeface="Open Sans"/>
                <a:cs typeface="Open Sans"/>
                <a:sym typeface="Open Sans"/>
              </a:rPr>
              <a:t>1</a:t>
            </a:r>
            <a:endParaRPr/>
          </a:p>
        </p:txBody>
      </p:sp>
      <p:sp>
        <p:nvSpPr>
          <p:cNvPr id="1297" name="Google Shape;1297;p89"/>
          <p:cNvSpPr/>
          <p:nvPr/>
        </p:nvSpPr>
        <p:spPr>
          <a:xfrm>
            <a:off x="42863" y="2418400"/>
            <a:ext cx="250694" cy="250694"/>
          </a:xfrm>
          <a:prstGeom prst="ellipse">
            <a:avLst/>
          </a:prstGeom>
          <a:solidFill>
            <a:srgbClr val="DE0230"/>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Open Sans"/>
              <a:buNone/>
            </a:pPr>
            <a:r>
              <a:rPr b="1" i="0" lang="es-MX" sz="1400" u="none" cap="none" strike="noStrike">
                <a:solidFill>
                  <a:srgbClr val="FFFFFF"/>
                </a:solidFill>
                <a:latin typeface="Open Sans"/>
                <a:ea typeface="Open Sans"/>
                <a:cs typeface="Open Sans"/>
                <a:sym typeface="Open Sans"/>
              </a:rPr>
              <a:t>2</a:t>
            </a:r>
            <a:endParaRPr/>
          </a:p>
        </p:txBody>
      </p:sp>
      <p:sp>
        <p:nvSpPr>
          <p:cNvPr id="1298" name="Google Shape;1298;p89"/>
          <p:cNvSpPr/>
          <p:nvPr/>
        </p:nvSpPr>
        <p:spPr>
          <a:xfrm>
            <a:off x="42863" y="4742715"/>
            <a:ext cx="250694" cy="250694"/>
          </a:xfrm>
          <a:prstGeom prst="ellipse">
            <a:avLst/>
          </a:prstGeom>
          <a:solidFill>
            <a:srgbClr val="DE0230"/>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Open Sans"/>
              <a:buNone/>
            </a:pPr>
            <a:r>
              <a:rPr b="1" i="0" lang="es-MX" sz="1400" u="none" cap="none" strike="noStrike">
                <a:solidFill>
                  <a:srgbClr val="FFFFFF"/>
                </a:solidFill>
                <a:latin typeface="Open Sans"/>
                <a:ea typeface="Open Sans"/>
                <a:cs typeface="Open Sans"/>
                <a:sym typeface="Open Sans"/>
              </a:rPr>
              <a:t>3</a:t>
            </a:r>
            <a:endParaRPr/>
          </a:p>
        </p:txBody>
      </p:sp>
      <p:sp>
        <p:nvSpPr>
          <p:cNvPr id="1299" name="Google Shape;1299;p89"/>
          <p:cNvSpPr/>
          <p:nvPr/>
        </p:nvSpPr>
        <p:spPr>
          <a:xfrm>
            <a:off x="42863" y="5778527"/>
            <a:ext cx="250694" cy="250694"/>
          </a:xfrm>
          <a:prstGeom prst="ellipse">
            <a:avLst/>
          </a:prstGeom>
          <a:solidFill>
            <a:srgbClr val="DE0230"/>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Open Sans"/>
              <a:buNone/>
            </a:pPr>
            <a:r>
              <a:rPr b="1" i="0" lang="es-MX" sz="1400" u="none" cap="none" strike="noStrike">
                <a:solidFill>
                  <a:srgbClr val="FFFFFF"/>
                </a:solidFill>
                <a:latin typeface="Open Sans"/>
                <a:ea typeface="Open Sans"/>
                <a:cs typeface="Open Sans"/>
                <a:sym typeface="Open Sans"/>
              </a:rPr>
              <a:t>4</a:t>
            </a:r>
            <a:endParaRPr/>
          </a:p>
        </p:txBody>
      </p:sp>
      <p:sp>
        <p:nvSpPr>
          <p:cNvPr id="1300" name="Google Shape;1300;p89"/>
          <p:cNvSpPr/>
          <p:nvPr/>
        </p:nvSpPr>
        <p:spPr>
          <a:xfrm>
            <a:off x="7623079" y="1249615"/>
            <a:ext cx="1458097" cy="5078661"/>
          </a:xfrm>
          <a:prstGeom prst="rect">
            <a:avLst/>
          </a:prstGeom>
          <a:solidFill>
            <a:srgbClr val="D6D6D6">
              <a:alpha val="50196"/>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301" name="Google Shape;1301;p89"/>
          <p:cNvSpPr/>
          <p:nvPr/>
        </p:nvSpPr>
        <p:spPr>
          <a:xfrm>
            <a:off x="5444083" y="1422988"/>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graphicFrame>
        <p:nvGraphicFramePr>
          <p:cNvPr id="1302" name="Google Shape;1302;p89"/>
          <p:cNvGraphicFramePr/>
          <p:nvPr/>
        </p:nvGraphicFramePr>
        <p:xfrm>
          <a:off x="2331205" y="2540299"/>
          <a:ext cx="3000000" cy="3000000"/>
        </p:xfrm>
        <a:graphic>
          <a:graphicData uri="http://schemas.openxmlformats.org/drawingml/2006/table">
            <a:tbl>
              <a:tblPr>
                <a:solidFill>
                  <a:srgbClr val="F2F2F2"/>
                </a:solidFill>
                <a:tableStyleId>{59F1A6B1-18B9-4B87-B458-7A3E6594CA7B}</a:tableStyleId>
              </a:tblPr>
              <a:tblGrid>
                <a:gridCol w="3071450"/>
              </a:tblGrid>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Customer Value Proposition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Decisiones comerciales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Voz del Cliente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Value Management Office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650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Modelo de Madurez de Negocio</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Portafolio estratégico con planeación financiera</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Capacidades digitales y omnicanalidad</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Integración de Expansión con Operaciones</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Integración Operaciones Foodservice a Operaciones Tiendas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Servicios Comerciales en sinergia con Ejecución Comercial</a:t>
                      </a:r>
                      <a:endParaRPr b="0" i="0" sz="700" u="none" cap="none" strike="noStrike">
                        <a:solidFill>
                          <a:srgbClr val="000000"/>
                        </a:solidFill>
                        <a:latin typeface="Arial"/>
                        <a:ea typeface="Arial"/>
                        <a:cs typeface="Arial"/>
                        <a:sym typeface="Arial"/>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bl>
          </a:graphicData>
        </a:graphic>
      </p:graphicFrame>
      <p:graphicFrame>
        <p:nvGraphicFramePr>
          <p:cNvPr id="1303" name="Google Shape;1303;p89"/>
          <p:cNvGraphicFramePr/>
          <p:nvPr/>
        </p:nvGraphicFramePr>
        <p:xfrm>
          <a:off x="2331205" y="1394383"/>
          <a:ext cx="3000000" cy="3000000"/>
        </p:xfrm>
        <a:graphic>
          <a:graphicData uri="http://schemas.openxmlformats.org/drawingml/2006/table">
            <a:tbl>
              <a:tblPr>
                <a:solidFill>
                  <a:srgbClr val="F2F2F2"/>
                </a:solidFill>
                <a:tableStyleId>{59F1A6B1-18B9-4B87-B458-7A3E6594CA7B}</a:tableStyleId>
              </a:tblPr>
              <a:tblGrid>
                <a:gridCol w="3071450"/>
              </a:tblGrid>
              <a:tr h="22610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Documentación áreas, propósitos y responsabilidades</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Descripciones de Puesto L1 y L2, validadas</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Matriz RASCI (Metodología y ejercicio central)</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Diagnóstico de madurez y trazabilidad premisas FFP</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bl>
          </a:graphicData>
        </a:graphic>
      </p:graphicFrame>
      <p:graphicFrame>
        <p:nvGraphicFramePr>
          <p:cNvPr id="1304" name="Google Shape;1304;p89"/>
          <p:cNvGraphicFramePr/>
          <p:nvPr/>
        </p:nvGraphicFramePr>
        <p:xfrm>
          <a:off x="2331205" y="4866393"/>
          <a:ext cx="3000000" cy="3000000"/>
        </p:xfrm>
        <a:graphic>
          <a:graphicData uri="http://schemas.openxmlformats.org/drawingml/2006/table">
            <a:tbl>
              <a:tblPr>
                <a:solidFill>
                  <a:srgbClr val="F2F2F2"/>
                </a:solidFill>
                <a:tableStyleId>{59F1A6B1-18B9-4B87-B458-7A3E6594CA7B}</a:tableStyleId>
              </a:tblPr>
              <a:tblGrid>
                <a:gridCol w="3071450"/>
              </a:tblGrid>
              <a:tr h="226100">
                <a:tc>
                  <a:txBody>
                    <a:bodyPr/>
                    <a:lstStyle/>
                    <a:p>
                      <a:pPr indent="0" lvl="0" marL="0" marR="0" rtl="0" algn="l">
                        <a:spcBef>
                          <a:spcPts val="0"/>
                        </a:spcBef>
                        <a:spcAft>
                          <a:spcPts val="0"/>
                        </a:spcAft>
                        <a:buClr>
                          <a:srgbClr val="000000"/>
                        </a:buClr>
                        <a:buSzPts val="800"/>
                        <a:buFont typeface="Arial"/>
                        <a:buNone/>
                      </a:pPr>
                      <a:r>
                        <a:rPr b="0" i="0" lang="es-MX" sz="800" u="none" cap="none" strike="noStrike">
                          <a:solidFill>
                            <a:srgbClr val="000000"/>
                          </a:solidFill>
                          <a:latin typeface="Arial"/>
                          <a:ea typeface="Arial"/>
                          <a:cs typeface="Arial"/>
                          <a:sym typeface="Arial"/>
                        </a:rPr>
                        <a:t>1) Comercial, 2) Customer &amp; Marketing</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800"/>
                        <a:buFont typeface="Arial"/>
                        <a:buNone/>
                      </a:pPr>
                      <a:r>
                        <a:rPr b="0" i="0" lang="es-MX" sz="800" u="none" cap="none" strike="noStrike">
                          <a:solidFill>
                            <a:srgbClr val="000000"/>
                          </a:solidFill>
                          <a:latin typeface="Arial"/>
                          <a:ea typeface="Arial"/>
                          <a:cs typeface="Arial"/>
                          <a:sym typeface="Arial"/>
                        </a:rPr>
                        <a:t>3) Excelencia Operaciones, 4) Operaciones y Expansión</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800"/>
                        <a:buFont typeface="Arial"/>
                        <a:buNone/>
                      </a:pPr>
                      <a:r>
                        <a:rPr b="0" i="0" lang="es-MX" sz="800" u="none" cap="none" strike="noStrike">
                          <a:solidFill>
                            <a:srgbClr val="000000"/>
                          </a:solidFill>
                          <a:latin typeface="Arial"/>
                          <a:ea typeface="Arial"/>
                          <a:cs typeface="Arial"/>
                          <a:sym typeface="Arial"/>
                        </a:rPr>
                        <a:t>5) Estrategia y Transformación, 6) AYF, 7) TI</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800"/>
                        <a:buFont typeface="Arial"/>
                        <a:buNone/>
                      </a:pPr>
                      <a:r>
                        <a:rPr b="0" i="0" lang="es-MX" sz="800" u="none" cap="none" strike="noStrike">
                          <a:solidFill>
                            <a:srgbClr val="000000"/>
                          </a:solidFill>
                          <a:latin typeface="Arial"/>
                          <a:ea typeface="Arial"/>
                          <a:cs typeface="Arial"/>
                          <a:sym typeface="Arial"/>
                        </a:rPr>
                        <a:t>8) Cadena Suministro, 9) Recursos Humanos</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bl>
          </a:graphicData>
        </a:graphic>
      </p:graphicFrame>
      <p:graphicFrame>
        <p:nvGraphicFramePr>
          <p:cNvPr id="1305" name="Google Shape;1305;p89"/>
          <p:cNvGraphicFramePr/>
          <p:nvPr/>
        </p:nvGraphicFramePr>
        <p:xfrm>
          <a:off x="2331205" y="5924444"/>
          <a:ext cx="3000000" cy="3000000"/>
        </p:xfrm>
        <a:graphic>
          <a:graphicData uri="http://schemas.openxmlformats.org/drawingml/2006/table">
            <a:tbl>
              <a:tblPr>
                <a:solidFill>
                  <a:srgbClr val="F2F2F2"/>
                </a:solidFill>
                <a:tableStyleId>{59F1A6B1-18B9-4B87-B458-7A3E6594CA7B}</a:tableStyleId>
              </a:tblPr>
              <a:tblGrid>
                <a:gridCol w="3071450"/>
              </a:tblGrid>
              <a:tr h="25155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Alineación al Sistema de Gestión</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5155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Sesiones de socialización con L2</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bl>
          </a:graphicData>
        </a:graphic>
      </p:graphicFrame>
      <p:sp>
        <p:nvSpPr>
          <p:cNvPr id="1306" name="Google Shape;1306;p89"/>
          <p:cNvSpPr/>
          <p:nvPr/>
        </p:nvSpPr>
        <p:spPr>
          <a:xfrm>
            <a:off x="5844252" y="1656576"/>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07" name="Google Shape;1307;p89"/>
          <p:cNvSpPr/>
          <p:nvPr/>
        </p:nvSpPr>
        <p:spPr>
          <a:xfrm>
            <a:off x="5456364" y="1890008"/>
            <a:ext cx="532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08" name="Google Shape;1308;p89"/>
          <p:cNvSpPr/>
          <p:nvPr/>
        </p:nvSpPr>
        <p:spPr>
          <a:xfrm>
            <a:off x="11221055" y="2102333"/>
            <a:ext cx="82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09" name="Google Shape;1309;p89"/>
          <p:cNvSpPr/>
          <p:nvPr/>
        </p:nvSpPr>
        <p:spPr>
          <a:xfrm>
            <a:off x="6685098" y="2562998"/>
            <a:ext cx="493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10" name="Google Shape;1310;p89"/>
          <p:cNvSpPr/>
          <p:nvPr/>
        </p:nvSpPr>
        <p:spPr>
          <a:xfrm>
            <a:off x="6685098" y="2764517"/>
            <a:ext cx="493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11" name="Google Shape;1311;p89"/>
          <p:cNvSpPr/>
          <p:nvPr/>
        </p:nvSpPr>
        <p:spPr>
          <a:xfrm>
            <a:off x="6685098" y="2957137"/>
            <a:ext cx="493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12" name="Google Shape;1312;p89"/>
          <p:cNvSpPr/>
          <p:nvPr/>
        </p:nvSpPr>
        <p:spPr>
          <a:xfrm>
            <a:off x="9106730" y="3197602"/>
            <a:ext cx="280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13" name="Google Shape;1313;p89"/>
          <p:cNvSpPr/>
          <p:nvPr/>
        </p:nvSpPr>
        <p:spPr>
          <a:xfrm>
            <a:off x="9106730" y="3395368"/>
            <a:ext cx="280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14" name="Google Shape;1314;p89"/>
          <p:cNvSpPr/>
          <p:nvPr/>
        </p:nvSpPr>
        <p:spPr>
          <a:xfrm>
            <a:off x="9109184" y="3598777"/>
            <a:ext cx="280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15" name="Google Shape;1315;p89"/>
          <p:cNvSpPr/>
          <p:nvPr/>
        </p:nvSpPr>
        <p:spPr>
          <a:xfrm>
            <a:off x="9790857" y="3833198"/>
            <a:ext cx="2340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16" name="Google Shape;1316;p89"/>
          <p:cNvSpPr/>
          <p:nvPr/>
        </p:nvSpPr>
        <p:spPr>
          <a:xfrm>
            <a:off x="9790857" y="4027477"/>
            <a:ext cx="2340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17" name="Google Shape;1317;p89"/>
          <p:cNvSpPr/>
          <p:nvPr/>
        </p:nvSpPr>
        <p:spPr>
          <a:xfrm>
            <a:off x="11734857" y="4839840"/>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18" name="Google Shape;1318;p89"/>
          <p:cNvSpPr/>
          <p:nvPr/>
        </p:nvSpPr>
        <p:spPr>
          <a:xfrm>
            <a:off x="11734857" y="5063481"/>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19" name="Google Shape;1319;p89"/>
          <p:cNvSpPr/>
          <p:nvPr/>
        </p:nvSpPr>
        <p:spPr>
          <a:xfrm>
            <a:off x="11734857" y="5309450"/>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20" name="Google Shape;1320;p89"/>
          <p:cNvSpPr/>
          <p:nvPr/>
        </p:nvSpPr>
        <p:spPr>
          <a:xfrm>
            <a:off x="11734857" y="5543265"/>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21" name="Google Shape;1321;p89"/>
          <p:cNvSpPr/>
          <p:nvPr/>
        </p:nvSpPr>
        <p:spPr>
          <a:xfrm>
            <a:off x="9085683" y="5955888"/>
            <a:ext cx="298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22" name="Google Shape;1322;p89"/>
          <p:cNvSpPr/>
          <p:nvPr/>
        </p:nvSpPr>
        <p:spPr>
          <a:xfrm>
            <a:off x="9085683" y="6168213"/>
            <a:ext cx="298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23" name="Google Shape;1323;p89"/>
          <p:cNvSpPr/>
          <p:nvPr/>
        </p:nvSpPr>
        <p:spPr>
          <a:xfrm>
            <a:off x="10438857" y="4221748"/>
            <a:ext cx="169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324" name="Google Shape;1324;p89"/>
          <p:cNvSpPr/>
          <p:nvPr/>
        </p:nvSpPr>
        <p:spPr>
          <a:xfrm>
            <a:off x="5181865" y="1423980"/>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89"/>
          <p:cNvSpPr/>
          <p:nvPr/>
        </p:nvSpPr>
        <p:spPr>
          <a:xfrm>
            <a:off x="5182039" y="4413551"/>
            <a:ext cx="172745" cy="172986"/>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89"/>
          <p:cNvSpPr/>
          <p:nvPr/>
        </p:nvSpPr>
        <p:spPr>
          <a:xfrm>
            <a:off x="5181865" y="1640629"/>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89"/>
          <p:cNvSpPr/>
          <p:nvPr/>
        </p:nvSpPr>
        <p:spPr>
          <a:xfrm>
            <a:off x="5181865" y="1869518"/>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89"/>
          <p:cNvSpPr/>
          <p:nvPr/>
        </p:nvSpPr>
        <p:spPr>
          <a:xfrm>
            <a:off x="5181865" y="2098214"/>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89"/>
          <p:cNvSpPr/>
          <p:nvPr/>
        </p:nvSpPr>
        <p:spPr>
          <a:xfrm>
            <a:off x="5181865" y="2562412"/>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89"/>
          <p:cNvSpPr/>
          <p:nvPr/>
        </p:nvSpPr>
        <p:spPr>
          <a:xfrm>
            <a:off x="5181865" y="2771515"/>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89"/>
          <p:cNvSpPr/>
          <p:nvPr/>
        </p:nvSpPr>
        <p:spPr>
          <a:xfrm>
            <a:off x="5181865" y="2968903"/>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89"/>
          <p:cNvSpPr/>
          <p:nvPr/>
        </p:nvSpPr>
        <p:spPr>
          <a:xfrm>
            <a:off x="5181865" y="3174340"/>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89"/>
          <p:cNvSpPr/>
          <p:nvPr/>
        </p:nvSpPr>
        <p:spPr>
          <a:xfrm>
            <a:off x="5181865" y="3388706"/>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89"/>
          <p:cNvSpPr/>
          <p:nvPr/>
        </p:nvSpPr>
        <p:spPr>
          <a:xfrm>
            <a:off x="5181865" y="3595515"/>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89"/>
          <p:cNvSpPr/>
          <p:nvPr/>
        </p:nvSpPr>
        <p:spPr>
          <a:xfrm>
            <a:off x="5181865" y="3800241"/>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89"/>
          <p:cNvSpPr/>
          <p:nvPr/>
        </p:nvSpPr>
        <p:spPr>
          <a:xfrm>
            <a:off x="5181865" y="3997629"/>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89"/>
          <p:cNvSpPr/>
          <p:nvPr/>
        </p:nvSpPr>
        <p:spPr>
          <a:xfrm>
            <a:off x="5181865" y="4203461"/>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89"/>
          <p:cNvSpPr/>
          <p:nvPr/>
        </p:nvSpPr>
        <p:spPr>
          <a:xfrm>
            <a:off x="5181865" y="4887219"/>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89"/>
          <p:cNvSpPr/>
          <p:nvPr/>
        </p:nvSpPr>
        <p:spPr>
          <a:xfrm>
            <a:off x="5181865" y="5122821"/>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89"/>
          <p:cNvSpPr/>
          <p:nvPr/>
        </p:nvSpPr>
        <p:spPr>
          <a:xfrm>
            <a:off x="5181865" y="5349272"/>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89"/>
          <p:cNvSpPr/>
          <p:nvPr/>
        </p:nvSpPr>
        <p:spPr>
          <a:xfrm>
            <a:off x="5181865" y="5580095"/>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89"/>
          <p:cNvSpPr/>
          <p:nvPr/>
        </p:nvSpPr>
        <p:spPr>
          <a:xfrm>
            <a:off x="5181865" y="5977434"/>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89"/>
          <p:cNvSpPr/>
          <p:nvPr/>
        </p:nvSpPr>
        <p:spPr>
          <a:xfrm>
            <a:off x="5181865" y="6214013"/>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89"/>
          <p:cNvSpPr/>
          <p:nvPr/>
        </p:nvSpPr>
        <p:spPr>
          <a:xfrm>
            <a:off x="10438857" y="4425906"/>
            <a:ext cx="169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cxnSp>
        <p:nvCxnSpPr>
          <p:cNvPr id="1345" name="Google Shape;1345;p89"/>
          <p:cNvCxnSpPr/>
          <p:nvPr/>
        </p:nvCxnSpPr>
        <p:spPr>
          <a:xfrm>
            <a:off x="9527255" y="1228458"/>
            <a:ext cx="0" cy="5364000"/>
          </a:xfrm>
          <a:prstGeom prst="straightConnector1">
            <a:avLst/>
          </a:prstGeom>
          <a:solidFill>
            <a:schemeClr val="accent1"/>
          </a:solidFill>
          <a:ln cap="flat" cmpd="sng" w="12700">
            <a:solidFill>
              <a:srgbClr val="FF0000"/>
            </a:solidFill>
            <a:prstDash val="dash"/>
            <a:round/>
            <a:headEnd len="sm" w="sm" type="none"/>
            <a:tailEnd len="med" w="med" type="triangle"/>
          </a:ln>
        </p:spPr>
      </p:cxnSp>
      <p:sp>
        <p:nvSpPr>
          <p:cNvPr id="1346" name="Google Shape;1346;p89"/>
          <p:cNvSpPr txBox="1"/>
          <p:nvPr/>
        </p:nvSpPr>
        <p:spPr>
          <a:xfrm>
            <a:off x="8883179" y="6615875"/>
            <a:ext cx="465192" cy="24622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FF0000"/>
              </a:buClr>
              <a:buSzPts val="1000"/>
              <a:buFont typeface="Open Sans"/>
              <a:buNone/>
            </a:pPr>
            <a:r>
              <a:rPr b="1" lang="es-MX" sz="1000">
                <a:solidFill>
                  <a:srgbClr val="FF0000"/>
                </a:solidFill>
                <a:latin typeface="Open Sans"/>
                <a:ea typeface="Open Sans"/>
                <a:cs typeface="Open Sans"/>
                <a:sym typeface="Open Sans"/>
              </a:rPr>
              <a:t>HOY</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0" name="Shape 1350"/>
        <p:cNvGrpSpPr/>
        <p:nvPr/>
      </p:nvGrpSpPr>
      <p:grpSpPr>
        <a:xfrm>
          <a:off x="0" y="0"/>
          <a:ext cx="0" cy="0"/>
          <a:chOff x="0" y="0"/>
          <a:chExt cx="0" cy="0"/>
        </a:xfrm>
      </p:grpSpPr>
      <p:sp>
        <p:nvSpPr>
          <p:cNvPr id="1351" name="Google Shape;1351;p90"/>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Cierre y siguientes pasos</a:t>
            </a:r>
            <a:endParaRPr i="1"/>
          </a:p>
        </p:txBody>
      </p:sp>
      <p:sp>
        <p:nvSpPr>
          <p:cNvPr id="1352" name="Google Shape;1352;p90"/>
          <p:cNvSpPr txBox="1"/>
          <p:nvPr/>
        </p:nvSpPr>
        <p:spPr>
          <a:xfrm>
            <a:off x="9732264" y="0"/>
            <a:ext cx="2459736" cy="307777"/>
          </a:xfrm>
          <a:prstGeom prst="rect">
            <a:avLst/>
          </a:prstGeom>
          <a:solidFill>
            <a:schemeClr val="dk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N O N   E X H A U S T I V E</a:t>
            </a:r>
            <a:endParaRPr/>
          </a:p>
        </p:txBody>
      </p:sp>
      <p:sp>
        <p:nvSpPr>
          <p:cNvPr id="1353" name="Google Shape;1353;p90"/>
          <p:cNvSpPr/>
          <p:nvPr/>
        </p:nvSpPr>
        <p:spPr>
          <a:xfrm>
            <a:off x="1060789" y="1106724"/>
            <a:ext cx="9611444" cy="1023828"/>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b="0" i="1" lang="es-MX" sz="1600" u="none" cap="none" strike="noStrike">
                <a:solidFill>
                  <a:srgbClr val="000000"/>
                </a:solidFill>
                <a:latin typeface="Open Sans"/>
                <a:ea typeface="Open Sans"/>
                <a:cs typeface="Open Sans"/>
                <a:sym typeface="Open Sans"/>
              </a:rPr>
              <a:t>Cascadeo</a:t>
            </a:r>
            <a:r>
              <a:rPr b="0" i="0" lang="es-MX" sz="1600" u="none" cap="none" strike="noStrike">
                <a:solidFill>
                  <a:srgbClr val="000000"/>
                </a:solidFill>
                <a:latin typeface="Open Sans"/>
                <a:ea typeface="Open Sans"/>
                <a:cs typeface="Open Sans"/>
                <a:sym typeface="Open Sans"/>
              </a:rPr>
              <a:t> de información hacia los equipos que forman parte de esta interacción crítica para asegurar entendimiento de roles y responsabilidades</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¿Falta el mapeo de algún proceso crítico con relación a Modelo de Madurez?</a:t>
            </a:r>
            <a:endParaRPr/>
          </a:p>
          <a:p>
            <a:pPr indent="-285750" lvl="0" marL="285750" marR="0" rtl="0" algn="l">
              <a:lnSpc>
                <a:spcPct val="100000"/>
              </a:lnSpc>
              <a:spcBef>
                <a:spcPts val="1200"/>
              </a:spcBef>
              <a:spcAft>
                <a:spcPts val="0"/>
              </a:spcAft>
              <a:buClr>
                <a:srgbClr val="000000"/>
              </a:buClr>
              <a:buSzPts val="1600"/>
              <a:buFont typeface="Courier New"/>
              <a:buChar char="o"/>
            </a:pPr>
            <a:r>
              <a:rPr b="0" i="0" lang="es-MX" sz="1600" u="none" cap="none" strike="noStrike">
                <a:solidFill>
                  <a:srgbClr val="000000"/>
                </a:solidFill>
                <a:latin typeface="Open Sans"/>
                <a:ea typeface="Open Sans"/>
                <a:cs typeface="Open Sans"/>
                <a:sym typeface="Open Sans"/>
              </a:rPr>
              <a:t>¿Existen preocu</a:t>
            </a:r>
            <a:r>
              <a:rPr lang="es-MX" sz="1600">
                <a:solidFill>
                  <a:srgbClr val="000000"/>
                </a:solidFill>
                <a:latin typeface="Open Sans"/>
                <a:ea typeface="Open Sans"/>
                <a:cs typeface="Open Sans"/>
                <a:sym typeface="Open Sans"/>
              </a:rPr>
              <a:t>paciones sobre lo definido / acordado?</a:t>
            </a:r>
            <a:endParaRPr/>
          </a:p>
        </p:txBody>
      </p:sp>
      <p:sp>
        <p:nvSpPr>
          <p:cNvPr id="1354" name="Google Shape;1354;p90"/>
          <p:cNvSpPr/>
          <p:nvPr/>
        </p:nvSpPr>
        <p:spPr>
          <a:xfrm>
            <a:off x="1060789" y="2545290"/>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b="0" i="0" lang="es-MX" sz="1600" u="none" cap="none" strike="noStrike">
                <a:solidFill>
                  <a:srgbClr val="000000"/>
                </a:solidFill>
                <a:latin typeface="Open Sans"/>
                <a:ea typeface="Open Sans"/>
                <a:cs typeface="Open Sans"/>
                <a:sym typeface="Open Sans"/>
              </a:rPr>
              <a:t>Mapeo del resto de procesos e interacciones críticas de organización para clarificar y transparentar roles y responsabilidades de cada área</a:t>
            </a:r>
            <a:r>
              <a:rPr lang="es-MX" sz="1600">
                <a:solidFill>
                  <a:srgbClr val="000000"/>
                </a:solidFill>
                <a:latin typeface="Open Sans"/>
                <a:ea typeface="Open Sans"/>
                <a:cs typeface="Open Sans"/>
                <a:sym typeface="Open Sans"/>
              </a:rPr>
              <a:t> </a:t>
            </a:r>
            <a:endParaRPr b="0" i="0" sz="1600" u="none" cap="none" strike="noStrike">
              <a:solidFill>
                <a:srgbClr val="000000"/>
              </a:solidFill>
              <a:latin typeface="Open Sans"/>
              <a:ea typeface="Open Sans"/>
              <a:cs typeface="Open Sans"/>
              <a:sym typeface="Open Sans"/>
            </a:endParaRPr>
          </a:p>
        </p:txBody>
      </p:sp>
      <p:sp>
        <p:nvSpPr>
          <p:cNvPr id="1355" name="Google Shape;1355;p90"/>
          <p:cNvSpPr/>
          <p:nvPr/>
        </p:nvSpPr>
        <p:spPr>
          <a:xfrm>
            <a:off x="1060789" y="3818334"/>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lang="es-MX" sz="1600">
                <a:solidFill>
                  <a:srgbClr val="000000"/>
                </a:solidFill>
                <a:latin typeface="Open Sans"/>
                <a:ea typeface="Open Sans"/>
                <a:cs typeface="Open Sans"/>
                <a:sym typeface="Open Sans"/>
              </a:rPr>
              <a:t>Definición de metodología para diagnóstico de madurez de las capacidades organizacionales de OXXO que se desarrollarán derivado de FFP</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Rituales</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KPIs clave</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Frecuencia del diagnóstico</a:t>
            </a:r>
            <a:endParaRPr sz="1600">
              <a:solidFill>
                <a:srgbClr val="000000"/>
              </a:solidFill>
              <a:latin typeface="Open Sans"/>
              <a:ea typeface="Open Sans"/>
              <a:cs typeface="Open Sans"/>
              <a:sym typeface="Open Sans"/>
            </a:endParaRPr>
          </a:p>
        </p:txBody>
      </p:sp>
      <p:sp>
        <p:nvSpPr>
          <p:cNvPr id="1356" name="Google Shape;1356;p90"/>
          <p:cNvSpPr/>
          <p:nvPr/>
        </p:nvSpPr>
        <p:spPr>
          <a:xfrm>
            <a:off x="1060789" y="5075587"/>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lang="es-MX" sz="1600">
                <a:solidFill>
                  <a:srgbClr val="000000"/>
                </a:solidFill>
                <a:latin typeface="Open Sans"/>
                <a:ea typeface="Open Sans"/>
                <a:cs typeface="Open Sans"/>
                <a:sym typeface="Open Sans"/>
              </a:rPr>
              <a:t>Evaluación de madurez de desarrollo de capacidades – TBD 2026</a:t>
            </a:r>
            <a:endParaRPr sz="1600">
              <a:solidFill>
                <a:srgbClr val="000000"/>
              </a:solidFill>
              <a:latin typeface="Open Sans"/>
              <a:ea typeface="Open Sans"/>
              <a:cs typeface="Open Sans"/>
              <a:sym typeface="Open Sans"/>
            </a:endParaRPr>
          </a:p>
        </p:txBody>
      </p:sp>
      <p:sp>
        <p:nvSpPr>
          <p:cNvPr id="1357" name="Google Shape;1357;p90"/>
          <p:cNvSpPr/>
          <p:nvPr/>
        </p:nvSpPr>
        <p:spPr>
          <a:xfrm>
            <a:off x="681671" y="1036083"/>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1</a:t>
            </a:r>
            <a:endParaRPr/>
          </a:p>
        </p:txBody>
      </p:sp>
      <p:sp>
        <p:nvSpPr>
          <p:cNvPr id="1358" name="Google Shape;1358;p90"/>
          <p:cNvSpPr/>
          <p:nvPr/>
        </p:nvSpPr>
        <p:spPr>
          <a:xfrm>
            <a:off x="681671" y="2587152"/>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2</a:t>
            </a:r>
            <a:endParaRPr/>
          </a:p>
        </p:txBody>
      </p:sp>
      <p:sp>
        <p:nvSpPr>
          <p:cNvPr id="1359" name="Google Shape;1359;p90"/>
          <p:cNvSpPr/>
          <p:nvPr/>
        </p:nvSpPr>
        <p:spPr>
          <a:xfrm>
            <a:off x="681671" y="3249727"/>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3</a:t>
            </a:r>
            <a:endParaRPr/>
          </a:p>
        </p:txBody>
      </p:sp>
      <p:sp>
        <p:nvSpPr>
          <p:cNvPr id="1360" name="Google Shape;1360;p90"/>
          <p:cNvSpPr/>
          <p:nvPr/>
        </p:nvSpPr>
        <p:spPr>
          <a:xfrm>
            <a:off x="681671" y="5133485"/>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4</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5" name="Shape 1365"/>
        <p:cNvGrpSpPr/>
        <p:nvPr/>
      </p:nvGrpSpPr>
      <p:grpSpPr>
        <a:xfrm>
          <a:off x="0" y="0"/>
          <a:ext cx="0" cy="0"/>
          <a:chOff x="0" y="0"/>
          <a:chExt cx="0" cy="0"/>
        </a:xfrm>
      </p:grpSpPr>
      <p:grpSp>
        <p:nvGrpSpPr>
          <p:cNvPr id="1366" name="Google Shape;1366;p91"/>
          <p:cNvGrpSpPr/>
          <p:nvPr/>
        </p:nvGrpSpPr>
        <p:grpSpPr>
          <a:xfrm>
            <a:off x="0" y="6926580"/>
            <a:ext cx="12192000" cy="137160"/>
            <a:chOff x="0" y="6926580"/>
            <a:chExt cx="12192000" cy="137160"/>
          </a:xfrm>
        </p:grpSpPr>
        <p:sp>
          <p:nvSpPr>
            <p:cNvPr id="1367" name="Google Shape;1367;p91"/>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368" name="Google Shape;1368;p91"/>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369" name="Google Shape;1369;p91"/>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370" name="Google Shape;1370;p91"/>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1371" name="Google Shape;1371;p91"/>
          <p:cNvGrpSpPr/>
          <p:nvPr/>
        </p:nvGrpSpPr>
        <p:grpSpPr>
          <a:xfrm>
            <a:off x="0" y="-205740"/>
            <a:ext cx="12192000" cy="137160"/>
            <a:chOff x="0" y="-205740"/>
            <a:chExt cx="12192000" cy="137160"/>
          </a:xfrm>
        </p:grpSpPr>
        <p:sp>
          <p:nvSpPr>
            <p:cNvPr id="1372" name="Google Shape;1372;p91"/>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373" name="Google Shape;1373;p91"/>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374" name="Google Shape;1374;p91"/>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375" name="Google Shape;1375;p91"/>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1376" name="Google Shape;1376;p91"/>
          <p:cNvSpPr txBox="1"/>
          <p:nvPr>
            <p:ph type="title"/>
          </p:nvPr>
        </p:nvSpPr>
        <p:spPr>
          <a:xfrm>
            <a:off x="950142" y="2720529"/>
            <a:ext cx="10698933" cy="1065540"/>
          </a:xfrm>
          <a:prstGeom prst="rect">
            <a:avLst/>
          </a:prstGeom>
          <a:noFill/>
          <a:ln>
            <a:noFill/>
          </a:ln>
        </p:spPr>
        <p:txBody>
          <a:bodyPr anchorCtr="0" anchor="ctr" bIns="36000" lIns="91425" spcFirstLastPara="1" rIns="91425" wrap="square" tIns="36000">
            <a:normAutofit/>
          </a:bodyPr>
          <a:lstStyle/>
          <a:p>
            <a:pPr indent="0" lvl="0" marL="0" rtl="0" algn="l">
              <a:lnSpc>
                <a:spcPct val="100000"/>
              </a:lnSpc>
              <a:spcBef>
                <a:spcPts val="0"/>
              </a:spcBef>
              <a:spcAft>
                <a:spcPts val="0"/>
              </a:spcAft>
              <a:buNone/>
            </a:pPr>
            <a:r>
              <a:rPr lang="es-MX"/>
              <a:t>¡Gracias!</a:t>
            </a:r>
            <a:endParaRPr b="0"/>
          </a:p>
        </p:txBody>
      </p:sp>
      <p:sp>
        <p:nvSpPr>
          <p:cNvPr id="1377" name="Google Shape;1377;p91"/>
          <p:cNvSpPr txBox="1"/>
          <p:nvPr/>
        </p:nvSpPr>
        <p:spPr>
          <a:xfrm>
            <a:off x="1016817" y="3838575"/>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Open Sans"/>
              <a:buNone/>
            </a:pPr>
            <a:r>
              <a:rPr i="0" lang="es-MX" sz="1600" u="none" cap="none" strike="noStrike">
                <a:solidFill>
                  <a:srgbClr val="FFFFFF"/>
                </a:solidFill>
                <a:latin typeface="Open Sans"/>
                <a:ea typeface="Open Sans"/>
                <a:cs typeface="Open Sans"/>
                <a:sym typeface="Open Sans"/>
              </a:rPr>
              <a:t>Enero 2026</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92"/>
          <p:cNvSpPr txBox="1"/>
          <p:nvPr/>
        </p:nvSpPr>
        <p:spPr>
          <a:xfrm>
            <a:off x="410646" y="2942312"/>
            <a:ext cx="10698933" cy="1065540"/>
          </a:xfrm>
          <a:prstGeom prst="rect">
            <a:avLst/>
          </a:prstGeom>
          <a:noFill/>
          <a:ln>
            <a:noFill/>
          </a:ln>
        </p:spPr>
        <p:txBody>
          <a:bodyPr anchorCtr="0" anchor="t" bIns="45700" lIns="91425" spcFirstLastPara="1" rIns="91425" wrap="square" tIns="45700">
            <a:noAutofit/>
          </a:bodyPr>
          <a:lstStyle/>
          <a:p>
            <a:pPr indent="0" lvl="0" marL="0" marR="0" rtl="0" algn="l">
              <a:lnSpc>
                <a:spcPct val="101125"/>
              </a:lnSpc>
              <a:spcBef>
                <a:spcPts val="0"/>
              </a:spcBef>
              <a:spcAft>
                <a:spcPts val="0"/>
              </a:spcAft>
              <a:buNone/>
            </a:pPr>
            <a:r>
              <a:rPr b="1" lang="es-MX" sz="2400">
                <a:solidFill>
                  <a:schemeClr val="lt1"/>
                </a:solidFill>
                <a:latin typeface="Open Sans"/>
                <a:ea typeface="Open Sans"/>
                <a:cs typeface="Open Sans"/>
                <a:sym typeface="Open Sans"/>
              </a:rPr>
              <a:t>Construcción de ejemplo - Modelo de madurez</a:t>
            </a:r>
            <a:br>
              <a:rPr b="1" lang="es-MX" sz="2400">
                <a:solidFill>
                  <a:schemeClr val="lt1"/>
                </a:solidFill>
                <a:latin typeface="Open Sans"/>
                <a:ea typeface="Open Sans"/>
                <a:cs typeface="Open Sans"/>
                <a:sym typeface="Open Sans"/>
              </a:rPr>
            </a:br>
            <a:r>
              <a:rPr b="0" lang="es-MX" sz="2400">
                <a:solidFill>
                  <a:schemeClr val="lt1"/>
                </a:solidFill>
                <a:latin typeface="Open Sans"/>
                <a:ea typeface="Open Sans"/>
                <a:cs typeface="Open Sans"/>
                <a:sym typeface="Open Sans"/>
              </a:rPr>
              <a:t>Fit for Purpose OXXO MX</a:t>
            </a:r>
            <a:endParaRPr/>
          </a:p>
        </p:txBody>
      </p:sp>
      <p:sp>
        <p:nvSpPr>
          <p:cNvPr id="1383" name="Google Shape;1383;p92"/>
          <p:cNvSpPr txBox="1"/>
          <p:nvPr/>
        </p:nvSpPr>
        <p:spPr>
          <a:xfrm>
            <a:off x="450325" y="3669298"/>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Open Sans"/>
              <a:buNone/>
            </a:pPr>
            <a:r>
              <a:rPr i="0" lang="es-MX" sz="1600" u="none" cap="none" strike="noStrike">
                <a:solidFill>
                  <a:schemeClr val="lt1"/>
                </a:solidFill>
                <a:latin typeface="Open Sans"/>
                <a:ea typeface="Open Sans"/>
                <a:cs typeface="Open Sans"/>
                <a:sym typeface="Open Sans"/>
              </a:rPr>
              <a:t>Enero 2026</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93"/>
          <p:cNvSpPr txBox="1"/>
          <p:nvPr>
            <p:ph type="title"/>
          </p:nvPr>
        </p:nvSpPr>
        <p:spPr>
          <a:xfrm>
            <a:off x="419501" y="3167229"/>
            <a:ext cx="11352998" cy="369332"/>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sz="1800">
                <a:solidFill>
                  <a:srgbClr val="DE0230"/>
                </a:solidFill>
              </a:rPr>
              <a:t>Matriz RASCI | </a:t>
            </a:r>
            <a:r>
              <a:rPr i="1" lang="es-MX" sz="1800"/>
              <a:t>Modelo de Madurez</a:t>
            </a:r>
            <a:endParaRPr/>
          </a:p>
        </p:txBody>
      </p:sp>
      <p:graphicFrame>
        <p:nvGraphicFramePr>
          <p:cNvPr id="1389" name="Google Shape;1389;p93"/>
          <p:cNvGraphicFramePr/>
          <p:nvPr/>
        </p:nvGraphicFramePr>
        <p:xfrm>
          <a:off x="1279070" y="3534584"/>
          <a:ext cx="3000000" cy="3000000"/>
        </p:xfrm>
        <a:graphic>
          <a:graphicData uri="http://schemas.openxmlformats.org/drawingml/2006/table">
            <a:tbl>
              <a:tblPr>
                <a:noFill/>
                <a:tableStyleId>{59F1A6B1-18B9-4B87-B458-7A3E6594CA7B}</a:tableStyleId>
              </a:tblPr>
              <a:tblGrid>
                <a:gridCol w="2130350"/>
                <a:gridCol w="1018275"/>
                <a:gridCol w="1018275"/>
                <a:gridCol w="509150"/>
                <a:gridCol w="509150"/>
                <a:gridCol w="509150"/>
                <a:gridCol w="509150"/>
                <a:gridCol w="1018275"/>
                <a:gridCol w="1018275"/>
                <a:gridCol w="1018275"/>
                <a:gridCol w="860700"/>
              </a:tblGrid>
              <a:tr h="48865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Excelencia Operativa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359325">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Definición del marco de madurez operativa</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359325">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Diagnóstico de madurez por proceso / territorio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359325">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Priorización de brechas y planes de evolución</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359325">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Despliegue de iniciativas de madurez</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r>
              <a:tr h="359325">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Medición, seguimiento y certificación de madurez</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r h="359325">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Evolución y ajuste del modelo de madurez</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1390" name="Google Shape;1390;p93"/>
          <p:cNvSpPr txBox="1"/>
          <p:nvPr/>
        </p:nvSpPr>
        <p:spPr>
          <a:xfrm>
            <a:off x="213144" y="348435"/>
            <a:ext cx="11352998"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DE0230"/>
              </a:buClr>
              <a:buSzPts val="1800"/>
              <a:buFont typeface="Open Sans"/>
              <a:buNone/>
            </a:pPr>
            <a:r>
              <a:rPr lang="es-MX" sz="1800">
                <a:solidFill>
                  <a:srgbClr val="DE0230"/>
                </a:solidFill>
                <a:latin typeface="Open Sans"/>
                <a:ea typeface="Open Sans"/>
                <a:cs typeface="Open Sans"/>
                <a:sym typeface="Open Sans"/>
              </a:rPr>
              <a:t>   Objetivo de la sesión                                     Dinámica                                                            Roles RASCI </a:t>
            </a:r>
            <a:endParaRPr i="1" sz="1800">
              <a:solidFill>
                <a:srgbClr val="000000"/>
              </a:solidFill>
              <a:latin typeface="Open Sans"/>
              <a:ea typeface="Open Sans"/>
              <a:cs typeface="Open Sans"/>
              <a:sym typeface="Open Sans"/>
            </a:endParaRPr>
          </a:p>
        </p:txBody>
      </p:sp>
      <p:sp>
        <p:nvSpPr>
          <p:cNvPr id="1391" name="Google Shape;1391;p93"/>
          <p:cNvSpPr txBox="1"/>
          <p:nvPr/>
        </p:nvSpPr>
        <p:spPr>
          <a:xfrm>
            <a:off x="213144" y="1185484"/>
            <a:ext cx="381021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200" u="none" strike="noStrike">
                <a:solidFill>
                  <a:srgbClr val="1D3433"/>
                </a:solidFill>
                <a:latin typeface="Arial"/>
                <a:ea typeface="Arial"/>
                <a:cs typeface="Arial"/>
                <a:sym typeface="Arial"/>
              </a:rPr>
              <a:t>Construir ejemplos claros para roles RASCI aplicados al modelo de madurez operativa, </a:t>
            </a:r>
            <a:endParaRPr/>
          </a:p>
          <a:p>
            <a:pPr indent="0" lvl="0" marL="0" marR="0" rtl="0" algn="l">
              <a:spcBef>
                <a:spcPts val="0"/>
              </a:spcBef>
              <a:spcAft>
                <a:spcPts val="0"/>
              </a:spcAft>
              <a:buNone/>
            </a:pPr>
            <a:r>
              <a:rPr b="1" i="0" lang="es-MX" sz="1200" u="none" strike="noStrike">
                <a:solidFill>
                  <a:srgbClr val="1D3433"/>
                </a:solidFill>
                <a:latin typeface="Arial"/>
                <a:ea typeface="Arial"/>
                <a:cs typeface="Arial"/>
                <a:sym typeface="Arial"/>
              </a:rPr>
              <a:t>facilitando comprensión práctica.</a:t>
            </a:r>
            <a:r>
              <a:rPr b="1" i="0" lang="es-MX" sz="1200">
                <a:solidFill>
                  <a:srgbClr val="000000"/>
                </a:solidFill>
                <a:latin typeface="Arial"/>
                <a:ea typeface="Arial"/>
                <a:cs typeface="Arial"/>
                <a:sym typeface="Arial"/>
              </a:rPr>
              <a:t>​</a:t>
            </a:r>
            <a:endParaRPr b="1" sz="1200">
              <a:solidFill>
                <a:schemeClr val="dk1"/>
              </a:solidFill>
              <a:latin typeface="Open Sans"/>
              <a:ea typeface="Open Sans"/>
              <a:cs typeface="Open Sans"/>
              <a:sym typeface="Open Sans"/>
            </a:endParaRPr>
          </a:p>
        </p:txBody>
      </p:sp>
      <p:sp>
        <p:nvSpPr>
          <p:cNvPr id="1392" name="Google Shape;1392;p93"/>
          <p:cNvSpPr txBox="1"/>
          <p:nvPr/>
        </p:nvSpPr>
        <p:spPr>
          <a:xfrm>
            <a:off x="3666743" y="1117793"/>
            <a:ext cx="3801189"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Conocer y alinear Matriz RASCI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Desarrollar un ejemplo que genere </a:t>
            </a:r>
            <a:r>
              <a:rPr b="1" lang="es-MX" sz="1200">
                <a:solidFill>
                  <a:srgbClr val="1D3433"/>
                </a:solidFill>
                <a:latin typeface="Arial"/>
                <a:ea typeface="Arial"/>
                <a:cs typeface="Arial"/>
                <a:sym typeface="Arial"/>
              </a:rPr>
              <a:t>claridad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Integrar ejemplo a WS  </a:t>
            </a:r>
            <a:r>
              <a:rPr b="1" lang="es-MX" sz="1200">
                <a:solidFill>
                  <a:srgbClr val="1D3433"/>
                </a:solidFill>
                <a:latin typeface="Arial"/>
                <a:ea typeface="Arial"/>
                <a:cs typeface="Arial"/>
                <a:sym typeface="Arial"/>
              </a:rPr>
              <a:t>- Efectividad Organizacional</a:t>
            </a:r>
            <a:endParaRPr b="1" sz="1200">
              <a:solidFill>
                <a:schemeClr val="dk1"/>
              </a:solidFill>
              <a:latin typeface="Open Sans"/>
              <a:ea typeface="Open Sans"/>
              <a:cs typeface="Open Sans"/>
              <a:sym typeface="Open Sans"/>
            </a:endParaRPr>
          </a:p>
        </p:txBody>
      </p:sp>
      <p:cxnSp>
        <p:nvCxnSpPr>
          <p:cNvPr id="1393" name="Google Shape;1393;p93"/>
          <p:cNvCxnSpPr/>
          <p:nvPr/>
        </p:nvCxnSpPr>
        <p:spPr>
          <a:xfrm>
            <a:off x="3675888" y="395878"/>
            <a:ext cx="0" cy="2196000"/>
          </a:xfrm>
          <a:prstGeom prst="straightConnector1">
            <a:avLst/>
          </a:prstGeom>
          <a:noFill/>
          <a:ln cap="flat" cmpd="sng" w="12700">
            <a:solidFill>
              <a:schemeClr val="dk1"/>
            </a:solidFill>
            <a:prstDash val="dash"/>
            <a:round/>
            <a:headEnd len="sm" w="sm" type="none"/>
            <a:tailEnd len="sm" w="sm" type="none"/>
          </a:ln>
        </p:spPr>
      </p:cxnSp>
      <p:pic>
        <p:nvPicPr>
          <p:cNvPr descr="Interfaz de usuario gráfica, Aplicación, Sitio web&#10;&#10;El contenido generado por IA puede ser incorrecto." id="1394" name="Google Shape;1394;p93"/>
          <p:cNvPicPr preferRelativeResize="0"/>
          <p:nvPr/>
        </p:nvPicPr>
        <p:blipFill rotWithShape="1">
          <a:blip r:embed="rId3">
            <a:alphaModFix/>
          </a:blip>
          <a:srcRect b="39364" l="6535" r="4456" t="10433"/>
          <a:stretch/>
        </p:blipFill>
        <p:spPr>
          <a:xfrm>
            <a:off x="7531942" y="643550"/>
            <a:ext cx="3890028" cy="1582106"/>
          </a:xfrm>
          <a:prstGeom prst="rect">
            <a:avLst/>
          </a:prstGeom>
          <a:noFill/>
          <a:ln>
            <a:noFill/>
          </a:ln>
        </p:spPr>
      </p:pic>
      <p:pic>
        <p:nvPicPr>
          <p:cNvPr descr="Interfaz de usuario gráfica, Aplicación, Sitio web&#10;&#10;El contenido generado por IA puede ser incorrecto." id="1395" name="Google Shape;1395;p93"/>
          <p:cNvPicPr preferRelativeResize="0"/>
          <p:nvPr/>
        </p:nvPicPr>
        <p:blipFill rotWithShape="1">
          <a:blip r:embed="rId3">
            <a:alphaModFix/>
          </a:blip>
          <a:srcRect b="6191" l="6535" r="4456" t="61874"/>
          <a:stretch/>
        </p:blipFill>
        <p:spPr>
          <a:xfrm>
            <a:off x="7531942" y="2213861"/>
            <a:ext cx="3890028" cy="1006374"/>
          </a:xfrm>
          <a:prstGeom prst="rect">
            <a:avLst/>
          </a:prstGeom>
          <a:noFill/>
          <a:ln>
            <a:noFill/>
          </a:ln>
        </p:spPr>
      </p:pic>
      <p:cxnSp>
        <p:nvCxnSpPr>
          <p:cNvPr id="1396" name="Google Shape;1396;p93"/>
          <p:cNvCxnSpPr/>
          <p:nvPr/>
        </p:nvCxnSpPr>
        <p:spPr>
          <a:xfrm>
            <a:off x="7308324" y="395878"/>
            <a:ext cx="0" cy="2196000"/>
          </a:xfrm>
          <a:prstGeom prst="straightConnector1">
            <a:avLst/>
          </a:prstGeom>
          <a:noFill/>
          <a:ln cap="flat" cmpd="sng" w="12700">
            <a:solidFill>
              <a:schemeClr val="dk1"/>
            </a:solidFill>
            <a:prstDash val="dash"/>
            <a:round/>
            <a:headEnd len="sm" w="sm" type="none"/>
            <a:tailEnd len="sm" w="sm" type="none"/>
          </a:ln>
        </p:spPr>
      </p:cxnSp>
      <p:sp>
        <p:nvSpPr>
          <p:cNvPr id="1397" name="Google Shape;1397;p93"/>
          <p:cNvSpPr/>
          <p:nvPr/>
        </p:nvSpPr>
        <p:spPr>
          <a:xfrm>
            <a:off x="977101" y="4138746"/>
            <a:ext cx="212651" cy="223283"/>
          </a:xfrm>
          <a:prstGeom prst="ellipse">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MX" sz="900">
                <a:solidFill>
                  <a:schemeClr val="lt1"/>
                </a:solidFill>
                <a:latin typeface="Arial"/>
                <a:ea typeface="Arial"/>
                <a:cs typeface="Arial"/>
                <a:sym typeface="Arial"/>
              </a:rPr>
              <a:t>1</a:t>
            </a:r>
            <a:endParaRPr/>
          </a:p>
        </p:txBody>
      </p:sp>
      <p:sp>
        <p:nvSpPr>
          <p:cNvPr id="1398" name="Google Shape;1398;p93"/>
          <p:cNvSpPr/>
          <p:nvPr/>
        </p:nvSpPr>
        <p:spPr>
          <a:xfrm>
            <a:off x="977101" y="4489929"/>
            <a:ext cx="212651" cy="223283"/>
          </a:xfrm>
          <a:prstGeom prst="ellipse">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MX" sz="900">
                <a:solidFill>
                  <a:schemeClr val="lt1"/>
                </a:solidFill>
                <a:latin typeface="Arial"/>
                <a:ea typeface="Arial"/>
                <a:cs typeface="Arial"/>
                <a:sym typeface="Arial"/>
              </a:rPr>
              <a:t>2</a:t>
            </a:r>
            <a:endParaRPr/>
          </a:p>
        </p:txBody>
      </p:sp>
      <p:sp>
        <p:nvSpPr>
          <p:cNvPr id="1399" name="Google Shape;1399;p93"/>
          <p:cNvSpPr/>
          <p:nvPr/>
        </p:nvSpPr>
        <p:spPr>
          <a:xfrm>
            <a:off x="977101" y="4841112"/>
            <a:ext cx="212651" cy="223283"/>
          </a:xfrm>
          <a:prstGeom prst="ellipse">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MX" sz="900">
                <a:solidFill>
                  <a:schemeClr val="lt1"/>
                </a:solidFill>
                <a:latin typeface="Arial"/>
                <a:ea typeface="Arial"/>
                <a:cs typeface="Arial"/>
                <a:sym typeface="Arial"/>
              </a:rPr>
              <a:t>3</a:t>
            </a:r>
            <a:endParaRPr/>
          </a:p>
        </p:txBody>
      </p:sp>
      <p:sp>
        <p:nvSpPr>
          <p:cNvPr id="1400" name="Google Shape;1400;p93"/>
          <p:cNvSpPr/>
          <p:nvPr/>
        </p:nvSpPr>
        <p:spPr>
          <a:xfrm>
            <a:off x="977101" y="5192295"/>
            <a:ext cx="212651" cy="223283"/>
          </a:xfrm>
          <a:prstGeom prst="ellipse">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MX" sz="900">
                <a:solidFill>
                  <a:schemeClr val="lt1"/>
                </a:solidFill>
                <a:latin typeface="Arial"/>
                <a:ea typeface="Arial"/>
                <a:cs typeface="Arial"/>
                <a:sym typeface="Arial"/>
              </a:rPr>
              <a:t>4</a:t>
            </a:r>
            <a:endParaRPr/>
          </a:p>
        </p:txBody>
      </p:sp>
      <p:sp>
        <p:nvSpPr>
          <p:cNvPr id="1401" name="Google Shape;1401;p93"/>
          <p:cNvSpPr/>
          <p:nvPr/>
        </p:nvSpPr>
        <p:spPr>
          <a:xfrm>
            <a:off x="977101" y="5543478"/>
            <a:ext cx="212651" cy="223283"/>
          </a:xfrm>
          <a:prstGeom prst="ellipse">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MX" sz="900">
                <a:solidFill>
                  <a:schemeClr val="lt1"/>
                </a:solidFill>
                <a:latin typeface="Arial"/>
                <a:ea typeface="Arial"/>
                <a:cs typeface="Arial"/>
                <a:sym typeface="Arial"/>
              </a:rPr>
              <a:t>5</a:t>
            </a:r>
            <a:endParaRPr/>
          </a:p>
        </p:txBody>
      </p:sp>
      <p:sp>
        <p:nvSpPr>
          <p:cNvPr id="1402" name="Google Shape;1402;p93"/>
          <p:cNvSpPr/>
          <p:nvPr/>
        </p:nvSpPr>
        <p:spPr>
          <a:xfrm>
            <a:off x="977101" y="5946836"/>
            <a:ext cx="212651" cy="223283"/>
          </a:xfrm>
          <a:prstGeom prst="ellipse">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MX" sz="900">
                <a:solidFill>
                  <a:schemeClr val="lt1"/>
                </a:solidFill>
                <a:latin typeface="Arial"/>
                <a:ea typeface="Arial"/>
                <a:cs typeface="Arial"/>
                <a:sym typeface="Arial"/>
              </a:rPr>
              <a:t>6</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7" name="Shape 1407"/>
        <p:cNvGrpSpPr/>
        <p:nvPr/>
      </p:nvGrpSpPr>
      <p:grpSpPr>
        <a:xfrm>
          <a:off x="0" y="0"/>
          <a:ext cx="0" cy="0"/>
          <a:chOff x="0" y="0"/>
          <a:chExt cx="0" cy="0"/>
        </a:xfrm>
      </p:grpSpPr>
      <p:sp>
        <p:nvSpPr>
          <p:cNvPr id="1408" name="Google Shape;1408;p94"/>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t>EJEMPLO</a:t>
            </a:r>
            <a:endParaRPr/>
          </a:p>
        </p:txBody>
      </p:sp>
      <p:sp>
        <p:nvSpPr>
          <p:cNvPr id="1409" name="Google Shape;1409;p94"/>
          <p:cNvSpPr txBox="1"/>
          <p:nvPr/>
        </p:nvSpPr>
        <p:spPr>
          <a:xfrm>
            <a:off x="652272" y="1104638"/>
            <a:ext cx="147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Open Sans"/>
                <a:ea typeface="Open Sans"/>
                <a:cs typeface="Open Sans"/>
                <a:sym typeface="Open Sans"/>
              </a:rPr>
              <a:t>Tarea</a:t>
            </a:r>
            <a:endParaRPr/>
          </a:p>
        </p:txBody>
      </p:sp>
      <p:sp>
        <p:nvSpPr>
          <p:cNvPr id="1410" name="Google Shape;1410;p94"/>
          <p:cNvSpPr/>
          <p:nvPr/>
        </p:nvSpPr>
        <p:spPr>
          <a:xfrm>
            <a:off x="1856232" y="969264"/>
            <a:ext cx="9674352" cy="64008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graphicFrame>
        <p:nvGraphicFramePr>
          <p:cNvPr id="1411" name="Google Shape;1411;p94"/>
          <p:cNvGraphicFramePr/>
          <p:nvPr/>
        </p:nvGraphicFramePr>
        <p:xfrm>
          <a:off x="729996" y="1866501"/>
          <a:ext cx="3000000" cy="3000000"/>
        </p:xfrm>
        <a:graphic>
          <a:graphicData uri="http://schemas.openxmlformats.org/drawingml/2006/table">
            <a:tbl>
              <a:tblPr bandRow="1" firstRow="1">
                <a:noFill/>
                <a:tableStyleId>{813A3F68-93AB-42EE-8F31-6030AA077254}</a:tableStyleId>
              </a:tblPr>
              <a:tblGrid>
                <a:gridCol w="1637125"/>
                <a:gridCol w="2799250"/>
                <a:gridCol w="6364225"/>
              </a:tblGrid>
              <a:tr h="370850">
                <a:tc>
                  <a:txBody>
                    <a:bodyPr/>
                    <a:lstStyle/>
                    <a:p>
                      <a:pPr indent="-177800" lvl="0" marL="177800" marR="0" rtl="0" algn="l">
                        <a:spcBef>
                          <a:spcPts val="0"/>
                        </a:spcBef>
                        <a:spcAft>
                          <a:spcPts val="0"/>
                        </a:spcAft>
                        <a:buClr>
                          <a:schemeClr val="dk1"/>
                        </a:buClr>
                        <a:buSzPts val="1200"/>
                        <a:buFont typeface="Arial"/>
                        <a:buChar char="•"/>
                      </a:pPr>
                      <a:r>
                        <a:rPr lang="es-MX" sz="1200"/>
                        <a:t>Rol</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Área/Puesto </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Actividad a realizar</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Accountable</a:t>
                      </a:r>
                      <a:endParaRPr sz="1200">
                        <a:latin typeface="Arial"/>
                        <a:ea typeface="Arial"/>
                        <a:cs typeface="Arial"/>
                        <a:sym typeface="Arial"/>
                      </a:endParaRPr>
                    </a:p>
                  </a:txBody>
                  <a:tcPr marT="45725" marB="45725" marR="91450" marL="91450">
                    <a:solidFill>
                      <a:schemeClr val="lt1"/>
                    </a:solidFill>
                  </a:tcPr>
                </a:tc>
                <a:tc>
                  <a:txBody>
                    <a:bodyPr/>
                    <a:lstStyle/>
                    <a:p>
                      <a:pPr indent="-177800" lvl="0" marL="177800" marR="0" rtl="0" algn="l">
                        <a:spcBef>
                          <a:spcPts val="0"/>
                        </a:spcBef>
                        <a:spcAft>
                          <a:spcPts val="0"/>
                        </a:spcAft>
                        <a:buClr>
                          <a:schemeClr val="dk1"/>
                        </a:buClr>
                        <a:buSzPts val="1200"/>
                        <a:buFont typeface="Arial"/>
                        <a:buChar char="•"/>
                      </a:pPr>
                      <a:r>
                        <a:rPr lang="es-MX" sz="1200"/>
                        <a:t>Excelencia Operativa</a:t>
                      </a:r>
                      <a:endParaRPr sz="1200">
                        <a:latin typeface="Arial"/>
                        <a:ea typeface="Arial"/>
                        <a:cs typeface="Arial"/>
                        <a:sym typeface="Arial"/>
                      </a:endParaRPr>
                    </a:p>
                  </a:txBody>
                  <a:tcPr marT="45725" marB="45725" marR="91450" marL="91450">
                    <a:solidFill>
                      <a:schemeClr val="lt1"/>
                    </a:solidFill>
                  </a:tcPr>
                </a:tc>
                <a:tc>
                  <a:txBody>
                    <a:bodyPr/>
                    <a:lstStyle/>
                    <a:p>
                      <a:pPr indent="-177800" lvl="0" marL="177800" marR="0" rtl="0" algn="l">
                        <a:spcBef>
                          <a:spcPts val="0"/>
                        </a:spcBef>
                        <a:spcAft>
                          <a:spcPts val="0"/>
                        </a:spcAft>
                        <a:buClr>
                          <a:schemeClr val="dk1"/>
                        </a:buClr>
                        <a:buSzPts val="1200"/>
                        <a:buFont typeface="Arial"/>
                        <a:buChar char="•"/>
                      </a:pPr>
                      <a:r>
                        <a:rPr lang="es-MX" sz="1200"/>
                        <a:t>Define y valida que se utilicen las herramientas y criterios definidos de evaluación, y se asegura que a la Operación entienda el funcionamiento de evaluación para contar con información valiosa que aporte al éxito de la implementación.</a:t>
                      </a:r>
                      <a:endParaRPr sz="1200">
                        <a:latin typeface="Arial"/>
                        <a:ea typeface="Arial"/>
                        <a:cs typeface="Arial"/>
                        <a:sym typeface="Arial"/>
                      </a:endParaRPr>
                    </a:p>
                  </a:txBody>
                  <a:tcPr marT="45725" marB="45725" marR="91450" marL="91450">
                    <a:solidFill>
                      <a:schemeClr val="lt1"/>
                    </a:solidFill>
                  </a:tcPr>
                </a:tc>
              </a:tr>
              <a:tr h="370850">
                <a:tc>
                  <a:txBody>
                    <a:bodyPr/>
                    <a:lstStyle/>
                    <a:p>
                      <a:pPr indent="-177800" lvl="0" marL="177800" marR="0" rtl="0" algn="l">
                        <a:spcBef>
                          <a:spcPts val="0"/>
                        </a:spcBef>
                        <a:spcAft>
                          <a:spcPts val="0"/>
                        </a:spcAft>
                        <a:buClr>
                          <a:schemeClr val="dk1"/>
                        </a:buClr>
                        <a:buSzPts val="1200"/>
                        <a:buFont typeface="Arial"/>
                        <a:buChar char="•"/>
                      </a:pPr>
                      <a:r>
                        <a:rPr lang="es-MX" sz="1200"/>
                        <a:t>Responsable</a:t>
                      </a:r>
                      <a:endParaRPr sz="1200">
                        <a:latin typeface="Arial"/>
                        <a:ea typeface="Arial"/>
                        <a:cs typeface="Arial"/>
                        <a:sym typeface="Arial"/>
                      </a:endParaRPr>
                    </a:p>
                  </a:txBody>
                  <a:tcPr marT="45725" marB="45725" marR="91450" marL="91450">
                    <a:solidFill>
                      <a:schemeClr val="lt1"/>
                    </a:solidFill>
                  </a:tcPr>
                </a:tc>
                <a:tc>
                  <a:txBody>
                    <a:bodyPr/>
                    <a:lstStyle/>
                    <a:p>
                      <a:pPr indent="-177800" lvl="0" marL="177800" marR="0" rtl="0" algn="l">
                        <a:spcBef>
                          <a:spcPts val="0"/>
                        </a:spcBef>
                        <a:spcAft>
                          <a:spcPts val="0"/>
                        </a:spcAft>
                        <a:buClr>
                          <a:schemeClr val="dk1"/>
                        </a:buClr>
                        <a:buSzPts val="1200"/>
                        <a:buFont typeface="Arial"/>
                        <a:buChar char="•"/>
                      </a:pPr>
                      <a:r>
                        <a:rPr lang="es-MX" sz="1200"/>
                        <a:t>Operaciones – Gerente Plaza y Región</a:t>
                      </a:r>
                      <a:endParaRPr/>
                    </a:p>
                    <a:p>
                      <a:pPr indent="-177800" lvl="0" marL="177800" marR="0" rtl="0" algn="l">
                        <a:spcBef>
                          <a:spcPts val="1200"/>
                        </a:spcBef>
                        <a:spcAft>
                          <a:spcPts val="0"/>
                        </a:spcAft>
                        <a:buClr>
                          <a:schemeClr val="dk1"/>
                        </a:buClr>
                        <a:buSzPts val="1200"/>
                        <a:buFont typeface="Arial"/>
                        <a:buChar char="•"/>
                      </a:pPr>
                      <a:r>
                        <a:rPr lang="es-MX" sz="1200"/>
                        <a:t>Cadena de Suministro – Gerente CEDIS</a:t>
                      </a:r>
                      <a:endParaRPr sz="1200">
                        <a:latin typeface="Arial"/>
                        <a:ea typeface="Arial"/>
                        <a:cs typeface="Arial"/>
                        <a:sym typeface="Arial"/>
                      </a:endParaRPr>
                    </a:p>
                  </a:txBody>
                  <a:tcPr marT="45725" marB="45725" marR="91450" marL="91450">
                    <a:solidFill>
                      <a:schemeClr val="lt1"/>
                    </a:solidFill>
                  </a:tcPr>
                </a:tc>
                <a:tc>
                  <a:txBody>
                    <a:bodyPr/>
                    <a:lstStyle/>
                    <a:p>
                      <a:pPr indent="-171450" lvl="0" marL="171450" marR="0" rtl="0" algn="l">
                        <a:spcBef>
                          <a:spcPts val="0"/>
                        </a:spcBef>
                        <a:spcAft>
                          <a:spcPts val="0"/>
                        </a:spcAft>
                        <a:buClr>
                          <a:schemeClr val="dk1"/>
                        </a:buClr>
                        <a:buSzPts val="1200"/>
                        <a:buFont typeface="Arial"/>
                        <a:buChar char="-"/>
                      </a:pPr>
                      <a:r>
                        <a:rPr b="1" lang="es-MX" sz="1200"/>
                        <a:t>Operaciones</a:t>
                      </a:r>
                      <a:r>
                        <a:rPr lang="es-MX" sz="1200"/>
                        <a:t>: Organiza en plaza visita de 10 tiendas, aplica check list oficial de evaluación, toma fotografías y da retroalimentación a Asesor en caso de tener desviaciones.</a:t>
                      </a:r>
                      <a:endParaRPr/>
                    </a:p>
                    <a:p>
                      <a:pPr indent="-171450" lvl="0" marL="171450" marR="0" rtl="0" algn="l">
                        <a:spcBef>
                          <a:spcPts val="1200"/>
                        </a:spcBef>
                        <a:spcAft>
                          <a:spcPts val="0"/>
                        </a:spcAft>
                        <a:buClr>
                          <a:schemeClr val="dk1"/>
                        </a:buClr>
                        <a:buSzPts val="1200"/>
                        <a:buFont typeface="Arial"/>
                        <a:buChar char="-"/>
                      </a:pPr>
                      <a:r>
                        <a:rPr b="1" lang="es-MX" sz="1200"/>
                        <a:t>CS</a:t>
                      </a:r>
                      <a:r>
                        <a:rPr lang="es-MX" sz="1200"/>
                        <a:t>: Analiza tiempos de entrega y nivel de servicio en las Tiendas de los productos, así como devoluciones realizadas posterior a implementación.</a:t>
                      </a:r>
                      <a:endParaRPr sz="1200">
                        <a:latin typeface="Arial"/>
                        <a:ea typeface="Arial"/>
                        <a:cs typeface="Arial"/>
                        <a:sym typeface="Arial"/>
                      </a:endParaRPr>
                    </a:p>
                  </a:txBody>
                  <a:tcPr marT="45725" marB="45725" marR="91450" marL="91450">
                    <a:solidFill>
                      <a:schemeClr val="lt1"/>
                    </a:solidFill>
                  </a:tcPr>
                </a:tc>
              </a:tr>
              <a:tr h="370850">
                <a:tc>
                  <a:txBody>
                    <a:bodyPr/>
                    <a:lstStyle/>
                    <a:p>
                      <a:pPr indent="-177800" lvl="0" marL="177800" marR="0" rtl="0" algn="l">
                        <a:spcBef>
                          <a:spcPts val="0"/>
                        </a:spcBef>
                        <a:spcAft>
                          <a:spcPts val="0"/>
                        </a:spcAft>
                        <a:buClr>
                          <a:schemeClr val="dk1"/>
                        </a:buClr>
                        <a:buSzPts val="1200"/>
                        <a:buFont typeface="Arial"/>
                        <a:buChar char="•"/>
                      </a:pPr>
                      <a:r>
                        <a:rPr lang="es-MX" sz="1200"/>
                        <a:t>Support</a:t>
                      </a:r>
                      <a:endParaRPr sz="1200">
                        <a:latin typeface="Arial"/>
                        <a:ea typeface="Arial"/>
                        <a:cs typeface="Arial"/>
                        <a:sym typeface="Arial"/>
                      </a:endParaRPr>
                    </a:p>
                  </a:txBody>
                  <a:tcPr marT="45725" marB="45725" marR="91450" marL="91450">
                    <a:solidFill>
                      <a:schemeClr val="lt1"/>
                    </a:solidFill>
                  </a:tcPr>
                </a:tc>
                <a:tc>
                  <a:txBody>
                    <a:bodyPr/>
                    <a:lstStyle/>
                    <a:p>
                      <a:pPr indent="-177800" lvl="0" marL="177800" marR="0" rtl="0" algn="l">
                        <a:spcBef>
                          <a:spcPts val="0"/>
                        </a:spcBef>
                        <a:spcAft>
                          <a:spcPts val="0"/>
                        </a:spcAft>
                        <a:buClr>
                          <a:schemeClr val="dk1"/>
                        </a:buClr>
                        <a:buSzPts val="1200"/>
                        <a:buFont typeface="Open Sans"/>
                        <a:buChar char="•"/>
                      </a:pPr>
                      <a:r>
                        <a:rPr lang="es-MX" sz="1200">
                          <a:solidFill>
                            <a:schemeClr val="dk1"/>
                          </a:solidFill>
                          <a:latin typeface="Open Sans"/>
                          <a:ea typeface="Open Sans"/>
                          <a:cs typeface="Open Sans"/>
                          <a:sym typeface="Open Sans"/>
                        </a:rPr>
                        <a:t>Expansión – Abastecimientos</a:t>
                      </a:r>
                      <a:endParaRPr sz="1200">
                        <a:solidFill>
                          <a:schemeClr val="dk1"/>
                        </a:solidFill>
                        <a:latin typeface="Open Sans"/>
                        <a:ea typeface="Open Sans"/>
                        <a:cs typeface="Open Sans"/>
                        <a:sym typeface="Open Sans"/>
                      </a:endParaRPr>
                    </a:p>
                  </a:txBody>
                  <a:tcPr marT="45725" marB="45725" marR="91450" marL="91450">
                    <a:solidFill>
                      <a:schemeClr val="lt1"/>
                    </a:solidFill>
                  </a:tcPr>
                </a:tc>
                <a:tc>
                  <a:txBody>
                    <a:bodyPr/>
                    <a:lstStyle/>
                    <a:p>
                      <a:pPr indent="-171450" lvl="0" marL="171450" marR="0" rtl="0" algn="l">
                        <a:spcBef>
                          <a:spcPts val="0"/>
                        </a:spcBef>
                        <a:spcAft>
                          <a:spcPts val="0"/>
                        </a:spcAft>
                        <a:buClr>
                          <a:schemeClr val="dk1"/>
                        </a:buClr>
                        <a:buSzPts val="1200"/>
                        <a:buFont typeface="Open Sans"/>
                        <a:buChar char="-"/>
                      </a:pPr>
                      <a:r>
                        <a:rPr b="1" lang="es-MX" sz="1200">
                          <a:latin typeface="Open Sans"/>
                          <a:ea typeface="Open Sans"/>
                          <a:cs typeface="Open Sans"/>
                          <a:sym typeface="Open Sans"/>
                        </a:rPr>
                        <a:t>Abastecimientos: </a:t>
                      </a:r>
                      <a:r>
                        <a:rPr b="0" lang="es-MX" sz="1200">
                          <a:latin typeface="Open Sans"/>
                          <a:ea typeface="Open Sans"/>
                          <a:cs typeface="Open Sans"/>
                          <a:sym typeface="Open Sans"/>
                        </a:rPr>
                        <a:t>Consulta por posibles compras a realizar </a:t>
                      </a:r>
                      <a:endParaRPr b="1" sz="1200">
                        <a:latin typeface="Open Sans"/>
                        <a:ea typeface="Open Sans"/>
                        <a:cs typeface="Open Sans"/>
                        <a:sym typeface="Open Sans"/>
                      </a:endParaRPr>
                    </a:p>
                  </a:txBody>
                  <a:tcPr marT="45725" marB="45725" marR="91450" marL="91450">
                    <a:solidFill>
                      <a:schemeClr val="lt1"/>
                    </a:solidFill>
                  </a:tcPr>
                </a:tc>
              </a:tr>
              <a:tr h="548525">
                <a:tc>
                  <a:txBody>
                    <a:bodyPr/>
                    <a:lstStyle/>
                    <a:p>
                      <a:pPr indent="-177800" lvl="0" marL="177800" marR="0" rtl="0" algn="l">
                        <a:spcBef>
                          <a:spcPts val="0"/>
                        </a:spcBef>
                        <a:spcAft>
                          <a:spcPts val="0"/>
                        </a:spcAft>
                        <a:buClr>
                          <a:schemeClr val="dk1"/>
                        </a:buClr>
                        <a:buSzPts val="1200"/>
                        <a:buFont typeface="Arial"/>
                        <a:buChar char="•"/>
                      </a:pPr>
                      <a:r>
                        <a:rPr lang="es-MX" sz="1200"/>
                        <a:t>Consulted</a:t>
                      </a:r>
                      <a:endParaRPr sz="1200">
                        <a:latin typeface="Arial"/>
                        <a:ea typeface="Arial"/>
                        <a:cs typeface="Arial"/>
                        <a:sym typeface="Arial"/>
                      </a:endParaRPr>
                    </a:p>
                  </a:txBody>
                  <a:tcPr marT="45725" marB="45725" marR="91450" marL="91450">
                    <a:solidFill>
                      <a:schemeClr val="lt1"/>
                    </a:solidFill>
                  </a:tcPr>
                </a:tc>
                <a:tc>
                  <a:txBody>
                    <a:bodyPr/>
                    <a:lstStyle/>
                    <a:p>
                      <a:pPr indent="-177800" lvl="0" marL="177800" marR="0" rtl="0" algn="l">
                        <a:spcBef>
                          <a:spcPts val="0"/>
                        </a:spcBef>
                        <a:spcAft>
                          <a:spcPts val="0"/>
                        </a:spcAft>
                        <a:buClr>
                          <a:schemeClr val="dk1"/>
                        </a:buClr>
                        <a:buSzPts val="1200"/>
                        <a:buFont typeface="Arial"/>
                        <a:buChar char="•"/>
                      </a:pPr>
                      <a:r>
                        <a:rPr lang="es-MX" sz="1200"/>
                        <a:t>Customer &amp; MKT</a:t>
                      </a:r>
                      <a:endParaRPr/>
                    </a:p>
                    <a:p>
                      <a:pPr indent="-177800" lvl="0" marL="177800" marR="0" rtl="0" algn="l">
                        <a:spcBef>
                          <a:spcPts val="1200"/>
                        </a:spcBef>
                        <a:spcAft>
                          <a:spcPts val="0"/>
                        </a:spcAft>
                        <a:buClr>
                          <a:schemeClr val="dk1"/>
                        </a:buClr>
                        <a:buSzPts val="1200"/>
                        <a:buFont typeface="Arial"/>
                        <a:buChar char="•"/>
                      </a:pPr>
                      <a:r>
                        <a:rPr lang="es-MX" sz="1200"/>
                        <a:t>Estrategia y Transformación</a:t>
                      </a:r>
                      <a:endParaRPr sz="1200">
                        <a:latin typeface="Arial"/>
                        <a:ea typeface="Arial"/>
                        <a:cs typeface="Arial"/>
                        <a:sym typeface="Arial"/>
                      </a:endParaRPr>
                    </a:p>
                  </a:txBody>
                  <a:tcPr marT="45725" marB="45725" marR="91450" marL="91450">
                    <a:solidFill>
                      <a:schemeClr val="lt1"/>
                    </a:solidFill>
                  </a:tcPr>
                </a:tc>
                <a:tc>
                  <a:txBody>
                    <a:bodyPr/>
                    <a:lstStyle/>
                    <a:p>
                      <a:pPr indent="-171450" lvl="0" marL="171450" marR="0" rtl="0" algn="l">
                        <a:spcBef>
                          <a:spcPts val="0"/>
                        </a:spcBef>
                        <a:spcAft>
                          <a:spcPts val="0"/>
                        </a:spcAft>
                        <a:buClr>
                          <a:schemeClr val="dk1"/>
                        </a:buClr>
                        <a:buSzPts val="1200"/>
                        <a:buFont typeface="Arial"/>
                        <a:buChar char="-"/>
                      </a:pPr>
                      <a:r>
                        <a:rPr b="1" lang="es-MX" sz="1200"/>
                        <a:t>C&amp;M: </a:t>
                      </a:r>
                      <a:r>
                        <a:rPr lang="es-MX" sz="1200"/>
                        <a:t>Procesa resultados y genera reporte de encuestas de satisfacción de empleados, de clientes y tableros donde se muestra comportamiento de ventas e indicadores relacionados (merma, margen, tráfico, etc.) correlacionando comportamientos de tienda, empleados y clientes.</a:t>
                      </a:r>
                      <a:endParaRPr/>
                    </a:p>
                    <a:p>
                      <a:pPr indent="-171450" lvl="0" marL="171450" marR="0" rtl="0" algn="l">
                        <a:spcBef>
                          <a:spcPts val="1200"/>
                        </a:spcBef>
                        <a:spcAft>
                          <a:spcPts val="0"/>
                        </a:spcAft>
                        <a:buClr>
                          <a:schemeClr val="dk1"/>
                        </a:buClr>
                        <a:buSzPts val="1200"/>
                        <a:buFont typeface="Arial"/>
                        <a:buChar char="-"/>
                      </a:pPr>
                      <a:r>
                        <a:rPr b="1" lang="es-MX" sz="1200"/>
                        <a:t>E&amp;T:</a:t>
                      </a:r>
                      <a:r>
                        <a:rPr lang="es-MX" sz="1200"/>
                        <a:t> Utiliza la información generada por C&amp;M para generar análisis de ventas.</a:t>
                      </a:r>
                      <a:endParaRPr sz="1200">
                        <a:latin typeface="Arial"/>
                        <a:ea typeface="Arial"/>
                        <a:cs typeface="Arial"/>
                        <a:sym typeface="Arial"/>
                      </a:endParaRPr>
                    </a:p>
                  </a:txBody>
                  <a:tcPr marT="45725" marB="45725" marR="91450" marL="91450">
                    <a:solidFill>
                      <a:schemeClr val="lt1"/>
                    </a:solidFill>
                  </a:tcPr>
                </a:tc>
              </a:tr>
              <a:tr h="370850">
                <a:tc>
                  <a:txBody>
                    <a:bodyPr/>
                    <a:lstStyle/>
                    <a:p>
                      <a:pPr indent="-177800" lvl="0" marL="177800" marR="0" rtl="0" algn="l">
                        <a:spcBef>
                          <a:spcPts val="0"/>
                        </a:spcBef>
                        <a:spcAft>
                          <a:spcPts val="0"/>
                        </a:spcAft>
                        <a:buClr>
                          <a:schemeClr val="dk1"/>
                        </a:buClr>
                        <a:buSzPts val="1200"/>
                        <a:buFont typeface="Arial"/>
                        <a:buChar char="•"/>
                      </a:pPr>
                      <a:r>
                        <a:rPr lang="es-MX" sz="1200"/>
                        <a:t>Informed</a:t>
                      </a:r>
                      <a:endParaRPr sz="1200">
                        <a:latin typeface="Arial"/>
                        <a:ea typeface="Arial"/>
                        <a:cs typeface="Arial"/>
                        <a:sym typeface="Arial"/>
                      </a:endParaRPr>
                    </a:p>
                  </a:txBody>
                  <a:tcPr marT="45725" marB="45725" marR="91450" marL="91450">
                    <a:solidFill>
                      <a:schemeClr val="lt1"/>
                    </a:solidFill>
                  </a:tcPr>
                </a:tc>
                <a:tc>
                  <a:txBody>
                    <a:bodyPr/>
                    <a:lstStyle/>
                    <a:p>
                      <a:pPr indent="-177800" lvl="0" marL="177800" marR="0" rtl="0" algn="l">
                        <a:spcBef>
                          <a:spcPts val="0"/>
                        </a:spcBef>
                        <a:spcAft>
                          <a:spcPts val="0"/>
                        </a:spcAft>
                        <a:buClr>
                          <a:schemeClr val="dk1"/>
                        </a:buClr>
                        <a:buSzPts val="1200"/>
                        <a:buFont typeface="Arial"/>
                        <a:buChar char="•"/>
                      </a:pPr>
                      <a:r>
                        <a:rPr lang="es-MX" sz="1200"/>
                        <a:t>Comercial</a:t>
                      </a:r>
                      <a:endParaRPr/>
                    </a:p>
                    <a:p>
                      <a:pPr indent="-177800" lvl="0" marL="177800" marR="0" rtl="0" algn="l">
                        <a:spcBef>
                          <a:spcPts val="1200"/>
                        </a:spcBef>
                        <a:spcAft>
                          <a:spcPts val="0"/>
                        </a:spcAft>
                        <a:buClr>
                          <a:schemeClr val="dk1"/>
                        </a:buClr>
                        <a:buSzPts val="1200"/>
                        <a:buFont typeface="Arial"/>
                        <a:buChar char="•"/>
                      </a:pPr>
                      <a:r>
                        <a:rPr lang="es-MX" sz="1200"/>
                        <a:t>Finanzas</a:t>
                      </a:r>
                      <a:endParaRPr/>
                    </a:p>
                    <a:p>
                      <a:pPr indent="-177800" lvl="0" marL="177800" marR="0" rtl="0" algn="l">
                        <a:spcBef>
                          <a:spcPts val="1200"/>
                        </a:spcBef>
                        <a:spcAft>
                          <a:spcPts val="0"/>
                        </a:spcAft>
                        <a:buClr>
                          <a:schemeClr val="dk1"/>
                        </a:buClr>
                        <a:buSzPts val="1200"/>
                        <a:buFont typeface="Arial"/>
                        <a:buChar char="•"/>
                      </a:pPr>
                      <a:r>
                        <a:rPr lang="es-MX" sz="1200"/>
                        <a:t>TI</a:t>
                      </a:r>
                      <a:endParaRPr sz="1200">
                        <a:latin typeface="Arial"/>
                        <a:ea typeface="Arial"/>
                        <a:cs typeface="Arial"/>
                        <a:sym typeface="Arial"/>
                      </a:endParaRPr>
                    </a:p>
                  </a:txBody>
                  <a:tcPr marT="45725" marB="45725" marR="91450" marL="91450">
                    <a:solidFill>
                      <a:schemeClr val="lt1"/>
                    </a:solidFill>
                  </a:tcPr>
                </a:tc>
                <a:tc>
                  <a:txBody>
                    <a:bodyPr/>
                    <a:lstStyle/>
                    <a:p>
                      <a:pPr indent="-171450" lvl="0" marL="171450" marR="0" rtl="0" algn="l">
                        <a:spcBef>
                          <a:spcPts val="0"/>
                        </a:spcBef>
                        <a:spcAft>
                          <a:spcPts val="0"/>
                        </a:spcAft>
                        <a:buClr>
                          <a:schemeClr val="dk1"/>
                        </a:buClr>
                        <a:buSzPts val="1100"/>
                        <a:buFont typeface="Arial"/>
                        <a:buChar char="-"/>
                      </a:pPr>
                      <a:r>
                        <a:rPr b="1" lang="es-MX" sz="1100"/>
                        <a:t>Comercial:</a:t>
                      </a:r>
                      <a:r>
                        <a:rPr lang="es-MX" sz="1100"/>
                        <a:t> Recibe por parte de C&amp;M reporte de ventas para ajuste en metas (incremento).</a:t>
                      </a:r>
                      <a:endParaRPr/>
                    </a:p>
                    <a:p>
                      <a:pPr indent="-171450" lvl="0" marL="171450" marR="0" rtl="0" algn="l">
                        <a:spcBef>
                          <a:spcPts val="1200"/>
                        </a:spcBef>
                        <a:spcAft>
                          <a:spcPts val="0"/>
                        </a:spcAft>
                        <a:buClr>
                          <a:schemeClr val="dk1"/>
                        </a:buClr>
                        <a:buSzPts val="1100"/>
                        <a:buFont typeface="Arial"/>
                        <a:buChar char="-"/>
                      </a:pPr>
                      <a:r>
                        <a:rPr b="1" lang="es-MX" sz="1100"/>
                        <a:t>Finanzas: </a:t>
                      </a:r>
                      <a:r>
                        <a:rPr lang="es-MX" sz="1100"/>
                        <a:t>Calcula y analiza impacto en crecimiento de ventas e informa proyecciones a Dirección.</a:t>
                      </a:r>
                      <a:endParaRPr/>
                    </a:p>
                    <a:p>
                      <a:pPr indent="-171450" lvl="0" marL="171450" marR="0" rtl="0" algn="l">
                        <a:spcBef>
                          <a:spcPts val="1200"/>
                        </a:spcBef>
                        <a:spcAft>
                          <a:spcPts val="0"/>
                        </a:spcAft>
                        <a:buClr>
                          <a:schemeClr val="dk1"/>
                        </a:buClr>
                        <a:buSzPts val="1100"/>
                        <a:buFont typeface="Arial"/>
                        <a:buChar char="-"/>
                      </a:pPr>
                      <a:r>
                        <a:rPr b="1" lang="es-MX" sz="1100"/>
                        <a:t>TI: </a:t>
                      </a:r>
                      <a:r>
                        <a:rPr lang="es-MX" sz="1100"/>
                        <a:t>Revisa los sistemas actuales para garantizar no haya falla en los mismos y entorpezcan el flujo de trabajo.</a:t>
                      </a:r>
                      <a:endParaRPr sz="1100">
                        <a:latin typeface="Arial"/>
                        <a:ea typeface="Arial"/>
                        <a:cs typeface="Arial"/>
                        <a:sym typeface="Arial"/>
                      </a:endParaRPr>
                    </a:p>
                  </a:txBody>
                  <a:tcPr marT="45725" marB="45725" marR="91450" marL="91450">
                    <a:solidFill>
                      <a:schemeClr val="lt1"/>
                    </a:solidFill>
                  </a:tcPr>
                </a:tc>
              </a:tr>
            </a:tbl>
          </a:graphicData>
        </a:graphic>
      </p:graphicFrame>
      <p:sp>
        <p:nvSpPr>
          <p:cNvPr id="1412" name="Google Shape;1412;p94"/>
          <p:cNvSpPr txBox="1"/>
          <p:nvPr/>
        </p:nvSpPr>
        <p:spPr>
          <a:xfrm>
            <a:off x="1934064" y="1027694"/>
            <a:ext cx="951868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400">
                <a:solidFill>
                  <a:schemeClr val="dk1"/>
                </a:solidFill>
                <a:latin typeface="Open Sans"/>
                <a:ea typeface="Open Sans"/>
                <a:cs typeface="Open Sans"/>
                <a:sym typeface="Open Sans"/>
              </a:rPr>
              <a:t>Evaluación de proceso de instalación de nuevas góndolas que su objetivo principal es contar con una mejor exhibición que potencialice la venta en Tiendas.</a:t>
            </a:r>
            <a:endParaRPr/>
          </a:p>
        </p:txBody>
      </p:sp>
      <p:pic>
        <p:nvPicPr>
          <p:cNvPr id="1413" name="Google Shape;1413;p94"/>
          <p:cNvPicPr preferRelativeResize="0"/>
          <p:nvPr/>
        </p:nvPicPr>
        <p:blipFill rotWithShape="1">
          <a:blip r:embed="rId3">
            <a:alphaModFix/>
          </a:blip>
          <a:srcRect b="0" l="0" r="0" t="0"/>
          <a:stretch/>
        </p:blipFill>
        <p:spPr>
          <a:xfrm>
            <a:off x="5193792" y="149395"/>
            <a:ext cx="6998208" cy="741057"/>
          </a:xfrm>
          <a:prstGeom prst="rect">
            <a:avLst/>
          </a:prstGeom>
          <a:noFill/>
          <a:ln>
            <a:noFill/>
          </a:ln>
        </p:spPr>
      </p:pic>
      <p:sp>
        <p:nvSpPr>
          <p:cNvPr id="1414" name="Google Shape;1414;p94"/>
          <p:cNvSpPr/>
          <p:nvPr/>
        </p:nvSpPr>
        <p:spPr>
          <a:xfrm>
            <a:off x="2816352" y="250442"/>
            <a:ext cx="2377440" cy="461665"/>
          </a:xfrm>
          <a:prstGeom prst="rect">
            <a:avLst/>
          </a:prstGeom>
          <a:solidFill>
            <a:srgbClr val="FFC000"/>
          </a:solidFill>
          <a:ln>
            <a:noFill/>
          </a:ln>
        </p:spPr>
        <p:txBody>
          <a:bodyPr anchorCtr="0" anchor="ctr" bIns="36000" lIns="36000" spcFirstLastPara="1" rIns="36000" wrap="square" tIns="36000">
            <a:noAutofit/>
          </a:bodyPr>
          <a:lstStyle/>
          <a:p>
            <a:pPr indent="0" lvl="0" marL="0" marR="0" rtl="0" algn="ctr">
              <a:spcBef>
                <a:spcPts val="0"/>
              </a:spcBef>
              <a:spcAft>
                <a:spcPts val="0"/>
              </a:spcAft>
              <a:buClr>
                <a:schemeClr val="dk1"/>
              </a:buClr>
              <a:buSzPts val="1200"/>
              <a:buFont typeface="Open Sans"/>
              <a:buNone/>
            </a:pPr>
            <a:r>
              <a:rPr lang="es-MX" sz="1200" cap="none" strike="noStrike">
                <a:solidFill>
                  <a:schemeClr val="dk1"/>
                </a:solidFill>
                <a:latin typeface="Open Sans"/>
                <a:ea typeface="Open Sans"/>
                <a:cs typeface="Open Sans"/>
                <a:sym typeface="Open Sans"/>
              </a:rPr>
              <a:t>Ejemplo plateado por Organización</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95"/>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t>Formato construcción de ejemplo</a:t>
            </a:r>
            <a:endParaRPr/>
          </a:p>
        </p:txBody>
      </p:sp>
      <p:sp>
        <p:nvSpPr>
          <p:cNvPr id="1421" name="Google Shape;1421;p95"/>
          <p:cNvSpPr txBox="1"/>
          <p:nvPr/>
        </p:nvSpPr>
        <p:spPr>
          <a:xfrm>
            <a:off x="652272" y="1104638"/>
            <a:ext cx="147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Open Sans"/>
                <a:ea typeface="Open Sans"/>
                <a:cs typeface="Open Sans"/>
                <a:sym typeface="Open Sans"/>
              </a:rPr>
              <a:t>Ejemplo</a:t>
            </a:r>
            <a:endParaRPr/>
          </a:p>
        </p:txBody>
      </p:sp>
      <p:sp>
        <p:nvSpPr>
          <p:cNvPr id="1422" name="Google Shape;1422;p95"/>
          <p:cNvSpPr/>
          <p:nvPr/>
        </p:nvSpPr>
        <p:spPr>
          <a:xfrm>
            <a:off x="1856232" y="969264"/>
            <a:ext cx="9674352" cy="64008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graphicFrame>
        <p:nvGraphicFramePr>
          <p:cNvPr id="1423" name="Google Shape;1423;p95"/>
          <p:cNvGraphicFramePr/>
          <p:nvPr/>
        </p:nvGraphicFramePr>
        <p:xfrm>
          <a:off x="729996" y="1866501"/>
          <a:ext cx="3000000" cy="3000000"/>
        </p:xfrm>
        <a:graphic>
          <a:graphicData uri="http://schemas.openxmlformats.org/drawingml/2006/table">
            <a:tbl>
              <a:tblPr bandRow="1" firstRow="1">
                <a:noFill/>
                <a:tableStyleId>{813A3F68-93AB-42EE-8F31-6030AA077254}</a:tableStyleId>
              </a:tblPr>
              <a:tblGrid>
                <a:gridCol w="1637125"/>
                <a:gridCol w="2799250"/>
                <a:gridCol w="6364225"/>
              </a:tblGrid>
              <a:tr h="370850">
                <a:tc>
                  <a:txBody>
                    <a:bodyPr/>
                    <a:lstStyle/>
                    <a:p>
                      <a:pPr indent="-177800" lvl="0" marL="177800" marR="0" rtl="0" algn="l">
                        <a:spcBef>
                          <a:spcPts val="0"/>
                        </a:spcBef>
                        <a:spcAft>
                          <a:spcPts val="0"/>
                        </a:spcAft>
                        <a:buClr>
                          <a:schemeClr val="dk1"/>
                        </a:buClr>
                        <a:buSzPts val="1200"/>
                        <a:buFont typeface="Arial"/>
                        <a:buChar char="•"/>
                      </a:pPr>
                      <a:r>
                        <a:rPr lang="es-MX" sz="1200"/>
                        <a:t>Rol</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Área/Puesto </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Actividad a realizar</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Accountable</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Excelencia Operativa – Modelo Operativo</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Excelencia Operativa – Procesos Tienda</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Diseñan / definen proceso a llevar a cabo en la Operación (benchmark, diseño de proceso)</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Validan impacto operativo de la decisión (tiempos, habilitación, etc.), entrega de solución a implementar</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Responsable</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Operaciones – Despliegue Operativo</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Despliegue de definición hacia la Operación</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Support</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Regiones</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Brindan input a Despliegue Operativo sobre factibilidad</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Consulted</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Cadena de Suministro – Procesos CdS</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Expansión – Abastecimientos</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Primer punto de contacto para consulta de implicaciones ante una habilitación, retroalimentación en caso de ser necesario </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Consulta (solicitud) de compra en caso de aplicar</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Informed</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Comercial – Categorías</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C&amp;M – Experiencia Cliente</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Información / estatus de implementación de estrategia</a:t>
                      </a:r>
                      <a:endParaRPr/>
                    </a:p>
                    <a:p>
                      <a:pPr indent="-177800" lvl="0" marL="177800" marR="0" rtl="0" algn="l">
                        <a:spcBef>
                          <a:spcPts val="1200"/>
                        </a:spcBef>
                        <a:spcAft>
                          <a:spcPts val="0"/>
                        </a:spcAft>
                        <a:buClr>
                          <a:schemeClr val="dk1"/>
                        </a:buClr>
                        <a:buSzPts val="1200"/>
                        <a:buFont typeface="Arial"/>
                        <a:buChar char="•"/>
                      </a:pPr>
                      <a:r>
                        <a:rPr lang="es-MX" sz="1200">
                          <a:latin typeface="Arial"/>
                          <a:ea typeface="Arial"/>
                          <a:cs typeface="Arial"/>
                          <a:sym typeface="Arial"/>
                        </a:rPr>
                        <a:t>Información de la implementación de la estrategia de acuerdo con inputs de experiencia de cliente</a:t>
                      </a:r>
                      <a:endParaRPr sz="1200">
                        <a:latin typeface="Arial"/>
                        <a:ea typeface="Arial"/>
                        <a:cs typeface="Arial"/>
                        <a:sym typeface="Arial"/>
                      </a:endParaRPr>
                    </a:p>
                  </a:txBody>
                  <a:tcPr marT="45725" marB="45725" marR="91450" marL="91450"/>
                </a:tc>
              </a:tr>
            </a:tbl>
          </a:graphicData>
        </a:graphic>
      </p:graphicFrame>
      <p:sp>
        <p:nvSpPr>
          <p:cNvPr id="1424" name="Google Shape;1424;p95"/>
          <p:cNvSpPr txBox="1"/>
          <p:nvPr/>
        </p:nvSpPr>
        <p:spPr>
          <a:xfrm>
            <a:off x="1934064" y="1027694"/>
            <a:ext cx="951868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400" u="sng" strike="sngStrike">
                <a:solidFill>
                  <a:schemeClr val="dk1"/>
                </a:solidFill>
                <a:latin typeface="Open Sans"/>
                <a:ea typeface="Open Sans"/>
                <a:cs typeface="Open Sans"/>
                <a:sym typeface="Open Sans"/>
              </a:rPr>
              <a:t>Diseño</a:t>
            </a:r>
            <a:r>
              <a:rPr lang="es-MX" sz="1400" u="sng">
                <a:solidFill>
                  <a:schemeClr val="dk1"/>
                </a:solidFill>
                <a:latin typeface="Open Sans"/>
                <a:ea typeface="Open Sans"/>
                <a:cs typeface="Open Sans"/>
                <a:sym typeface="Open Sans"/>
              </a:rPr>
              <a:t> / implementación / definición</a:t>
            </a:r>
            <a:r>
              <a:rPr lang="es-MX" sz="1400">
                <a:solidFill>
                  <a:schemeClr val="dk1"/>
                </a:solidFill>
                <a:latin typeface="Open Sans"/>
                <a:ea typeface="Open Sans"/>
                <a:cs typeface="Open Sans"/>
                <a:sym typeface="Open Sans"/>
              </a:rPr>
              <a:t>…de exhibidores / mobiliario en Tienda</a:t>
            </a:r>
            <a:endParaRPr/>
          </a:p>
        </p:txBody>
      </p:sp>
      <p:sp>
        <p:nvSpPr>
          <p:cNvPr id="1425" name="Google Shape;1425;p95"/>
          <p:cNvSpPr/>
          <p:nvPr/>
        </p:nvSpPr>
        <p:spPr>
          <a:xfrm>
            <a:off x="7132320" y="170361"/>
            <a:ext cx="2377440" cy="461665"/>
          </a:xfrm>
          <a:prstGeom prst="rect">
            <a:avLst/>
          </a:prstGeom>
          <a:solidFill>
            <a:srgbClr val="FFC000"/>
          </a:solidFill>
          <a:ln>
            <a:noFill/>
          </a:ln>
        </p:spPr>
        <p:txBody>
          <a:bodyPr anchorCtr="0" anchor="ctr" bIns="36000" lIns="36000" spcFirstLastPara="1" rIns="36000" wrap="square" tIns="36000">
            <a:noAutofit/>
          </a:bodyPr>
          <a:lstStyle/>
          <a:p>
            <a:pPr indent="0" lvl="0" marL="0" marR="0" rtl="0" algn="ctr">
              <a:spcBef>
                <a:spcPts val="0"/>
              </a:spcBef>
              <a:spcAft>
                <a:spcPts val="0"/>
              </a:spcAft>
              <a:buClr>
                <a:schemeClr val="dk1"/>
              </a:buClr>
              <a:buSzPts val="1200"/>
              <a:buFont typeface="Open Sans"/>
              <a:buNone/>
            </a:pPr>
            <a:r>
              <a:rPr lang="es-MX" sz="1200" cap="none" strike="noStrike">
                <a:solidFill>
                  <a:schemeClr val="dk1"/>
                </a:solidFill>
                <a:latin typeface="Open Sans"/>
                <a:ea typeface="Open Sans"/>
                <a:cs typeface="Open Sans"/>
                <a:sym typeface="Open Sans"/>
              </a:rPr>
              <a:t>Ejemplo desarrollado en la sesión</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9" name="Shape 1429"/>
        <p:cNvGrpSpPr/>
        <p:nvPr/>
      </p:nvGrpSpPr>
      <p:grpSpPr>
        <a:xfrm>
          <a:off x="0" y="0"/>
          <a:ext cx="0" cy="0"/>
          <a:chOff x="0" y="0"/>
          <a:chExt cx="0" cy="0"/>
        </a:xfrm>
      </p:grpSpPr>
      <p:sp>
        <p:nvSpPr>
          <p:cNvPr id="1430" name="Google Shape;1430;p96"/>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t>Formato construcción de ejemplo</a:t>
            </a:r>
            <a:endParaRPr/>
          </a:p>
        </p:txBody>
      </p:sp>
      <p:sp>
        <p:nvSpPr>
          <p:cNvPr id="1431" name="Google Shape;1431;p96"/>
          <p:cNvSpPr txBox="1"/>
          <p:nvPr/>
        </p:nvSpPr>
        <p:spPr>
          <a:xfrm>
            <a:off x="652272" y="1104638"/>
            <a:ext cx="147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Open Sans"/>
                <a:ea typeface="Open Sans"/>
                <a:cs typeface="Open Sans"/>
                <a:sym typeface="Open Sans"/>
              </a:rPr>
              <a:t>Ejemplo</a:t>
            </a:r>
            <a:endParaRPr/>
          </a:p>
        </p:txBody>
      </p:sp>
      <p:sp>
        <p:nvSpPr>
          <p:cNvPr id="1432" name="Google Shape;1432;p96"/>
          <p:cNvSpPr/>
          <p:nvPr/>
        </p:nvSpPr>
        <p:spPr>
          <a:xfrm>
            <a:off x="1856232" y="969264"/>
            <a:ext cx="9674352" cy="64008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graphicFrame>
        <p:nvGraphicFramePr>
          <p:cNvPr id="1433" name="Google Shape;1433;p96"/>
          <p:cNvGraphicFramePr/>
          <p:nvPr/>
        </p:nvGraphicFramePr>
        <p:xfrm>
          <a:off x="729996" y="1866501"/>
          <a:ext cx="3000000" cy="3000000"/>
        </p:xfrm>
        <a:graphic>
          <a:graphicData uri="http://schemas.openxmlformats.org/drawingml/2006/table">
            <a:tbl>
              <a:tblPr bandRow="1" firstRow="1">
                <a:noFill/>
                <a:tableStyleId>{813A3F68-93AB-42EE-8F31-6030AA077254}</a:tableStyleId>
              </a:tblPr>
              <a:tblGrid>
                <a:gridCol w="1637125"/>
                <a:gridCol w="2799250"/>
                <a:gridCol w="6364225"/>
              </a:tblGrid>
              <a:tr h="370850">
                <a:tc>
                  <a:txBody>
                    <a:bodyPr/>
                    <a:lstStyle/>
                    <a:p>
                      <a:pPr indent="-177800" lvl="0" marL="177800" marR="0" rtl="0" algn="l">
                        <a:spcBef>
                          <a:spcPts val="0"/>
                        </a:spcBef>
                        <a:spcAft>
                          <a:spcPts val="0"/>
                        </a:spcAft>
                        <a:buClr>
                          <a:schemeClr val="dk1"/>
                        </a:buClr>
                        <a:buSzPts val="1200"/>
                        <a:buFont typeface="Arial"/>
                        <a:buChar char="•"/>
                      </a:pPr>
                      <a:r>
                        <a:rPr lang="es-MX" sz="1200"/>
                        <a:t>Rol</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Área/Puesto </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Actividad a realizar</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Accountable</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Responsable</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Support</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Consulted</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t>Informed</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bl>
          </a:graphicData>
        </a:graphic>
      </p:graphicFrame>
      <p:sp>
        <p:nvSpPr>
          <p:cNvPr id="1434" name="Google Shape;1434;p96"/>
          <p:cNvSpPr txBox="1"/>
          <p:nvPr/>
        </p:nvSpPr>
        <p:spPr>
          <a:xfrm>
            <a:off x="1934064" y="1027694"/>
            <a:ext cx="951868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400">
                <a:solidFill>
                  <a:schemeClr val="dk1"/>
                </a:solidFill>
                <a:latin typeface="Open Sans"/>
                <a:ea typeface="Open Sans"/>
                <a:cs typeface="Open Sans"/>
                <a:sym typeface="Open Sans"/>
              </a:rPr>
              <a:t>XXX</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9" name="Shape 1439"/>
        <p:cNvGrpSpPr/>
        <p:nvPr/>
      </p:nvGrpSpPr>
      <p:grpSpPr>
        <a:xfrm>
          <a:off x="0" y="0"/>
          <a:ext cx="0" cy="0"/>
          <a:chOff x="0" y="0"/>
          <a:chExt cx="0" cy="0"/>
        </a:xfrm>
      </p:grpSpPr>
      <p:grpSp>
        <p:nvGrpSpPr>
          <p:cNvPr id="1440" name="Google Shape;1440;p97"/>
          <p:cNvGrpSpPr/>
          <p:nvPr/>
        </p:nvGrpSpPr>
        <p:grpSpPr>
          <a:xfrm>
            <a:off x="0" y="6926580"/>
            <a:ext cx="12192000" cy="137160"/>
            <a:chOff x="0" y="6926580"/>
            <a:chExt cx="12192000" cy="137160"/>
          </a:xfrm>
        </p:grpSpPr>
        <p:sp>
          <p:nvSpPr>
            <p:cNvPr id="1441" name="Google Shape;1441;p97"/>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442" name="Google Shape;1442;p97"/>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443" name="Google Shape;1443;p97"/>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444" name="Google Shape;1444;p97"/>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1445" name="Google Shape;1445;p97"/>
          <p:cNvGrpSpPr/>
          <p:nvPr/>
        </p:nvGrpSpPr>
        <p:grpSpPr>
          <a:xfrm>
            <a:off x="0" y="-205740"/>
            <a:ext cx="12192000" cy="137160"/>
            <a:chOff x="0" y="-205740"/>
            <a:chExt cx="12192000" cy="137160"/>
          </a:xfrm>
        </p:grpSpPr>
        <p:sp>
          <p:nvSpPr>
            <p:cNvPr id="1446" name="Google Shape;1446;p97"/>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447" name="Google Shape;1447;p97"/>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448" name="Google Shape;1448;p97"/>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449" name="Google Shape;1449;p97"/>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1450" name="Google Shape;1450;p97"/>
          <p:cNvSpPr txBox="1"/>
          <p:nvPr>
            <p:ph type="title"/>
          </p:nvPr>
        </p:nvSpPr>
        <p:spPr>
          <a:xfrm>
            <a:off x="950142" y="2720529"/>
            <a:ext cx="10698933" cy="1065540"/>
          </a:xfrm>
          <a:prstGeom prst="rect">
            <a:avLst/>
          </a:prstGeom>
          <a:noFill/>
          <a:ln>
            <a:noFill/>
          </a:ln>
        </p:spPr>
        <p:txBody>
          <a:bodyPr anchorCtr="0" anchor="ctr" bIns="36000" lIns="91425" spcFirstLastPara="1" rIns="91425" wrap="square" tIns="36000">
            <a:normAutofit/>
          </a:bodyPr>
          <a:lstStyle/>
          <a:p>
            <a:pPr indent="0" lvl="0" marL="0" rtl="0" algn="l">
              <a:lnSpc>
                <a:spcPct val="100000"/>
              </a:lnSpc>
              <a:spcBef>
                <a:spcPts val="0"/>
              </a:spcBef>
              <a:spcAft>
                <a:spcPts val="0"/>
              </a:spcAft>
              <a:buNone/>
            </a:pPr>
            <a:r>
              <a:rPr lang="es-MX"/>
              <a:t>Capacidades Digitales</a:t>
            </a:r>
            <a:br>
              <a:rPr lang="es-MX"/>
            </a:br>
            <a:r>
              <a:rPr b="0" lang="es-MX"/>
              <a:t>Fit for Purpose OXXO MX</a:t>
            </a:r>
            <a:endParaRPr/>
          </a:p>
        </p:txBody>
      </p:sp>
      <p:sp>
        <p:nvSpPr>
          <p:cNvPr id="1451" name="Google Shape;1451;p97"/>
          <p:cNvSpPr txBox="1"/>
          <p:nvPr/>
        </p:nvSpPr>
        <p:spPr>
          <a:xfrm>
            <a:off x="1016817" y="3838575"/>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Open Sans"/>
              <a:buNone/>
            </a:pPr>
            <a:r>
              <a:rPr i="0" lang="es-MX" sz="1600" u="none" cap="none" strike="noStrike">
                <a:solidFill>
                  <a:srgbClr val="FFFFFF"/>
                </a:solidFill>
                <a:latin typeface="Open Sans"/>
                <a:ea typeface="Open Sans"/>
                <a:cs typeface="Open Sans"/>
                <a:sym typeface="Open Sans"/>
              </a:rPr>
              <a:t>Enero 2026</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5" name="Shape 1455"/>
        <p:cNvGrpSpPr/>
        <p:nvPr/>
      </p:nvGrpSpPr>
      <p:grpSpPr>
        <a:xfrm>
          <a:off x="0" y="0"/>
          <a:ext cx="0" cy="0"/>
          <a:chOff x="0" y="0"/>
          <a:chExt cx="0" cy="0"/>
        </a:xfrm>
      </p:grpSpPr>
      <p:sp>
        <p:nvSpPr>
          <p:cNvPr id="1456" name="Google Shape;1456;p98"/>
          <p:cNvSpPr txBox="1"/>
          <p:nvPr>
            <p:ph type="title"/>
          </p:nvPr>
        </p:nvSpPr>
        <p:spPr>
          <a:xfrm>
            <a:off x="508799" y="250442"/>
            <a:ext cx="11352999" cy="46166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s-MX">
                <a:solidFill>
                  <a:srgbClr val="DE0230"/>
                </a:solidFill>
              </a:rPr>
              <a:t>Plan Aseguramiento y Estabilización | </a:t>
            </a:r>
            <a:r>
              <a:rPr lang="es-MX"/>
              <a:t>Interacciones Críticas (10)</a:t>
            </a:r>
            <a:endParaRPr/>
          </a:p>
        </p:txBody>
      </p:sp>
      <p:graphicFrame>
        <p:nvGraphicFramePr>
          <p:cNvPr id="1457" name="Google Shape;1457;p98"/>
          <p:cNvGraphicFramePr/>
          <p:nvPr/>
        </p:nvGraphicFramePr>
        <p:xfrm>
          <a:off x="481689" y="899707"/>
          <a:ext cx="3000000" cy="3000000"/>
        </p:xfrm>
        <a:graphic>
          <a:graphicData uri="http://schemas.openxmlformats.org/drawingml/2006/table">
            <a:tbl>
              <a:tblPr>
                <a:solidFill>
                  <a:srgbClr val="F2F2F2"/>
                </a:solidFill>
                <a:tableStyleId>{59F1A6B1-18B9-4B87-B458-7A3E6594CA7B}</a:tableStyleId>
              </a:tblPr>
              <a:tblGrid>
                <a:gridCol w="609700"/>
                <a:gridCol w="3464725"/>
                <a:gridCol w="2647775"/>
                <a:gridCol w="2118425"/>
                <a:gridCol w="2388000"/>
              </a:tblGrid>
              <a:tr h="263125">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Prioridad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Objetivo Principal</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Interacción Crítica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Impacto Estratégico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Responsables Principales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1</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Redefinir el </a:t>
                      </a:r>
                      <a:r>
                        <a:rPr b="1" i="1" lang="es-MX" sz="900" cap="none">
                          <a:solidFill>
                            <a:srgbClr val="7F7F7F"/>
                          </a:solidFill>
                          <a:latin typeface="Arial"/>
                          <a:ea typeface="Arial"/>
                          <a:cs typeface="Arial"/>
                          <a:sym typeface="Arial"/>
                        </a:rPr>
                        <a:t>Customer Value Proposition</a:t>
                      </a:r>
                      <a:r>
                        <a:rPr b="1" lang="es-MX" sz="900" cap="none">
                          <a:solidFill>
                            <a:srgbClr val="7F7F7F"/>
                          </a:solidFill>
                          <a:latin typeface="Arial"/>
                          <a:ea typeface="Arial"/>
                          <a:cs typeface="Arial"/>
                          <a:sym typeface="Arial"/>
                        </a:rPr>
                        <a:t> </a:t>
                      </a:r>
                      <a:r>
                        <a:rPr lang="es-MX" sz="900" cap="none">
                          <a:solidFill>
                            <a:srgbClr val="7F7F7F"/>
                          </a:solidFill>
                          <a:latin typeface="Arial"/>
                          <a:ea typeface="Arial"/>
                          <a:cs typeface="Arial"/>
                          <a:sym typeface="Arial"/>
                        </a:rPr>
                        <a:t>(CVP) y distribuir el ownership del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Customer &amp; Marketing</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Alinea la propuesta de valor al cliente con las estrategias comerciales.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 </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2</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Habilitar </a:t>
                      </a:r>
                      <a:r>
                        <a:rPr b="1" i="1" lang="es-MX" sz="900" cap="none">
                          <a:solidFill>
                            <a:srgbClr val="7F7F7F"/>
                          </a:solidFill>
                          <a:latin typeface="Arial"/>
                          <a:ea typeface="Arial"/>
                          <a:cs typeface="Arial"/>
                          <a:sym typeface="Arial"/>
                        </a:rPr>
                        <a:t>decisiones comerciales de precios, variedad, volumen y márgenes </a:t>
                      </a:r>
                      <a:r>
                        <a:rPr lang="es-MX" sz="900" cap="none">
                          <a:solidFill>
                            <a:srgbClr val="7F7F7F"/>
                          </a:solidFill>
                          <a:latin typeface="Arial"/>
                          <a:ea typeface="Arial"/>
                          <a:cs typeface="Arial"/>
                          <a:sym typeface="Arial"/>
                        </a:rPr>
                        <a:t>con soporte de análisis profundo y detallado.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Commercial Finance (Finanzas) ↔ Data &amp; Analytics (C&amp;M)</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Mejora la rentabilidad comercial y control financiero.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Finanzas</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3</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Integrar la </a:t>
                      </a:r>
                      <a:r>
                        <a:rPr b="1" i="1" lang="es-MX" sz="900" cap="none">
                          <a:solidFill>
                            <a:srgbClr val="7F7F7F"/>
                          </a:solidFill>
                          <a:latin typeface="Arial"/>
                          <a:ea typeface="Arial"/>
                          <a:cs typeface="Arial"/>
                          <a:sym typeface="Arial"/>
                        </a:rPr>
                        <a:t>Voz del Cliente </a:t>
                      </a:r>
                      <a:r>
                        <a:rPr lang="es-MX" sz="900" cap="none">
                          <a:solidFill>
                            <a:srgbClr val="7F7F7F"/>
                          </a:solidFill>
                          <a:latin typeface="Arial"/>
                          <a:ea typeface="Arial"/>
                          <a:cs typeface="Arial"/>
                          <a:sym typeface="Arial"/>
                        </a:rPr>
                        <a:t>en los procesos comerciales end-to-end para mejorar experiencia y ejecución.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Customer &amp; Marketing ↔ Excelencia Operativa</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Conecta diseño comercial con ejecución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Excelencia Operativa</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4</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Implementar la </a:t>
                      </a:r>
                      <a:r>
                        <a:rPr b="1" i="1" lang="es-MX" sz="900" cap="none">
                          <a:solidFill>
                            <a:srgbClr val="7F7F7F"/>
                          </a:solidFill>
                          <a:latin typeface="Arial"/>
                          <a:ea typeface="Arial"/>
                          <a:cs typeface="Arial"/>
                          <a:sym typeface="Arial"/>
                        </a:rPr>
                        <a:t>Value Management Office </a:t>
                      </a:r>
                      <a:r>
                        <a:rPr lang="es-MX" sz="900" cap="none">
                          <a:solidFill>
                            <a:srgbClr val="7F7F7F"/>
                          </a:solidFill>
                          <a:latin typeface="Arial"/>
                          <a:ea typeface="Arial"/>
                          <a:cs typeface="Arial"/>
                          <a:sym typeface="Arial"/>
                        </a:rPr>
                        <a:t>(VMO) y asegurar la inversión, gobernanza, priorización y trazabilidad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Estrategia y Transformación ↔ Todas las Plataformas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Asegura trazabilidad y captura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Estrategia y Transformación</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Finanzas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95250">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5</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Estandarizar el </a:t>
                      </a:r>
                      <a:r>
                        <a:rPr b="1" i="1" lang="es-MX" sz="900" cap="none">
                          <a:solidFill>
                            <a:srgbClr val="7F7F7F"/>
                          </a:solidFill>
                          <a:latin typeface="Arial"/>
                          <a:ea typeface="Arial"/>
                          <a:cs typeface="Arial"/>
                          <a:sym typeface="Arial"/>
                        </a:rPr>
                        <a:t>Modelo de Madurez</a:t>
                      </a:r>
                      <a:r>
                        <a:rPr lang="es-MX" sz="900" cap="none">
                          <a:solidFill>
                            <a:srgbClr val="7F7F7F"/>
                          </a:solidFill>
                          <a:latin typeface="Arial"/>
                          <a:ea typeface="Arial"/>
                          <a:cs typeface="Arial"/>
                          <a:sym typeface="Arial"/>
                        </a:rPr>
                        <a:t> y orquestar el </a:t>
                      </a:r>
                      <a:r>
                        <a:rPr b="1" i="1" lang="es-MX" sz="900" cap="none">
                          <a:solidFill>
                            <a:srgbClr val="7F7F7F"/>
                          </a:solidFill>
                          <a:latin typeface="Arial"/>
                          <a:ea typeface="Arial"/>
                          <a:cs typeface="Arial"/>
                          <a:sym typeface="Arial"/>
                        </a:rPr>
                        <a:t>modelo operativo end-to-end</a:t>
                      </a:r>
                      <a:r>
                        <a:rPr lang="es-MX" sz="900" cap="none">
                          <a:solidFill>
                            <a:srgbClr val="7F7F7F"/>
                          </a:solidFill>
                          <a:latin typeface="Arial"/>
                          <a:ea typeface="Arial"/>
                          <a:cs typeface="Arial"/>
                          <a:sym typeface="Arial"/>
                        </a:rPr>
                        <a:t>, integrando procesos de excelencia, despliegue operativo y cadena de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Excelencia Operativa ↔ Operaciones Nacionales / Despliegue Op. ↔ Procesos Operativos CDS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Fortalece la consistencia operativa y accountability.</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Excelencia Operativa</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Operaciones</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Cadena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6</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Alinear la </a:t>
                      </a:r>
                      <a:r>
                        <a:rPr b="1" i="1" lang="es-MX" sz="900" cap="none">
                          <a:solidFill>
                            <a:srgbClr val="7F7F7F"/>
                          </a:solidFill>
                          <a:latin typeface="Arial"/>
                          <a:ea typeface="Arial"/>
                          <a:cs typeface="Arial"/>
                          <a:sym typeface="Arial"/>
                        </a:rPr>
                        <a:t>planeación financiera </a:t>
                      </a:r>
                      <a:r>
                        <a:rPr lang="es-MX" sz="900" cap="none">
                          <a:solidFill>
                            <a:srgbClr val="7F7F7F"/>
                          </a:solidFill>
                          <a:latin typeface="Arial"/>
                          <a:ea typeface="Arial"/>
                          <a:cs typeface="Arial"/>
                          <a:sym typeface="Arial"/>
                        </a:rPr>
                        <a:t>con el </a:t>
                      </a:r>
                      <a:r>
                        <a:rPr b="1" i="1" lang="es-MX" sz="900" cap="none">
                          <a:solidFill>
                            <a:srgbClr val="7F7F7F"/>
                          </a:solidFill>
                          <a:latin typeface="Arial"/>
                          <a:ea typeface="Arial"/>
                          <a:cs typeface="Arial"/>
                          <a:sym typeface="Arial"/>
                        </a:rPr>
                        <a:t>portafolio estratégico </a:t>
                      </a:r>
                      <a:r>
                        <a:rPr lang="es-MX" sz="900" cap="none">
                          <a:solidFill>
                            <a:srgbClr val="7F7F7F"/>
                          </a:solidFill>
                          <a:latin typeface="Arial"/>
                          <a:ea typeface="Arial"/>
                          <a:cs typeface="Arial"/>
                          <a:sym typeface="Arial"/>
                        </a:rPr>
                        <a:t>y la medición de beneficios.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Finanzas ↔ Estrategia y Transformación</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Fortalece la disciplina de inversión y valor generado.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Finanzas</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chemeClr val="dk1"/>
                        </a:buClr>
                        <a:buSzPts val="900"/>
                        <a:buFont typeface="Arial"/>
                        <a:buNone/>
                      </a:pPr>
                      <a:r>
                        <a:rPr b="1" lang="es-MX" sz="900" cap="none">
                          <a:solidFill>
                            <a:schemeClr val="dk1"/>
                          </a:solidFill>
                          <a:latin typeface="Arial"/>
                          <a:ea typeface="Arial"/>
                          <a:cs typeface="Arial"/>
                          <a:sym typeface="Arial"/>
                        </a:rPr>
                        <a:t>7</a:t>
                      </a:r>
                      <a:endParaRPr sz="900" cap="none">
                        <a:solidFill>
                          <a:schemeClr val="dk1"/>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Consolidar </a:t>
                      </a:r>
                      <a:r>
                        <a:rPr b="1" i="1" lang="es-MX" sz="900" cap="none">
                          <a:solidFill>
                            <a:schemeClr val="dk1"/>
                          </a:solidFill>
                          <a:latin typeface="Arial"/>
                          <a:ea typeface="Arial"/>
                          <a:cs typeface="Arial"/>
                          <a:sym typeface="Arial"/>
                        </a:rPr>
                        <a:t>capacidades digitales </a:t>
                      </a:r>
                      <a:r>
                        <a:rPr lang="es-MX" sz="900" cap="none">
                          <a:solidFill>
                            <a:schemeClr val="dk1"/>
                          </a:solidFill>
                          <a:latin typeface="Arial"/>
                          <a:ea typeface="Arial"/>
                          <a:cs typeface="Arial"/>
                          <a:sym typeface="Arial"/>
                        </a:rPr>
                        <a:t>y analítica avanzada para habilitar </a:t>
                      </a:r>
                      <a:r>
                        <a:rPr b="1" i="1" lang="es-MX" sz="900" cap="none">
                          <a:solidFill>
                            <a:schemeClr val="dk1"/>
                          </a:solidFill>
                          <a:latin typeface="Arial"/>
                          <a:ea typeface="Arial"/>
                          <a:cs typeface="Arial"/>
                          <a:sym typeface="Arial"/>
                        </a:rPr>
                        <a:t>omnicanalidad</a:t>
                      </a:r>
                      <a:r>
                        <a:rPr lang="es-MX" sz="900" cap="none">
                          <a:solidFill>
                            <a:schemeClr val="dk1"/>
                          </a:solidFill>
                          <a:latin typeface="Arial"/>
                          <a:ea typeface="Arial"/>
                          <a:cs typeface="Arial"/>
                          <a:sym typeface="Arial"/>
                        </a:rPr>
                        <a:t> y segmentación dinámica.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b="1" lang="es-MX" sz="900" cap="none">
                          <a:solidFill>
                            <a:schemeClr val="dk1"/>
                          </a:solidFill>
                          <a:latin typeface="Arial"/>
                          <a:ea typeface="Arial"/>
                          <a:cs typeface="Arial"/>
                          <a:sym typeface="Arial"/>
                        </a:rPr>
                        <a:t>TI ↔ Customer &amp; Marketing ↔ Todas las Plataformas</a:t>
                      </a:r>
                      <a:endParaRPr sz="900" cap="none">
                        <a:solidFill>
                          <a:schemeClr val="dk1"/>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Digitalización del core y habilitación de experiencia al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lnSpc>
                          <a:spcPct val="100000"/>
                        </a:lnSpc>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Dir. TI OXXO MX</a:t>
                      </a:r>
                      <a:endParaRPr/>
                    </a:p>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8</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i="1" lang="es-MX" sz="900" cap="none">
                          <a:solidFill>
                            <a:srgbClr val="7F7F7F"/>
                          </a:solidFill>
                          <a:latin typeface="Arial"/>
                          <a:ea typeface="Arial"/>
                          <a:cs typeface="Arial"/>
                          <a:sym typeface="Arial"/>
                        </a:rPr>
                        <a:t>Integración de Expansión </a:t>
                      </a:r>
                      <a:r>
                        <a:rPr lang="es-MX" sz="900" cap="none">
                          <a:solidFill>
                            <a:srgbClr val="7F7F7F"/>
                          </a:solidFill>
                          <a:latin typeface="Arial"/>
                          <a:ea typeface="Arial"/>
                          <a:cs typeface="Arial"/>
                          <a:sym typeface="Arial"/>
                        </a:rPr>
                        <a:t>bajo el modelo operativo para fortalecer gobernanza, sostenibilidad y velocidad de apertura.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Expansión ↔ Operaciones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Maximiza sinergias en aperturas, batting y sostenibilidad.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Operaciones</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Expansión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9</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Integración de </a:t>
                      </a:r>
                      <a:r>
                        <a:rPr b="1" lang="es-MX" sz="900" cap="none">
                          <a:solidFill>
                            <a:srgbClr val="7F7F7F"/>
                          </a:solidFill>
                          <a:latin typeface="Arial"/>
                          <a:ea typeface="Arial"/>
                          <a:cs typeface="Arial"/>
                          <a:sym typeface="Arial"/>
                        </a:rPr>
                        <a:t>Operaciones Foodservice </a:t>
                      </a:r>
                      <a:r>
                        <a:rPr lang="es-MX" sz="900" cap="none">
                          <a:solidFill>
                            <a:srgbClr val="7F7F7F"/>
                          </a:solidFill>
                          <a:latin typeface="Arial"/>
                          <a:ea typeface="Arial"/>
                          <a:cs typeface="Arial"/>
                          <a:sym typeface="Arial"/>
                        </a:rPr>
                        <a:t>a </a:t>
                      </a:r>
                      <a:r>
                        <a:rPr b="1" lang="es-MX" sz="900" cap="none">
                          <a:solidFill>
                            <a:srgbClr val="7F7F7F"/>
                          </a:solidFill>
                          <a:latin typeface="Arial"/>
                          <a:ea typeface="Arial"/>
                          <a:cs typeface="Arial"/>
                          <a:sym typeface="Arial"/>
                        </a:rPr>
                        <a:t>Operaciones Tiendas </a:t>
                      </a:r>
                      <a:r>
                        <a:rPr b="0" lang="es-MX" sz="900" cap="none">
                          <a:solidFill>
                            <a:srgbClr val="7F7F7F"/>
                          </a:solidFill>
                          <a:latin typeface="Arial"/>
                          <a:ea typeface="Arial"/>
                          <a:cs typeface="Arial"/>
                          <a:sym typeface="Arial"/>
                        </a:rPr>
                        <a:t>para escalar e integrar la ejecución de la propuesta de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Operaciones Nacionales ↔ Excelencia Operativa </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Escalabilidad y alineación operativa de la propuesta de valor integrada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 </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Operaciones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10</a:t>
                      </a:r>
                      <a:endParaRPr b="1"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0" lang="es-MX" sz="900" cap="none">
                          <a:solidFill>
                            <a:srgbClr val="7F7F7F"/>
                          </a:solidFill>
                          <a:latin typeface="Arial"/>
                          <a:ea typeface="Arial"/>
                          <a:cs typeface="Arial"/>
                          <a:sym typeface="Arial"/>
                        </a:rPr>
                        <a:t>Propuesta de valor de </a:t>
                      </a:r>
                      <a:r>
                        <a:rPr b="1" lang="es-MX" sz="900" cap="none">
                          <a:solidFill>
                            <a:srgbClr val="7F7F7F"/>
                          </a:solidFill>
                          <a:latin typeface="Arial"/>
                          <a:ea typeface="Arial"/>
                          <a:cs typeface="Arial"/>
                          <a:sym typeface="Arial"/>
                        </a:rPr>
                        <a:t>Servicios Comerciales </a:t>
                      </a:r>
                      <a:r>
                        <a:rPr b="0" lang="es-MX" sz="900" cap="none">
                          <a:solidFill>
                            <a:srgbClr val="7F7F7F"/>
                          </a:solidFill>
                          <a:latin typeface="Arial"/>
                          <a:ea typeface="Arial"/>
                          <a:cs typeface="Arial"/>
                          <a:sym typeface="Arial"/>
                        </a:rPr>
                        <a:t>independiente, alineada a la estrategia de negocio y </a:t>
                      </a:r>
                      <a:r>
                        <a:rPr b="1" lang="es-MX" sz="900" cap="none">
                          <a:solidFill>
                            <a:srgbClr val="7F7F7F"/>
                          </a:solidFill>
                          <a:latin typeface="Arial"/>
                          <a:ea typeface="Arial"/>
                          <a:cs typeface="Arial"/>
                          <a:sym typeface="Arial"/>
                        </a:rPr>
                        <a:t>en sinergia con Ejecución Comercial</a:t>
                      </a:r>
                      <a:endParaRPr b="1"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Ejecución Comercial (Comercial) ↔ Servicios Comerciales (E&amp;T)</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Propuesta de valor de Servicios Comerciales en línea con la estrategia de negocio</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1" name="Shape 1461"/>
        <p:cNvGrpSpPr/>
        <p:nvPr/>
      </p:nvGrpSpPr>
      <p:grpSpPr>
        <a:xfrm>
          <a:off x="0" y="0"/>
          <a:ext cx="0" cy="0"/>
          <a:chOff x="0" y="0"/>
          <a:chExt cx="0" cy="0"/>
        </a:xfrm>
      </p:grpSpPr>
      <p:sp>
        <p:nvSpPr>
          <p:cNvPr id="1462" name="Google Shape;1462;p99"/>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Capacidades Digitales</a:t>
            </a:r>
            <a:endParaRPr/>
          </a:p>
        </p:txBody>
      </p:sp>
      <p:sp>
        <p:nvSpPr>
          <p:cNvPr id="1463" name="Google Shape;1463;p99"/>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1464" name="Google Shape;1464;p99"/>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517225"/>
                <a:gridCol w="517225"/>
                <a:gridCol w="1034475"/>
                <a:gridCol w="1034475"/>
                <a:gridCol w="1034475"/>
                <a:gridCol w="1034475"/>
                <a:gridCol w="1034475"/>
                <a:gridCol w="437200"/>
                <a:gridCol w="4372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r>
              <a:tr h="541350">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Gobierno y priorización del roadmap digital y analítico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Definición de arquitectura digital y plataformas de datos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Gestión de datos, analítica avanzada y segmentación</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Diseño de experiencias omnicanal y journeys digitales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Implementación de soluciones digitales y tecnológicas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r>
              <a:tr h="541350">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Gobierno de calidad, seguridad y despliegues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r>
              <a:tr h="541350">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Medición de valor, desempeño y adopción digital</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r>
            </a:tbl>
          </a:graphicData>
        </a:graphic>
      </p:graphicFrame>
      <p:sp>
        <p:nvSpPr>
          <p:cNvPr id="1465" name="Google Shape;1465;p99"/>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a:t>
            </a:r>
            <a:endParaRPr/>
          </a:p>
        </p:txBody>
      </p:sp>
      <p:sp>
        <p:nvSpPr>
          <p:cNvPr id="1466" name="Google Shape;1466;p99"/>
          <p:cNvSpPr/>
          <p:nvPr/>
        </p:nvSpPr>
        <p:spPr>
          <a:xfrm>
            <a:off x="394585" y="19332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2</a:t>
            </a:r>
            <a:endParaRPr/>
          </a:p>
        </p:txBody>
      </p:sp>
      <p:sp>
        <p:nvSpPr>
          <p:cNvPr id="1467" name="Google Shape;1467;p99"/>
          <p:cNvSpPr/>
          <p:nvPr/>
        </p:nvSpPr>
        <p:spPr>
          <a:xfrm>
            <a:off x="394585" y="24797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3</a:t>
            </a:r>
            <a:endParaRPr/>
          </a:p>
        </p:txBody>
      </p:sp>
      <p:sp>
        <p:nvSpPr>
          <p:cNvPr id="1468" name="Google Shape;1468;p99"/>
          <p:cNvSpPr/>
          <p:nvPr/>
        </p:nvSpPr>
        <p:spPr>
          <a:xfrm>
            <a:off x="394585" y="30263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4</a:t>
            </a:r>
            <a:endParaRPr/>
          </a:p>
        </p:txBody>
      </p:sp>
      <p:sp>
        <p:nvSpPr>
          <p:cNvPr id="1469" name="Google Shape;1469;p99"/>
          <p:cNvSpPr/>
          <p:nvPr/>
        </p:nvSpPr>
        <p:spPr>
          <a:xfrm>
            <a:off x="394585" y="35728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5</a:t>
            </a:r>
            <a:endParaRPr/>
          </a:p>
        </p:txBody>
      </p:sp>
      <p:sp>
        <p:nvSpPr>
          <p:cNvPr id="1470" name="Google Shape;1470;p99"/>
          <p:cNvSpPr/>
          <p:nvPr/>
        </p:nvSpPr>
        <p:spPr>
          <a:xfrm>
            <a:off x="394585" y="41194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6</a:t>
            </a:r>
            <a:endParaRPr/>
          </a:p>
        </p:txBody>
      </p:sp>
      <p:sp>
        <p:nvSpPr>
          <p:cNvPr id="1471" name="Google Shape;1471;p99"/>
          <p:cNvSpPr/>
          <p:nvPr/>
        </p:nvSpPr>
        <p:spPr>
          <a:xfrm>
            <a:off x="394585" y="46659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7</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100"/>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Capacidades Digitales</a:t>
            </a:r>
            <a:endParaRPr/>
          </a:p>
        </p:txBody>
      </p:sp>
      <p:sp>
        <p:nvSpPr>
          <p:cNvPr id="1477" name="Google Shape;1477;p100"/>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478" name="Google Shape;1478;p100"/>
          <p:cNvSpPr/>
          <p:nvPr/>
        </p:nvSpPr>
        <p:spPr>
          <a:xfrm>
            <a:off x="1668982" y="4047471"/>
            <a:ext cx="9979679" cy="595293"/>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y Cadena de Suministro: </a:t>
            </a:r>
            <a:r>
              <a:rPr lang="es-MX" sz="1000">
                <a:solidFill>
                  <a:schemeClr val="dk1"/>
                </a:solidFill>
                <a:latin typeface="Open Sans"/>
                <a:ea typeface="Open Sans"/>
                <a:cs typeface="Open Sans"/>
                <a:sym typeface="Open Sans"/>
              </a:rPr>
              <a:t>Conocen el roadmap para anticipar impactos operativos y preparan capacidades sin intervenir en la decisión.</a:t>
            </a:r>
            <a:endParaRPr/>
          </a:p>
        </p:txBody>
      </p:sp>
      <p:sp>
        <p:nvSpPr>
          <p:cNvPr id="1479" name="Google Shape;1479;p100"/>
          <p:cNvSpPr/>
          <p:nvPr/>
        </p:nvSpPr>
        <p:spPr>
          <a:xfrm>
            <a:off x="1668983" y="2733679"/>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Custodia la alineación del roadmap con la estrategia corporativa y prioridades de transformación, asegura balance entre corto, mediano y largo plazo en la agenda digital y gobierna la cadencia de priorización y toma de decisiones.</a:t>
            </a:r>
            <a:endParaRPr/>
          </a:p>
        </p:txBody>
      </p:sp>
      <p:sp>
        <p:nvSpPr>
          <p:cNvPr id="1480" name="Google Shape;1480;p100"/>
          <p:cNvSpPr/>
          <p:nvPr/>
        </p:nvSpPr>
        <p:spPr>
          <a:xfrm>
            <a:off x="1668982" y="3395506"/>
            <a:ext cx="9979679" cy="595293"/>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Aporta impacto en ejecución comercial y categorías, reta prioridades desde la realidad de mercado.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Aporta restricciones, riesgos y trade-offs económicos y da contexto financiero para priorización.</a:t>
            </a:r>
            <a:endParaRPr/>
          </a:p>
        </p:txBody>
      </p:sp>
      <p:sp>
        <p:nvSpPr>
          <p:cNvPr id="1481" name="Google Shape;1481;p100"/>
          <p:cNvSpPr/>
          <p:nvPr/>
        </p:nvSpPr>
        <p:spPr>
          <a:xfrm>
            <a:off x="470554" y="1938403"/>
            <a:ext cx="1110263" cy="72024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482" name="Google Shape;1482;p100"/>
          <p:cNvSpPr/>
          <p:nvPr/>
        </p:nvSpPr>
        <p:spPr>
          <a:xfrm>
            <a:off x="470554" y="2733680"/>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483" name="Google Shape;1483;p100"/>
          <p:cNvSpPr/>
          <p:nvPr/>
        </p:nvSpPr>
        <p:spPr>
          <a:xfrm>
            <a:off x="470554" y="4047470"/>
            <a:ext cx="1110263" cy="58299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484" name="Google Shape;1484;p100"/>
          <p:cNvSpPr/>
          <p:nvPr/>
        </p:nvSpPr>
        <p:spPr>
          <a:xfrm>
            <a:off x="470554" y="3395506"/>
            <a:ext cx="1110263" cy="595293"/>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graphicFrame>
        <p:nvGraphicFramePr>
          <p:cNvPr id="1485" name="Google Shape;1485;p100"/>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Gobierno y priorización del roadmap digital y analítico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r>
            </a:tbl>
          </a:graphicData>
        </a:graphic>
      </p:graphicFrame>
      <p:sp>
        <p:nvSpPr>
          <p:cNvPr id="1486" name="Google Shape;1486;p100"/>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a:t>
            </a:r>
            <a:endParaRPr/>
          </a:p>
        </p:txBody>
      </p:sp>
      <p:sp>
        <p:nvSpPr>
          <p:cNvPr id="1487" name="Google Shape;1487;p100"/>
          <p:cNvSpPr/>
          <p:nvPr/>
        </p:nvSpPr>
        <p:spPr>
          <a:xfrm>
            <a:off x="1668982" y="1946902"/>
            <a:ext cx="9979679" cy="720243"/>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Traduce prioridades estratégicas en roadmap tecnológico viable, asegura factibilidad técnica, dependencias y secuencia y anticipa riesgos de capacidad y arquitectura.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y Marketing: </a:t>
            </a:r>
            <a:r>
              <a:rPr lang="es-MX" sz="1000">
                <a:solidFill>
                  <a:schemeClr val="dk1"/>
                </a:solidFill>
                <a:latin typeface="Open Sans"/>
                <a:ea typeface="Open Sans"/>
                <a:cs typeface="Open Sans"/>
                <a:sym typeface="Open Sans"/>
              </a:rPr>
              <a:t>Representa necesidades de negocio, cliente y omnicanalidad, prioriza desde valor al cliente y uso de analítica y asegura foco en experiencia y segmentación.</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1" name="Shape 1491"/>
        <p:cNvGrpSpPr/>
        <p:nvPr/>
      </p:nvGrpSpPr>
      <p:grpSpPr>
        <a:xfrm>
          <a:off x="0" y="0"/>
          <a:ext cx="0" cy="0"/>
          <a:chOff x="0" y="0"/>
          <a:chExt cx="0" cy="0"/>
        </a:xfrm>
      </p:grpSpPr>
      <p:sp>
        <p:nvSpPr>
          <p:cNvPr id="1492" name="Google Shape;1492;p101"/>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Capacidades Digitales</a:t>
            </a:r>
            <a:endParaRPr/>
          </a:p>
        </p:txBody>
      </p:sp>
      <p:sp>
        <p:nvSpPr>
          <p:cNvPr id="1493" name="Google Shape;1493;p101"/>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494" name="Google Shape;1494;p101"/>
          <p:cNvSpPr/>
          <p:nvPr/>
        </p:nvSpPr>
        <p:spPr>
          <a:xfrm>
            <a:off x="1668982" y="3910311"/>
            <a:ext cx="9979679" cy="595293"/>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Operaciones, Cadena de Suministro y Finanzas: </a:t>
            </a:r>
            <a:r>
              <a:rPr lang="es-MX" sz="1000">
                <a:solidFill>
                  <a:schemeClr val="dk1"/>
                </a:solidFill>
                <a:latin typeface="Open Sans"/>
                <a:ea typeface="Open Sans"/>
                <a:cs typeface="Open Sans"/>
                <a:sym typeface="Open Sans"/>
              </a:rPr>
              <a:t>Requieren visibilidad para entender capacidades y límites tecnológicos, usan la arquitectura como marco de referencia para iniciativas futuras.</a:t>
            </a:r>
            <a:endParaRPr/>
          </a:p>
        </p:txBody>
      </p:sp>
      <p:sp>
        <p:nvSpPr>
          <p:cNvPr id="1495" name="Google Shape;1495;p101"/>
          <p:cNvSpPr/>
          <p:nvPr/>
        </p:nvSpPr>
        <p:spPr>
          <a:xfrm>
            <a:off x="1668983" y="1937727"/>
            <a:ext cx="9979679" cy="1254085"/>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Es dueño de la arquitectura tecnológica y de datos, define estándares, plataformas e integraciones y asegura escalabilidad, seguridad y sostenibilidad.</a:t>
            </a:r>
            <a:endParaRPr/>
          </a:p>
        </p:txBody>
      </p:sp>
      <p:sp>
        <p:nvSpPr>
          <p:cNvPr id="1496" name="Google Shape;1496;p101"/>
          <p:cNvSpPr/>
          <p:nvPr/>
        </p:nvSpPr>
        <p:spPr>
          <a:xfrm>
            <a:off x="1668982" y="3258346"/>
            <a:ext cx="9979679" cy="595293"/>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y Marketing: </a:t>
            </a:r>
            <a:r>
              <a:rPr lang="es-MX" sz="1000">
                <a:solidFill>
                  <a:schemeClr val="dk1"/>
                </a:solidFill>
                <a:latin typeface="Open Sans"/>
                <a:ea typeface="Open Sans"/>
                <a:cs typeface="Open Sans"/>
                <a:sym typeface="Open Sans"/>
              </a:rPr>
              <a:t>Asegura que la arquitectura habilite omnicanalidad y segmentación.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Valida alineación con visión tecnológica de largo plazo.</a:t>
            </a:r>
            <a:endParaRPr/>
          </a:p>
        </p:txBody>
      </p:sp>
      <p:sp>
        <p:nvSpPr>
          <p:cNvPr id="1497" name="Google Shape;1497;p101"/>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498" name="Google Shape;1498;p101"/>
          <p:cNvSpPr/>
          <p:nvPr/>
        </p:nvSpPr>
        <p:spPr>
          <a:xfrm>
            <a:off x="470554" y="2596520"/>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499" name="Google Shape;1499;p101"/>
          <p:cNvSpPr/>
          <p:nvPr/>
        </p:nvSpPr>
        <p:spPr>
          <a:xfrm>
            <a:off x="470554" y="3910310"/>
            <a:ext cx="1110263" cy="58299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500" name="Google Shape;1500;p101"/>
          <p:cNvSpPr/>
          <p:nvPr/>
        </p:nvSpPr>
        <p:spPr>
          <a:xfrm>
            <a:off x="470554" y="3258346"/>
            <a:ext cx="1110263" cy="595293"/>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graphicFrame>
        <p:nvGraphicFramePr>
          <p:cNvPr id="1501" name="Google Shape;1501;p101"/>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437200"/>
                <a:gridCol w="4372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Definición de arquitectura digital y plataformas de datos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r>
            </a:tbl>
          </a:graphicData>
        </a:graphic>
      </p:graphicFrame>
      <p:sp>
        <p:nvSpPr>
          <p:cNvPr id="1502" name="Google Shape;1502;p101"/>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2</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102"/>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Capacidades Digitales</a:t>
            </a:r>
            <a:endParaRPr/>
          </a:p>
        </p:txBody>
      </p:sp>
      <p:sp>
        <p:nvSpPr>
          <p:cNvPr id="1508" name="Google Shape;1508;p102"/>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509" name="Google Shape;1509;p102"/>
          <p:cNvSpPr/>
          <p:nvPr/>
        </p:nvSpPr>
        <p:spPr>
          <a:xfrm>
            <a:off x="1668982" y="3928599"/>
            <a:ext cx="9979679" cy="595293"/>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y Cadena de Suministro: </a:t>
            </a:r>
            <a:r>
              <a:rPr lang="es-MX" sz="1000">
                <a:solidFill>
                  <a:schemeClr val="dk1"/>
                </a:solidFill>
                <a:latin typeface="Open Sans"/>
                <a:ea typeface="Open Sans"/>
                <a:cs typeface="Open Sans"/>
                <a:sym typeface="Open Sans"/>
              </a:rPr>
              <a:t>Conocen segmentaciones para alinear ejecución y ajustan prácticas operativas sin gobernar modelos.</a:t>
            </a:r>
            <a:endParaRPr/>
          </a:p>
        </p:txBody>
      </p:sp>
      <p:sp>
        <p:nvSpPr>
          <p:cNvPr id="1510" name="Google Shape;1510;p102"/>
          <p:cNvSpPr/>
          <p:nvPr/>
        </p:nvSpPr>
        <p:spPr>
          <a:xfrm>
            <a:off x="1668983" y="2614807"/>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y Marketing: </a:t>
            </a:r>
            <a:r>
              <a:rPr lang="es-MX" sz="1000">
                <a:solidFill>
                  <a:schemeClr val="dk1"/>
                </a:solidFill>
                <a:latin typeface="Open Sans"/>
                <a:ea typeface="Open Sans"/>
                <a:cs typeface="Open Sans"/>
                <a:sym typeface="Open Sans"/>
              </a:rPr>
              <a:t>Es dueño de la lógica de segmentación y uso de analítica para cliente, define necesidades de insights, modelos y casos de uso y asegura foco en valor de negocio y CX.</a:t>
            </a:r>
            <a:endParaRPr/>
          </a:p>
        </p:txBody>
      </p:sp>
      <p:sp>
        <p:nvSpPr>
          <p:cNvPr id="1511" name="Google Shape;1511;p102"/>
          <p:cNvSpPr/>
          <p:nvPr/>
        </p:nvSpPr>
        <p:spPr>
          <a:xfrm>
            <a:off x="1668982" y="3276634"/>
            <a:ext cx="9979679" cy="595293"/>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Aporta impacto en ejecución comercial.</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a:t>
            </a:r>
            <a:r>
              <a:rPr lang="es-MX" sz="1000">
                <a:solidFill>
                  <a:schemeClr val="dk1"/>
                </a:solidFill>
                <a:latin typeface="Open Sans"/>
                <a:ea typeface="Open Sans"/>
                <a:cs typeface="Open Sans"/>
                <a:sym typeface="Open Sans"/>
              </a:rPr>
              <a:t>: Valida consistencia de métricas y resultados.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a:t>
            </a:r>
            <a:r>
              <a:rPr lang="es-MX" sz="1000">
                <a:solidFill>
                  <a:schemeClr val="dk1"/>
                </a:solidFill>
                <a:latin typeface="Open Sans"/>
                <a:ea typeface="Open Sans"/>
                <a:cs typeface="Open Sans"/>
                <a:sym typeface="Open Sans"/>
              </a:rPr>
              <a:t>: Usa analítica como insumo estratégico.</a:t>
            </a:r>
            <a:endParaRPr/>
          </a:p>
        </p:txBody>
      </p:sp>
      <p:sp>
        <p:nvSpPr>
          <p:cNvPr id="1512" name="Google Shape;1512;p102"/>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513" name="Google Shape;1513;p102"/>
          <p:cNvSpPr/>
          <p:nvPr/>
        </p:nvSpPr>
        <p:spPr>
          <a:xfrm>
            <a:off x="470554" y="2614808"/>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514" name="Google Shape;1514;p102"/>
          <p:cNvSpPr/>
          <p:nvPr/>
        </p:nvSpPr>
        <p:spPr>
          <a:xfrm>
            <a:off x="470554" y="3928598"/>
            <a:ext cx="1110263" cy="58299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515" name="Google Shape;1515;p102"/>
          <p:cNvSpPr/>
          <p:nvPr/>
        </p:nvSpPr>
        <p:spPr>
          <a:xfrm>
            <a:off x="470554" y="3276634"/>
            <a:ext cx="1110263" cy="595293"/>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1516" name="Google Shape;1516;p102"/>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3</a:t>
            </a:r>
            <a:endParaRPr/>
          </a:p>
        </p:txBody>
      </p:sp>
      <p:graphicFrame>
        <p:nvGraphicFramePr>
          <p:cNvPr id="1517" name="Google Shape;1517;p102"/>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Gestión de datos, analítica avanzada y segmentación</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r>
            </a:tbl>
          </a:graphicData>
        </a:graphic>
      </p:graphicFrame>
      <p:sp>
        <p:nvSpPr>
          <p:cNvPr id="1518" name="Google Shape;1518;p102"/>
          <p:cNvSpPr/>
          <p:nvPr/>
        </p:nvSpPr>
        <p:spPr>
          <a:xfrm>
            <a:off x="1668982" y="1943446"/>
            <a:ext cx="9979679" cy="595293"/>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Implementa plataformas, modelos y pipelines de datos, asegura calidad, disponibilidad y trazabilidad de información y habilita capacidades analíticas.</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2" name="Shape 1522"/>
        <p:cNvGrpSpPr/>
        <p:nvPr/>
      </p:nvGrpSpPr>
      <p:grpSpPr>
        <a:xfrm>
          <a:off x="0" y="0"/>
          <a:ext cx="0" cy="0"/>
          <a:chOff x="0" y="0"/>
          <a:chExt cx="0" cy="0"/>
        </a:xfrm>
      </p:grpSpPr>
      <p:sp>
        <p:nvSpPr>
          <p:cNvPr id="1523" name="Google Shape;1523;p103"/>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Capacidades Digitales</a:t>
            </a:r>
            <a:endParaRPr/>
          </a:p>
        </p:txBody>
      </p:sp>
      <p:sp>
        <p:nvSpPr>
          <p:cNvPr id="1524" name="Google Shape;1524;p103"/>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525" name="Google Shape;1525;p103"/>
          <p:cNvSpPr/>
          <p:nvPr/>
        </p:nvSpPr>
        <p:spPr>
          <a:xfrm>
            <a:off x="1668982" y="4610850"/>
            <a:ext cx="9979679" cy="595293"/>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Ajusta capacidades sin intervenir en el diseño.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Monitorea el valor económico generado o potencial para el journey propuesto.</a:t>
            </a:r>
            <a:endParaRPr b="1" sz="1000">
              <a:solidFill>
                <a:schemeClr val="dk1"/>
              </a:solidFill>
              <a:latin typeface="Open Sans"/>
              <a:ea typeface="Open Sans"/>
              <a:cs typeface="Open Sans"/>
              <a:sym typeface="Open Sans"/>
            </a:endParaRPr>
          </a:p>
        </p:txBody>
      </p:sp>
      <p:sp>
        <p:nvSpPr>
          <p:cNvPr id="1526" name="Google Shape;1526;p103"/>
          <p:cNvSpPr/>
          <p:nvPr/>
        </p:nvSpPr>
        <p:spPr>
          <a:xfrm>
            <a:off x="1668983" y="2614807"/>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y Marketing: </a:t>
            </a:r>
            <a:r>
              <a:rPr lang="es-MX" sz="1000">
                <a:solidFill>
                  <a:schemeClr val="dk1"/>
                </a:solidFill>
                <a:latin typeface="Open Sans"/>
                <a:ea typeface="Open Sans"/>
                <a:cs typeface="Open Sans"/>
                <a:sym typeface="Open Sans"/>
              </a:rPr>
              <a:t>Es dueño del diseño de journeys y experiencia del cliente, define momentos de verdad, fricciones y oportunidades y asegura coherencia omnicanal. Define lineamientos para ejecutar la experiencia en el frente comercial y brinda inputs para aterrizar propuestas en dinámicas de venta y promociones.</a:t>
            </a:r>
            <a:endParaRPr/>
          </a:p>
        </p:txBody>
      </p:sp>
      <p:sp>
        <p:nvSpPr>
          <p:cNvPr id="1527" name="Google Shape;1527;p103"/>
          <p:cNvSpPr/>
          <p:nvPr/>
        </p:nvSpPr>
        <p:spPr>
          <a:xfrm>
            <a:off x="1668982" y="3949741"/>
            <a:ext cx="9979679" cy="595292"/>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a:t>
            </a:r>
            <a:r>
              <a:rPr lang="es-MX" sz="1000">
                <a:solidFill>
                  <a:schemeClr val="dk1"/>
                </a:solidFill>
                <a:latin typeface="Open Sans"/>
                <a:ea typeface="Open Sans"/>
                <a:cs typeface="Open Sans"/>
                <a:sym typeface="Open Sans"/>
              </a:rPr>
              <a:t>: Valida adopción en tienda y retroalimenta ante implicaciones en procesos que impacten la experiencia / journey.</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a:t>
            </a:r>
            <a:r>
              <a:rPr lang="es-MX" sz="1000">
                <a:solidFill>
                  <a:schemeClr val="dk1"/>
                </a:solidFill>
                <a:latin typeface="Open Sans"/>
                <a:ea typeface="Open Sans"/>
                <a:cs typeface="Open Sans"/>
                <a:sym typeface="Open Sans"/>
              </a:rPr>
              <a:t>: Asegura alineación estratégica hacia las prioridades del negocio y valida el valor que genera los cambios / impactos al journey.</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a:t>
            </a:r>
            <a:r>
              <a:rPr lang="es-MX" sz="1000">
                <a:solidFill>
                  <a:schemeClr val="dk1"/>
                </a:solidFill>
                <a:latin typeface="Open Sans"/>
                <a:ea typeface="Open Sans"/>
                <a:cs typeface="Open Sans"/>
                <a:sym typeface="Open Sans"/>
              </a:rPr>
              <a:t> Ayuda en la visibilidad de impactos comerciales desde la cancha de Ejecución Comercial, donde comparte viabilidad de implementación del journey.</a:t>
            </a:r>
            <a:endParaRPr/>
          </a:p>
        </p:txBody>
      </p:sp>
      <p:sp>
        <p:nvSpPr>
          <p:cNvPr id="1528" name="Google Shape;1528;p103"/>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529" name="Google Shape;1529;p103"/>
          <p:cNvSpPr/>
          <p:nvPr/>
        </p:nvSpPr>
        <p:spPr>
          <a:xfrm>
            <a:off x="470554" y="2614808"/>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530" name="Google Shape;1530;p103"/>
          <p:cNvSpPr/>
          <p:nvPr/>
        </p:nvSpPr>
        <p:spPr>
          <a:xfrm>
            <a:off x="470554" y="4610849"/>
            <a:ext cx="1110263" cy="58299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531" name="Google Shape;1531;p103"/>
          <p:cNvSpPr/>
          <p:nvPr/>
        </p:nvSpPr>
        <p:spPr>
          <a:xfrm>
            <a:off x="470554" y="3949741"/>
            <a:ext cx="1110263" cy="595292"/>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1532" name="Google Shape;1532;p103"/>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4</a:t>
            </a:r>
            <a:endParaRPr/>
          </a:p>
        </p:txBody>
      </p:sp>
      <p:sp>
        <p:nvSpPr>
          <p:cNvPr id="1533" name="Google Shape;1533;p103"/>
          <p:cNvSpPr/>
          <p:nvPr/>
        </p:nvSpPr>
        <p:spPr>
          <a:xfrm>
            <a:off x="1668982" y="1943446"/>
            <a:ext cx="9979679" cy="595293"/>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Implementa plataformas, modelos y pipelines de datos, asegura calidad, disponibilidad y trazabilidad de información y habilita capacidades analíticas.</a:t>
            </a:r>
            <a:endParaRPr/>
          </a:p>
        </p:txBody>
      </p:sp>
      <p:graphicFrame>
        <p:nvGraphicFramePr>
          <p:cNvPr id="1534" name="Google Shape;1534;p103"/>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517225"/>
                <a:gridCol w="517225"/>
                <a:gridCol w="1034475"/>
                <a:gridCol w="103447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Diseño de experiencias omnicanal y journeys digitales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r>
            </a:tbl>
          </a:graphicData>
        </a:graphic>
      </p:graphicFrame>
      <p:sp>
        <p:nvSpPr>
          <p:cNvPr id="1535" name="Google Shape;1535;p103"/>
          <p:cNvSpPr/>
          <p:nvPr/>
        </p:nvSpPr>
        <p:spPr>
          <a:xfrm>
            <a:off x="1668983" y="3282061"/>
            <a:ext cx="9979679" cy="595292"/>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a:t>
            </a:r>
            <a:r>
              <a:rPr lang="es-MX" sz="1000">
                <a:solidFill>
                  <a:schemeClr val="dk1"/>
                </a:solidFill>
                <a:latin typeface="Open Sans"/>
                <a:ea typeface="Open Sans"/>
                <a:cs typeface="Open Sans"/>
                <a:sym typeface="Open Sans"/>
              </a:rPr>
              <a:t>: Valida viabilidad tecnológica, conexión con sistemas satélites, prioridad en roadmap tecnológico.</a:t>
            </a:r>
            <a:endParaRPr/>
          </a:p>
        </p:txBody>
      </p:sp>
      <p:sp>
        <p:nvSpPr>
          <p:cNvPr id="1536" name="Google Shape;1536;p103"/>
          <p:cNvSpPr/>
          <p:nvPr/>
        </p:nvSpPr>
        <p:spPr>
          <a:xfrm>
            <a:off x="470554" y="3282061"/>
            <a:ext cx="1110263" cy="595292"/>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104"/>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Capacidades Digitales</a:t>
            </a:r>
            <a:endParaRPr/>
          </a:p>
        </p:txBody>
      </p:sp>
      <p:sp>
        <p:nvSpPr>
          <p:cNvPr id="1542" name="Google Shape;1542;p104"/>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543" name="Google Shape;1543;p104"/>
          <p:cNvSpPr/>
          <p:nvPr/>
        </p:nvSpPr>
        <p:spPr>
          <a:xfrm>
            <a:off x="1668982" y="4303842"/>
            <a:ext cx="9979679" cy="595293"/>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Da seguimiento general al uso de recursos asociados a la implementación y usa la información como insumo para análisis posteriores de valor.</a:t>
            </a:r>
            <a:endParaRPr/>
          </a:p>
        </p:txBody>
      </p:sp>
      <p:sp>
        <p:nvSpPr>
          <p:cNvPr id="1544" name="Google Shape;1544;p104"/>
          <p:cNvSpPr/>
          <p:nvPr/>
        </p:nvSpPr>
        <p:spPr>
          <a:xfrm>
            <a:off x="1668983" y="2724874"/>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Es accountable del cumplimiento integral del delivery tecnológico en alcance, tiempo, calidad y estabilidad, gobierna la ejecución de proveedores, equipos internos y dependencias técnicas y asegura que las soluciones implementadas sean sostenibles, escalables y alineadas a la arquitectura definida.</a:t>
            </a:r>
            <a:endParaRPr/>
          </a:p>
        </p:txBody>
      </p:sp>
      <p:sp>
        <p:nvSpPr>
          <p:cNvPr id="1545" name="Google Shape;1545;p104"/>
          <p:cNvSpPr/>
          <p:nvPr/>
        </p:nvSpPr>
        <p:spPr>
          <a:xfrm>
            <a:off x="1668982" y="3386701"/>
            <a:ext cx="9979679" cy="847310"/>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&amp; Marketing: </a:t>
            </a:r>
            <a:r>
              <a:rPr lang="es-MX" sz="1000">
                <a:solidFill>
                  <a:schemeClr val="dk1"/>
                </a:solidFill>
                <a:latin typeface="Open Sans"/>
                <a:ea typeface="Open Sans"/>
                <a:cs typeface="Open Sans"/>
                <a:sym typeface="Open Sans"/>
              </a:rPr>
              <a:t>Valida que la solución implementada sea consistente con la experiencia del cliente, asegura coherencia con journeys, canales y propuesta omnicanal y retroalimenta desde percepción y uso del cliente.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Valida impactos en ejecución comercial, promociones y surtido, ajusta prácticas comerciales derivadas de la solución.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Asegura alineación con objetivos estratégicos y roadmap digital y usa aprendizajes para alimentar el portafolio transformacional.</a:t>
            </a:r>
            <a:endParaRPr/>
          </a:p>
        </p:txBody>
      </p:sp>
      <p:sp>
        <p:nvSpPr>
          <p:cNvPr id="1546" name="Google Shape;1546;p104"/>
          <p:cNvSpPr/>
          <p:nvPr/>
        </p:nvSpPr>
        <p:spPr>
          <a:xfrm>
            <a:off x="470554" y="1938403"/>
            <a:ext cx="1110263" cy="71664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547" name="Google Shape;1547;p104"/>
          <p:cNvSpPr/>
          <p:nvPr/>
        </p:nvSpPr>
        <p:spPr>
          <a:xfrm>
            <a:off x="470554" y="2724875"/>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548" name="Google Shape;1548;p104"/>
          <p:cNvSpPr/>
          <p:nvPr/>
        </p:nvSpPr>
        <p:spPr>
          <a:xfrm>
            <a:off x="470554" y="4303841"/>
            <a:ext cx="1110263" cy="58299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549" name="Google Shape;1549;p104"/>
          <p:cNvSpPr/>
          <p:nvPr/>
        </p:nvSpPr>
        <p:spPr>
          <a:xfrm>
            <a:off x="470554" y="3386701"/>
            <a:ext cx="1110263" cy="847310"/>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1550" name="Google Shape;1550;p104"/>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5</a:t>
            </a:r>
            <a:endParaRPr/>
          </a:p>
        </p:txBody>
      </p:sp>
      <p:sp>
        <p:nvSpPr>
          <p:cNvPr id="1551" name="Google Shape;1551;p104"/>
          <p:cNvSpPr/>
          <p:nvPr/>
        </p:nvSpPr>
        <p:spPr>
          <a:xfrm>
            <a:off x="1668982" y="1943446"/>
            <a:ext cx="9979679" cy="716643"/>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a:t>
            </a:r>
            <a:r>
              <a:rPr lang="es-MX" sz="1000">
                <a:solidFill>
                  <a:schemeClr val="dk1"/>
                </a:solidFill>
                <a:latin typeface="Open Sans"/>
                <a:ea typeface="Open Sans"/>
                <a:cs typeface="Open Sans"/>
                <a:sym typeface="Open Sans"/>
              </a:rPr>
              <a:t>Ejecuta la adopción de las soluciones en tienda y en operación diaria, ajusta rutinas, prácticas y dinámicas de trabajo para incorporar las soluciones digitales y retroalimenta incidencias, fricciones y oportunidades de mejora desde campo.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Ejecuta los ajustes logísticos y de procesos derivados de la solución digital, asegura continuidad de abasto, servicio y tiempos durante la implementación y coordina con proveedores y centros de distribución para asegurar adopción.</a:t>
            </a:r>
            <a:endParaRPr/>
          </a:p>
        </p:txBody>
      </p:sp>
      <p:graphicFrame>
        <p:nvGraphicFramePr>
          <p:cNvPr id="1552" name="Google Shape;1552;p104"/>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Implementación de soluciones digitales y tecnológicas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6" name="Shape 1556"/>
        <p:cNvGrpSpPr/>
        <p:nvPr/>
      </p:nvGrpSpPr>
      <p:grpSpPr>
        <a:xfrm>
          <a:off x="0" y="0"/>
          <a:ext cx="0" cy="0"/>
          <a:chOff x="0" y="0"/>
          <a:chExt cx="0" cy="0"/>
        </a:xfrm>
      </p:grpSpPr>
      <p:sp>
        <p:nvSpPr>
          <p:cNvPr id="1557" name="Google Shape;1557;p105"/>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Capacidades Digitales</a:t>
            </a:r>
            <a:endParaRPr/>
          </a:p>
        </p:txBody>
      </p:sp>
      <p:sp>
        <p:nvSpPr>
          <p:cNvPr id="1558" name="Google Shape;1558;p105"/>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559" name="Google Shape;1559;p105"/>
          <p:cNvSpPr/>
          <p:nvPr/>
        </p:nvSpPr>
        <p:spPr>
          <a:xfrm>
            <a:off x="1668982" y="4303842"/>
            <a:ext cx="9979679" cy="742291"/>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Ajusta su operación conforme a nuevas versiones o funcionalidades y anticipa impactos en ejecución comercial.</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a:t>
            </a:r>
            <a:r>
              <a:rPr lang="es-MX" sz="1000">
                <a:solidFill>
                  <a:schemeClr val="dk1"/>
                </a:solidFill>
                <a:latin typeface="Open Sans"/>
                <a:ea typeface="Open Sans"/>
                <a:cs typeface="Open Sans"/>
                <a:sym typeface="Open Sans"/>
              </a:rPr>
              <a:t>Ajusta rutinas operativas conforme a los despliegues y prepara equipos para cambios en herramientas o procesos.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 </a:t>
            </a:r>
            <a:r>
              <a:rPr lang="es-MX" sz="1000">
                <a:solidFill>
                  <a:schemeClr val="dk1"/>
                </a:solidFill>
                <a:latin typeface="Open Sans"/>
                <a:ea typeface="Open Sans"/>
                <a:cs typeface="Open Sans"/>
                <a:sym typeface="Open Sans"/>
              </a:rPr>
              <a:t>Ajusta flujos logísticos y de servicio derivados del despliegue y asegura continuidad operativa.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Mantiene visibilidad de cambios relevantes que puedan impactar costos o control.</a:t>
            </a:r>
            <a:endParaRPr/>
          </a:p>
        </p:txBody>
      </p:sp>
      <p:sp>
        <p:nvSpPr>
          <p:cNvPr id="1560" name="Google Shape;1560;p105"/>
          <p:cNvSpPr/>
          <p:nvPr/>
        </p:nvSpPr>
        <p:spPr>
          <a:xfrm>
            <a:off x="1668982" y="3386701"/>
            <a:ext cx="9979679" cy="847310"/>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y Marketing: </a:t>
            </a:r>
            <a:r>
              <a:rPr lang="es-MX" sz="1000">
                <a:solidFill>
                  <a:schemeClr val="dk1"/>
                </a:solidFill>
                <a:latin typeface="Open Sans"/>
                <a:ea typeface="Open Sans"/>
                <a:cs typeface="Open Sans"/>
                <a:sym typeface="Open Sans"/>
              </a:rPr>
              <a:t>Valida que los despliegues no deterioren la experiencia del cliente, aporta criterios de impacto en journeys y canales.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Valida que los despliegues mantengan coherencia con la agenda estratégica y asegura que cambios relevantes estén alineados al roadmap.</a:t>
            </a:r>
            <a:endParaRPr/>
          </a:p>
        </p:txBody>
      </p:sp>
      <p:sp>
        <p:nvSpPr>
          <p:cNvPr id="1561" name="Google Shape;1561;p105"/>
          <p:cNvSpPr/>
          <p:nvPr/>
        </p:nvSpPr>
        <p:spPr>
          <a:xfrm>
            <a:off x="470554" y="1938403"/>
            <a:ext cx="1110263" cy="71664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562" name="Google Shape;1562;p105"/>
          <p:cNvSpPr/>
          <p:nvPr/>
        </p:nvSpPr>
        <p:spPr>
          <a:xfrm>
            <a:off x="470554" y="2724875"/>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563" name="Google Shape;1563;p105"/>
          <p:cNvSpPr/>
          <p:nvPr/>
        </p:nvSpPr>
        <p:spPr>
          <a:xfrm>
            <a:off x="470554" y="4303841"/>
            <a:ext cx="1110263" cy="72695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564" name="Google Shape;1564;p105"/>
          <p:cNvSpPr/>
          <p:nvPr/>
        </p:nvSpPr>
        <p:spPr>
          <a:xfrm>
            <a:off x="470554" y="3386701"/>
            <a:ext cx="1110263" cy="847310"/>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1565" name="Google Shape;1565;p105"/>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6</a:t>
            </a:r>
            <a:endParaRPr b="0" i="0" sz="1152" u="none" cap="none" strike="noStrike">
              <a:solidFill>
                <a:srgbClr val="FFFFFF"/>
              </a:solidFill>
              <a:latin typeface="Arial"/>
              <a:ea typeface="Arial"/>
              <a:cs typeface="Arial"/>
              <a:sym typeface="Arial"/>
            </a:endParaRPr>
          </a:p>
        </p:txBody>
      </p:sp>
      <p:sp>
        <p:nvSpPr>
          <p:cNvPr id="1566" name="Google Shape;1566;p105"/>
          <p:cNvSpPr/>
          <p:nvPr/>
        </p:nvSpPr>
        <p:spPr>
          <a:xfrm>
            <a:off x="1668982" y="1943446"/>
            <a:ext cx="9979679" cy="1373424"/>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Es accountable de definir y custodiar los estándares de calidad, seguridad y liberación, asegura que las soluciones cumplan con políticas de seguridad, continuidad y gobierno tecnológico, autoriza el paso a producción y controla excepciones, ejecuta pruebas funcionales, técnicas y de seguridad, ejecuta los despliegues productivos conforme a los estándares definidos en conjunto con Operaciones – Despliegue Operativo – y opera mecanismos de rollback, contingencia y soporte post–despliegue.</a:t>
            </a:r>
            <a:endParaRPr/>
          </a:p>
        </p:txBody>
      </p:sp>
      <p:graphicFrame>
        <p:nvGraphicFramePr>
          <p:cNvPr id="1567" name="Google Shape;1567;p105"/>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437200"/>
                <a:gridCol w="4372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r>
              <a:tr h="541350">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Gobierno de calidad, seguridad y despliegues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1" name="Shape 1571"/>
        <p:cNvGrpSpPr/>
        <p:nvPr/>
      </p:nvGrpSpPr>
      <p:grpSpPr>
        <a:xfrm>
          <a:off x="0" y="0"/>
          <a:ext cx="0" cy="0"/>
          <a:chOff x="0" y="0"/>
          <a:chExt cx="0" cy="0"/>
        </a:xfrm>
      </p:grpSpPr>
      <p:sp>
        <p:nvSpPr>
          <p:cNvPr id="1572" name="Google Shape;1572;p106"/>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Capacidades Digitales</a:t>
            </a:r>
            <a:endParaRPr/>
          </a:p>
        </p:txBody>
      </p:sp>
      <p:sp>
        <p:nvSpPr>
          <p:cNvPr id="1573" name="Google Shape;1573;p106"/>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574" name="Google Shape;1574;p106"/>
          <p:cNvSpPr/>
          <p:nvPr/>
        </p:nvSpPr>
        <p:spPr>
          <a:xfrm>
            <a:off x="394585" y="138668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7</a:t>
            </a:r>
            <a:endParaRPr/>
          </a:p>
        </p:txBody>
      </p:sp>
      <p:graphicFrame>
        <p:nvGraphicFramePr>
          <p:cNvPr id="1575" name="Google Shape;1575;p106"/>
          <p:cNvGraphicFramePr/>
          <p:nvPr/>
        </p:nvGraphicFramePr>
        <p:xfrm>
          <a:off x="689358" y="825637"/>
          <a:ext cx="3000000" cy="3000000"/>
        </p:xfrm>
        <a:graphic>
          <a:graphicData uri="http://schemas.openxmlformats.org/drawingml/2006/table">
            <a:tbl>
              <a:tblPr>
                <a:noFill/>
                <a:tableStyleId>{59F1A6B1-18B9-4B87-B458-7A3E6594CA7B}</a:tableStyleId>
              </a:tblPr>
              <a:tblGrid>
                <a:gridCol w="2164225"/>
                <a:gridCol w="1034475"/>
                <a:gridCol w="1034475"/>
                <a:gridCol w="1034475"/>
                <a:gridCol w="1034475"/>
                <a:gridCol w="1034475"/>
                <a:gridCol w="1034475"/>
                <a:gridCol w="8744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Customer &amp; Marketing</a:t>
                      </a:r>
                      <a:endParaRPr i="1" sz="120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Comercial</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 </a:t>
                      </a:r>
                      <a:r>
                        <a:rPr i="1" lang="es-MX" sz="9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Cadena de Suministro</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Finanzas</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Estrategia y Transf.</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i="1" lang="es-MX" sz="1200">
                          <a:solidFill>
                            <a:schemeClr val="dk1"/>
                          </a:solidFill>
                          <a:latin typeface="Arial"/>
                          <a:ea typeface="Arial"/>
                          <a:cs typeface="Arial"/>
                          <a:sym typeface="Arial"/>
                        </a:rPr>
                        <a:t>TI</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0" lvl="0" marL="0" marR="0" rtl="0" algn="l">
                        <a:lnSpc>
                          <a:spcPct val="100000"/>
                        </a:lnSpc>
                        <a:spcBef>
                          <a:spcPts val="0"/>
                        </a:spcBef>
                        <a:spcAft>
                          <a:spcPts val="0"/>
                        </a:spcAft>
                        <a:buClr>
                          <a:schemeClr val="dk1"/>
                        </a:buClr>
                        <a:buSzPts val="1050"/>
                        <a:buFont typeface="Trebuchet MS"/>
                        <a:buNone/>
                      </a:pPr>
                      <a:r>
                        <a:rPr lang="es-MX" sz="1050">
                          <a:solidFill>
                            <a:schemeClr val="dk1"/>
                          </a:solidFill>
                          <a:latin typeface="Arial"/>
                          <a:ea typeface="Arial"/>
                          <a:cs typeface="Arial"/>
                          <a:sym typeface="Arial"/>
                        </a:rPr>
                        <a:t>Medición de valor, desempeño y adopción digital</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r>
            </a:tbl>
          </a:graphicData>
        </a:graphic>
      </p:graphicFrame>
      <p:sp>
        <p:nvSpPr>
          <p:cNvPr id="1576" name="Google Shape;1576;p106"/>
          <p:cNvSpPr/>
          <p:nvPr/>
        </p:nvSpPr>
        <p:spPr>
          <a:xfrm>
            <a:off x="1668982" y="4746317"/>
            <a:ext cx="9979679" cy="595293"/>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Usa resultados como insumo para decisiones de portafolio y prioridades futuras y conecta valor digital con agenda transformacional.</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 </a:t>
            </a:r>
            <a:r>
              <a:rPr lang="es-MX" sz="1000">
                <a:solidFill>
                  <a:schemeClr val="dk1"/>
                </a:solidFill>
                <a:latin typeface="Open Sans"/>
                <a:ea typeface="Open Sans"/>
                <a:cs typeface="Open Sans"/>
                <a:sym typeface="Open Sans"/>
              </a:rPr>
              <a:t>Aporta lectura de impacto en ventas, conversión y ejecución comercial y ayuda a interpretar resultados desde negocio.</a:t>
            </a:r>
            <a:endParaRPr/>
          </a:p>
        </p:txBody>
      </p:sp>
      <p:sp>
        <p:nvSpPr>
          <p:cNvPr id="1577" name="Google Shape;1577;p106"/>
          <p:cNvSpPr/>
          <p:nvPr/>
        </p:nvSpPr>
        <p:spPr>
          <a:xfrm>
            <a:off x="1668983" y="2750274"/>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 </a:t>
            </a:r>
            <a:r>
              <a:rPr lang="es-MX" sz="1000">
                <a:solidFill>
                  <a:schemeClr val="dk1"/>
                </a:solidFill>
                <a:latin typeface="Open Sans"/>
                <a:ea typeface="Open Sans"/>
                <a:cs typeface="Open Sans"/>
                <a:sym typeface="Open Sans"/>
              </a:rPr>
              <a:t>Mediane Despliegue Operativo, aporta lectura de impacto en productividad, eficiencia y adopción operativa y retroalimenta oportunidades de mejora.</a:t>
            </a:r>
            <a:endParaRPr/>
          </a:p>
        </p:txBody>
      </p:sp>
      <p:sp>
        <p:nvSpPr>
          <p:cNvPr id="1578" name="Google Shape;1578;p106"/>
          <p:cNvSpPr/>
          <p:nvPr/>
        </p:nvSpPr>
        <p:spPr>
          <a:xfrm>
            <a:off x="1668982" y="4085208"/>
            <a:ext cx="9979679" cy="595292"/>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y Transformación: </a:t>
            </a:r>
            <a:r>
              <a:rPr lang="es-MX" sz="1000">
                <a:solidFill>
                  <a:schemeClr val="dk1"/>
                </a:solidFill>
                <a:latin typeface="Open Sans"/>
                <a:ea typeface="Open Sans"/>
                <a:cs typeface="Open Sans"/>
                <a:sym typeface="Open Sans"/>
              </a:rPr>
              <a:t>Usa resultados como insumo para decisiones de portafolio y prioridades futuras y conecta valor digital con agenda transformacional.</a:t>
            </a:r>
            <a:endParaRPr/>
          </a:p>
        </p:txBody>
      </p:sp>
      <p:sp>
        <p:nvSpPr>
          <p:cNvPr id="1579" name="Google Shape;1579;p106"/>
          <p:cNvSpPr/>
          <p:nvPr/>
        </p:nvSpPr>
        <p:spPr>
          <a:xfrm>
            <a:off x="470554" y="1938402"/>
            <a:ext cx="1110263" cy="734439"/>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580" name="Google Shape;1580;p106"/>
          <p:cNvSpPr/>
          <p:nvPr/>
        </p:nvSpPr>
        <p:spPr>
          <a:xfrm>
            <a:off x="470554" y="2750275"/>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581" name="Google Shape;1581;p106"/>
          <p:cNvSpPr/>
          <p:nvPr/>
        </p:nvSpPr>
        <p:spPr>
          <a:xfrm>
            <a:off x="470554" y="4746316"/>
            <a:ext cx="1110263" cy="58299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582" name="Google Shape;1582;p106"/>
          <p:cNvSpPr/>
          <p:nvPr/>
        </p:nvSpPr>
        <p:spPr>
          <a:xfrm>
            <a:off x="470554" y="4085208"/>
            <a:ext cx="1110263" cy="595292"/>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1583" name="Google Shape;1583;p106"/>
          <p:cNvSpPr/>
          <p:nvPr/>
        </p:nvSpPr>
        <p:spPr>
          <a:xfrm>
            <a:off x="1668982" y="1943446"/>
            <a:ext cx="9979679" cy="734440"/>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TI: </a:t>
            </a:r>
            <a:r>
              <a:rPr lang="es-MX" sz="1000">
                <a:solidFill>
                  <a:schemeClr val="dk1"/>
                </a:solidFill>
                <a:latin typeface="Open Sans"/>
                <a:ea typeface="Open Sans"/>
                <a:cs typeface="Open Sans"/>
                <a:sym typeface="Open Sans"/>
              </a:rPr>
              <a:t>Mide desempeño de plataformas, estabilidad, uso técnico y adopción tecnológica, proporciona métricas de operación digital y calidad técnica y asegura disponibilidad de datos confiables para medición.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Customer y Marketing: </a:t>
            </a:r>
            <a:r>
              <a:rPr lang="es-MX" sz="1000">
                <a:solidFill>
                  <a:schemeClr val="dk1"/>
                </a:solidFill>
                <a:latin typeface="Open Sans"/>
                <a:ea typeface="Open Sans"/>
                <a:cs typeface="Open Sans"/>
                <a:sym typeface="Open Sans"/>
              </a:rPr>
              <a:t>Mide impacto en cliente, experiencia, uso y percepción, evalúa efectividad de segmentación, omnicanalidad y journeys y traduce resultados en aprendizajes de negocio.</a:t>
            </a:r>
            <a:endParaRPr/>
          </a:p>
        </p:txBody>
      </p:sp>
      <p:sp>
        <p:nvSpPr>
          <p:cNvPr id="1584" name="Google Shape;1584;p106"/>
          <p:cNvSpPr/>
          <p:nvPr/>
        </p:nvSpPr>
        <p:spPr>
          <a:xfrm>
            <a:off x="1668983" y="3417528"/>
            <a:ext cx="9979679" cy="595292"/>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a:t>
            </a:r>
            <a:r>
              <a:rPr lang="es-MX" sz="1000">
                <a:solidFill>
                  <a:schemeClr val="dk1"/>
                </a:solidFill>
                <a:latin typeface="Open Sans"/>
                <a:ea typeface="Open Sans"/>
                <a:cs typeface="Open Sans"/>
                <a:sym typeface="Open Sans"/>
              </a:rPr>
              <a:t>Da soporte en la medición del valor económico generado por las soluciones digitales, valida beneficios reales vs. estimados en business case y asegura disciplina de retorno de inversión y trazabilidad financiera.</a:t>
            </a:r>
            <a:endParaRPr/>
          </a:p>
        </p:txBody>
      </p:sp>
      <p:sp>
        <p:nvSpPr>
          <p:cNvPr id="1585" name="Google Shape;1585;p106"/>
          <p:cNvSpPr/>
          <p:nvPr/>
        </p:nvSpPr>
        <p:spPr>
          <a:xfrm>
            <a:off x="470554" y="3417528"/>
            <a:ext cx="1110263" cy="595292"/>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9" name="Shape 1589"/>
        <p:cNvGrpSpPr/>
        <p:nvPr/>
      </p:nvGrpSpPr>
      <p:grpSpPr>
        <a:xfrm>
          <a:off x="0" y="0"/>
          <a:ext cx="0" cy="0"/>
          <a:chOff x="0" y="0"/>
          <a:chExt cx="0" cy="0"/>
        </a:xfrm>
      </p:grpSpPr>
      <p:grpSp>
        <p:nvGrpSpPr>
          <p:cNvPr id="1590" name="Google Shape;1590;p107"/>
          <p:cNvGrpSpPr/>
          <p:nvPr/>
        </p:nvGrpSpPr>
        <p:grpSpPr>
          <a:xfrm>
            <a:off x="0" y="-205740"/>
            <a:ext cx="12192000" cy="137160"/>
            <a:chOff x="0" y="-205740"/>
            <a:chExt cx="12192000" cy="137160"/>
          </a:xfrm>
        </p:grpSpPr>
        <p:sp>
          <p:nvSpPr>
            <p:cNvPr id="1591" name="Google Shape;1591;p107"/>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592" name="Google Shape;1592;p107"/>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593" name="Google Shape;1593;p107"/>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594" name="Google Shape;1594;p107"/>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1595" name="Google Shape;1595;p107"/>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Plan Aseguramiento y Estabilización | </a:t>
            </a:r>
            <a:r>
              <a:rPr lang="es-MX"/>
              <a:t>Fit for Purpose</a:t>
            </a:r>
            <a:endParaRPr/>
          </a:p>
        </p:txBody>
      </p:sp>
      <p:sp>
        <p:nvSpPr>
          <p:cNvPr id="1596" name="Google Shape;1596;p107"/>
          <p:cNvSpPr/>
          <p:nvPr/>
        </p:nvSpPr>
        <p:spPr>
          <a:xfrm>
            <a:off x="168211" y="2551574"/>
            <a:ext cx="2147110" cy="2048745"/>
          </a:xfrm>
          <a:prstGeom prst="rect">
            <a:avLst/>
          </a:prstGeom>
          <a:solidFill>
            <a:srgbClr val="00000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FFFFFF"/>
              </a:buClr>
              <a:buSzPts val="1200"/>
              <a:buFont typeface="Arial"/>
              <a:buNone/>
            </a:pPr>
            <a:r>
              <a:rPr b="1" i="0" lang="es-MX" sz="1200" u="none" cap="none" strike="noStrike">
                <a:solidFill>
                  <a:srgbClr val="FFFFFF"/>
                </a:solidFill>
                <a:latin typeface="Arial"/>
                <a:ea typeface="Arial"/>
                <a:cs typeface="Arial"/>
                <a:sym typeface="Arial"/>
              </a:rPr>
              <a:t>Interacciones Críticas</a:t>
            </a:r>
            <a:endParaRPr/>
          </a:p>
          <a:p>
            <a:pPr indent="0" lvl="0" marL="0" marR="0" rtl="0" algn="ctr">
              <a:lnSpc>
                <a:spcPct val="100000"/>
              </a:lnSpc>
              <a:spcBef>
                <a:spcPts val="1200"/>
              </a:spcBef>
              <a:spcAft>
                <a:spcPts val="0"/>
              </a:spcAft>
              <a:buClr>
                <a:srgbClr val="FFFFFF"/>
              </a:buClr>
              <a:buSzPts val="800"/>
              <a:buFont typeface="Arial"/>
              <a:buNone/>
            </a:pPr>
            <a:r>
              <a:rPr b="0" i="0" lang="es-MX" sz="800" u="none" cap="none" strike="noStrike">
                <a:solidFill>
                  <a:srgbClr val="FFFFFF"/>
                </a:solidFill>
                <a:latin typeface="Arial"/>
                <a:ea typeface="Arial"/>
                <a:cs typeface="Arial"/>
                <a:sym typeface="Arial"/>
              </a:rPr>
              <a:t>Workshops Cross-plataformas</a:t>
            </a:r>
            <a:endParaRPr/>
          </a:p>
        </p:txBody>
      </p:sp>
      <p:sp>
        <p:nvSpPr>
          <p:cNvPr id="1597" name="Google Shape;1597;p107"/>
          <p:cNvSpPr/>
          <p:nvPr/>
        </p:nvSpPr>
        <p:spPr>
          <a:xfrm>
            <a:off x="168211" y="1391112"/>
            <a:ext cx="2147110" cy="928284"/>
          </a:xfrm>
          <a:prstGeom prst="rect">
            <a:avLst/>
          </a:prstGeom>
          <a:solidFill>
            <a:srgbClr val="00000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FFFFFF"/>
              </a:buClr>
              <a:buSzPts val="1200"/>
              <a:buFont typeface="Arial"/>
              <a:buNone/>
            </a:pPr>
            <a:r>
              <a:rPr b="1" i="0" lang="es-MX" sz="1200" u="none" cap="none" strike="noStrike">
                <a:solidFill>
                  <a:srgbClr val="FFFFFF"/>
                </a:solidFill>
                <a:latin typeface="Arial"/>
                <a:ea typeface="Arial"/>
                <a:cs typeface="Arial"/>
                <a:sym typeface="Arial"/>
              </a:rPr>
              <a:t>Higiénicos Organizacionales </a:t>
            </a:r>
            <a:endParaRPr/>
          </a:p>
          <a:p>
            <a:pPr indent="0" lvl="0" marL="0" marR="0" rtl="0" algn="ctr">
              <a:lnSpc>
                <a:spcPct val="100000"/>
              </a:lnSpc>
              <a:spcBef>
                <a:spcPts val="1200"/>
              </a:spcBef>
              <a:spcAft>
                <a:spcPts val="0"/>
              </a:spcAft>
              <a:buClr>
                <a:srgbClr val="FFFFFF"/>
              </a:buClr>
              <a:buSzPts val="800"/>
              <a:buFont typeface="Arial"/>
              <a:buNone/>
            </a:pPr>
            <a:r>
              <a:rPr b="0" i="0" lang="es-MX" sz="800" u="none" cap="none" strike="noStrike">
                <a:solidFill>
                  <a:srgbClr val="FFFFFF"/>
                </a:solidFill>
                <a:latin typeface="Arial"/>
                <a:ea typeface="Arial"/>
                <a:cs typeface="Arial"/>
                <a:sym typeface="Arial"/>
              </a:rPr>
              <a:t>Documentación de Roles</a:t>
            </a:r>
            <a:endParaRPr/>
          </a:p>
        </p:txBody>
      </p:sp>
      <p:sp>
        <p:nvSpPr>
          <p:cNvPr id="1598" name="Google Shape;1598;p107"/>
          <p:cNvSpPr/>
          <p:nvPr/>
        </p:nvSpPr>
        <p:spPr>
          <a:xfrm>
            <a:off x="168211" y="5905394"/>
            <a:ext cx="2147110" cy="539924"/>
          </a:xfrm>
          <a:prstGeom prst="rect">
            <a:avLst/>
          </a:prstGeom>
          <a:solidFill>
            <a:srgbClr val="00000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FFFFFF"/>
              </a:buClr>
              <a:buSzPts val="1100"/>
              <a:buFont typeface="Arial"/>
              <a:buNone/>
            </a:pPr>
            <a:r>
              <a:rPr b="1" i="0" lang="es-MX" sz="1100" u="none" cap="none" strike="noStrike">
                <a:solidFill>
                  <a:srgbClr val="FFFFFF"/>
                </a:solidFill>
                <a:latin typeface="Arial"/>
                <a:ea typeface="Arial"/>
                <a:cs typeface="Arial"/>
                <a:sym typeface="Arial"/>
              </a:rPr>
              <a:t>Integración al Sistema de Gestión </a:t>
            </a:r>
            <a:r>
              <a:rPr b="0" i="0" lang="es-MX" sz="600" u="none" cap="none" strike="noStrike">
                <a:solidFill>
                  <a:srgbClr val="FFFFFF"/>
                </a:solidFill>
                <a:latin typeface="Arial"/>
                <a:ea typeface="Arial"/>
                <a:cs typeface="Arial"/>
                <a:sym typeface="Arial"/>
              </a:rPr>
              <a:t>Consolidación y Seguimiento</a:t>
            </a:r>
            <a:endParaRPr/>
          </a:p>
        </p:txBody>
      </p:sp>
      <p:sp>
        <p:nvSpPr>
          <p:cNvPr id="1599" name="Google Shape;1599;p107"/>
          <p:cNvSpPr/>
          <p:nvPr/>
        </p:nvSpPr>
        <p:spPr>
          <a:xfrm>
            <a:off x="168211" y="4866393"/>
            <a:ext cx="2147110" cy="928284"/>
          </a:xfrm>
          <a:prstGeom prst="rect">
            <a:avLst/>
          </a:prstGeom>
          <a:solidFill>
            <a:srgbClr val="00000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rgbClr val="FFFFFF"/>
              </a:buClr>
              <a:buSzPts val="1200"/>
              <a:buFont typeface="Arial"/>
              <a:buNone/>
            </a:pPr>
            <a:r>
              <a:rPr b="1" i="0" lang="es-MX" sz="1200" u="none" cap="none" strike="noStrike">
                <a:solidFill>
                  <a:srgbClr val="FFFFFF"/>
                </a:solidFill>
                <a:latin typeface="Arial"/>
                <a:ea typeface="Arial"/>
                <a:cs typeface="Arial"/>
                <a:sym typeface="Arial"/>
              </a:rPr>
              <a:t>RASCI por Función de Procesos Clave</a:t>
            </a:r>
            <a:endParaRPr/>
          </a:p>
          <a:p>
            <a:pPr indent="0" lvl="0" marL="0" marR="0" rtl="0" algn="ctr">
              <a:lnSpc>
                <a:spcPct val="100000"/>
              </a:lnSpc>
              <a:spcBef>
                <a:spcPts val="1200"/>
              </a:spcBef>
              <a:spcAft>
                <a:spcPts val="0"/>
              </a:spcAft>
              <a:buClr>
                <a:srgbClr val="FFFFFF"/>
              </a:buClr>
              <a:buSzPts val="800"/>
              <a:buFont typeface="Arial"/>
              <a:buNone/>
            </a:pPr>
            <a:r>
              <a:rPr b="0" i="0" lang="es-MX" sz="800" u="none" cap="none" strike="noStrike">
                <a:solidFill>
                  <a:srgbClr val="FFFFFF"/>
                </a:solidFill>
                <a:latin typeface="Arial"/>
                <a:ea typeface="Arial"/>
                <a:cs typeface="Arial"/>
                <a:sym typeface="Arial"/>
              </a:rPr>
              <a:t>Workshops Internos x Área</a:t>
            </a:r>
            <a:endParaRPr/>
          </a:p>
        </p:txBody>
      </p:sp>
      <p:graphicFrame>
        <p:nvGraphicFramePr>
          <p:cNvPr id="1600" name="Google Shape;1600;p107"/>
          <p:cNvGraphicFramePr/>
          <p:nvPr/>
        </p:nvGraphicFramePr>
        <p:xfrm>
          <a:off x="5444083" y="848250"/>
          <a:ext cx="3000000" cy="3000000"/>
        </p:xfrm>
        <a:graphic>
          <a:graphicData uri="http://schemas.openxmlformats.org/drawingml/2006/table">
            <a:tbl>
              <a:tblPr firstCol="1" firstRow="1">
                <a:noFill/>
                <a:tableStyleId>{813A3F68-93AB-42EE-8F31-6030AA077254}</a:tableStyleId>
              </a:tblPr>
              <a:tblGrid>
                <a:gridCol w="391825"/>
                <a:gridCol w="420450"/>
                <a:gridCol w="420450"/>
                <a:gridCol w="493075"/>
                <a:gridCol w="448950"/>
                <a:gridCol w="500425"/>
                <a:gridCol w="498625"/>
                <a:gridCol w="271900"/>
                <a:gridCol w="183025"/>
                <a:gridCol w="428500"/>
                <a:gridCol w="428500"/>
                <a:gridCol w="428500"/>
                <a:gridCol w="428500"/>
                <a:gridCol w="428500"/>
                <a:gridCol w="428500"/>
                <a:gridCol w="428500"/>
              </a:tblGrid>
              <a:tr h="200350">
                <a:tc gridSpan="3">
                  <a:txBody>
                    <a:bodyPr/>
                    <a:lstStyle/>
                    <a:p>
                      <a:pPr indent="0" lvl="0" marL="0" marR="0" rtl="0" algn="ctr">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Noviembre</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hMerge="1"/>
                <a:tc gridSpan="5">
                  <a:txBody>
                    <a:bodyPr/>
                    <a:lstStyle/>
                    <a:p>
                      <a:pPr indent="0" lvl="0" marL="0" marR="0" rtl="0" algn="ctr">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Diciembre</a:t>
                      </a:r>
                      <a:endParaRPr b="1" sz="800">
                        <a:solidFill>
                          <a:srgbClr val="333333"/>
                        </a:solidFill>
                        <a:latin typeface="Arial"/>
                        <a:ea typeface="Arial"/>
                        <a:cs typeface="Arial"/>
                        <a:sym typeface="Arial"/>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hMerge="1"/>
                <a:tc hMerge="1"/>
                <a:tc hMerge="1"/>
                <a:tc gridSpan="5">
                  <a:txBody>
                    <a:bodyPr/>
                    <a:lstStyle/>
                    <a:p>
                      <a:pPr indent="0" lvl="0" marL="0" marR="0" rtl="0" algn="ctr">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Enero</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hMerge="1"/>
                <a:tc hMerge="1"/>
                <a:tc hMerge="1"/>
                <a:tc gridSpan="3">
                  <a:txBody>
                    <a:bodyPr/>
                    <a:lstStyle/>
                    <a:p>
                      <a:pPr indent="0" lvl="0" marL="0" marR="0" rtl="0" algn="ctr">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Febrero</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hMerge="1"/>
              </a:tr>
              <a:tr h="209050">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10 - 14</a:t>
                      </a:r>
                      <a:endParaRPr/>
                    </a:p>
                  </a:txBody>
                  <a:tcPr marT="0" marB="0" marR="0" marL="72000" anchor="ctr">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17 - 21</a:t>
                      </a:r>
                      <a:endParaRPr/>
                    </a:p>
                  </a:txBody>
                  <a:tcPr marT="0" marB="0" marR="0" marL="720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24 - 28</a:t>
                      </a:r>
                      <a:endParaRPr/>
                    </a:p>
                  </a:txBody>
                  <a:tcPr marT="0" marB="0" marR="0" marL="72000" anchor="ctr">
                    <a:lnL cap="flat" cmpd="sng" w="12700">
                      <a:solidFill>
                        <a:schemeClr val="lt2"/>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01 – 05</a:t>
                      </a:r>
                      <a:endParaRPr b="1" baseline="30000" sz="800">
                        <a:solidFill>
                          <a:srgbClr val="333333"/>
                        </a:solidFill>
                        <a:latin typeface="Arial"/>
                        <a:ea typeface="Arial"/>
                        <a:cs typeface="Arial"/>
                        <a:sym typeface="Arial"/>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08 – 12</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15 – 19 </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22 - 26</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gridSpan="2">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29 – 02</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hMerge="1"/>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05 – 09</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12 - 16</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19 - 23</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26 - 30</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02 - 06</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09 - 13</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c>
                  <a:txBody>
                    <a:bodyPr/>
                    <a:lstStyle/>
                    <a:p>
                      <a:pPr indent="0" lvl="0" marL="0" marR="0" rtl="0" algn="l">
                        <a:spcBef>
                          <a:spcPts val="0"/>
                        </a:spcBef>
                        <a:spcAft>
                          <a:spcPts val="0"/>
                        </a:spcAft>
                        <a:buClr>
                          <a:srgbClr val="333333"/>
                        </a:buClr>
                        <a:buSzPts val="800"/>
                        <a:buFont typeface="Arial"/>
                        <a:buNone/>
                      </a:pPr>
                      <a:r>
                        <a:rPr b="1" lang="es-MX" sz="800">
                          <a:solidFill>
                            <a:srgbClr val="333333"/>
                          </a:solidFill>
                          <a:latin typeface="Arial"/>
                          <a:ea typeface="Arial"/>
                          <a:cs typeface="Arial"/>
                          <a:sym typeface="Arial"/>
                        </a:rPr>
                        <a:t>16 - 20</a:t>
                      </a:r>
                      <a:endParaRPr/>
                    </a:p>
                  </a:txBody>
                  <a:tcPr marT="0" marB="0" marR="0" marL="72000"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D6D6D6"/>
                    </a:solidFill>
                  </a:tcPr>
                </a:tc>
              </a:tr>
              <a:tr h="1172050">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rgbClr val="D6D6D6">
                          <a:alpha val="25098"/>
                        </a:srgbClr>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dk1"/>
                      </a:solidFill>
                      <a:prstDash val="solid"/>
                      <a:round/>
                      <a:headEnd len="sm" w="sm" type="none"/>
                      <a:tailEnd len="sm" w="sm" type="none"/>
                    </a:lnB>
                  </a:tcPr>
                </a:tc>
              </a:tr>
              <a:tr h="2244100">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rgbClr val="D6D6D6">
                          <a:alpha val="25098"/>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142575">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rgbClr val="D6D6D6">
                          <a:alpha val="25098"/>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663850">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38100">
                      <a:solidFill>
                        <a:schemeClr val="lt1"/>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800"/>
                        <a:buFont typeface="Arial"/>
                        <a:buNone/>
                      </a:pPr>
                      <a:r>
                        <a:t/>
                      </a:r>
                      <a:endParaRPr b="0" sz="800">
                        <a:latin typeface="Arial"/>
                        <a:ea typeface="Arial"/>
                        <a:cs typeface="Arial"/>
                        <a:sym typeface="Arial"/>
                      </a:endParaRPr>
                    </a:p>
                  </a:txBody>
                  <a:tcPr marT="0" marB="0" marR="0" marL="72000">
                    <a:lnL cap="flat" cmpd="sng" w="12700">
                      <a:solidFill>
                        <a:schemeClr val="lt2"/>
                      </a:solidFill>
                      <a:prstDash val="solid"/>
                      <a:round/>
                      <a:headEnd len="sm" w="sm" type="none"/>
                      <a:tailEnd len="sm" w="sm" type="none"/>
                    </a:lnL>
                    <a:lnR cap="flat" cmpd="sng" w="12700">
                      <a:solidFill>
                        <a:srgbClr val="D6D6D6">
                          <a:alpha val="25098"/>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1601" name="Google Shape;1601;p107"/>
          <p:cNvSpPr/>
          <p:nvPr/>
        </p:nvSpPr>
        <p:spPr>
          <a:xfrm>
            <a:off x="42863" y="1249615"/>
            <a:ext cx="250694" cy="250694"/>
          </a:xfrm>
          <a:prstGeom prst="ellipse">
            <a:avLst/>
          </a:prstGeom>
          <a:solidFill>
            <a:srgbClr val="DE0230"/>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Open Sans"/>
              <a:buNone/>
            </a:pPr>
            <a:r>
              <a:rPr b="1" i="0" lang="es-MX" sz="1400" u="none" cap="none" strike="noStrike">
                <a:solidFill>
                  <a:srgbClr val="FFFFFF"/>
                </a:solidFill>
                <a:latin typeface="Open Sans"/>
                <a:ea typeface="Open Sans"/>
                <a:cs typeface="Open Sans"/>
                <a:sym typeface="Open Sans"/>
              </a:rPr>
              <a:t>1</a:t>
            </a:r>
            <a:endParaRPr/>
          </a:p>
        </p:txBody>
      </p:sp>
      <p:sp>
        <p:nvSpPr>
          <p:cNvPr id="1602" name="Google Shape;1602;p107"/>
          <p:cNvSpPr/>
          <p:nvPr/>
        </p:nvSpPr>
        <p:spPr>
          <a:xfrm>
            <a:off x="42863" y="2418400"/>
            <a:ext cx="250694" cy="250694"/>
          </a:xfrm>
          <a:prstGeom prst="ellipse">
            <a:avLst/>
          </a:prstGeom>
          <a:solidFill>
            <a:srgbClr val="DE0230"/>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Open Sans"/>
              <a:buNone/>
            </a:pPr>
            <a:r>
              <a:rPr b="1" i="0" lang="es-MX" sz="1400" u="none" cap="none" strike="noStrike">
                <a:solidFill>
                  <a:srgbClr val="FFFFFF"/>
                </a:solidFill>
                <a:latin typeface="Open Sans"/>
                <a:ea typeface="Open Sans"/>
                <a:cs typeface="Open Sans"/>
                <a:sym typeface="Open Sans"/>
              </a:rPr>
              <a:t>2</a:t>
            </a:r>
            <a:endParaRPr/>
          </a:p>
        </p:txBody>
      </p:sp>
      <p:sp>
        <p:nvSpPr>
          <p:cNvPr id="1603" name="Google Shape;1603;p107"/>
          <p:cNvSpPr/>
          <p:nvPr/>
        </p:nvSpPr>
        <p:spPr>
          <a:xfrm>
            <a:off x="42863" y="4742715"/>
            <a:ext cx="250694" cy="250694"/>
          </a:xfrm>
          <a:prstGeom prst="ellipse">
            <a:avLst/>
          </a:prstGeom>
          <a:solidFill>
            <a:srgbClr val="DE0230"/>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Open Sans"/>
              <a:buNone/>
            </a:pPr>
            <a:r>
              <a:rPr b="1" i="0" lang="es-MX" sz="1400" u="none" cap="none" strike="noStrike">
                <a:solidFill>
                  <a:srgbClr val="FFFFFF"/>
                </a:solidFill>
                <a:latin typeface="Open Sans"/>
                <a:ea typeface="Open Sans"/>
                <a:cs typeface="Open Sans"/>
                <a:sym typeface="Open Sans"/>
              </a:rPr>
              <a:t>3</a:t>
            </a:r>
            <a:endParaRPr/>
          </a:p>
        </p:txBody>
      </p:sp>
      <p:sp>
        <p:nvSpPr>
          <p:cNvPr id="1604" name="Google Shape;1604;p107"/>
          <p:cNvSpPr/>
          <p:nvPr/>
        </p:nvSpPr>
        <p:spPr>
          <a:xfrm>
            <a:off x="42863" y="5778527"/>
            <a:ext cx="250694" cy="250694"/>
          </a:xfrm>
          <a:prstGeom prst="ellipse">
            <a:avLst/>
          </a:prstGeom>
          <a:solidFill>
            <a:srgbClr val="DE0230"/>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Open Sans"/>
              <a:buNone/>
            </a:pPr>
            <a:r>
              <a:rPr b="1" i="0" lang="es-MX" sz="1400" u="none" cap="none" strike="noStrike">
                <a:solidFill>
                  <a:srgbClr val="FFFFFF"/>
                </a:solidFill>
                <a:latin typeface="Open Sans"/>
                <a:ea typeface="Open Sans"/>
                <a:cs typeface="Open Sans"/>
                <a:sym typeface="Open Sans"/>
              </a:rPr>
              <a:t>4</a:t>
            </a:r>
            <a:endParaRPr/>
          </a:p>
        </p:txBody>
      </p:sp>
      <p:sp>
        <p:nvSpPr>
          <p:cNvPr id="1605" name="Google Shape;1605;p107"/>
          <p:cNvSpPr/>
          <p:nvPr/>
        </p:nvSpPr>
        <p:spPr>
          <a:xfrm>
            <a:off x="7623079" y="1249615"/>
            <a:ext cx="1458097" cy="5078661"/>
          </a:xfrm>
          <a:prstGeom prst="rect">
            <a:avLst/>
          </a:prstGeom>
          <a:solidFill>
            <a:srgbClr val="D6D6D6">
              <a:alpha val="50196"/>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606" name="Google Shape;1606;p107"/>
          <p:cNvSpPr/>
          <p:nvPr/>
        </p:nvSpPr>
        <p:spPr>
          <a:xfrm>
            <a:off x="5444083" y="1422988"/>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graphicFrame>
        <p:nvGraphicFramePr>
          <p:cNvPr id="1607" name="Google Shape;1607;p107"/>
          <p:cNvGraphicFramePr/>
          <p:nvPr/>
        </p:nvGraphicFramePr>
        <p:xfrm>
          <a:off x="2331205" y="2540299"/>
          <a:ext cx="3000000" cy="3000000"/>
        </p:xfrm>
        <a:graphic>
          <a:graphicData uri="http://schemas.openxmlformats.org/drawingml/2006/table">
            <a:tbl>
              <a:tblPr>
                <a:solidFill>
                  <a:srgbClr val="F2F2F2"/>
                </a:solidFill>
                <a:tableStyleId>{59F1A6B1-18B9-4B87-B458-7A3E6594CA7B}</a:tableStyleId>
              </a:tblPr>
              <a:tblGrid>
                <a:gridCol w="3071450"/>
              </a:tblGrid>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Customer Value Proposition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Decisiones comerciales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Voz del Cliente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Value Management Office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650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Modelo de Madurez de Negocio</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Portafolio estratégico con planeación financiera</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Capacidades digitales y omnicanalidad</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Integración de Expansión con Operaciones</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Integración Operaciones Foodservice a Operaciones Tiendas </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05950">
                <a:tc>
                  <a:txBody>
                    <a:bodyPr/>
                    <a:lstStyle/>
                    <a:p>
                      <a:pPr indent="0" lvl="0" marL="0" marR="0" rtl="0" algn="l">
                        <a:spcBef>
                          <a:spcPts val="0"/>
                        </a:spcBef>
                        <a:spcAft>
                          <a:spcPts val="0"/>
                        </a:spcAft>
                        <a:buClr>
                          <a:srgbClr val="000000"/>
                        </a:buClr>
                        <a:buSzPts val="700"/>
                        <a:buFont typeface="Arial"/>
                        <a:buNone/>
                      </a:pPr>
                      <a:r>
                        <a:rPr b="0" i="0" lang="es-MX" sz="700" u="none" cap="none" strike="noStrike">
                          <a:solidFill>
                            <a:srgbClr val="000000"/>
                          </a:solidFill>
                          <a:latin typeface="Arial"/>
                          <a:ea typeface="Arial"/>
                          <a:cs typeface="Arial"/>
                          <a:sym typeface="Arial"/>
                        </a:rPr>
                        <a:t>Servicios Comerciales en sinergia con Ejecución Comercial</a:t>
                      </a:r>
                      <a:endParaRPr b="0" i="0" sz="700" u="none" cap="none" strike="noStrike">
                        <a:solidFill>
                          <a:srgbClr val="000000"/>
                        </a:solidFill>
                        <a:latin typeface="Arial"/>
                        <a:ea typeface="Arial"/>
                        <a:cs typeface="Arial"/>
                        <a:sym typeface="Arial"/>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bl>
          </a:graphicData>
        </a:graphic>
      </p:graphicFrame>
      <p:graphicFrame>
        <p:nvGraphicFramePr>
          <p:cNvPr id="1608" name="Google Shape;1608;p107"/>
          <p:cNvGraphicFramePr/>
          <p:nvPr/>
        </p:nvGraphicFramePr>
        <p:xfrm>
          <a:off x="2331205" y="1394383"/>
          <a:ext cx="3000000" cy="3000000"/>
        </p:xfrm>
        <a:graphic>
          <a:graphicData uri="http://schemas.openxmlformats.org/drawingml/2006/table">
            <a:tbl>
              <a:tblPr>
                <a:solidFill>
                  <a:srgbClr val="F2F2F2"/>
                </a:solidFill>
                <a:tableStyleId>{59F1A6B1-18B9-4B87-B458-7A3E6594CA7B}</a:tableStyleId>
              </a:tblPr>
              <a:tblGrid>
                <a:gridCol w="3071450"/>
              </a:tblGrid>
              <a:tr h="22610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Documentación áreas, propósitos y responsabilidades</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Descripciones de Puesto L1 y L2, validadas</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Matriz RASCI (Metodología y ejercicio central)</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Diagnóstico de madurez y trazabilidad premisas FFP</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bl>
          </a:graphicData>
        </a:graphic>
      </p:graphicFrame>
      <p:graphicFrame>
        <p:nvGraphicFramePr>
          <p:cNvPr id="1609" name="Google Shape;1609;p107"/>
          <p:cNvGraphicFramePr/>
          <p:nvPr/>
        </p:nvGraphicFramePr>
        <p:xfrm>
          <a:off x="2331205" y="4866393"/>
          <a:ext cx="3000000" cy="3000000"/>
        </p:xfrm>
        <a:graphic>
          <a:graphicData uri="http://schemas.openxmlformats.org/drawingml/2006/table">
            <a:tbl>
              <a:tblPr>
                <a:solidFill>
                  <a:srgbClr val="F2F2F2"/>
                </a:solidFill>
                <a:tableStyleId>{59F1A6B1-18B9-4B87-B458-7A3E6594CA7B}</a:tableStyleId>
              </a:tblPr>
              <a:tblGrid>
                <a:gridCol w="3071450"/>
              </a:tblGrid>
              <a:tr h="226100">
                <a:tc>
                  <a:txBody>
                    <a:bodyPr/>
                    <a:lstStyle/>
                    <a:p>
                      <a:pPr indent="0" lvl="0" marL="0" marR="0" rtl="0" algn="l">
                        <a:spcBef>
                          <a:spcPts val="0"/>
                        </a:spcBef>
                        <a:spcAft>
                          <a:spcPts val="0"/>
                        </a:spcAft>
                        <a:buClr>
                          <a:srgbClr val="000000"/>
                        </a:buClr>
                        <a:buSzPts val="800"/>
                        <a:buFont typeface="Arial"/>
                        <a:buNone/>
                      </a:pPr>
                      <a:r>
                        <a:rPr b="0" i="0" lang="es-MX" sz="800" u="none" cap="none" strike="noStrike">
                          <a:solidFill>
                            <a:srgbClr val="000000"/>
                          </a:solidFill>
                          <a:latin typeface="Arial"/>
                          <a:ea typeface="Arial"/>
                          <a:cs typeface="Arial"/>
                          <a:sym typeface="Arial"/>
                        </a:rPr>
                        <a:t>1) Comercial, 2) Customer &amp; Marketing</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800"/>
                        <a:buFont typeface="Arial"/>
                        <a:buNone/>
                      </a:pPr>
                      <a:r>
                        <a:rPr b="0" i="0" lang="es-MX" sz="800" u="none" cap="none" strike="noStrike">
                          <a:solidFill>
                            <a:srgbClr val="000000"/>
                          </a:solidFill>
                          <a:latin typeface="Arial"/>
                          <a:ea typeface="Arial"/>
                          <a:cs typeface="Arial"/>
                          <a:sym typeface="Arial"/>
                        </a:rPr>
                        <a:t>3) Excelencia Operaciones, 4) Operaciones y Expansión</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800"/>
                        <a:buFont typeface="Arial"/>
                        <a:buNone/>
                      </a:pPr>
                      <a:r>
                        <a:rPr b="0" i="0" lang="es-MX" sz="800" u="none" cap="none" strike="noStrike">
                          <a:solidFill>
                            <a:srgbClr val="000000"/>
                          </a:solidFill>
                          <a:latin typeface="Arial"/>
                          <a:ea typeface="Arial"/>
                          <a:cs typeface="Arial"/>
                          <a:sym typeface="Arial"/>
                        </a:rPr>
                        <a:t>5) Estrategia y Transformación, 6) AYF, 7) TI</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26100">
                <a:tc>
                  <a:txBody>
                    <a:bodyPr/>
                    <a:lstStyle/>
                    <a:p>
                      <a:pPr indent="0" lvl="0" marL="0" marR="0" rtl="0" algn="l">
                        <a:spcBef>
                          <a:spcPts val="0"/>
                        </a:spcBef>
                        <a:spcAft>
                          <a:spcPts val="0"/>
                        </a:spcAft>
                        <a:buClr>
                          <a:srgbClr val="000000"/>
                        </a:buClr>
                        <a:buSzPts val="800"/>
                        <a:buFont typeface="Arial"/>
                        <a:buNone/>
                      </a:pPr>
                      <a:r>
                        <a:rPr b="0" i="0" lang="es-MX" sz="800" u="none" cap="none" strike="noStrike">
                          <a:solidFill>
                            <a:srgbClr val="000000"/>
                          </a:solidFill>
                          <a:latin typeface="Arial"/>
                          <a:ea typeface="Arial"/>
                          <a:cs typeface="Arial"/>
                          <a:sym typeface="Arial"/>
                        </a:rPr>
                        <a:t>8) Cadena Suministro, 9) Recursos Humanos</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bl>
          </a:graphicData>
        </a:graphic>
      </p:graphicFrame>
      <p:graphicFrame>
        <p:nvGraphicFramePr>
          <p:cNvPr id="1610" name="Google Shape;1610;p107"/>
          <p:cNvGraphicFramePr/>
          <p:nvPr/>
        </p:nvGraphicFramePr>
        <p:xfrm>
          <a:off x="2331205" y="5924444"/>
          <a:ext cx="3000000" cy="3000000"/>
        </p:xfrm>
        <a:graphic>
          <a:graphicData uri="http://schemas.openxmlformats.org/drawingml/2006/table">
            <a:tbl>
              <a:tblPr>
                <a:solidFill>
                  <a:srgbClr val="F2F2F2"/>
                </a:solidFill>
                <a:tableStyleId>{59F1A6B1-18B9-4B87-B458-7A3E6594CA7B}</a:tableStyleId>
              </a:tblPr>
              <a:tblGrid>
                <a:gridCol w="3071450"/>
              </a:tblGrid>
              <a:tr h="25155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Alineación al Sistema de Gestión</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r h="251550">
                <a:tc>
                  <a:txBody>
                    <a:bodyPr/>
                    <a:lstStyle/>
                    <a:p>
                      <a:pPr indent="0" lvl="0" marL="0" marR="0" rtl="0" algn="l">
                        <a:spcBef>
                          <a:spcPts val="0"/>
                        </a:spcBef>
                        <a:spcAft>
                          <a:spcPts val="0"/>
                        </a:spcAft>
                        <a:buClr>
                          <a:srgbClr val="000000"/>
                        </a:buClr>
                        <a:buSzPts val="900"/>
                        <a:buFont typeface="Arial"/>
                        <a:buNone/>
                      </a:pPr>
                      <a:r>
                        <a:rPr b="0" i="0" lang="es-MX" sz="900" u="none" cap="none" strike="noStrike">
                          <a:solidFill>
                            <a:srgbClr val="000000"/>
                          </a:solidFill>
                          <a:latin typeface="Arial"/>
                          <a:ea typeface="Arial"/>
                          <a:cs typeface="Arial"/>
                          <a:sym typeface="Arial"/>
                        </a:rPr>
                        <a:t>Sesiones de socialización con L2</a:t>
                      </a:r>
                      <a:endParaRPr/>
                    </a:p>
                  </a:txBody>
                  <a:tcPr marT="69875" marB="11300" marR="22625" marL="2262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rgbClr val="EAEAEA"/>
                    </a:solidFill>
                  </a:tcPr>
                </a:tc>
              </a:tr>
            </a:tbl>
          </a:graphicData>
        </a:graphic>
      </p:graphicFrame>
      <p:sp>
        <p:nvSpPr>
          <p:cNvPr id="1611" name="Google Shape;1611;p107"/>
          <p:cNvSpPr/>
          <p:nvPr/>
        </p:nvSpPr>
        <p:spPr>
          <a:xfrm>
            <a:off x="5844252" y="1656576"/>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12" name="Google Shape;1612;p107"/>
          <p:cNvSpPr/>
          <p:nvPr/>
        </p:nvSpPr>
        <p:spPr>
          <a:xfrm>
            <a:off x="5456364" y="1890008"/>
            <a:ext cx="532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13" name="Google Shape;1613;p107"/>
          <p:cNvSpPr/>
          <p:nvPr/>
        </p:nvSpPr>
        <p:spPr>
          <a:xfrm>
            <a:off x="11221055" y="2102333"/>
            <a:ext cx="82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14" name="Google Shape;1614;p107"/>
          <p:cNvSpPr/>
          <p:nvPr/>
        </p:nvSpPr>
        <p:spPr>
          <a:xfrm>
            <a:off x="6685098" y="2562998"/>
            <a:ext cx="493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15" name="Google Shape;1615;p107"/>
          <p:cNvSpPr/>
          <p:nvPr/>
        </p:nvSpPr>
        <p:spPr>
          <a:xfrm>
            <a:off x="6685098" y="2764517"/>
            <a:ext cx="493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16" name="Google Shape;1616;p107"/>
          <p:cNvSpPr/>
          <p:nvPr/>
        </p:nvSpPr>
        <p:spPr>
          <a:xfrm>
            <a:off x="6685098" y="2957137"/>
            <a:ext cx="493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17" name="Google Shape;1617;p107"/>
          <p:cNvSpPr/>
          <p:nvPr/>
        </p:nvSpPr>
        <p:spPr>
          <a:xfrm>
            <a:off x="9106730" y="3197602"/>
            <a:ext cx="280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18" name="Google Shape;1618;p107"/>
          <p:cNvSpPr/>
          <p:nvPr/>
        </p:nvSpPr>
        <p:spPr>
          <a:xfrm>
            <a:off x="9106730" y="3395368"/>
            <a:ext cx="280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19" name="Google Shape;1619;p107"/>
          <p:cNvSpPr/>
          <p:nvPr/>
        </p:nvSpPr>
        <p:spPr>
          <a:xfrm>
            <a:off x="9109184" y="3598777"/>
            <a:ext cx="280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20" name="Google Shape;1620;p107"/>
          <p:cNvSpPr/>
          <p:nvPr/>
        </p:nvSpPr>
        <p:spPr>
          <a:xfrm>
            <a:off x="9790857" y="3833198"/>
            <a:ext cx="2340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21" name="Google Shape;1621;p107"/>
          <p:cNvSpPr/>
          <p:nvPr/>
        </p:nvSpPr>
        <p:spPr>
          <a:xfrm>
            <a:off x="9790857" y="4027477"/>
            <a:ext cx="2340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22" name="Google Shape;1622;p107"/>
          <p:cNvSpPr/>
          <p:nvPr/>
        </p:nvSpPr>
        <p:spPr>
          <a:xfrm>
            <a:off x="11734857" y="4839840"/>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23" name="Google Shape;1623;p107"/>
          <p:cNvSpPr/>
          <p:nvPr/>
        </p:nvSpPr>
        <p:spPr>
          <a:xfrm>
            <a:off x="11734857" y="5063481"/>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24" name="Google Shape;1624;p107"/>
          <p:cNvSpPr/>
          <p:nvPr/>
        </p:nvSpPr>
        <p:spPr>
          <a:xfrm>
            <a:off x="11734857" y="5309450"/>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25" name="Google Shape;1625;p107"/>
          <p:cNvSpPr/>
          <p:nvPr/>
        </p:nvSpPr>
        <p:spPr>
          <a:xfrm>
            <a:off x="11734857" y="5543265"/>
            <a:ext cx="396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26" name="Google Shape;1626;p107"/>
          <p:cNvSpPr/>
          <p:nvPr/>
        </p:nvSpPr>
        <p:spPr>
          <a:xfrm>
            <a:off x="9085683" y="5955888"/>
            <a:ext cx="298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27" name="Google Shape;1627;p107"/>
          <p:cNvSpPr/>
          <p:nvPr/>
        </p:nvSpPr>
        <p:spPr>
          <a:xfrm>
            <a:off x="9085683" y="6168213"/>
            <a:ext cx="2988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28" name="Google Shape;1628;p107"/>
          <p:cNvSpPr/>
          <p:nvPr/>
        </p:nvSpPr>
        <p:spPr>
          <a:xfrm>
            <a:off x="10438857" y="4221748"/>
            <a:ext cx="169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sp>
        <p:nvSpPr>
          <p:cNvPr id="1629" name="Google Shape;1629;p107"/>
          <p:cNvSpPr/>
          <p:nvPr/>
        </p:nvSpPr>
        <p:spPr>
          <a:xfrm>
            <a:off x="5181865" y="1423980"/>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107"/>
          <p:cNvSpPr/>
          <p:nvPr/>
        </p:nvSpPr>
        <p:spPr>
          <a:xfrm>
            <a:off x="5182039" y="4413551"/>
            <a:ext cx="172745" cy="172986"/>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107"/>
          <p:cNvSpPr/>
          <p:nvPr/>
        </p:nvSpPr>
        <p:spPr>
          <a:xfrm>
            <a:off x="5181865" y="1640629"/>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107"/>
          <p:cNvSpPr/>
          <p:nvPr/>
        </p:nvSpPr>
        <p:spPr>
          <a:xfrm>
            <a:off x="5181865" y="1869518"/>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107"/>
          <p:cNvSpPr/>
          <p:nvPr/>
        </p:nvSpPr>
        <p:spPr>
          <a:xfrm>
            <a:off x="5181865" y="2098214"/>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107"/>
          <p:cNvSpPr/>
          <p:nvPr/>
        </p:nvSpPr>
        <p:spPr>
          <a:xfrm>
            <a:off x="5181865" y="2562412"/>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107"/>
          <p:cNvSpPr/>
          <p:nvPr/>
        </p:nvSpPr>
        <p:spPr>
          <a:xfrm>
            <a:off x="5181865" y="2771515"/>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107"/>
          <p:cNvSpPr/>
          <p:nvPr/>
        </p:nvSpPr>
        <p:spPr>
          <a:xfrm>
            <a:off x="5181865" y="2968903"/>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107"/>
          <p:cNvSpPr/>
          <p:nvPr/>
        </p:nvSpPr>
        <p:spPr>
          <a:xfrm>
            <a:off x="5181865" y="3174340"/>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107"/>
          <p:cNvSpPr/>
          <p:nvPr/>
        </p:nvSpPr>
        <p:spPr>
          <a:xfrm>
            <a:off x="5181865" y="3388706"/>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107"/>
          <p:cNvSpPr/>
          <p:nvPr/>
        </p:nvSpPr>
        <p:spPr>
          <a:xfrm>
            <a:off x="5181865" y="3595515"/>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107"/>
          <p:cNvSpPr/>
          <p:nvPr/>
        </p:nvSpPr>
        <p:spPr>
          <a:xfrm>
            <a:off x="5181865" y="3800241"/>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107"/>
          <p:cNvSpPr/>
          <p:nvPr/>
        </p:nvSpPr>
        <p:spPr>
          <a:xfrm>
            <a:off x="5181865" y="3997629"/>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107"/>
          <p:cNvSpPr/>
          <p:nvPr/>
        </p:nvSpPr>
        <p:spPr>
          <a:xfrm>
            <a:off x="5181865" y="4203461"/>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107"/>
          <p:cNvSpPr/>
          <p:nvPr/>
        </p:nvSpPr>
        <p:spPr>
          <a:xfrm>
            <a:off x="5181865" y="4887219"/>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107"/>
          <p:cNvSpPr/>
          <p:nvPr/>
        </p:nvSpPr>
        <p:spPr>
          <a:xfrm>
            <a:off x="5181865" y="5122821"/>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107"/>
          <p:cNvSpPr/>
          <p:nvPr/>
        </p:nvSpPr>
        <p:spPr>
          <a:xfrm>
            <a:off x="5181865" y="5349272"/>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107"/>
          <p:cNvSpPr/>
          <p:nvPr/>
        </p:nvSpPr>
        <p:spPr>
          <a:xfrm>
            <a:off x="5181865" y="5580095"/>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107"/>
          <p:cNvSpPr/>
          <p:nvPr/>
        </p:nvSpPr>
        <p:spPr>
          <a:xfrm>
            <a:off x="5181865" y="5977434"/>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107"/>
          <p:cNvSpPr/>
          <p:nvPr/>
        </p:nvSpPr>
        <p:spPr>
          <a:xfrm>
            <a:off x="5181865" y="6214013"/>
            <a:ext cx="165053" cy="165283"/>
          </a:xfrm>
          <a:custGeom>
            <a:rect b="b" l="l" r="r" t="t"/>
            <a:pathLst>
              <a:path extrusionOk="0" h="114966" w="114806">
                <a:moveTo>
                  <a:pt x="53590" y="68014"/>
                </a:moveTo>
                <a:lnTo>
                  <a:pt x="60839" y="75273"/>
                </a:lnTo>
                <a:lnTo>
                  <a:pt x="53590" y="82532"/>
                </a:lnTo>
                <a:lnTo>
                  <a:pt x="46342" y="75273"/>
                </a:lnTo>
                <a:close/>
                <a:moveTo>
                  <a:pt x="65029" y="56560"/>
                </a:moveTo>
                <a:lnTo>
                  <a:pt x="72277" y="63819"/>
                </a:lnTo>
                <a:lnTo>
                  <a:pt x="65029" y="71077"/>
                </a:lnTo>
                <a:lnTo>
                  <a:pt x="57780" y="63819"/>
                </a:lnTo>
                <a:close/>
                <a:moveTo>
                  <a:pt x="42152" y="56560"/>
                </a:moveTo>
                <a:lnTo>
                  <a:pt x="49400" y="63819"/>
                </a:lnTo>
                <a:lnTo>
                  <a:pt x="42152" y="71077"/>
                </a:lnTo>
                <a:lnTo>
                  <a:pt x="34903" y="63819"/>
                </a:lnTo>
                <a:close/>
                <a:moveTo>
                  <a:pt x="76425" y="45105"/>
                </a:moveTo>
                <a:lnTo>
                  <a:pt x="83674" y="52364"/>
                </a:lnTo>
                <a:lnTo>
                  <a:pt x="76425" y="59623"/>
                </a:lnTo>
                <a:lnTo>
                  <a:pt x="69219" y="52364"/>
                </a:lnTo>
                <a:close/>
                <a:moveTo>
                  <a:pt x="30713" y="45105"/>
                </a:moveTo>
                <a:lnTo>
                  <a:pt x="37962" y="52364"/>
                </a:lnTo>
                <a:lnTo>
                  <a:pt x="30713" y="59623"/>
                </a:lnTo>
                <a:lnTo>
                  <a:pt x="23464" y="52364"/>
                </a:lnTo>
                <a:close/>
                <a:moveTo>
                  <a:pt x="87864" y="33651"/>
                </a:moveTo>
                <a:lnTo>
                  <a:pt x="95113" y="40909"/>
                </a:lnTo>
                <a:lnTo>
                  <a:pt x="87864" y="48168"/>
                </a:lnTo>
                <a:lnTo>
                  <a:pt x="80615" y="40909"/>
                </a:lnTo>
                <a:close/>
                <a:moveTo>
                  <a:pt x="99302" y="22238"/>
                </a:moveTo>
                <a:lnTo>
                  <a:pt x="106551" y="29497"/>
                </a:lnTo>
                <a:lnTo>
                  <a:pt x="99302" y="36714"/>
                </a:lnTo>
                <a:lnTo>
                  <a:pt x="92054" y="29497"/>
                </a:lnTo>
                <a:close/>
                <a:moveTo>
                  <a:pt x="57403" y="0"/>
                </a:moveTo>
                <a:cubicBezTo>
                  <a:pt x="69302" y="0"/>
                  <a:pt x="80364" y="3651"/>
                  <a:pt x="89498" y="9819"/>
                </a:cubicBezTo>
                <a:lnTo>
                  <a:pt x="94233" y="13763"/>
                </a:lnTo>
                <a:lnTo>
                  <a:pt x="86942" y="21021"/>
                </a:lnTo>
                <a:lnTo>
                  <a:pt x="83758" y="18378"/>
                </a:lnTo>
                <a:cubicBezTo>
                  <a:pt x="76258" y="13301"/>
                  <a:pt x="67166" y="10322"/>
                  <a:pt x="57403" y="10322"/>
                </a:cubicBezTo>
                <a:cubicBezTo>
                  <a:pt x="31425" y="10322"/>
                  <a:pt x="10308" y="31469"/>
                  <a:pt x="10308" y="57483"/>
                </a:cubicBezTo>
                <a:cubicBezTo>
                  <a:pt x="10308" y="83539"/>
                  <a:pt x="31425" y="104686"/>
                  <a:pt x="57403" y="104686"/>
                </a:cubicBezTo>
                <a:cubicBezTo>
                  <a:pt x="83423" y="104686"/>
                  <a:pt x="104540" y="83539"/>
                  <a:pt x="104540" y="57483"/>
                </a:cubicBezTo>
                <a:cubicBezTo>
                  <a:pt x="104540" y="54252"/>
                  <a:pt x="104205" y="51063"/>
                  <a:pt x="103576" y="48000"/>
                </a:cubicBezTo>
                <a:lnTo>
                  <a:pt x="102990" y="46196"/>
                </a:lnTo>
                <a:lnTo>
                  <a:pt x="111202" y="37972"/>
                </a:lnTo>
                <a:lnTo>
                  <a:pt x="113674" y="45902"/>
                </a:lnTo>
                <a:cubicBezTo>
                  <a:pt x="114428" y="49679"/>
                  <a:pt x="114805" y="53539"/>
                  <a:pt x="114805" y="57483"/>
                </a:cubicBezTo>
                <a:cubicBezTo>
                  <a:pt x="114805" y="89245"/>
                  <a:pt x="89121" y="114965"/>
                  <a:pt x="57403" y="114965"/>
                </a:cubicBezTo>
                <a:cubicBezTo>
                  <a:pt x="25727" y="114965"/>
                  <a:pt x="1" y="89245"/>
                  <a:pt x="1" y="57483"/>
                </a:cubicBezTo>
                <a:cubicBezTo>
                  <a:pt x="1" y="25763"/>
                  <a:pt x="25727" y="0"/>
                  <a:pt x="57403" y="0"/>
                </a:cubicBezTo>
                <a:close/>
              </a:path>
            </a:pathLst>
          </a:custGeom>
          <a:solidFill>
            <a:srgbClr val="5C5C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107"/>
          <p:cNvSpPr/>
          <p:nvPr/>
        </p:nvSpPr>
        <p:spPr>
          <a:xfrm>
            <a:off x="10438857" y="4425906"/>
            <a:ext cx="1692000" cy="174099"/>
          </a:xfrm>
          <a:prstGeom prst="rect">
            <a:avLst/>
          </a:prstGeom>
          <a:solidFill>
            <a:srgbClr val="AAB5D0"/>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800"/>
              <a:buFont typeface="Open Sans"/>
              <a:buNone/>
            </a:pPr>
            <a:r>
              <a:t/>
            </a:r>
            <a:endParaRPr b="0" i="0" sz="1800" u="none" cap="none" strike="noStrike">
              <a:solidFill>
                <a:srgbClr val="000000"/>
              </a:solidFill>
              <a:latin typeface="Open Sans"/>
              <a:ea typeface="Open Sans"/>
              <a:cs typeface="Open Sans"/>
              <a:sym typeface="Open Sans"/>
            </a:endParaRPr>
          </a:p>
        </p:txBody>
      </p:sp>
      <p:cxnSp>
        <p:nvCxnSpPr>
          <p:cNvPr id="1650" name="Google Shape;1650;p107"/>
          <p:cNvCxnSpPr/>
          <p:nvPr/>
        </p:nvCxnSpPr>
        <p:spPr>
          <a:xfrm>
            <a:off x="9527255" y="1228458"/>
            <a:ext cx="0" cy="5364000"/>
          </a:xfrm>
          <a:prstGeom prst="straightConnector1">
            <a:avLst/>
          </a:prstGeom>
          <a:solidFill>
            <a:schemeClr val="accent1"/>
          </a:solidFill>
          <a:ln cap="flat" cmpd="sng" w="12700">
            <a:solidFill>
              <a:srgbClr val="FF0000"/>
            </a:solidFill>
            <a:prstDash val="dash"/>
            <a:round/>
            <a:headEnd len="sm" w="sm" type="none"/>
            <a:tailEnd len="med" w="med" type="triangle"/>
          </a:ln>
        </p:spPr>
      </p:cxnSp>
      <p:sp>
        <p:nvSpPr>
          <p:cNvPr id="1651" name="Google Shape;1651;p107"/>
          <p:cNvSpPr txBox="1"/>
          <p:nvPr/>
        </p:nvSpPr>
        <p:spPr>
          <a:xfrm>
            <a:off x="8883179" y="6615875"/>
            <a:ext cx="465192" cy="24622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FF0000"/>
              </a:buClr>
              <a:buSzPts val="1000"/>
              <a:buFont typeface="Open Sans"/>
              <a:buNone/>
            </a:pPr>
            <a:r>
              <a:rPr b="1" lang="es-MX" sz="1000">
                <a:solidFill>
                  <a:srgbClr val="FF0000"/>
                </a:solidFill>
                <a:latin typeface="Open Sans"/>
                <a:ea typeface="Open Sans"/>
                <a:cs typeface="Open Sans"/>
                <a:sym typeface="Open Sans"/>
              </a:rPr>
              <a:t>HOY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5" name="Shape 1655"/>
        <p:cNvGrpSpPr/>
        <p:nvPr/>
      </p:nvGrpSpPr>
      <p:grpSpPr>
        <a:xfrm>
          <a:off x="0" y="0"/>
          <a:ext cx="0" cy="0"/>
          <a:chOff x="0" y="0"/>
          <a:chExt cx="0" cy="0"/>
        </a:xfrm>
      </p:grpSpPr>
      <p:sp>
        <p:nvSpPr>
          <p:cNvPr id="1656" name="Google Shape;1656;p108"/>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Cierre y siguientes pasos</a:t>
            </a:r>
            <a:endParaRPr i="1"/>
          </a:p>
        </p:txBody>
      </p:sp>
      <p:sp>
        <p:nvSpPr>
          <p:cNvPr id="1657" name="Google Shape;1657;p108"/>
          <p:cNvSpPr txBox="1"/>
          <p:nvPr/>
        </p:nvSpPr>
        <p:spPr>
          <a:xfrm>
            <a:off x="9732264" y="0"/>
            <a:ext cx="2459736" cy="307777"/>
          </a:xfrm>
          <a:prstGeom prst="rect">
            <a:avLst/>
          </a:prstGeom>
          <a:solidFill>
            <a:schemeClr val="dk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N O N   E X H A U S T I V E</a:t>
            </a:r>
            <a:endParaRPr/>
          </a:p>
        </p:txBody>
      </p:sp>
      <p:sp>
        <p:nvSpPr>
          <p:cNvPr id="1658" name="Google Shape;1658;p108"/>
          <p:cNvSpPr/>
          <p:nvPr/>
        </p:nvSpPr>
        <p:spPr>
          <a:xfrm>
            <a:off x="1060789" y="1106724"/>
            <a:ext cx="9611444" cy="1023828"/>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b="0" i="1" lang="es-MX" sz="1600" u="none" cap="none" strike="noStrike">
                <a:solidFill>
                  <a:srgbClr val="000000"/>
                </a:solidFill>
                <a:latin typeface="Open Sans"/>
                <a:ea typeface="Open Sans"/>
                <a:cs typeface="Open Sans"/>
                <a:sym typeface="Open Sans"/>
              </a:rPr>
              <a:t>Cascadeo</a:t>
            </a:r>
            <a:r>
              <a:rPr b="0" i="0" lang="es-MX" sz="1600" u="none" cap="none" strike="noStrike">
                <a:solidFill>
                  <a:srgbClr val="000000"/>
                </a:solidFill>
                <a:latin typeface="Open Sans"/>
                <a:ea typeface="Open Sans"/>
                <a:cs typeface="Open Sans"/>
                <a:sym typeface="Open Sans"/>
              </a:rPr>
              <a:t> de información hacia los equipos que forman parte de esta interacción crítica para asegurar entendimiento de roles y responsabilidades</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¿Falta el mapeo de algún proceso crítico con relación a Modelo de Madurez?</a:t>
            </a:r>
            <a:endParaRPr/>
          </a:p>
          <a:p>
            <a:pPr indent="-285750" lvl="0" marL="285750" marR="0" rtl="0" algn="l">
              <a:lnSpc>
                <a:spcPct val="100000"/>
              </a:lnSpc>
              <a:spcBef>
                <a:spcPts val="1200"/>
              </a:spcBef>
              <a:spcAft>
                <a:spcPts val="0"/>
              </a:spcAft>
              <a:buClr>
                <a:srgbClr val="000000"/>
              </a:buClr>
              <a:buSzPts val="1600"/>
              <a:buFont typeface="Courier New"/>
              <a:buChar char="o"/>
            </a:pPr>
            <a:r>
              <a:rPr b="0" i="0" lang="es-MX" sz="1600" u="none" cap="none" strike="noStrike">
                <a:solidFill>
                  <a:srgbClr val="000000"/>
                </a:solidFill>
                <a:latin typeface="Open Sans"/>
                <a:ea typeface="Open Sans"/>
                <a:cs typeface="Open Sans"/>
                <a:sym typeface="Open Sans"/>
              </a:rPr>
              <a:t>¿Existen preocu</a:t>
            </a:r>
            <a:r>
              <a:rPr lang="es-MX" sz="1600">
                <a:solidFill>
                  <a:srgbClr val="000000"/>
                </a:solidFill>
                <a:latin typeface="Open Sans"/>
                <a:ea typeface="Open Sans"/>
                <a:cs typeface="Open Sans"/>
                <a:sym typeface="Open Sans"/>
              </a:rPr>
              <a:t>paciones sobre lo definido / acordado?</a:t>
            </a:r>
            <a:endParaRPr/>
          </a:p>
        </p:txBody>
      </p:sp>
      <p:sp>
        <p:nvSpPr>
          <p:cNvPr id="1659" name="Google Shape;1659;p108"/>
          <p:cNvSpPr/>
          <p:nvPr/>
        </p:nvSpPr>
        <p:spPr>
          <a:xfrm>
            <a:off x="1060789" y="2545290"/>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b="0" i="0" lang="es-MX" sz="1600" u="none" cap="none" strike="noStrike">
                <a:solidFill>
                  <a:srgbClr val="000000"/>
                </a:solidFill>
                <a:latin typeface="Open Sans"/>
                <a:ea typeface="Open Sans"/>
                <a:cs typeface="Open Sans"/>
                <a:sym typeface="Open Sans"/>
              </a:rPr>
              <a:t>Mapeo del resto de procesos e interacciones críticas de organización para clarificar y transparentar roles y responsabilidades de cada área</a:t>
            </a:r>
            <a:r>
              <a:rPr lang="es-MX" sz="1600">
                <a:solidFill>
                  <a:srgbClr val="000000"/>
                </a:solidFill>
                <a:latin typeface="Open Sans"/>
                <a:ea typeface="Open Sans"/>
                <a:cs typeface="Open Sans"/>
                <a:sym typeface="Open Sans"/>
              </a:rPr>
              <a:t> </a:t>
            </a:r>
            <a:endParaRPr b="0" i="0" sz="1600" u="none" cap="none" strike="noStrike">
              <a:solidFill>
                <a:srgbClr val="000000"/>
              </a:solidFill>
              <a:latin typeface="Open Sans"/>
              <a:ea typeface="Open Sans"/>
              <a:cs typeface="Open Sans"/>
              <a:sym typeface="Open Sans"/>
            </a:endParaRPr>
          </a:p>
        </p:txBody>
      </p:sp>
      <p:sp>
        <p:nvSpPr>
          <p:cNvPr id="1660" name="Google Shape;1660;p108"/>
          <p:cNvSpPr/>
          <p:nvPr/>
        </p:nvSpPr>
        <p:spPr>
          <a:xfrm>
            <a:off x="1060789" y="3818334"/>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lang="es-MX" sz="1600">
                <a:solidFill>
                  <a:srgbClr val="000000"/>
                </a:solidFill>
                <a:latin typeface="Open Sans"/>
                <a:ea typeface="Open Sans"/>
                <a:cs typeface="Open Sans"/>
                <a:sym typeface="Open Sans"/>
              </a:rPr>
              <a:t>Definición de metodología para diagnóstico de madurez de las capacidades organizacionales de OXXO que se desarrollarán derivado de FFP</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Rituales</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KPIs clave</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Frecuencia del diagnóstico</a:t>
            </a:r>
            <a:endParaRPr sz="1600">
              <a:solidFill>
                <a:srgbClr val="000000"/>
              </a:solidFill>
              <a:latin typeface="Open Sans"/>
              <a:ea typeface="Open Sans"/>
              <a:cs typeface="Open Sans"/>
              <a:sym typeface="Open Sans"/>
            </a:endParaRPr>
          </a:p>
        </p:txBody>
      </p:sp>
      <p:sp>
        <p:nvSpPr>
          <p:cNvPr id="1661" name="Google Shape;1661;p108"/>
          <p:cNvSpPr/>
          <p:nvPr/>
        </p:nvSpPr>
        <p:spPr>
          <a:xfrm>
            <a:off x="1060789" y="5075587"/>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lang="es-MX" sz="1600">
                <a:solidFill>
                  <a:srgbClr val="000000"/>
                </a:solidFill>
                <a:latin typeface="Open Sans"/>
                <a:ea typeface="Open Sans"/>
                <a:cs typeface="Open Sans"/>
                <a:sym typeface="Open Sans"/>
              </a:rPr>
              <a:t>Evaluación de madurez de desarrollo de capacidades – TBD 2026</a:t>
            </a:r>
            <a:endParaRPr sz="1600">
              <a:solidFill>
                <a:srgbClr val="000000"/>
              </a:solidFill>
              <a:latin typeface="Open Sans"/>
              <a:ea typeface="Open Sans"/>
              <a:cs typeface="Open Sans"/>
              <a:sym typeface="Open Sans"/>
            </a:endParaRPr>
          </a:p>
        </p:txBody>
      </p:sp>
      <p:sp>
        <p:nvSpPr>
          <p:cNvPr id="1662" name="Google Shape;1662;p108"/>
          <p:cNvSpPr/>
          <p:nvPr/>
        </p:nvSpPr>
        <p:spPr>
          <a:xfrm>
            <a:off x="681671" y="1036083"/>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1</a:t>
            </a:r>
            <a:endParaRPr/>
          </a:p>
        </p:txBody>
      </p:sp>
      <p:sp>
        <p:nvSpPr>
          <p:cNvPr id="1663" name="Google Shape;1663;p108"/>
          <p:cNvSpPr/>
          <p:nvPr/>
        </p:nvSpPr>
        <p:spPr>
          <a:xfrm>
            <a:off x="681671" y="2587152"/>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2</a:t>
            </a:r>
            <a:endParaRPr/>
          </a:p>
        </p:txBody>
      </p:sp>
      <p:sp>
        <p:nvSpPr>
          <p:cNvPr id="1664" name="Google Shape;1664;p108"/>
          <p:cNvSpPr/>
          <p:nvPr/>
        </p:nvSpPr>
        <p:spPr>
          <a:xfrm>
            <a:off x="681671" y="3249727"/>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3</a:t>
            </a:r>
            <a:endParaRPr/>
          </a:p>
        </p:txBody>
      </p:sp>
      <p:sp>
        <p:nvSpPr>
          <p:cNvPr id="1665" name="Google Shape;1665;p108"/>
          <p:cNvSpPr/>
          <p:nvPr/>
        </p:nvSpPr>
        <p:spPr>
          <a:xfrm>
            <a:off x="681671" y="5133485"/>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4</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0" name="Shape 1670"/>
        <p:cNvGrpSpPr/>
        <p:nvPr/>
      </p:nvGrpSpPr>
      <p:grpSpPr>
        <a:xfrm>
          <a:off x="0" y="0"/>
          <a:ext cx="0" cy="0"/>
          <a:chOff x="0" y="0"/>
          <a:chExt cx="0" cy="0"/>
        </a:xfrm>
      </p:grpSpPr>
      <p:grpSp>
        <p:nvGrpSpPr>
          <p:cNvPr id="1671" name="Google Shape;1671;p109"/>
          <p:cNvGrpSpPr/>
          <p:nvPr/>
        </p:nvGrpSpPr>
        <p:grpSpPr>
          <a:xfrm>
            <a:off x="0" y="6926580"/>
            <a:ext cx="12192000" cy="137160"/>
            <a:chOff x="0" y="6926580"/>
            <a:chExt cx="12192000" cy="137160"/>
          </a:xfrm>
        </p:grpSpPr>
        <p:sp>
          <p:nvSpPr>
            <p:cNvPr id="1672" name="Google Shape;1672;p109"/>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673" name="Google Shape;1673;p109"/>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674" name="Google Shape;1674;p109"/>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675" name="Google Shape;1675;p109"/>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1676" name="Google Shape;1676;p109"/>
          <p:cNvGrpSpPr/>
          <p:nvPr/>
        </p:nvGrpSpPr>
        <p:grpSpPr>
          <a:xfrm>
            <a:off x="0" y="-205740"/>
            <a:ext cx="12192000" cy="137160"/>
            <a:chOff x="0" y="-205740"/>
            <a:chExt cx="12192000" cy="137160"/>
          </a:xfrm>
        </p:grpSpPr>
        <p:sp>
          <p:nvSpPr>
            <p:cNvPr id="1677" name="Google Shape;1677;p109"/>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678" name="Google Shape;1678;p109"/>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679" name="Google Shape;1679;p109"/>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680" name="Google Shape;1680;p109"/>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1681" name="Google Shape;1681;p109"/>
          <p:cNvSpPr txBox="1"/>
          <p:nvPr>
            <p:ph type="title"/>
          </p:nvPr>
        </p:nvSpPr>
        <p:spPr>
          <a:xfrm>
            <a:off x="950142" y="2720529"/>
            <a:ext cx="10698933" cy="1065540"/>
          </a:xfrm>
          <a:prstGeom prst="rect">
            <a:avLst/>
          </a:prstGeom>
          <a:noFill/>
          <a:ln>
            <a:noFill/>
          </a:ln>
        </p:spPr>
        <p:txBody>
          <a:bodyPr anchorCtr="0" anchor="ctr" bIns="36000" lIns="91425" spcFirstLastPara="1" rIns="91425" wrap="square" tIns="36000">
            <a:normAutofit/>
          </a:bodyPr>
          <a:lstStyle/>
          <a:p>
            <a:pPr indent="0" lvl="0" marL="0" rtl="0" algn="l">
              <a:lnSpc>
                <a:spcPct val="100000"/>
              </a:lnSpc>
              <a:spcBef>
                <a:spcPts val="0"/>
              </a:spcBef>
              <a:spcAft>
                <a:spcPts val="0"/>
              </a:spcAft>
              <a:buNone/>
            </a:pPr>
            <a:r>
              <a:rPr lang="es-MX"/>
              <a:t>¡Gracias!</a:t>
            </a:r>
            <a:endParaRPr b="0"/>
          </a:p>
        </p:txBody>
      </p:sp>
      <p:sp>
        <p:nvSpPr>
          <p:cNvPr id="1682" name="Google Shape;1682;p109"/>
          <p:cNvSpPr txBox="1"/>
          <p:nvPr/>
        </p:nvSpPr>
        <p:spPr>
          <a:xfrm>
            <a:off x="1016817" y="3838575"/>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Open Sans"/>
              <a:buNone/>
            </a:pPr>
            <a:r>
              <a:rPr i="0" lang="es-MX" sz="1600" u="none" cap="none" strike="noStrike">
                <a:solidFill>
                  <a:srgbClr val="FFFFFF"/>
                </a:solidFill>
                <a:latin typeface="Open Sans"/>
                <a:ea typeface="Open Sans"/>
                <a:cs typeface="Open Sans"/>
                <a:sym typeface="Open Sans"/>
              </a:rPr>
              <a:t>Enero 2026</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6" name="Shape 1686"/>
        <p:cNvGrpSpPr/>
        <p:nvPr/>
      </p:nvGrpSpPr>
      <p:grpSpPr>
        <a:xfrm>
          <a:off x="0" y="0"/>
          <a:ext cx="0" cy="0"/>
          <a:chOff x="0" y="0"/>
          <a:chExt cx="0" cy="0"/>
        </a:xfrm>
      </p:grpSpPr>
      <p:sp>
        <p:nvSpPr>
          <p:cNvPr id="1687" name="Google Shape;1687;p111"/>
          <p:cNvSpPr txBox="1"/>
          <p:nvPr/>
        </p:nvSpPr>
        <p:spPr>
          <a:xfrm>
            <a:off x="410646" y="2942312"/>
            <a:ext cx="10698933" cy="1065540"/>
          </a:xfrm>
          <a:prstGeom prst="rect">
            <a:avLst/>
          </a:prstGeom>
          <a:noFill/>
          <a:ln>
            <a:noFill/>
          </a:ln>
        </p:spPr>
        <p:txBody>
          <a:bodyPr anchorCtr="0" anchor="t" bIns="45700" lIns="91425" spcFirstLastPara="1" rIns="91425" wrap="square" tIns="45700">
            <a:noAutofit/>
          </a:bodyPr>
          <a:lstStyle/>
          <a:p>
            <a:pPr indent="0" lvl="0" marL="0" marR="0" rtl="0" algn="l">
              <a:lnSpc>
                <a:spcPct val="101125"/>
              </a:lnSpc>
              <a:spcBef>
                <a:spcPts val="0"/>
              </a:spcBef>
              <a:spcAft>
                <a:spcPts val="0"/>
              </a:spcAft>
              <a:buNone/>
            </a:pPr>
            <a:r>
              <a:rPr b="1" lang="es-MX" sz="2400">
                <a:solidFill>
                  <a:schemeClr val="lt1"/>
                </a:solidFill>
                <a:latin typeface="Open Sans"/>
                <a:ea typeface="Open Sans"/>
                <a:cs typeface="Open Sans"/>
                <a:sym typeface="Open Sans"/>
              </a:rPr>
              <a:t>Construcción de ejemplo –  Capacidades Digitales</a:t>
            </a:r>
            <a:endParaRPr/>
          </a:p>
          <a:p>
            <a:pPr indent="0" lvl="0" marL="0" marR="0" rtl="0" algn="l">
              <a:lnSpc>
                <a:spcPct val="101125"/>
              </a:lnSpc>
              <a:spcBef>
                <a:spcPts val="0"/>
              </a:spcBef>
              <a:spcAft>
                <a:spcPts val="0"/>
              </a:spcAft>
              <a:buNone/>
            </a:pPr>
            <a:r>
              <a:rPr b="0" lang="es-MX" sz="2400">
                <a:solidFill>
                  <a:schemeClr val="lt1"/>
                </a:solidFill>
                <a:latin typeface="Open Sans"/>
                <a:ea typeface="Open Sans"/>
                <a:cs typeface="Open Sans"/>
                <a:sym typeface="Open Sans"/>
              </a:rPr>
              <a:t>Fit for Purpose OXXO MX</a:t>
            </a:r>
            <a:endParaRPr/>
          </a:p>
        </p:txBody>
      </p:sp>
      <p:sp>
        <p:nvSpPr>
          <p:cNvPr id="1688" name="Google Shape;1688;p111"/>
          <p:cNvSpPr txBox="1"/>
          <p:nvPr/>
        </p:nvSpPr>
        <p:spPr>
          <a:xfrm>
            <a:off x="450325" y="3669298"/>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Open Sans"/>
              <a:buNone/>
            </a:pPr>
            <a:r>
              <a:rPr i="0" lang="es-MX" sz="1600" u="none" cap="none" strike="noStrike">
                <a:solidFill>
                  <a:schemeClr val="lt1"/>
                </a:solidFill>
                <a:latin typeface="Open Sans"/>
                <a:ea typeface="Open Sans"/>
                <a:cs typeface="Open Sans"/>
                <a:sym typeface="Open Sans"/>
              </a:rPr>
              <a:t>Enero 2026</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2" name="Shape 1692"/>
        <p:cNvGrpSpPr/>
        <p:nvPr/>
      </p:nvGrpSpPr>
      <p:grpSpPr>
        <a:xfrm>
          <a:off x="0" y="0"/>
          <a:ext cx="0" cy="0"/>
          <a:chOff x="0" y="0"/>
          <a:chExt cx="0" cy="0"/>
        </a:xfrm>
      </p:grpSpPr>
      <p:sp>
        <p:nvSpPr>
          <p:cNvPr id="1693" name="Google Shape;1693;p112"/>
          <p:cNvSpPr txBox="1"/>
          <p:nvPr>
            <p:ph type="title"/>
          </p:nvPr>
        </p:nvSpPr>
        <p:spPr>
          <a:xfrm>
            <a:off x="419501" y="3167229"/>
            <a:ext cx="11352998" cy="369332"/>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sz="1800">
                <a:solidFill>
                  <a:srgbClr val="DE0230"/>
                </a:solidFill>
              </a:rPr>
              <a:t>Matriz RASCI | </a:t>
            </a:r>
            <a:r>
              <a:rPr lang="es-MX" sz="1800">
                <a:solidFill>
                  <a:schemeClr val="dk1"/>
                </a:solidFill>
              </a:rPr>
              <a:t>Capacidades Digitales</a:t>
            </a:r>
            <a:endParaRPr/>
          </a:p>
        </p:txBody>
      </p:sp>
      <p:sp>
        <p:nvSpPr>
          <p:cNvPr id="1694" name="Google Shape;1694;p112"/>
          <p:cNvSpPr txBox="1"/>
          <p:nvPr/>
        </p:nvSpPr>
        <p:spPr>
          <a:xfrm>
            <a:off x="213144" y="348435"/>
            <a:ext cx="11352998"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DE0230"/>
              </a:buClr>
              <a:buSzPts val="1800"/>
              <a:buFont typeface="Open Sans"/>
              <a:buNone/>
            </a:pPr>
            <a:r>
              <a:rPr lang="es-MX" sz="1800">
                <a:solidFill>
                  <a:srgbClr val="DE0230"/>
                </a:solidFill>
                <a:latin typeface="Open Sans"/>
                <a:ea typeface="Open Sans"/>
                <a:cs typeface="Open Sans"/>
                <a:sym typeface="Open Sans"/>
              </a:rPr>
              <a:t>   Objetivo de la sesión                                     Dinámica                                                            Roles RASCI </a:t>
            </a:r>
            <a:endParaRPr i="1" sz="1800">
              <a:solidFill>
                <a:srgbClr val="000000"/>
              </a:solidFill>
              <a:latin typeface="Open Sans"/>
              <a:ea typeface="Open Sans"/>
              <a:cs typeface="Open Sans"/>
              <a:sym typeface="Open Sans"/>
            </a:endParaRPr>
          </a:p>
        </p:txBody>
      </p:sp>
      <p:sp>
        <p:nvSpPr>
          <p:cNvPr id="1695" name="Google Shape;1695;p112"/>
          <p:cNvSpPr txBox="1"/>
          <p:nvPr/>
        </p:nvSpPr>
        <p:spPr>
          <a:xfrm>
            <a:off x="213144" y="1185484"/>
            <a:ext cx="381021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200" u="none" strike="noStrike">
                <a:solidFill>
                  <a:srgbClr val="1D3433"/>
                </a:solidFill>
                <a:latin typeface="Arial"/>
                <a:ea typeface="Arial"/>
                <a:cs typeface="Arial"/>
                <a:sym typeface="Arial"/>
              </a:rPr>
              <a:t>Construir ejemplos claros para roles RASCI aplicados al modelo de madurez operativa, </a:t>
            </a:r>
            <a:endParaRPr/>
          </a:p>
          <a:p>
            <a:pPr indent="0" lvl="0" marL="0" marR="0" rtl="0" algn="l">
              <a:spcBef>
                <a:spcPts val="0"/>
              </a:spcBef>
              <a:spcAft>
                <a:spcPts val="0"/>
              </a:spcAft>
              <a:buNone/>
            </a:pPr>
            <a:r>
              <a:rPr b="1" i="0" lang="es-MX" sz="1200" u="none" strike="noStrike">
                <a:solidFill>
                  <a:srgbClr val="1D3433"/>
                </a:solidFill>
                <a:latin typeface="Arial"/>
                <a:ea typeface="Arial"/>
                <a:cs typeface="Arial"/>
                <a:sym typeface="Arial"/>
              </a:rPr>
              <a:t>facilitando comprensión práctica.</a:t>
            </a:r>
            <a:r>
              <a:rPr b="1" i="0" lang="es-MX" sz="1200">
                <a:solidFill>
                  <a:srgbClr val="000000"/>
                </a:solidFill>
                <a:latin typeface="Arial"/>
                <a:ea typeface="Arial"/>
                <a:cs typeface="Arial"/>
                <a:sym typeface="Arial"/>
              </a:rPr>
              <a:t>​</a:t>
            </a:r>
            <a:endParaRPr b="1" sz="1200">
              <a:solidFill>
                <a:schemeClr val="dk1"/>
              </a:solidFill>
              <a:latin typeface="Open Sans"/>
              <a:ea typeface="Open Sans"/>
              <a:cs typeface="Open Sans"/>
              <a:sym typeface="Open Sans"/>
            </a:endParaRPr>
          </a:p>
        </p:txBody>
      </p:sp>
      <p:sp>
        <p:nvSpPr>
          <p:cNvPr id="1696" name="Google Shape;1696;p112"/>
          <p:cNvSpPr txBox="1"/>
          <p:nvPr/>
        </p:nvSpPr>
        <p:spPr>
          <a:xfrm>
            <a:off x="3666743" y="1117793"/>
            <a:ext cx="3801189"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Conocer y alinear Matriz RASCI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Desarrollar un ejemplo que genere </a:t>
            </a:r>
            <a:r>
              <a:rPr b="1" lang="es-MX" sz="1200">
                <a:solidFill>
                  <a:srgbClr val="1D3433"/>
                </a:solidFill>
                <a:latin typeface="Arial"/>
                <a:ea typeface="Arial"/>
                <a:cs typeface="Arial"/>
                <a:sym typeface="Arial"/>
              </a:rPr>
              <a:t>claridad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Integrar ejemplo a WS  </a:t>
            </a:r>
            <a:r>
              <a:rPr b="1" lang="es-MX" sz="1200">
                <a:solidFill>
                  <a:srgbClr val="1D3433"/>
                </a:solidFill>
                <a:latin typeface="Arial"/>
                <a:ea typeface="Arial"/>
                <a:cs typeface="Arial"/>
                <a:sym typeface="Arial"/>
              </a:rPr>
              <a:t>- Efectividad Organizacional</a:t>
            </a:r>
            <a:endParaRPr b="1" sz="1200">
              <a:solidFill>
                <a:schemeClr val="dk1"/>
              </a:solidFill>
              <a:latin typeface="Open Sans"/>
              <a:ea typeface="Open Sans"/>
              <a:cs typeface="Open Sans"/>
              <a:sym typeface="Open Sans"/>
            </a:endParaRPr>
          </a:p>
        </p:txBody>
      </p:sp>
      <p:cxnSp>
        <p:nvCxnSpPr>
          <p:cNvPr id="1697" name="Google Shape;1697;p112"/>
          <p:cNvCxnSpPr/>
          <p:nvPr/>
        </p:nvCxnSpPr>
        <p:spPr>
          <a:xfrm>
            <a:off x="3675888" y="395878"/>
            <a:ext cx="0" cy="2196000"/>
          </a:xfrm>
          <a:prstGeom prst="straightConnector1">
            <a:avLst/>
          </a:prstGeom>
          <a:noFill/>
          <a:ln cap="flat" cmpd="sng" w="12700">
            <a:solidFill>
              <a:schemeClr val="dk1"/>
            </a:solidFill>
            <a:prstDash val="dash"/>
            <a:round/>
            <a:headEnd len="sm" w="sm" type="none"/>
            <a:tailEnd len="sm" w="sm" type="none"/>
          </a:ln>
        </p:spPr>
      </p:cxnSp>
      <p:pic>
        <p:nvPicPr>
          <p:cNvPr descr="Interfaz de usuario gráfica, Aplicación, Sitio web&#10;&#10;El contenido generado por IA puede ser incorrecto." id="1698" name="Google Shape;1698;p112"/>
          <p:cNvPicPr preferRelativeResize="0"/>
          <p:nvPr/>
        </p:nvPicPr>
        <p:blipFill rotWithShape="1">
          <a:blip r:embed="rId3">
            <a:alphaModFix/>
          </a:blip>
          <a:srcRect b="39364" l="6535" r="4456" t="10433"/>
          <a:stretch/>
        </p:blipFill>
        <p:spPr>
          <a:xfrm>
            <a:off x="7531942" y="643550"/>
            <a:ext cx="3890028" cy="1582106"/>
          </a:xfrm>
          <a:prstGeom prst="rect">
            <a:avLst/>
          </a:prstGeom>
          <a:noFill/>
          <a:ln>
            <a:noFill/>
          </a:ln>
        </p:spPr>
      </p:pic>
      <p:pic>
        <p:nvPicPr>
          <p:cNvPr descr="Interfaz de usuario gráfica, Aplicación, Sitio web&#10;&#10;El contenido generado por IA puede ser incorrecto." id="1699" name="Google Shape;1699;p112"/>
          <p:cNvPicPr preferRelativeResize="0"/>
          <p:nvPr/>
        </p:nvPicPr>
        <p:blipFill rotWithShape="1">
          <a:blip r:embed="rId3">
            <a:alphaModFix/>
          </a:blip>
          <a:srcRect b="6191" l="6535" r="4456" t="61874"/>
          <a:stretch/>
        </p:blipFill>
        <p:spPr>
          <a:xfrm>
            <a:off x="7531942" y="2196033"/>
            <a:ext cx="3890028" cy="1006374"/>
          </a:xfrm>
          <a:prstGeom prst="rect">
            <a:avLst/>
          </a:prstGeom>
          <a:noFill/>
          <a:ln>
            <a:noFill/>
          </a:ln>
        </p:spPr>
      </p:pic>
      <p:cxnSp>
        <p:nvCxnSpPr>
          <p:cNvPr id="1700" name="Google Shape;1700;p112"/>
          <p:cNvCxnSpPr/>
          <p:nvPr/>
        </p:nvCxnSpPr>
        <p:spPr>
          <a:xfrm>
            <a:off x="7308324" y="395878"/>
            <a:ext cx="0" cy="2196000"/>
          </a:xfrm>
          <a:prstGeom prst="straightConnector1">
            <a:avLst/>
          </a:prstGeom>
          <a:noFill/>
          <a:ln cap="flat" cmpd="sng" w="12700">
            <a:solidFill>
              <a:schemeClr val="dk1"/>
            </a:solidFill>
            <a:prstDash val="dash"/>
            <a:round/>
            <a:headEnd len="sm" w="sm" type="none"/>
            <a:tailEnd len="sm" w="sm" type="none"/>
          </a:ln>
        </p:spPr>
      </p:cxnSp>
      <p:sp>
        <p:nvSpPr>
          <p:cNvPr id="1701" name="Google Shape;1701;p112"/>
          <p:cNvSpPr/>
          <p:nvPr/>
        </p:nvSpPr>
        <p:spPr>
          <a:xfrm>
            <a:off x="977101" y="4138746"/>
            <a:ext cx="212651" cy="223283"/>
          </a:xfrm>
          <a:prstGeom prst="ellipse">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MX" sz="900">
                <a:solidFill>
                  <a:schemeClr val="lt1"/>
                </a:solidFill>
                <a:latin typeface="Arial"/>
                <a:ea typeface="Arial"/>
                <a:cs typeface="Arial"/>
                <a:sym typeface="Arial"/>
              </a:rPr>
              <a:t>1</a:t>
            </a:r>
            <a:endParaRPr/>
          </a:p>
        </p:txBody>
      </p:sp>
      <p:sp>
        <p:nvSpPr>
          <p:cNvPr id="1702" name="Google Shape;1702;p112"/>
          <p:cNvSpPr/>
          <p:nvPr/>
        </p:nvSpPr>
        <p:spPr>
          <a:xfrm>
            <a:off x="977101" y="4489929"/>
            <a:ext cx="212651" cy="223283"/>
          </a:xfrm>
          <a:prstGeom prst="ellipse">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MX" sz="900">
                <a:solidFill>
                  <a:schemeClr val="lt1"/>
                </a:solidFill>
                <a:latin typeface="Arial"/>
                <a:ea typeface="Arial"/>
                <a:cs typeface="Arial"/>
                <a:sym typeface="Arial"/>
              </a:rPr>
              <a:t>2</a:t>
            </a:r>
            <a:endParaRPr/>
          </a:p>
        </p:txBody>
      </p:sp>
      <p:sp>
        <p:nvSpPr>
          <p:cNvPr id="1703" name="Google Shape;1703;p112"/>
          <p:cNvSpPr/>
          <p:nvPr/>
        </p:nvSpPr>
        <p:spPr>
          <a:xfrm>
            <a:off x="977101" y="4841112"/>
            <a:ext cx="212651" cy="223283"/>
          </a:xfrm>
          <a:prstGeom prst="ellipse">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MX" sz="900">
                <a:solidFill>
                  <a:schemeClr val="lt1"/>
                </a:solidFill>
                <a:latin typeface="Arial"/>
                <a:ea typeface="Arial"/>
                <a:cs typeface="Arial"/>
                <a:sym typeface="Arial"/>
              </a:rPr>
              <a:t>3</a:t>
            </a:r>
            <a:endParaRPr/>
          </a:p>
        </p:txBody>
      </p:sp>
      <p:sp>
        <p:nvSpPr>
          <p:cNvPr id="1704" name="Google Shape;1704;p112"/>
          <p:cNvSpPr/>
          <p:nvPr/>
        </p:nvSpPr>
        <p:spPr>
          <a:xfrm>
            <a:off x="977101" y="5192295"/>
            <a:ext cx="212651" cy="223283"/>
          </a:xfrm>
          <a:prstGeom prst="ellipse">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MX" sz="900">
                <a:solidFill>
                  <a:schemeClr val="lt1"/>
                </a:solidFill>
                <a:latin typeface="Arial"/>
                <a:ea typeface="Arial"/>
                <a:cs typeface="Arial"/>
                <a:sym typeface="Arial"/>
              </a:rPr>
              <a:t>4</a:t>
            </a:r>
            <a:endParaRPr/>
          </a:p>
        </p:txBody>
      </p:sp>
      <p:sp>
        <p:nvSpPr>
          <p:cNvPr id="1705" name="Google Shape;1705;p112"/>
          <p:cNvSpPr/>
          <p:nvPr/>
        </p:nvSpPr>
        <p:spPr>
          <a:xfrm>
            <a:off x="977101" y="5543478"/>
            <a:ext cx="212651" cy="223283"/>
          </a:xfrm>
          <a:prstGeom prst="ellipse">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MX" sz="900">
                <a:solidFill>
                  <a:schemeClr val="lt1"/>
                </a:solidFill>
                <a:latin typeface="Arial"/>
                <a:ea typeface="Arial"/>
                <a:cs typeface="Arial"/>
                <a:sym typeface="Arial"/>
              </a:rPr>
              <a:t>5</a:t>
            </a:r>
            <a:endParaRPr/>
          </a:p>
        </p:txBody>
      </p:sp>
      <p:sp>
        <p:nvSpPr>
          <p:cNvPr id="1706" name="Google Shape;1706;p112"/>
          <p:cNvSpPr/>
          <p:nvPr/>
        </p:nvSpPr>
        <p:spPr>
          <a:xfrm>
            <a:off x="977101" y="5946836"/>
            <a:ext cx="212651" cy="223283"/>
          </a:xfrm>
          <a:prstGeom prst="ellipse">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MX" sz="900">
                <a:solidFill>
                  <a:schemeClr val="lt1"/>
                </a:solidFill>
                <a:latin typeface="Arial"/>
                <a:ea typeface="Arial"/>
                <a:cs typeface="Arial"/>
                <a:sym typeface="Arial"/>
              </a:rPr>
              <a:t>6</a:t>
            </a:r>
            <a:endParaRPr/>
          </a:p>
        </p:txBody>
      </p:sp>
      <p:graphicFrame>
        <p:nvGraphicFramePr>
          <p:cNvPr id="1707" name="Google Shape;1707;p112"/>
          <p:cNvGraphicFramePr/>
          <p:nvPr/>
        </p:nvGraphicFramePr>
        <p:xfrm>
          <a:off x="1369396" y="3628761"/>
          <a:ext cx="3000000" cy="3000000"/>
        </p:xfrm>
        <a:graphic>
          <a:graphicData uri="http://schemas.openxmlformats.org/drawingml/2006/table">
            <a:tbl>
              <a:tblPr>
                <a:noFill/>
                <a:tableStyleId>{59F1A6B1-18B9-4B87-B458-7A3E6594CA7B}</a:tableStyleId>
              </a:tblPr>
              <a:tblGrid>
                <a:gridCol w="2194500"/>
                <a:gridCol w="524475"/>
                <a:gridCol w="524475"/>
                <a:gridCol w="1048950"/>
                <a:gridCol w="1048950"/>
                <a:gridCol w="1048950"/>
                <a:gridCol w="1048950"/>
                <a:gridCol w="1048950"/>
                <a:gridCol w="443325"/>
                <a:gridCol w="443325"/>
              </a:tblGrid>
              <a:tr h="313225">
                <a:tc>
                  <a:txBody>
                    <a:bodyPr/>
                    <a:lstStyle/>
                    <a:p>
                      <a:pPr indent="0" lvl="0" marL="0" marR="0" rtl="0" algn="l">
                        <a:lnSpc>
                          <a:spcPct val="100000"/>
                        </a:lnSpc>
                        <a:spcBef>
                          <a:spcPts val="0"/>
                        </a:spcBef>
                        <a:spcAft>
                          <a:spcPts val="0"/>
                        </a:spcAft>
                        <a:buClr>
                          <a:schemeClr val="dk1"/>
                        </a:buClr>
                        <a:buSzPts val="1100"/>
                        <a:buFont typeface="Trebuchet MS"/>
                        <a:buNone/>
                      </a:pPr>
                      <a:r>
                        <a:t/>
                      </a:r>
                      <a:endParaRPr b="0" i="0" sz="11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050"/>
                        <a:buFont typeface="Arial"/>
                        <a:buNone/>
                      </a:pPr>
                      <a:r>
                        <a:rPr i="1" lang="es-MX" sz="1050">
                          <a:solidFill>
                            <a:schemeClr val="dk1"/>
                          </a:solidFill>
                          <a:latin typeface="Arial"/>
                          <a:ea typeface="Arial"/>
                          <a:cs typeface="Arial"/>
                          <a:sym typeface="Arial"/>
                        </a:rPr>
                        <a:t>Customer &amp; Marketing</a:t>
                      </a:r>
                      <a:endParaRPr i="1" sz="1050">
                        <a:solidFill>
                          <a:schemeClr val="dk1"/>
                        </a:solidFill>
                        <a:latin typeface="Arial"/>
                        <a:ea typeface="Arial"/>
                        <a:cs typeface="Arial"/>
                        <a:sym typeface="Arial"/>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050"/>
                        <a:buFont typeface="Arial"/>
                        <a:buNone/>
                      </a:pPr>
                      <a:r>
                        <a:rPr i="1" lang="es-MX" sz="1050">
                          <a:solidFill>
                            <a:schemeClr val="dk1"/>
                          </a:solidFill>
                          <a:latin typeface="Arial"/>
                          <a:ea typeface="Arial"/>
                          <a:cs typeface="Arial"/>
                          <a:sym typeface="Arial"/>
                        </a:rPr>
                        <a:t>Comercial</a:t>
                      </a:r>
                      <a:endParaRPr i="1" sz="105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050"/>
                        <a:buFont typeface="Arial"/>
                        <a:buNone/>
                      </a:pPr>
                      <a:r>
                        <a:rPr lang="es-MX" sz="1050">
                          <a:solidFill>
                            <a:schemeClr val="dk1"/>
                          </a:solidFill>
                          <a:latin typeface="Arial"/>
                          <a:ea typeface="Arial"/>
                          <a:cs typeface="Arial"/>
                          <a:sym typeface="Arial"/>
                        </a:rPr>
                        <a:t>Operaciones </a:t>
                      </a:r>
                      <a:r>
                        <a:rPr i="1" lang="es-MX" sz="700">
                          <a:solidFill>
                            <a:schemeClr val="dk1"/>
                          </a:solidFill>
                          <a:latin typeface="Arial"/>
                          <a:ea typeface="Arial"/>
                          <a:cs typeface="Arial"/>
                          <a:sym typeface="Arial"/>
                        </a:rPr>
                        <a:t>(Regiones/Plazas)</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050"/>
                        <a:buFont typeface="Arial"/>
                        <a:buNone/>
                      </a:pPr>
                      <a:r>
                        <a:rPr i="1" lang="es-MX" sz="1050">
                          <a:solidFill>
                            <a:schemeClr val="dk1"/>
                          </a:solidFill>
                          <a:latin typeface="Arial"/>
                          <a:ea typeface="Arial"/>
                          <a:cs typeface="Arial"/>
                          <a:sym typeface="Arial"/>
                        </a:rPr>
                        <a:t>Cadena de Suministro</a:t>
                      </a:r>
                      <a:endParaRPr i="1" sz="105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050"/>
                        <a:buFont typeface="Arial"/>
                        <a:buNone/>
                      </a:pPr>
                      <a:r>
                        <a:rPr i="1" lang="es-MX" sz="1050">
                          <a:solidFill>
                            <a:schemeClr val="dk1"/>
                          </a:solidFill>
                          <a:latin typeface="Arial"/>
                          <a:ea typeface="Arial"/>
                          <a:cs typeface="Arial"/>
                          <a:sym typeface="Arial"/>
                        </a:rPr>
                        <a:t>Finanzas</a:t>
                      </a:r>
                      <a:endParaRPr i="1" sz="105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050"/>
                        <a:buFont typeface="Arial"/>
                        <a:buNone/>
                      </a:pPr>
                      <a:r>
                        <a:rPr i="1" lang="es-MX" sz="1050">
                          <a:solidFill>
                            <a:schemeClr val="dk1"/>
                          </a:solidFill>
                          <a:latin typeface="Arial"/>
                          <a:ea typeface="Arial"/>
                          <a:cs typeface="Arial"/>
                          <a:sym typeface="Arial"/>
                        </a:rPr>
                        <a:t>Estrategia y Transf.</a:t>
                      </a:r>
                      <a:endParaRPr i="1" sz="105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050"/>
                        <a:buFont typeface="Arial"/>
                        <a:buNone/>
                      </a:pPr>
                      <a:r>
                        <a:rPr i="1" lang="es-MX" sz="1050">
                          <a:solidFill>
                            <a:schemeClr val="dk1"/>
                          </a:solidFill>
                          <a:latin typeface="Arial"/>
                          <a:ea typeface="Arial"/>
                          <a:cs typeface="Arial"/>
                          <a:sym typeface="Arial"/>
                        </a:rPr>
                        <a:t>TI</a:t>
                      </a:r>
                      <a:endParaRPr i="1" sz="105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r>
              <a:tr h="370875">
                <a:tc>
                  <a:txBody>
                    <a:bodyPr/>
                    <a:lstStyle/>
                    <a:p>
                      <a:pPr indent="0" lvl="0" marL="0" marR="0" rtl="0" algn="l">
                        <a:lnSpc>
                          <a:spcPct val="100000"/>
                        </a:lnSpc>
                        <a:spcBef>
                          <a:spcPts val="0"/>
                        </a:spcBef>
                        <a:spcAft>
                          <a:spcPts val="0"/>
                        </a:spcAft>
                        <a:buClr>
                          <a:schemeClr val="dk1"/>
                        </a:buClr>
                        <a:buSzPts val="900"/>
                        <a:buFont typeface="Trebuchet MS"/>
                        <a:buNone/>
                      </a:pPr>
                      <a:r>
                        <a:rPr lang="es-MX" sz="900">
                          <a:solidFill>
                            <a:schemeClr val="dk1"/>
                          </a:solidFill>
                          <a:latin typeface="Arial"/>
                          <a:ea typeface="Arial"/>
                          <a:cs typeface="Arial"/>
                          <a:sym typeface="Arial"/>
                        </a:rPr>
                        <a:t>Gobierno y priorización del roadmap digital y analítico</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R</a:t>
                      </a:r>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A</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gridSpan="2">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R</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r>
              <a:tr h="370875">
                <a:tc>
                  <a:txBody>
                    <a:bodyPr/>
                    <a:lstStyle/>
                    <a:p>
                      <a:pPr indent="-57150" lvl="0" marL="0" marR="0" rtl="0" algn="l">
                        <a:lnSpc>
                          <a:spcPct val="100000"/>
                        </a:lnSpc>
                        <a:spcBef>
                          <a:spcPts val="0"/>
                        </a:spcBef>
                        <a:spcAft>
                          <a:spcPts val="0"/>
                        </a:spcAft>
                        <a:buClr>
                          <a:schemeClr val="dk1"/>
                        </a:buClr>
                        <a:buSzPts val="900"/>
                        <a:buFont typeface="Trebuchet MS"/>
                        <a:buChar char="​"/>
                      </a:pPr>
                      <a:r>
                        <a:rPr lang="es-MX" sz="900">
                          <a:solidFill>
                            <a:schemeClr val="dk1"/>
                          </a:solidFill>
                          <a:latin typeface="Arial"/>
                          <a:ea typeface="Arial"/>
                          <a:cs typeface="Arial"/>
                          <a:sym typeface="Arial"/>
                        </a:rPr>
                        <a:t>Definición de arquitectura digital y plataformas de datos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A</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R</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r>
              <a:tr h="370875">
                <a:tc>
                  <a:txBody>
                    <a:bodyPr/>
                    <a:lstStyle/>
                    <a:p>
                      <a:pPr indent="-57150" lvl="0" marL="0" marR="0" rtl="0" algn="l">
                        <a:lnSpc>
                          <a:spcPct val="100000"/>
                        </a:lnSpc>
                        <a:spcBef>
                          <a:spcPts val="0"/>
                        </a:spcBef>
                        <a:spcAft>
                          <a:spcPts val="0"/>
                        </a:spcAft>
                        <a:buClr>
                          <a:schemeClr val="dk1"/>
                        </a:buClr>
                        <a:buSzPts val="900"/>
                        <a:buFont typeface="Trebuchet MS"/>
                        <a:buChar char="​"/>
                      </a:pPr>
                      <a:r>
                        <a:rPr lang="es-MX" sz="900">
                          <a:solidFill>
                            <a:schemeClr val="dk1"/>
                          </a:solidFill>
                          <a:latin typeface="Arial"/>
                          <a:ea typeface="Arial"/>
                          <a:cs typeface="Arial"/>
                          <a:sym typeface="Arial"/>
                        </a:rPr>
                        <a:t>Gestión de datos, analítica avanzada y segmentación</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A</a:t>
                      </a:r>
                      <a:endParaRPr b="0" i="0" sz="11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gridSpan="2">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R</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r>
              <a:tr h="370875">
                <a:tc>
                  <a:txBody>
                    <a:bodyPr/>
                    <a:lstStyle/>
                    <a:p>
                      <a:pPr indent="-57150" lvl="0" marL="0" marR="0" rtl="0" algn="l">
                        <a:lnSpc>
                          <a:spcPct val="100000"/>
                        </a:lnSpc>
                        <a:spcBef>
                          <a:spcPts val="0"/>
                        </a:spcBef>
                        <a:spcAft>
                          <a:spcPts val="0"/>
                        </a:spcAft>
                        <a:buClr>
                          <a:schemeClr val="dk1"/>
                        </a:buClr>
                        <a:buSzPts val="900"/>
                        <a:buFont typeface="Trebuchet MS"/>
                        <a:buChar char="​"/>
                      </a:pPr>
                      <a:r>
                        <a:rPr lang="es-MX" sz="900">
                          <a:solidFill>
                            <a:schemeClr val="dk1"/>
                          </a:solidFill>
                          <a:latin typeface="Arial"/>
                          <a:ea typeface="Arial"/>
                          <a:cs typeface="Arial"/>
                          <a:sym typeface="Arial"/>
                        </a:rPr>
                        <a:t>Diseño de experiencias omnicanal y journeys digitales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A</a:t>
                      </a:r>
                      <a:endParaRPr b="0" i="0" sz="11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R</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gridSpan="2">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S</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r>
              <a:tr h="370875">
                <a:tc>
                  <a:txBody>
                    <a:bodyPr/>
                    <a:lstStyle/>
                    <a:p>
                      <a:pPr indent="-57150" lvl="0" marL="0" marR="0" rtl="0" algn="l">
                        <a:lnSpc>
                          <a:spcPct val="100000"/>
                        </a:lnSpc>
                        <a:spcBef>
                          <a:spcPts val="0"/>
                        </a:spcBef>
                        <a:spcAft>
                          <a:spcPts val="0"/>
                        </a:spcAft>
                        <a:buClr>
                          <a:schemeClr val="dk1"/>
                        </a:buClr>
                        <a:buSzPts val="900"/>
                        <a:buFont typeface="Trebuchet MS"/>
                        <a:buChar char="​"/>
                      </a:pPr>
                      <a:r>
                        <a:rPr lang="es-MX" sz="900">
                          <a:solidFill>
                            <a:schemeClr val="dk1"/>
                          </a:solidFill>
                          <a:latin typeface="Arial"/>
                          <a:ea typeface="Arial"/>
                          <a:cs typeface="Arial"/>
                          <a:sym typeface="Arial"/>
                        </a:rPr>
                        <a:t>Implementación de soluciones digitales y tecnológicas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R</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R</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gridSpan="2">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A</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r>
              <a:tr h="370875">
                <a:tc>
                  <a:txBody>
                    <a:bodyPr/>
                    <a:lstStyle/>
                    <a:p>
                      <a:pPr indent="0" lvl="0" marL="0" marR="0" rtl="0" algn="l">
                        <a:lnSpc>
                          <a:spcPct val="100000"/>
                        </a:lnSpc>
                        <a:spcBef>
                          <a:spcPts val="0"/>
                        </a:spcBef>
                        <a:spcAft>
                          <a:spcPts val="0"/>
                        </a:spcAft>
                        <a:buClr>
                          <a:schemeClr val="dk1"/>
                        </a:buClr>
                        <a:buSzPts val="900"/>
                        <a:buFont typeface="Trebuchet MS"/>
                        <a:buNone/>
                      </a:pPr>
                      <a:r>
                        <a:rPr lang="es-MX" sz="900">
                          <a:solidFill>
                            <a:schemeClr val="dk1"/>
                          </a:solidFill>
                          <a:latin typeface="Arial"/>
                          <a:ea typeface="Arial"/>
                          <a:cs typeface="Arial"/>
                          <a:sym typeface="Arial"/>
                        </a:rPr>
                        <a:t>Gobierno de calidad, seguridad y despliegues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hMerge="1"/>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C</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A</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R</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r>
              <a:tr h="370875">
                <a:tc>
                  <a:txBody>
                    <a:bodyPr/>
                    <a:lstStyle/>
                    <a:p>
                      <a:pPr indent="0" lvl="0" marL="0" marR="0" rtl="0" algn="l">
                        <a:lnSpc>
                          <a:spcPct val="100000"/>
                        </a:lnSpc>
                        <a:spcBef>
                          <a:spcPts val="0"/>
                        </a:spcBef>
                        <a:spcAft>
                          <a:spcPts val="0"/>
                        </a:spcAft>
                        <a:buClr>
                          <a:schemeClr val="dk1"/>
                        </a:buClr>
                        <a:buSzPts val="900"/>
                        <a:buFont typeface="Trebuchet MS"/>
                        <a:buNone/>
                      </a:pPr>
                      <a:r>
                        <a:rPr lang="es-MX" sz="900">
                          <a:solidFill>
                            <a:schemeClr val="dk1"/>
                          </a:solidFill>
                          <a:latin typeface="Arial"/>
                          <a:ea typeface="Arial"/>
                          <a:cs typeface="Arial"/>
                          <a:sym typeface="Arial"/>
                        </a:rPr>
                        <a:t>Medición de valor, desempeño y adopción digital</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R</a:t>
                      </a:r>
                      <a:endParaRPr b="0" i="0" sz="11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A</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S</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I</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gridSpan="2">
                  <a:txBody>
                    <a:bodyPr/>
                    <a:lstStyle/>
                    <a:p>
                      <a:pPr indent="0" lvl="0" marL="0" marR="0" rtl="0" algn="ctr">
                        <a:spcBef>
                          <a:spcPts val="0"/>
                        </a:spcBef>
                        <a:spcAft>
                          <a:spcPts val="0"/>
                        </a:spcAft>
                        <a:buClr>
                          <a:schemeClr val="dk1"/>
                        </a:buClr>
                        <a:buSzPts val="1100"/>
                        <a:buFont typeface="Arial"/>
                        <a:buNone/>
                      </a:pPr>
                      <a:r>
                        <a:rPr b="0" i="0" lang="es-MX" sz="1100" u="none" strike="noStrike">
                          <a:solidFill>
                            <a:schemeClr val="dk1"/>
                          </a:solidFill>
                          <a:latin typeface="Arial"/>
                          <a:ea typeface="Arial"/>
                          <a:cs typeface="Arial"/>
                          <a:sym typeface="Arial"/>
                        </a:rPr>
                        <a:t>R</a:t>
                      </a:r>
                      <a:endParaRPr b="0" i="0" sz="11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r>
            </a:tbl>
          </a:graphicData>
        </a:graphic>
      </p:graphicFrame>
      <p:sp>
        <p:nvSpPr>
          <p:cNvPr id="1708" name="Google Shape;1708;p112"/>
          <p:cNvSpPr/>
          <p:nvPr/>
        </p:nvSpPr>
        <p:spPr>
          <a:xfrm>
            <a:off x="960598" y="6286282"/>
            <a:ext cx="212651" cy="223283"/>
          </a:xfrm>
          <a:prstGeom prst="ellipse">
            <a:avLst/>
          </a:prstGeom>
          <a:solidFill>
            <a:schemeClr val="dk1"/>
          </a:solidFill>
          <a:ln cap="flat" cmpd="sng" w="38100">
            <a:solidFill>
              <a:schemeClr val="lt1"/>
            </a:solidFill>
            <a:prstDash val="solid"/>
            <a:round/>
            <a:headEnd len="sm" w="sm" type="none"/>
            <a:tailEnd len="sm" w="sm" type="none"/>
          </a:ln>
          <a:effectLst>
            <a:outerShdw blurRad="40000" rotWithShape="0" dir="5400000" dist="20000">
              <a:srgbClr val="000000">
                <a:alpha val="38039"/>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s-MX" sz="900">
                <a:solidFill>
                  <a:schemeClr val="lt1"/>
                </a:solidFill>
                <a:latin typeface="Arial"/>
                <a:ea typeface="Arial"/>
                <a:cs typeface="Arial"/>
                <a:sym typeface="Arial"/>
              </a:rPr>
              <a:t>7</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2" name="Shape 1712"/>
        <p:cNvGrpSpPr/>
        <p:nvPr/>
      </p:nvGrpSpPr>
      <p:grpSpPr>
        <a:xfrm>
          <a:off x="0" y="0"/>
          <a:ext cx="0" cy="0"/>
          <a:chOff x="0" y="0"/>
          <a:chExt cx="0" cy="0"/>
        </a:xfrm>
      </p:grpSpPr>
      <p:sp>
        <p:nvSpPr>
          <p:cNvPr id="1713" name="Google Shape;1713;p113"/>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t>EJEMPLO</a:t>
            </a:r>
            <a:endParaRPr/>
          </a:p>
        </p:txBody>
      </p:sp>
      <p:sp>
        <p:nvSpPr>
          <p:cNvPr id="1714" name="Google Shape;1714;p113"/>
          <p:cNvSpPr txBox="1"/>
          <p:nvPr/>
        </p:nvSpPr>
        <p:spPr>
          <a:xfrm>
            <a:off x="652272" y="1104638"/>
            <a:ext cx="147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Open Sans"/>
                <a:ea typeface="Open Sans"/>
                <a:cs typeface="Open Sans"/>
                <a:sym typeface="Open Sans"/>
              </a:rPr>
              <a:t>Tarea</a:t>
            </a:r>
            <a:endParaRPr/>
          </a:p>
        </p:txBody>
      </p:sp>
      <p:sp>
        <p:nvSpPr>
          <p:cNvPr id="1715" name="Google Shape;1715;p113"/>
          <p:cNvSpPr/>
          <p:nvPr/>
        </p:nvSpPr>
        <p:spPr>
          <a:xfrm>
            <a:off x="1856232" y="969264"/>
            <a:ext cx="9674352" cy="64008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graphicFrame>
        <p:nvGraphicFramePr>
          <p:cNvPr id="1716" name="Google Shape;1716;p113"/>
          <p:cNvGraphicFramePr/>
          <p:nvPr/>
        </p:nvGraphicFramePr>
        <p:xfrm>
          <a:off x="729996" y="1866501"/>
          <a:ext cx="3000000" cy="3000000"/>
        </p:xfrm>
        <a:graphic>
          <a:graphicData uri="http://schemas.openxmlformats.org/drawingml/2006/table">
            <a:tbl>
              <a:tblPr bandRow="1" firstRow="1">
                <a:noFill/>
                <a:tableStyleId>{813A3F68-93AB-42EE-8F31-6030AA077254}</a:tableStyleId>
              </a:tblPr>
              <a:tblGrid>
                <a:gridCol w="1637125"/>
                <a:gridCol w="2799250"/>
                <a:gridCol w="6364225"/>
              </a:tblGrid>
              <a:tr h="370850">
                <a:tc>
                  <a:txBody>
                    <a:bodyPr/>
                    <a:lstStyle/>
                    <a:p>
                      <a:pPr indent="-177800" lvl="0" marL="177800" marR="0" rtl="0" algn="l">
                        <a:spcBef>
                          <a:spcPts val="0"/>
                        </a:spcBef>
                        <a:spcAft>
                          <a:spcPts val="0"/>
                        </a:spcAft>
                        <a:buClr>
                          <a:schemeClr val="dk1"/>
                        </a:buClr>
                        <a:buSzPts val="1200"/>
                        <a:buFont typeface="Arial"/>
                        <a:buChar char="•"/>
                      </a:pPr>
                      <a:r>
                        <a:rPr lang="es-MX" sz="1200"/>
                        <a:t>Rol</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Área/Puesto </a:t>
                      </a:r>
                      <a:endParaRPr sz="1200">
                        <a:latin typeface="Arial"/>
                        <a:ea typeface="Arial"/>
                        <a:cs typeface="Arial"/>
                        <a:sym typeface="Arial"/>
                      </a:endParaRPr>
                    </a:p>
                  </a:txBody>
                  <a:tcPr marT="45725" marB="45725" marR="91450" marL="91450"/>
                </a:tc>
                <a:tc>
                  <a:txBody>
                    <a:bodyPr/>
                    <a:lstStyle/>
                    <a:p>
                      <a:pPr indent="-177800" lvl="0" marL="177800" marR="0" rtl="0" algn="l">
                        <a:spcBef>
                          <a:spcPts val="0"/>
                        </a:spcBef>
                        <a:spcAft>
                          <a:spcPts val="0"/>
                        </a:spcAft>
                        <a:buClr>
                          <a:schemeClr val="dk1"/>
                        </a:buClr>
                        <a:buSzPts val="1200"/>
                        <a:buFont typeface="Arial"/>
                        <a:buChar char="•"/>
                      </a:pPr>
                      <a:r>
                        <a:rPr lang="es-MX" sz="1200"/>
                        <a:t>Actividad a realizar</a:t>
                      </a:r>
                      <a:endParaRPr sz="1200">
                        <a:latin typeface="Arial"/>
                        <a:ea typeface="Arial"/>
                        <a:cs typeface="Arial"/>
                        <a:sym typeface="Arial"/>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r h="370850">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101600" lvl="0" marL="17780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c>
                  <a:txBody>
                    <a:bodyPr/>
                    <a:lstStyle/>
                    <a:p>
                      <a:pPr indent="-95250" lvl="0" marL="171450" marR="0" rtl="0" algn="l">
                        <a:spcBef>
                          <a:spcPts val="0"/>
                        </a:spcBef>
                        <a:spcAft>
                          <a:spcPts val="0"/>
                        </a:spcAft>
                        <a:buClr>
                          <a:schemeClr val="dk1"/>
                        </a:buClr>
                        <a:buSzPts val="1200"/>
                        <a:buFont typeface="Arial"/>
                        <a:buNone/>
                      </a:pPr>
                      <a:r>
                        <a:t/>
                      </a:r>
                      <a:endParaRPr sz="1200">
                        <a:latin typeface="Arial"/>
                        <a:ea typeface="Arial"/>
                        <a:cs typeface="Arial"/>
                        <a:sym typeface="Arial"/>
                      </a:endParaRPr>
                    </a:p>
                  </a:txBody>
                  <a:tcPr marT="45725" marB="45725" marR="91450" marL="91450"/>
                </a:tc>
              </a:tr>
            </a:tbl>
          </a:graphicData>
        </a:graphic>
      </p:graphicFrame>
      <p:sp>
        <p:nvSpPr>
          <p:cNvPr id="1717" name="Google Shape;1717;p113"/>
          <p:cNvSpPr txBox="1"/>
          <p:nvPr/>
        </p:nvSpPr>
        <p:spPr>
          <a:xfrm>
            <a:off x="1934064" y="1027694"/>
            <a:ext cx="951868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400">
                <a:solidFill>
                  <a:schemeClr val="dk1"/>
                </a:solidFill>
                <a:latin typeface="Open Sans"/>
                <a:ea typeface="Open Sans"/>
                <a:cs typeface="Open Sans"/>
                <a:sym typeface="Open Sans"/>
              </a:rPr>
              <a:t>XX</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1" name="Shape 1721"/>
        <p:cNvGrpSpPr/>
        <p:nvPr/>
      </p:nvGrpSpPr>
      <p:grpSpPr>
        <a:xfrm>
          <a:off x="0" y="0"/>
          <a:ext cx="0" cy="0"/>
          <a:chOff x="0" y="0"/>
          <a:chExt cx="0" cy="0"/>
        </a:xfrm>
      </p:grpSpPr>
      <p:sp>
        <p:nvSpPr>
          <p:cNvPr id="1722" name="Google Shape;1722;p114"/>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t>Formato construcción de ejemplo</a:t>
            </a:r>
            <a:endParaRPr/>
          </a:p>
        </p:txBody>
      </p:sp>
      <p:sp>
        <p:nvSpPr>
          <p:cNvPr id="1723" name="Google Shape;1723;p114"/>
          <p:cNvSpPr txBox="1"/>
          <p:nvPr/>
        </p:nvSpPr>
        <p:spPr>
          <a:xfrm>
            <a:off x="652272" y="1104638"/>
            <a:ext cx="147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Open Sans"/>
                <a:ea typeface="Open Sans"/>
                <a:cs typeface="Open Sans"/>
                <a:sym typeface="Open Sans"/>
              </a:rPr>
              <a:t>Ejemplo</a:t>
            </a:r>
            <a:endParaRPr/>
          </a:p>
        </p:txBody>
      </p:sp>
      <p:sp>
        <p:nvSpPr>
          <p:cNvPr id="1724" name="Google Shape;1724;p114"/>
          <p:cNvSpPr/>
          <p:nvPr/>
        </p:nvSpPr>
        <p:spPr>
          <a:xfrm>
            <a:off x="1856232" y="969264"/>
            <a:ext cx="9674352" cy="640080"/>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725" name="Google Shape;1725;p114"/>
          <p:cNvSpPr txBox="1"/>
          <p:nvPr/>
        </p:nvSpPr>
        <p:spPr>
          <a:xfrm>
            <a:off x="1934064" y="1027694"/>
            <a:ext cx="951868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400">
                <a:solidFill>
                  <a:schemeClr val="dk1"/>
                </a:solidFill>
                <a:latin typeface="Open Sans"/>
                <a:ea typeface="Open Sans"/>
                <a:cs typeface="Open Sans"/>
                <a:sym typeface="Open Sans"/>
              </a:rPr>
              <a:t>Diseño, implementación y definición de canales omnicanalidad </a:t>
            </a:r>
            <a:endParaRPr/>
          </a:p>
        </p:txBody>
      </p:sp>
      <p:graphicFrame>
        <p:nvGraphicFramePr>
          <p:cNvPr id="1726" name="Google Shape;1726;p114"/>
          <p:cNvGraphicFramePr/>
          <p:nvPr/>
        </p:nvGraphicFramePr>
        <p:xfrm>
          <a:off x="224790" y="1744718"/>
          <a:ext cx="3000000" cy="3000000"/>
        </p:xfrm>
        <a:graphic>
          <a:graphicData uri="http://schemas.openxmlformats.org/drawingml/2006/table">
            <a:tbl>
              <a:tblPr>
                <a:noFill/>
                <a:tableStyleId>{DD8AA69C-3088-4864-B446-2A3743685501}</a:tableStyleId>
              </a:tblPr>
              <a:tblGrid>
                <a:gridCol w="2039325"/>
                <a:gridCol w="4123500"/>
                <a:gridCol w="5579600"/>
              </a:tblGrid>
              <a:tr h="107075">
                <a:tc>
                  <a:txBody>
                    <a:bodyPr/>
                    <a:lstStyle/>
                    <a:p>
                      <a:pPr indent="-177800" lvl="0" marL="177800" marR="0" rtl="0" algn="l">
                        <a:spcBef>
                          <a:spcPts val="0"/>
                        </a:spcBef>
                        <a:spcAft>
                          <a:spcPts val="0"/>
                        </a:spcAft>
                        <a:buClr>
                          <a:schemeClr val="lt1"/>
                        </a:buClr>
                        <a:buSzPts val="1050"/>
                        <a:buFont typeface="Arial"/>
                        <a:buNone/>
                      </a:pPr>
                      <a:r>
                        <a:rPr b="1" lang="es-MX" sz="1050">
                          <a:solidFill>
                            <a:schemeClr val="lt1"/>
                          </a:solidFill>
                        </a:rPr>
                        <a:t>Rol</a:t>
                      </a:r>
                      <a:endParaRPr sz="1050">
                        <a:solidFill>
                          <a:schemeClr val="lt1"/>
                        </a:solidFill>
                      </a:endParaRPr>
                    </a:p>
                  </a:txBody>
                  <a:tcPr marT="14600" marB="14600" marR="29200" marL="29200" anchor="ctr">
                    <a:solidFill>
                      <a:schemeClr val="dk1"/>
                    </a:solidFill>
                  </a:tcPr>
                </a:tc>
                <a:tc>
                  <a:txBody>
                    <a:bodyPr/>
                    <a:lstStyle/>
                    <a:p>
                      <a:pPr indent="-177800" lvl="0" marL="177800" marR="0" rtl="0" algn="l">
                        <a:spcBef>
                          <a:spcPts val="0"/>
                        </a:spcBef>
                        <a:spcAft>
                          <a:spcPts val="0"/>
                        </a:spcAft>
                        <a:buClr>
                          <a:schemeClr val="lt1"/>
                        </a:buClr>
                        <a:buSzPts val="1050"/>
                        <a:buFont typeface="Arial"/>
                        <a:buNone/>
                      </a:pPr>
                      <a:r>
                        <a:rPr b="1" lang="es-MX" sz="1050">
                          <a:solidFill>
                            <a:schemeClr val="lt1"/>
                          </a:solidFill>
                        </a:rPr>
                        <a:t>Área / Puesto</a:t>
                      </a:r>
                      <a:endParaRPr sz="1050">
                        <a:solidFill>
                          <a:schemeClr val="lt1"/>
                        </a:solidFill>
                      </a:endParaRPr>
                    </a:p>
                  </a:txBody>
                  <a:tcPr marT="14600" marB="14600" marR="29200" marL="29200" anchor="ctr">
                    <a:solidFill>
                      <a:schemeClr val="dk1"/>
                    </a:solidFill>
                  </a:tcPr>
                </a:tc>
                <a:tc>
                  <a:txBody>
                    <a:bodyPr/>
                    <a:lstStyle/>
                    <a:p>
                      <a:pPr indent="-177800" lvl="0" marL="177800" marR="0" rtl="0" algn="l">
                        <a:spcBef>
                          <a:spcPts val="0"/>
                        </a:spcBef>
                        <a:spcAft>
                          <a:spcPts val="0"/>
                        </a:spcAft>
                        <a:buClr>
                          <a:schemeClr val="lt1"/>
                        </a:buClr>
                        <a:buSzPts val="1050"/>
                        <a:buFont typeface="Arial"/>
                        <a:buNone/>
                      </a:pPr>
                      <a:r>
                        <a:rPr b="1" lang="es-MX" sz="1050">
                          <a:solidFill>
                            <a:schemeClr val="lt1"/>
                          </a:solidFill>
                        </a:rPr>
                        <a:t>Actividad a realizar</a:t>
                      </a:r>
                      <a:endParaRPr sz="1050">
                        <a:solidFill>
                          <a:schemeClr val="lt1"/>
                        </a:solidFill>
                      </a:endParaRPr>
                    </a:p>
                  </a:txBody>
                  <a:tcPr marT="14600" marB="14600" marR="29200" marL="29200" anchor="ctr">
                    <a:solidFill>
                      <a:schemeClr val="dk1"/>
                    </a:solidFill>
                  </a:tcPr>
                </a:tc>
              </a:tr>
              <a:tr h="574350">
                <a:tc rowSpan="2">
                  <a:txBody>
                    <a:bodyPr/>
                    <a:lstStyle/>
                    <a:p>
                      <a:pPr indent="-177800" lvl="0" marL="177800" marR="0" rtl="0" algn="l">
                        <a:spcBef>
                          <a:spcPts val="0"/>
                        </a:spcBef>
                        <a:spcAft>
                          <a:spcPts val="0"/>
                        </a:spcAft>
                        <a:buClr>
                          <a:schemeClr val="dk1"/>
                        </a:buClr>
                        <a:buSzPts val="1050"/>
                        <a:buFont typeface="Arial"/>
                        <a:buNone/>
                      </a:pPr>
                      <a:r>
                        <a:rPr b="1" lang="es-MX" sz="1050"/>
                        <a:t>Accountable</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b="1" lang="es-MX" sz="1050"/>
                        <a:t>Customer &amp; Marketing – Experiencia Omnicanal</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lang="es-MX" sz="1050"/>
                        <a:t>• Definen la estrategia omnicanal y los journeys clave del cliente (pedido, pago, entrega, devoluciones). </a:t>
                      </a:r>
                      <a:br>
                        <a:rPr lang="es-MX" sz="1050"/>
                      </a:br>
                      <a:r>
                        <a:rPr lang="es-MX" sz="1050"/>
                        <a:t>• Validan reglas de negocio, segmentación y experiencia final a habilitar.</a:t>
                      </a:r>
                      <a:endParaRPr/>
                    </a:p>
                  </a:txBody>
                  <a:tcPr marT="14600" marB="14600" marR="29200" marL="29200" anchor="ctr"/>
                </a:tc>
              </a:tr>
              <a:tr h="418575">
                <a:tc vMerge="1"/>
                <a:tc>
                  <a:txBody>
                    <a:bodyPr/>
                    <a:lstStyle/>
                    <a:p>
                      <a:pPr indent="-177800" lvl="0" marL="177800" marR="0" rtl="0" algn="l">
                        <a:spcBef>
                          <a:spcPts val="0"/>
                        </a:spcBef>
                        <a:spcAft>
                          <a:spcPts val="0"/>
                        </a:spcAft>
                        <a:buClr>
                          <a:schemeClr val="dk1"/>
                        </a:buClr>
                        <a:buSzPts val="1050"/>
                        <a:buFont typeface="Arial"/>
                        <a:buNone/>
                      </a:pPr>
                      <a:r>
                        <a:rPr b="1" lang="es-MX" sz="1050"/>
                        <a:t>TI – Arquitectura &amp; Plataformas</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lang="es-MX" sz="1050"/>
                        <a:t>• Validan impacto tecnológico de la iniciativa (integraciones, dependencias, arquitectura). </a:t>
                      </a:r>
                      <a:br>
                        <a:rPr lang="es-MX" sz="1050"/>
                      </a:br>
                      <a:r>
                        <a:rPr lang="es-MX" sz="1050"/>
                        <a:t>• Aprobación final de solución tecnológica a implementar.</a:t>
                      </a:r>
                      <a:endParaRPr/>
                    </a:p>
                  </a:txBody>
                  <a:tcPr marT="14600" marB="14600" marR="29200" marL="29200" anchor="ctr"/>
                </a:tc>
              </a:tr>
              <a:tr h="574350">
                <a:tc>
                  <a:txBody>
                    <a:bodyPr/>
                    <a:lstStyle/>
                    <a:p>
                      <a:pPr indent="-177800" lvl="0" marL="177800" marR="0" rtl="0" algn="l">
                        <a:spcBef>
                          <a:spcPts val="0"/>
                        </a:spcBef>
                        <a:spcAft>
                          <a:spcPts val="0"/>
                        </a:spcAft>
                        <a:buClr>
                          <a:schemeClr val="dk1"/>
                        </a:buClr>
                        <a:buSzPts val="1050"/>
                        <a:buFont typeface="Arial"/>
                        <a:buNone/>
                      </a:pPr>
                      <a:r>
                        <a:rPr b="1" lang="es-MX" sz="1050"/>
                        <a:t>Responsable</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b="1" lang="es-MX" sz="1050"/>
                        <a:t>TI – Desarrollo &amp; Integraciones</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lang="es-MX" sz="1050"/>
                        <a:t>• Implementan las capacidades omnicanal (OMS, inventario en tiempo real, pasarela de pagos, notificaciones). </a:t>
                      </a:r>
                      <a:br>
                        <a:rPr lang="es-MX" sz="1050"/>
                      </a:br>
                      <a:r>
                        <a:rPr lang="es-MX" sz="1050"/>
                        <a:t>• Realizan pruebas end‑to‑end y habilitan la funcionalidad hacia negocio y operación.</a:t>
                      </a:r>
                      <a:endParaRPr/>
                    </a:p>
                  </a:txBody>
                  <a:tcPr marT="14600" marB="14600" marR="29200" marL="29200" anchor="ctr"/>
                </a:tc>
              </a:tr>
              <a:tr h="496450">
                <a:tc rowSpan="2">
                  <a:txBody>
                    <a:bodyPr/>
                    <a:lstStyle/>
                    <a:p>
                      <a:pPr indent="-177800" lvl="0" marL="177800" marR="0" rtl="0" algn="l">
                        <a:spcBef>
                          <a:spcPts val="0"/>
                        </a:spcBef>
                        <a:spcAft>
                          <a:spcPts val="0"/>
                        </a:spcAft>
                        <a:buClr>
                          <a:schemeClr val="dk1"/>
                        </a:buClr>
                        <a:buSzPts val="1050"/>
                        <a:buFont typeface="Arial"/>
                        <a:buNone/>
                      </a:pPr>
                      <a:r>
                        <a:rPr b="1" lang="es-MX" sz="1050"/>
                        <a:t>Support</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b="1" lang="es-MX" sz="1050"/>
                        <a:t>Operaciones – Procesos Tienda</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lang="es-MX" sz="1050"/>
                        <a:t>• Definen flujos operativos (pick‑up, devoluciones, excepciones). </a:t>
                      </a:r>
                      <a:br>
                        <a:rPr lang="es-MX" sz="1050"/>
                      </a:br>
                      <a:r>
                        <a:rPr lang="es-MX" sz="1050"/>
                        <a:t>• Brindan input sobre factibilidad operativa, carga de trabajo y tiempos.</a:t>
                      </a:r>
                      <a:endParaRPr/>
                    </a:p>
                  </a:txBody>
                  <a:tcPr marT="14600" marB="14600" marR="29200" marL="29200" anchor="ctr"/>
                </a:tc>
              </a:tr>
              <a:tr h="184950">
                <a:tc vMerge="1"/>
                <a:tc>
                  <a:txBody>
                    <a:bodyPr/>
                    <a:lstStyle/>
                    <a:p>
                      <a:pPr indent="-177800" lvl="0" marL="177800" marR="0" rtl="0" algn="l">
                        <a:spcBef>
                          <a:spcPts val="0"/>
                        </a:spcBef>
                        <a:spcAft>
                          <a:spcPts val="0"/>
                        </a:spcAft>
                        <a:buClr>
                          <a:schemeClr val="dk1"/>
                        </a:buClr>
                        <a:buSzPts val="1050"/>
                        <a:buFont typeface="Arial"/>
                        <a:buNone/>
                      </a:pPr>
                      <a:r>
                        <a:rPr b="1" lang="es-MX" sz="1050"/>
                        <a:t>Regiones / Supervisión Operativa</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lang="es-MX" sz="1050"/>
                        <a:t>• Retroalimentación desde campo sobre pilotos y operación diaria.</a:t>
                      </a:r>
                      <a:endParaRPr/>
                    </a:p>
                  </a:txBody>
                  <a:tcPr marT="14600" marB="14600" marR="29200" marL="29200" anchor="ctr"/>
                </a:tc>
              </a:tr>
              <a:tr h="418575">
                <a:tc rowSpan="3">
                  <a:txBody>
                    <a:bodyPr/>
                    <a:lstStyle/>
                    <a:p>
                      <a:pPr indent="-177800" lvl="0" marL="177800" marR="0" rtl="0" algn="l">
                        <a:spcBef>
                          <a:spcPts val="0"/>
                        </a:spcBef>
                        <a:spcAft>
                          <a:spcPts val="0"/>
                        </a:spcAft>
                        <a:buClr>
                          <a:schemeClr val="dk1"/>
                        </a:buClr>
                        <a:buSzPts val="1050"/>
                        <a:buFont typeface="Arial"/>
                        <a:buNone/>
                      </a:pPr>
                      <a:r>
                        <a:rPr b="1" lang="es-MX" sz="1050"/>
                        <a:t>Consulted</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b="1" lang="es-MX" sz="1050"/>
                        <a:t>Cadena de Suministro </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lang="es-MX" sz="1050"/>
                        <a:t>• Validan implicaciones en transporte, distribución, recolectas y SLA. </a:t>
                      </a:r>
                      <a:br>
                        <a:rPr lang="es-MX" sz="1050"/>
                      </a:br>
                      <a:r>
                        <a:rPr lang="es-MX" sz="1050"/>
                        <a:t>• Definen requerimientos logísticos de integración.</a:t>
                      </a:r>
                      <a:endParaRPr/>
                    </a:p>
                  </a:txBody>
                  <a:tcPr marT="14600" marB="14600" marR="29200" marL="29200" anchor="ctr"/>
                </a:tc>
              </a:tr>
              <a:tr h="262825">
                <a:tc vMerge="1"/>
                <a:tc>
                  <a:txBody>
                    <a:bodyPr/>
                    <a:lstStyle/>
                    <a:p>
                      <a:pPr indent="-177800" lvl="0" marL="177800" marR="0" rtl="0" algn="l">
                        <a:spcBef>
                          <a:spcPts val="0"/>
                        </a:spcBef>
                        <a:spcAft>
                          <a:spcPts val="0"/>
                        </a:spcAft>
                        <a:buClr>
                          <a:schemeClr val="dk1"/>
                        </a:buClr>
                        <a:buSzPts val="1050"/>
                        <a:buFont typeface="Arial"/>
                        <a:buNone/>
                      </a:pPr>
                      <a:r>
                        <a:rPr b="1" lang="es-MX" sz="1050"/>
                        <a:t>Comercial – Categorías</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lang="es-MX" sz="1050"/>
                        <a:t>• Definen restricciones de catálogo, surtido por tienda, reglas de sustitución y excepciones.</a:t>
                      </a:r>
                      <a:endParaRPr/>
                    </a:p>
                  </a:txBody>
                  <a:tcPr marT="14600" marB="14600" marR="29200" marL="29200" anchor="ctr"/>
                </a:tc>
              </a:tr>
              <a:tr h="340700">
                <a:tc vMerge="1"/>
                <a:tc>
                  <a:txBody>
                    <a:bodyPr/>
                    <a:lstStyle/>
                    <a:p>
                      <a:pPr indent="-177800" lvl="0" marL="177800" marR="0" rtl="0" algn="l">
                        <a:spcBef>
                          <a:spcPts val="0"/>
                        </a:spcBef>
                        <a:spcAft>
                          <a:spcPts val="0"/>
                        </a:spcAft>
                        <a:buClr>
                          <a:schemeClr val="dk1"/>
                        </a:buClr>
                        <a:buSzPts val="1050"/>
                        <a:buFont typeface="Arial"/>
                        <a:buNone/>
                      </a:pPr>
                      <a:r>
                        <a:rPr b="1" lang="es-MX" sz="1050"/>
                        <a:t>Finanzas – Control Interno</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lang="es-MX" sz="1050"/>
                        <a:t>• Consultados sobre impactos en pagos, conciliaciones, devoluciones, controles y riesgos.</a:t>
                      </a:r>
                      <a:endParaRPr/>
                    </a:p>
                  </a:txBody>
                  <a:tcPr marT="14600" marB="14600" marR="29200" marL="29200" anchor="ctr"/>
                </a:tc>
              </a:tr>
              <a:tr h="262825">
                <a:tc rowSpan="3">
                  <a:txBody>
                    <a:bodyPr/>
                    <a:lstStyle/>
                    <a:p>
                      <a:pPr indent="-177800" lvl="0" marL="177800" marR="0" rtl="0" algn="l">
                        <a:spcBef>
                          <a:spcPts val="0"/>
                        </a:spcBef>
                        <a:spcAft>
                          <a:spcPts val="0"/>
                        </a:spcAft>
                        <a:buClr>
                          <a:schemeClr val="dk1"/>
                        </a:buClr>
                        <a:buSzPts val="1050"/>
                        <a:buFont typeface="Arial"/>
                        <a:buNone/>
                      </a:pPr>
                      <a:r>
                        <a:rPr b="1" lang="es-MX" sz="1050"/>
                        <a:t>Informed</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b="1" lang="es-MX" sz="1050"/>
                        <a:t>Comunicación Interna</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lang="es-MX" sz="1050"/>
                        <a:t>• Reciben información sobre despliegue, lineamientos y comunicados claves.</a:t>
                      </a:r>
                      <a:endParaRPr/>
                    </a:p>
                  </a:txBody>
                  <a:tcPr marT="14600" marB="14600" marR="29200" marL="29200" anchor="ctr"/>
                </a:tc>
              </a:tr>
              <a:tr h="340700">
                <a:tc vMerge="1"/>
                <a:tc>
                  <a:txBody>
                    <a:bodyPr/>
                    <a:lstStyle/>
                    <a:p>
                      <a:pPr indent="-177800" lvl="0" marL="177800" marR="0" rtl="0" algn="l">
                        <a:spcBef>
                          <a:spcPts val="0"/>
                        </a:spcBef>
                        <a:spcAft>
                          <a:spcPts val="0"/>
                        </a:spcAft>
                        <a:buClr>
                          <a:schemeClr val="dk1"/>
                        </a:buClr>
                        <a:buSzPts val="1050"/>
                        <a:buFont typeface="Arial"/>
                        <a:buNone/>
                      </a:pPr>
                      <a:r>
                        <a:rPr b="1" lang="es-MX" sz="1050"/>
                        <a:t>Atención a Clientes / Contact Center</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lang="es-MX" sz="1050"/>
                        <a:t>• Información sobre nuevos flujos omnicanal para atención a incidencias y consultas del cliente.</a:t>
                      </a:r>
                      <a:endParaRPr/>
                    </a:p>
                  </a:txBody>
                  <a:tcPr marT="14600" marB="14600" marR="29200" marL="29200" anchor="ctr"/>
                </a:tc>
              </a:tr>
              <a:tr h="262825">
                <a:tc vMerge="1"/>
                <a:tc>
                  <a:txBody>
                    <a:bodyPr/>
                    <a:lstStyle/>
                    <a:p>
                      <a:pPr indent="-177800" lvl="0" marL="177800" marR="0" rtl="0" algn="l">
                        <a:spcBef>
                          <a:spcPts val="0"/>
                        </a:spcBef>
                        <a:spcAft>
                          <a:spcPts val="0"/>
                        </a:spcAft>
                        <a:buClr>
                          <a:schemeClr val="dk1"/>
                        </a:buClr>
                        <a:buSzPts val="1050"/>
                        <a:buFont typeface="Arial"/>
                        <a:buNone/>
                      </a:pPr>
                      <a:r>
                        <a:rPr b="1" lang="es-MX" sz="1050"/>
                        <a:t>Expansión / Inmobiliaria</a:t>
                      </a:r>
                      <a:endParaRPr sz="1050"/>
                    </a:p>
                  </a:txBody>
                  <a:tcPr marT="14600" marB="14600" marR="29200" marL="29200" anchor="ctr"/>
                </a:tc>
                <a:tc>
                  <a:txBody>
                    <a:bodyPr/>
                    <a:lstStyle/>
                    <a:p>
                      <a:pPr indent="-177800" lvl="0" marL="177800" marR="0" rtl="0" algn="l">
                        <a:spcBef>
                          <a:spcPts val="0"/>
                        </a:spcBef>
                        <a:spcAft>
                          <a:spcPts val="0"/>
                        </a:spcAft>
                        <a:buClr>
                          <a:schemeClr val="dk1"/>
                        </a:buClr>
                        <a:buSzPts val="1050"/>
                        <a:buFont typeface="Arial"/>
                        <a:buNone/>
                      </a:pPr>
                      <a:r>
                        <a:rPr lang="es-MX" sz="1050"/>
                        <a:t>• Informados sobre cambios que puedan impactar layouts, espacios o señalización.</a:t>
                      </a:r>
                      <a:endParaRPr/>
                    </a:p>
                  </a:txBody>
                  <a:tcPr marT="14600" marB="14600" marR="29200" marL="29200" anchor="ctr"/>
                </a:tc>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1" name="Shape 1731"/>
        <p:cNvGrpSpPr/>
        <p:nvPr/>
      </p:nvGrpSpPr>
      <p:grpSpPr>
        <a:xfrm>
          <a:off x="0" y="0"/>
          <a:ext cx="0" cy="0"/>
          <a:chOff x="0" y="0"/>
          <a:chExt cx="0" cy="0"/>
        </a:xfrm>
      </p:grpSpPr>
      <p:grpSp>
        <p:nvGrpSpPr>
          <p:cNvPr id="1732" name="Google Shape;1732;p115"/>
          <p:cNvGrpSpPr/>
          <p:nvPr/>
        </p:nvGrpSpPr>
        <p:grpSpPr>
          <a:xfrm>
            <a:off x="0" y="6926580"/>
            <a:ext cx="12192000" cy="137160"/>
            <a:chOff x="0" y="6926580"/>
            <a:chExt cx="12192000" cy="137160"/>
          </a:xfrm>
        </p:grpSpPr>
        <p:sp>
          <p:nvSpPr>
            <p:cNvPr id="1733" name="Google Shape;1733;p115"/>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734" name="Google Shape;1734;p115"/>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735" name="Google Shape;1735;p115"/>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736" name="Google Shape;1736;p115"/>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1737" name="Google Shape;1737;p115"/>
          <p:cNvGrpSpPr/>
          <p:nvPr/>
        </p:nvGrpSpPr>
        <p:grpSpPr>
          <a:xfrm>
            <a:off x="0" y="-205740"/>
            <a:ext cx="12192000" cy="137160"/>
            <a:chOff x="0" y="-205740"/>
            <a:chExt cx="12192000" cy="137160"/>
          </a:xfrm>
        </p:grpSpPr>
        <p:sp>
          <p:nvSpPr>
            <p:cNvPr id="1738" name="Google Shape;1738;p115"/>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739" name="Google Shape;1739;p115"/>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740" name="Google Shape;1740;p115"/>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741" name="Google Shape;1741;p115"/>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1742" name="Google Shape;1742;p115"/>
          <p:cNvSpPr txBox="1"/>
          <p:nvPr>
            <p:ph type="title"/>
          </p:nvPr>
        </p:nvSpPr>
        <p:spPr>
          <a:xfrm>
            <a:off x="950142" y="2720529"/>
            <a:ext cx="10698933" cy="1065540"/>
          </a:xfrm>
          <a:prstGeom prst="rect">
            <a:avLst/>
          </a:prstGeom>
          <a:noFill/>
          <a:ln>
            <a:noFill/>
          </a:ln>
        </p:spPr>
        <p:txBody>
          <a:bodyPr anchorCtr="0" anchor="ctr" bIns="36000" lIns="91425" spcFirstLastPara="1" rIns="91425" wrap="square" tIns="36000">
            <a:normAutofit/>
          </a:bodyPr>
          <a:lstStyle/>
          <a:p>
            <a:pPr indent="0" lvl="0" marL="0" rtl="0" algn="l">
              <a:lnSpc>
                <a:spcPct val="100000"/>
              </a:lnSpc>
              <a:spcBef>
                <a:spcPts val="0"/>
              </a:spcBef>
              <a:spcAft>
                <a:spcPts val="0"/>
              </a:spcAft>
              <a:buNone/>
            </a:pPr>
            <a:r>
              <a:rPr lang="es-MX"/>
              <a:t>Operaciones + Expansión</a:t>
            </a:r>
            <a:br>
              <a:rPr lang="es-MX"/>
            </a:br>
            <a:r>
              <a:rPr b="0" lang="es-MX"/>
              <a:t>Fit for Purpose OXXO MX</a:t>
            </a:r>
            <a:endParaRPr/>
          </a:p>
        </p:txBody>
      </p:sp>
      <p:sp>
        <p:nvSpPr>
          <p:cNvPr id="1743" name="Google Shape;1743;p115"/>
          <p:cNvSpPr txBox="1"/>
          <p:nvPr/>
        </p:nvSpPr>
        <p:spPr>
          <a:xfrm>
            <a:off x="1016817" y="3838575"/>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Open Sans"/>
              <a:buNone/>
            </a:pPr>
            <a:r>
              <a:rPr i="0" lang="es-MX" sz="1600" u="none" cap="none" strike="noStrike">
                <a:solidFill>
                  <a:srgbClr val="FFFFFF"/>
                </a:solidFill>
                <a:latin typeface="Open Sans"/>
                <a:ea typeface="Open Sans"/>
                <a:cs typeface="Open Sans"/>
                <a:sym typeface="Open Sans"/>
              </a:rPr>
              <a:t>Enero 2026</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7" name="Shape 1747"/>
        <p:cNvGrpSpPr/>
        <p:nvPr/>
      </p:nvGrpSpPr>
      <p:grpSpPr>
        <a:xfrm>
          <a:off x="0" y="0"/>
          <a:ext cx="0" cy="0"/>
          <a:chOff x="0" y="0"/>
          <a:chExt cx="0" cy="0"/>
        </a:xfrm>
      </p:grpSpPr>
      <p:sp>
        <p:nvSpPr>
          <p:cNvPr id="1748" name="Google Shape;1748;p116"/>
          <p:cNvSpPr txBox="1"/>
          <p:nvPr>
            <p:ph type="title"/>
          </p:nvPr>
        </p:nvSpPr>
        <p:spPr>
          <a:xfrm>
            <a:off x="508799" y="250442"/>
            <a:ext cx="11352999" cy="46166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lang="es-MX">
                <a:solidFill>
                  <a:srgbClr val="DE0230"/>
                </a:solidFill>
              </a:rPr>
              <a:t>Plan Aseguramiento y Estabilización | </a:t>
            </a:r>
            <a:r>
              <a:rPr lang="es-MX"/>
              <a:t>Interacciones Críticas (10)</a:t>
            </a:r>
            <a:endParaRPr/>
          </a:p>
        </p:txBody>
      </p:sp>
      <p:graphicFrame>
        <p:nvGraphicFramePr>
          <p:cNvPr id="1749" name="Google Shape;1749;p116"/>
          <p:cNvGraphicFramePr/>
          <p:nvPr/>
        </p:nvGraphicFramePr>
        <p:xfrm>
          <a:off x="481689" y="899707"/>
          <a:ext cx="3000000" cy="3000000"/>
        </p:xfrm>
        <a:graphic>
          <a:graphicData uri="http://schemas.openxmlformats.org/drawingml/2006/table">
            <a:tbl>
              <a:tblPr>
                <a:solidFill>
                  <a:srgbClr val="F2F2F2"/>
                </a:solidFill>
                <a:tableStyleId>{59F1A6B1-18B9-4B87-B458-7A3E6594CA7B}</a:tableStyleId>
              </a:tblPr>
              <a:tblGrid>
                <a:gridCol w="609700"/>
                <a:gridCol w="3464725"/>
                <a:gridCol w="2647775"/>
                <a:gridCol w="2118425"/>
                <a:gridCol w="2388000"/>
              </a:tblGrid>
              <a:tr h="263125">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Prioridad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Objetivo Principal</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Interacción Crítica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Impacto Estratégico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c>
                  <a:txBody>
                    <a:bodyPr/>
                    <a:lstStyle/>
                    <a:p>
                      <a:pPr indent="0" lvl="0" marL="0" marR="0" rtl="0" algn="ctr">
                        <a:spcBef>
                          <a:spcPts val="0"/>
                        </a:spcBef>
                        <a:spcAft>
                          <a:spcPts val="0"/>
                        </a:spcAft>
                        <a:buClr>
                          <a:schemeClr val="lt1"/>
                        </a:buClr>
                        <a:buSzPts val="1000"/>
                        <a:buFont typeface="Arial"/>
                        <a:buNone/>
                      </a:pPr>
                      <a:r>
                        <a:rPr b="1" lang="es-MX" sz="1000" cap="none">
                          <a:solidFill>
                            <a:schemeClr val="lt1"/>
                          </a:solidFill>
                          <a:latin typeface="Arial"/>
                          <a:ea typeface="Arial"/>
                          <a:cs typeface="Arial"/>
                          <a:sym typeface="Arial"/>
                        </a:rPr>
                        <a:t>Responsables Principales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5A42B"/>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1</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Redefinir el </a:t>
                      </a:r>
                      <a:r>
                        <a:rPr b="1" i="1" lang="es-MX" sz="900" cap="none">
                          <a:solidFill>
                            <a:srgbClr val="7F7F7F"/>
                          </a:solidFill>
                          <a:latin typeface="Arial"/>
                          <a:ea typeface="Arial"/>
                          <a:cs typeface="Arial"/>
                          <a:sym typeface="Arial"/>
                        </a:rPr>
                        <a:t>Customer Value Proposition</a:t>
                      </a:r>
                      <a:r>
                        <a:rPr b="1" lang="es-MX" sz="900" cap="none">
                          <a:solidFill>
                            <a:srgbClr val="7F7F7F"/>
                          </a:solidFill>
                          <a:latin typeface="Arial"/>
                          <a:ea typeface="Arial"/>
                          <a:cs typeface="Arial"/>
                          <a:sym typeface="Arial"/>
                        </a:rPr>
                        <a:t> </a:t>
                      </a:r>
                      <a:r>
                        <a:rPr lang="es-MX" sz="900" cap="none">
                          <a:solidFill>
                            <a:srgbClr val="7F7F7F"/>
                          </a:solidFill>
                          <a:latin typeface="Arial"/>
                          <a:ea typeface="Arial"/>
                          <a:cs typeface="Arial"/>
                          <a:sym typeface="Arial"/>
                        </a:rPr>
                        <a:t>(CVP) y distribuir el ownership del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Customer &amp; Marketing</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Alinea la propuesta de valor al cliente con las estrategias comerciales.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 </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2</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Habilitar </a:t>
                      </a:r>
                      <a:r>
                        <a:rPr b="1" i="1" lang="es-MX" sz="900" cap="none">
                          <a:solidFill>
                            <a:srgbClr val="7F7F7F"/>
                          </a:solidFill>
                          <a:latin typeface="Arial"/>
                          <a:ea typeface="Arial"/>
                          <a:cs typeface="Arial"/>
                          <a:sym typeface="Arial"/>
                        </a:rPr>
                        <a:t>decisiones comerciales de precios, variedad, volumen y márgenes </a:t>
                      </a:r>
                      <a:r>
                        <a:rPr lang="es-MX" sz="900" cap="none">
                          <a:solidFill>
                            <a:srgbClr val="7F7F7F"/>
                          </a:solidFill>
                          <a:latin typeface="Arial"/>
                          <a:ea typeface="Arial"/>
                          <a:cs typeface="Arial"/>
                          <a:sym typeface="Arial"/>
                        </a:rPr>
                        <a:t>con soporte de análisis profundo y detallado.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Commercial Finance (Finanzas) ↔ Data &amp; Analytics (C&amp;M)</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Mejora la rentabilidad comercial y control financiero.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Finanzas</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3</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Integrar la </a:t>
                      </a:r>
                      <a:r>
                        <a:rPr b="1" i="1" lang="es-MX" sz="900" cap="none">
                          <a:solidFill>
                            <a:srgbClr val="7F7F7F"/>
                          </a:solidFill>
                          <a:latin typeface="Arial"/>
                          <a:ea typeface="Arial"/>
                          <a:cs typeface="Arial"/>
                          <a:sym typeface="Arial"/>
                        </a:rPr>
                        <a:t>Voz del Cliente </a:t>
                      </a:r>
                      <a:r>
                        <a:rPr lang="es-MX" sz="900" cap="none">
                          <a:solidFill>
                            <a:srgbClr val="7F7F7F"/>
                          </a:solidFill>
                          <a:latin typeface="Arial"/>
                          <a:ea typeface="Arial"/>
                          <a:cs typeface="Arial"/>
                          <a:sym typeface="Arial"/>
                        </a:rPr>
                        <a:t>en los procesos comerciales end-to-end para mejorar experiencia y ejecución.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Customer &amp; Marketing ↔ Excelencia Operativa</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Conecta diseño comercial con ejecución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Excelencia Operativa</a:t>
                      </a:r>
                      <a:endParaRPr/>
                    </a:p>
                  </a:txBody>
                  <a:tcPr marT="69875" marB="11300" marR="22625" marL="226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4</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Implementar la </a:t>
                      </a:r>
                      <a:r>
                        <a:rPr b="1" i="1" lang="es-MX" sz="900" cap="none">
                          <a:solidFill>
                            <a:srgbClr val="7F7F7F"/>
                          </a:solidFill>
                          <a:latin typeface="Arial"/>
                          <a:ea typeface="Arial"/>
                          <a:cs typeface="Arial"/>
                          <a:sym typeface="Arial"/>
                        </a:rPr>
                        <a:t>Value Management Office </a:t>
                      </a:r>
                      <a:r>
                        <a:rPr lang="es-MX" sz="900" cap="none">
                          <a:solidFill>
                            <a:srgbClr val="7F7F7F"/>
                          </a:solidFill>
                          <a:latin typeface="Arial"/>
                          <a:ea typeface="Arial"/>
                          <a:cs typeface="Arial"/>
                          <a:sym typeface="Arial"/>
                        </a:rPr>
                        <a:t>(VMO) y asegurar la inversión, gobernanza, priorización y trazabilidad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Estrategia y Transformación ↔ Todas las Plataformas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Asegura trazabilidad y captura del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Estrategia y Transformación</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Finanzas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95250">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5</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Estandarizar el </a:t>
                      </a:r>
                      <a:r>
                        <a:rPr b="1" i="1" lang="es-MX" sz="900" cap="none">
                          <a:solidFill>
                            <a:srgbClr val="7F7F7F"/>
                          </a:solidFill>
                          <a:latin typeface="Arial"/>
                          <a:ea typeface="Arial"/>
                          <a:cs typeface="Arial"/>
                          <a:sym typeface="Arial"/>
                        </a:rPr>
                        <a:t>Modelo de Madurez</a:t>
                      </a:r>
                      <a:r>
                        <a:rPr lang="es-MX" sz="900" cap="none">
                          <a:solidFill>
                            <a:srgbClr val="7F7F7F"/>
                          </a:solidFill>
                          <a:latin typeface="Arial"/>
                          <a:ea typeface="Arial"/>
                          <a:cs typeface="Arial"/>
                          <a:sym typeface="Arial"/>
                        </a:rPr>
                        <a:t> y orquestar el </a:t>
                      </a:r>
                      <a:r>
                        <a:rPr b="1" i="1" lang="es-MX" sz="900" cap="none">
                          <a:solidFill>
                            <a:srgbClr val="7F7F7F"/>
                          </a:solidFill>
                          <a:latin typeface="Arial"/>
                          <a:ea typeface="Arial"/>
                          <a:cs typeface="Arial"/>
                          <a:sym typeface="Arial"/>
                        </a:rPr>
                        <a:t>modelo operativo end-to-end</a:t>
                      </a:r>
                      <a:r>
                        <a:rPr lang="es-MX" sz="900" cap="none">
                          <a:solidFill>
                            <a:srgbClr val="7F7F7F"/>
                          </a:solidFill>
                          <a:latin typeface="Arial"/>
                          <a:ea typeface="Arial"/>
                          <a:cs typeface="Arial"/>
                          <a:sym typeface="Arial"/>
                        </a:rPr>
                        <a:t>, integrando procesos de excelencia, despliegue operativo y cadena de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Excelencia Operativa ↔ Operaciones Nacionales / Despliegue Op. ↔ Procesos Operativos CDS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Fortalece la consistencia operativa y accountability.</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Excelencia Operativa</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Operaciones</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Cadena Suministro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6</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Alinear la </a:t>
                      </a:r>
                      <a:r>
                        <a:rPr b="1" i="1" lang="es-MX" sz="900" cap="none">
                          <a:solidFill>
                            <a:srgbClr val="7F7F7F"/>
                          </a:solidFill>
                          <a:latin typeface="Arial"/>
                          <a:ea typeface="Arial"/>
                          <a:cs typeface="Arial"/>
                          <a:sym typeface="Arial"/>
                        </a:rPr>
                        <a:t>planeación financiera </a:t>
                      </a:r>
                      <a:r>
                        <a:rPr lang="es-MX" sz="900" cap="none">
                          <a:solidFill>
                            <a:srgbClr val="7F7F7F"/>
                          </a:solidFill>
                          <a:latin typeface="Arial"/>
                          <a:ea typeface="Arial"/>
                          <a:cs typeface="Arial"/>
                          <a:sym typeface="Arial"/>
                        </a:rPr>
                        <a:t>con el </a:t>
                      </a:r>
                      <a:r>
                        <a:rPr b="1" i="1" lang="es-MX" sz="900" cap="none">
                          <a:solidFill>
                            <a:srgbClr val="7F7F7F"/>
                          </a:solidFill>
                          <a:latin typeface="Arial"/>
                          <a:ea typeface="Arial"/>
                          <a:cs typeface="Arial"/>
                          <a:sym typeface="Arial"/>
                        </a:rPr>
                        <a:t>portafolio estratégico </a:t>
                      </a:r>
                      <a:r>
                        <a:rPr lang="es-MX" sz="900" cap="none">
                          <a:solidFill>
                            <a:srgbClr val="7F7F7F"/>
                          </a:solidFill>
                          <a:latin typeface="Arial"/>
                          <a:ea typeface="Arial"/>
                          <a:cs typeface="Arial"/>
                          <a:sym typeface="Arial"/>
                        </a:rPr>
                        <a:t>y la medición de beneficios.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Finanzas ↔ Estrategia y Transformación</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Fortalece la disciplina de inversión y valor generado.</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Finanzas</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680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7</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Consolidar </a:t>
                      </a:r>
                      <a:r>
                        <a:rPr b="1" i="1" lang="es-MX" sz="900" cap="none">
                          <a:solidFill>
                            <a:srgbClr val="7F7F7F"/>
                          </a:solidFill>
                          <a:latin typeface="Arial"/>
                          <a:ea typeface="Arial"/>
                          <a:cs typeface="Arial"/>
                          <a:sym typeface="Arial"/>
                        </a:rPr>
                        <a:t>capacidades digitales </a:t>
                      </a:r>
                      <a:r>
                        <a:rPr lang="es-MX" sz="900" cap="none">
                          <a:solidFill>
                            <a:srgbClr val="7F7F7F"/>
                          </a:solidFill>
                          <a:latin typeface="Arial"/>
                          <a:ea typeface="Arial"/>
                          <a:cs typeface="Arial"/>
                          <a:sym typeface="Arial"/>
                        </a:rPr>
                        <a:t>y analítica avanzada para habilitar </a:t>
                      </a:r>
                      <a:r>
                        <a:rPr b="1" i="1" lang="es-MX" sz="900" cap="none">
                          <a:solidFill>
                            <a:srgbClr val="7F7F7F"/>
                          </a:solidFill>
                          <a:latin typeface="Arial"/>
                          <a:ea typeface="Arial"/>
                          <a:cs typeface="Arial"/>
                          <a:sym typeface="Arial"/>
                        </a:rPr>
                        <a:t>omnicanalidad</a:t>
                      </a:r>
                      <a:r>
                        <a:rPr lang="es-MX" sz="900" cap="none">
                          <a:solidFill>
                            <a:srgbClr val="7F7F7F"/>
                          </a:solidFill>
                          <a:latin typeface="Arial"/>
                          <a:ea typeface="Arial"/>
                          <a:cs typeface="Arial"/>
                          <a:sym typeface="Arial"/>
                        </a:rPr>
                        <a:t> y segmentación dinámica.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TI ↔ Customer &amp; Marketing ↔ Todas las Plataformas</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Digitalización del core y habilitación de experiencia al cliente.</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TI OXXO MX</a:t>
                      </a:r>
                      <a:endParaRPr/>
                    </a:p>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Customer &amp; Marketing</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chemeClr val="dk1"/>
                        </a:buClr>
                        <a:buSzPts val="900"/>
                        <a:buFont typeface="Arial"/>
                        <a:buNone/>
                      </a:pPr>
                      <a:r>
                        <a:rPr b="1" lang="es-MX" sz="900" cap="none">
                          <a:solidFill>
                            <a:schemeClr val="dk1"/>
                          </a:solidFill>
                          <a:latin typeface="Arial"/>
                          <a:ea typeface="Arial"/>
                          <a:cs typeface="Arial"/>
                          <a:sym typeface="Arial"/>
                        </a:rPr>
                        <a:t>8</a:t>
                      </a:r>
                      <a:endParaRPr sz="900" cap="none">
                        <a:solidFill>
                          <a:schemeClr val="dk1"/>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b="1" i="1" lang="es-MX" sz="900" cap="none">
                          <a:solidFill>
                            <a:schemeClr val="dk1"/>
                          </a:solidFill>
                          <a:latin typeface="Arial"/>
                          <a:ea typeface="Arial"/>
                          <a:cs typeface="Arial"/>
                          <a:sym typeface="Arial"/>
                        </a:rPr>
                        <a:t>Integración de Expansión </a:t>
                      </a:r>
                      <a:r>
                        <a:rPr lang="es-MX" sz="900" cap="none">
                          <a:solidFill>
                            <a:schemeClr val="dk1"/>
                          </a:solidFill>
                          <a:latin typeface="Arial"/>
                          <a:ea typeface="Arial"/>
                          <a:cs typeface="Arial"/>
                          <a:sym typeface="Arial"/>
                        </a:rPr>
                        <a:t>bajo el modelo operativo para fortalecer gobernanza, sostenibilidad y velocidad de apertura.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b="1" lang="es-MX" sz="900" cap="none">
                          <a:solidFill>
                            <a:schemeClr val="dk1"/>
                          </a:solidFill>
                          <a:latin typeface="Arial"/>
                          <a:ea typeface="Arial"/>
                          <a:cs typeface="Arial"/>
                          <a:sym typeface="Arial"/>
                        </a:rPr>
                        <a:t>Expansión ↔ Operaciones</a:t>
                      </a:r>
                      <a:endParaRPr sz="900" cap="none">
                        <a:solidFill>
                          <a:schemeClr val="dk1"/>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Maximiza sinergias en aperturas y conservación, </a:t>
                      </a:r>
                      <a:r>
                        <a:rPr b="0" lang="es-MX" sz="900" cap="none">
                          <a:solidFill>
                            <a:schemeClr val="dk1"/>
                          </a:solidFill>
                          <a:latin typeface="Arial"/>
                          <a:ea typeface="Arial"/>
                          <a:cs typeface="Arial"/>
                          <a:sym typeface="Arial"/>
                        </a:rPr>
                        <a:t>rentabilidad</a:t>
                      </a:r>
                      <a:r>
                        <a:rPr lang="es-MX" sz="900" cap="none">
                          <a:solidFill>
                            <a:schemeClr val="dk1"/>
                          </a:solidFill>
                          <a:latin typeface="Arial"/>
                          <a:ea typeface="Arial"/>
                          <a:cs typeface="Arial"/>
                          <a:sym typeface="Arial"/>
                        </a:rPr>
                        <a:t> y sostenibilidad.</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c>
                  <a:txBody>
                    <a:bodyPr/>
                    <a:lstStyle/>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Dir. Operaciones</a:t>
                      </a:r>
                      <a:endParaRPr/>
                    </a:p>
                    <a:p>
                      <a:pPr indent="0" lvl="0" marL="0" marR="0" rtl="0" algn="l">
                        <a:spcBef>
                          <a:spcPts val="0"/>
                        </a:spcBef>
                        <a:spcAft>
                          <a:spcPts val="0"/>
                        </a:spcAft>
                        <a:buClr>
                          <a:schemeClr val="dk1"/>
                        </a:buClr>
                        <a:buSzPts val="900"/>
                        <a:buFont typeface="Arial"/>
                        <a:buNone/>
                      </a:pPr>
                      <a:r>
                        <a:rPr lang="es-MX" sz="900" cap="none">
                          <a:solidFill>
                            <a:schemeClr val="dk1"/>
                          </a:solidFill>
                          <a:latin typeface="Arial"/>
                          <a:ea typeface="Arial"/>
                          <a:cs typeface="Arial"/>
                          <a:sym typeface="Arial"/>
                        </a:rPr>
                        <a:t>Dir. Expansión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CC"/>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9</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Integración de </a:t>
                      </a:r>
                      <a:r>
                        <a:rPr b="1" lang="es-MX" sz="900" cap="none">
                          <a:solidFill>
                            <a:srgbClr val="7F7F7F"/>
                          </a:solidFill>
                          <a:latin typeface="Arial"/>
                          <a:ea typeface="Arial"/>
                          <a:cs typeface="Arial"/>
                          <a:sym typeface="Arial"/>
                        </a:rPr>
                        <a:t>Operaciones Foodservice </a:t>
                      </a:r>
                      <a:r>
                        <a:rPr lang="es-MX" sz="900" cap="none">
                          <a:solidFill>
                            <a:srgbClr val="7F7F7F"/>
                          </a:solidFill>
                          <a:latin typeface="Arial"/>
                          <a:ea typeface="Arial"/>
                          <a:cs typeface="Arial"/>
                          <a:sym typeface="Arial"/>
                        </a:rPr>
                        <a:t>a </a:t>
                      </a:r>
                      <a:r>
                        <a:rPr b="1" lang="es-MX" sz="900" cap="none">
                          <a:solidFill>
                            <a:srgbClr val="7F7F7F"/>
                          </a:solidFill>
                          <a:latin typeface="Arial"/>
                          <a:ea typeface="Arial"/>
                          <a:cs typeface="Arial"/>
                          <a:sym typeface="Arial"/>
                        </a:rPr>
                        <a:t>Operaciones Tiendas </a:t>
                      </a:r>
                      <a:r>
                        <a:rPr b="0" lang="es-MX" sz="900" cap="none">
                          <a:solidFill>
                            <a:srgbClr val="7F7F7F"/>
                          </a:solidFill>
                          <a:latin typeface="Arial"/>
                          <a:ea typeface="Arial"/>
                          <a:cs typeface="Arial"/>
                          <a:sym typeface="Arial"/>
                        </a:rPr>
                        <a:t>para escalar e integrar la ejecución de la propuesta de valor.</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Comercial ↔ Operaciones Nacionales ↔ Excelencia Operativa </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Escalabilidad y alineación operativa de la propuesta de valor integrada en tienda</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 </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Operaciones</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519525">
                <a:tc>
                  <a:txBody>
                    <a:bodyPr/>
                    <a:lstStyle/>
                    <a:p>
                      <a:pPr indent="0" lvl="0" marL="0" marR="0" rtl="0" algn="ctr">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10</a:t>
                      </a:r>
                      <a:endParaRPr b="1"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0" lang="es-MX" sz="900" cap="none">
                          <a:solidFill>
                            <a:srgbClr val="7F7F7F"/>
                          </a:solidFill>
                          <a:latin typeface="Arial"/>
                          <a:ea typeface="Arial"/>
                          <a:cs typeface="Arial"/>
                          <a:sym typeface="Arial"/>
                        </a:rPr>
                        <a:t>Propuesta de valor de </a:t>
                      </a:r>
                      <a:r>
                        <a:rPr b="1" lang="es-MX" sz="900" cap="none">
                          <a:solidFill>
                            <a:srgbClr val="7F7F7F"/>
                          </a:solidFill>
                          <a:latin typeface="Arial"/>
                          <a:ea typeface="Arial"/>
                          <a:cs typeface="Arial"/>
                          <a:sym typeface="Arial"/>
                        </a:rPr>
                        <a:t>Servicios Comerciales </a:t>
                      </a:r>
                      <a:r>
                        <a:rPr b="0" lang="es-MX" sz="900" cap="none">
                          <a:solidFill>
                            <a:srgbClr val="7F7F7F"/>
                          </a:solidFill>
                          <a:latin typeface="Arial"/>
                          <a:ea typeface="Arial"/>
                          <a:cs typeface="Arial"/>
                          <a:sym typeface="Arial"/>
                        </a:rPr>
                        <a:t>independiente, alineada a la estrategia de negocio y </a:t>
                      </a:r>
                      <a:r>
                        <a:rPr b="1" lang="es-MX" sz="900" cap="none">
                          <a:solidFill>
                            <a:srgbClr val="7F7F7F"/>
                          </a:solidFill>
                          <a:latin typeface="Arial"/>
                          <a:ea typeface="Arial"/>
                          <a:cs typeface="Arial"/>
                          <a:sym typeface="Arial"/>
                        </a:rPr>
                        <a:t>en sinergia con Ejecución Comercial</a:t>
                      </a:r>
                      <a:endParaRPr b="1"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b="1" lang="es-MX" sz="900" cap="none">
                          <a:solidFill>
                            <a:srgbClr val="7F7F7F"/>
                          </a:solidFill>
                          <a:latin typeface="Arial"/>
                          <a:ea typeface="Arial"/>
                          <a:cs typeface="Arial"/>
                          <a:sym typeface="Arial"/>
                        </a:rPr>
                        <a:t>Ejecución Comercial (Comercial) ↔ Servicios Comerciales (E&amp;T)</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Propuesta de valor de Servicios Comerciales en línea con la estrategia de negocio</a:t>
                      </a:r>
                      <a:endParaRPr sz="900" cap="none">
                        <a:solidFill>
                          <a:srgbClr val="7F7F7F"/>
                        </a:solidFill>
                        <a:latin typeface="Arial"/>
                        <a:ea typeface="Arial"/>
                        <a:cs typeface="Arial"/>
                        <a:sym typeface="Arial"/>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Comercial</a:t>
                      </a:r>
                      <a:endParaRPr/>
                    </a:p>
                    <a:p>
                      <a:pPr indent="0" lvl="0" marL="0" marR="0" rtl="0" algn="l">
                        <a:lnSpc>
                          <a:spcPct val="100000"/>
                        </a:lnSpc>
                        <a:spcBef>
                          <a:spcPts val="0"/>
                        </a:spcBef>
                        <a:spcAft>
                          <a:spcPts val="0"/>
                        </a:spcAft>
                        <a:buClr>
                          <a:srgbClr val="7F7F7F"/>
                        </a:buClr>
                        <a:buSzPts val="900"/>
                        <a:buFont typeface="Arial"/>
                        <a:buNone/>
                      </a:pPr>
                      <a:r>
                        <a:rPr lang="es-MX" sz="900" cap="none">
                          <a:solidFill>
                            <a:srgbClr val="7F7F7F"/>
                          </a:solidFill>
                          <a:latin typeface="Arial"/>
                          <a:ea typeface="Arial"/>
                          <a:cs typeface="Arial"/>
                          <a:sym typeface="Arial"/>
                        </a:rPr>
                        <a:t>Dir. Estrategia y Transformación</a:t>
                      </a:r>
                      <a:endParaRPr/>
                    </a:p>
                  </a:txBody>
                  <a:tcPr marT="69875" marB="11300" marR="22625" marL="226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4" name="Shape 1754"/>
        <p:cNvGrpSpPr/>
        <p:nvPr/>
      </p:nvGrpSpPr>
      <p:grpSpPr>
        <a:xfrm>
          <a:off x="0" y="0"/>
          <a:ext cx="0" cy="0"/>
          <a:chOff x="0" y="0"/>
          <a:chExt cx="0" cy="0"/>
        </a:xfrm>
      </p:grpSpPr>
      <p:sp>
        <p:nvSpPr>
          <p:cNvPr id="1755" name="Google Shape;1755;p118"/>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Operaciones + Expansión</a:t>
            </a:r>
            <a:endParaRPr/>
          </a:p>
        </p:txBody>
      </p:sp>
      <p:sp>
        <p:nvSpPr>
          <p:cNvPr id="1756" name="Google Shape;1756;p118"/>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graphicFrame>
        <p:nvGraphicFramePr>
          <p:cNvPr id="1757" name="Google Shape;1757;p118"/>
          <p:cNvGraphicFramePr/>
          <p:nvPr/>
        </p:nvGraphicFramePr>
        <p:xfrm>
          <a:off x="387365" y="731157"/>
          <a:ext cx="3000000" cy="3000000"/>
        </p:xfrm>
        <a:graphic>
          <a:graphicData uri="http://schemas.openxmlformats.org/drawingml/2006/table">
            <a:tbl>
              <a:tblPr>
                <a:noFill/>
                <a:tableStyleId>{59F1A6B1-18B9-4B87-B458-7A3E6594CA7B}</a:tableStyleId>
              </a:tblPr>
              <a:tblGrid>
                <a:gridCol w="2397750"/>
                <a:gridCol w="573050"/>
                <a:gridCol w="573050"/>
                <a:gridCol w="573050"/>
                <a:gridCol w="573050"/>
                <a:gridCol w="1146100"/>
                <a:gridCol w="1146100"/>
                <a:gridCol w="1146100"/>
                <a:gridCol w="1146100"/>
                <a:gridCol w="1146100"/>
                <a:gridCol w="1146100"/>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Expansión</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Estrategia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Finanzas</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Supply Chain</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 Operativa</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Customer &amp; Marketing</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Definición de estrategia (áreas blancas, saturación, ¿nichos?)</a:t>
                      </a:r>
                      <a:endParaRPr sz="1050">
                        <a:solidFill>
                          <a:schemeClr val="dk1"/>
                        </a:solidFill>
                        <a:latin typeface="Arial"/>
                        <a:ea typeface="Arial"/>
                        <a:cs typeface="Arial"/>
                        <a:sym typeface="Arial"/>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Definir metas anuales de expansión</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Priorizar zonas y ubicaciones – dentro de estrategia</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hMerge="1"/>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b="1" lang="es-MX" sz="1050">
                          <a:solidFill>
                            <a:schemeClr val="dk1"/>
                          </a:solidFill>
                          <a:latin typeface="Arial"/>
                          <a:ea typeface="Arial"/>
                          <a:cs typeface="Arial"/>
                          <a:sym typeface="Arial"/>
                        </a:rPr>
                        <a:t>Definir</a:t>
                      </a:r>
                      <a:r>
                        <a:rPr lang="es-MX" sz="1050">
                          <a:solidFill>
                            <a:schemeClr val="dk1"/>
                          </a:solidFill>
                          <a:latin typeface="Arial"/>
                          <a:ea typeface="Arial"/>
                          <a:cs typeface="Arial"/>
                          <a:sym typeface="Arial"/>
                        </a:rPr>
                        <a:t> formato de tienda / layout (master segment) – C&amp;M</a:t>
                      </a:r>
                      <a:endParaRPr/>
                    </a:p>
                    <a:p>
                      <a:pPr indent="-66675" lvl="0" marL="0" marR="0" rtl="0" algn="l">
                        <a:lnSpc>
                          <a:spcPct val="100000"/>
                        </a:lnSpc>
                        <a:spcBef>
                          <a:spcPts val="0"/>
                        </a:spcBef>
                        <a:spcAft>
                          <a:spcPts val="0"/>
                        </a:spcAft>
                        <a:buClr>
                          <a:schemeClr val="dk1"/>
                        </a:buClr>
                        <a:buSzPts val="1050"/>
                        <a:buFont typeface="Trebuchet MS"/>
                        <a:buChar char="​"/>
                      </a:pPr>
                      <a:r>
                        <a:rPr b="1" lang="es-MX" sz="1050">
                          <a:solidFill>
                            <a:schemeClr val="dk1"/>
                          </a:solidFill>
                          <a:latin typeface="Arial"/>
                          <a:ea typeface="Arial"/>
                          <a:cs typeface="Arial"/>
                          <a:sym typeface="Arial"/>
                        </a:rPr>
                        <a:t>Validar</a:t>
                      </a:r>
                      <a:r>
                        <a:rPr lang="es-MX" sz="1050">
                          <a:solidFill>
                            <a:schemeClr val="dk1"/>
                          </a:solidFill>
                          <a:latin typeface="Arial"/>
                          <a:ea typeface="Arial"/>
                          <a:cs typeface="Arial"/>
                          <a:sym typeface="Arial"/>
                        </a:rPr>
                        <a:t> que se cumpla la definición de los formatos en la ejecución - Comercial</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hMerge="1"/>
                <a:tc gridSpan="2">
                  <a:txBody>
                    <a:bodyPr/>
                    <a:lstStyle/>
                    <a:p>
                      <a:pPr indent="0" lvl="0" marL="0" marR="0" rtl="0" algn="ctr">
                        <a:spcBef>
                          <a:spcPts val="0"/>
                        </a:spcBef>
                        <a:spcAft>
                          <a:spcPts val="0"/>
                        </a:spcAft>
                        <a:buClr>
                          <a:schemeClr val="dk1"/>
                        </a:buClr>
                        <a:buSzPts val="1600"/>
                        <a:buFont typeface="Arial"/>
                        <a:buNone/>
                      </a:pPr>
                      <a:r>
                        <a:rPr b="0" i="0" lang="es-MX" sz="1600" u="none" strike="noStrike">
                          <a:solidFill>
                            <a:schemeClr val="dk1"/>
                          </a:solidFill>
                          <a:latin typeface="Arial"/>
                          <a:ea typeface="Arial"/>
                          <a:cs typeface="Arial"/>
                          <a:sym typeface="Arial"/>
                        </a:rPr>
                        <a:t>R</a:t>
                      </a:r>
                      <a:endParaRPr/>
                    </a:p>
                    <a:p>
                      <a:pPr indent="0" lvl="0" marL="0" marR="0" rtl="0" algn="ctr">
                        <a:spcBef>
                          <a:spcPts val="0"/>
                        </a:spcBef>
                        <a:spcAft>
                          <a:spcPts val="0"/>
                        </a:spcAft>
                        <a:buClr>
                          <a:schemeClr val="dk1"/>
                        </a:buClr>
                        <a:buSzPts val="1050"/>
                        <a:buFont typeface="Arial"/>
                        <a:buNone/>
                      </a:pPr>
                      <a:r>
                        <a:rPr b="0" i="1" lang="es-MX" sz="1050" u="none" strike="noStrike">
                          <a:solidFill>
                            <a:schemeClr val="dk1"/>
                          </a:solidFill>
                          <a:latin typeface="Arial"/>
                          <a:ea typeface="Arial"/>
                          <a:cs typeface="Arial"/>
                          <a:sym typeface="Arial"/>
                        </a:rPr>
                        <a:t>*Exp e Inf</a:t>
                      </a:r>
                      <a:endParaRPr b="0" i="1" sz="105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Definir plan de inversión (capex)</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Construcción y habilitación de tiendas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Entrega de tienda a operación (handover)</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Evaluar rentabilidad post-apertura</a:t>
                      </a:r>
                      <a:endParaRPr sz="1050">
                        <a:solidFill>
                          <a:schemeClr val="dk1"/>
                        </a:solidFill>
                        <a:latin typeface="Arial"/>
                        <a:ea typeface="Arial"/>
                        <a:cs typeface="Arial"/>
                        <a:sym typeface="Arial"/>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gridSpan="2">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hMerge="1"/>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r>
            </a:tbl>
          </a:graphicData>
        </a:graphic>
      </p:graphicFrame>
      <p:sp>
        <p:nvSpPr>
          <p:cNvPr id="1758" name="Google Shape;1758;p118"/>
          <p:cNvSpPr/>
          <p:nvPr/>
        </p:nvSpPr>
        <p:spPr>
          <a:xfrm>
            <a:off x="18294532" y="1715532"/>
            <a:ext cx="337578" cy="338400"/>
          </a:xfrm>
          <a:prstGeom prst="ellipse">
            <a:avLst/>
          </a:prstGeom>
          <a:solidFill>
            <a:srgbClr val="E7A1A8"/>
          </a:solidFill>
          <a:ln cap="flat" cmpd="sng" w="9525">
            <a:solidFill>
              <a:srgbClr val="FFFFFF"/>
            </a:solidFill>
            <a:prstDash val="solid"/>
            <a:miter lim="800000"/>
            <a:headEnd len="sm" w="sm" type="none"/>
            <a:tailEnd len="sm" w="sm" type="none"/>
          </a:ln>
        </p:spPr>
        <p:txBody>
          <a:bodyPr anchorCtr="0" anchor="ctr" bIns="45700" lIns="0" spcFirstLastPara="1" rIns="0" wrap="square" tIns="45700">
            <a:noAutofit/>
          </a:bodyPr>
          <a:lstStyle/>
          <a:p>
            <a:pPr indent="-99225" lvl="0" marL="99225" marR="0" rtl="0" algn="ctr">
              <a:spcBef>
                <a:spcPts val="0"/>
              </a:spcBef>
              <a:spcAft>
                <a:spcPts val="0"/>
              </a:spcAft>
              <a:buNone/>
            </a:pPr>
            <a:r>
              <a:rPr lang="es-MX" sz="1200">
                <a:solidFill>
                  <a:srgbClr val="6F0018"/>
                </a:solidFill>
                <a:latin typeface="Arial"/>
                <a:ea typeface="Arial"/>
                <a:cs typeface="Arial"/>
                <a:sym typeface="Arial"/>
              </a:rPr>
              <a:t>S</a:t>
            </a:r>
            <a:endParaRPr/>
          </a:p>
        </p:txBody>
      </p:sp>
      <p:sp>
        <p:nvSpPr>
          <p:cNvPr id="1759" name="Google Shape;1759;p118"/>
          <p:cNvSpPr/>
          <p:nvPr/>
        </p:nvSpPr>
        <p:spPr>
          <a:xfrm>
            <a:off x="58766" y="1325990"/>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a:t>
            </a:r>
            <a:endParaRPr/>
          </a:p>
        </p:txBody>
      </p:sp>
      <p:sp>
        <p:nvSpPr>
          <p:cNvPr id="1760" name="Google Shape;1760;p118"/>
          <p:cNvSpPr/>
          <p:nvPr/>
        </p:nvSpPr>
        <p:spPr>
          <a:xfrm>
            <a:off x="58766" y="184582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2</a:t>
            </a:r>
            <a:endParaRPr b="0" i="0" sz="1152" u="none" cap="none" strike="noStrike">
              <a:solidFill>
                <a:srgbClr val="FFFFFF"/>
              </a:solidFill>
              <a:latin typeface="Arial"/>
              <a:ea typeface="Arial"/>
              <a:cs typeface="Arial"/>
              <a:sym typeface="Arial"/>
            </a:endParaRPr>
          </a:p>
        </p:txBody>
      </p:sp>
      <p:sp>
        <p:nvSpPr>
          <p:cNvPr id="1761" name="Google Shape;1761;p118"/>
          <p:cNvSpPr/>
          <p:nvPr/>
        </p:nvSpPr>
        <p:spPr>
          <a:xfrm>
            <a:off x="58766" y="2422800"/>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3</a:t>
            </a:r>
            <a:endParaRPr b="0" i="0" sz="1152" u="none" cap="none" strike="noStrike">
              <a:solidFill>
                <a:srgbClr val="FFFFFF"/>
              </a:solidFill>
              <a:latin typeface="Arial"/>
              <a:ea typeface="Arial"/>
              <a:cs typeface="Arial"/>
              <a:sym typeface="Arial"/>
            </a:endParaRPr>
          </a:p>
        </p:txBody>
      </p:sp>
      <p:sp>
        <p:nvSpPr>
          <p:cNvPr id="1762" name="Google Shape;1762;p118"/>
          <p:cNvSpPr/>
          <p:nvPr/>
        </p:nvSpPr>
        <p:spPr>
          <a:xfrm>
            <a:off x="58766" y="294263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4</a:t>
            </a:r>
            <a:endParaRPr b="0" i="0" sz="1152" u="none" cap="none" strike="noStrike">
              <a:solidFill>
                <a:srgbClr val="FFFFFF"/>
              </a:solidFill>
              <a:latin typeface="Arial"/>
              <a:ea typeface="Arial"/>
              <a:cs typeface="Arial"/>
              <a:sym typeface="Arial"/>
            </a:endParaRPr>
          </a:p>
        </p:txBody>
      </p:sp>
      <p:sp>
        <p:nvSpPr>
          <p:cNvPr id="1763" name="Google Shape;1763;p118"/>
          <p:cNvSpPr/>
          <p:nvPr/>
        </p:nvSpPr>
        <p:spPr>
          <a:xfrm>
            <a:off x="58766" y="3470626"/>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5</a:t>
            </a:r>
            <a:endParaRPr b="0" i="0" sz="1152" u="none" cap="none" strike="noStrike">
              <a:solidFill>
                <a:srgbClr val="FFFFFF"/>
              </a:solidFill>
              <a:latin typeface="Arial"/>
              <a:ea typeface="Arial"/>
              <a:cs typeface="Arial"/>
              <a:sym typeface="Arial"/>
            </a:endParaRPr>
          </a:p>
        </p:txBody>
      </p:sp>
      <p:sp>
        <p:nvSpPr>
          <p:cNvPr id="1764" name="Google Shape;1764;p118"/>
          <p:cNvSpPr/>
          <p:nvPr/>
        </p:nvSpPr>
        <p:spPr>
          <a:xfrm>
            <a:off x="58766" y="4039441"/>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6</a:t>
            </a:r>
            <a:endParaRPr b="0" i="0" sz="1152" u="none" cap="none" strike="noStrike">
              <a:solidFill>
                <a:srgbClr val="FFFFFF"/>
              </a:solidFill>
              <a:latin typeface="Arial"/>
              <a:ea typeface="Arial"/>
              <a:cs typeface="Arial"/>
              <a:sym typeface="Arial"/>
            </a:endParaRPr>
          </a:p>
        </p:txBody>
      </p:sp>
      <p:sp>
        <p:nvSpPr>
          <p:cNvPr id="1765" name="Google Shape;1765;p118"/>
          <p:cNvSpPr/>
          <p:nvPr/>
        </p:nvSpPr>
        <p:spPr>
          <a:xfrm>
            <a:off x="58766" y="4559272"/>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lang="es-MX" sz="1152">
                <a:solidFill>
                  <a:srgbClr val="FFFFFF"/>
                </a:solidFill>
                <a:latin typeface="Arial"/>
                <a:ea typeface="Arial"/>
                <a:cs typeface="Arial"/>
                <a:sym typeface="Arial"/>
              </a:rPr>
              <a:t>7</a:t>
            </a:r>
            <a:endParaRPr b="0" i="0" sz="1152" u="none" cap="none" strike="noStrike">
              <a:solidFill>
                <a:srgbClr val="FFFFFF"/>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9" name="Shape 1769"/>
        <p:cNvGrpSpPr/>
        <p:nvPr/>
      </p:nvGrpSpPr>
      <p:grpSpPr>
        <a:xfrm>
          <a:off x="0" y="0"/>
          <a:ext cx="0" cy="0"/>
          <a:chOff x="0" y="0"/>
          <a:chExt cx="0" cy="0"/>
        </a:xfrm>
      </p:grpSpPr>
      <p:sp>
        <p:nvSpPr>
          <p:cNvPr id="1770" name="Google Shape;1770;p119"/>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Integración Expansión en Operaciones</a:t>
            </a:r>
            <a:endParaRPr/>
          </a:p>
        </p:txBody>
      </p:sp>
      <p:sp>
        <p:nvSpPr>
          <p:cNvPr id="1771" name="Google Shape;1771;p119"/>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772" name="Google Shape;1772;p119"/>
          <p:cNvSpPr/>
          <p:nvPr/>
        </p:nvSpPr>
        <p:spPr>
          <a:xfrm>
            <a:off x="1668981" y="4874069"/>
            <a:ext cx="9979679" cy="595293"/>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Conoce metas para anticipar impactos en procesos, prepara estándares para escalamiento y no interviene en decisión.</a:t>
            </a:r>
            <a:endParaRPr/>
          </a:p>
        </p:txBody>
      </p:sp>
      <p:sp>
        <p:nvSpPr>
          <p:cNvPr id="1773" name="Google Shape;1773;p119"/>
          <p:cNvSpPr/>
          <p:nvPr/>
        </p:nvSpPr>
        <p:spPr>
          <a:xfrm>
            <a:off x="1668983" y="2614807"/>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Define el objetivo total de crecimiento de red alineado al P&amp;L del negocio, balancea crecimiento vs. capacidad operativa (personal, abasto, soporte) y aprueba la meta final por zona y formato como compromiso operativo.</a:t>
            </a:r>
            <a:endParaRPr/>
          </a:p>
        </p:txBody>
      </p:sp>
      <p:sp>
        <p:nvSpPr>
          <p:cNvPr id="1774" name="Google Shape;1774;p119"/>
          <p:cNvSpPr/>
          <p:nvPr/>
        </p:nvSpPr>
        <p:spPr>
          <a:xfrm>
            <a:off x="1668982" y="3309661"/>
            <a:ext cx="9979679" cy="840140"/>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&amp; Transformación</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Alinea metas con la estrategia de crecimiento de largo plazo, valida consistencia con portafolio de iniciativas estratégicas y reta supuestos de valor y ritmo de expansión.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Evalúa impacto financiero agregado (capex, payback, EBITDA), define restricciones presupuestales y simula escenarios de rentabilidad macro.</a:t>
            </a:r>
            <a:endParaRPr/>
          </a:p>
        </p:txBody>
      </p:sp>
      <p:sp>
        <p:nvSpPr>
          <p:cNvPr id="1775" name="Google Shape;1775;p119"/>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776" name="Google Shape;1776;p119"/>
          <p:cNvSpPr/>
          <p:nvPr/>
        </p:nvSpPr>
        <p:spPr>
          <a:xfrm>
            <a:off x="470554" y="2614808"/>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777" name="Google Shape;1777;p119"/>
          <p:cNvSpPr/>
          <p:nvPr/>
        </p:nvSpPr>
        <p:spPr>
          <a:xfrm>
            <a:off x="470554" y="4876025"/>
            <a:ext cx="1110263" cy="58299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778" name="Google Shape;1778;p119"/>
          <p:cNvSpPr/>
          <p:nvPr/>
        </p:nvSpPr>
        <p:spPr>
          <a:xfrm>
            <a:off x="470554" y="4214917"/>
            <a:ext cx="1110263" cy="595292"/>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1779" name="Google Shape;1779;p119"/>
          <p:cNvSpPr/>
          <p:nvPr/>
        </p:nvSpPr>
        <p:spPr>
          <a:xfrm>
            <a:off x="1668982" y="1943446"/>
            <a:ext cx="9979679" cy="595293"/>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Expansión</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Provee escenarios de capacidad constructiva (cuántas tiendas se pueden abrir realísticamente), aporta análisis de restricciones físicas: tiempos de obra, permisos, saturación de proveedores y simula impactos por tipo de formato (nuevas, relocaciones, remodelaciones).</a:t>
            </a:r>
            <a:endParaRPr/>
          </a:p>
        </p:txBody>
      </p:sp>
      <p:graphicFrame>
        <p:nvGraphicFramePr>
          <p:cNvPr id="1780" name="Google Shape;1780;p119"/>
          <p:cNvGraphicFramePr/>
          <p:nvPr/>
        </p:nvGraphicFramePr>
        <p:xfrm>
          <a:off x="882665" y="731157"/>
          <a:ext cx="3000000" cy="3000000"/>
        </p:xfrm>
        <a:graphic>
          <a:graphicData uri="http://schemas.openxmlformats.org/drawingml/2006/table">
            <a:tbl>
              <a:tblPr>
                <a:noFill/>
                <a:tableStyleId>{59F1A6B1-18B9-4B87-B458-7A3E6594CA7B}</a:tableStyleId>
              </a:tblPr>
              <a:tblGrid>
                <a:gridCol w="2440275"/>
                <a:gridCol w="1166425"/>
                <a:gridCol w="1166425"/>
                <a:gridCol w="1166425"/>
                <a:gridCol w="1166425"/>
                <a:gridCol w="1166425"/>
                <a:gridCol w="1166425"/>
                <a:gridCol w="11664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Expansión</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Estrategia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Finanzas</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Supply Chain</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 Operativa</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Definir metas anuales de expansión</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
        <p:nvSpPr>
          <p:cNvPr id="1781" name="Google Shape;1781;p119"/>
          <p:cNvSpPr/>
          <p:nvPr/>
        </p:nvSpPr>
        <p:spPr>
          <a:xfrm>
            <a:off x="554066" y="1325990"/>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1</a:t>
            </a:r>
            <a:endParaRPr/>
          </a:p>
        </p:txBody>
      </p:sp>
      <p:sp>
        <p:nvSpPr>
          <p:cNvPr id="1782" name="Google Shape;1782;p119"/>
          <p:cNvSpPr/>
          <p:nvPr/>
        </p:nvSpPr>
        <p:spPr>
          <a:xfrm>
            <a:off x="470554" y="3282061"/>
            <a:ext cx="1110263" cy="867740"/>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1783" name="Google Shape;1783;p119"/>
          <p:cNvSpPr/>
          <p:nvPr/>
        </p:nvSpPr>
        <p:spPr>
          <a:xfrm>
            <a:off x="1668981" y="4214916"/>
            <a:ext cx="9979679" cy="595293"/>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Aporta visión de potencial de mercado y categorías, prioriza territorios con mayor oportunidad comercial y reta metas en función de saturación competitiva.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Valida capacidad logística para atender nuevas tiendas, identifica necesidades de CEDIS o rutas nuevas y alerta cuellos de botella.</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7" name="Shape 1787"/>
        <p:cNvGrpSpPr/>
        <p:nvPr/>
      </p:nvGrpSpPr>
      <p:grpSpPr>
        <a:xfrm>
          <a:off x="0" y="0"/>
          <a:ext cx="0" cy="0"/>
          <a:chOff x="0" y="0"/>
          <a:chExt cx="0" cy="0"/>
        </a:xfrm>
      </p:grpSpPr>
      <p:sp>
        <p:nvSpPr>
          <p:cNvPr id="1788" name="Google Shape;1788;p120"/>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Integración Expansión en Operaciones</a:t>
            </a:r>
            <a:endParaRPr/>
          </a:p>
        </p:txBody>
      </p:sp>
      <p:sp>
        <p:nvSpPr>
          <p:cNvPr id="1789" name="Google Shape;1789;p120"/>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790" name="Google Shape;1790;p120"/>
          <p:cNvSpPr/>
          <p:nvPr/>
        </p:nvSpPr>
        <p:spPr>
          <a:xfrm>
            <a:off x="1668981" y="5038661"/>
            <a:ext cx="9979679" cy="595293"/>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Conoce ubicaciones priorizadas, anticipa rediseños de procesos. No define.</a:t>
            </a:r>
            <a:endParaRPr/>
          </a:p>
        </p:txBody>
      </p:sp>
      <p:sp>
        <p:nvSpPr>
          <p:cNvPr id="1791" name="Google Shape;1791;p120"/>
          <p:cNvSpPr/>
          <p:nvPr/>
        </p:nvSpPr>
        <p:spPr>
          <a:xfrm>
            <a:off x="1668983" y="2614807"/>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Decide qué zonas se atienden primero, prioriza según rentabilidad esperada y capacidad operativa y autoriza la lista final de aperturas</a:t>
            </a:r>
            <a:endParaRPr/>
          </a:p>
        </p:txBody>
      </p:sp>
      <p:sp>
        <p:nvSpPr>
          <p:cNvPr id="1792" name="Google Shape;1792;p120"/>
          <p:cNvSpPr/>
          <p:nvPr/>
        </p:nvSpPr>
        <p:spPr>
          <a:xfrm>
            <a:off x="1668982" y="3309661"/>
            <a:ext cx="9979679" cy="595293"/>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&amp; Transformación</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Asegura alineación con geografía estratégica, evita dispersiones tácticas sin sentido estratégico y evalúa coherencia con modelo de crecimiento.</a:t>
            </a:r>
            <a:endParaRPr/>
          </a:p>
        </p:txBody>
      </p:sp>
      <p:sp>
        <p:nvSpPr>
          <p:cNvPr id="1793" name="Google Shape;1793;p120"/>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794" name="Google Shape;1794;p120"/>
          <p:cNvSpPr/>
          <p:nvPr/>
        </p:nvSpPr>
        <p:spPr>
          <a:xfrm>
            <a:off x="470554" y="2614808"/>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795" name="Google Shape;1795;p120"/>
          <p:cNvSpPr/>
          <p:nvPr/>
        </p:nvSpPr>
        <p:spPr>
          <a:xfrm>
            <a:off x="470554" y="5040617"/>
            <a:ext cx="1110263" cy="582991"/>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796" name="Google Shape;1796;p120"/>
          <p:cNvSpPr/>
          <p:nvPr/>
        </p:nvSpPr>
        <p:spPr>
          <a:xfrm>
            <a:off x="470554" y="3968871"/>
            <a:ext cx="1110263" cy="995754"/>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1797" name="Google Shape;1797;p120"/>
          <p:cNvSpPr/>
          <p:nvPr/>
        </p:nvSpPr>
        <p:spPr>
          <a:xfrm>
            <a:off x="1668982" y="1943446"/>
            <a:ext cx="9979679" cy="595293"/>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Expansión</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Identifica predios y oportunidades inmobiliarias, evalúa factibilidad legal, urbana y constructiva y presenta portafolio de ubicaciones viables.</a:t>
            </a:r>
            <a:endParaRPr/>
          </a:p>
        </p:txBody>
      </p:sp>
      <p:sp>
        <p:nvSpPr>
          <p:cNvPr id="1798" name="Google Shape;1798;p120"/>
          <p:cNvSpPr/>
          <p:nvPr/>
        </p:nvSpPr>
        <p:spPr>
          <a:xfrm>
            <a:off x="554066" y="1325990"/>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2</a:t>
            </a:r>
            <a:endParaRPr/>
          </a:p>
        </p:txBody>
      </p:sp>
      <p:sp>
        <p:nvSpPr>
          <p:cNvPr id="1799" name="Google Shape;1799;p120"/>
          <p:cNvSpPr/>
          <p:nvPr/>
        </p:nvSpPr>
        <p:spPr>
          <a:xfrm>
            <a:off x="470554" y="3282061"/>
            <a:ext cx="1110263" cy="614849"/>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1800" name="Google Shape;1800;p120"/>
          <p:cNvSpPr/>
          <p:nvPr/>
        </p:nvSpPr>
        <p:spPr>
          <a:xfrm>
            <a:off x="1668981" y="3968870"/>
            <a:ext cx="9979679" cy="995755"/>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Analiza rentabilidad por ubicación, compara inversión vs retorno y advierte sobre sobrecostos inmobiliarios.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Evalúa potencial de tráfico y consumo, aporta información competitiva local y sugiere formatos por zona.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Valida distancia logística, evalúa costo de servicio e identifica impactos en red actual.</a:t>
            </a:r>
            <a:endParaRPr/>
          </a:p>
        </p:txBody>
      </p:sp>
      <p:graphicFrame>
        <p:nvGraphicFramePr>
          <p:cNvPr id="1801" name="Google Shape;1801;p120"/>
          <p:cNvGraphicFramePr/>
          <p:nvPr/>
        </p:nvGraphicFramePr>
        <p:xfrm>
          <a:off x="882665" y="731157"/>
          <a:ext cx="3000000" cy="3000000"/>
        </p:xfrm>
        <a:graphic>
          <a:graphicData uri="http://schemas.openxmlformats.org/drawingml/2006/table">
            <a:tbl>
              <a:tblPr>
                <a:noFill/>
                <a:tableStyleId>{59F1A6B1-18B9-4B87-B458-7A3E6594CA7B}</a:tableStyleId>
              </a:tblPr>
              <a:tblGrid>
                <a:gridCol w="2440275"/>
                <a:gridCol w="1166425"/>
                <a:gridCol w="1166425"/>
                <a:gridCol w="1166425"/>
                <a:gridCol w="1166425"/>
                <a:gridCol w="1166425"/>
                <a:gridCol w="1166425"/>
                <a:gridCol w="11664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Expansión</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Estrategia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Finanzas</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Supply Chain</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 Operativa</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Priorizar zonas y ubicaciones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5" name="Shape 1805"/>
        <p:cNvGrpSpPr/>
        <p:nvPr/>
      </p:nvGrpSpPr>
      <p:grpSpPr>
        <a:xfrm>
          <a:off x="0" y="0"/>
          <a:ext cx="0" cy="0"/>
          <a:chOff x="0" y="0"/>
          <a:chExt cx="0" cy="0"/>
        </a:xfrm>
      </p:grpSpPr>
      <p:sp>
        <p:nvSpPr>
          <p:cNvPr id="1806" name="Google Shape;1806;p121"/>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Integración Expansión en Operaciones</a:t>
            </a:r>
            <a:endParaRPr/>
          </a:p>
        </p:txBody>
      </p:sp>
      <p:sp>
        <p:nvSpPr>
          <p:cNvPr id="1807" name="Google Shape;1807;p121"/>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808" name="Google Shape;1808;p121"/>
          <p:cNvSpPr/>
          <p:nvPr/>
        </p:nvSpPr>
        <p:spPr>
          <a:xfrm>
            <a:off x="1668981" y="4828349"/>
            <a:ext cx="9979679" cy="1014667"/>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Valida que el formato sea operable, identifica impactos en plantilla y ajusta requerimientos funcionales.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Evalúa costo del formato, analiza ROI del layout y define límites de inversión.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Conoce formatos definidos, asegura coherencia estratégica y no interviene en diseño.</a:t>
            </a:r>
            <a:endParaRPr/>
          </a:p>
        </p:txBody>
      </p:sp>
      <p:sp>
        <p:nvSpPr>
          <p:cNvPr id="1809" name="Google Shape;1809;p121"/>
          <p:cNvSpPr/>
          <p:nvPr/>
        </p:nvSpPr>
        <p:spPr>
          <a:xfrm>
            <a:off x="1668983" y="2614807"/>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Define necesidades de surtido y exhibición, ajusta espacios por categoría y aporta criterios de visibilidad.</a:t>
            </a:r>
            <a:endParaRPr/>
          </a:p>
        </p:txBody>
      </p:sp>
      <p:sp>
        <p:nvSpPr>
          <p:cNvPr id="1810" name="Google Shape;1810;p121"/>
          <p:cNvSpPr/>
          <p:nvPr/>
        </p:nvSpPr>
        <p:spPr>
          <a:xfrm>
            <a:off x="1668982" y="3309661"/>
            <a:ext cx="9979679" cy="595293"/>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strike="sngStrike">
                <a:solidFill>
                  <a:schemeClr val="dk1"/>
                </a:solidFill>
                <a:latin typeface="Open Sans"/>
                <a:ea typeface="Open Sans"/>
                <a:cs typeface="Open Sans"/>
                <a:sym typeface="Open Sans"/>
              </a:rPr>
              <a:t>Estrategia &amp; Transformación</a:t>
            </a:r>
            <a:endParaRPr/>
          </a:p>
          <a:p>
            <a:pPr indent="0" lvl="0" marL="0" marR="0" rtl="0" algn="l">
              <a:spcBef>
                <a:spcPts val="0"/>
              </a:spcBef>
              <a:spcAft>
                <a:spcPts val="0"/>
              </a:spcAft>
              <a:buNone/>
            </a:pPr>
            <a:r>
              <a:rPr lang="es-MX" sz="1000" strike="sngStrike">
                <a:solidFill>
                  <a:schemeClr val="dk1"/>
                </a:solidFill>
                <a:latin typeface="Open Sans"/>
                <a:ea typeface="Open Sans"/>
                <a:cs typeface="Open Sans"/>
                <a:sym typeface="Open Sans"/>
              </a:rPr>
              <a:t>Asegura alineación con geografía estratégica (COE Int. Expansión), evita dispersiones tácticas sin sentido estratégico y evalúa coherencia con modelo de crecimiento.</a:t>
            </a:r>
            <a:endParaRPr/>
          </a:p>
        </p:txBody>
      </p:sp>
      <p:sp>
        <p:nvSpPr>
          <p:cNvPr id="1811" name="Google Shape;1811;p121"/>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812" name="Google Shape;1812;p121"/>
          <p:cNvSpPr/>
          <p:nvPr/>
        </p:nvSpPr>
        <p:spPr>
          <a:xfrm>
            <a:off x="470554" y="2614808"/>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813" name="Google Shape;1813;p121"/>
          <p:cNvSpPr/>
          <p:nvPr/>
        </p:nvSpPr>
        <p:spPr>
          <a:xfrm>
            <a:off x="470554" y="4826842"/>
            <a:ext cx="1110263" cy="1016173"/>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814" name="Google Shape;1814;p121"/>
          <p:cNvSpPr/>
          <p:nvPr/>
        </p:nvSpPr>
        <p:spPr>
          <a:xfrm>
            <a:off x="470554" y="3968871"/>
            <a:ext cx="1110263" cy="786010"/>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1815" name="Google Shape;1815;p121"/>
          <p:cNvSpPr/>
          <p:nvPr/>
        </p:nvSpPr>
        <p:spPr>
          <a:xfrm>
            <a:off x="1668982" y="1943446"/>
            <a:ext cx="9979679" cy="595293"/>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Expansión</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Diseña layout físico, en conexión con Comercial y C&amp;M, define especificaciones constructivas y aprueba formato final.</a:t>
            </a:r>
            <a:endParaRPr/>
          </a:p>
        </p:txBody>
      </p:sp>
      <p:sp>
        <p:nvSpPr>
          <p:cNvPr id="1816" name="Google Shape;1816;p121"/>
          <p:cNvSpPr/>
          <p:nvPr/>
        </p:nvSpPr>
        <p:spPr>
          <a:xfrm>
            <a:off x="554066" y="1325990"/>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3</a:t>
            </a:r>
            <a:endParaRPr/>
          </a:p>
        </p:txBody>
      </p:sp>
      <p:sp>
        <p:nvSpPr>
          <p:cNvPr id="1817" name="Google Shape;1817;p121"/>
          <p:cNvSpPr/>
          <p:nvPr/>
        </p:nvSpPr>
        <p:spPr>
          <a:xfrm>
            <a:off x="470554" y="3282061"/>
            <a:ext cx="1110263" cy="614849"/>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1818" name="Google Shape;1818;p121"/>
          <p:cNvSpPr/>
          <p:nvPr/>
        </p:nvSpPr>
        <p:spPr>
          <a:xfrm>
            <a:off x="1668981" y="3968871"/>
            <a:ext cx="9979679" cy="786010"/>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Define estándares operativos de proceso, traduce necesidades de tienda en flujos y evalúa fricción operativa.</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Evalúa flujo de mercancía, valida áreas de recepción y ajusta por volumetría.</a:t>
            </a:r>
            <a:endParaRPr/>
          </a:p>
        </p:txBody>
      </p:sp>
      <p:graphicFrame>
        <p:nvGraphicFramePr>
          <p:cNvPr id="1819" name="Google Shape;1819;p121"/>
          <p:cNvGraphicFramePr/>
          <p:nvPr/>
        </p:nvGraphicFramePr>
        <p:xfrm>
          <a:off x="882665" y="731157"/>
          <a:ext cx="3000000" cy="3000000"/>
        </p:xfrm>
        <a:graphic>
          <a:graphicData uri="http://schemas.openxmlformats.org/drawingml/2006/table">
            <a:tbl>
              <a:tblPr>
                <a:noFill/>
                <a:tableStyleId>{59F1A6B1-18B9-4B87-B458-7A3E6594CA7B}</a:tableStyleId>
              </a:tblPr>
              <a:tblGrid>
                <a:gridCol w="2440275"/>
                <a:gridCol w="1166425"/>
                <a:gridCol w="1166425"/>
                <a:gridCol w="1166425"/>
                <a:gridCol w="1166425"/>
                <a:gridCol w="1166425"/>
                <a:gridCol w="1166425"/>
                <a:gridCol w="11664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Expansión</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Estrategia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Finanzas</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Supply Chain</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 Operativa</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Definir formato de tienda / layout</a:t>
                      </a:r>
                      <a:endParaRPr sz="1050">
                        <a:solidFill>
                          <a:schemeClr val="dk1"/>
                        </a:solidFill>
                        <a:latin typeface="Arial"/>
                        <a:ea typeface="Arial"/>
                        <a:cs typeface="Arial"/>
                        <a:sym typeface="Arial"/>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3" name="Shape 1823"/>
        <p:cNvGrpSpPr/>
        <p:nvPr/>
      </p:nvGrpSpPr>
      <p:grpSpPr>
        <a:xfrm>
          <a:off x="0" y="0"/>
          <a:ext cx="0" cy="0"/>
          <a:chOff x="0" y="0"/>
          <a:chExt cx="0" cy="0"/>
        </a:xfrm>
      </p:grpSpPr>
      <p:sp>
        <p:nvSpPr>
          <p:cNvPr id="1824" name="Google Shape;1824;p122"/>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Integración Expansión en Operaciones</a:t>
            </a:r>
            <a:endParaRPr/>
          </a:p>
        </p:txBody>
      </p:sp>
      <p:sp>
        <p:nvSpPr>
          <p:cNvPr id="1825" name="Google Shape;1825;p122"/>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826" name="Google Shape;1826;p122"/>
          <p:cNvSpPr/>
          <p:nvPr/>
        </p:nvSpPr>
        <p:spPr>
          <a:xfrm>
            <a:off x="1668981" y="4828349"/>
            <a:ext cx="9979679" cy="886651"/>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&amp; Transformación</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Asegura alineación con roadmap y reta casos marginales (en proyectos que salgan del BAU de expansión)</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Conoce inversiones aprobadas, prepara adaptación de procesos (si aplica fuera de un BAU). No decide.</a:t>
            </a:r>
            <a:endParaRPr/>
          </a:p>
        </p:txBody>
      </p:sp>
      <p:sp>
        <p:nvSpPr>
          <p:cNvPr id="1827" name="Google Shape;1827;p122"/>
          <p:cNvSpPr/>
          <p:nvPr/>
        </p:nvSpPr>
        <p:spPr>
          <a:xfrm>
            <a:off x="1668983" y="2614807"/>
            <a:ext cx="9979679" cy="595293"/>
          </a:xfrm>
          <a:prstGeom prst="rect">
            <a:avLst/>
          </a:prstGeom>
          <a:solidFill>
            <a:srgbClr val="FFFFFF"/>
          </a:solidFill>
          <a:ln cap="rnd" cmpd="sng" w="19050">
            <a:solidFill>
              <a:srgbClr val="EEE8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Aprueba monto de inversión, prioriza uso de capital y define restricciones financieras.</a:t>
            </a:r>
            <a:endParaRPr/>
          </a:p>
        </p:txBody>
      </p:sp>
      <p:sp>
        <p:nvSpPr>
          <p:cNvPr id="1828" name="Google Shape;1828;p122"/>
          <p:cNvSpPr/>
          <p:nvPr/>
        </p:nvSpPr>
        <p:spPr>
          <a:xfrm>
            <a:off x="1668982" y="3309661"/>
            <a:ext cx="9979679" cy="595293"/>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Valida que la inversión sea operable, evalúa impacto en gastos futuros y ajusta ritmo por capacidad.</a:t>
            </a:r>
            <a:endParaRPr/>
          </a:p>
        </p:txBody>
      </p:sp>
      <p:sp>
        <p:nvSpPr>
          <p:cNvPr id="1829" name="Google Shape;1829;p122"/>
          <p:cNvSpPr/>
          <p:nvPr/>
        </p:nvSpPr>
        <p:spPr>
          <a:xfrm>
            <a:off x="470554" y="1938403"/>
            <a:ext cx="1110263" cy="595292"/>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830" name="Google Shape;1830;p122"/>
          <p:cNvSpPr/>
          <p:nvPr/>
        </p:nvSpPr>
        <p:spPr>
          <a:xfrm>
            <a:off x="470554" y="2614808"/>
            <a:ext cx="1110263" cy="595292"/>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831" name="Google Shape;1831;p122"/>
          <p:cNvSpPr/>
          <p:nvPr/>
        </p:nvSpPr>
        <p:spPr>
          <a:xfrm>
            <a:off x="470554" y="4826843"/>
            <a:ext cx="1110263" cy="887968"/>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832" name="Google Shape;1832;p122"/>
          <p:cNvSpPr/>
          <p:nvPr/>
        </p:nvSpPr>
        <p:spPr>
          <a:xfrm>
            <a:off x="470554" y="3968871"/>
            <a:ext cx="1110263" cy="786010"/>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1833" name="Google Shape;1833;p122"/>
          <p:cNvSpPr/>
          <p:nvPr/>
        </p:nvSpPr>
        <p:spPr>
          <a:xfrm>
            <a:off x="1668982" y="1943446"/>
            <a:ext cx="9979679" cy="595293"/>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Expansión</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Presenta portafolio de proyectos, estima costos de obra y equipamiento y define secuencia constructiva.</a:t>
            </a:r>
            <a:endParaRPr/>
          </a:p>
        </p:txBody>
      </p:sp>
      <p:sp>
        <p:nvSpPr>
          <p:cNvPr id="1834" name="Google Shape;1834;p122"/>
          <p:cNvSpPr/>
          <p:nvPr/>
        </p:nvSpPr>
        <p:spPr>
          <a:xfrm>
            <a:off x="554066" y="1325990"/>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4</a:t>
            </a:r>
            <a:endParaRPr/>
          </a:p>
        </p:txBody>
      </p:sp>
      <p:sp>
        <p:nvSpPr>
          <p:cNvPr id="1835" name="Google Shape;1835;p122"/>
          <p:cNvSpPr/>
          <p:nvPr/>
        </p:nvSpPr>
        <p:spPr>
          <a:xfrm>
            <a:off x="470554" y="3282061"/>
            <a:ext cx="1110263" cy="614849"/>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1836" name="Google Shape;1836;p122"/>
          <p:cNvSpPr/>
          <p:nvPr/>
        </p:nvSpPr>
        <p:spPr>
          <a:xfrm>
            <a:off x="1668981" y="3968871"/>
            <a:ext cx="9979679" cy="786010"/>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Aporta valor esperado en ventas, define zonas más rentables y prioriza inversiones de impacto comercial.</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Valida inversiones en infraestructura logística, evalúa necesidades de expansión de red y aporta costos logísticos.</a:t>
            </a:r>
            <a:endParaRPr/>
          </a:p>
        </p:txBody>
      </p:sp>
      <p:graphicFrame>
        <p:nvGraphicFramePr>
          <p:cNvPr id="1837" name="Google Shape;1837;p122"/>
          <p:cNvGraphicFramePr/>
          <p:nvPr/>
        </p:nvGraphicFramePr>
        <p:xfrm>
          <a:off x="882665" y="731157"/>
          <a:ext cx="3000000" cy="3000000"/>
        </p:xfrm>
        <a:graphic>
          <a:graphicData uri="http://schemas.openxmlformats.org/drawingml/2006/table">
            <a:tbl>
              <a:tblPr>
                <a:noFill/>
                <a:tableStyleId>{59F1A6B1-18B9-4B87-B458-7A3E6594CA7B}</a:tableStyleId>
              </a:tblPr>
              <a:tblGrid>
                <a:gridCol w="2440275"/>
                <a:gridCol w="1166425"/>
                <a:gridCol w="1166425"/>
                <a:gridCol w="1166425"/>
                <a:gridCol w="1166425"/>
                <a:gridCol w="1166425"/>
                <a:gridCol w="1166425"/>
                <a:gridCol w="11664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Expansión</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Estrategia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Finanzas</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Supply Chain</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 Operativa</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Definir plan de inversión (capex)</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1" name="Shape 1841"/>
        <p:cNvGrpSpPr/>
        <p:nvPr/>
      </p:nvGrpSpPr>
      <p:grpSpPr>
        <a:xfrm>
          <a:off x="0" y="0"/>
          <a:ext cx="0" cy="0"/>
          <a:chOff x="0" y="0"/>
          <a:chExt cx="0" cy="0"/>
        </a:xfrm>
      </p:grpSpPr>
      <p:sp>
        <p:nvSpPr>
          <p:cNvPr id="1842" name="Google Shape;1842;p123"/>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Integración Expansión en Operaciones</a:t>
            </a:r>
            <a:endParaRPr/>
          </a:p>
        </p:txBody>
      </p:sp>
      <p:sp>
        <p:nvSpPr>
          <p:cNvPr id="1843" name="Google Shape;1843;p123"/>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844" name="Google Shape;1844;p123"/>
          <p:cNvSpPr/>
          <p:nvPr/>
        </p:nvSpPr>
        <p:spPr>
          <a:xfrm>
            <a:off x="1668981" y="4343717"/>
            <a:ext cx="9979679" cy="2139379"/>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Define criterios de “tienda operable” (checklist operativo de habilitación, flujos, seguridad, fricción), estandariza el proceso de habilitación y asegura que el diseño final reduzca fricción en tienda (simplicidad y escalabilidad).</a:t>
            </a:r>
            <a:r>
              <a:rPr b="1" lang="es-MX" sz="1000">
                <a:solidFill>
                  <a:schemeClr val="dk1"/>
                </a:solidFill>
                <a:latin typeface="Open Sans"/>
                <a:ea typeface="Open Sans"/>
                <a:cs typeface="Open Sans"/>
                <a:sym typeface="Open Sans"/>
              </a:rPr>
              <a:t> </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&amp; Transformación</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Asegura consistencia con el modelo estratégico de crecimiento, reta alcance/roadmap cuando la habilitación implica cambios estructurales (nuevos pilotos, tecnología, nuevas formas de operar) – cuando sale del BAU de Expansión únicamente.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Valida requerimientos comerciales que impactan obra/habilitación: layout comercial, exhibición, espacios por categoría, necesidades de marca, aporta criterios de experiencia (visibilidad, circulación, zonas calientes/frías) para maximizar venta y conversión y ajusta necesidades de ejecución (promos, comunicación, mobiliario comercial, Marca Propia, etc.) para que la tienda “nazca” con buen batting</a:t>
            </a:r>
            <a:endParaRPr sz="1000">
              <a:solidFill>
                <a:schemeClr val="dk1"/>
              </a:solidFill>
              <a:latin typeface="Open Sans"/>
              <a:ea typeface="Open Sans"/>
              <a:cs typeface="Open Sans"/>
              <a:sym typeface="Open Sans"/>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Recibe visibilidad del avance (fechas, riesgos, cambios) para preparar arranque operativo, en conjunto con RH operación, prepara plantilla y rutinas de apertura (operación, capacitación, seguridad) con base en fecha real de entrega y levanta alertas operativas si detecta riesgos de apertura (sin tomar control del proceso constructivo). </a:t>
            </a:r>
            <a:endParaRPr/>
          </a:p>
        </p:txBody>
      </p:sp>
      <p:sp>
        <p:nvSpPr>
          <p:cNvPr id="1845" name="Google Shape;1845;p123"/>
          <p:cNvSpPr/>
          <p:nvPr/>
        </p:nvSpPr>
        <p:spPr>
          <a:xfrm>
            <a:off x="1668982" y="2834173"/>
            <a:ext cx="9979679" cy="595293"/>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Coordina abastecimiento inicial (inventario de arranque, calendarios de entrega, capacidad de ruta), asegura logística de equipos/insumos necesarios para operación (recepción, almacenaje, ventanas de entrega) y ajusta red y frecuencias para que la tienda pueda operar con nivel de servicio desde el día 1</a:t>
            </a:r>
            <a:endParaRPr/>
          </a:p>
        </p:txBody>
      </p:sp>
      <p:sp>
        <p:nvSpPr>
          <p:cNvPr id="1846" name="Google Shape;1846;p123"/>
          <p:cNvSpPr/>
          <p:nvPr/>
        </p:nvSpPr>
        <p:spPr>
          <a:xfrm>
            <a:off x="470554" y="1938403"/>
            <a:ext cx="1110263" cy="384457"/>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847" name="Google Shape;1847;p123"/>
          <p:cNvSpPr/>
          <p:nvPr/>
        </p:nvSpPr>
        <p:spPr>
          <a:xfrm>
            <a:off x="470554" y="2367920"/>
            <a:ext cx="1110263" cy="384457"/>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848" name="Google Shape;1848;p123"/>
          <p:cNvSpPr/>
          <p:nvPr/>
        </p:nvSpPr>
        <p:spPr>
          <a:xfrm>
            <a:off x="470554" y="4342210"/>
            <a:ext cx="1110263" cy="2142554"/>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849" name="Google Shape;1849;p123"/>
          <p:cNvSpPr/>
          <p:nvPr/>
        </p:nvSpPr>
        <p:spPr>
          <a:xfrm>
            <a:off x="470554" y="3493383"/>
            <a:ext cx="1110263" cy="786010"/>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1850" name="Google Shape;1850;p123"/>
          <p:cNvSpPr/>
          <p:nvPr/>
        </p:nvSpPr>
        <p:spPr>
          <a:xfrm>
            <a:off x="1668982" y="1943446"/>
            <a:ext cx="9979679" cy="818042"/>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Expansión</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Gestiona end-to-end la ejecución de obra (alcance, cronograma, permisos, contratistas, riesgos), asegura cumplimiento de estándares corporativos de funcionalidad, imagen y ESG en construcción/habilitación y controla costos y cambios (órdenes de cambio, ajustes de especificación) y garantiza la entrega “lista para operar”.</a:t>
            </a:r>
            <a:endParaRPr/>
          </a:p>
        </p:txBody>
      </p:sp>
      <p:sp>
        <p:nvSpPr>
          <p:cNvPr id="1851" name="Google Shape;1851;p123"/>
          <p:cNvSpPr/>
          <p:nvPr/>
        </p:nvSpPr>
        <p:spPr>
          <a:xfrm>
            <a:off x="554066" y="1325990"/>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5</a:t>
            </a:r>
            <a:endParaRPr/>
          </a:p>
        </p:txBody>
      </p:sp>
      <p:sp>
        <p:nvSpPr>
          <p:cNvPr id="1852" name="Google Shape;1852;p123"/>
          <p:cNvSpPr/>
          <p:nvPr/>
        </p:nvSpPr>
        <p:spPr>
          <a:xfrm>
            <a:off x="470554" y="2806573"/>
            <a:ext cx="1110263" cy="614849"/>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1853" name="Google Shape;1853;p123"/>
          <p:cNvSpPr/>
          <p:nvPr/>
        </p:nvSpPr>
        <p:spPr>
          <a:xfrm>
            <a:off x="1668981" y="3493383"/>
            <a:ext cx="9979679" cy="786010"/>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Monitorea desviaciones vs presupuesto (capex) y valida impactos financieros de cambios relevantes, autoriza/valida pagos y condiciones económicas clave (según políticas de control y governance) y evalúa trade-offs: costo vs. retorno (ej. material, equipo, eficiencia energética) para no sobreinvertir sin beneficio</a:t>
            </a:r>
            <a:endParaRPr/>
          </a:p>
        </p:txBody>
      </p:sp>
      <p:graphicFrame>
        <p:nvGraphicFramePr>
          <p:cNvPr id="1854" name="Google Shape;1854;p123"/>
          <p:cNvGraphicFramePr/>
          <p:nvPr/>
        </p:nvGraphicFramePr>
        <p:xfrm>
          <a:off x="882665" y="731157"/>
          <a:ext cx="3000000" cy="3000000"/>
        </p:xfrm>
        <a:graphic>
          <a:graphicData uri="http://schemas.openxmlformats.org/drawingml/2006/table">
            <a:tbl>
              <a:tblPr>
                <a:noFill/>
                <a:tableStyleId>{59F1A6B1-18B9-4B87-B458-7A3E6594CA7B}</a:tableStyleId>
              </a:tblPr>
              <a:tblGrid>
                <a:gridCol w="2440275"/>
                <a:gridCol w="1166425"/>
                <a:gridCol w="583225"/>
                <a:gridCol w="583225"/>
                <a:gridCol w="1166425"/>
                <a:gridCol w="1166425"/>
                <a:gridCol w="1166425"/>
                <a:gridCol w="1166425"/>
                <a:gridCol w="11664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Expansión</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Estrategia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Finanzas</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Supply Chain</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 Operativa</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Construcción y habilitación de tiendas</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8" name="Shape 1858"/>
        <p:cNvGrpSpPr/>
        <p:nvPr/>
      </p:nvGrpSpPr>
      <p:grpSpPr>
        <a:xfrm>
          <a:off x="0" y="0"/>
          <a:ext cx="0" cy="0"/>
          <a:chOff x="0" y="0"/>
          <a:chExt cx="0" cy="0"/>
        </a:xfrm>
      </p:grpSpPr>
      <p:sp>
        <p:nvSpPr>
          <p:cNvPr id="1859" name="Google Shape;1859;p124"/>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Integración Expansión en Operaciones</a:t>
            </a:r>
            <a:endParaRPr/>
          </a:p>
        </p:txBody>
      </p:sp>
      <p:sp>
        <p:nvSpPr>
          <p:cNvPr id="1860" name="Google Shape;1860;p124"/>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861" name="Google Shape;1861;p124"/>
          <p:cNvSpPr/>
          <p:nvPr/>
        </p:nvSpPr>
        <p:spPr>
          <a:xfrm>
            <a:off x="1668981" y="4691189"/>
            <a:ext cx="9979679" cy="2139379"/>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Certifica cumplimiento de estándares operativos (checklist de procesos, seguridad, señalización crítica, fricciones), documenta aprendizajes de arranque para estandarizar y reducir fallas recurrentes en futuras aperturas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Valida ejecución comercial de apertura: surtido inicial, exhibiciones clave, precios/promos de arranque, define “must win categories” para que la tienda nazca con propuesta de valor correcta por zona/formato y retroalimenta necesidades de layout/espacios si el arranque evidencia fricción comercial (puntos de calor, visibilidad, flujo)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Valida que la tienda esté habilitada para operar administrativamente: alta en sistemas, controles, flujos de pago/cobro, confirma trazabilidad de inversión vs entregable (capex ejecutado, activos capitalizables, cierres de proveedor) y define baseline financiero para seguimiento post-apertura (ventas, margen, gastos, payback) y criterios de alertamiento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Estrategia &amp; Transformación</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Captura aprendizajes que afecten decisiones futuras (replicabilidad del formato, velocidad real, dependencias (sobre todo en proyectos, no en BAU de Expansión)</a:t>
            </a:r>
            <a:endParaRPr/>
          </a:p>
        </p:txBody>
      </p:sp>
      <p:sp>
        <p:nvSpPr>
          <p:cNvPr id="1862" name="Google Shape;1862;p124"/>
          <p:cNvSpPr/>
          <p:nvPr/>
        </p:nvSpPr>
        <p:spPr>
          <a:xfrm>
            <a:off x="1668982" y="2550709"/>
            <a:ext cx="9979679" cy="1186939"/>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Autoriza el “Go Live” (abrir tienda) con base en criterios operativos, seguridad y capacidad de ejecución en plaza/región, integra y coordina el plan de arranque (personal, turnos, capacitación, rutinas, seguridad, primeros días) y define y activa planes de contingencia si hay gaps (apertura parcial, fecha diferida, soporte adicional) y se hace responsable del resultado de arranque.</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Asegura abasto de arranque (inventario inicial, planograma mínimo viable, reposición primeros días) y activa la operación logística (rutas, frecuencias, ventanas de entrega, coordinación con CEDIS/proveedores).</a:t>
            </a:r>
            <a:endParaRPr/>
          </a:p>
          <a:p>
            <a:pPr indent="-63500" lvl="0" marL="0" marR="0" rtl="0" algn="l">
              <a:spcBef>
                <a:spcPts val="0"/>
              </a:spcBef>
              <a:spcAft>
                <a:spcPts val="0"/>
              </a:spcAft>
              <a:buClr>
                <a:schemeClr val="dk1"/>
              </a:buClr>
              <a:buSzPts val="1000"/>
              <a:buFont typeface="Arial"/>
              <a:buChar char="•"/>
            </a:pPr>
            <a:r>
              <a:rPr b="1" lang="es-MX" sz="1000">
                <a:solidFill>
                  <a:schemeClr val="dk1"/>
                </a:solidFill>
                <a:latin typeface="Open Sans"/>
                <a:ea typeface="Open Sans"/>
                <a:cs typeface="Open Sans"/>
                <a:sym typeface="Open Sans"/>
              </a:rPr>
              <a:t>Monitorea quiebres y ajustes</a:t>
            </a:r>
            <a:r>
              <a:rPr lang="es-MX" sz="1000">
                <a:solidFill>
                  <a:schemeClr val="dk1"/>
                </a:solidFill>
                <a:latin typeface="Open Sans"/>
                <a:ea typeface="Open Sans"/>
                <a:cs typeface="Open Sans"/>
                <a:sym typeface="Open Sans"/>
              </a:rPr>
              <a:t> la primera semana para estabilizar nivel de servicio sin sobreinventario</a:t>
            </a:r>
            <a:endParaRPr sz="1000">
              <a:solidFill>
                <a:schemeClr val="dk1"/>
              </a:solidFill>
              <a:latin typeface="Open Sans"/>
              <a:ea typeface="Open Sans"/>
              <a:cs typeface="Open Sans"/>
              <a:sym typeface="Open Sans"/>
            </a:endParaRPr>
          </a:p>
        </p:txBody>
      </p:sp>
      <p:sp>
        <p:nvSpPr>
          <p:cNvPr id="1863" name="Google Shape;1863;p124"/>
          <p:cNvSpPr/>
          <p:nvPr/>
        </p:nvSpPr>
        <p:spPr>
          <a:xfrm>
            <a:off x="470554" y="1654939"/>
            <a:ext cx="1110263" cy="384457"/>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864" name="Google Shape;1864;p124"/>
          <p:cNvSpPr/>
          <p:nvPr/>
        </p:nvSpPr>
        <p:spPr>
          <a:xfrm>
            <a:off x="470554" y="2084456"/>
            <a:ext cx="1110263" cy="384457"/>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865" name="Google Shape;1865;p124"/>
          <p:cNvSpPr/>
          <p:nvPr/>
        </p:nvSpPr>
        <p:spPr>
          <a:xfrm>
            <a:off x="470554" y="4689682"/>
            <a:ext cx="1110263" cy="2142554"/>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866" name="Google Shape;1866;p124"/>
          <p:cNvSpPr/>
          <p:nvPr/>
        </p:nvSpPr>
        <p:spPr>
          <a:xfrm>
            <a:off x="470554" y="3822567"/>
            <a:ext cx="1110263" cy="786010"/>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1867" name="Google Shape;1867;p124"/>
          <p:cNvSpPr/>
          <p:nvPr/>
        </p:nvSpPr>
        <p:spPr>
          <a:xfrm>
            <a:off x="1668982" y="1659982"/>
            <a:ext cx="9979679" cy="818042"/>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Expansión</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Entrega físicamente la tienda lista conforme a alcance (obra terminada, permisos, imagen/estándares, funcionamiento de equipos), transfiere el expediente técnico y garantías (planos, manuales, pólizas, contratos, mantenimientos programados) y cierra pendientes antes o durante la primera semana, asegurando tiempos de corrección sin afectar operación</a:t>
            </a:r>
            <a:endParaRPr/>
          </a:p>
        </p:txBody>
      </p:sp>
      <p:sp>
        <p:nvSpPr>
          <p:cNvPr id="1868" name="Google Shape;1868;p124"/>
          <p:cNvSpPr/>
          <p:nvPr/>
        </p:nvSpPr>
        <p:spPr>
          <a:xfrm>
            <a:off x="554066" y="1225406"/>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6</a:t>
            </a:r>
            <a:endParaRPr/>
          </a:p>
        </p:txBody>
      </p:sp>
      <p:sp>
        <p:nvSpPr>
          <p:cNvPr id="1869" name="Google Shape;1869;p124"/>
          <p:cNvSpPr/>
          <p:nvPr/>
        </p:nvSpPr>
        <p:spPr>
          <a:xfrm>
            <a:off x="470554" y="2523109"/>
            <a:ext cx="1110263" cy="1225931"/>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1870" name="Google Shape;1870;p124"/>
          <p:cNvSpPr/>
          <p:nvPr/>
        </p:nvSpPr>
        <p:spPr>
          <a:xfrm>
            <a:off x="1668981" y="3822567"/>
            <a:ext cx="9979679" cy="786010"/>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Monitorea desviaciones vs presupuesto (capex) y valida impactos financieros de cambios relevantes, autoriza/valida pagos y condiciones económicas clave (según políticas de control y governance) y evalúa trade-offs: costo vs. retorno (ej. material, equipo, eficiencia energética) para no sobreinvertir sin beneficio</a:t>
            </a:r>
            <a:endParaRPr/>
          </a:p>
        </p:txBody>
      </p:sp>
      <p:graphicFrame>
        <p:nvGraphicFramePr>
          <p:cNvPr id="1871" name="Google Shape;1871;p124"/>
          <p:cNvGraphicFramePr/>
          <p:nvPr/>
        </p:nvGraphicFramePr>
        <p:xfrm>
          <a:off x="882665" y="630573"/>
          <a:ext cx="3000000" cy="3000000"/>
        </p:xfrm>
        <a:graphic>
          <a:graphicData uri="http://schemas.openxmlformats.org/drawingml/2006/table">
            <a:tbl>
              <a:tblPr>
                <a:noFill/>
                <a:tableStyleId>{59F1A6B1-18B9-4B87-B458-7A3E6594CA7B}</a:tableStyleId>
              </a:tblPr>
              <a:tblGrid>
                <a:gridCol w="2440275"/>
                <a:gridCol w="1166425"/>
                <a:gridCol w="583225"/>
                <a:gridCol w="583225"/>
                <a:gridCol w="1166425"/>
                <a:gridCol w="1166425"/>
                <a:gridCol w="1166425"/>
                <a:gridCol w="1166425"/>
                <a:gridCol w="11664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Expansión</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Estrategia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Finanzas</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Supply Chain</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 Operativa</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Entrega de tienda a operación (handover)</a:t>
                      </a:r>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sp>
        <p:nvSpPr>
          <p:cNvPr id="1876" name="Google Shape;1876;p125"/>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Matriz RASCI | </a:t>
            </a:r>
            <a:r>
              <a:rPr i="1" lang="es-MX"/>
              <a:t>Integración Expansión en Operaciones</a:t>
            </a:r>
            <a:endParaRPr/>
          </a:p>
        </p:txBody>
      </p:sp>
      <p:sp>
        <p:nvSpPr>
          <p:cNvPr id="1877" name="Google Shape;1877;p125"/>
          <p:cNvSpPr txBox="1"/>
          <p:nvPr/>
        </p:nvSpPr>
        <p:spPr>
          <a:xfrm>
            <a:off x="9732264" y="0"/>
            <a:ext cx="2459736" cy="307777"/>
          </a:xfrm>
          <a:prstGeom prst="rect">
            <a:avLst/>
          </a:prstGeom>
          <a:solidFill>
            <a:srgbClr val="C00000"/>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F O R   D I S C U S S I O N</a:t>
            </a:r>
            <a:endParaRPr/>
          </a:p>
        </p:txBody>
      </p:sp>
      <p:sp>
        <p:nvSpPr>
          <p:cNvPr id="1878" name="Google Shape;1878;p125"/>
          <p:cNvSpPr/>
          <p:nvPr/>
        </p:nvSpPr>
        <p:spPr>
          <a:xfrm>
            <a:off x="1668981" y="5095193"/>
            <a:ext cx="9979679" cy="786011"/>
          </a:xfrm>
          <a:prstGeom prst="rect">
            <a:avLst/>
          </a:prstGeom>
          <a:solidFill>
            <a:srgbClr val="FFFFFF"/>
          </a:solidFill>
          <a:ln cap="rnd" cmpd="sng" w="1905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Excelencia Operativa</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Analiza fricciones operativas detectadas (procesos, tiempos, flujos, seguridad), propone mejoras de proceso para el modelo operativo de nuevas tiendas e integra hallazgos en estándares y checklists de apertura y operación</a:t>
            </a:r>
            <a:endParaRPr/>
          </a:p>
        </p:txBody>
      </p:sp>
      <p:sp>
        <p:nvSpPr>
          <p:cNvPr id="1879" name="Google Shape;1879;p125"/>
          <p:cNvSpPr/>
          <p:nvPr/>
        </p:nvSpPr>
        <p:spPr>
          <a:xfrm>
            <a:off x="1668982" y="3154045"/>
            <a:ext cx="9979679" cy="988562"/>
          </a:xfrm>
          <a:prstGeom prst="rect">
            <a:avLst/>
          </a:prstGeom>
          <a:solidFill>
            <a:srgbClr val="FFFFFF"/>
          </a:solidFill>
          <a:ln cap="rnd" cmpd="sng" w="19050">
            <a:solidFill>
              <a:srgbClr val="E7A1A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Cadena de Suministro</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Analiza nivel de servicio logístico (quiebres, mermas, tiempos de reposición), ajusta rutas, frecuencias y volúmenes con base en demanda real y optimiza costos logísticos derivados del desempeño observado.</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Expansión</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Evalúa desempeño del inmueble y del formato físico (funcionalidad, mantenimiento), identifica oportunidades de mejora en diseño/obra para futuras aperturas y retroalimenta estándares de construcción con base en desempeño real en tienda</a:t>
            </a:r>
            <a:endParaRPr/>
          </a:p>
        </p:txBody>
      </p:sp>
      <p:sp>
        <p:nvSpPr>
          <p:cNvPr id="1880" name="Google Shape;1880;p125"/>
          <p:cNvSpPr/>
          <p:nvPr/>
        </p:nvSpPr>
        <p:spPr>
          <a:xfrm>
            <a:off x="470554" y="1938403"/>
            <a:ext cx="1110263" cy="552057"/>
          </a:xfrm>
          <a:prstGeom prst="rect">
            <a:avLst/>
          </a:prstGeom>
          <a:solidFill>
            <a:srgbClr val="AEE2D5"/>
          </a:solidFill>
          <a:ln cap="rnd" cmpd="sng" w="9525">
            <a:solidFill>
              <a:srgbClr val="AEE2D5"/>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03522D"/>
              </a:buClr>
              <a:buSzPts val="1400"/>
              <a:buFont typeface="Arial"/>
              <a:buNone/>
            </a:pPr>
            <a:r>
              <a:rPr b="1" i="0" lang="es-MX" sz="1400" u="none" cap="none" strike="noStrike">
                <a:solidFill>
                  <a:srgbClr val="03522D"/>
                </a:solidFill>
                <a:latin typeface="Arial"/>
                <a:ea typeface="Arial"/>
                <a:cs typeface="Arial"/>
                <a:sym typeface="Arial"/>
              </a:rPr>
              <a:t>R</a:t>
            </a:r>
            <a:endParaRPr/>
          </a:p>
          <a:p>
            <a:pPr indent="0" lvl="0" marL="0" marR="0" rtl="0" algn="ctr">
              <a:lnSpc>
                <a:spcPct val="100000"/>
              </a:lnSpc>
              <a:spcBef>
                <a:spcPts val="0"/>
              </a:spcBef>
              <a:spcAft>
                <a:spcPts val="0"/>
              </a:spcAft>
              <a:buClr>
                <a:srgbClr val="03522D"/>
              </a:buClr>
              <a:buSzPts val="1100"/>
              <a:buFont typeface="Arial"/>
              <a:buNone/>
            </a:pPr>
            <a:r>
              <a:rPr b="0" i="0" lang="es-MX" sz="1100" u="none" cap="none" strike="noStrike">
                <a:solidFill>
                  <a:srgbClr val="03522D"/>
                </a:solidFill>
                <a:latin typeface="Arial"/>
                <a:ea typeface="Arial"/>
                <a:cs typeface="Arial"/>
                <a:sym typeface="Arial"/>
              </a:rPr>
              <a:t>Responsible</a:t>
            </a:r>
            <a:endParaRPr/>
          </a:p>
        </p:txBody>
      </p:sp>
      <p:sp>
        <p:nvSpPr>
          <p:cNvPr id="1881" name="Google Shape;1881;p125"/>
          <p:cNvSpPr/>
          <p:nvPr/>
        </p:nvSpPr>
        <p:spPr>
          <a:xfrm>
            <a:off x="470554" y="2541656"/>
            <a:ext cx="1110263" cy="552057"/>
          </a:xfrm>
          <a:prstGeom prst="rect">
            <a:avLst/>
          </a:prstGeom>
          <a:solidFill>
            <a:srgbClr val="EEE89A"/>
          </a:solidFill>
          <a:ln cap="rnd" cmpd="sng" w="9525">
            <a:solidFill>
              <a:srgbClr val="EEE89A"/>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B58A2C"/>
              </a:buClr>
              <a:buSzPts val="1400"/>
              <a:buFont typeface="Arial"/>
              <a:buNone/>
            </a:pPr>
            <a:r>
              <a:rPr b="1" i="0" lang="es-MX" sz="1400" u="none" cap="none" strike="noStrike">
                <a:solidFill>
                  <a:srgbClr val="B58A2C"/>
                </a:solidFill>
                <a:latin typeface="Arial"/>
                <a:ea typeface="Arial"/>
                <a:cs typeface="Arial"/>
                <a:sym typeface="Arial"/>
              </a:rPr>
              <a:t>A</a:t>
            </a:r>
            <a:endParaRPr/>
          </a:p>
          <a:p>
            <a:pPr indent="0" lvl="0" marL="0" marR="0" rtl="0" algn="ctr">
              <a:lnSpc>
                <a:spcPct val="100000"/>
              </a:lnSpc>
              <a:spcBef>
                <a:spcPts val="0"/>
              </a:spcBef>
              <a:spcAft>
                <a:spcPts val="0"/>
              </a:spcAft>
              <a:buClr>
                <a:srgbClr val="B58A2C"/>
              </a:buClr>
              <a:buSzPts val="1100"/>
              <a:buFont typeface="Arial"/>
              <a:buNone/>
            </a:pPr>
            <a:r>
              <a:rPr b="0" i="0" lang="es-MX" sz="1100" u="none" cap="none" strike="noStrike">
                <a:solidFill>
                  <a:srgbClr val="B58A2C"/>
                </a:solidFill>
                <a:latin typeface="Arial"/>
                <a:ea typeface="Arial"/>
                <a:cs typeface="Arial"/>
                <a:sym typeface="Arial"/>
              </a:rPr>
              <a:t>Accountable</a:t>
            </a:r>
            <a:endParaRPr/>
          </a:p>
        </p:txBody>
      </p:sp>
      <p:sp>
        <p:nvSpPr>
          <p:cNvPr id="1882" name="Google Shape;1882;p125"/>
          <p:cNvSpPr/>
          <p:nvPr/>
        </p:nvSpPr>
        <p:spPr>
          <a:xfrm>
            <a:off x="470554" y="5092018"/>
            <a:ext cx="1110263" cy="787177"/>
          </a:xfrm>
          <a:prstGeom prst="rect">
            <a:avLst/>
          </a:prstGeom>
          <a:solidFill>
            <a:srgbClr val="BFBFBF"/>
          </a:solidFill>
          <a:ln cap="rnd" cmpd="sng" w="9525">
            <a:solidFill>
              <a:srgbClr val="E6E6E6"/>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I</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Informed</a:t>
            </a:r>
            <a:endParaRPr/>
          </a:p>
        </p:txBody>
      </p:sp>
      <p:sp>
        <p:nvSpPr>
          <p:cNvPr id="1883" name="Google Shape;1883;p125"/>
          <p:cNvSpPr/>
          <p:nvPr/>
        </p:nvSpPr>
        <p:spPr>
          <a:xfrm>
            <a:off x="470554" y="4234047"/>
            <a:ext cx="1110263" cy="786010"/>
          </a:xfrm>
          <a:prstGeom prst="rect">
            <a:avLst/>
          </a:prstGeom>
          <a:solidFill>
            <a:srgbClr val="BDD7EE"/>
          </a:solidFill>
          <a:ln cap="rnd" cmpd="sng" w="9525">
            <a:solidFill>
              <a:srgbClr val="BDD7EE"/>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295E7E"/>
              </a:buClr>
              <a:buSzPts val="1400"/>
              <a:buFont typeface="Arial"/>
              <a:buNone/>
            </a:pPr>
            <a:r>
              <a:rPr b="1" i="0" lang="es-MX" sz="1400" u="none" cap="none" strike="noStrike">
                <a:solidFill>
                  <a:srgbClr val="295E7E"/>
                </a:solidFill>
                <a:latin typeface="Arial"/>
                <a:ea typeface="Arial"/>
                <a:cs typeface="Arial"/>
                <a:sym typeface="Arial"/>
              </a:rPr>
              <a:t>C</a:t>
            </a:r>
            <a:endParaRPr/>
          </a:p>
          <a:p>
            <a:pPr indent="0" lvl="0" marL="0" marR="0" rtl="0" algn="ctr">
              <a:lnSpc>
                <a:spcPct val="100000"/>
              </a:lnSpc>
              <a:spcBef>
                <a:spcPts val="0"/>
              </a:spcBef>
              <a:spcAft>
                <a:spcPts val="0"/>
              </a:spcAft>
              <a:buClr>
                <a:srgbClr val="295E7E"/>
              </a:buClr>
              <a:buSzPts val="1100"/>
              <a:buFont typeface="Arial"/>
              <a:buNone/>
            </a:pPr>
            <a:r>
              <a:rPr b="0" i="0" lang="es-MX" sz="1100" u="none" cap="none" strike="noStrike">
                <a:solidFill>
                  <a:srgbClr val="295E7E"/>
                </a:solidFill>
                <a:latin typeface="Arial"/>
                <a:ea typeface="Arial"/>
                <a:cs typeface="Arial"/>
                <a:sym typeface="Arial"/>
              </a:rPr>
              <a:t>Consulted</a:t>
            </a:r>
            <a:endParaRPr/>
          </a:p>
        </p:txBody>
      </p:sp>
      <p:sp>
        <p:nvSpPr>
          <p:cNvPr id="1884" name="Google Shape;1884;p125"/>
          <p:cNvSpPr/>
          <p:nvPr/>
        </p:nvSpPr>
        <p:spPr>
          <a:xfrm>
            <a:off x="1668982" y="1943446"/>
            <a:ext cx="9979679" cy="1174658"/>
          </a:xfrm>
          <a:prstGeom prst="rect">
            <a:avLst/>
          </a:prstGeom>
          <a:solidFill>
            <a:srgbClr val="FFFFFF"/>
          </a:solidFill>
          <a:ln cap="rnd" cmpd="sng" w="19050">
            <a:solidFill>
              <a:srgbClr val="AEE2D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Operaciones</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Evalúa el desempeño integral de la tienda (ventas, margen, productividad, operación diaria) vs. el caso esperado, decide acciones correctivas: mantener formato, ajustar operación, reforzar recursos o escalar prácticas exitosas y define si el modelo es replicable o si requiere cambios antes de nuevas aperturas en zonas similares.</a:t>
            </a:r>
            <a:endParaRPr/>
          </a:p>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Finanzas (Responsible)</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Calcula el ROI real de la tienda (payback, EBITDA incremental, variaciones vs business case), identifica desviaciones financieras (sobrecostos, menor ingreso, gastos operativos no previstos) y genera reportes de rentabilidad para toma de decisiones de continuidad, ajuste o cierre del modelo</a:t>
            </a:r>
            <a:endParaRPr/>
          </a:p>
        </p:txBody>
      </p:sp>
      <p:sp>
        <p:nvSpPr>
          <p:cNvPr id="1885" name="Google Shape;1885;p125"/>
          <p:cNvSpPr/>
          <p:nvPr/>
        </p:nvSpPr>
        <p:spPr>
          <a:xfrm>
            <a:off x="554066" y="1325990"/>
            <a:ext cx="235027" cy="228131"/>
          </a:xfrm>
          <a:prstGeom prst="ellipse">
            <a:avLst/>
          </a:prstGeom>
          <a:solidFill>
            <a:srgbClr val="44546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152"/>
              <a:buFont typeface="Arial"/>
              <a:buNone/>
            </a:pPr>
            <a:r>
              <a:rPr b="0" i="0" lang="es-MX" sz="1152" u="none" cap="none" strike="noStrike">
                <a:solidFill>
                  <a:srgbClr val="FFFFFF"/>
                </a:solidFill>
                <a:latin typeface="Arial"/>
                <a:ea typeface="Arial"/>
                <a:cs typeface="Arial"/>
                <a:sym typeface="Arial"/>
              </a:rPr>
              <a:t>7</a:t>
            </a:r>
            <a:endParaRPr/>
          </a:p>
        </p:txBody>
      </p:sp>
      <p:sp>
        <p:nvSpPr>
          <p:cNvPr id="1886" name="Google Shape;1886;p125"/>
          <p:cNvSpPr/>
          <p:nvPr/>
        </p:nvSpPr>
        <p:spPr>
          <a:xfrm>
            <a:off x="470554" y="3154045"/>
            <a:ext cx="1110263" cy="1021037"/>
          </a:xfrm>
          <a:prstGeom prst="rect">
            <a:avLst/>
          </a:prstGeom>
          <a:solidFill>
            <a:srgbClr val="E7A1A8"/>
          </a:solidFill>
          <a:ln cap="rnd" cmpd="sng" w="9525">
            <a:solidFill>
              <a:srgbClr val="E7A1A8"/>
            </a:solidFill>
            <a:prstDash val="solid"/>
            <a:round/>
            <a:headEnd len="sm" w="sm" type="none"/>
            <a:tailEnd len="sm" w="sm" type="none"/>
          </a:ln>
        </p:spPr>
        <p:txBody>
          <a:bodyPr anchorCtr="0" anchor="ctr" bIns="41125" lIns="82275" spcFirstLastPara="1" rIns="82275" wrap="square" tIns="41125">
            <a:noAutofit/>
          </a:bodyPr>
          <a:lstStyle/>
          <a:p>
            <a:pPr indent="0" lvl="0" marL="0" marR="0" rtl="0" algn="ctr">
              <a:lnSpc>
                <a:spcPct val="100000"/>
              </a:lnSpc>
              <a:spcBef>
                <a:spcPts val="0"/>
              </a:spcBef>
              <a:spcAft>
                <a:spcPts val="0"/>
              </a:spcAft>
              <a:buClr>
                <a:srgbClr val="FFFFFF"/>
              </a:buClr>
              <a:buSzPts val="1400"/>
              <a:buFont typeface="Arial"/>
              <a:buNone/>
            </a:pPr>
            <a:r>
              <a:rPr b="1" i="0" lang="es-MX" sz="1400" u="none" cap="none" strike="noStrike">
                <a:solidFill>
                  <a:srgbClr val="FFFFFF"/>
                </a:solidFill>
                <a:latin typeface="Arial"/>
                <a:ea typeface="Arial"/>
                <a:cs typeface="Arial"/>
                <a:sym typeface="Arial"/>
              </a:rPr>
              <a:t>S</a:t>
            </a:r>
            <a:endParaRPr/>
          </a:p>
          <a:p>
            <a:pPr indent="0" lvl="0" marL="0" marR="0" rtl="0" algn="ctr">
              <a:lnSpc>
                <a:spcPct val="100000"/>
              </a:lnSpc>
              <a:spcBef>
                <a:spcPts val="0"/>
              </a:spcBef>
              <a:spcAft>
                <a:spcPts val="0"/>
              </a:spcAft>
              <a:buClr>
                <a:srgbClr val="FFFFFF"/>
              </a:buClr>
              <a:buSzPts val="1100"/>
              <a:buFont typeface="Arial"/>
              <a:buNone/>
            </a:pPr>
            <a:r>
              <a:rPr b="0" i="0" lang="es-MX" sz="1100" u="none" cap="none" strike="noStrike">
                <a:solidFill>
                  <a:srgbClr val="FFFFFF"/>
                </a:solidFill>
                <a:latin typeface="Arial"/>
                <a:ea typeface="Arial"/>
                <a:cs typeface="Arial"/>
                <a:sym typeface="Arial"/>
              </a:rPr>
              <a:t>Support</a:t>
            </a:r>
            <a:endParaRPr/>
          </a:p>
        </p:txBody>
      </p:sp>
      <p:sp>
        <p:nvSpPr>
          <p:cNvPr id="1887" name="Google Shape;1887;p125"/>
          <p:cNvSpPr/>
          <p:nvPr/>
        </p:nvSpPr>
        <p:spPr>
          <a:xfrm>
            <a:off x="1668981" y="4234047"/>
            <a:ext cx="9979679" cy="786010"/>
          </a:xfrm>
          <a:prstGeom prst="rect">
            <a:avLst/>
          </a:prstGeom>
          <a:solidFill>
            <a:srgbClr val="FFFFFF"/>
          </a:solidFill>
          <a:ln cap="rnd" cmpd="sng" w="19050">
            <a:solidFill>
              <a:srgbClr val="BDD7E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s-MX" sz="1000">
                <a:solidFill>
                  <a:schemeClr val="dk1"/>
                </a:solidFill>
                <a:latin typeface="Open Sans"/>
                <a:ea typeface="Open Sans"/>
                <a:cs typeface="Open Sans"/>
                <a:sym typeface="Open Sans"/>
              </a:rPr>
              <a:t>Comercial</a:t>
            </a:r>
            <a:endParaRPr/>
          </a:p>
          <a:p>
            <a:pPr indent="0" lvl="0" marL="0" marR="0" rtl="0" algn="l">
              <a:spcBef>
                <a:spcPts val="0"/>
              </a:spcBef>
              <a:spcAft>
                <a:spcPts val="0"/>
              </a:spcAft>
              <a:buNone/>
            </a:pPr>
            <a:r>
              <a:rPr lang="es-MX" sz="1000">
                <a:solidFill>
                  <a:schemeClr val="dk1"/>
                </a:solidFill>
                <a:latin typeface="Open Sans"/>
                <a:ea typeface="Open Sans"/>
                <a:cs typeface="Open Sans"/>
                <a:sym typeface="Open Sans"/>
              </a:rPr>
              <a:t>Evalúa desempeño comercial: mix de categorías, ticket promedio, efectividad de promociones, propone ajustes de surtido y layout comercial para mejorar conversión y rotación, si es un tema de mayor profundidad que tenga conflicto con las definiciones estratégicas de CVP, reta al área de Customer &amp; Marketing, y retroalimenta a Expansión y Operaciones sobre necesidades de espacio, visibilidad y experiencia de compra</a:t>
            </a:r>
            <a:endParaRPr/>
          </a:p>
        </p:txBody>
      </p:sp>
      <p:graphicFrame>
        <p:nvGraphicFramePr>
          <p:cNvPr id="1888" name="Google Shape;1888;p125"/>
          <p:cNvGraphicFramePr/>
          <p:nvPr/>
        </p:nvGraphicFramePr>
        <p:xfrm>
          <a:off x="882665" y="731157"/>
          <a:ext cx="3000000" cy="3000000"/>
        </p:xfrm>
        <a:graphic>
          <a:graphicData uri="http://schemas.openxmlformats.org/drawingml/2006/table">
            <a:tbl>
              <a:tblPr>
                <a:noFill/>
                <a:tableStyleId>{59F1A6B1-18B9-4B87-B458-7A3E6594CA7B}</a:tableStyleId>
              </a:tblPr>
              <a:tblGrid>
                <a:gridCol w="2440275"/>
                <a:gridCol w="583225"/>
                <a:gridCol w="583225"/>
                <a:gridCol w="1166425"/>
                <a:gridCol w="1166425"/>
                <a:gridCol w="1166425"/>
                <a:gridCol w="1166425"/>
                <a:gridCol w="1166425"/>
                <a:gridCol w="1166425"/>
              </a:tblGrid>
              <a:tr h="454400">
                <a:tc>
                  <a:txBody>
                    <a:bodyPr/>
                    <a:lstStyle/>
                    <a:p>
                      <a:pPr indent="0" lvl="0" marL="0" marR="0" rtl="0" algn="l">
                        <a:lnSpc>
                          <a:spcPct val="100000"/>
                        </a:lnSpc>
                        <a:spcBef>
                          <a:spcPts val="0"/>
                        </a:spcBef>
                        <a:spcAft>
                          <a:spcPts val="0"/>
                        </a:spcAft>
                        <a:buClr>
                          <a:schemeClr val="dk1"/>
                        </a:buClr>
                        <a:buSzPts val="1400"/>
                        <a:buFont typeface="Trebuchet MS"/>
                        <a:buNone/>
                      </a:pPr>
                      <a:r>
                        <a:t/>
                      </a:r>
                      <a:endParaRPr b="0" i="0" sz="1400" u="none" cap="none" strike="noStrike">
                        <a:solidFill>
                          <a:schemeClr val="dk1"/>
                        </a:solidFill>
                        <a:latin typeface="Arial"/>
                        <a:ea typeface="Arial"/>
                        <a:cs typeface="Arial"/>
                        <a:sym typeface="Arial"/>
                      </a:endParaRPr>
                    </a:p>
                  </a:txBody>
                  <a:tcPr marT="36000" marB="36000" marR="36000" marL="3600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Operaciones</a:t>
                      </a:r>
                      <a:endParaRPr/>
                    </a:p>
                  </a:txBody>
                  <a:tcPr marT="45725" marB="45725" marR="91450" marL="9145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hMerge="1"/>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Expansión</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Estrategia</a:t>
                      </a:r>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Finanzas</a:t>
                      </a:r>
                      <a:endParaRPr i="1" sz="11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Comercial</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Supply Chain</a:t>
                      </a:r>
                      <a:endParaRPr i="1"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c>
                  <a:txBody>
                    <a:bodyPr/>
                    <a:lstStyle/>
                    <a:p>
                      <a:pPr indent="0" lvl="0" marL="0" marR="0" rtl="0" algn="ctr">
                        <a:spcBef>
                          <a:spcPts val="0"/>
                        </a:spcBef>
                        <a:spcAft>
                          <a:spcPts val="0"/>
                        </a:spcAft>
                        <a:buClr>
                          <a:schemeClr val="dk1"/>
                        </a:buClr>
                        <a:buSzPts val="1200"/>
                        <a:buFont typeface="Arial"/>
                        <a:buNone/>
                      </a:pPr>
                      <a:r>
                        <a:rPr lang="es-MX" sz="1200">
                          <a:solidFill>
                            <a:schemeClr val="dk1"/>
                          </a:solidFill>
                          <a:latin typeface="Arial"/>
                          <a:ea typeface="Arial"/>
                          <a:cs typeface="Arial"/>
                          <a:sym typeface="Arial"/>
                        </a:rPr>
                        <a:t>Ex. Operativa</a:t>
                      </a:r>
                      <a:endParaRPr sz="1200">
                        <a:solidFill>
                          <a:schemeClr val="dk1"/>
                        </a:solidFill>
                        <a:latin typeface="Arial"/>
                        <a:ea typeface="Arial"/>
                        <a:cs typeface="Arial"/>
                        <a:sym typeface="Arial"/>
                      </a:endParaRPr>
                    </a:p>
                  </a:txBody>
                  <a:tcPr marT="45725" marB="45725" marR="91450" marL="9145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FFFFFF"/>
                      </a:solidFill>
                      <a:prstDash val="dot"/>
                      <a:round/>
                      <a:headEnd len="sm" w="sm" type="none"/>
                      <a:tailEnd len="sm" w="sm" type="none"/>
                    </a:lnB>
                  </a:tcPr>
                </a:tc>
              </a:tr>
              <a:tr h="541350">
                <a:tc>
                  <a:txBody>
                    <a:bodyPr/>
                    <a:lstStyle/>
                    <a:p>
                      <a:pPr indent="-66675" lvl="0" marL="0" marR="0" rtl="0" algn="l">
                        <a:lnSpc>
                          <a:spcPct val="100000"/>
                        </a:lnSpc>
                        <a:spcBef>
                          <a:spcPts val="0"/>
                        </a:spcBef>
                        <a:spcAft>
                          <a:spcPts val="0"/>
                        </a:spcAft>
                        <a:buClr>
                          <a:schemeClr val="dk1"/>
                        </a:buClr>
                        <a:buSzPts val="1050"/>
                        <a:buFont typeface="Trebuchet MS"/>
                        <a:buChar char="​"/>
                      </a:pPr>
                      <a:r>
                        <a:rPr lang="es-MX" sz="1050">
                          <a:solidFill>
                            <a:schemeClr val="dk1"/>
                          </a:solidFill>
                          <a:latin typeface="Arial"/>
                          <a:ea typeface="Arial"/>
                          <a:cs typeface="Arial"/>
                          <a:sym typeface="Arial"/>
                        </a:rPr>
                        <a:t>Evaluar rentabilidad post-apertura</a:t>
                      </a:r>
                      <a:endParaRPr sz="1050">
                        <a:solidFill>
                          <a:schemeClr val="dk1"/>
                        </a:solidFill>
                        <a:latin typeface="Arial"/>
                        <a:ea typeface="Arial"/>
                        <a:cs typeface="Arial"/>
                        <a:sym typeface="Arial"/>
                      </a:endParaRPr>
                    </a:p>
                  </a:txBody>
                  <a:tcPr marT="18000" marB="18000" marR="6350" marL="6350" anchor="ctr">
                    <a:lnL cap="flat" cmpd="sng" w="9525">
                      <a:solidFill>
                        <a:srgbClr val="000000">
                          <a:alpha val="0"/>
                        </a:srgbClr>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A</a:t>
                      </a:r>
                      <a:endParaRPr b="0" i="0" sz="1400" u="none" strike="noStrike">
                        <a:solidFill>
                          <a:schemeClr val="dk1"/>
                        </a:solidFill>
                        <a:latin typeface="Arial"/>
                        <a:ea typeface="Arial"/>
                        <a:cs typeface="Arial"/>
                        <a:sym typeface="Arial"/>
                      </a:endParaRPr>
                    </a:p>
                  </a:txBody>
                  <a:tcPr marT="54000" marB="54000" marR="54000" marL="54000" anchor="ctr">
                    <a:lnL cap="flat" cmpd="sng" w="9525">
                      <a:solidFill>
                        <a:srgbClr val="FFFFFF"/>
                      </a:solidFill>
                      <a:prstDash val="solid"/>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FFFFCC"/>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R</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AEE2D5"/>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C</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DD7EE"/>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S</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E7A1A8"/>
                    </a:solidFill>
                  </a:tcPr>
                </a:tc>
                <a:tc>
                  <a:txBody>
                    <a:bodyPr/>
                    <a:lstStyle/>
                    <a:p>
                      <a:pPr indent="0" lvl="0" marL="0" marR="0" rtl="0" algn="ctr">
                        <a:spcBef>
                          <a:spcPts val="0"/>
                        </a:spcBef>
                        <a:spcAft>
                          <a:spcPts val="0"/>
                        </a:spcAft>
                        <a:buClr>
                          <a:schemeClr val="dk1"/>
                        </a:buClr>
                        <a:buSzPts val="1400"/>
                        <a:buFont typeface="Arial"/>
                        <a:buNone/>
                      </a:pPr>
                      <a:r>
                        <a:rPr b="0" i="0" lang="es-MX" sz="1400" u="none" strike="noStrike">
                          <a:solidFill>
                            <a:schemeClr val="dk1"/>
                          </a:solidFill>
                          <a:latin typeface="Arial"/>
                          <a:ea typeface="Arial"/>
                          <a:cs typeface="Arial"/>
                          <a:sym typeface="Arial"/>
                        </a:rPr>
                        <a:t>I</a:t>
                      </a:r>
                      <a:endParaRPr b="0" i="0" sz="1400" u="none" strike="noStrike">
                        <a:solidFill>
                          <a:schemeClr val="dk1"/>
                        </a:solidFill>
                        <a:latin typeface="Arial"/>
                        <a:ea typeface="Arial"/>
                        <a:cs typeface="Arial"/>
                        <a:sym typeface="Arial"/>
                      </a:endParaRPr>
                    </a:p>
                  </a:txBody>
                  <a:tcPr marT="54000" marB="54000" marR="54000" marL="54000" anchor="ctr">
                    <a:lnL cap="flat" cmpd="sng" w="12700">
                      <a:solidFill>
                        <a:srgbClr val="000000"/>
                      </a:solidFill>
                      <a:prstDash val="dot"/>
                      <a:round/>
                      <a:headEnd len="sm" w="sm" type="none"/>
                      <a:tailEnd len="sm" w="sm" type="none"/>
                    </a:lnL>
                    <a:lnR cap="flat" cmpd="sng" w="12700">
                      <a:solidFill>
                        <a:srgbClr val="000000"/>
                      </a:solidFill>
                      <a:prstDash val="dot"/>
                      <a:round/>
                      <a:headEnd len="sm" w="sm" type="none"/>
                      <a:tailEnd len="sm" w="sm" type="none"/>
                    </a:lnR>
                    <a:lnT cap="flat" cmpd="sng" w="9525">
                      <a:solidFill>
                        <a:srgbClr val="FFFFFF"/>
                      </a:solidFill>
                      <a:prstDash val="dot"/>
                      <a:round/>
                      <a:headEnd len="sm" w="sm" type="none"/>
                      <a:tailEnd len="sm" w="sm" type="none"/>
                    </a:lnT>
                    <a:lnB cap="flat" cmpd="sng" w="9525">
                      <a:solidFill>
                        <a:srgbClr val="FFFFFF"/>
                      </a:solidFill>
                      <a:prstDash val="dot"/>
                      <a:round/>
                      <a:headEnd len="sm" w="sm" type="none"/>
                      <a:tailEnd len="sm" w="sm" type="none"/>
                    </a:lnB>
                    <a:solidFill>
                      <a:srgbClr val="BFBFBF"/>
                    </a:solidFill>
                  </a:tcPr>
                </a:tc>
              </a:tr>
            </a:tbl>
          </a:graphicData>
        </a:graphic>
      </p:graphicFrame>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2" name="Shape 1892"/>
        <p:cNvGrpSpPr/>
        <p:nvPr/>
      </p:nvGrpSpPr>
      <p:grpSpPr>
        <a:xfrm>
          <a:off x="0" y="0"/>
          <a:ext cx="0" cy="0"/>
          <a:chOff x="0" y="0"/>
          <a:chExt cx="0" cy="0"/>
        </a:xfrm>
      </p:grpSpPr>
      <p:sp>
        <p:nvSpPr>
          <p:cNvPr id="1893" name="Google Shape;1893;p126"/>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solidFill>
                  <a:srgbClr val="DE0230"/>
                </a:solidFill>
              </a:rPr>
              <a:t>Cierre y siguientes pasos</a:t>
            </a:r>
            <a:endParaRPr i="1"/>
          </a:p>
        </p:txBody>
      </p:sp>
      <p:sp>
        <p:nvSpPr>
          <p:cNvPr id="1894" name="Google Shape;1894;p126"/>
          <p:cNvSpPr txBox="1"/>
          <p:nvPr/>
        </p:nvSpPr>
        <p:spPr>
          <a:xfrm>
            <a:off x="9732264" y="0"/>
            <a:ext cx="2459736" cy="307777"/>
          </a:xfrm>
          <a:prstGeom prst="rect">
            <a:avLst/>
          </a:prstGeom>
          <a:solidFill>
            <a:schemeClr val="dk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rPr b="1" i="1" lang="es-MX" sz="1400">
                <a:solidFill>
                  <a:schemeClr val="lt1"/>
                </a:solidFill>
                <a:latin typeface="Open Sans"/>
                <a:ea typeface="Open Sans"/>
                <a:cs typeface="Open Sans"/>
                <a:sym typeface="Open Sans"/>
              </a:rPr>
              <a:t>/ N O N   E X H A U S T I V E</a:t>
            </a:r>
            <a:endParaRPr/>
          </a:p>
        </p:txBody>
      </p:sp>
      <p:sp>
        <p:nvSpPr>
          <p:cNvPr id="1895" name="Google Shape;1895;p126"/>
          <p:cNvSpPr/>
          <p:nvPr/>
        </p:nvSpPr>
        <p:spPr>
          <a:xfrm>
            <a:off x="1060789" y="1106724"/>
            <a:ext cx="9611444" cy="1023828"/>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b="0" i="1" lang="es-MX" sz="1600" u="none" cap="none" strike="noStrike">
                <a:solidFill>
                  <a:srgbClr val="000000"/>
                </a:solidFill>
                <a:latin typeface="Open Sans"/>
                <a:ea typeface="Open Sans"/>
                <a:cs typeface="Open Sans"/>
                <a:sym typeface="Open Sans"/>
              </a:rPr>
              <a:t>Cascadeo</a:t>
            </a:r>
            <a:r>
              <a:rPr b="0" i="0" lang="es-MX" sz="1600" u="none" cap="none" strike="noStrike">
                <a:solidFill>
                  <a:srgbClr val="000000"/>
                </a:solidFill>
                <a:latin typeface="Open Sans"/>
                <a:ea typeface="Open Sans"/>
                <a:cs typeface="Open Sans"/>
                <a:sym typeface="Open Sans"/>
              </a:rPr>
              <a:t> de información hacia los equipos que forman parte de esta interacción crítica para asegurar entendimiento de roles y responsabilidades</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¿Falta el mapeo de algún proceso crítico con relación a Operaciones + Expansión?</a:t>
            </a:r>
            <a:endParaRPr/>
          </a:p>
          <a:p>
            <a:pPr indent="-285750" lvl="0" marL="285750" marR="0" rtl="0" algn="l">
              <a:lnSpc>
                <a:spcPct val="100000"/>
              </a:lnSpc>
              <a:spcBef>
                <a:spcPts val="1200"/>
              </a:spcBef>
              <a:spcAft>
                <a:spcPts val="0"/>
              </a:spcAft>
              <a:buClr>
                <a:srgbClr val="000000"/>
              </a:buClr>
              <a:buSzPts val="1600"/>
              <a:buFont typeface="Courier New"/>
              <a:buChar char="o"/>
            </a:pPr>
            <a:r>
              <a:rPr b="0" i="0" lang="es-MX" sz="1600" u="none" cap="none" strike="noStrike">
                <a:solidFill>
                  <a:srgbClr val="000000"/>
                </a:solidFill>
                <a:latin typeface="Open Sans"/>
                <a:ea typeface="Open Sans"/>
                <a:cs typeface="Open Sans"/>
                <a:sym typeface="Open Sans"/>
              </a:rPr>
              <a:t>¿Existen preocu</a:t>
            </a:r>
            <a:r>
              <a:rPr lang="es-MX" sz="1600">
                <a:solidFill>
                  <a:srgbClr val="000000"/>
                </a:solidFill>
                <a:latin typeface="Open Sans"/>
                <a:ea typeface="Open Sans"/>
                <a:cs typeface="Open Sans"/>
                <a:sym typeface="Open Sans"/>
              </a:rPr>
              <a:t>paciones sobre lo definido / acordado?</a:t>
            </a:r>
            <a:endParaRPr/>
          </a:p>
        </p:txBody>
      </p:sp>
      <p:sp>
        <p:nvSpPr>
          <p:cNvPr id="1896" name="Google Shape;1896;p126"/>
          <p:cNvSpPr/>
          <p:nvPr/>
        </p:nvSpPr>
        <p:spPr>
          <a:xfrm>
            <a:off x="1060789" y="2545290"/>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b="0" i="0" lang="es-MX" sz="1600" u="none" cap="none" strike="noStrike">
                <a:solidFill>
                  <a:srgbClr val="000000"/>
                </a:solidFill>
                <a:latin typeface="Open Sans"/>
                <a:ea typeface="Open Sans"/>
                <a:cs typeface="Open Sans"/>
                <a:sym typeface="Open Sans"/>
              </a:rPr>
              <a:t>Mapeo del resto de procesos e interacciones críticas de organización para clarificar y transparentar roles y responsabilidades de cada área</a:t>
            </a:r>
            <a:r>
              <a:rPr lang="es-MX" sz="1600">
                <a:solidFill>
                  <a:srgbClr val="000000"/>
                </a:solidFill>
                <a:latin typeface="Open Sans"/>
                <a:ea typeface="Open Sans"/>
                <a:cs typeface="Open Sans"/>
                <a:sym typeface="Open Sans"/>
              </a:rPr>
              <a:t> </a:t>
            </a:r>
            <a:endParaRPr b="0" i="0" sz="1600" u="none" cap="none" strike="noStrike">
              <a:solidFill>
                <a:srgbClr val="000000"/>
              </a:solidFill>
              <a:latin typeface="Open Sans"/>
              <a:ea typeface="Open Sans"/>
              <a:cs typeface="Open Sans"/>
              <a:sym typeface="Open Sans"/>
            </a:endParaRPr>
          </a:p>
        </p:txBody>
      </p:sp>
      <p:sp>
        <p:nvSpPr>
          <p:cNvPr id="1897" name="Google Shape;1897;p126"/>
          <p:cNvSpPr/>
          <p:nvPr/>
        </p:nvSpPr>
        <p:spPr>
          <a:xfrm>
            <a:off x="1060789" y="3818334"/>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lang="es-MX" sz="1600">
                <a:solidFill>
                  <a:srgbClr val="000000"/>
                </a:solidFill>
                <a:latin typeface="Open Sans"/>
                <a:ea typeface="Open Sans"/>
                <a:cs typeface="Open Sans"/>
                <a:sym typeface="Open Sans"/>
              </a:rPr>
              <a:t>Definición de metodología para diagnóstico de madurez de las capacidades organizacionales de OXXO que se desarrollarán derivado de FFP</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Rituales</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KPIs clave</a:t>
            </a:r>
            <a:endParaRPr/>
          </a:p>
          <a:p>
            <a:pPr indent="-285750" lvl="0" marL="285750" marR="0" rtl="0" algn="l">
              <a:lnSpc>
                <a:spcPct val="100000"/>
              </a:lnSpc>
              <a:spcBef>
                <a:spcPts val="1200"/>
              </a:spcBef>
              <a:spcAft>
                <a:spcPts val="0"/>
              </a:spcAft>
              <a:buClr>
                <a:srgbClr val="000000"/>
              </a:buClr>
              <a:buSzPts val="1600"/>
              <a:buFont typeface="Courier New"/>
              <a:buChar char="o"/>
            </a:pPr>
            <a:r>
              <a:rPr lang="es-MX" sz="1600">
                <a:solidFill>
                  <a:srgbClr val="000000"/>
                </a:solidFill>
                <a:latin typeface="Open Sans"/>
                <a:ea typeface="Open Sans"/>
                <a:cs typeface="Open Sans"/>
                <a:sym typeface="Open Sans"/>
              </a:rPr>
              <a:t>Frecuencia del diagnóstico</a:t>
            </a:r>
            <a:endParaRPr sz="1600">
              <a:solidFill>
                <a:srgbClr val="000000"/>
              </a:solidFill>
              <a:latin typeface="Open Sans"/>
              <a:ea typeface="Open Sans"/>
              <a:cs typeface="Open Sans"/>
              <a:sym typeface="Open Sans"/>
            </a:endParaRPr>
          </a:p>
        </p:txBody>
      </p:sp>
      <p:sp>
        <p:nvSpPr>
          <p:cNvPr id="1898" name="Google Shape;1898;p126"/>
          <p:cNvSpPr/>
          <p:nvPr/>
        </p:nvSpPr>
        <p:spPr>
          <a:xfrm>
            <a:off x="1060789" y="5075587"/>
            <a:ext cx="9611444" cy="419100"/>
          </a:xfrm>
          <a:prstGeom prst="rect">
            <a:avLst/>
          </a:prstGeom>
          <a:noFill/>
          <a:ln>
            <a:noFill/>
          </a:ln>
        </p:spPr>
        <p:txBody>
          <a:bodyPr anchorCtr="0" anchor="ctr" bIns="36000" lIns="36000" spcFirstLastPara="1" rIns="36000" wrap="square" tIns="36000">
            <a:noAutofit/>
          </a:bodyPr>
          <a:lstStyle/>
          <a:p>
            <a:pPr indent="0" lvl="0" marL="0" marR="0" rtl="0" algn="l">
              <a:lnSpc>
                <a:spcPct val="100000"/>
              </a:lnSpc>
              <a:spcBef>
                <a:spcPts val="0"/>
              </a:spcBef>
              <a:spcAft>
                <a:spcPts val="0"/>
              </a:spcAft>
              <a:buClr>
                <a:srgbClr val="000000"/>
              </a:buClr>
              <a:buSzPts val="1600"/>
              <a:buFont typeface="Open Sans"/>
              <a:buNone/>
            </a:pPr>
            <a:r>
              <a:rPr lang="es-MX" sz="1600">
                <a:solidFill>
                  <a:srgbClr val="000000"/>
                </a:solidFill>
                <a:latin typeface="Open Sans"/>
                <a:ea typeface="Open Sans"/>
                <a:cs typeface="Open Sans"/>
                <a:sym typeface="Open Sans"/>
              </a:rPr>
              <a:t>Evaluación de madurez de desarrollo de capacidades – TBD 2026</a:t>
            </a:r>
            <a:endParaRPr sz="1600">
              <a:solidFill>
                <a:srgbClr val="000000"/>
              </a:solidFill>
              <a:latin typeface="Open Sans"/>
              <a:ea typeface="Open Sans"/>
              <a:cs typeface="Open Sans"/>
              <a:sym typeface="Open Sans"/>
            </a:endParaRPr>
          </a:p>
        </p:txBody>
      </p:sp>
      <p:sp>
        <p:nvSpPr>
          <p:cNvPr id="1899" name="Google Shape;1899;p126"/>
          <p:cNvSpPr/>
          <p:nvPr/>
        </p:nvSpPr>
        <p:spPr>
          <a:xfrm>
            <a:off x="681671" y="1036083"/>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1</a:t>
            </a:r>
            <a:endParaRPr/>
          </a:p>
        </p:txBody>
      </p:sp>
      <p:sp>
        <p:nvSpPr>
          <p:cNvPr id="1900" name="Google Shape;1900;p126"/>
          <p:cNvSpPr/>
          <p:nvPr/>
        </p:nvSpPr>
        <p:spPr>
          <a:xfrm>
            <a:off x="681671" y="2587152"/>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2</a:t>
            </a:r>
            <a:endParaRPr/>
          </a:p>
        </p:txBody>
      </p:sp>
      <p:sp>
        <p:nvSpPr>
          <p:cNvPr id="1901" name="Google Shape;1901;p126"/>
          <p:cNvSpPr/>
          <p:nvPr/>
        </p:nvSpPr>
        <p:spPr>
          <a:xfrm>
            <a:off x="681671" y="3249727"/>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3</a:t>
            </a:r>
            <a:endParaRPr/>
          </a:p>
        </p:txBody>
      </p:sp>
      <p:sp>
        <p:nvSpPr>
          <p:cNvPr id="1902" name="Google Shape;1902;p126"/>
          <p:cNvSpPr/>
          <p:nvPr/>
        </p:nvSpPr>
        <p:spPr>
          <a:xfrm>
            <a:off x="681671" y="5133485"/>
            <a:ext cx="317500" cy="317500"/>
          </a:xfrm>
          <a:prstGeom prst="ellipse">
            <a:avLst/>
          </a:prstGeom>
          <a:solidFill>
            <a:srgbClr val="FF7F32"/>
          </a:solidFill>
          <a:ln cap="flat"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800"/>
              <a:buFont typeface="Open Sans"/>
              <a:buNone/>
            </a:pPr>
            <a:r>
              <a:rPr b="1" i="0" lang="es-MX" sz="1800" u="none" cap="none" strike="noStrike">
                <a:solidFill>
                  <a:srgbClr val="FFFFFF"/>
                </a:solidFill>
                <a:latin typeface="Open Sans"/>
                <a:ea typeface="Open Sans"/>
                <a:cs typeface="Open Sans"/>
                <a:sym typeface="Open Sans"/>
              </a:rPr>
              <a:t>4</a:t>
            </a:r>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7" name="Shape 1907"/>
        <p:cNvGrpSpPr/>
        <p:nvPr/>
      </p:nvGrpSpPr>
      <p:grpSpPr>
        <a:xfrm>
          <a:off x="0" y="0"/>
          <a:ext cx="0" cy="0"/>
          <a:chOff x="0" y="0"/>
          <a:chExt cx="0" cy="0"/>
        </a:xfrm>
      </p:grpSpPr>
      <p:grpSp>
        <p:nvGrpSpPr>
          <p:cNvPr id="1908" name="Google Shape;1908;p127"/>
          <p:cNvGrpSpPr/>
          <p:nvPr/>
        </p:nvGrpSpPr>
        <p:grpSpPr>
          <a:xfrm>
            <a:off x="0" y="6926580"/>
            <a:ext cx="12192000" cy="137160"/>
            <a:chOff x="0" y="6926580"/>
            <a:chExt cx="12192000" cy="137160"/>
          </a:xfrm>
        </p:grpSpPr>
        <p:sp>
          <p:nvSpPr>
            <p:cNvPr id="1909" name="Google Shape;1909;p127"/>
            <p:cNvSpPr/>
            <p:nvPr/>
          </p:nvSpPr>
          <p:spPr>
            <a:xfrm>
              <a:off x="1186180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910" name="Google Shape;1910;p127"/>
            <p:cNvSpPr/>
            <p:nvPr/>
          </p:nvSpPr>
          <p:spPr>
            <a:xfrm>
              <a:off x="0" y="692658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911" name="Google Shape;1911;p127"/>
            <p:cNvCxnSpPr/>
            <p:nvPr/>
          </p:nvCxnSpPr>
          <p:spPr>
            <a:xfrm rot="10800000">
              <a:off x="118618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912" name="Google Shape;1912;p127"/>
            <p:cNvCxnSpPr/>
            <p:nvPr/>
          </p:nvCxnSpPr>
          <p:spPr>
            <a:xfrm rot="10800000">
              <a:off x="330200" y="692658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grpSp>
        <p:nvGrpSpPr>
          <p:cNvPr id="1913" name="Google Shape;1913;p127"/>
          <p:cNvGrpSpPr/>
          <p:nvPr/>
        </p:nvGrpSpPr>
        <p:grpSpPr>
          <a:xfrm>
            <a:off x="0" y="-205740"/>
            <a:ext cx="12192000" cy="137160"/>
            <a:chOff x="0" y="-205740"/>
            <a:chExt cx="12192000" cy="137160"/>
          </a:xfrm>
        </p:grpSpPr>
        <p:sp>
          <p:nvSpPr>
            <p:cNvPr id="1914" name="Google Shape;1914;p127"/>
            <p:cNvSpPr/>
            <p:nvPr/>
          </p:nvSpPr>
          <p:spPr>
            <a:xfrm>
              <a:off x="1186180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sp>
          <p:nvSpPr>
            <p:cNvPr id="1915" name="Google Shape;1915;p127"/>
            <p:cNvSpPr/>
            <p:nvPr/>
          </p:nvSpPr>
          <p:spPr>
            <a:xfrm>
              <a:off x="0" y="-205740"/>
              <a:ext cx="330200" cy="137160"/>
            </a:xfrm>
            <a:prstGeom prst="rect">
              <a:avLst/>
            </a:prstGeom>
            <a:solidFill>
              <a:srgbClr val="FFFFFF">
                <a:alpha val="25098"/>
              </a:srgbClr>
            </a:solidFill>
            <a:ln>
              <a:noFill/>
            </a:ln>
          </p:spPr>
          <p:txBody>
            <a:bodyPr anchorCtr="0" anchor="ctr" bIns="36000" lIns="36000" spcFirstLastPara="1" rIns="36000" wrap="square" tIns="36000">
              <a:noAutofit/>
            </a:bodyPr>
            <a:lstStyle/>
            <a:p>
              <a:pPr indent="0" lvl="0" marL="0" marR="0" rtl="0" algn="ctr">
                <a:lnSpc>
                  <a:spcPct val="100000"/>
                </a:lnSpc>
                <a:spcBef>
                  <a:spcPts val="0"/>
                </a:spcBef>
                <a:spcAft>
                  <a:spcPts val="0"/>
                </a:spcAft>
                <a:buClr>
                  <a:schemeClr val="dk1"/>
                </a:buClr>
                <a:buSzPts val="1600"/>
                <a:buFont typeface="Open Sans"/>
                <a:buNone/>
              </a:pPr>
              <a:r>
                <a:t/>
              </a:r>
              <a:endParaRPr b="0" i="0" sz="1600" u="none" cap="none" strike="noStrike">
                <a:solidFill>
                  <a:srgbClr val="000000"/>
                </a:solidFill>
                <a:latin typeface="Open Sans"/>
                <a:ea typeface="Open Sans"/>
                <a:cs typeface="Open Sans"/>
                <a:sym typeface="Open Sans"/>
              </a:endParaRPr>
            </a:p>
          </p:txBody>
        </p:sp>
        <p:cxnSp>
          <p:nvCxnSpPr>
            <p:cNvPr id="1916" name="Google Shape;1916;p127"/>
            <p:cNvCxnSpPr/>
            <p:nvPr/>
          </p:nvCxnSpPr>
          <p:spPr>
            <a:xfrm rot="10800000">
              <a:off x="118618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cxnSp>
          <p:nvCxnSpPr>
            <p:cNvPr id="1917" name="Google Shape;1917;p127"/>
            <p:cNvCxnSpPr/>
            <p:nvPr/>
          </p:nvCxnSpPr>
          <p:spPr>
            <a:xfrm rot="10800000">
              <a:off x="330200" y="-205740"/>
              <a:ext cx="0" cy="137160"/>
            </a:xfrm>
            <a:prstGeom prst="straightConnector1">
              <a:avLst/>
            </a:prstGeom>
            <a:solidFill>
              <a:schemeClr val="accent1"/>
            </a:solidFill>
            <a:ln cap="flat" cmpd="sng" w="9525">
              <a:solidFill>
                <a:srgbClr val="B4B4B4">
                  <a:alpha val="25098"/>
                </a:srgbClr>
              </a:solidFill>
              <a:prstDash val="solid"/>
              <a:round/>
              <a:headEnd len="sm" w="sm" type="none"/>
              <a:tailEnd len="sm" w="sm" type="none"/>
            </a:ln>
          </p:spPr>
        </p:cxnSp>
      </p:grpSp>
      <p:sp>
        <p:nvSpPr>
          <p:cNvPr id="1918" name="Google Shape;1918;p127"/>
          <p:cNvSpPr txBox="1"/>
          <p:nvPr>
            <p:ph type="title"/>
          </p:nvPr>
        </p:nvSpPr>
        <p:spPr>
          <a:xfrm>
            <a:off x="950142" y="2720529"/>
            <a:ext cx="10698933" cy="1065540"/>
          </a:xfrm>
          <a:prstGeom prst="rect">
            <a:avLst/>
          </a:prstGeom>
          <a:noFill/>
          <a:ln>
            <a:noFill/>
          </a:ln>
        </p:spPr>
        <p:txBody>
          <a:bodyPr anchorCtr="0" anchor="ctr" bIns="36000" lIns="91425" spcFirstLastPara="1" rIns="91425" wrap="square" tIns="36000">
            <a:normAutofit/>
          </a:bodyPr>
          <a:lstStyle/>
          <a:p>
            <a:pPr indent="0" lvl="0" marL="0" rtl="0" algn="l">
              <a:lnSpc>
                <a:spcPct val="100000"/>
              </a:lnSpc>
              <a:spcBef>
                <a:spcPts val="0"/>
              </a:spcBef>
              <a:spcAft>
                <a:spcPts val="0"/>
              </a:spcAft>
              <a:buNone/>
            </a:pPr>
            <a:r>
              <a:rPr lang="es-MX"/>
              <a:t>¡Gracias!</a:t>
            </a:r>
            <a:endParaRPr b="0"/>
          </a:p>
        </p:txBody>
      </p:sp>
      <p:sp>
        <p:nvSpPr>
          <p:cNvPr id="1919" name="Google Shape;1919;p127"/>
          <p:cNvSpPr txBox="1"/>
          <p:nvPr/>
        </p:nvSpPr>
        <p:spPr>
          <a:xfrm>
            <a:off x="1016817" y="3838575"/>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600"/>
              <a:buFont typeface="Open Sans"/>
              <a:buNone/>
            </a:pPr>
            <a:r>
              <a:rPr i="0" lang="es-MX" sz="1600" u="none" cap="none" strike="noStrike">
                <a:solidFill>
                  <a:srgbClr val="FFFFFF"/>
                </a:solidFill>
                <a:latin typeface="Open Sans"/>
                <a:ea typeface="Open Sans"/>
                <a:cs typeface="Open Sans"/>
                <a:sym typeface="Open Sans"/>
              </a:rPr>
              <a:t>Enero 2026</a:t>
            </a:r>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3" name="Shape 1923"/>
        <p:cNvGrpSpPr/>
        <p:nvPr/>
      </p:nvGrpSpPr>
      <p:grpSpPr>
        <a:xfrm>
          <a:off x="0" y="0"/>
          <a:ext cx="0" cy="0"/>
          <a:chOff x="0" y="0"/>
          <a:chExt cx="0" cy="0"/>
        </a:xfrm>
      </p:grpSpPr>
      <p:sp>
        <p:nvSpPr>
          <p:cNvPr id="1924" name="Google Shape;1924;p128"/>
          <p:cNvSpPr txBox="1"/>
          <p:nvPr/>
        </p:nvSpPr>
        <p:spPr>
          <a:xfrm>
            <a:off x="410646" y="2942312"/>
            <a:ext cx="10698933" cy="1065540"/>
          </a:xfrm>
          <a:prstGeom prst="rect">
            <a:avLst/>
          </a:prstGeom>
          <a:noFill/>
          <a:ln>
            <a:noFill/>
          </a:ln>
        </p:spPr>
        <p:txBody>
          <a:bodyPr anchorCtr="0" anchor="t" bIns="45700" lIns="91425" spcFirstLastPara="1" rIns="91425" wrap="square" tIns="45700">
            <a:noAutofit/>
          </a:bodyPr>
          <a:lstStyle/>
          <a:p>
            <a:pPr indent="0" lvl="0" marL="0" marR="0" rtl="0" algn="l">
              <a:lnSpc>
                <a:spcPct val="101125"/>
              </a:lnSpc>
              <a:spcBef>
                <a:spcPts val="0"/>
              </a:spcBef>
              <a:spcAft>
                <a:spcPts val="0"/>
              </a:spcAft>
              <a:buNone/>
            </a:pPr>
            <a:r>
              <a:rPr b="1" lang="es-MX" sz="2400">
                <a:solidFill>
                  <a:schemeClr val="lt1"/>
                </a:solidFill>
                <a:latin typeface="Open Sans"/>
                <a:ea typeface="Open Sans"/>
                <a:cs typeface="Open Sans"/>
                <a:sym typeface="Open Sans"/>
              </a:rPr>
              <a:t>Construcción de ejemplo –  Integración Expansión con Operaciones</a:t>
            </a:r>
            <a:endParaRPr/>
          </a:p>
          <a:p>
            <a:pPr indent="0" lvl="0" marL="0" marR="0" rtl="0" algn="l">
              <a:lnSpc>
                <a:spcPct val="101125"/>
              </a:lnSpc>
              <a:spcBef>
                <a:spcPts val="0"/>
              </a:spcBef>
              <a:spcAft>
                <a:spcPts val="0"/>
              </a:spcAft>
              <a:buNone/>
            </a:pPr>
            <a:r>
              <a:rPr b="0" lang="es-MX" sz="2400">
                <a:solidFill>
                  <a:schemeClr val="lt1"/>
                </a:solidFill>
                <a:latin typeface="Open Sans"/>
                <a:ea typeface="Open Sans"/>
                <a:cs typeface="Open Sans"/>
                <a:sym typeface="Open Sans"/>
              </a:rPr>
              <a:t>Fit for Purpose OXXO MX</a:t>
            </a:r>
            <a:endParaRPr/>
          </a:p>
        </p:txBody>
      </p:sp>
      <p:sp>
        <p:nvSpPr>
          <p:cNvPr id="1925" name="Google Shape;1925;p128"/>
          <p:cNvSpPr txBox="1"/>
          <p:nvPr/>
        </p:nvSpPr>
        <p:spPr>
          <a:xfrm>
            <a:off x="450325" y="3669298"/>
            <a:ext cx="1264192"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Open Sans"/>
              <a:buNone/>
            </a:pPr>
            <a:r>
              <a:rPr i="0" lang="es-MX" sz="1600" u="none" cap="none" strike="noStrike">
                <a:solidFill>
                  <a:schemeClr val="lt1"/>
                </a:solidFill>
                <a:latin typeface="Open Sans"/>
                <a:ea typeface="Open Sans"/>
                <a:cs typeface="Open Sans"/>
                <a:sym typeface="Open Sans"/>
              </a:rPr>
              <a:t>Enero 2026</a:t>
            </a:r>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9" name="Shape 1929"/>
        <p:cNvGrpSpPr/>
        <p:nvPr/>
      </p:nvGrpSpPr>
      <p:grpSpPr>
        <a:xfrm>
          <a:off x="0" y="0"/>
          <a:ext cx="0" cy="0"/>
          <a:chOff x="0" y="0"/>
          <a:chExt cx="0" cy="0"/>
        </a:xfrm>
      </p:grpSpPr>
      <p:sp>
        <p:nvSpPr>
          <p:cNvPr id="1930" name="Google Shape;1930;p129"/>
          <p:cNvSpPr txBox="1"/>
          <p:nvPr>
            <p:ph type="title"/>
          </p:nvPr>
        </p:nvSpPr>
        <p:spPr>
          <a:xfrm>
            <a:off x="419501" y="3167229"/>
            <a:ext cx="11352998" cy="369332"/>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sz="1800">
                <a:solidFill>
                  <a:srgbClr val="DE0230"/>
                </a:solidFill>
              </a:rPr>
              <a:t>Matriz RASCI | </a:t>
            </a:r>
            <a:r>
              <a:rPr lang="es-MX" sz="1800">
                <a:solidFill>
                  <a:schemeClr val="dk1"/>
                </a:solidFill>
              </a:rPr>
              <a:t>Integración Expansión con Operaciones</a:t>
            </a:r>
            <a:endParaRPr/>
          </a:p>
        </p:txBody>
      </p:sp>
      <p:sp>
        <p:nvSpPr>
          <p:cNvPr id="1931" name="Google Shape;1931;p129"/>
          <p:cNvSpPr txBox="1"/>
          <p:nvPr/>
        </p:nvSpPr>
        <p:spPr>
          <a:xfrm>
            <a:off x="213144" y="348435"/>
            <a:ext cx="11352998" cy="3693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DE0230"/>
              </a:buClr>
              <a:buSzPts val="1800"/>
              <a:buFont typeface="Open Sans"/>
              <a:buNone/>
            </a:pPr>
            <a:r>
              <a:rPr lang="es-MX" sz="1800">
                <a:solidFill>
                  <a:srgbClr val="DE0230"/>
                </a:solidFill>
                <a:latin typeface="Open Sans"/>
                <a:ea typeface="Open Sans"/>
                <a:cs typeface="Open Sans"/>
                <a:sym typeface="Open Sans"/>
              </a:rPr>
              <a:t>   Objetivo de la sesión                                     Dinámica                                                            Roles RASCI </a:t>
            </a:r>
            <a:endParaRPr i="1" sz="1800">
              <a:solidFill>
                <a:srgbClr val="000000"/>
              </a:solidFill>
              <a:latin typeface="Open Sans"/>
              <a:ea typeface="Open Sans"/>
              <a:cs typeface="Open Sans"/>
              <a:sym typeface="Open Sans"/>
            </a:endParaRPr>
          </a:p>
        </p:txBody>
      </p:sp>
      <p:sp>
        <p:nvSpPr>
          <p:cNvPr id="1932" name="Google Shape;1932;p129"/>
          <p:cNvSpPr txBox="1"/>
          <p:nvPr/>
        </p:nvSpPr>
        <p:spPr>
          <a:xfrm>
            <a:off x="213144" y="1185484"/>
            <a:ext cx="381021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s-MX" sz="1200" u="none" strike="noStrike">
                <a:solidFill>
                  <a:srgbClr val="1D3433"/>
                </a:solidFill>
                <a:latin typeface="Arial"/>
                <a:ea typeface="Arial"/>
                <a:cs typeface="Arial"/>
                <a:sym typeface="Arial"/>
              </a:rPr>
              <a:t>Construir ejemplos claros para roles RASCI aplicados al modelo de madurez operativa, </a:t>
            </a:r>
            <a:endParaRPr/>
          </a:p>
          <a:p>
            <a:pPr indent="0" lvl="0" marL="0" marR="0" rtl="0" algn="l">
              <a:spcBef>
                <a:spcPts val="0"/>
              </a:spcBef>
              <a:spcAft>
                <a:spcPts val="0"/>
              </a:spcAft>
              <a:buNone/>
            </a:pPr>
            <a:r>
              <a:rPr b="1" i="0" lang="es-MX" sz="1200" u="none" strike="noStrike">
                <a:solidFill>
                  <a:srgbClr val="1D3433"/>
                </a:solidFill>
                <a:latin typeface="Arial"/>
                <a:ea typeface="Arial"/>
                <a:cs typeface="Arial"/>
                <a:sym typeface="Arial"/>
              </a:rPr>
              <a:t>facilitando comprensión práctica.</a:t>
            </a:r>
            <a:r>
              <a:rPr b="1" i="0" lang="es-MX" sz="1200">
                <a:solidFill>
                  <a:srgbClr val="000000"/>
                </a:solidFill>
                <a:latin typeface="Arial"/>
                <a:ea typeface="Arial"/>
                <a:cs typeface="Arial"/>
                <a:sym typeface="Arial"/>
              </a:rPr>
              <a:t>​</a:t>
            </a:r>
            <a:endParaRPr b="1" sz="1200">
              <a:solidFill>
                <a:schemeClr val="dk1"/>
              </a:solidFill>
              <a:latin typeface="Open Sans"/>
              <a:ea typeface="Open Sans"/>
              <a:cs typeface="Open Sans"/>
              <a:sym typeface="Open Sans"/>
            </a:endParaRPr>
          </a:p>
        </p:txBody>
      </p:sp>
      <p:sp>
        <p:nvSpPr>
          <p:cNvPr id="1933" name="Google Shape;1933;p129"/>
          <p:cNvSpPr txBox="1"/>
          <p:nvPr/>
        </p:nvSpPr>
        <p:spPr>
          <a:xfrm>
            <a:off x="3666743" y="1117793"/>
            <a:ext cx="3801189" cy="646331"/>
          </a:xfrm>
          <a:prstGeom prst="rect">
            <a:avLst/>
          </a:prstGeom>
          <a:noFill/>
          <a:ln>
            <a:noFill/>
          </a:ln>
        </p:spPr>
        <p:txBody>
          <a:bodyPr anchorCtr="0" anchor="t" bIns="45700" lIns="91425" spcFirstLastPara="1" rIns="91425" wrap="square" tIns="45700">
            <a:spAutoFit/>
          </a:bodyPr>
          <a:lstStyle/>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Conocer y alinear Matriz RASCI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Desarrollar un ejemplo que genere </a:t>
            </a:r>
            <a:r>
              <a:rPr b="1" lang="es-MX" sz="1200">
                <a:solidFill>
                  <a:srgbClr val="1D3433"/>
                </a:solidFill>
                <a:latin typeface="Arial"/>
                <a:ea typeface="Arial"/>
                <a:cs typeface="Arial"/>
                <a:sym typeface="Arial"/>
              </a:rPr>
              <a:t>claridad - Todos</a:t>
            </a:r>
            <a:endParaRPr/>
          </a:p>
          <a:p>
            <a:pPr indent="-171450" lvl="0" marL="171450" marR="0" rtl="0" algn="l">
              <a:spcBef>
                <a:spcPts val="0"/>
              </a:spcBef>
              <a:spcAft>
                <a:spcPts val="0"/>
              </a:spcAft>
              <a:buClr>
                <a:srgbClr val="1D3433"/>
              </a:buClr>
              <a:buSzPts val="1200"/>
              <a:buFont typeface="Arial"/>
              <a:buChar char="•"/>
            </a:pPr>
            <a:r>
              <a:rPr b="1" i="0" lang="es-MX" sz="1200" u="none" strike="noStrike">
                <a:solidFill>
                  <a:srgbClr val="1D3433"/>
                </a:solidFill>
                <a:latin typeface="Arial"/>
                <a:ea typeface="Arial"/>
                <a:cs typeface="Arial"/>
                <a:sym typeface="Arial"/>
              </a:rPr>
              <a:t>Integrar ejemplo a WS  </a:t>
            </a:r>
            <a:r>
              <a:rPr b="1" lang="es-MX" sz="1200">
                <a:solidFill>
                  <a:srgbClr val="1D3433"/>
                </a:solidFill>
                <a:latin typeface="Arial"/>
                <a:ea typeface="Arial"/>
                <a:cs typeface="Arial"/>
                <a:sym typeface="Arial"/>
              </a:rPr>
              <a:t>- Efectividad Organizacional</a:t>
            </a:r>
            <a:endParaRPr b="1" sz="1200">
              <a:solidFill>
                <a:schemeClr val="dk1"/>
              </a:solidFill>
              <a:latin typeface="Open Sans"/>
              <a:ea typeface="Open Sans"/>
              <a:cs typeface="Open Sans"/>
              <a:sym typeface="Open Sans"/>
            </a:endParaRPr>
          </a:p>
        </p:txBody>
      </p:sp>
      <p:cxnSp>
        <p:nvCxnSpPr>
          <p:cNvPr id="1934" name="Google Shape;1934;p129"/>
          <p:cNvCxnSpPr/>
          <p:nvPr/>
        </p:nvCxnSpPr>
        <p:spPr>
          <a:xfrm>
            <a:off x="3675888" y="395878"/>
            <a:ext cx="0" cy="2196000"/>
          </a:xfrm>
          <a:prstGeom prst="straightConnector1">
            <a:avLst/>
          </a:prstGeom>
          <a:noFill/>
          <a:ln cap="flat" cmpd="sng" w="12700">
            <a:solidFill>
              <a:schemeClr val="dk1"/>
            </a:solidFill>
            <a:prstDash val="dash"/>
            <a:round/>
            <a:headEnd len="sm" w="sm" type="none"/>
            <a:tailEnd len="sm" w="sm" type="none"/>
          </a:ln>
        </p:spPr>
      </p:cxnSp>
      <p:pic>
        <p:nvPicPr>
          <p:cNvPr descr="Interfaz de usuario gráfica, Aplicación, Sitio web&#10;&#10;El contenido generado por IA puede ser incorrecto." id="1935" name="Google Shape;1935;p129"/>
          <p:cNvPicPr preferRelativeResize="0"/>
          <p:nvPr/>
        </p:nvPicPr>
        <p:blipFill rotWithShape="1">
          <a:blip r:embed="rId3">
            <a:alphaModFix/>
          </a:blip>
          <a:srcRect b="39364" l="6535" r="4456" t="10433"/>
          <a:stretch/>
        </p:blipFill>
        <p:spPr>
          <a:xfrm>
            <a:off x="7531942" y="643550"/>
            <a:ext cx="3890028" cy="1582106"/>
          </a:xfrm>
          <a:prstGeom prst="rect">
            <a:avLst/>
          </a:prstGeom>
          <a:noFill/>
          <a:ln>
            <a:noFill/>
          </a:ln>
        </p:spPr>
      </p:pic>
      <p:pic>
        <p:nvPicPr>
          <p:cNvPr descr="Interfaz de usuario gráfica, Aplicación, Sitio web&#10;&#10;El contenido generado por IA puede ser incorrecto." id="1936" name="Google Shape;1936;p129"/>
          <p:cNvPicPr preferRelativeResize="0"/>
          <p:nvPr/>
        </p:nvPicPr>
        <p:blipFill rotWithShape="1">
          <a:blip r:embed="rId3">
            <a:alphaModFix/>
          </a:blip>
          <a:srcRect b="6191" l="6535" r="4456" t="61874"/>
          <a:stretch/>
        </p:blipFill>
        <p:spPr>
          <a:xfrm>
            <a:off x="7531942" y="2196033"/>
            <a:ext cx="3890028" cy="1006374"/>
          </a:xfrm>
          <a:prstGeom prst="rect">
            <a:avLst/>
          </a:prstGeom>
          <a:noFill/>
          <a:ln>
            <a:noFill/>
          </a:ln>
        </p:spPr>
      </p:pic>
      <p:cxnSp>
        <p:nvCxnSpPr>
          <p:cNvPr id="1937" name="Google Shape;1937;p129"/>
          <p:cNvCxnSpPr/>
          <p:nvPr/>
        </p:nvCxnSpPr>
        <p:spPr>
          <a:xfrm>
            <a:off x="7308324" y="395878"/>
            <a:ext cx="0" cy="2196000"/>
          </a:xfrm>
          <a:prstGeom prst="straightConnector1">
            <a:avLst/>
          </a:prstGeom>
          <a:noFill/>
          <a:ln cap="flat" cmpd="sng" w="12700">
            <a:solidFill>
              <a:schemeClr val="dk1"/>
            </a:solidFill>
            <a:prstDash val="dash"/>
            <a:round/>
            <a:headEnd len="sm" w="sm" type="none"/>
            <a:tailEnd len="sm" w="sm" type="none"/>
          </a:ln>
        </p:spPr>
      </p:cxnSp>
      <p:pic>
        <p:nvPicPr>
          <p:cNvPr descr="Calendario&#10;&#10;El contenido generado por IA puede ser incorrecto." id="1938" name="Google Shape;1938;p129"/>
          <p:cNvPicPr preferRelativeResize="0"/>
          <p:nvPr/>
        </p:nvPicPr>
        <p:blipFill rotWithShape="1">
          <a:blip r:embed="rId4">
            <a:alphaModFix/>
          </a:blip>
          <a:srcRect b="0" l="0" r="0" t="0"/>
          <a:stretch/>
        </p:blipFill>
        <p:spPr>
          <a:xfrm>
            <a:off x="860980" y="3561070"/>
            <a:ext cx="7475672" cy="3102104"/>
          </a:xfrm>
          <a:prstGeom prst="rect">
            <a:avLst/>
          </a:prstGeom>
          <a:noFill/>
          <a:ln>
            <a:noFill/>
          </a:ln>
        </p:spPr>
      </p:pic>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2" name="Shape 1942"/>
        <p:cNvGrpSpPr/>
        <p:nvPr/>
      </p:nvGrpSpPr>
      <p:grpSpPr>
        <a:xfrm>
          <a:off x="0" y="0"/>
          <a:ext cx="0" cy="0"/>
          <a:chOff x="0" y="0"/>
          <a:chExt cx="0" cy="0"/>
        </a:xfrm>
      </p:grpSpPr>
      <p:sp>
        <p:nvSpPr>
          <p:cNvPr id="1943" name="Google Shape;1943;p130"/>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t>EJEMPLO (1/2)</a:t>
            </a:r>
            <a:endParaRPr/>
          </a:p>
        </p:txBody>
      </p:sp>
      <p:sp>
        <p:nvSpPr>
          <p:cNvPr id="1944" name="Google Shape;1944;p130"/>
          <p:cNvSpPr txBox="1"/>
          <p:nvPr/>
        </p:nvSpPr>
        <p:spPr>
          <a:xfrm>
            <a:off x="1118508" y="967701"/>
            <a:ext cx="147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Open Sans"/>
                <a:ea typeface="Open Sans"/>
                <a:cs typeface="Open Sans"/>
                <a:sym typeface="Open Sans"/>
              </a:rPr>
              <a:t>Tarea</a:t>
            </a:r>
            <a:endParaRPr/>
          </a:p>
        </p:txBody>
      </p:sp>
      <p:sp>
        <p:nvSpPr>
          <p:cNvPr id="1945" name="Google Shape;1945;p130"/>
          <p:cNvSpPr/>
          <p:nvPr/>
        </p:nvSpPr>
        <p:spPr>
          <a:xfrm>
            <a:off x="1856232" y="969264"/>
            <a:ext cx="9674352" cy="366207"/>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graphicFrame>
        <p:nvGraphicFramePr>
          <p:cNvPr id="1946" name="Google Shape;1946;p130"/>
          <p:cNvGraphicFramePr/>
          <p:nvPr/>
        </p:nvGraphicFramePr>
        <p:xfrm>
          <a:off x="729996" y="1473309"/>
          <a:ext cx="3000000" cy="3000000"/>
        </p:xfrm>
        <a:graphic>
          <a:graphicData uri="http://schemas.openxmlformats.org/drawingml/2006/table">
            <a:tbl>
              <a:tblPr bandRow="1" firstRow="1">
                <a:noFill/>
                <a:tableStyleId>{813A3F68-93AB-42EE-8F31-6030AA077254}</a:tableStyleId>
              </a:tblPr>
              <a:tblGrid>
                <a:gridCol w="10800600"/>
              </a:tblGrid>
              <a:tr h="370850">
                <a:tc>
                  <a:txBody>
                    <a:bodyPr/>
                    <a:lstStyle/>
                    <a:p>
                      <a:pPr indent="0" lvl="0" marL="0" marR="0" rtl="0" algn="l">
                        <a:spcBef>
                          <a:spcPts val="0"/>
                        </a:spcBef>
                        <a:spcAft>
                          <a:spcPts val="0"/>
                        </a:spcAft>
                        <a:buClr>
                          <a:schemeClr val="dk1"/>
                        </a:buClr>
                        <a:buSzPts val="1200"/>
                        <a:buFont typeface="Arial"/>
                        <a:buNone/>
                      </a:pPr>
                      <a:r>
                        <a:rPr lang="es-MX" sz="1200"/>
                        <a:t>Actividad a realizar</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Operaciones (A) define:“Este año necesitamos abrir 120 tiendas nuevas en Bajío para crecer ventas y cobertura.”</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Expansión (R) responde:“Con nuestra capacidad de obra y permisos, podemos abrir 115–125 sin afectar calidad.”</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Finanzas (S) confirma:“Hay presupuesto para 120 aperturas con este CAPEX promedio.”</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Comercial (C) aporta:“Querétaro tiene alta oportunidad por tráfico residencial y este sería el segmento de tienda que deberemos aperturar con esta propuesta de valor”</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Supply Chain (C) dice:“Podemos abastecer con rutas actuales.”</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Expansión (R) presenta:“Tenemos un local disponible en Plaza El Mirador.”</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Operaciones (A) decide:“De acuerdo, esa es una zona prioritaria.”</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Finanzas (C) analiza:“La renta está en rango rentable.”</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Comercial (A) dice:“Aquí debe ir formato con alto énfasis en café y comida rápida.”</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Expansión (R) diseña:“Entonces el layout será de 120 m² con este mobiliario.”</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Operaciones (I):“Me preparo para operar ese formato.”</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Expansión (R) presenta:“Esta tienda cuesta $2.8M de construcción y equipos.”</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Finanzas (A) decide:“Se aprueba dentro del presupuesto.”</a:t>
                      </a:r>
                      <a:endParaRPr/>
                    </a:p>
                  </a:txBody>
                  <a:tcPr marT="45725" marB="45725" marR="91450" marL="91450">
                    <a:solidFill>
                      <a:schemeClr val="lt1"/>
                    </a:solidFill>
                  </a:tcPr>
                </a:tc>
              </a:tr>
            </a:tbl>
          </a:graphicData>
        </a:graphic>
      </p:graphicFrame>
      <p:sp>
        <p:nvSpPr>
          <p:cNvPr id="1947" name="Google Shape;1947;p130"/>
          <p:cNvSpPr txBox="1"/>
          <p:nvPr/>
        </p:nvSpPr>
        <p:spPr>
          <a:xfrm>
            <a:off x="1934064" y="1027694"/>
            <a:ext cx="951868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400">
                <a:solidFill>
                  <a:schemeClr val="dk1"/>
                </a:solidFill>
                <a:latin typeface="Open Sans"/>
                <a:ea typeface="Open Sans"/>
                <a:cs typeface="Open Sans"/>
                <a:sym typeface="Open Sans"/>
              </a:rPr>
              <a:t>Apertura de tienda OXXO en Plaza</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1" name="Shape 1951"/>
        <p:cNvGrpSpPr/>
        <p:nvPr/>
      </p:nvGrpSpPr>
      <p:grpSpPr>
        <a:xfrm>
          <a:off x="0" y="0"/>
          <a:ext cx="0" cy="0"/>
          <a:chOff x="0" y="0"/>
          <a:chExt cx="0" cy="0"/>
        </a:xfrm>
      </p:grpSpPr>
      <p:sp>
        <p:nvSpPr>
          <p:cNvPr id="1952" name="Google Shape;1952;p131"/>
          <p:cNvSpPr txBox="1"/>
          <p:nvPr>
            <p:ph type="title"/>
          </p:nvPr>
        </p:nvSpPr>
        <p:spPr>
          <a:xfrm>
            <a:off x="508800" y="250442"/>
            <a:ext cx="11352998" cy="461665"/>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None/>
            </a:pPr>
            <a:r>
              <a:rPr lang="es-MX"/>
              <a:t>EJEMPLO (2/2)</a:t>
            </a:r>
            <a:endParaRPr/>
          </a:p>
        </p:txBody>
      </p:sp>
      <p:sp>
        <p:nvSpPr>
          <p:cNvPr id="1953" name="Google Shape;1953;p131"/>
          <p:cNvSpPr txBox="1"/>
          <p:nvPr/>
        </p:nvSpPr>
        <p:spPr>
          <a:xfrm>
            <a:off x="1118508" y="967701"/>
            <a:ext cx="14754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800">
                <a:solidFill>
                  <a:schemeClr val="dk1"/>
                </a:solidFill>
                <a:latin typeface="Open Sans"/>
                <a:ea typeface="Open Sans"/>
                <a:cs typeface="Open Sans"/>
                <a:sym typeface="Open Sans"/>
              </a:rPr>
              <a:t>Tarea</a:t>
            </a:r>
            <a:endParaRPr/>
          </a:p>
        </p:txBody>
      </p:sp>
      <p:sp>
        <p:nvSpPr>
          <p:cNvPr id="1954" name="Google Shape;1954;p131"/>
          <p:cNvSpPr/>
          <p:nvPr/>
        </p:nvSpPr>
        <p:spPr>
          <a:xfrm>
            <a:off x="1856232" y="969264"/>
            <a:ext cx="9674352" cy="366207"/>
          </a:xfrm>
          <a:prstGeom prst="rect">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Open Sans"/>
              <a:ea typeface="Open Sans"/>
              <a:cs typeface="Open Sans"/>
              <a:sym typeface="Open Sans"/>
            </a:endParaRPr>
          </a:p>
        </p:txBody>
      </p:sp>
      <p:graphicFrame>
        <p:nvGraphicFramePr>
          <p:cNvPr id="1955" name="Google Shape;1955;p131"/>
          <p:cNvGraphicFramePr/>
          <p:nvPr/>
        </p:nvGraphicFramePr>
        <p:xfrm>
          <a:off x="729996" y="1473309"/>
          <a:ext cx="3000000" cy="3000000"/>
        </p:xfrm>
        <a:graphic>
          <a:graphicData uri="http://schemas.openxmlformats.org/drawingml/2006/table">
            <a:tbl>
              <a:tblPr bandRow="1" firstRow="1">
                <a:noFill/>
                <a:tableStyleId>{813A3F68-93AB-42EE-8F31-6030AA077254}</a:tableStyleId>
              </a:tblPr>
              <a:tblGrid>
                <a:gridCol w="10800600"/>
              </a:tblGrid>
              <a:tr h="370850">
                <a:tc>
                  <a:txBody>
                    <a:bodyPr/>
                    <a:lstStyle/>
                    <a:p>
                      <a:pPr indent="0" lvl="0" marL="0" marR="0" rtl="0" algn="l">
                        <a:spcBef>
                          <a:spcPts val="0"/>
                        </a:spcBef>
                        <a:spcAft>
                          <a:spcPts val="0"/>
                        </a:spcAft>
                        <a:buClr>
                          <a:schemeClr val="dk1"/>
                        </a:buClr>
                        <a:buSzPts val="1200"/>
                        <a:buFont typeface="Arial"/>
                        <a:buNone/>
                      </a:pPr>
                      <a:r>
                        <a:rPr lang="es-MX" sz="1200"/>
                        <a:t>Actividad a realizar</a:t>
                      </a:r>
                      <a:endParaRPr sz="1200">
                        <a:latin typeface="Arial"/>
                        <a:ea typeface="Arial"/>
                        <a:cs typeface="Arial"/>
                        <a:sym typeface="Arial"/>
                      </a:endParaRPr>
                    </a:p>
                  </a:txBody>
                  <a:tcPr marT="45725" marB="45725" marR="91450" marL="91450"/>
                </a:tc>
              </a:tr>
              <a:tr h="370850">
                <a:tc>
                  <a:txBody>
                    <a:bodyPr/>
                    <a:lstStyle/>
                    <a:p>
                      <a:pPr indent="-177800" lvl="0" marL="177800" marR="0" rtl="0" algn="l">
                        <a:spcBef>
                          <a:spcPts val="0"/>
                        </a:spcBef>
                        <a:spcAft>
                          <a:spcPts val="0"/>
                        </a:spcAft>
                        <a:buClr>
                          <a:schemeClr val="dk1"/>
                        </a:buClr>
                        <a:buSzPts val="1200"/>
                        <a:buFont typeface="Arial"/>
                        <a:buChar char="•"/>
                      </a:pPr>
                      <a:r>
                        <a:rPr lang="es-MX" sz="1200">
                          <a:latin typeface="Arial"/>
                          <a:ea typeface="Arial"/>
                          <a:cs typeface="Arial"/>
                          <a:sym typeface="Arial"/>
                        </a:rPr>
                        <a:t>Expansión (A):Contrata obra, supervisa construcción instala equipos y entrega tienda terminada</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Supply Chain (S):Prepara inventario inicial y coordina llegada de mercancía</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Finanzas (C):Autoriza pagos y controla desviaciones</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Expansión (A):“Entrega la tienda lista, permisos, llaves y contratos.”</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Operaciones (S):Contrata personal (en conjunto con RH Operación, capacita y define turnos</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Supply Chain (S):Activa abastecimiento</a:t>
                      </a:r>
                      <a:endParaRPr/>
                    </a:p>
                  </a:txBody>
                  <a:tcPr marT="45725" marB="45725" marR="91450" marL="91450">
                    <a:solidFill>
                      <a:schemeClr val="lt1"/>
                    </a:solidFill>
                  </a:tcPr>
                </a:tc>
              </a:tr>
              <a:tr h="370850">
                <a:tc>
                  <a:txBody>
                    <a:bodyPr/>
                    <a:lstStyle/>
                    <a:p>
                      <a:pPr indent="0" lvl="0" marL="0" marR="0" rtl="0" algn="l">
                        <a:spcBef>
                          <a:spcPts val="0"/>
                        </a:spcBef>
                        <a:spcAft>
                          <a:spcPts val="0"/>
                        </a:spcAft>
                        <a:buClr>
                          <a:schemeClr val="dk1"/>
                        </a:buClr>
                        <a:buSzPts val="1200"/>
                        <a:buFont typeface="Arial"/>
                        <a:buNone/>
                      </a:pPr>
                      <a:r>
                        <a:rPr b="1" lang="es-MX" sz="1200">
                          <a:latin typeface="Arial"/>
                          <a:ea typeface="Arial"/>
                          <a:cs typeface="Arial"/>
                          <a:sym typeface="Arial"/>
                        </a:rPr>
                        <a:t>Post apertura</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Finanzas (R) reporta:“La tienda tiene ROI menor al esperado.”</a:t>
                      </a:r>
                      <a:endParaRPr/>
                    </a:p>
                  </a:txBody>
                  <a:tcPr marT="45725" marB="45725" marR="91450" marL="91450">
                    <a:solidFill>
                      <a:schemeClr val="lt1"/>
                    </a:solidFill>
                  </a:tcPr>
                </a:tc>
              </a:tr>
              <a:tr h="370850">
                <a:tc>
                  <a:txBody>
                    <a:bodyPr/>
                    <a:lstStyle/>
                    <a:p>
                      <a:pPr indent="-171450" lvl="0" marL="171450" marR="0" rtl="0" algn="l">
                        <a:spcBef>
                          <a:spcPts val="0"/>
                        </a:spcBef>
                        <a:spcAft>
                          <a:spcPts val="0"/>
                        </a:spcAft>
                        <a:buClr>
                          <a:schemeClr val="dk1"/>
                        </a:buClr>
                        <a:buSzPts val="1200"/>
                        <a:buFont typeface="Arial"/>
                        <a:buChar char="-"/>
                      </a:pPr>
                      <a:r>
                        <a:rPr lang="es-MX" sz="1200">
                          <a:latin typeface="Arial"/>
                          <a:ea typeface="Arial"/>
                          <a:cs typeface="Arial"/>
                          <a:sym typeface="Arial"/>
                        </a:rPr>
                        <a:t>Operaciones (A) decide:“Ajustemos horario y plantilla – en conjunto con RH”</a:t>
                      </a:r>
                      <a:endParaRPr/>
                    </a:p>
                  </a:txBody>
                  <a:tcPr marT="45725" marB="45725" marR="91450" marL="91450">
                    <a:solidFill>
                      <a:schemeClr val="lt1"/>
                    </a:solidFill>
                  </a:tcPr>
                </a:tc>
              </a:tr>
            </a:tbl>
          </a:graphicData>
        </a:graphic>
      </p:graphicFrame>
      <p:sp>
        <p:nvSpPr>
          <p:cNvPr id="1956" name="Google Shape;1956;p131"/>
          <p:cNvSpPr txBox="1"/>
          <p:nvPr/>
        </p:nvSpPr>
        <p:spPr>
          <a:xfrm>
            <a:off x="1934064" y="1027694"/>
            <a:ext cx="951868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MX" sz="1400">
                <a:solidFill>
                  <a:schemeClr val="dk1"/>
                </a:solidFill>
                <a:latin typeface="Open Sans"/>
                <a:ea typeface="Open Sans"/>
                <a:cs typeface="Open Sans"/>
                <a:sym typeface="Open Sans"/>
              </a:rPr>
              <a:t>Apertura de tienda OXXO en Plaza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5_Y7LF_169_M1">
  <a:themeElements>
    <a:clrScheme name="Y7LF_169_M1">
      <a:dk1>
        <a:srgbClr val="000000"/>
      </a:dk1>
      <a:lt1>
        <a:srgbClr val="FFFFFF"/>
      </a:lt1>
      <a:dk2>
        <a:srgbClr val="535659"/>
      </a:dk2>
      <a:lt2>
        <a:srgbClr val="E3E3E5"/>
      </a:lt2>
      <a:accent1>
        <a:srgbClr val="862633"/>
      </a:accent1>
      <a:accent2>
        <a:srgbClr val="FF575D"/>
      </a:accent2>
      <a:accent3>
        <a:srgbClr val="DE0230"/>
      </a:accent3>
      <a:accent4>
        <a:srgbClr val="BC7E7D"/>
      </a:accent4>
      <a:accent5>
        <a:srgbClr val="FF7F32"/>
      </a:accent5>
      <a:accent6>
        <a:srgbClr val="7486B2"/>
      </a:accent6>
      <a:hlink>
        <a:srgbClr val="000000"/>
      </a:hlink>
      <a:folHlink>
        <a:srgbClr val="9599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3_Y7LF_169_M1">
  <a:themeElements>
    <a:clrScheme name="Y7LF_169_M1">
      <a:dk1>
        <a:srgbClr val="000000"/>
      </a:dk1>
      <a:lt1>
        <a:srgbClr val="FFFFFF"/>
      </a:lt1>
      <a:dk2>
        <a:srgbClr val="535659"/>
      </a:dk2>
      <a:lt2>
        <a:srgbClr val="E3E3E5"/>
      </a:lt2>
      <a:accent1>
        <a:srgbClr val="862633"/>
      </a:accent1>
      <a:accent2>
        <a:srgbClr val="FF575D"/>
      </a:accent2>
      <a:accent3>
        <a:srgbClr val="DE0230"/>
      </a:accent3>
      <a:accent4>
        <a:srgbClr val="BC7E7D"/>
      </a:accent4>
      <a:accent5>
        <a:srgbClr val="FF7F32"/>
      </a:accent5>
      <a:accent6>
        <a:srgbClr val="7486B2"/>
      </a:accent6>
      <a:hlink>
        <a:srgbClr val="000000"/>
      </a:hlink>
      <a:folHlink>
        <a:srgbClr val="9599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4_Y7LF_169_M1">
  <a:themeElements>
    <a:clrScheme name="Y7LF_169_M1">
      <a:dk1>
        <a:srgbClr val="000000"/>
      </a:dk1>
      <a:lt1>
        <a:srgbClr val="FFFFFF"/>
      </a:lt1>
      <a:dk2>
        <a:srgbClr val="535659"/>
      </a:dk2>
      <a:lt2>
        <a:srgbClr val="E3E3E5"/>
      </a:lt2>
      <a:accent1>
        <a:srgbClr val="862633"/>
      </a:accent1>
      <a:accent2>
        <a:srgbClr val="FF575D"/>
      </a:accent2>
      <a:accent3>
        <a:srgbClr val="DE0230"/>
      </a:accent3>
      <a:accent4>
        <a:srgbClr val="BC7E7D"/>
      </a:accent4>
      <a:accent5>
        <a:srgbClr val="FF7F32"/>
      </a:accent5>
      <a:accent6>
        <a:srgbClr val="7486B2"/>
      </a:accent6>
      <a:hlink>
        <a:srgbClr val="000000"/>
      </a:hlink>
      <a:folHlink>
        <a:srgbClr val="95999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2025-11-27T20:32:21Z</dcterms:created>
  <dc:creator>Rodriguez Barcenas Beatriz Adriana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0x010100A3DD5B74ED9C3D4095461D6E79182C3A</vt:lpwstr>
  </property>
  <property fmtid="{D5CDD505-2E9C-101B-9397-08002B2CF9AE}" pid="3" name="ClassificationContentMarkingFooterLocations">
    <vt:lpwstr>Tema de Office:8</vt:lpwstr>
  </property>
  <property fmtid="{D5CDD505-2E9C-101B-9397-08002B2CF9AE}" pid="4" name="ClassificationContentMarkingFooterText">
    <vt:lpwstr>OXXO | Uso Interno</vt:lpwstr>
  </property>
</Properties>
</file>