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embeddedFontLst>
    <p:embeddedFont>
      <p:font typeface="Open Sans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CoNFQsxzlf8+bRGGHmuE6C3oh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boldItalic.fntdata"/><Relationship Id="rId10" Type="http://schemas.openxmlformats.org/officeDocument/2006/relationships/font" Target="fonts/OpenSans-italic.fntdata"/><Relationship Id="rId12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Open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Open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177800" lvl="0" marL="1778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•"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</a:rPr>
              <a:t>‹#›</a:t>
            </a:fld>
            <a:endParaRPr b="0" i="0" sz="12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Define valor para OXXO, por donde debemos atacar las necesidades de negocio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Evalúa casos de negocio, evalúa secuencia de entregables vs inversión, busca compromiso de valor por periodo y da seguimiento a compromisos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Comité de inversiones, lo vemos en Finanzas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177800" lvl="0" marL="1778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•"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</a:rPr>
              <a:t>‹#›</a:t>
            </a:fld>
            <a:endParaRPr b="0" i="0" sz="12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6"/>
          <p:cNvSpPr txBox="1"/>
          <p:nvPr>
            <p:ph type="title"/>
          </p:nvPr>
        </p:nvSpPr>
        <p:spPr>
          <a:xfrm>
            <a:off x="950142" y="2035534"/>
            <a:ext cx="10179585" cy="2402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91425" spcFirstLastPara="1" rIns="91425" wrap="square" tIns="360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0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" name="Google Shape;1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212" y="703884"/>
            <a:ext cx="1886373" cy="130725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6"/>
          <p:cNvSpPr txBox="1"/>
          <p:nvPr/>
        </p:nvSpPr>
        <p:spPr>
          <a:xfrm>
            <a:off x="950142" y="6059282"/>
            <a:ext cx="95410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</a:pPr>
            <a:r>
              <a:rPr b="1" i="0" lang="es-MX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DRAFT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"/>
          <p:cNvSpPr txBox="1"/>
          <p:nvPr>
            <p:ph type="title"/>
          </p:nvPr>
        </p:nvSpPr>
        <p:spPr>
          <a:xfrm>
            <a:off x="508800" y="250442"/>
            <a:ext cx="11352998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/>
          <p:nvPr/>
        </p:nvSpPr>
        <p:spPr>
          <a:xfrm>
            <a:off x="1" y="338503"/>
            <a:ext cx="205737" cy="409411"/>
          </a:xfrm>
          <a:custGeom>
            <a:rect b="b" l="l" r="r" t="t"/>
            <a:pathLst>
              <a:path extrusionOk="0" h="648450" w="325860">
                <a:moveTo>
                  <a:pt x="325860" y="324226"/>
                </a:moveTo>
                <a:cubicBezTo>
                  <a:pt x="325860" y="503329"/>
                  <a:pt x="179912" y="648451"/>
                  <a:pt x="0" y="648451"/>
                </a:cubicBezTo>
                <a:lnTo>
                  <a:pt x="0" y="0"/>
                </a:lnTo>
                <a:cubicBezTo>
                  <a:pt x="180006" y="0"/>
                  <a:pt x="325860" y="145216"/>
                  <a:pt x="325860" y="324226"/>
                </a:cubicBezTo>
                <a:close/>
              </a:path>
            </a:pathLst>
          </a:custGeom>
          <a:solidFill>
            <a:srgbClr val="F5A4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" name="Google Shape;2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09144" y="6450703"/>
            <a:ext cx="453862" cy="313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st Page Logo" showMasterSp="0">
  <p:cSld name="Last Page Logo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7660" y="790030"/>
            <a:ext cx="2748213" cy="1904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9"/>
          <p:cNvSpPr txBox="1"/>
          <p:nvPr>
            <p:ph type="title"/>
          </p:nvPr>
        </p:nvSpPr>
        <p:spPr>
          <a:xfrm>
            <a:off x="950142" y="2035534"/>
            <a:ext cx="10179585" cy="2402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91425" spcFirstLastPara="1" rIns="91425" wrap="square" tIns="360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0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8" name="Google Shape;2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212" y="703884"/>
            <a:ext cx="1886373" cy="130725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9"/>
          <p:cNvSpPr txBox="1"/>
          <p:nvPr/>
        </p:nvSpPr>
        <p:spPr>
          <a:xfrm>
            <a:off x="950142" y="6059282"/>
            <a:ext cx="95410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</a:pPr>
            <a:r>
              <a:rPr b="1" i="0" lang="es-MX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DRAFT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508800" y="250442"/>
            <a:ext cx="11352998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/>
          <p:nvPr/>
        </p:nvSpPr>
        <p:spPr>
          <a:xfrm>
            <a:off x="1" y="338503"/>
            <a:ext cx="205737" cy="409411"/>
          </a:xfrm>
          <a:custGeom>
            <a:rect b="b" l="l" r="r" t="t"/>
            <a:pathLst>
              <a:path extrusionOk="0" h="648450" w="325860">
                <a:moveTo>
                  <a:pt x="325860" y="324226"/>
                </a:moveTo>
                <a:cubicBezTo>
                  <a:pt x="325860" y="503329"/>
                  <a:pt x="179912" y="648451"/>
                  <a:pt x="0" y="648451"/>
                </a:cubicBezTo>
                <a:lnTo>
                  <a:pt x="0" y="0"/>
                </a:lnTo>
                <a:cubicBezTo>
                  <a:pt x="180006" y="0"/>
                  <a:pt x="325860" y="145216"/>
                  <a:pt x="325860" y="324226"/>
                </a:cubicBezTo>
                <a:close/>
              </a:path>
            </a:pathLst>
          </a:custGeom>
          <a:solidFill>
            <a:srgbClr val="F5A4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3" name="Google Shape;3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09144" y="6450703"/>
            <a:ext cx="453862" cy="313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ast Page Logo" showMasterSp="0">
  <p:cSld name="1_Last Page Logo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7660" y="790030"/>
            <a:ext cx="2748213" cy="1904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/>
          <p:nvPr>
            <p:ph type="title"/>
          </p:nvPr>
        </p:nvSpPr>
        <p:spPr>
          <a:xfrm>
            <a:off x="508799" y="250442"/>
            <a:ext cx="113529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348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3_Title 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508799" y="55686"/>
            <a:ext cx="11352999" cy="8662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/>
          <p:nvPr/>
        </p:nvSpPr>
        <p:spPr>
          <a:xfrm>
            <a:off x="1" y="338503"/>
            <a:ext cx="205737" cy="409411"/>
          </a:xfrm>
          <a:custGeom>
            <a:rect b="b" l="l" r="r" t="t"/>
            <a:pathLst>
              <a:path extrusionOk="0" h="648450" w="325860">
                <a:moveTo>
                  <a:pt x="325860" y="324226"/>
                </a:moveTo>
                <a:cubicBezTo>
                  <a:pt x="325860" y="503329"/>
                  <a:pt x="179912" y="648451"/>
                  <a:pt x="0" y="648451"/>
                </a:cubicBezTo>
                <a:lnTo>
                  <a:pt x="0" y="0"/>
                </a:lnTo>
                <a:cubicBezTo>
                  <a:pt x="180006" y="0"/>
                  <a:pt x="325860" y="145216"/>
                  <a:pt x="325860" y="324226"/>
                </a:cubicBezTo>
                <a:close/>
              </a:path>
            </a:pathLst>
          </a:custGeom>
          <a:solidFill>
            <a:srgbClr val="F5A4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Only">
  <p:cSld name="4_Title 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/>
          <p:nvPr>
            <p:ph idx="12" type="sldNum"/>
          </p:nvPr>
        </p:nvSpPr>
        <p:spPr>
          <a:xfrm>
            <a:off x="91313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Open Sans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Open Sans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Open Sans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Open Sans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Open Sans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Open Sans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Open Sans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Open Sans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Open Sans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lus" showMasterSp="0">
  <p:cSld name="1_Plu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"/>
          <p:cNvSpPr txBox="1"/>
          <p:nvPr>
            <p:ph type="title"/>
          </p:nvPr>
        </p:nvSpPr>
        <p:spPr>
          <a:xfrm>
            <a:off x="334963" y="1"/>
            <a:ext cx="11522075" cy="876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348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 showMasterSp="0">
  <p:cSld name="2_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type="title"/>
          </p:nvPr>
        </p:nvSpPr>
        <p:spPr>
          <a:xfrm>
            <a:off x="334963" y="1"/>
            <a:ext cx="11522075" cy="876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348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0" name="Google Shape;50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60000" y="6654664"/>
            <a:ext cx="1152000" cy="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8"/>
          <p:cNvSpPr/>
          <p:nvPr/>
        </p:nvSpPr>
        <p:spPr>
          <a:xfrm>
            <a:off x="8263033" y="6642830"/>
            <a:ext cx="1368171" cy="1650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Open Sans"/>
              <a:buNone/>
            </a:pPr>
            <a:r>
              <a:rPr b="0" i="0" lang="es-MX" sz="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060112 - KOF Operating m ... re vp1</a:t>
            </a:r>
            <a:endParaRPr/>
          </a:p>
        </p:txBody>
      </p:sp>
      <p:sp>
        <p:nvSpPr>
          <p:cNvPr id="52" name="Google Shape;52;p18"/>
          <p:cNvSpPr/>
          <p:nvPr/>
        </p:nvSpPr>
        <p:spPr>
          <a:xfrm>
            <a:off x="7348519" y="6642830"/>
            <a:ext cx="288036" cy="1650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Open Sans"/>
              <a:buNone/>
            </a:pPr>
            <a:r>
              <a:rPr b="0" i="0" lang="es-MX" sz="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MEX</a:t>
            </a:r>
            <a:endParaRPr/>
          </a:p>
        </p:txBody>
      </p:sp>
      <p:pic>
        <p:nvPicPr>
          <p:cNvPr id="53" name="Google Shape;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547" y="6641266"/>
            <a:ext cx="6407451" cy="1767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" name="Google Shape;54;p18"/>
          <p:cNvCxnSpPr/>
          <p:nvPr/>
        </p:nvCxnSpPr>
        <p:spPr>
          <a:xfrm>
            <a:off x="0" y="6598800"/>
            <a:ext cx="11857037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" name="Google Shape;55;p18"/>
          <p:cNvCxnSpPr/>
          <p:nvPr/>
        </p:nvCxnSpPr>
        <p:spPr>
          <a:xfrm>
            <a:off x="334963" y="883539"/>
            <a:ext cx="762000" cy="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" name="Google Shape;56;p18"/>
          <p:cNvSpPr/>
          <p:nvPr/>
        </p:nvSpPr>
        <p:spPr>
          <a:xfrm>
            <a:off x="11715975" y="6649694"/>
            <a:ext cx="141064" cy="138499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Open Sans"/>
              <a:buNone/>
            </a:pPr>
            <a:fld id="{00000000-1234-1234-1234-123412341234}" type="slidenum">
              <a:rPr b="0" i="0" lang="es-MX" sz="9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900" u="none" cap="none" strike="noStrike">
              <a:solidFill>
                <a:schemeClr val="l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 showMasterSp="0">
  <p:cSld name="2_Title Slid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7037" y="4998212"/>
            <a:ext cx="3240000" cy="405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p19"/>
          <p:cNvCxnSpPr/>
          <p:nvPr/>
        </p:nvCxnSpPr>
        <p:spPr>
          <a:xfrm>
            <a:off x="0" y="4873803"/>
            <a:ext cx="11857037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" name="Google Shape;60;p19"/>
          <p:cNvSpPr/>
          <p:nvPr>
            <p:ph idx="2" type="pic"/>
          </p:nvPr>
        </p:nvSpPr>
        <p:spPr>
          <a:xfrm>
            <a:off x="8617039" y="3364443"/>
            <a:ext cx="3239999" cy="1399647"/>
          </a:xfrm>
          <a:prstGeom prst="rect">
            <a:avLst/>
          </a:prstGeom>
          <a:noFill/>
          <a:ln>
            <a:noFill/>
          </a:ln>
        </p:spPr>
      </p:sp>
      <p:pic>
        <p:nvPicPr>
          <p:cNvPr id="61" name="Google Shape;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468" y="6547288"/>
            <a:ext cx="6407451" cy="27434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9"/>
          <p:cNvSpPr txBox="1"/>
          <p:nvPr>
            <p:ph idx="1" type="subTitle"/>
          </p:nvPr>
        </p:nvSpPr>
        <p:spPr>
          <a:xfrm>
            <a:off x="334965" y="2420938"/>
            <a:ext cx="11522075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430"/>
              <a:buFont typeface="Noto Sans Symbols"/>
              <a:buNone/>
              <a:defRPr b="0" i="0" sz="22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ctr">
              <a:spcBef>
                <a:spcPts val="400"/>
              </a:spcBef>
              <a:spcAft>
                <a:spcPts val="0"/>
              </a:spcAft>
              <a:buClr>
                <a:srgbClr val="840E27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ctr">
              <a:spcBef>
                <a:spcPts val="360"/>
              </a:spcBef>
              <a:spcAft>
                <a:spcPts val="0"/>
              </a:spcAft>
              <a:buClr>
                <a:srgbClr val="840E27"/>
              </a:buClr>
              <a:buSzPts val="1800"/>
              <a:buFont typeface="Merriweather Sans"/>
              <a:buNone/>
              <a:defRPr b="0" i="0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ctr">
              <a:spcBef>
                <a:spcPts val="320"/>
              </a:spcBef>
              <a:spcAft>
                <a:spcPts val="0"/>
              </a:spcAft>
              <a:buClr>
                <a:srgbClr val="840E27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ctr">
              <a:spcBef>
                <a:spcPts val="320"/>
              </a:spcBef>
              <a:spcAft>
                <a:spcPts val="0"/>
              </a:spcAft>
              <a:buClr>
                <a:srgbClr val="840E27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3" name="Google Shape;63;p19"/>
          <p:cNvSpPr txBox="1"/>
          <p:nvPr>
            <p:ph type="ctrTitle"/>
          </p:nvPr>
        </p:nvSpPr>
        <p:spPr>
          <a:xfrm>
            <a:off x="334964" y="1268413"/>
            <a:ext cx="11522075" cy="9001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3346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Last Page Logo" showMasterSp="0">
  <p:cSld name="2_Last Page Logo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7037" y="4998212"/>
            <a:ext cx="3240000" cy="405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20"/>
          <p:cNvCxnSpPr/>
          <p:nvPr/>
        </p:nvCxnSpPr>
        <p:spPr>
          <a:xfrm>
            <a:off x="0" y="5481638"/>
            <a:ext cx="11857037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us Bold" showMasterSp="0">
  <p:cSld name="Plus Bold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1"/>
          <p:cNvSpPr txBox="1"/>
          <p:nvPr>
            <p:ph type="title"/>
          </p:nvPr>
        </p:nvSpPr>
        <p:spPr>
          <a:xfrm>
            <a:off x="347472" y="164591"/>
            <a:ext cx="11521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758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/>
        </p:nvSpPr>
        <p:spPr>
          <a:xfrm>
            <a:off x="11457517" y="6400800"/>
            <a:ext cx="31130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800"/>
              <a:buFont typeface="Open Sans"/>
              <a:buNone/>
            </a:pPr>
            <a:fld id="{00000000-1234-1234-1234-123412341234}" type="slidenum">
              <a:rPr b="0" i="0" lang="es-MX" sz="800" u="none" cap="none" strike="noStrike">
                <a:solidFill>
                  <a:srgbClr val="53565A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800" u="none" cap="none" strike="noStrike">
              <a:solidFill>
                <a:srgbClr val="5356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Google Shape;11;p5"/>
          <p:cNvSpPr txBox="1"/>
          <p:nvPr/>
        </p:nvSpPr>
        <p:spPr>
          <a:xfrm>
            <a:off x="5583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/>
          </a:p>
        </p:txBody>
      </p:sp>
      <p:sp>
        <p:nvSpPr>
          <p:cNvPr id="12" name="Google Shape;12;p5"/>
          <p:cNvSpPr txBox="1"/>
          <p:nvPr>
            <p:ph type="title"/>
          </p:nvPr>
        </p:nvSpPr>
        <p:spPr>
          <a:xfrm>
            <a:off x="508799" y="250442"/>
            <a:ext cx="113529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112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884">
          <p15:clr>
            <a:srgbClr val="A4A3A4"/>
          </p15:clr>
        </p15:guide>
        <p15:guide id="2" orient="horz" pos="639">
          <p15:clr>
            <a:srgbClr val="A4A3A4"/>
          </p15:clr>
        </p15:guide>
        <p15:guide id="3" orient="horz" pos="4009">
          <p15:clr>
            <a:srgbClr val="A4A3A4"/>
          </p15:clr>
        </p15:guide>
        <p15:guide id="4" pos="208">
          <p15:clr>
            <a:srgbClr val="A4A3A4"/>
          </p15:clr>
        </p15:guide>
        <p15:guide id="5" pos="7472">
          <p15:clr>
            <a:srgbClr val="A4A3A4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"/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75" name="Google Shape;75;p1"/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Open San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Open San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77" name="Google Shape;77;p1"/>
            <p:cNvCxnSpPr/>
            <p:nvPr/>
          </p:nvCxnSpPr>
          <p:spPr>
            <a:xfrm rot="10800000">
              <a:off x="11861800" y="6926580"/>
              <a:ext cx="0" cy="137160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" name="Google Shape;78;p1"/>
            <p:cNvCxnSpPr/>
            <p:nvPr/>
          </p:nvCxnSpPr>
          <p:spPr>
            <a:xfrm rot="10800000">
              <a:off x="330200" y="6926580"/>
              <a:ext cx="0" cy="137160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9" name="Google Shape;79;p1"/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80" name="Google Shape;80;p1"/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Open San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Open San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82" name="Google Shape;82;p1"/>
            <p:cNvCxnSpPr/>
            <p:nvPr/>
          </p:nvCxnSpPr>
          <p:spPr>
            <a:xfrm rot="10800000">
              <a:off x="11861800" y="-205740"/>
              <a:ext cx="0" cy="137160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" name="Google Shape;83;p1"/>
            <p:cNvCxnSpPr/>
            <p:nvPr/>
          </p:nvCxnSpPr>
          <p:spPr>
            <a:xfrm rot="10800000">
              <a:off x="330200" y="-205740"/>
              <a:ext cx="0" cy="137160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4" name="Google Shape;84;p1"/>
          <p:cNvSpPr txBox="1"/>
          <p:nvPr>
            <p:ph type="title"/>
          </p:nvPr>
        </p:nvSpPr>
        <p:spPr>
          <a:xfrm>
            <a:off x="950142" y="2035534"/>
            <a:ext cx="10179585" cy="2402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91425" spcFirstLastPara="1" rIns="91425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OXXO MX FFP – Macroestructura</a:t>
            </a:r>
            <a:br>
              <a:rPr lang="es-MX"/>
            </a:br>
            <a:r>
              <a:rPr lang="es-MX"/>
              <a:t>Equipo Directivo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1009650" y="3740150"/>
            <a:ext cx="180761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pen Sans"/>
              <a:buNone/>
            </a:pPr>
            <a:r>
              <a:rPr b="0" i="0" lang="es-MX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Septiembre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/>
          <p:nvPr/>
        </p:nvSpPr>
        <p:spPr>
          <a:xfrm>
            <a:off x="5246568" y="1228167"/>
            <a:ext cx="1728782" cy="49427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s-MX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Director División OXXO MX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0" i="0" lang="es-MX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Carlos Arroyo</a:t>
            </a:r>
            <a:endParaRPr/>
          </a:p>
        </p:txBody>
      </p:sp>
      <p:cxnSp>
        <p:nvCxnSpPr>
          <p:cNvPr id="92" name="Google Shape;92;p3"/>
          <p:cNvCxnSpPr>
            <a:endCxn id="91" idx="2"/>
          </p:cNvCxnSpPr>
          <p:nvPr/>
        </p:nvCxnSpPr>
        <p:spPr>
          <a:xfrm flipH="1" rot="10800000">
            <a:off x="4367059" y="1722439"/>
            <a:ext cx="1743900" cy="211800"/>
          </a:xfrm>
          <a:prstGeom prst="bentConnector3">
            <a:avLst>
              <a:gd fmla="val -4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3"/>
          <p:cNvCxnSpPr>
            <a:endCxn id="91" idx="2"/>
          </p:cNvCxnSpPr>
          <p:nvPr/>
        </p:nvCxnSpPr>
        <p:spPr>
          <a:xfrm rot="10800000">
            <a:off x="6110959" y="1722439"/>
            <a:ext cx="2899200" cy="211800"/>
          </a:xfrm>
          <a:prstGeom prst="bentConnector3">
            <a:avLst>
              <a:gd fmla="val 3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3"/>
          <p:cNvCxnSpPr>
            <a:endCxn id="91" idx="2"/>
          </p:cNvCxnSpPr>
          <p:nvPr/>
        </p:nvCxnSpPr>
        <p:spPr>
          <a:xfrm rot="10800000">
            <a:off x="6110959" y="1722439"/>
            <a:ext cx="4059900" cy="2118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3"/>
          <p:cNvCxnSpPr>
            <a:endCxn id="91" idx="2"/>
          </p:cNvCxnSpPr>
          <p:nvPr/>
        </p:nvCxnSpPr>
        <p:spPr>
          <a:xfrm rot="10800000">
            <a:off x="6110959" y="1722439"/>
            <a:ext cx="5220600" cy="211800"/>
          </a:xfrm>
          <a:prstGeom prst="bentConnector3">
            <a:avLst>
              <a:gd fmla="val -1" name="adj1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6" name="Google Shape;96;p3"/>
          <p:cNvCxnSpPr>
            <a:endCxn id="91" idx="2"/>
          </p:cNvCxnSpPr>
          <p:nvPr/>
        </p:nvCxnSpPr>
        <p:spPr>
          <a:xfrm flipH="1" rot="10800000">
            <a:off x="2045359" y="1722439"/>
            <a:ext cx="4065600" cy="211800"/>
          </a:xfrm>
          <a:prstGeom prst="bentConnector3">
            <a:avLst>
              <a:gd fmla="val 2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3"/>
          <p:cNvCxnSpPr>
            <a:endCxn id="91" idx="2"/>
          </p:cNvCxnSpPr>
          <p:nvPr/>
        </p:nvCxnSpPr>
        <p:spPr>
          <a:xfrm flipH="1" rot="10800000">
            <a:off x="3206359" y="1722439"/>
            <a:ext cx="2904600" cy="211800"/>
          </a:xfrm>
          <a:prstGeom prst="bentConnector3">
            <a:avLst>
              <a:gd fmla="val -5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3"/>
          <p:cNvCxnSpPr>
            <a:endCxn id="91" idx="2"/>
          </p:cNvCxnSpPr>
          <p:nvPr/>
        </p:nvCxnSpPr>
        <p:spPr>
          <a:xfrm rot="10800000">
            <a:off x="6110959" y="1722439"/>
            <a:ext cx="577500" cy="211800"/>
          </a:xfrm>
          <a:prstGeom prst="bentConnector3">
            <a:avLst>
              <a:gd fmla="val -14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3"/>
          <p:cNvCxnSpPr>
            <a:endCxn id="91" idx="2"/>
          </p:cNvCxnSpPr>
          <p:nvPr/>
        </p:nvCxnSpPr>
        <p:spPr>
          <a:xfrm flipH="1" rot="10800000">
            <a:off x="5527759" y="1722439"/>
            <a:ext cx="583200" cy="211800"/>
          </a:xfrm>
          <a:prstGeom prst="bentConnector3">
            <a:avLst>
              <a:gd fmla="val 1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3"/>
          <p:cNvSpPr/>
          <p:nvPr/>
        </p:nvSpPr>
        <p:spPr>
          <a:xfrm>
            <a:off x="10814157" y="1934240"/>
            <a:ext cx="1034943" cy="425766"/>
          </a:xfrm>
          <a:prstGeom prst="rect">
            <a:avLst/>
          </a:prstGeom>
          <a:solidFill>
            <a:srgbClr val="7486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s-MX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Director TI</a:t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9653381" y="1934240"/>
            <a:ext cx="1034943" cy="425766"/>
          </a:xfrm>
          <a:prstGeom prst="rect">
            <a:avLst/>
          </a:prstGeom>
          <a:solidFill>
            <a:srgbClr val="7486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s-MX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Director Recursos Humanos</a:t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5010293" y="1934240"/>
            <a:ext cx="1034943" cy="425766"/>
          </a:xfrm>
          <a:prstGeom prst="rect">
            <a:avLst/>
          </a:prstGeom>
          <a:solidFill>
            <a:srgbClr val="7486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s-MX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Director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s-MX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Cadena Suministro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1527977" y="1934240"/>
            <a:ext cx="1034943" cy="425766"/>
          </a:xfrm>
          <a:prstGeom prst="rect">
            <a:avLst/>
          </a:prstGeom>
          <a:solidFill>
            <a:srgbClr val="FF7F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s-MX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Director Comercial</a:t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3849521" y="1934240"/>
            <a:ext cx="1034943" cy="425766"/>
          </a:xfrm>
          <a:prstGeom prst="rect">
            <a:avLst/>
          </a:prstGeom>
          <a:solidFill>
            <a:srgbClr val="7486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s-MX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Director Operaciones y Expansión</a:t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8492609" y="1934240"/>
            <a:ext cx="1034943" cy="425766"/>
          </a:xfrm>
          <a:prstGeom prst="rect">
            <a:avLst/>
          </a:prstGeom>
          <a:solidFill>
            <a:srgbClr val="7486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s-MX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Director Finanzas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2688749" y="1934240"/>
            <a:ext cx="1034943" cy="425766"/>
          </a:xfrm>
          <a:prstGeom prst="rect">
            <a:avLst/>
          </a:prstGeom>
          <a:solidFill>
            <a:srgbClr val="FF7F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s-MX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Director Customer &amp; Marketing</a:t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6171065" y="1934240"/>
            <a:ext cx="1034943" cy="42576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s-MX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Director Excelencia Operativa</a:t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367205" y="1934240"/>
            <a:ext cx="1034943" cy="42576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s-MX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Director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s-MX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Beyond Trade</a:t>
            </a:r>
            <a:endParaRPr b="1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9" name="Google Shape;109;p3"/>
          <p:cNvCxnSpPr>
            <a:endCxn id="91" idx="2"/>
          </p:cNvCxnSpPr>
          <p:nvPr/>
        </p:nvCxnSpPr>
        <p:spPr>
          <a:xfrm flipH="1" rot="10800000">
            <a:off x="884659" y="1722439"/>
            <a:ext cx="5226300" cy="2118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3"/>
          <p:cNvSpPr/>
          <p:nvPr/>
        </p:nvSpPr>
        <p:spPr>
          <a:xfrm>
            <a:off x="7331837" y="1934240"/>
            <a:ext cx="1034943" cy="42576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s-MX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Director Estrategia y Transformación</a:t>
            </a:r>
            <a:endParaRPr/>
          </a:p>
        </p:txBody>
      </p:sp>
      <p:cxnSp>
        <p:nvCxnSpPr>
          <p:cNvPr id="111" name="Google Shape;111;p3"/>
          <p:cNvCxnSpPr>
            <a:stCxn id="110" idx="0"/>
            <a:endCxn id="91" idx="2"/>
          </p:cNvCxnSpPr>
          <p:nvPr/>
        </p:nvCxnSpPr>
        <p:spPr>
          <a:xfrm flipH="1" rot="5400000">
            <a:off x="6874309" y="959240"/>
            <a:ext cx="211800" cy="1738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3"/>
          <p:cNvSpPr txBox="1"/>
          <p:nvPr>
            <p:ph type="title"/>
          </p:nvPr>
        </p:nvSpPr>
        <p:spPr>
          <a:xfrm>
            <a:off x="508800" y="250442"/>
            <a:ext cx="11352998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cap="none" strike="noStrike">
                <a:latin typeface="Open Sans"/>
                <a:ea typeface="Open Sans"/>
                <a:cs typeface="Open Sans"/>
                <a:sym typeface="Open Sans"/>
              </a:rPr>
              <a:t>EDI OXXO MX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508800" y="1028577"/>
            <a:ext cx="22935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Open Sans"/>
              <a:buNone/>
            </a:pPr>
            <a:r>
              <a:rPr b="1" i="0" lang="es-MX" sz="18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To-Be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367204" y="2420067"/>
            <a:ext cx="1034943" cy="212415"/>
          </a:xfrm>
          <a:prstGeom prst="rect">
            <a:avLst/>
          </a:prstGeom>
          <a:solidFill>
            <a:srgbClr val="E5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Payments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367204" y="2661447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Servicios Financieros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367204" y="2902827"/>
            <a:ext cx="1034943" cy="212415"/>
          </a:xfrm>
          <a:prstGeom prst="rect">
            <a:avLst/>
          </a:prstGeom>
          <a:solidFill>
            <a:srgbClr val="FFBF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MVNO (OXXO Cel, Telefonía, Activacel)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367204" y="3144207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Fulfillment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7325781" y="3142372"/>
            <a:ext cx="1034943" cy="212415"/>
          </a:xfrm>
          <a:prstGeom prst="rect">
            <a:avLst/>
          </a:prstGeom>
          <a:solidFill>
            <a:srgbClr val="E5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Health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367202" y="3380346"/>
            <a:ext cx="1034943" cy="212415"/>
          </a:xfrm>
          <a:prstGeom prst="rect">
            <a:avLst/>
          </a:prstGeom>
          <a:solidFill>
            <a:srgbClr val="E5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Methodoly &amp; Experiment Design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1527976" y="2420067"/>
            <a:ext cx="1034943" cy="212415"/>
          </a:xfrm>
          <a:prstGeom prst="rect">
            <a:avLst/>
          </a:prstGeom>
          <a:solidFill>
            <a:srgbClr val="FF7F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Impulso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1527976" y="2660137"/>
            <a:ext cx="1034943" cy="212415"/>
          </a:xfrm>
          <a:prstGeom prst="rect">
            <a:avLst/>
          </a:prstGeom>
          <a:solidFill>
            <a:srgbClr val="FF7F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Daily Replenishment</a:t>
            </a:r>
            <a:endParaRPr b="0" i="0" sz="7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1527976" y="2900207"/>
            <a:ext cx="1034943" cy="212415"/>
          </a:xfrm>
          <a:prstGeom prst="rect">
            <a:avLst/>
          </a:prstGeom>
          <a:solidFill>
            <a:srgbClr val="FF7F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Foodvenience</a:t>
            </a:r>
            <a:endParaRPr b="0" i="0" sz="7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1527976" y="3140277"/>
            <a:ext cx="1034943" cy="212415"/>
          </a:xfrm>
          <a:prstGeom prst="rect">
            <a:avLst/>
          </a:prstGeom>
          <a:solidFill>
            <a:srgbClr val="FF7F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Private Label</a:t>
            </a:r>
            <a:endParaRPr b="0" i="0" sz="7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1527976" y="3380346"/>
            <a:ext cx="1034943" cy="212415"/>
          </a:xfrm>
          <a:prstGeom prst="rect">
            <a:avLst/>
          </a:prstGeom>
          <a:solidFill>
            <a:srgbClr val="FF7F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Procesos Comerciales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1526676" y="4133860"/>
            <a:ext cx="1034943" cy="21241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Gestión Comercial Zonas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2688743" y="2420067"/>
            <a:ext cx="1034943" cy="212415"/>
          </a:xfrm>
          <a:prstGeom prst="rect">
            <a:avLst/>
          </a:prstGeom>
          <a:solidFill>
            <a:srgbClr val="E5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Voice of the Customer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2688743" y="2658514"/>
            <a:ext cx="1034943" cy="212415"/>
          </a:xfrm>
          <a:prstGeom prst="rect">
            <a:avLst/>
          </a:prstGeom>
          <a:solidFill>
            <a:srgbClr val="E5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CVP &amp; Experience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2688743" y="2896961"/>
            <a:ext cx="1034943" cy="212415"/>
          </a:xfrm>
          <a:prstGeom prst="rect">
            <a:avLst/>
          </a:prstGeom>
          <a:solidFill>
            <a:srgbClr val="E5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Customer Strategy &amp; Insights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2688743" y="3135408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Marketing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2688743" y="3373855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Loyalty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2688743" y="3612302"/>
            <a:ext cx="1034943" cy="212415"/>
          </a:xfrm>
          <a:prstGeom prst="rect">
            <a:avLst/>
          </a:prstGeom>
          <a:solidFill>
            <a:srgbClr val="FFBF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Analytics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2688743" y="3850748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Retina Media</a:t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3849984" y="2420067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Store Operations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3849984" y="2905167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Store Opening / Conservation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3844098" y="4138373"/>
            <a:ext cx="1034943" cy="21241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Intel. Expansión, Sol. Ingeniería, Diseño</a:t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3849984" y="2662617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Operations Processes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1526675" y="4372818"/>
            <a:ext cx="1034943" cy="21241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eCommerce</a:t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5021500" y="2420067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Warehousing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5021500" y="2660835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Logistics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5021500" y="2901603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Procurement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5010292" y="4139791"/>
            <a:ext cx="1034943" cy="21241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Inbound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5021500" y="3142372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Supply Processes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7333974" y="2420067"/>
            <a:ext cx="1034943" cy="212415"/>
          </a:xfrm>
          <a:prstGeom prst="rect">
            <a:avLst/>
          </a:prstGeom>
          <a:solidFill>
            <a:srgbClr val="FFBF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VMO (Resultd and Value Delivery)</a:t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7333974" y="2662617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Strategy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7326400" y="4139790"/>
            <a:ext cx="1034943" cy="21241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Planning Process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6171067" y="2420067"/>
            <a:ext cx="1034943" cy="212415"/>
          </a:xfrm>
          <a:prstGeom prst="rect">
            <a:avLst/>
          </a:prstGeom>
          <a:solidFill>
            <a:srgbClr val="E5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Maturity Model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6171067" y="2660044"/>
            <a:ext cx="1034943" cy="212415"/>
          </a:xfrm>
          <a:prstGeom prst="rect">
            <a:avLst/>
          </a:prstGeom>
          <a:solidFill>
            <a:srgbClr val="E5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Continuos Process Improvement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8503133" y="2420067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Financial Planning</a:t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8489535" y="4377092"/>
            <a:ext cx="1034943" cy="21241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Financial Intelligence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8503133" y="2661447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Corporate &amp; Operative Finance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8503133" y="2902827"/>
            <a:ext cx="1034943" cy="212415"/>
          </a:xfrm>
          <a:prstGeom prst="rect">
            <a:avLst/>
          </a:prstGeom>
          <a:solidFill>
            <a:srgbClr val="E5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Commercial Finance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8503133" y="3144207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Shared Services Finance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8503133" y="3385587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Fiscal</a:t>
            </a: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8503133" y="3626966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Legal</a:t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7333974" y="2905167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Asuntos Corp. &amp; Sostenibilidad</a:t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9661876" y="2420067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 &amp; Comp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9661876" y="2661447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Talento &amp; Desarrollo</a:t>
            </a: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9661876" y="2902827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Culture &amp; JEDI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9661876" y="3144207"/>
            <a:ext cx="1034943" cy="212415"/>
          </a:xfrm>
          <a:prstGeom prst="rect">
            <a:avLst/>
          </a:prstGeom>
          <a:solidFill>
            <a:srgbClr val="FFBF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Change Mgnt &amp; Comms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9661876" y="3385587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Labor &amp; Ethics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9652672" y="4139788"/>
            <a:ext cx="1034943" cy="21241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Protección Patrimonial</a:t>
            </a: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9650318" y="4377207"/>
            <a:ext cx="1034943" cy="21241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HRBP (Coporate &amp; Operative)</a:t>
            </a: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9661876" y="3626966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Shared Services HR</a:t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10822625" y="4145151"/>
            <a:ext cx="1034943" cy="21241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 Solutions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10820619" y="2417294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 Development &amp; Engineering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10820619" y="2657364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Architecture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10820619" y="2897434"/>
            <a:ext cx="1034943" cy="212415"/>
          </a:xfrm>
          <a:prstGeom prst="rect">
            <a:avLst/>
          </a:prstGeom>
          <a:solidFill>
            <a:srgbClr val="B9C2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 Support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10820619" y="3137503"/>
            <a:ext cx="1034943" cy="212415"/>
          </a:xfrm>
          <a:prstGeom prst="rect">
            <a:avLst/>
          </a:prstGeom>
          <a:solidFill>
            <a:srgbClr val="E5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Digital Capabilities Enablement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8489536" y="4139789"/>
            <a:ext cx="1034943" cy="21241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Comité de Inversiones</a:t>
            </a:r>
            <a:endParaRPr/>
          </a:p>
        </p:txBody>
      </p:sp>
      <p:sp>
        <p:nvSpPr>
          <p:cNvPr id="170" name="Google Shape;170;p3"/>
          <p:cNvSpPr/>
          <p:nvPr/>
        </p:nvSpPr>
        <p:spPr>
          <a:xfrm>
            <a:off x="3849509" y="4372818"/>
            <a:ext cx="1034943" cy="21241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Serv. Construcción / Abastecimiento</a:t>
            </a:r>
            <a:endParaRPr/>
          </a:p>
        </p:txBody>
      </p:sp>
      <p:sp>
        <p:nvSpPr>
          <p:cNvPr id="171" name="Google Shape;171;p3"/>
          <p:cNvSpPr/>
          <p:nvPr/>
        </p:nvSpPr>
        <p:spPr>
          <a:xfrm>
            <a:off x="5010292" y="4372818"/>
            <a:ext cx="1034943" cy="21241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S&amp;OP</a:t>
            </a:r>
            <a:endParaRPr/>
          </a:p>
        </p:txBody>
      </p:sp>
      <p:sp>
        <p:nvSpPr>
          <p:cNvPr id="172" name="Google Shape;172;p3"/>
          <p:cNvSpPr/>
          <p:nvPr/>
        </p:nvSpPr>
        <p:spPr>
          <a:xfrm>
            <a:off x="3851304" y="4609275"/>
            <a:ext cx="1034943" cy="21241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Promotoreo, Evaluaciones y CC</a:t>
            </a:r>
            <a:endParaRPr/>
          </a:p>
        </p:txBody>
      </p:sp>
      <p:sp>
        <p:nvSpPr>
          <p:cNvPr id="173" name="Google Shape;173;p3"/>
          <p:cNvSpPr/>
          <p:nvPr/>
        </p:nvSpPr>
        <p:spPr>
          <a:xfrm>
            <a:off x="8489535" y="4611526"/>
            <a:ext cx="1034943" cy="21241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s-MX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Contraloría y Normatividad</a:t>
            </a:r>
            <a:endParaRPr/>
          </a:p>
        </p:txBody>
      </p:sp>
      <p:grpSp>
        <p:nvGrpSpPr>
          <p:cNvPr id="174" name="Google Shape;174;p3"/>
          <p:cNvGrpSpPr/>
          <p:nvPr/>
        </p:nvGrpSpPr>
        <p:grpSpPr>
          <a:xfrm>
            <a:off x="97864" y="2385890"/>
            <a:ext cx="180000" cy="1692000"/>
            <a:chOff x="49806" y="4259280"/>
            <a:chExt cx="180000" cy="1509434"/>
          </a:xfrm>
        </p:grpSpPr>
        <p:cxnSp>
          <p:nvCxnSpPr>
            <p:cNvPr id="175" name="Google Shape;175;p3"/>
            <p:cNvCxnSpPr/>
            <p:nvPr/>
          </p:nvCxnSpPr>
          <p:spPr>
            <a:xfrm>
              <a:off x="139806" y="4279278"/>
              <a:ext cx="0" cy="1475945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76" name="Google Shape;176;p3"/>
            <p:cNvCxnSpPr/>
            <p:nvPr/>
          </p:nvCxnSpPr>
          <p:spPr>
            <a:xfrm>
              <a:off x="49806" y="425928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" name="Google Shape;177;p3"/>
            <p:cNvCxnSpPr/>
            <p:nvPr/>
          </p:nvCxnSpPr>
          <p:spPr>
            <a:xfrm>
              <a:off x="49806" y="5768714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8" name="Google Shape;178;p3"/>
          <p:cNvSpPr txBox="1"/>
          <p:nvPr/>
        </p:nvSpPr>
        <p:spPr>
          <a:xfrm rot="-5400000">
            <a:off x="-102029" y="3169006"/>
            <a:ext cx="599844" cy="1846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pen Sans"/>
              <a:buNone/>
            </a:pPr>
            <a:r>
              <a:rPr b="1" i="0" lang="es-MX" sz="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Draft BAIN</a:t>
            </a: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97864" y="4115652"/>
            <a:ext cx="180000" cy="720000"/>
            <a:chOff x="49806" y="4259280"/>
            <a:chExt cx="180000" cy="1509434"/>
          </a:xfrm>
        </p:grpSpPr>
        <p:cxnSp>
          <p:nvCxnSpPr>
            <p:cNvPr id="180" name="Google Shape;180;p3"/>
            <p:cNvCxnSpPr/>
            <p:nvPr/>
          </p:nvCxnSpPr>
          <p:spPr>
            <a:xfrm>
              <a:off x="139806" y="4279278"/>
              <a:ext cx="0" cy="1475945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81" name="Google Shape;181;p3"/>
            <p:cNvCxnSpPr/>
            <p:nvPr/>
          </p:nvCxnSpPr>
          <p:spPr>
            <a:xfrm>
              <a:off x="49806" y="425928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" name="Google Shape;182;p3"/>
            <p:cNvCxnSpPr/>
            <p:nvPr/>
          </p:nvCxnSpPr>
          <p:spPr>
            <a:xfrm>
              <a:off x="49806" y="5768714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3" name="Google Shape;183;p3"/>
          <p:cNvSpPr txBox="1"/>
          <p:nvPr/>
        </p:nvSpPr>
        <p:spPr>
          <a:xfrm rot="-5400000">
            <a:off x="-48779" y="4394846"/>
            <a:ext cx="481222" cy="1692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Open Sans"/>
              <a:buNone/>
            </a:pPr>
            <a:r>
              <a:rPr b="1" i="0" lang="es-MX" sz="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Adicional</a:t>
            </a:r>
            <a:endParaRPr/>
          </a:p>
        </p:txBody>
      </p:sp>
      <p:grpSp>
        <p:nvGrpSpPr>
          <p:cNvPr id="184" name="Google Shape;184;p3"/>
          <p:cNvGrpSpPr/>
          <p:nvPr/>
        </p:nvGrpSpPr>
        <p:grpSpPr>
          <a:xfrm>
            <a:off x="11903196" y="2372035"/>
            <a:ext cx="180000" cy="2484000"/>
            <a:chOff x="49806" y="4259280"/>
            <a:chExt cx="180000" cy="1509434"/>
          </a:xfrm>
        </p:grpSpPr>
        <p:cxnSp>
          <p:nvCxnSpPr>
            <p:cNvPr id="185" name="Google Shape;185;p3"/>
            <p:cNvCxnSpPr/>
            <p:nvPr/>
          </p:nvCxnSpPr>
          <p:spPr>
            <a:xfrm>
              <a:off x="139806" y="4279278"/>
              <a:ext cx="0" cy="1475945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86" name="Google Shape;186;p3"/>
            <p:cNvCxnSpPr/>
            <p:nvPr/>
          </p:nvCxnSpPr>
          <p:spPr>
            <a:xfrm>
              <a:off x="49806" y="425928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7" name="Google Shape;187;p3"/>
            <p:cNvCxnSpPr/>
            <p:nvPr/>
          </p:nvCxnSpPr>
          <p:spPr>
            <a:xfrm>
              <a:off x="49806" y="5768714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8" name="Google Shape;188;p3"/>
          <p:cNvSpPr txBox="1"/>
          <p:nvPr/>
        </p:nvSpPr>
        <p:spPr>
          <a:xfrm rot="5400000">
            <a:off x="11464935" y="3510563"/>
            <a:ext cx="1091966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pen Sans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Funciones / Áreas</a:t>
            </a:r>
            <a:endParaRPr/>
          </a:p>
        </p:txBody>
      </p:sp>
      <p:sp>
        <p:nvSpPr>
          <p:cNvPr id="189" name="Google Shape;189;p3"/>
          <p:cNvSpPr/>
          <p:nvPr/>
        </p:nvSpPr>
        <p:spPr>
          <a:xfrm>
            <a:off x="11136358" y="224423"/>
            <a:ext cx="108000" cy="108000"/>
          </a:xfrm>
          <a:prstGeom prst="rect">
            <a:avLst/>
          </a:prstGeom>
          <a:solidFill>
            <a:srgbClr val="7486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</a:pPr>
            <a:r>
              <a:t/>
            </a:r>
            <a:endParaRPr b="1" i="0" sz="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0" name="Google Shape;190;p3"/>
          <p:cNvSpPr txBox="1"/>
          <p:nvPr/>
        </p:nvSpPr>
        <p:spPr>
          <a:xfrm>
            <a:off x="11232335" y="163007"/>
            <a:ext cx="739305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pen Sans"/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Optimized</a:t>
            </a:r>
            <a:endParaRPr/>
          </a:p>
        </p:txBody>
      </p:sp>
      <p:sp>
        <p:nvSpPr>
          <p:cNvPr id="191" name="Google Shape;191;p3"/>
          <p:cNvSpPr/>
          <p:nvPr/>
        </p:nvSpPr>
        <p:spPr>
          <a:xfrm>
            <a:off x="10374601" y="468007"/>
            <a:ext cx="108000" cy="108000"/>
          </a:xfrm>
          <a:prstGeom prst="rect">
            <a:avLst/>
          </a:prstGeom>
          <a:solidFill>
            <a:srgbClr val="FF8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</a:pPr>
            <a:r>
              <a:t/>
            </a:r>
            <a:endParaRPr b="1" i="0" sz="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" name="Google Shape;192;p3"/>
          <p:cNvSpPr txBox="1"/>
          <p:nvPr/>
        </p:nvSpPr>
        <p:spPr>
          <a:xfrm>
            <a:off x="10470578" y="406591"/>
            <a:ext cx="596638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pen Sans"/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Evolved</a:t>
            </a:r>
            <a:endParaRPr/>
          </a:p>
        </p:txBody>
      </p:sp>
      <p:sp>
        <p:nvSpPr>
          <p:cNvPr id="193" name="Google Shape;193;p3"/>
          <p:cNvSpPr/>
          <p:nvPr/>
        </p:nvSpPr>
        <p:spPr>
          <a:xfrm>
            <a:off x="10374601" y="219991"/>
            <a:ext cx="108000" cy="10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</a:pPr>
            <a:r>
              <a:t/>
            </a:r>
            <a:endParaRPr b="1" i="0" sz="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10470578" y="158575"/>
            <a:ext cx="425116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pen Sans"/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New</a:t>
            </a:r>
            <a:endParaRPr/>
          </a:p>
        </p:txBody>
      </p:sp>
      <p:sp>
        <p:nvSpPr>
          <p:cNvPr id="195" name="Google Shape;195;p3"/>
          <p:cNvSpPr/>
          <p:nvPr/>
        </p:nvSpPr>
        <p:spPr>
          <a:xfrm>
            <a:off x="11136358" y="467336"/>
            <a:ext cx="108000" cy="108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</a:pPr>
            <a:r>
              <a:t/>
            </a:r>
            <a:endParaRPr b="1" i="0" sz="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" name="Google Shape;196;p3"/>
          <p:cNvSpPr txBox="1"/>
          <p:nvPr/>
        </p:nvSpPr>
        <p:spPr>
          <a:xfrm>
            <a:off x="11232335" y="405920"/>
            <a:ext cx="878767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pen Sans"/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Complement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" name="Google Shape;202;p4"/>
          <p:cNvCxnSpPr/>
          <p:nvPr/>
        </p:nvCxnSpPr>
        <p:spPr>
          <a:xfrm>
            <a:off x="9052997" y="1565998"/>
            <a:ext cx="0" cy="5085302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3" name="Google Shape;203;p4"/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04" name="Google Shape;204;p4"/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solidFill>
              <a:srgbClr val="FFFFFF">
                <a:alpha val="25098"/>
              </a:srgb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5" name="Google Shape;205;p4"/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solidFill>
              <a:srgbClr val="FFFFFF">
                <a:alpha val="25098"/>
              </a:srgb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206" name="Google Shape;206;p4"/>
            <p:cNvCxnSpPr/>
            <p:nvPr/>
          </p:nvCxnSpPr>
          <p:spPr>
            <a:xfrm rot="10800000">
              <a:off x="11861800" y="6926580"/>
              <a:ext cx="0" cy="137160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rgbClr val="B4B4B4">
                  <a:alpha val="2509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7" name="Google Shape;207;p4"/>
            <p:cNvCxnSpPr/>
            <p:nvPr/>
          </p:nvCxnSpPr>
          <p:spPr>
            <a:xfrm rot="10800000">
              <a:off x="330200" y="6926580"/>
              <a:ext cx="0" cy="137160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rgbClr val="B4B4B4">
                  <a:alpha val="2509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08" name="Google Shape;208;p4"/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09" name="Google Shape;209;p4"/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solidFill>
              <a:srgbClr val="FFFFFF">
                <a:alpha val="25098"/>
              </a:srgb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0" name="Google Shape;210;p4"/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solidFill>
              <a:srgbClr val="FFFFFF">
                <a:alpha val="25098"/>
              </a:srgb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211" name="Google Shape;211;p4"/>
            <p:cNvCxnSpPr/>
            <p:nvPr/>
          </p:nvCxnSpPr>
          <p:spPr>
            <a:xfrm rot="10800000">
              <a:off x="11861800" y="-205740"/>
              <a:ext cx="0" cy="137160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rgbClr val="B4B4B4">
                  <a:alpha val="2509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2" name="Google Shape;212;p4"/>
            <p:cNvCxnSpPr/>
            <p:nvPr/>
          </p:nvCxnSpPr>
          <p:spPr>
            <a:xfrm rot="10800000">
              <a:off x="330200" y="-205740"/>
              <a:ext cx="0" cy="137160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rgbClr val="B4B4B4">
                  <a:alpha val="2509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3" name="Google Shape;213;p4"/>
          <p:cNvSpPr txBox="1"/>
          <p:nvPr>
            <p:ph type="title"/>
          </p:nvPr>
        </p:nvSpPr>
        <p:spPr>
          <a:xfrm>
            <a:off x="508800" y="65776"/>
            <a:ext cx="11352998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Following the redefined macrostructure, the functiogram emphasizes new and evolved strategic priorities</a:t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5724609" y="1643231"/>
            <a:ext cx="882979" cy="449857"/>
          </a:xfrm>
          <a:prstGeom prst="rect">
            <a:avLst/>
          </a:prstGeom>
          <a:solidFill>
            <a:srgbClr val="7486B2"/>
          </a:solidFill>
          <a:ln cap="flat" cmpd="sng" w="9525">
            <a:solidFill>
              <a:srgbClr val="D6D6D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1" i="0" lang="es-MX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Supply Chain</a:t>
            </a:r>
            <a:endParaRPr/>
          </a:p>
        </p:txBody>
      </p:sp>
      <p:sp>
        <p:nvSpPr>
          <p:cNvPr id="215" name="Google Shape;215;p4"/>
          <p:cNvSpPr/>
          <p:nvPr/>
        </p:nvSpPr>
        <p:spPr>
          <a:xfrm>
            <a:off x="10107503" y="1643231"/>
            <a:ext cx="838798" cy="458455"/>
          </a:xfrm>
          <a:prstGeom prst="rect">
            <a:avLst/>
          </a:prstGeom>
          <a:solidFill>
            <a:srgbClr val="7486B2"/>
          </a:solidFill>
          <a:ln cap="flat" cmpd="sng" w="9525">
            <a:solidFill>
              <a:srgbClr val="D6D6D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1" i="0" lang="es-MX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IT OXXO Mexico</a:t>
            </a:r>
            <a:endParaRPr/>
          </a:p>
        </p:txBody>
      </p:sp>
      <p:sp>
        <p:nvSpPr>
          <p:cNvPr id="216" name="Google Shape;216;p4"/>
          <p:cNvSpPr/>
          <p:nvPr/>
        </p:nvSpPr>
        <p:spPr>
          <a:xfrm>
            <a:off x="3200635" y="1643231"/>
            <a:ext cx="1394206" cy="449857"/>
          </a:xfrm>
          <a:prstGeom prst="rect">
            <a:avLst/>
          </a:prstGeom>
          <a:solidFill>
            <a:srgbClr val="FF7F32"/>
          </a:solidFill>
          <a:ln cap="flat" cmpd="sng" w="9525">
            <a:solidFill>
              <a:srgbClr val="D6D6D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1" i="0" lang="es-MX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Customer</a:t>
            </a:r>
            <a:endParaRPr/>
          </a:p>
        </p:txBody>
      </p:sp>
      <p:sp>
        <p:nvSpPr>
          <p:cNvPr id="217" name="Google Shape;217;p4"/>
          <p:cNvSpPr/>
          <p:nvPr/>
        </p:nvSpPr>
        <p:spPr>
          <a:xfrm>
            <a:off x="4701704" y="1643231"/>
            <a:ext cx="935388" cy="449857"/>
          </a:xfrm>
          <a:prstGeom prst="rect">
            <a:avLst/>
          </a:prstGeom>
          <a:solidFill>
            <a:srgbClr val="7486B2"/>
          </a:solidFill>
          <a:ln cap="flat" cmpd="sng" w="9525">
            <a:solidFill>
              <a:srgbClr val="D6D6D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1" i="0" lang="es-MX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Operations &amp; Expansion</a:t>
            </a:r>
            <a:endParaRPr/>
          </a:p>
        </p:txBody>
      </p:sp>
      <p:sp>
        <p:nvSpPr>
          <p:cNvPr id="218" name="Google Shape;218;p4"/>
          <p:cNvSpPr/>
          <p:nvPr/>
        </p:nvSpPr>
        <p:spPr>
          <a:xfrm>
            <a:off x="333561" y="1643231"/>
            <a:ext cx="1122250" cy="449857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rgbClr val="D6D6D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1" i="0" lang="es-MX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Beyond Trade</a:t>
            </a:r>
            <a:endParaRPr/>
          </a:p>
        </p:txBody>
      </p:sp>
      <p:sp>
        <p:nvSpPr>
          <p:cNvPr id="219" name="Google Shape;219;p4"/>
          <p:cNvSpPr/>
          <p:nvPr/>
        </p:nvSpPr>
        <p:spPr>
          <a:xfrm>
            <a:off x="11024682" y="1643231"/>
            <a:ext cx="833757" cy="449857"/>
          </a:xfrm>
          <a:prstGeom prst="rect">
            <a:avLst/>
          </a:prstGeom>
          <a:solidFill>
            <a:srgbClr val="7486B2"/>
          </a:solidFill>
          <a:ln cap="flat" cmpd="sng" w="9525">
            <a:solidFill>
              <a:srgbClr val="D6D6D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1" i="0" lang="es-MX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Human Resources</a:t>
            </a:r>
            <a:endParaRPr/>
          </a:p>
        </p:txBody>
      </p:sp>
      <p:sp>
        <p:nvSpPr>
          <p:cNvPr id="220" name="Google Shape;220;p4"/>
          <p:cNvSpPr/>
          <p:nvPr/>
        </p:nvSpPr>
        <p:spPr>
          <a:xfrm>
            <a:off x="9137774" y="1643231"/>
            <a:ext cx="876939" cy="449857"/>
          </a:xfrm>
          <a:prstGeom prst="rect">
            <a:avLst/>
          </a:prstGeom>
          <a:solidFill>
            <a:srgbClr val="7486B2"/>
          </a:solidFill>
          <a:ln cap="flat" cmpd="sng" w="9525">
            <a:solidFill>
              <a:srgbClr val="D6D6D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1" i="0" lang="es-MX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Finance &amp; Admin.</a:t>
            </a:r>
            <a:endParaRPr/>
          </a:p>
        </p:txBody>
      </p:sp>
      <p:sp>
        <p:nvSpPr>
          <p:cNvPr id="221" name="Google Shape;221;p4"/>
          <p:cNvSpPr/>
          <p:nvPr/>
        </p:nvSpPr>
        <p:spPr>
          <a:xfrm>
            <a:off x="8044062" y="1643231"/>
            <a:ext cx="971001" cy="449857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rgbClr val="D6D6D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1" i="0" lang="es-MX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Transform. &amp; Strategy</a:t>
            </a:r>
            <a:endParaRPr/>
          </a:p>
        </p:txBody>
      </p:sp>
      <p:sp>
        <p:nvSpPr>
          <p:cNvPr id="222" name="Google Shape;222;p4"/>
          <p:cNvSpPr/>
          <p:nvPr/>
        </p:nvSpPr>
        <p:spPr>
          <a:xfrm>
            <a:off x="1525727" y="1643231"/>
            <a:ext cx="1604742" cy="438442"/>
          </a:xfrm>
          <a:prstGeom prst="rect">
            <a:avLst/>
          </a:prstGeom>
          <a:solidFill>
            <a:srgbClr val="FF7F32"/>
          </a:solidFill>
          <a:ln cap="flat" cmpd="sng" w="9525">
            <a:solidFill>
              <a:srgbClr val="D6D6D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1" i="0" lang="es-MX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CCO</a:t>
            </a:r>
            <a:endParaRPr/>
          </a:p>
        </p:txBody>
      </p:sp>
      <p:sp>
        <p:nvSpPr>
          <p:cNvPr id="223" name="Google Shape;223;p4"/>
          <p:cNvSpPr/>
          <p:nvPr/>
        </p:nvSpPr>
        <p:spPr>
          <a:xfrm>
            <a:off x="2066855" y="2144946"/>
            <a:ext cx="516922" cy="411989"/>
          </a:xfrm>
          <a:prstGeom prst="rect">
            <a:avLst/>
          </a:prstGeom>
          <a:solidFill>
            <a:srgbClr val="FF7F32"/>
          </a:solidFill>
          <a:ln cap="flat" cmpd="sng" w="9525">
            <a:solidFill>
              <a:srgbClr val="D6D6D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s-MX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Impulse</a:t>
            </a:r>
            <a:endParaRPr/>
          </a:p>
        </p:txBody>
      </p:sp>
      <p:sp>
        <p:nvSpPr>
          <p:cNvPr id="224" name="Google Shape;224;p4"/>
          <p:cNvSpPr/>
          <p:nvPr/>
        </p:nvSpPr>
        <p:spPr>
          <a:xfrm>
            <a:off x="2613547" y="2144946"/>
            <a:ext cx="516922" cy="411989"/>
          </a:xfrm>
          <a:prstGeom prst="rect">
            <a:avLst/>
          </a:prstGeom>
          <a:solidFill>
            <a:srgbClr val="FF7F32"/>
          </a:solidFill>
          <a:ln cap="flat" cmpd="sng" w="9525">
            <a:solidFill>
              <a:srgbClr val="D6D6D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s-MX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Food-venience</a:t>
            </a:r>
            <a:endParaRPr/>
          </a:p>
        </p:txBody>
      </p:sp>
      <p:sp>
        <p:nvSpPr>
          <p:cNvPr id="225" name="Google Shape;225;p4"/>
          <p:cNvSpPr/>
          <p:nvPr/>
        </p:nvSpPr>
        <p:spPr>
          <a:xfrm>
            <a:off x="1526648" y="2144946"/>
            <a:ext cx="516922" cy="411989"/>
          </a:xfrm>
          <a:prstGeom prst="rect">
            <a:avLst/>
          </a:prstGeom>
          <a:solidFill>
            <a:srgbClr val="FF7F32"/>
          </a:solidFill>
          <a:ln cap="flat" cmpd="sng" w="9525">
            <a:solidFill>
              <a:srgbClr val="D6D6D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s-MX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Daily replenish.</a:t>
            </a:r>
            <a:endParaRPr/>
          </a:p>
        </p:txBody>
      </p:sp>
      <p:sp>
        <p:nvSpPr>
          <p:cNvPr id="226" name="Google Shape;226;p4"/>
          <p:cNvSpPr/>
          <p:nvPr/>
        </p:nvSpPr>
        <p:spPr>
          <a:xfrm>
            <a:off x="2347122" y="2595250"/>
            <a:ext cx="787902" cy="411989"/>
          </a:xfrm>
          <a:prstGeom prst="rect">
            <a:avLst/>
          </a:prstGeom>
          <a:solidFill>
            <a:srgbClr val="FF7F32"/>
          </a:solidFill>
          <a:ln cap="flat" cmpd="sng" w="9525">
            <a:solidFill>
              <a:srgbClr val="D6D6D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s-MX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Commercial Op. Integr.</a:t>
            </a:r>
            <a:endParaRPr/>
          </a:p>
        </p:txBody>
      </p:sp>
      <p:sp>
        <p:nvSpPr>
          <p:cNvPr id="227" name="Google Shape;227;p4"/>
          <p:cNvSpPr/>
          <p:nvPr/>
        </p:nvSpPr>
        <p:spPr>
          <a:xfrm>
            <a:off x="1525727" y="2595250"/>
            <a:ext cx="781108" cy="411989"/>
          </a:xfrm>
          <a:prstGeom prst="rect">
            <a:avLst/>
          </a:prstGeom>
          <a:solidFill>
            <a:srgbClr val="FF7F32"/>
          </a:solidFill>
          <a:ln cap="flat" cmpd="sng" w="9525">
            <a:solidFill>
              <a:srgbClr val="D6D6D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s-MX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Private Label</a:t>
            </a:r>
            <a:endParaRPr/>
          </a:p>
        </p:txBody>
      </p:sp>
      <p:cxnSp>
        <p:nvCxnSpPr>
          <p:cNvPr id="228" name="Google Shape;228;p4"/>
          <p:cNvCxnSpPr/>
          <p:nvPr/>
        </p:nvCxnSpPr>
        <p:spPr>
          <a:xfrm>
            <a:off x="1482873" y="1568494"/>
            <a:ext cx="0" cy="5021251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p4"/>
          <p:cNvCxnSpPr/>
          <p:nvPr/>
        </p:nvCxnSpPr>
        <p:spPr>
          <a:xfrm>
            <a:off x="4648272" y="1568494"/>
            <a:ext cx="0" cy="5021251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4"/>
          <p:cNvCxnSpPr/>
          <p:nvPr/>
        </p:nvCxnSpPr>
        <p:spPr>
          <a:xfrm>
            <a:off x="5672284" y="1568494"/>
            <a:ext cx="0" cy="5021251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" name="Google Shape;231;p4"/>
          <p:cNvCxnSpPr/>
          <p:nvPr/>
        </p:nvCxnSpPr>
        <p:spPr>
          <a:xfrm>
            <a:off x="6649265" y="1568494"/>
            <a:ext cx="0" cy="5082806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" name="Google Shape;232;p4"/>
          <p:cNvCxnSpPr/>
          <p:nvPr/>
        </p:nvCxnSpPr>
        <p:spPr>
          <a:xfrm>
            <a:off x="7982931" y="1569701"/>
            <a:ext cx="0" cy="5081599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4"/>
          <p:cNvCxnSpPr/>
          <p:nvPr/>
        </p:nvCxnSpPr>
        <p:spPr>
          <a:xfrm>
            <a:off x="10062877" y="1568494"/>
            <a:ext cx="0" cy="5082806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4"/>
          <p:cNvCxnSpPr/>
          <p:nvPr/>
        </p:nvCxnSpPr>
        <p:spPr>
          <a:xfrm>
            <a:off x="10987981" y="1547247"/>
            <a:ext cx="0" cy="4879493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4"/>
          <p:cNvSpPr txBox="1"/>
          <p:nvPr/>
        </p:nvSpPr>
        <p:spPr>
          <a:xfrm>
            <a:off x="346192" y="2111596"/>
            <a:ext cx="1098650" cy="4108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Operate, ensure execution and own results accountability for current BT services (iCash, Recargas, Remesas, etc.)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Set</a:t>
            </a: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0" lang="es-MX" sz="9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and align growth priorities with strategy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Innovate and scale new business avenues (Health, MVNO, Fulfillment)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Ensure integration &amp; functioning in concert with SPIN of digital ecosystem services for OXXO, in particular for Payments</a:t>
            </a:r>
            <a:endParaRPr/>
          </a:p>
        </p:txBody>
      </p:sp>
      <p:sp>
        <p:nvSpPr>
          <p:cNvPr id="236" name="Google Shape;236;p4"/>
          <p:cNvSpPr txBox="1"/>
          <p:nvPr/>
        </p:nvSpPr>
        <p:spPr>
          <a:xfrm>
            <a:off x="3157523" y="2111596"/>
            <a:ext cx="1437177" cy="4078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Create guidelines on pricing, assortment, and store experience for the CVPs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Design the physical and digital customer E2E journey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Be the VOC advocate within the Organization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Provide feedback and continuous improv. influence in process design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Design and manage loyalty programs (points, tiers, rewards)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Own internal (BI) and client analytics products and platforms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Operate and own result and accountability for Retina Media business</a:t>
            </a:r>
            <a:endParaRPr/>
          </a:p>
          <a:p>
            <a:pPr indent="0" lvl="1" marL="24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" name="Google Shape;237;p4"/>
          <p:cNvSpPr txBox="1"/>
          <p:nvPr/>
        </p:nvSpPr>
        <p:spPr>
          <a:xfrm>
            <a:off x="4648272" y="2117753"/>
            <a:ext cx="988820" cy="3431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Oversee store operations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Drive process improvement and initiatives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Lead national transformation projects</a:t>
            </a:r>
            <a:endParaRPr b="0" i="0" sz="9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Translate strategy into actionable operative plans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Ensure execution of new store projects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Guarantee maintenance of store facilities and equipment</a:t>
            </a:r>
            <a:endParaRPr b="0" i="0" sz="9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8" name="Google Shape;238;p4"/>
          <p:cNvSpPr txBox="1"/>
          <p:nvPr/>
        </p:nvSpPr>
        <p:spPr>
          <a:xfrm>
            <a:off x="5719855" y="2111596"/>
            <a:ext cx="887730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Demand Planning and Forecasting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Procurement and Supplier Management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Distribution Center Operations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Distribution Planning and Execution (from DCs to stores)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Operational Enablement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Develop and enable Fresh &amp; Frozen Supply Chain</a:t>
            </a:r>
            <a:endParaRPr b="0" i="0" sz="900" u="none" cap="none" strike="noStrike">
              <a:solidFill>
                <a:srgbClr val="C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p4"/>
          <p:cNvSpPr txBox="1"/>
          <p:nvPr/>
        </p:nvSpPr>
        <p:spPr>
          <a:xfrm>
            <a:off x="6707297" y="2111596"/>
            <a:ext cx="1238681" cy="4616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Orchestrate transformation and E2E digitalization of processes across functions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Own the E2E process pipeline to ensure consistency and seamless process integration across platforms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Assess &amp; challenge capabilities &amp; processes, ensuring quality with a cont. improvement approach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Map maturity stage of each process and set the bar on process quality, bringing and adapting best-in-class practices to OXXO context 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Monitor and analyze operational performance metrics to drive improvements</a:t>
            </a:r>
            <a:endParaRPr/>
          </a:p>
        </p:txBody>
      </p:sp>
      <p:sp>
        <p:nvSpPr>
          <p:cNvPr id="240" name="Google Shape;240;p4"/>
          <p:cNvSpPr txBox="1"/>
          <p:nvPr/>
        </p:nvSpPr>
        <p:spPr>
          <a:xfrm>
            <a:off x="8050836" y="2111596"/>
            <a:ext cx="971000" cy="3801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Manage transforma-tional initiatives governance &amp; prioritization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Challenge initiatives to ensure value, speed, and delivery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Measure and track business initiatives value generation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KPI definition and tracking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Manage Corporate Affairs and Sustainability agendas</a:t>
            </a:r>
            <a:endParaRPr/>
          </a:p>
        </p:txBody>
      </p:sp>
      <p:sp>
        <p:nvSpPr>
          <p:cNvPr id="241" name="Google Shape;241;p4"/>
          <p:cNvSpPr txBox="1"/>
          <p:nvPr/>
        </p:nvSpPr>
        <p:spPr>
          <a:xfrm>
            <a:off x="9045221" y="2111596"/>
            <a:ext cx="987118" cy="475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Deliver budgeting, forecasting, &amp; performance analysis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Execute purchase-to-pay process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Manage order-to-cash cycle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Ensure accurate record-to-report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Enforce controllership &amp; compliance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Support commercial decision-making with financial analysis, business cases, scenario modeling, etc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Manage legal and tax agenda in alignment with P&amp;H</a:t>
            </a:r>
            <a:endParaRPr/>
          </a:p>
        </p:txBody>
      </p:sp>
      <p:sp>
        <p:nvSpPr>
          <p:cNvPr id="242" name="Google Shape;242;p4"/>
          <p:cNvSpPr txBox="1"/>
          <p:nvPr/>
        </p:nvSpPr>
        <p:spPr>
          <a:xfrm>
            <a:off x="11024681" y="2111596"/>
            <a:ext cx="833757" cy="4078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Define company-wide talent and compensation strategy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Lead labor relations and oversee union engagement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Manager payroll, benefits. wellbeing and end-to-end talent processes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Develop organizational capability and culture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3" name="Google Shape;243;p4"/>
          <p:cNvSpPr txBox="1"/>
          <p:nvPr/>
        </p:nvSpPr>
        <p:spPr>
          <a:xfrm>
            <a:off x="1492412" y="3096446"/>
            <a:ext cx="1654100" cy="243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Develop, test and grow the Daily Replenishment format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Strategy and merchandising execution of CVPs</a:t>
            </a:r>
            <a:endParaRPr/>
          </a:p>
          <a:p>
            <a:pPr indent="-10800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7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Daily Replenishment</a:t>
            </a:r>
            <a:endParaRPr/>
          </a:p>
          <a:p>
            <a:pPr indent="-10800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7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Impulse</a:t>
            </a:r>
            <a:endParaRPr/>
          </a:p>
          <a:p>
            <a:pPr indent="-10800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7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Foodvenience 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Private Label strategy and merchandising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Pricing, Promotions, and Assortment end-to-end 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Store segmentation and space (macrolayout) definition and execution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4" name="Google Shape;244;p4"/>
          <p:cNvSpPr/>
          <p:nvPr/>
        </p:nvSpPr>
        <p:spPr>
          <a:xfrm>
            <a:off x="385703" y="954103"/>
            <a:ext cx="173146" cy="15767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5" name="Google Shape;245;p4"/>
          <p:cNvSpPr txBox="1"/>
          <p:nvPr/>
        </p:nvSpPr>
        <p:spPr>
          <a:xfrm>
            <a:off x="558848" y="894442"/>
            <a:ext cx="20250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New strategic focus / role</a:t>
            </a:r>
            <a:endParaRPr/>
          </a:p>
        </p:txBody>
      </p:sp>
      <p:sp>
        <p:nvSpPr>
          <p:cNvPr id="246" name="Google Shape;246;p4"/>
          <p:cNvSpPr/>
          <p:nvPr/>
        </p:nvSpPr>
        <p:spPr>
          <a:xfrm>
            <a:off x="6699115" y="1643231"/>
            <a:ext cx="1222683" cy="449857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rgbClr val="D6D6D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1" i="0" lang="es-MX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Operative Excellence</a:t>
            </a:r>
            <a:endParaRPr/>
          </a:p>
        </p:txBody>
      </p:sp>
      <p:sp>
        <p:nvSpPr>
          <p:cNvPr id="247" name="Google Shape;247;p4"/>
          <p:cNvSpPr txBox="1"/>
          <p:nvPr/>
        </p:nvSpPr>
        <p:spPr>
          <a:xfrm>
            <a:off x="10080503" y="2111596"/>
            <a:ext cx="837817" cy="4078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Ensure solution delivery aligned to business needs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Build and maintain scalable and reliable systems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Ensure quality through testing &amp; validation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Define architecture and standards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Enable digital capabilities across business</a:t>
            </a:r>
            <a:endParaRPr b="0" i="0" sz="900" u="none" cap="none" strike="noStrike">
              <a:solidFill>
                <a:srgbClr val="C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8" name="Google Shape;248;p4"/>
          <p:cNvSpPr/>
          <p:nvPr/>
        </p:nvSpPr>
        <p:spPr>
          <a:xfrm>
            <a:off x="1525727" y="3092061"/>
            <a:ext cx="118260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49" name="Google Shape;249;p4"/>
          <p:cNvCxnSpPr/>
          <p:nvPr/>
        </p:nvCxnSpPr>
        <p:spPr>
          <a:xfrm>
            <a:off x="3173573" y="1568494"/>
            <a:ext cx="0" cy="5021251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p4"/>
          <p:cNvSpPr/>
          <p:nvPr/>
        </p:nvSpPr>
        <p:spPr>
          <a:xfrm>
            <a:off x="330200" y="1249713"/>
            <a:ext cx="11531598" cy="31628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b="1" i="0" lang="es-MX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OXXO MX</a:t>
            </a:r>
            <a:br>
              <a:rPr b="1" i="0" lang="es-MX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CEO</a:t>
            </a:r>
            <a:endParaRPr/>
          </a:p>
        </p:txBody>
      </p:sp>
      <p:sp>
        <p:nvSpPr>
          <p:cNvPr id="251" name="Google Shape;251;p4"/>
          <p:cNvSpPr/>
          <p:nvPr/>
        </p:nvSpPr>
        <p:spPr>
          <a:xfrm>
            <a:off x="3193027" y="2131605"/>
            <a:ext cx="118260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2" name="Google Shape;252;p4"/>
          <p:cNvSpPr/>
          <p:nvPr/>
        </p:nvSpPr>
        <p:spPr>
          <a:xfrm>
            <a:off x="5768041" y="5086240"/>
            <a:ext cx="104018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3" name="Google Shape;253;p4"/>
          <p:cNvSpPr/>
          <p:nvPr/>
        </p:nvSpPr>
        <p:spPr>
          <a:xfrm>
            <a:off x="3185087" y="2830444"/>
            <a:ext cx="118260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4" name="Google Shape;254;p4"/>
          <p:cNvSpPr/>
          <p:nvPr/>
        </p:nvSpPr>
        <p:spPr>
          <a:xfrm>
            <a:off x="357382" y="2119688"/>
            <a:ext cx="118260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5" name="Google Shape;255;p4"/>
          <p:cNvSpPr/>
          <p:nvPr/>
        </p:nvSpPr>
        <p:spPr>
          <a:xfrm>
            <a:off x="354016" y="3295367"/>
            <a:ext cx="118260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4"/>
          <p:cNvSpPr/>
          <p:nvPr/>
        </p:nvSpPr>
        <p:spPr>
          <a:xfrm>
            <a:off x="354016" y="3781235"/>
            <a:ext cx="118260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7" name="Google Shape;257;p4"/>
          <p:cNvSpPr/>
          <p:nvPr/>
        </p:nvSpPr>
        <p:spPr>
          <a:xfrm>
            <a:off x="6713503" y="2930521"/>
            <a:ext cx="118260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8" name="Google Shape;258;p4"/>
          <p:cNvSpPr/>
          <p:nvPr/>
        </p:nvSpPr>
        <p:spPr>
          <a:xfrm>
            <a:off x="6713503" y="2129147"/>
            <a:ext cx="118260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9" name="Google Shape;259;p4"/>
          <p:cNvSpPr/>
          <p:nvPr/>
        </p:nvSpPr>
        <p:spPr>
          <a:xfrm>
            <a:off x="3185087" y="3385577"/>
            <a:ext cx="118260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0" name="Google Shape;260;p4"/>
          <p:cNvSpPr/>
          <p:nvPr/>
        </p:nvSpPr>
        <p:spPr>
          <a:xfrm>
            <a:off x="8071832" y="2133457"/>
            <a:ext cx="118260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1" name="Google Shape;261;p4"/>
          <p:cNvSpPr/>
          <p:nvPr/>
        </p:nvSpPr>
        <p:spPr>
          <a:xfrm>
            <a:off x="8071832" y="2962043"/>
            <a:ext cx="118260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2" name="Google Shape;262;p4"/>
          <p:cNvSpPr/>
          <p:nvPr/>
        </p:nvSpPr>
        <p:spPr>
          <a:xfrm>
            <a:off x="8071832" y="3790629"/>
            <a:ext cx="118260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3" name="Google Shape;263;p4"/>
          <p:cNvSpPr/>
          <p:nvPr/>
        </p:nvSpPr>
        <p:spPr>
          <a:xfrm>
            <a:off x="8071832" y="4492272"/>
            <a:ext cx="118260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4" name="Google Shape;264;p4"/>
          <p:cNvSpPr/>
          <p:nvPr/>
        </p:nvSpPr>
        <p:spPr>
          <a:xfrm>
            <a:off x="358957" y="4681559"/>
            <a:ext cx="118260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5" name="Google Shape;265;p4"/>
          <p:cNvSpPr/>
          <p:nvPr/>
        </p:nvSpPr>
        <p:spPr>
          <a:xfrm>
            <a:off x="6717169" y="3862550"/>
            <a:ext cx="118260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6" name="Google Shape;266;p4"/>
          <p:cNvSpPr/>
          <p:nvPr/>
        </p:nvSpPr>
        <p:spPr>
          <a:xfrm>
            <a:off x="6712398" y="4794579"/>
            <a:ext cx="118260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7" name="Google Shape;267;p4"/>
          <p:cNvSpPr/>
          <p:nvPr/>
        </p:nvSpPr>
        <p:spPr>
          <a:xfrm>
            <a:off x="8067485" y="4925979"/>
            <a:ext cx="118260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8" name="Google Shape;268;p4"/>
          <p:cNvSpPr/>
          <p:nvPr/>
        </p:nvSpPr>
        <p:spPr>
          <a:xfrm>
            <a:off x="9079625" y="4827571"/>
            <a:ext cx="118260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9" name="Google Shape;269;p4"/>
          <p:cNvSpPr/>
          <p:nvPr/>
        </p:nvSpPr>
        <p:spPr>
          <a:xfrm>
            <a:off x="10132539" y="5474034"/>
            <a:ext cx="118260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0" name="Google Shape;270;p4"/>
          <p:cNvSpPr/>
          <p:nvPr/>
        </p:nvSpPr>
        <p:spPr>
          <a:xfrm>
            <a:off x="3193027" y="3817883"/>
            <a:ext cx="118260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1" name="Google Shape;271;p4"/>
          <p:cNvSpPr/>
          <p:nvPr/>
        </p:nvSpPr>
        <p:spPr>
          <a:xfrm>
            <a:off x="3183465" y="4523316"/>
            <a:ext cx="118260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2" name="Google Shape;272;p4"/>
          <p:cNvSpPr/>
          <p:nvPr/>
        </p:nvSpPr>
        <p:spPr>
          <a:xfrm>
            <a:off x="3182347" y="5094002"/>
            <a:ext cx="118260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4"/>
          <p:cNvSpPr/>
          <p:nvPr/>
        </p:nvSpPr>
        <p:spPr>
          <a:xfrm>
            <a:off x="3193027" y="5649135"/>
            <a:ext cx="118260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4" name="Google Shape;274;p4"/>
          <p:cNvSpPr/>
          <p:nvPr/>
        </p:nvSpPr>
        <p:spPr>
          <a:xfrm>
            <a:off x="6745925" y="5998611"/>
            <a:ext cx="118260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5" name="Google Shape;275;p4"/>
          <p:cNvSpPr/>
          <p:nvPr/>
        </p:nvSpPr>
        <p:spPr>
          <a:xfrm>
            <a:off x="9088269" y="6135788"/>
            <a:ext cx="118260" cy="10769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3_Y7LF_169_M1">
  <a:themeElements>
    <a:clrScheme name="Y7LF_169_M1">
      <a:dk1>
        <a:srgbClr val="000000"/>
      </a:dk1>
      <a:lt1>
        <a:srgbClr val="FFFFFF"/>
      </a:lt1>
      <a:dk2>
        <a:srgbClr val="535659"/>
      </a:dk2>
      <a:lt2>
        <a:srgbClr val="E3E3E5"/>
      </a:lt2>
      <a:accent1>
        <a:srgbClr val="862633"/>
      </a:accent1>
      <a:accent2>
        <a:srgbClr val="FF575D"/>
      </a:accent2>
      <a:accent3>
        <a:srgbClr val="DE0230"/>
      </a:accent3>
      <a:accent4>
        <a:srgbClr val="BC7E7D"/>
      </a:accent4>
      <a:accent5>
        <a:srgbClr val="FF7F32"/>
      </a:accent5>
      <a:accent6>
        <a:srgbClr val="7486B2"/>
      </a:accent6>
      <a:hlink>
        <a:srgbClr val="000000"/>
      </a:hlink>
      <a:folHlink>
        <a:srgbClr val="9599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2025-09-04T16:40:50Z</dcterms:created>
  <dc:creator>Garza Padilla José Santiago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3_Y7LF_169_M1:5</vt:lpwstr>
  </property>
  <property fmtid="{D5CDD505-2E9C-101B-9397-08002B2CF9AE}" pid="3" name="ClassificationContentMarkingFooterText">
    <vt:lpwstr>OXXO | Uso Interno</vt:lpwstr>
  </property>
  <property fmtid="{D5CDD505-2E9C-101B-9397-08002B2CF9AE}" pid="4" name="ContentTypeId">
    <vt:lpwstr>0x010100A3DD5B74ED9C3D4095461D6E79182C3A</vt:lpwstr>
  </property>
  <property fmtid="{D5CDD505-2E9C-101B-9397-08002B2CF9AE}" pid="5" name="Order">
    <vt:r8>4300.0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