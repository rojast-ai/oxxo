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7"/>
  </p:notesMasterIdLst>
  <p:sldIdLst>
    <p:sldId id="256" r:id="rId5"/>
    <p:sldId id="270" r:id="rId6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06BA651-C45F-6761-407A-2F04FC31A8AA}" name="Gilberto Morales" initials="GM" userId="S::gilberto.morales@sintec.com::f5d51218-2b7b-4a05-ab1e-4d8174e6a465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AD0AE1-B110-46CE-A0D9-0400E7A49D40}" v="4" dt="2025-06-10T17:25:59.27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80" d="100"/>
          <a:sy n="80" d="100"/>
        </p:scale>
        <p:origin x="808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microsoft.com/office/2016/11/relationships/changesInfo" Target="changesInfos/changesInfo1.xml"/><Relationship Id="rId13" Type="http://schemas.microsoft.com/office/2015/10/relationships/revisionInfo" Target="revisionInfo.xml"/><Relationship Id="rId14" Type="http://schemas.microsoft.com/office/2018/10/relationships/authors" Target="author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 Pastrana Medina" userId="075b1170-c4ec-437d-860e-16d30c1e976b" providerId="ADAL" clId="{E7D94ED1-C6AD-4DD9-A4CF-5A97BD4905BF}"/>
    <pc:docChg chg="undo custSel modSld">
      <pc:chgData name="Andre Pastrana Medina" userId="075b1170-c4ec-437d-860e-16d30c1e976b" providerId="ADAL" clId="{E7D94ED1-C6AD-4DD9-A4CF-5A97BD4905BF}" dt="2025-06-10T17:21:31.939" v="15" actId="20577"/>
      <pc:docMkLst>
        <pc:docMk/>
      </pc:docMkLst>
      <pc:sldChg chg="modSp mod">
        <pc:chgData name="Andre Pastrana Medina" userId="075b1170-c4ec-437d-860e-16d30c1e976b" providerId="ADAL" clId="{E7D94ED1-C6AD-4DD9-A4CF-5A97BD4905BF}" dt="2025-06-10T17:21:31.939" v="15" actId="20577"/>
        <pc:sldMkLst>
          <pc:docMk/>
          <pc:sldMk cId="679105534" sldId="256"/>
        </pc:sldMkLst>
        <pc:spChg chg="mod">
          <ac:chgData name="Andre Pastrana Medina" userId="075b1170-c4ec-437d-860e-16d30c1e976b" providerId="ADAL" clId="{E7D94ED1-C6AD-4DD9-A4CF-5A97BD4905BF}" dt="2025-06-10T17:21:31.939" v="15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E7D94ED1-C6AD-4DD9-A4CF-5A97BD4905BF}" dt="2025-06-10T17:21:30.637" v="12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E7D94ED1-C6AD-4DD9-A4CF-5A97BD4905BF}" dt="2025-06-10T17:21:30.449" v="11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E7D94ED1-C6AD-4DD9-A4CF-5A97BD4905BF}" dt="2025-06-10T17:21:30.056" v="9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E7D94ED1-C6AD-4DD9-A4CF-5A97BD4905BF}" dt="2025-06-10T17:21:29.880" v="8" actId="20577"/>
          <ac:spMkLst>
            <pc:docMk/>
            <pc:sldMk cId="679105534" sldId="256"/>
            <ac:spMk id="9" creationId="{2C2D69A6-DFF2-462D-9933-A6738681F22F}"/>
          </ac:spMkLst>
        </pc:spChg>
      </pc:sldChg>
    </pc:docChg>
  </pc:docChgLst>
  <pc:docChgLst>
    <pc:chgData name="Andre Pastrana Medina" userId="075b1170-c4ec-437d-860e-16d30c1e976b" providerId="ADAL" clId="{14AD0AE1-B110-46CE-A0D9-0400E7A49D40}"/>
    <pc:docChg chg="undo custSel modSld">
      <pc:chgData name="Andre Pastrana Medina" userId="075b1170-c4ec-437d-860e-16d30c1e976b" providerId="ADAL" clId="{14AD0AE1-B110-46CE-A0D9-0400E7A49D40}" dt="2025-06-10T17:26:08.658" v="205" actId="122"/>
      <pc:docMkLst>
        <pc:docMk/>
      </pc:docMkLst>
      <pc:sldChg chg="addSp delSp modSp mod">
        <pc:chgData name="Andre Pastrana Medina" userId="075b1170-c4ec-437d-860e-16d30c1e976b" providerId="ADAL" clId="{14AD0AE1-B110-46CE-A0D9-0400E7A49D40}" dt="2025-06-10T17:26:08.658" v="205" actId="122"/>
        <pc:sldMkLst>
          <pc:docMk/>
          <pc:sldMk cId="679105534" sldId="256"/>
        </pc:sldMkLst>
        <pc:spChg chg="mod">
          <ac:chgData name="Andre Pastrana Medina" userId="075b1170-c4ec-437d-860e-16d30c1e976b" providerId="ADAL" clId="{14AD0AE1-B110-46CE-A0D9-0400E7A49D40}" dt="2025-06-10T17:22:38.725" v="33" actId="20577"/>
          <ac:spMkLst>
            <pc:docMk/>
            <pc:sldMk cId="679105534" sldId="256"/>
            <ac:spMk id="5" creationId="{E3245FAE-0440-417C-89AD-5D987BA90110}"/>
          </ac:spMkLst>
        </pc:spChg>
        <pc:spChg chg="mod">
          <ac:chgData name="Andre Pastrana Medina" userId="075b1170-c4ec-437d-860e-16d30c1e976b" providerId="ADAL" clId="{14AD0AE1-B110-46CE-A0D9-0400E7A49D40}" dt="2025-06-10T17:22:41.238" v="34" actId="20577"/>
          <ac:spMkLst>
            <pc:docMk/>
            <pc:sldMk cId="679105534" sldId="256"/>
            <ac:spMk id="6" creationId="{94BBF896-9BEA-4AC9-8A7E-3FA108F11265}"/>
          </ac:spMkLst>
        </pc:spChg>
        <pc:spChg chg="mod">
          <ac:chgData name="Andre Pastrana Medina" userId="075b1170-c4ec-437d-860e-16d30c1e976b" providerId="ADAL" clId="{14AD0AE1-B110-46CE-A0D9-0400E7A49D40}" dt="2025-06-10T17:22:44.444" v="36" actId="20577"/>
          <ac:spMkLst>
            <pc:docMk/>
            <pc:sldMk cId="679105534" sldId="256"/>
            <ac:spMk id="7" creationId="{0B449C0C-A873-4B2A-A592-C971D47DCF09}"/>
          </ac:spMkLst>
        </pc:spChg>
        <pc:spChg chg="mod">
          <ac:chgData name="Andre Pastrana Medina" userId="075b1170-c4ec-437d-860e-16d30c1e976b" providerId="ADAL" clId="{14AD0AE1-B110-46CE-A0D9-0400E7A49D40}" dt="2025-06-10T17:22:59.546" v="48" actId="20577"/>
          <ac:spMkLst>
            <pc:docMk/>
            <pc:sldMk cId="679105534" sldId="256"/>
            <ac:spMk id="8" creationId="{415D17D2-44E5-437D-85A9-8663E6915F24}"/>
          </ac:spMkLst>
        </pc:spChg>
        <pc:spChg chg="mod">
          <ac:chgData name="Andre Pastrana Medina" userId="075b1170-c4ec-437d-860e-16d30c1e976b" providerId="ADAL" clId="{14AD0AE1-B110-46CE-A0D9-0400E7A49D40}" dt="2025-06-10T17:23:03.268" v="52" actId="20577"/>
          <ac:spMkLst>
            <pc:docMk/>
            <pc:sldMk cId="679105534" sldId="256"/>
            <ac:spMk id="9" creationId="{2C2D69A6-DFF2-462D-9933-A6738681F22F}"/>
          </ac:spMkLst>
        </pc:spChg>
        <pc:spChg chg="del">
          <ac:chgData name="Andre Pastrana Medina" userId="075b1170-c4ec-437d-860e-16d30c1e976b" providerId="ADAL" clId="{14AD0AE1-B110-46CE-A0D9-0400E7A49D40}" dt="2025-06-10T17:23:18.922" v="59" actId="478"/>
          <ac:spMkLst>
            <pc:docMk/>
            <pc:sldMk cId="679105534" sldId="256"/>
            <ac:spMk id="46" creationId="{C031CCD6-4CFC-FB17-0D35-61912C8E2534}"/>
          </ac:spMkLst>
        </pc:spChg>
        <pc:spChg chg="add mod ord">
          <ac:chgData name="Andre Pastrana Medina" userId="075b1170-c4ec-437d-860e-16d30c1e976b" providerId="ADAL" clId="{14AD0AE1-B110-46CE-A0D9-0400E7A49D40}" dt="2025-06-10T17:25:41.943" v="171" actId="167"/>
          <ac:spMkLst>
            <pc:docMk/>
            <pc:sldMk cId="679105534" sldId="256"/>
            <ac:spMk id="47" creationId="{AA692062-D8DD-BC82-359B-CCC7818A691B}"/>
          </ac:spMkLst>
        </pc:spChg>
        <pc:spChg chg="del">
          <ac:chgData name="Andre Pastrana Medina" userId="075b1170-c4ec-437d-860e-16d30c1e976b" providerId="ADAL" clId="{14AD0AE1-B110-46CE-A0D9-0400E7A49D40}" dt="2025-06-10T17:23:09.444" v="53" actId="478"/>
          <ac:spMkLst>
            <pc:docMk/>
            <pc:sldMk cId="679105534" sldId="256"/>
            <ac:spMk id="48" creationId="{8D873F80-2E12-F52D-1500-9275A85CFF9C}"/>
          </ac:spMkLst>
        </pc:spChg>
        <pc:spChg chg="del mod">
          <ac:chgData name="Andre Pastrana Medina" userId="075b1170-c4ec-437d-860e-16d30c1e976b" providerId="ADAL" clId="{14AD0AE1-B110-46CE-A0D9-0400E7A49D40}" dt="2025-06-10T17:23:12.099" v="56" actId="478"/>
          <ac:spMkLst>
            <pc:docMk/>
            <pc:sldMk cId="679105534" sldId="256"/>
            <ac:spMk id="50" creationId="{1DFD0950-FF0D-29FF-7409-54CBBC8D65E1}"/>
          </ac:spMkLst>
        </pc:spChg>
        <pc:spChg chg="del">
          <ac:chgData name="Andre Pastrana Medina" userId="075b1170-c4ec-437d-860e-16d30c1e976b" providerId="ADAL" clId="{14AD0AE1-B110-46CE-A0D9-0400E7A49D40}" dt="2025-06-10T17:23:15.340" v="58" actId="478"/>
          <ac:spMkLst>
            <pc:docMk/>
            <pc:sldMk cId="679105534" sldId="256"/>
            <ac:spMk id="51" creationId="{CDDF9C12-0A20-F278-639D-853EA6FCC4F2}"/>
          </ac:spMkLst>
        </pc:spChg>
        <pc:spChg chg="del">
          <ac:chgData name="Andre Pastrana Medina" userId="075b1170-c4ec-437d-860e-16d30c1e976b" providerId="ADAL" clId="{14AD0AE1-B110-46CE-A0D9-0400E7A49D40}" dt="2025-06-10T17:23:13.768" v="57" actId="478"/>
          <ac:spMkLst>
            <pc:docMk/>
            <pc:sldMk cId="679105534" sldId="256"/>
            <ac:spMk id="52" creationId="{D4EC6017-9419-37D8-C1AC-BE60AB457C66}"/>
          </ac:spMkLst>
        </pc:spChg>
        <pc:spChg chg="add mod">
          <ac:chgData name="Andre Pastrana Medina" userId="075b1170-c4ec-437d-860e-16d30c1e976b" providerId="ADAL" clId="{14AD0AE1-B110-46CE-A0D9-0400E7A49D40}" dt="2025-06-10T17:26:08.658" v="205" actId="122"/>
          <ac:spMkLst>
            <pc:docMk/>
            <pc:sldMk cId="679105534" sldId="256"/>
            <ac:spMk id="54" creationId="{F50D576C-E788-BDA9-63E3-260B788A03DB}"/>
          </ac:spMkLst>
        </pc:spChg>
        <pc:picChg chg="del">
          <ac:chgData name="Andre Pastrana Medina" userId="075b1170-c4ec-437d-860e-16d30c1e976b" providerId="ADAL" clId="{14AD0AE1-B110-46CE-A0D9-0400E7A49D40}" dt="2025-06-10T17:25:53.523" v="175" actId="478"/>
          <ac:picMkLst>
            <pc:docMk/>
            <pc:sldMk cId="679105534" sldId="256"/>
            <ac:picMk id="3" creationId="{9A953CFC-66BF-451F-96E5-E08A182762BF}"/>
          </ac:picMkLst>
        </pc:picChg>
      </pc:sldChg>
      <pc:sldChg chg="addSp delSp modSp mod">
        <pc:chgData name="Andre Pastrana Medina" userId="075b1170-c4ec-437d-860e-16d30c1e976b" providerId="ADAL" clId="{14AD0AE1-B110-46CE-A0D9-0400E7A49D40}" dt="2025-06-10T17:25:51.730" v="174" actId="478"/>
        <pc:sldMkLst>
          <pc:docMk/>
          <pc:sldMk cId="1530523345" sldId="270"/>
        </pc:sldMkLst>
        <pc:spChg chg="mod">
          <ac:chgData name="Andre Pastrana Medina" userId="075b1170-c4ec-437d-860e-16d30c1e976b" providerId="ADAL" clId="{14AD0AE1-B110-46CE-A0D9-0400E7A49D40}" dt="2025-06-10T17:25:08.536" v="165" actId="5793"/>
          <ac:spMkLst>
            <pc:docMk/>
            <pc:sldMk cId="1530523345" sldId="270"/>
            <ac:spMk id="2" creationId="{64FB9968-904F-456C-99C4-7BE14D39E913}"/>
          </ac:spMkLst>
        </pc:spChg>
        <pc:spChg chg="mod">
          <ac:chgData name="Andre Pastrana Medina" userId="075b1170-c4ec-437d-860e-16d30c1e976b" providerId="ADAL" clId="{14AD0AE1-B110-46CE-A0D9-0400E7A49D40}" dt="2025-06-10T17:24:49.996" v="148" actId="20577"/>
          <ac:spMkLst>
            <pc:docMk/>
            <pc:sldMk cId="1530523345" sldId="270"/>
            <ac:spMk id="3" creationId="{DA15F688-1F35-45B1-A68C-41935C35F8B0}"/>
          </ac:spMkLst>
        </pc:spChg>
        <pc:spChg chg="add mod ord">
          <ac:chgData name="Andre Pastrana Medina" userId="075b1170-c4ec-437d-860e-16d30c1e976b" providerId="ADAL" clId="{14AD0AE1-B110-46CE-A0D9-0400E7A49D40}" dt="2025-06-10T17:25:48.443" v="173" actId="167"/>
          <ac:spMkLst>
            <pc:docMk/>
            <pc:sldMk cId="1530523345" sldId="270"/>
            <ac:spMk id="4" creationId="{34482B10-B1A2-5628-FA7B-1839E80B5DFC}"/>
          </ac:spMkLst>
        </pc:spChg>
        <pc:spChg chg="mod">
          <ac:chgData name="Andre Pastrana Medina" userId="075b1170-c4ec-437d-860e-16d30c1e976b" providerId="ADAL" clId="{14AD0AE1-B110-46CE-A0D9-0400E7A49D40}" dt="2025-06-10T17:24:55.499" v="156" actId="20577"/>
          <ac:spMkLst>
            <pc:docMk/>
            <pc:sldMk cId="1530523345" sldId="270"/>
            <ac:spMk id="12" creationId="{1D756498-9794-42F0-B5EF-4A13E5D07DC5}"/>
          </ac:spMkLst>
        </pc:spChg>
        <pc:spChg chg="mod">
          <ac:chgData name="Andre Pastrana Medina" userId="075b1170-c4ec-437d-860e-16d30c1e976b" providerId="ADAL" clId="{14AD0AE1-B110-46CE-A0D9-0400E7A49D40}" dt="2025-06-10T17:23:37.914" v="65" actId="20577"/>
          <ac:spMkLst>
            <pc:docMk/>
            <pc:sldMk cId="1530523345" sldId="270"/>
            <ac:spMk id="14" creationId="{6EEB1EA8-A644-4337-AAC7-115BC1895F44}"/>
          </ac:spMkLst>
        </pc:spChg>
        <pc:graphicFrameChg chg="modGraphic">
          <ac:chgData name="Andre Pastrana Medina" userId="075b1170-c4ec-437d-860e-16d30c1e976b" providerId="ADAL" clId="{14AD0AE1-B110-46CE-A0D9-0400E7A49D40}" dt="2025-06-10T17:24:46.240" v="147" actId="20577"/>
          <ac:graphicFrameMkLst>
            <pc:docMk/>
            <pc:sldMk cId="1530523345" sldId="270"/>
            <ac:graphicFrameMk id="22" creationId="{EF6C9303-C9C7-4800-BB1F-62587661A828}"/>
          </ac:graphicFrameMkLst>
        </pc:graphicFrameChg>
        <pc:picChg chg="del">
          <ac:chgData name="Andre Pastrana Medina" userId="075b1170-c4ec-437d-860e-16d30c1e976b" providerId="ADAL" clId="{14AD0AE1-B110-46CE-A0D9-0400E7A49D40}" dt="2025-06-10T17:25:51.730" v="174" actId="478"/>
          <ac:picMkLst>
            <pc:docMk/>
            <pc:sldMk cId="1530523345" sldId="270"/>
            <ac:picMk id="13" creationId="{E2663BB0-0439-476E-B299-EA97ACE97059}"/>
          </ac:picMkLst>
        </pc:pic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303B12-F8C2-43C2-8CA3-E417E0E92477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F449FC8-85EC-42A4-9422-9726C45212A8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8637558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endParaRPr lang="es-MX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5A36E3-0F32-4CDF-BBED-32E550B3028C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643608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MX"/>
              <a:t>Modificada 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0AC6A2-8D51-4349-96A8-60576A5CA0ED}" type="slidenum">
              <a:rPr kumimoji="0" lang="es-MX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s-MX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68388414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1741301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689255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31548679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5715300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63691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290186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9733351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0588266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24446450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1111998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</p:spTree>
    <p:extLst>
      <p:ext uri="{BB962C8B-B14F-4D97-AF65-F5344CB8AC3E}">
        <p14:creationId xmlns:p14="http://schemas.microsoft.com/office/powerpoint/2010/main" val="1726175356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EF98A7-0B55-45A0-A3A9-A9E2A6382299}" type="datetimeFigureOut">
              <a:rPr lang="es-MX" smtClean="0"/>
              <a:t>10/06/2025</a:t>
            </a:fld>
            <a:endParaRPr lang="es-MX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BE00FE-B9B1-4D24-B0EA-AFC5CEB9F7FA}" type="slidenum">
              <a:rPr lang="es-MX" smtClean="0"/>
              <a:t>‹Nº›</a:t>
            </a:fld>
            <a:endParaRPr lang="es-MX"/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E92EBB51-5501-2B38-C087-FEF269605EDF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4059238" y="6642100"/>
            <a:ext cx="1054100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s-MX" sz="1000">
                <a:solidFill>
                  <a:srgbClr val="000000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OXXO | Uso Interno</a:t>
            </a:r>
          </a:p>
        </p:txBody>
      </p:sp>
    </p:spTree>
    <p:extLst>
      <p:ext uri="{BB962C8B-B14F-4D97-AF65-F5344CB8AC3E}">
        <p14:creationId xmlns:p14="http://schemas.microsoft.com/office/powerpoint/2010/main" val="20579701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Rectángulo 46">
            <a:extLst>
              <a:ext uri="{FF2B5EF4-FFF2-40B4-BE49-F238E27FC236}">
                <a16:creationId xmlns:a16="http://schemas.microsoft.com/office/drawing/2014/main" id="{AA692062-D8DD-BC82-359B-CCC7818A691B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4" name="Arrow: Pentagon 3">
            <a:extLst>
              <a:ext uri="{FF2B5EF4-FFF2-40B4-BE49-F238E27FC236}">
                <a16:creationId xmlns:a16="http://schemas.microsoft.com/office/drawing/2014/main" id="{B0941E57-8524-442D-AA1E-71E27E8D8793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Title 2">
            <a:extLst>
              <a:ext uri="{FF2B5EF4-FFF2-40B4-BE49-F238E27FC236}">
                <a16:creationId xmlns:a16="http://schemas.microsoft.com/office/drawing/2014/main" id="{E3245FAE-0440-417C-89AD-5D987BA90110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Comercial Dispersión Efectivo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Comercial Servicios Financieros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  <p:sp>
        <p:nvSpPr>
          <p:cNvPr id="6" name="Content Placeholder 4">
            <a:extLst>
              <a:ext uri="{FF2B5EF4-FFF2-40B4-BE49-F238E27FC236}">
                <a16:creationId xmlns:a16="http://schemas.microsoft.com/office/drawing/2014/main" id="{94BBF896-9BEA-4AC9-8A7E-3FA108F11265}"/>
              </a:ext>
            </a:extLst>
          </p:cNvPr>
          <p:cNvSpPr txBox="1">
            <a:spLocks/>
          </p:cNvSpPr>
          <p:nvPr/>
        </p:nvSpPr>
        <p:spPr>
          <a:xfrm>
            <a:off x="74103" y="969028"/>
            <a:ext cx="7186069" cy="804013"/>
          </a:xfrm>
          <a:prstGeom prst="rect">
            <a:avLst/>
          </a:prstGeom>
          <a:ln w="6350">
            <a:solidFill>
              <a:srgbClr val="990021"/>
            </a:solidFill>
          </a:ln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Propósito del Puesto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s-MX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Gestionar y desarrollar el negocio de dispersión de efectivo, asegurando el crecimiento comercial del portafolio, la rentabilidad del servicio y la correcta ejecución operativa, fortaleciendo las relaciones con socios estratégicos y maximizando el valor para clientes, tiendas y el negocio.</a:t>
            </a: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0B449C0C-A873-4B2A-A592-C971D47DCF09}"/>
              </a:ext>
            </a:extLst>
          </p:cNvPr>
          <p:cNvSpPr txBox="1">
            <a:spLocks/>
          </p:cNvSpPr>
          <p:nvPr/>
        </p:nvSpPr>
        <p:spPr bwMode="auto">
          <a:xfrm>
            <a:off x="74102" y="1823416"/>
            <a:ext cx="7191449" cy="341885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Responsabilidades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Gestionar la estrategia comercial del servicio de dispersión de efectivo, asegurando crecimiento de volumen, margen y adopción del servicio.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Desarrollar y mantener relaciones con socios estratégicos de dispersión, negociando condiciones comerciales competitivas y modelos de colaboración sostenibles.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Dar seguimiento a KPIs comerciales y financieros del servicio de dispersión, proponiendo iniciativas de mejora para cumplir los objetivos del área.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Coordinar con TI y Operaciones la correcta ejecución operativa del servicio en tienda, resolviendo incidencias y mejorando procesos.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Identificar oportunidades de crecimiento en el mercado de dispersión de efectivo, evaluando nuevos segmentos, socios y modalidades de servicio.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+mj-lt"/>
              <a:buAutoNum type="arabicPeriod"/>
              <a:tabLst/>
              <a:defRPr/>
            </a:pP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Asegurar el cumplimiento regulatorio y de riesgos en todas las operaciones de dispersión, coordinando con Compliance y Legal.</a:t>
            </a: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415D17D2-44E5-437D-85A9-8663E6915F24}"/>
              </a:ext>
            </a:extLst>
          </p:cNvPr>
          <p:cNvSpPr txBox="1">
            <a:spLocks/>
          </p:cNvSpPr>
          <p:nvPr/>
        </p:nvSpPr>
        <p:spPr bwMode="auto">
          <a:xfrm>
            <a:off x="74103" y="5272810"/>
            <a:ext cx="44407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Decisiones Relevantes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Definir estrategias comerciales y de negociación con socios del servicio de dispersión de efectivo.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Priorizar el desarrollo de nuevas oportunidades de negocio conforme a rentabilidad e impacto estratégico.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Content Placeholder 4">
            <a:extLst>
              <a:ext uri="{FF2B5EF4-FFF2-40B4-BE49-F238E27FC236}">
                <a16:creationId xmlns:a16="http://schemas.microsoft.com/office/drawing/2014/main" id="{2C2D69A6-DFF2-462D-9933-A6738681F22F}"/>
              </a:ext>
            </a:extLst>
          </p:cNvPr>
          <p:cNvSpPr txBox="1">
            <a:spLocks/>
          </p:cNvSpPr>
          <p:nvPr/>
        </p:nvSpPr>
        <p:spPr bwMode="auto">
          <a:xfrm>
            <a:off x="4619672" y="5272810"/>
            <a:ext cx="4428000" cy="1547090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Principales Retos del Puesto </a:t>
            </a: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Crecer el volumen de dispersión de efectivo en un entorno de creciente digitalización de pagos y alta competencia.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  <a:p>
            <a:pPr marL="174625" marR="0" lvl="0" indent="-174625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Wingdings" panose="05000000000000000000" pitchFamily="2" charset="2"/>
              <a:buChar char="§"/>
              <a:tabLst/>
              <a:defRPr/>
            </a:pPr>
            <a:r>
              <a:rPr lang="es-MX" sz="900" dirty="0" b="0">
                <a:solidFill>
                  <a:prstClr val="black"/>
                </a:solidFill>
                <a:latin typeface="Calibri Light" panose="020F0302020204030204"/>
              </a:rPr>
              <a:t>Gestionar los riesgos regulatorios y operativos del servicio cumpliendo estrictamente con la normativa aplicable.</a:t>
            </a:r>
            <a:endParaRPr kumimoji="0" lang="es-MX" sz="1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ＭＳ Ｐゴシック" charset="0"/>
              <a:cs typeface="Arial"/>
            </a:endParaRPr>
          </a:p>
        </p:txBody>
      </p:sp>
      <p:grpSp>
        <p:nvGrpSpPr>
          <p:cNvPr id="10" name="Grupo 12">
            <a:extLst>
              <a:ext uri="{FF2B5EF4-FFF2-40B4-BE49-F238E27FC236}">
                <a16:creationId xmlns:a16="http://schemas.microsoft.com/office/drawing/2014/main" id="{A746893C-AF94-48A8-8883-58802F3E1DFD}"/>
              </a:ext>
            </a:extLst>
          </p:cNvPr>
          <p:cNvGrpSpPr/>
          <p:nvPr/>
        </p:nvGrpSpPr>
        <p:grpSpPr>
          <a:xfrm>
            <a:off x="7332180" y="969028"/>
            <a:ext cx="1728192" cy="1717735"/>
            <a:chOff x="7319480" y="969028"/>
            <a:chExt cx="1728192" cy="1717735"/>
          </a:xfrm>
        </p:grpSpPr>
        <p:sp>
          <p:nvSpPr>
            <p:cNvPr id="11" name="39 Rectángulo">
              <a:extLst>
                <a:ext uri="{FF2B5EF4-FFF2-40B4-BE49-F238E27FC236}">
                  <a16:creationId xmlns:a16="http://schemas.microsoft.com/office/drawing/2014/main" id="{DC61830D-58DD-4F58-9ED9-8C6149D2C69E}"/>
                </a:ext>
              </a:extLst>
            </p:cNvPr>
            <p:cNvSpPr/>
            <p:nvPr/>
          </p:nvSpPr>
          <p:spPr>
            <a:xfrm>
              <a:off x="7319480" y="969028"/>
              <a:ext cx="1728192" cy="1717735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" name="1 CuadroTexto">
              <a:extLst>
                <a:ext uri="{FF2B5EF4-FFF2-40B4-BE49-F238E27FC236}">
                  <a16:creationId xmlns:a16="http://schemas.microsoft.com/office/drawing/2014/main" id="{360DED1C-B22A-4096-93CB-0902A3A44024}"/>
                </a:ext>
              </a:extLst>
            </p:cNvPr>
            <p:cNvSpPr txBox="1"/>
            <p:nvPr/>
          </p:nvSpPr>
          <p:spPr>
            <a:xfrm>
              <a:off x="7319480" y="969028"/>
              <a:ext cx="1728192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Herramientas Puesto:</a:t>
              </a:r>
            </a:p>
          </p:txBody>
        </p:sp>
      </p:grpSp>
      <p:pic>
        <p:nvPicPr>
          <p:cNvPr id="13" name="Picture 6" descr="https://d30y9cdsu7xlg0.cloudfront.net/png/1999-200.png">
            <a:extLst>
              <a:ext uri="{FF2B5EF4-FFF2-40B4-BE49-F238E27FC236}">
                <a16:creationId xmlns:a16="http://schemas.microsoft.com/office/drawing/2014/main" id="{AA179792-2E49-4795-A057-41AA17D34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06892" y="1248360"/>
            <a:ext cx="245644" cy="2456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8" descr="https://d30y9cdsu7xlg0.cloudfront.net/png/41085-200.png">
            <a:extLst>
              <a:ext uri="{FF2B5EF4-FFF2-40B4-BE49-F238E27FC236}">
                <a16:creationId xmlns:a16="http://schemas.microsoft.com/office/drawing/2014/main" id="{E73FE279-A4BB-496B-8A3A-BDDDEA02388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993705"/>
            <a:ext cx="175626" cy="1756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4" descr="https://d30y9cdsu7xlg0.cloudfront.net/png/1335-200.png">
            <a:extLst>
              <a:ext uri="{FF2B5EF4-FFF2-40B4-BE49-F238E27FC236}">
                <a16:creationId xmlns:a16="http://schemas.microsoft.com/office/drawing/2014/main" id="{8EB642A7-702A-4DE1-AED8-64A0E44614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729358"/>
            <a:ext cx="262955" cy="2629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12" descr="https://d30y9cdsu7xlg0.cloudfront.net/png/131938-200.png">
            <a:extLst>
              <a:ext uri="{FF2B5EF4-FFF2-40B4-BE49-F238E27FC236}">
                <a16:creationId xmlns:a16="http://schemas.microsoft.com/office/drawing/2014/main" id="{F112B20D-AF2D-4403-A36A-50CECE79CFC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12360" y="1483752"/>
            <a:ext cx="235520" cy="235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7" name="3 Rectángulo">
            <a:extLst>
              <a:ext uri="{FF2B5EF4-FFF2-40B4-BE49-F238E27FC236}">
                <a16:creationId xmlns:a16="http://schemas.microsoft.com/office/drawing/2014/main" id="{22487BD1-424B-4561-9543-36490BD469B9}"/>
              </a:ext>
            </a:extLst>
          </p:cNvPr>
          <p:cNvSpPr/>
          <p:nvPr/>
        </p:nvSpPr>
        <p:spPr>
          <a:xfrm>
            <a:off x="7459294" y="1300701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18" name="15 CuadroTexto">
            <a:extLst>
              <a:ext uri="{FF2B5EF4-FFF2-40B4-BE49-F238E27FC236}">
                <a16:creationId xmlns:a16="http://schemas.microsoft.com/office/drawing/2014/main" id="{2A1643D8-3B1E-43E4-809B-4F3F8C67E082}"/>
              </a:ext>
            </a:extLst>
          </p:cNvPr>
          <p:cNvSpPr txBox="1"/>
          <p:nvPr/>
        </p:nvSpPr>
        <p:spPr>
          <a:xfrm>
            <a:off x="8065788" y="124807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Laptop</a:t>
            </a:r>
          </a:p>
        </p:txBody>
      </p:sp>
      <p:sp>
        <p:nvSpPr>
          <p:cNvPr id="19" name="16 CuadroTexto">
            <a:extLst>
              <a:ext uri="{FF2B5EF4-FFF2-40B4-BE49-F238E27FC236}">
                <a16:creationId xmlns:a16="http://schemas.microsoft.com/office/drawing/2014/main" id="{5B3588BA-225C-4B8B-A340-C767A6A44AC8}"/>
              </a:ext>
            </a:extLst>
          </p:cNvPr>
          <p:cNvSpPr txBox="1"/>
          <p:nvPr/>
        </p:nvSpPr>
        <p:spPr>
          <a:xfrm>
            <a:off x="8065788" y="1478402"/>
            <a:ext cx="75468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Escritorio</a:t>
            </a:r>
          </a:p>
        </p:txBody>
      </p:sp>
      <p:sp>
        <p:nvSpPr>
          <p:cNvPr id="20" name="17 CuadroTexto">
            <a:extLst>
              <a:ext uri="{FF2B5EF4-FFF2-40B4-BE49-F238E27FC236}">
                <a16:creationId xmlns:a16="http://schemas.microsoft.com/office/drawing/2014/main" id="{763B8576-89EC-4602-9301-D147041A94DC}"/>
              </a:ext>
            </a:extLst>
          </p:cNvPr>
          <p:cNvSpPr txBox="1"/>
          <p:nvPr/>
        </p:nvSpPr>
        <p:spPr>
          <a:xfrm>
            <a:off x="8065788" y="1737725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</a:t>
            </a:r>
          </a:p>
        </p:txBody>
      </p:sp>
      <p:sp>
        <p:nvSpPr>
          <p:cNvPr id="21" name="18 CuadroTexto">
            <a:extLst>
              <a:ext uri="{FF2B5EF4-FFF2-40B4-BE49-F238E27FC236}">
                <a16:creationId xmlns:a16="http://schemas.microsoft.com/office/drawing/2014/main" id="{629AEC15-3A8A-435C-B3CB-1B95EB5DB6F0}"/>
              </a:ext>
            </a:extLst>
          </p:cNvPr>
          <p:cNvSpPr txBox="1"/>
          <p:nvPr/>
        </p:nvSpPr>
        <p:spPr>
          <a:xfrm>
            <a:off x="8065788" y="1958408"/>
            <a:ext cx="78819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Celular </a:t>
            </a:r>
          </a:p>
        </p:txBody>
      </p:sp>
      <p:sp>
        <p:nvSpPr>
          <p:cNvPr id="22" name="31 Rectángulo">
            <a:extLst>
              <a:ext uri="{FF2B5EF4-FFF2-40B4-BE49-F238E27FC236}">
                <a16:creationId xmlns:a16="http://schemas.microsoft.com/office/drawing/2014/main" id="{040F413D-4D4F-471F-879D-45417E885567}"/>
              </a:ext>
            </a:extLst>
          </p:cNvPr>
          <p:cNvSpPr/>
          <p:nvPr/>
        </p:nvSpPr>
        <p:spPr>
          <a:xfrm>
            <a:off x="742204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3" name="33 CuadroTexto">
            <a:extLst>
              <a:ext uri="{FF2B5EF4-FFF2-40B4-BE49-F238E27FC236}">
                <a16:creationId xmlns:a16="http://schemas.microsoft.com/office/drawing/2014/main" id="{6E1764D7-956B-4836-A22C-EC23DB86CB9E}"/>
              </a:ext>
            </a:extLst>
          </p:cNvPr>
          <p:cNvSpPr txBox="1"/>
          <p:nvPr/>
        </p:nvSpPr>
        <p:spPr>
          <a:xfrm>
            <a:off x="7622365" y="3060110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VPN</a:t>
            </a:r>
          </a:p>
        </p:txBody>
      </p:sp>
      <p:sp>
        <p:nvSpPr>
          <p:cNvPr id="24" name="34 CuadroTexto">
            <a:extLst>
              <a:ext uri="{FF2B5EF4-FFF2-40B4-BE49-F238E27FC236}">
                <a16:creationId xmlns:a16="http://schemas.microsoft.com/office/drawing/2014/main" id="{D2193E3B-4006-48B8-BD5B-B3FE716B9285}"/>
              </a:ext>
            </a:extLst>
          </p:cNvPr>
          <p:cNvSpPr txBox="1"/>
          <p:nvPr/>
        </p:nvSpPr>
        <p:spPr>
          <a:xfrm>
            <a:off x="8388424" y="306011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Internet </a:t>
            </a:r>
          </a:p>
        </p:txBody>
      </p:sp>
      <p:sp>
        <p:nvSpPr>
          <p:cNvPr id="25" name="35 Rectángulo">
            <a:extLst>
              <a:ext uri="{FF2B5EF4-FFF2-40B4-BE49-F238E27FC236}">
                <a16:creationId xmlns:a16="http://schemas.microsoft.com/office/drawing/2014/main" id="{70E0DB33-1CFC-4153-B0B7-55BE4791DD08}"/>
              </a:ext>
            </a:extLst>
          </p:cNvPr>
          <p:cNvSpPr/>
          <p:nvPr/>
        </p:nvSpPr>
        <p:spPr>
          <a:xfrm>
            <a:off x="7422705" y="3360358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6" name="36 CuadroTexto">
            <a:extLst>
              <a:ext uri="{FF2B5EF4-FFF2-40B4-BE49-F238E27FC236}">
                <a16:creationId xmlns:a16="http://schemas.microsoft.com/office/drawing/2014/main" id="{3299802D-7DC6-4F87-AB01-5236D5AAA15C}"/>
              </a:ext>
            </a:extLst>
          </p:cNvPr>
          <p:cNvSpPr txBox="1"/>
          <p:nvPr/>
        </p:nvSpPr>
        <p:spPr>
          <a:xfrm>
            <a:off x="7622365" y="3301596"/>
            <a:ext cx="45685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BI</a:t>
            </a:r>
          </a:p>
        </p:txBody>
      </p:sp>
      <p:sp>
        <p:nvSpPr>
          <p:cNvPr id="27" name="38 CuadroTexto">
            <a:extLst>
              <a:ext uri="{FF2B5EF4-FFF2-40B4-BE49-F238E27FC236}">
                <a16:creationId xmlns:a16="http://schemas.microsoft.com/office/drawing/2014/main" id="{6CB3B794-8194-4085-BC5B-EA6EC0E1CB5D}"/>
              </a:ext>
            </a:extLst>
          </p:cNvPr>
          <p:cNvSpPr txBox="1"/>
          <p:nvPr/>
        </p:nvSpPr>
        <p:spPr>
          <a:xfrm>
            <a:off x="8388424" y="3305090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SAP</a:t>
            </a:r>
          </a:p>
        </p:txBody>
      </p:sp>
      <p:sp>
        <p:nvSpPr>
          <p:cNvPr id="28" name="40 Rectángulo">
            <a:extLst>
              <a:ext uri="{FF2B5EF4-FFF2-40B4-BE49-F238E27FC236}">
                <a16:creationId xmlns:a16="http://schemas.microsoft.com/office/drawing/2014/main" id="{DA1FC102-237B-4FB9-BB82-8480A0371965}"/>
              </a:ext>
            </a:extLst>
          </p:cNvPr>
          <p:cNvSpPr/>
          <p:nvPr/>
        </p:nvSpPr>
        <p:spPr>
          <a:xfrm>
            <a:off x="7422705" y="362759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29" name="41 CuadroTexto">
            <a:extLst>
              <a:ext uri="{FF2B5EF4-FFF2-40B4-BE49-F238E27FC236}">
                <a16:creationId xmlns:a16="http://schemas.microsoft.com/office/drawing/2014/main" id="{F3DA3879-A853-4566-8B3B-0545001CF195}"/>
              </a:ext>
            </a:extLst>
          </p:cNvPr>
          <p:cNvSpPr txBox="1"/>
          <p:nvPr/>
        </p:nvSpPr>
        <p:spPr>
          <a:xfrm>
            <a:off x="7622365" y="3568831"/>
            <a:ext cx="47510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Retek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0" name="43 CuadroTexto">
            <a:extLst>
              <a:ext uri="{FF2B5EF4-FFF2-40B4-BE49-F238E27FC236}">
                <a16:creationId xmlns:a16="http://schemas.microsoft.com/office/drawing/2014/main" id="{33CD4D57-6BD3-49ED-A6E4-59CEC83D94CF}"/>
              </a:ext>
            </a:extLst>
          </p:cNvPr>
          <p:cNvSpPr txBox="1"/>
          <p:nvPr/>
        </p:nvSpPr>
        <p:spPr>
          <a:xfrm>
            <a:off x="8388424" y="3545582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Oracle</a:t>
            </a:r>
          </a:p>
        </p:txBody>
      </p:sp>
      <p:sp>
        <p:nvSpPr>
          <p:cNvPr id="31" name="44 Rectángulo">
            <a:extLst>
              <a:ext uri="{FF2B5EF4-FFF2-40B4-BE49-F238E27FC236}">
                <a16:creationId xmlns:a16="http://schemas.microsoft.com/office/drawing/2014/main" id="{84F92013-D432-4DA4-93F9-1C5CA6AB50BE}"/>
              </a:ext>
            </a:extLst>
          </p:cNvPr>
          <p:cNvSpPr/>
          <p:nvPr/>
        </p:nvSpPr>
        <p:spPr>
          <a:xfrm>
            <a:off x="7422705" y="3852614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2" name="45 CuadroTexto">
            <a:extLst>
              <a:ext uri="{FF2B5EF4-FFF2-40B4-BE49-F238E27FC236}">
                <a16:creationId xmlns:a16="http://schemas.microsoft.com/office/drawing/2014/main" id="{3F6BECE3-8EE7-4AC0-B75D-0D183DDB6207}"/>
              </a:ext>
            </a:extLst>
          </p:cNvPr>
          <p:cNvSpPr txBox="1"/>
          <p:nvPr/>
        </p:nvSpPr>
        <p:spPr>
          <a:xfrm>
            <a:off x="7622365" y="3793852"/>
            <a:ext cx="46955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SIV</a:t>
            </a:r>
          </a:p>
        </p:txBody>
      </p:sp>
      <p:sp>
        <p:nvSpPr>
          <p:cNvPr id="33" name="46 Rectángulo">
            <a:extLst>
              <a:ext uri="{FF2B5EF4-FFF2-40B4-BE49-F238E27FC236}">
                <a16:creationId xmlns:a16="http://schemas.microsoft.com/office/drawing/2014/main" id="{E636CE0B-B0B7-4FA9-B9C5-015CDC1232A9}"/>
              </a:ext>
            </a:extLst>
          </p:cNvPr>
          <p:cNvSpPr/>
          <p:nvPr/>
        </p:nvSpPr>
        <p:spPr>
          <a:xfrm>
            <a:off x="8180361" y="3118872"/>
            <a:ext cx="246303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4" name="47 Rectángulo">
            <a:extLst>
              <a:ext uri="{FF2B5EF4-FFF2-40B4-BE49-F238E27FC236}">
                <a16:creationId xmlns:a16="http://schemas.microsoft.com/office/drawing/2014/main" id="{C50780F3-5BF2-4916-BC92-274D33B041BE}"/>
              </a:ext>
            </a:extLst>
          </p:cNvPr>
          <p:cNvSpPr/>
          <p:nvPr/>
        </p:nvSpPr>
        <p:spPr>
          <a:xfrm>
            <a:off x="8181025" y="3359639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35" name="48 Rectángulo">
            <a:extLst>
              <a:ext uri="{FF2B5EF4-FFF2-40B4-BE49-F238E27FC236}">
                <a16:creationId xmlns:a16="http://schemas.microsoft.com/office/drawing/2014/main" id="{41BFF3D0-1F36-4DC0-96BB-7E1CF827C149}"/>
              </a:ext>
            </a:extLst>
          </p:cNvPr>
          <p:cNvSpPr/>
          <p:nvPr/>
        </p:nvSpPr>
        <p:spPr>
          <a:xfrm>
            <a:off x="8181025" y="3600406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grpSp>
        <p:nvGrpSpPr>
          <p:cNvPr id="36" name="Grupo 13">
            <a:extLst>
              <a:ext uri="{FF2B5EF4-FFF2-40B4-BE49-F238E27FC236}">
                <a16:creationId xmlns:a16="http://schemas.microsoft.com/office/drawing/2014/main" id="{94B79221-31F7-4AE2-8BA6-959527BBBD36}"/>
              </a:ext>
            </a:extLst>
          </p:cNvPr>
          <p:cNvGrpSpPr/>
          <p:nvPr/>
        </p:nvGrpSpPr>
        <p:grpSpPr>
          <a:xfrm>
            <a:off x="7332180" y="2769544"/>
            <a:ext cx="1728192" cy="1547090"/>
            <a:chOff x="7319480" y="2769544"/>
            <a:chExt cx="1728192" cy="2268000"/>
          </a:xfrm>
        </p:grpSpPr>
        <p:sp>
          <p:nvSpPr>
            <p:cNvPr id="37" name="25 CuadroTexto">
              <a:extLst>
                <a:ext uri="{FF2B5EF4-FFF2-40B4-BE49-F238E27FC236}">
                  <a16:creationId xmlns:a16="http://schemas.microsoft.com/office/drawing/2014/main" id="{0479827A-5583-40D4-9948-595AC75C7571}"/>
                </a:ext>
              </a:extLst>
            </p:cNvPr>
            <p:cNvSpPr txBox="1"/>
            <p:nvPr/>
          </p:nvSpPr>
          <p:spPr>
            <a:xfrm>
              <a:off x="7322014" y="2769544"/>
              <a:ext cx="1723124" cy="276999"/>
            </a:xfrm>
            <a:prstGeom prst="rect">
              <a:avLst/>
            </a:prstGeom>
            <a:noFill/>
            <a:ln>
              <a:solidFill>
                <a:srgbClr val="990021"/>
              </a:solidFill>
            </a:ln>
          </p:spPr>
          <p:txBody>
            <a:bodyPr wrap="square" rtlCol="0">
              <a:spAutoFit/>
            </a:bodyPr>
            <a:lstStyle>
              <a:defPPr>
                <a:defRPr lang="en-US"/>
              </a:defPPr>
              <a:lvl1pPr algn="ctr">
                <a:defRPr sz="1200" b="1">
                  <a:latin typeface="+mj-lt"/>
                </a:defRPr>
              </a:lvl1pPr>
            </a:lstStyle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s-MX" sz="1200" b="1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 Light" panose="020F0302020204030204"/>
                  <a:ea typeface="+mn-ea"/>
                  <a:cs typeface="+mn-cs"/>
                </a:rPr>
                <a:t>Sistemas / Software: </a:t>
              </a:r>
            </a:p>
          </p:txBody>
        </p:sp>
        <p:sp>
          <p:nvSpPr>
            <p:cNvPr id="38" name="49 Rectángulo">
              <a:extLst>
                <a:ext uri="{FF2B5EF4-FFF2-40B4-BE49-F238E27FC236}">
                  <a16:creationId xmlns:a16="http://schemas.microsoft.com/office/drawing/2014/main" id="{9705D9BB-13E2-4013-B814-F0A7B2F8F4C4}"/>
                </a:ext>
              </a:extLst>
            </p:cNvPr>
            <p:cNvSpPr/>
            <p:nvPr/>
          </p:nvSpPr>
          <p:spPr>
            <a:xfrm>
              <a:off x="7319480" y="2769544"/>
              <a:ext cx="1728192" cy="2268000"/>
            </a:xfrm>
            <a:prstGeom prst="rect">
              <a:avLst/>
            </a:prstGeom>
            <a:noFill/>
            <a:ln w="9525">
              <a:solidFill>
                <a:srgbClr val="99002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s-MX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9" name="53 CuadroTexto">
            <a:extLst>
              <a:ext uri="{FF2B5EF4-FFF2-40B4-BE49-F238E27FC236}">
                <a16:creationId xmlns:a16="http://schemas.microsoft.com/office/drawing/2014/main" id="{96AFC125-8E68-4CC9-8BBE-24E3AFB43C9D}"/>
              </a:ext>
            </a:extLst>
          </p:cNvPr>
          <p:cNvSpPr txBox="1"/>
          <p:nvPr/>
        </p:nvSpPr>
        <p:spPr>
          <a:xfrm>
            <a:off x="8388424" y="3784461"/>
            <a:ext cx="754684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800" b="0" i="1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Autocad</a:t>
            </a:r>
            <a:endParaRPr kumimoji="0" lang="es-MX" sz="800" b="0" i="1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0" name="54 Rectángulo">
            <a:extLst>
              <a:ext uri="{FF2B5EF4-FFF2-40B4-BE49-F238E27FC236}">
                <a16:creationId xmlns:a16="http://schemas.microsoft.com/office/drawing/2014/main" id="{DBDEE9EE-44FA-45AF-BD88-424CB08F719F}"/>
              </a:ext>
            </a:extLst>
          </p:cNvPr>
          <p:cNvSpPr/>
          <p:nvPr/>
        </p:nvSpPr>
        <p:spPr>
          <a:xfrm>
            <a:off x="8181025" y="3841173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41" name="58 Rectángulo">
            <a:extLst>
              <a:ext uri="{FF2B5EF4-FFF2-40B4-BE49-F238E27FC236}">
                <a16:creationId xmlns:a16="http://schemas.microsoft.com/office/drawing/2014/main" id="{BB9F12A6-6992-4DEB-9E75-053FCAC74F0F}"/>
              </a:ext>
            </a:extLst>
          </p:cNvPr>
          <p:cNvSpPr/>
          <p:nvPr/>
        </p:nvSpPr>
        <p:spPr>
          <a:xfrm>
            <a:off x="7422705" y="408252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45" name="Conector recto 20">
            <a:extLst>
              <a:ext uri="{FF2B5EF4-FFF2-40B4-BE49-F238E27FC236}">
                <a16:creationId xmlns:a16="http://schemas.microsoft.com/office/drawing/2014/main" id="{707B27F0-D22A-4154-BA5C-1DF6B7EDB113}"/>
              </a:ext>
            </a:extLst>
          </p:cNvPr>
          <p:cNvCxnSpPr/>
          <p:nvPr/>
        </p:nvCxnSpPr>
        <p:spPr>
          <a:xfrm flipV="1">
            <a:off x="7705019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49" name="58 Rectángulo">
            <a:extLst>
              <a:ext uri="{FF2B5EF4-FFF2-40B4-BE49-F238E27FC236}">
                <a16:creationId xmlns:a16="http://schemas.microsoft.com/office/drawing/2014/main" id="{7620F28F-CD5A-44F7-B2B8-537871C7C16C}"/>
              </a:ext>
            </a:extLst>
          </p:cNvPr>
          <p:cNvSpPr/>
          <p:nvPr/>
        </p:nvSpPr>
        <p:spPr>
          <a:xfrm>
            <a:off x="8181025" y="4081940"/>
            <a:ext cx="244974" cy="97921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53" name="Conector recto 88">
            <a:extLst>
              <a:ext uri="{FF2B5EF4-FFF2-40B4-BE49-F238E27FC236}">
                <a16:creationId xmlns:a16="http://schemas.microsoft.com/office/drawing/2014/main" id="{13D989D9-FC28-4C61-9D1E-DD4EB41F249C}"/>
              </a:ext>
            </a:extLst>
          </p:cNvPr>
          <p:cNvCxnSpPr/>
          <p:nvPr/>
        </p:nvCxnSpPr>
        <p:spPr>
          <a:xfrm flipV="1">
            <a:off x="8462182" y="4210996"/>
            <a:ext cx="441701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 useBgFill="1">
        <p:nvSpPr>
          <p:cNvPr id="57" name="3 Rectángulo">
            <a:extLst>
              <a:ext uri="{FF2B5EF4-FFF2-40B4-BE49-F238E27FC236}">
                <a16:creationId xmlns:a16="http://schemas.microsoft.com/office/drawing/2014/main" id="{A3DF56A7-2EC2-4175-9C9A-DFA0BCB13B7C}"/>
              </a:ext>
            </a:extLst>
          </p:cNvPr>
          <p:cNvSpPr/>
          <p:nvPr/>
        </p:nvSpPr>
        <p:spPr>
          <a:xfrm>
            <a:off x="7459294" y="1536672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 useBgFill="1">
        <p:nvSpPr>
          <p:cNvPr id="58" name="3 Rectángulo">
            <a:extLst>
              <a:ext uri="{FF2B5EF4-FFF2-40B4-BE49-F238E27FC236}">
                <a16:creationId xmlns:a16="http://schemas.microsoft.com/office/drawing/2014/main" id="{DC9336CD-394F-4FD1-AF85-4F5675C3F08C}"/>
              </a:ext>
            </a:extLst>
          </p:cNvPr>
          <p:cNvSpPr/>
          <p:nvPr/>
        </p:nvSpPr>
        <p:spPr>
          <a:xfrm>
            <a:off x="7459294" y="1773041"/>
            <a:ext cx="281058" cy="140962"/>
          </a:xfrm>
          <a:prstGeom prst="rect">
            <a:avLst/>
          </a:prstGeom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59" name="3 Rectángulo">
            <a:extLst>
              <a:ext uri="{FF2B5EF4-FFF2-40B4-BE49-F238E27FC236}">
                <a16:creationId xmlns:a16="http://schemas.microsoft.com/office/drawing/2014/main" id="{5EFE596B-914B-430D-AD05-7E349675DE42}"/>
              </a:ext>
            </a:extLst>
          </p:cNvPr>
          <p:cNvSpPr/>
          <p:nvPr/>
        </p:nvSpPr>
        <p:spPr>
          <a:xfrm>
            <a:off x="7459294" y="2009410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0" name="3 Rectángulo">
            <a:extLst>
              <a:ext uri="{FF2B5EF4-FFF2-40B4-BE49-F238E27FC236}">
                <a16:creationId xmlns:a16="http://schemas.microsoft.com/office/drawing/2014/main" id="{513E3870-AEEC-44AB-93C1-C9D4D8F7CD3A}"/>
              </a:ext>
            </a:extLst>
          </p:cNvPr>
          <p:cNvSpPr/>
          <p:nvPr/>
        </p:nvSpPr>
        <p:spPr>
          <a:xfrm>
            <a:off x="7459294" y="224577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61" name="3 Rectángulo">
            <a:extLst>
              <a:ext uri="{FF2B5EF4-FFF2-40B4-BE49-F238E27FC236}">
                <a16:creationId xmlns:a16="http://schemas.microsoft.com/office/drawing/2014/main" id="{FBE03FC3-2A7C-43A4-AAA2-D35C85AE35BF}"/>
              </a:ext>
            </a:extLst>
          </p:cNvPr>
          <p:cNvSpPr/>
          <p:nvPr/>
        </p:nvSpPr>
        <p:spPr>
          <a:xfrm>
            <a:off x="7459294" y="2482149"/>
            <a:ext cx="281058" cy="140962"/>
          </a:xfrm>
          <a:prstGeom prst="rect">
            <a:avLst/>
          </a:prstGeom>
          <a:noFill/>
          <a:ln w="12700"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cxnSp>
        <p:nvCxnSpPr>
          <p:cNvPr id="62" name="Conector recto 97">
            <a:extLst>
              <a:ext uri="{FF2B5EF4-FFF2-40B4-BE49-F238E27FC236}">
                <a16:creationId xmlns:a16="http://schemas.microsoft.com/office/drawing/2014/main" id="{6FE4E04B-0AB2-470C-B33F-5A12739668DD}"/>
              </a:ext>
            </a:extLst>
          </p:cNvPr>
          <p:cNvCxnSpPr/>
          <p:nvPr/>
        </p:nvCxnSpPr>
        <p:spPr>
          <a:xfrm flipV="1">
            <a:off x="7806891" y="2431240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3" name="Conector recto 98">
            <a:extLst>
              <a:ext uri="{FF2B5EF4-FFF2-40B4-BE49-F238E27FC236}">
                <a16:creationId xmlns:a16="http://schemas.microsoft.com/office/drawing/2014/main" id="{9F138228-3949-4800-A3CA-2EE3CBCD4186}"/>
              </a:ext>
            </a:extLst>
          </p:cNvPr>
          <p:cNvCxnSpPr/>
          <p:nvPr/>
        </p:nvCxnSpPr>
        <p:spPr>
          <a:xfrm flipV="1">
            <a:off x="7806891" y="2650334"/>
            <a:ext cx="1152000" cy="1"/>
          </a:xfrm>
          <a:prstGeom prst="line">
            <a:avLst/>
          </a:prstGeom>
          <a:ln>
            <a:solidFill>
              <a:srgbClr val="990021"/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aphicFrame>
        <p:nvGraphicFramePr>
          <p:cNvPr id="2" name="Tabla 1">
            <a:extLst>
              <a:ext uri="{FF2B5EF4-FFF2-40B4-BE49-F238E27FC236}">
                <a16:creationId xmlns:a16="http://schemas.microsoft.com/office/drawing/2014/main" id="{01139211-FB42-484F-9DE3-5F86AFC39BF6}"/>
              </a:ext>
            </a:extLst>
          </p:cNvPr>
          <p:cNvGraphicFramePr>
            <a:graphicFrameLocks noGrp="1"/>
          </p:cNvGraphicFramePr>
          <p:nvPr/>
        </p:nvGraphicFramePr>
        <p:xfrm>
          <a:off x="7332179" y="4418248"/>
          <a:ext cx="1732517" cy="79090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2517">
                  <a:extLst>
                    <a:ext uri="{9D8B030D-6E8A-4147-A177-3AD203B41FA5}">
                      <a16:colId xmlns:a16="http://schemas.microsoft.com/office/drawing/2014/main" val="1709370710"/>
                    </a:ext>
                  </a:extLst>
                </a:gridCol>
              </a:tblGrid>
              <a:tr h="790909"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100" b="1" u="none" strike="noStrike">
                          <a:effectLst/>
                        </a:rPr>
                        <a:t>NOTA IMPORTANTE</a:t>
                      </a:r>
                      <a:r>
                        <a:rPr lang="es-MX" sz="1100" u="none" strike="noStrike">
                          <a:effectLst/>
                        </a:rPr>
                        <a:t>: Toda herramienta o software que impacte en gasto, estará sujeta a autorización.</a:t>
                      </a:r>
                      <a:endParaRPr lang="es-MX" sz="1100" b="1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71805098"/>
                  </a:ext>
                </a:extLst>
              </a:tr>
            </a:tbl>
          </a:graphicData>
        </a:graphic>
      </p:graphicFrame>
      <p:sp>
        <p:nvSpPr>
          <p:cNvPr id="42" name="CuadroTexto 41">
            <a:extLst>
              <a:ext uri="{FF2B5EF4-FFF2-40B4-BE49-F238E27FC236}">
                <a16:creationId xmlns:a16="http://schemas.microsoft.com/office/drawing/2014/main" id="{C7BE7386-847F-D3C3-1C25-08508DD8A0A1}"/>
              </a:ext>
            </a:extLst>
          </p:cNvPr>
          <p:cNvSpPr txBox="1"/>
          <p:nvPr/>
        </p:nvSpPr>
        <p:spPr>
          <a:xfrm>
            <a:off x="7369146" y="1230169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3" name="CuadroTexto 42">
            <a:extLst>
              <a:ext uri="{FF2B5EF4-FFF2-40B4-BE49-F238E27FC236}">
                <a16:creationId xmlns:a16="http://schemas.microsoft.com/office/drawing/2014/main" id="{859BE0A2-50E4-043A-41EF-77662E59E493}"/>
              </a:ext>
            </a:extLst>
          </p:cNvPr>
          <p:cNvSpPr txBox="1"/>
          <p:nvPr/>
        </p:nvSpPr>
        <p:spPr>
          <a:xfrm>
            <a:off x="7308652" y="3014200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44" name="CuadroTexto 43">
            <a:extLst>
              <a:ext uri="{FF2B5EF4-FFF2-40B4-BE49-F238E27FC236}">
                <a16:creationId xmlns:a16="http://schemas.microsoft.com/office/drawing/2014/main" id="{BD216D41-0019-93B7-B5E4-DFAEA3E4E84D}"/>
              </a:ext>
            </a:extLst>
          </p:cNvPr>
          <p:cNvSpPr txBox="1"/>
          <p:nvPr/>
        </p:nvSpPr>
        <p:spPr>
          <a:xfrm>
            <a:off x="8051379" y="3038442"/>
            <a:ext cx="50643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X</a:t>
            </a:r>
          </a:p>
        </p:txBody>
      </p:sp>
      <p:sp>
        <p:nvSpPr>
          <p:cNvPr id="54" name="CuadroTexto 53">
            <a:extLst>
              <a:ext uri="{FF2B5EF4-FFF2-40B4-BE49-F238E27FC236}">
                <a16:creationId xmlns:a16="http://schemas.microsoft.com/office/drawing/2014/main" id="{F50D576C-E788-BDA9-63E3-260B788A03DB}"/>
              </a:ext>
            </a:extLst>
          </p:cNvPr>
          <p:cNvSpPr txBox="1"/>
          <p:nvPr/>
        </p:nvSpPr>
        <p:spPr>
          <a:xfrm>
            <a:off x="7459294" y="151075"/>
            <a:ext cx="149959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b="1" dirty="0"/>
              <a:t>Colocar logo de </a:t>
            </a:r>
            <a:r>
              <a:rPr lang="es-ES" b="1" dirty="0" err="1"/>
              <a:t>ProxyLogis</a:t>
            </a:r>
            <a:endParaRPr lang="es-419" b="1" dirty="0"/>
          </a:p>
        </p:txBody>
      </p:sp>
    </p:spTree>
    <p:extLst>
      <p:ext uri="{BB962C8B-B14F-4D97-AF65-F5344CB8AC3E}">
        <p14:creationId xmlns:p14="http://schemas.microsoft.com/office/powerpoint/2010/main" val="67910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>
            <a:extLst>
              <a:ext uri="{FF2B5EF4-FFF2-40B4-BE49-F238E27FC236}">
                <a16:creationId xmlns:a16="http://schemas.microsoft.com/office/drawing/2014/main" id="{34482B10-B1A2-5628-FA7B-1839E80B5DFC}"/>
              </a:ext>
            </a:extLst>
          </p:cNvPr>
          <p:cNvSpPr/>
          <p:nvPr/>
        </p:nvSpPr>
        <p:spPr>
          <a:xfrm>
            <a:off x="4031311" y="6647290"/>
            <a:ext cx="1081378" cy="1726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419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64FB9968-904F-456C-99C4-7BE14D39E913}"/>
              </a:ext>
            </a:extLst>
          </p:cNvPr>
          <p:cNvSpPr txBox="1">
            <a:spLocks/>
          </p:cNvSpPr>
          <p:nvPr/>
        </p:nvSpPr>
        <p:spPr bwMode="auto">
          <a:xfrm>
            <a:off x="139564" y="3705118"/>
            <a:ext cx="4388817" cy="2667974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Dimensionamiento</a:t>
            </a: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Negocios: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OXXO México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Alcance Geográfico: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Nacional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Tramo de supervisión: </a:t>
            </a:r>
            <a:r>
              <a:rPr kumimoji="0" lang="es-MX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Sin reportes directos</a:t>
            </a:r>
          </a:p>
          <a:p>
            <a:pPr marL="144000" marR="0" lvl="0" indent="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None/>
              <a:tabLst/>
              <a:defRPr/>
            </a:pPr>
            <a:endParaRPr kumimoji="0" lang="es-MX" sz="12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144000" marR="0" lvl="0" indent="180000" algn="just" defTabSz="4572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840E27"/>
              </a:buClr>
              <a:buSzPct val="93000"/>
              <a:buFont typeface="Arial" charset="0"/>
              <a:buChar char="•"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Otros indicadores financieros / operativos (si aplica):</a:t>
            </a:r>
          </a:p>
        </p:txBody>
      </p:sp>
      <p:sp>
        <p:nvSpPr>
          <p:cNvPr id="3" name="Content Placeholder 4">
            <a:extLst>
              <a:ext uri="{FF2B5EF4-FFF2-40B4-BE49-F238E27FC236}">
                <a16:creationId xmlns:a16="http://schemas.microsoft.com/office/drawing/2014/main" id="{DA15F688-1F35-45B1-A68C-41935C35F8B0}"/>
              </a:ext>
            </a:extLst>
          </p:cNvPr>
          <p:cNvSpPr txBox="1">
            <a:spLocks/>
          </p:cNvSpPr>
          <p:nvPr/>
        </p:nvSpPr>
        <p:spPr bwMode="auto">
          <a:xfrm>
            <a:off x="4620903" y="3704137"/>
            <a:ext cx="4392000" cy="105630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Estructura Organizacional</a:t>
            </a: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Reportes Directos: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/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342900" marR="0" lvl="0" indent="-18000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Char char="•"/>
              <a:tabLst/>
              <a:defRPr/>
            </a:pPr>
            <a:r>
              <a:rPr kumimoji="0" lang="es-MX" sz="9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Pares: </a:t>
            </a:r>
            <a:r>
              <a:rPr kumimoji="0" lang="es-MX" sz="9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Responsable Comercial Medios Pago, Gerente Área Operaciones iCash, Gerente Área Producto, Gerente Área Comercial Corresponsalías</a:t>
            </a:r>
            <a:endParaRPr kumimoji="0" lang="es-MX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2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  <a:endParaRPr kumimoji="0" lang="es-MX" sz="105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5" name="8 Rectángulo">
            <a:extLst>
              <a:ext uri="{FF2B5EF4-FFF2-40B4-BE49-F238E27FC236}">
                <a16:creationId xmlns:a16="http://schemas.microsoft.com/office/drawing/2014/main" id="{4A221944-25B5-4C13-A032-54EBDF8E37BE}"/>
              </a:ext>
            </a:extLst>
          </p:cNvPr>
          <p:cNvSpPr/>
          <p:nvPr/>
        </p:nvSpPr>
        <p:spPr>
          <a:xfrm>
            <a:off x="59500" y="816255"/>
            <a:ext cx="881908" cy="292388"/>
          </a:xfrm>
          <a:prstGeom prst="rect">
            <a:avLst/>
          </a:prstGeom>
          <a:ln>
            <a:noFill/>
          </a:ln>
        </p:spPr>
        <p:txBody>
          <a:bodyPr wrap="none">
            <a:spAutoFit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+mn-ea"/>
                <a:cs typeface="+mn-cs"/>
              </a:rPr>
              <a:t>Relaciones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+mn-ea"/>
              <a:cs typeface="+mn-cs"/>
            </a:endParaRPr>
          </a:p>
        </p:txBody>
      </p:sp>
      <p:sp>
        <p:nvSpPr>
          <p:cNvPr id="7" name="Content Placeholder 4">
            <a:extLst>
              <a:ext uri="{FF2B5EF4-FFF2-40B4-BE49-F238E27FC236}">
                <a16:creationId xmlns:a16="http://schemas.microsoft.com/office/drawing/2014/main" id="{C7B3F606-9CA3-40DB-8A25-752D9FAB2FA7}"/>
              </a:ext>
            </a:extLst>
          </p:cNvPr>
          <p:cNvSpPr txBox="1">
            <a:spLocks/>
          </p:cNvSpPr>
          <p:nvPr/>
        </p:nvSpPr>
        <p:spPr bwMode="auto">
          <a:xfrm>
            <a:off x="139564" y="6453259"/>
            <a:ext cx="4388817" cy="338552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Fecha de Modificación:</a:t>
            </a: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8" name="Content Placeholder 4">
            <a:extLst>
              <a:ext uri="{FF2B5EF4-FFF2-40B4-BE49-F238E27FC236}">
                <a16:creationId xmlns:a16="http://schemas.microsoft.com/office/drawing/2014/main" id="{36CD99BF-11C5-43DE-95EA-A8DD82AA880F}"/>
              </a:ext>
            </a:extLst>
          </p:cNvPr>
          <p:cNvSpPr txBox="1">
            <a:spLocks/>
          </p:cNvSpPr>
          <p:nvPr/>
        </p:nvSpPr>
        <p:spPr bwMode="auto">
          <a:xfrm>
            <a:off x="4615620" y="6453258"/>
            <a:ext cx="4392000" cy="33855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Modificado por:</a:t>
            </a:r>
            <a:endParaRPr kumimoji="0" lang="es-MX" sz="13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just" defTabSz="4572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Tx/>
              <a:buFont typeface="Arial" charset="0"/>
              <a:buNone/>
              <a:tabLst/>
              <a:defRPr/>
            </a:pPr>
            <a:endParaRPr kumimoji="0" lang="es-MX" sz="11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sp>
        <p:nvSpPr>
          <p:cNvPr id="9" name="Arrow: Pentagon 3">
            <a:extLst>
              <a:ext uri="{FF2B5EF4-FFF2-40B4-BE49-F238E27FC236}">
                <a16:creationId xmlns:a16="http://schemas.microsoft.com/office/drawing/2014/main" id="{2541D061-157A-4306-BB5B-B6202478BDDF}"/>
              </a:ext>
            </a:extLst>
          </p:cNvPr>
          <p:cNvSpPr/>
          <p:nvPr/>
        </p:nvSpPr>
        <p:spPr>
          <a:xfrm>
            <a:off x="1" y="0"/>
            <a:ext cx="7223196" cy="850015"/>
          </a:xfrm>
          <a:prstGeom prst="homePlate">
            <a:avLst/>
          </a:prstGeom>
          <a:solidFill>
            <a:srgbClr val="990021"/>
          </a:solidFill>
          <a:ln>
            <a:solidFill>
              <a:srgbClr val="99002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s-MX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Content Placeholder 4">
            <a:extLst>
              <a:ext uri="{FF2B5EF4-FFF2-40B4-BE49-F238E27FC236}">
                <a16:creationId xmlns:a16="http://schemas.microsoft.com/office/drawing/2014/main" id="{1D756498-9794-42F0-B5EF-4A13E5D07DC5}"/>
              </a:ext>
            </a:extLst>
          </p:cNvPr>
          <p:cNvSpPr txBox="1">
            <a:spLocks/>
          </p:cNvSpPr>
          <p:nvPr/>
        </p:nvSpPr>
        <p:spPr bwMode="auto">
          <a:xfrm>
            <a:off x="4615620" y="4880609"/>
            <a:ext cx="4392000" cy="1492483"/>
          </a:xfrm>
          <a:prstGeom prst="rect">
            <a:avLst/>
          </a:prstGeom>
          <a:noFill/>
          <a:ln w="6350">
            <a:solidFill>
              <a:srgbClr val="99002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•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1pPr>
            <a:lvl2pPr marL="742950" indent="-28575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Arial" charset="0"/>
              <a:buChar char="–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2pPr>
            <a:lvl3pPr marL="11430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Font typeface="Wingdings" charset="0"/>
              <a:buChar char="§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3pPr>
            <a:lvl4pPr marL="16002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90000"/>
              <a:buFont typeface="Lucida Grande" charset="0"/>
              <a:buChar char="&gt;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4pPr>
            <a:lvl5pPr marL="2057400" indent="-228600" algn="just" rtl="0" eaLnBrk="1" fontAlgn="base" hangingPunct="1">
              <a:spcBef>
                <a:spcPct val="20000"/>
              </a:spcBef>
              <a:spcAft>
                <a:spcPct val="0"/>
              </a:spcAft>
              <a:buClr>
                <a:srgbClr val="840E27"/>
              </a:buClr>
              <a:buSzPct val="60000"/>
              <a:buFont typeface="Wingdings" charset="2"/>
              <a:buChar char="u"/>
              <a:defRPr kern="1200">
                <a:solidFill>
                  <a:schemeClr val="tx1"/>
                </a:solidFill>
                <a:latin typeface="Arial"/>
                <a:ea typeface="ＭＳ Ｐゴシック" charset="0"/>
                <a:cs typeface="Arial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2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Características del rol: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% de tiempo dedicado a actividades que el rol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obligatoriamente 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debe de realizar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en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endParaRPr kumimoji="0" lang="es-MX" sz="11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 </a:t>
            </a:r>
          </a:p>
          <a:p>
            <a:pPr marL="144000" marR="0" lvl="0" indent="18000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3000"/>
              <a:buFont typeface="Arial" charset="0"/>
              <a:buNone/>
              <a:tabLst/>
              <a:defRPr/>
            </a:pP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¿Cuántos días de la semana el rol realiza actividades </a:t>
            </a:r>
            <a:r>
              <a:rPr kumimoji="0" lang="es-MX" sz="11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fuera de oficina</a:t>
            </a:r>
            <a:r>
              <a:rPr kumimoji="0" lang="es-MX" sz="11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 Light" panose="020F0302020204030204"/>
                <a:ea typeface="ＭＳ Ｐゴシック" charset="0"/>
                <a:cs typeface="Arial"/>
              </a:rPr>
              <a:t>? </a:t>
            </a:r>
            <a:endParaRPr kumimoji="0" lang="es-MX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 Light" panose="020F0302020204030204"/>
              <a:ea typeface="ＭＳ Ｐゴシック" charset="0"/>
              <a:cs typeface="Arial"/>
            </a:endParaRPr>
          </a:p>
        </p:txBody>
      </p:sp>
      <p:graphicFrame>
        <p:nvGraphicFramePr>
          <p:cNvPr id="22" name="5 Tabla">
            <a:extLst>
              <a:ext uri="{FF2B5EF4-FFF2-40B4-BE49-F238E27FC236}">
                <a16:creationId xmlns:a16="http://schemas.microsoft.com/office/drawing/2014/main" id="{EF6C9303-C9C7-4800-BB1F-62587661A8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224464"/>
              </p:ext>
            </p:extLst>
          </p:nvPr>
        </p:nvGraphicFramePr>
        <p:xfrm>
          <a:off x="59500" y="1064578"/>
          <a:ext cx="8775539" cy="2147913"/>
        </p:xfrm>
        <a:graphic>
          <a:graphicData uri="http://schemas.openxmlformats.org/drawingml/2006/table">
            <a:tbl>
              <a:tblPr/>
              <a:tblGrid>
                <a:gridCol w="1562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84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7083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00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2220">
                <a:tc>
                  <a:txBody>
                    <a:bodyPr/>
                    <a:lstStyle/>
                    <a:p>
                      <a:pPr algn="l" fontAlgn="b"/>
                      <a:r>
                        <a:rPr lang="es-MX" sz="9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 a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Puesto/ Área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Objetivo Relación: </a:t>
                      </a:r>
                      <a:endParaRPr lang="es-MX" sz="1000" b="1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s-MX" sz="1000" b="1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Frecuencia:</a:t>
                      </a:r>
                    </a:p>
                    <a:p>
                      <a:pPr algn="ctr" fontAlgn="ctr"/>
                      <a:r>
                        <a:rPr lang="es-MX" sz="600" b="0" i="0" u="none" strike="noStrike">
                          <a:solidFill>
                            <a:srgbClr val="000000"/>
                          </a:solidFill>
                          <a:effectLst/>
                          <a:latin typeface="Verdana"/>
                          <a:cs typeface="Arial"/>
                        </a:rPr>
                        <a:t>(Diario, Semanal, Mes, Anual)</a:t>
                      </a:r>
                      <a:endParaRPr lang="es-MX" sz="600" b="0" i="0" u="none" strike="noStrike">
                        <a:solidFill>
                          <a:srgbClr val="000000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FBFB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4199">
                <a:tc rowSpan="7">
                  <a:txBody>
                    <a:bodyPr/>
                    <a:lstStyle/>
                    <a:p>
                      <a:pPr algn="ctr" fontAlgn="ctr"/>
                      <a:r>
                        <a:rPr lang="es-MX" sz="900" b="1" i="0" u="none" strike="noStrike">
                          <a:solidFill>
                            <a:srgbClr val="FFFFFF"/>
                          </a:solidFill>
                          <a:effectLst/>
                          <a:latin typeface="Verdana"/>
                        </a:rPr>
                        <a:t>INTERNAS</a:t>
                      </a: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Gte Sr Comercial Servicios Financieros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Alineación de estrategia y KPIs de dispersión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Semanal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/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Compliance y Legal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Cumplimiento regulatorio del servicio de dispersión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  <a:r>
                        <a:rPr sz="900" b="1"/>
                        <a:t>EXTERNAS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Socios Estratégicos (empresas dispersoras)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  <a:r>
                        <a:rPr sz="1050" b="0"/>
                        <a:t>Negociación y desarrollo de relación comercial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  <a:r>
                        <a:rPr sz="1050" b="0"/>
                        <a:t>Mensual</a:t>
                      </a: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4199">
                <a:tc vMerge="1">
                  <a:txBody>
                    <a:bodyPr/>
                    <a:lstStyle/>
                    <a:p>
                      <a:endParaRPr lang="es-MX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73152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0" hangingPunct="1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3445128"/>
                  </a:ext>
                </a:extLst>
              </a:tr>
              <a:tr h="306299">
                <a:tc vMerge="1">
                  <a:txBody>
                    <a:bodyPr/>
                    <a:lstStyle/>
                    <a:p>
                      <a:pPr algn="ctr" fontAlgn="ctr"/>
                      <a:endParaRPr lang="es-MX" sz="900" b="1" i="0" u="none" strike="noStrike">
                        <a:solidFill>
                          <a:srgbClr val="FFFFFF"/>
                        </a:solidFill>
                        <a:effectLst/>
                        <a:latin typeface="Verdana"/>
                      </a:endParaRPr>
                    </a:p>
                  </a:txBody>
                  <a:tcPr marL="9525" marR="9525" marT="9525" marB="0" vert="vert27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800000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spcAft>
                          <a:spcPts val="0"/>
                        </a:spcAft>
                        <a:tabLst>
                          <a:tab pos="5943600" algn="l"/>
                        </a:tabLst>
                      </a:pPr>
                      <a:endParaRPr lang="es-MX" sz="1050" dirty="0"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dirty="0">
                        <a:solidFill>
                          <a:schemeClr val="tx1"/>
                        </a:solidFill>
                        <a:effectLst/>
                        <a:latin typeface="+mj-lt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>
                          <a:tab pos="5943600" algn="l"/>
                        </a:tabLst>
                        <a:defRPr/>
                      </a:pPr>
                      <a:endParaRPr lang="es-MX" sz="900" kern="1200" noProof="0" dirty="0">
                        <a:solidFill>
                          <a:schemeClr val="tx1"/>
                        </a:solidFill>
                        <a:effectLst/>
                        <a:latin typeface="+mj-lt"/>
                        <a:ea typeface="+mn-ea"/>
                        <a:cs typeface="Arial" panose="020B0604020202020204" pitchFamily="34" charset="0"/>
                      </a:endParaRPr>
                    </a:p>
                  </a:txBody>
                  <a:tcPr marL="73152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6936691"/>
                  </a:ext>
                </a:extLst>
              </a:tr>
            </a:tbl>
          </a:graphicData>
        </a:graphic>
      </p:graphicFrame>
      <p:sp>
        <p:nvSpPr>
          <p:cNvPr id="14" name="Title 2">
            <a:extLst>
              <a:ext uri="{FF2B5EF4-FFF2-40B4-BE49-F238E27FC236}">
                <a16:creationId xmlns:a16="http://schemas.microsoft.com/office/drawing/2014/main" id="{6EEB1EA8-A644-4337-AAC7-115BC1895F44}"/>
              </a:ext>
            </a:extLst>
          </p:cNvPr>
          <p:cNvSpPr txBox="1">
            <a:spLocks/>
          </p:cNvSpPr>
          <p:nvPr/>
        </p:nvSpPr>
        <p:spPr>
          <a:xfrm>
            <a:off x="-25355" y="1"/>
            <a:ext cx="7128791" cy="107981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4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DESCRIPCIÓN DE PUESTO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Puesto: Gerente Área Comercial Dispersión Efectivo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Nombre Puesto Jefe Directo: Gerente Sr Comercial Servicios Financieros</a:t>
            </a:r>
            <a:b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</a:br>
            <a:r>
              <a:rPr kumimoji="0" lang="es-MX" sz="1300" b="1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Área Funcional: Estrategia y Transformación</a:t>
            </a:r>
          </a:p>
        </p:txBody>
      </p:sp>
    </p:spTree>
    <p:extLst>
      <p:ext uri="{BB962C8B-B14F-4D97-AF65-F5344CB8AC3E}">
        <p14:creationId xmlns:p14="http://schemas.microsoft.com/office/powerpoint/2010/main" val="153052334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490EEA5A76710F4D840DE1E91AC235DB" ma:contentTypeVersion="8" ma:contentTypeDescription="Crear nuevo documento." ma:contentTypeScope="" ma:versionID="a627329f695598b768423c404b4654a3">
  <xsd:schema xmlns:xsd="http://www.w3.org/2001/XMLSchema" xmlns:xs="http://www.w3.org/2001/XMLSchema" xmlns:p="http://schemas.microsoft.com/office/2006/metadata/properties" xmlns:ns2="8a18f7ed-58ad-4317-bc87-fb993a59959f" targetNamespace="http://schemas.microsoft.com/office/2006/metadata/properties" ma:root="true" ma:fieldsID="c5b55e182d712a98b03325bd7a40d95c" ns2:_="">
    <xsd:import namespace="8a18f7ed-58ad-4317-bc87-fb993a59959f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a18f7ed-58ad-4317-bc87-fb993a59959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ED4A961-A369-4D2A-BFE8-03760C83779B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291CCE48-6462-4E5B-951A-50FD2A241D39}">
  <ds:schemaRefs>
    <ds:schemaRef ds:uri="8a18f7ed-58ad-4317-bc87-fb993a59959f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53E17A1-E1A1-437E-830A-7EB568E369DE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08c64559-49c6-47cf-865f-da0233616f0f}" enabled="1" method="Standard" siteId="{66f9ab85-de1a-40d4-b7bb-21565ad57cce}" contentBits="2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45</TotalTime>
  <Words>182</Words>
  <Application>Microsoft Office PowerPoint</Application>
  <PresentationFormat>Presentación en pantalla (4:3)</PresentationFormat>
  <Paragraphs>61</Paragraphs>
  <Slides>2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9" baseType="lpstr">
      <vt:lpstr>Aptos</vt:lpstr>
      <vt:lpstr>Arial</vt:lpstr>
      <vt:lpstr>Calibri</vt:lpstr>
      <vt:lpstr>Calibri Light</vt:lpstr>
      <vt:lpstr>Verdana</vt:lpstr>
      <vt:lpstr>Wingdings</vt:lpstr>
      <vt:lpstr>1_Office Theme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Gilberto Morales</dc:creator>
  <cp:lastModifiedBy>Andre Pastrana Medina</cp:lastModifiedBy>
  <cp:revision>4</cp:revision>
  <dcterms:created xsi:type="dcterms:W3CDTF">2025-01-29T22:27:57Z</dcterms:created>
  <dcterms:modified xsi:type="dcterms:W3CDTF">2025-06-10T17:26:08Z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0x010100490EEA5A76710F4D840DE1E91AC235DB</vt:lpwstr>
  </property>
  <property fmtid="{D5CDD505-2E9C-101B-9397-08002B2CF9AE}" pid="3" name="ClassificationContentMarkingFooterLocations">
    <vt:lpwstr>1_Office Theme:8</vt:lpwstr>
  </property>
  <property fmtid="{D5CDD505-2E9C-101B-9397-08002B2CF9AE}" pid="4" name="ClassificationContentMarkingFooterText">
    <vt:lpwstr>OXXO | Uso Interno</vt:lpwstr>
  </property>
</Properties>
</file>