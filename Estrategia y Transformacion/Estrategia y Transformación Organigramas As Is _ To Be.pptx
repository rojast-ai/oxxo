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Open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lkjvmFTq+iL3tQ1CuQNbKrSsg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.fntdata"/><Relationship Id="rId10" Type="http://schemas.openxmlformats.org/officeDocument/2006/relationships/font" Target="fonts/OpenSans-regular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6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Img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1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 dibujo de una cara feliz&#10;&#10;Descripción generada automáticamente con confianza baja" id="23" name="Google Shape;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2757" y="1850551"/>
            <a:ext cx="2865004" cy="1428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Diapositiva de título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None/>
              <a:defRPr b="1" sz="2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Icono&#10;&#10;Descripción generada automáticamente con confianza media" id="32" name="Google Shape;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5780" y="1658585"/>
            <a:ext cx="3262106" cy="1770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 showMasterSp="0">
  <p:cSld name="Sec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3"/>
          <p:cNvSpPr txBox="1"/>
          <p:nvPr>
            <p:ph type="title"/>
          </p:nvPr>
        </p:nvSpPr>
        <p:spPr>
          <a:xfrm>
            <a:off x="1067598" y="2519363"/>
            <a:ext cx="7190035" cy="181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1067598" y="6282000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Icono&#10;&#10;Descripción generada automáticamente con confianza media" id="37" name="Google Shape;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8537" y="414725"/>
            <a:ext cx="1841374" cy="99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94410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/>
          <p:nvPr>
            <p:ph idx="2" type="pic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Img" showMasterSp="0">
  <p:cSld name="Final Img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57" name="Google Shape;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2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showMasterSp="0">
  <p:cSld name="Final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60" name="Google Shape;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1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831850" y="2155371"/>
            <a:ext cx="9385170" cy="393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6" name="Google Shape;66;p19"/>
          <p:cNvSpPr txBox="1"/>
          <p:nvPr>
            <p:ph type="title"/>
          </p:nvPr>
        </p:nvSpPr>
        <p:spPr>
          <a:xfrm>
            <a:off x="831850" y="6964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B532"/>
              </a:buClr>
              <a:buSzPts val="3600"/>
              <a:buFont typeface="Avenir"/>
              <a:buNone/>
              <a:defRPr b="1" sz="3600">
                <a:solidFill>
                  <a:srgbClr val="FEB5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Img" showMasterSp="0">
  <p:cSld name="Final Img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79" name="Google Shape;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2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Img" showMasterSp="0" type="title">
  <p:cSld name="TITL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0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1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 dibujo de una cara feliz&#10;&#10;Descripción generada automáticamente con confianza baja" id="84" name="Google Shape;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2757" y="1850551"/>
            <a:ext cx="2865004" cy="1428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Diapositiva de título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1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None/>
              <a:defRPr b="1" sz="2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Icono&#10;&#10;Descripción generada automáticamente con confianza media" id="89" name="Google Shape;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5780" y="1658585"/>
            <a:ext cx="3262106" cy="1770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 showMasterSp="0">
  <p:cSld name="Sec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3"/>
          <p:cNvSpPr txBox="1"/>
          <p:nvPr>
            <p:ph type="title"/>
          </p:nvPr>
        </p:nvSpPr>
        <p:spPr>
          <a:xfrm>
            <a:off x="1067598" y="2519363"/>
            <a:ext cx="7190035" cy="181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1" type="ftr"/>
          </p:nvPr>
        </p:nvSpPr>
        <p:spPr>
          <a:xfrm>
            <a:off x="1067598" y="6282000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Icono&#10;&#10;Descripción generada automáticamente con confianza media" id="98" name="Google Shape;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8537" y="414725"/>
            <a:ext cx="1841374" cy="99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title"/>
          </p:nvPr>
        </p:nvSpPr>
        <p:spPr>
          <a:xfrm>
            <a:off x="839788" y="365125"/>
            <a:ext cx="94410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" type="body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9" name="Google Shape;109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0" name="Google Shape;110;p25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/>
          <p:nvPr>
            <p:ph idx="2" type="pic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5" name="Google Shape;115;p26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showMasterSp="0">
  <p:cSld name="Final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118" name="Google Shape;1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1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831850" y="2155371"/>
            <a:ext cx="9385170" cy="393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2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24" name="Google Shape;124;p28"/>
          <p:cNvSpPr txBox="1"/>
          <p:nvPr>
            <p:ph type="title"/>
          </p:nvPr>
        </p:nvSpPr>
        <p:spPr>
          <a:xfrm>
            <a:off x="831850" y="6964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B532"/>
              </a:buClr>
              <a:buSzPts val="3600"/>
              <a:buFont typeface="Avenir"/>
              <a:buNone/>
              <a:defRPr b="1" sz="3600">
                <a:solidFill>
                  <a:srgbClr val="FEB5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508800" y="250442"/>
            <a:ext cx="113529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pen Sans"/>
              <a:buNone/>
              <a:defRPr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/>
          <p:nvPr/>
        </p:nvSpPr>
        <p:spPr>
          <a:xfrm>
            <a:off x="1" y="338503"/>
            <a:ext cx="205737" cy="409411"/>
          </a:xfrm>
          <a:custGeom>
            <a:rect b="b" l="l" r="r" t="t"/>
            <a:pathLst>
              <a:path extrusionOk="0" h="648450" w="32586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8" name="Google Shape;12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09144" y="6450703"/>
            <a:ext cx="453862" cy="313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"/>
          <p:cNvGrpSpPr/>
          <p:nvPr/>
        </p:nvGrpSpPr>
        <p:grpSpPr>
          <a:xfrm>
            <a:off x="0" y="0"/>
            <a:ext cx="12193199" cy="6657231"/>
            <a:chOff x="0" y="0"/>
            <a:chExt cx="12193199" cy="6657231"/>
          </a:xfrm>
        </p:grpSpPr>
        <p:sp>
          <p:nvSpPr>
            <p:cNvPr id="11" name="Google Shape;11;p7"/>
            <p:cNvSpPr/>
            <p:nvPr/>
          </p:nvSpPr>
          <p:spPr>
            <a:xfrm>
              <a:off x="5951805" y="0"/>
              <a:ext cx="6241330" cy="6657231"/>
            </a:xfrm>
            <a:custGeom>
              <a:rect b="b" l="l" r="r" t="t"/>
              <a:pathLst>
                <a:path extrusionOk="0" h="6657231" w="6241330">
                  <a:moveTo>
                    <a:pt x="5360372" y="6443737"/>
                  </a:moveTo>
                  <a:cubicBezTo>
                    <a:pt x="4900968" y="6708750"/>
                    <a:pt x="4330174" y="6708750"/>
                    <a:pt x="3870769" y="6443737"/>
                  </a:cubicBezTo>
                  <a:lnTo>
                    <a:pt x="759535" y="4649175"/>
                  </a:lnTo>
                  <a:cubicBezTo>
                    <a:pt x="300131" y="4384162"/>
                    <a:pt x="14733" y="3890364"/>
                    <a:pt x="14733" y="3360339"/>
                  </a:cubicBezTo>
                  <a:lnTo>
                    <a:pt x="14733" y="0"/>
                  </a:lnTo>
                  <a:lnTo>
                    <a:pt x="0" y="0"/>
                  </a:lnTo>
                  <a:lnTo>
                    <a:pt x="0" y="3360402"/>
                  </a:lnTo>
                  <a:cubicBezTo>
                    <a:pt x="0" y="3895630"/>
                    <a:pt x="288191" y="4394377"/>
                    <a:pt x="752168" y="4661991"/>
                  </a:cubicBezTo>
                  <a:lnTo>
                    <a:pt x="3863403" y="6456553"/>
                  </a:lnTo>
                  <a:cubicBezTo>
                    <a:pt x="4095391" y="6590360"/>
                    <a:pt x="4355450" y="6657232"/>
                    <a:pt x="4615571" y="6657232"/>
                  </a:cubicBezTo>
                  <a:cubicBezTo>
                    <a:pt x="4875692" y="6657232"/>
                    <a:pt x="5135751" y="6590360"/>
                    <a:pt x="5367739" y="6456553"/>
                  </a:cubicBezTo>
                  <a:lnTo>
                    <a:pt x="6241331" y="5952667"/>
                  </a:lnTo>
                  <a:lnTo>
                    <a:pt x="6241331" y="5935600"/>
                  </a:lnTo>
                  <a:lnTo>
                    <a:pt x="5360309" y="6443737"/>
                  </a:ln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7"/>
            <p:cNvSpPr/>
            <p:nvPr/>
          </p:nvSpPr>
          <p:spPr>
            <a:xfrm>
              <a:off x="0" y="0"/>
              <a:ext cx="4781385" cy="3597371"/>
            </a:xfrm>
            <a:custGeom>
              <a:rect b="b" l="l" r="r" t="t"/>
              <a:pathLst>
                <a:path extrusionOk="0" h="3597371" w="4781385">
                  <a:moveTo>
                    <a:pt x="2131397" y="3597372"/>
                  </a:moveTo>
                  <a:cubicBezTo>
                    <a:pt x="2281145" y="3597372"/>
                    <a:pt x="2430892" y="3558860"/>
                    <a:pt x="2564446" y="3481837"/>
                  </a:cubicBezTo>
                  <a:lnTo>
                    <a:pt x="4348337" y="2452875"/>
                  </a:lnTo>
                  <a:cubicBezTo>
                    <a:pt x="4615444" y="2298828"/>
                    <a:pt x="4781386" y="2011673"/>
                    <a:pt x="4781386" y="1703517"/>
                  </a:cubicBezTo>
                  <a:lnTo>
                    <a:pt x="4781386" y="0"/>
                  </a:lnTo>
                  <a:lnTo>
                    <a:pt x="4765827" y="0"/>
                  </a:lnTo>
                  <a:lnTo>
                    <a:pt x="4765827" y="1703517"/>
                  </a:lnTo>
                  <a:cubicBezTo>
                    <a:pt x="4765827" y="2006153"/>
                    <a:pt x="4602870" y="2288106"/>
                    <a:pt x="4340525" y="2439424"/>
                  </a:cubicBezTo>
                  <a:lnTo>
                    <a:pt x="2556635" y="3468387"/>
                  </a:lnTo>
                  <a:cubicBezTo>
                    <a:pt x="2294354" y="3619705"/>
                    <a:pt x="1968440" y="3619705"/>
                    <a:pt x="1706095" y="3468387"/>
                  </a:cubicBezTo>
                  <a:lnTo>
                    <a:pt x="0" y="2484280"/>
                  </a:lnTo>
                  <a:lnTo>
                    <a:pt x="0" y="2502172"/>
                  </a:lnTo>
                  <a:lnTo>
                    <a:pt x="1698348" y="3481774"/>
                  </a:lnTo>
                  <a:cubicBezTo>
                    <a:pt x="1831901" y="3558797"/>
                    <a:pt x="1981649" y="3597308"/>
                    <a:pt x="2131397" y="3597308"/>
                  </a:cubicBez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13;p7"/>
            <p:cNvSpPr/>
            <p:nvPr/>
          </p:nvSpPr>
          <p:spPr>
            <a:xfrm>
              <a:off x="10140360" y="0"/>
              <a:ext cx="2052839" cy="1624083"/>
            </a:xfrm>
            <a:custGeom>
              <a:rect b="b" l="l" r="r" t="t"/>
              <a:pathLst>
                <a:path extrusionOk="0" h="1624083" w="2052839">
                  <a:moveTo>
                    <a:pt x="1485221" y="1555499"/>
                  </a:moveTo>
                  <a:cubicBezTo>
                    <a:pt x="1359732" y="1627890"/>
                    <a:pt x="1203761" y="1627890"/>
                    <a:pt x="1078273" y="1555499"/>
                  </a:cubicBezTo>
                  <a:lnTo>
                    <a:pt x="217700" y="1059099"/>
                  </a:lnTo>
                  <a:cubicBezTo>
                    <a:pt x="92211" y="986708"/>
                    <a:pt x="14225" y="851759"/>
                    <a:pt x="14225" y="706976"/>
                  </a:cubicBezTo>
                  <a:lnTo>
                    <a:pt x="14225" y="0"/>
                  </a:lnTo>
                  <a:lnTo>
                    <a:pt x="0" y="0"/>
                  </a:lnTo>
                  <a:lnTo>
                    <a:pt x="0" y="707039"/>
                  </a:lnTo>
                  <a:cubicBezTo>
                    <a:pt x="0" y="856898"/>
                    <a:pt x="80716" y="996542"/>
                    <a:pt x="210587" y="1071471"/>
                  </a:cubicBezTo>
                  <a:lnTo>
                    <a:pt x="1071160" y="1567870"/>
                  </a:lnTo>
                  <a:cubicBezTo>
                    <a:pt x="1136127" y="1605367"/>
                    <a:pt x="1208905" y="1624083"/>
                    <a:pt x="1281746" y="1624083"/>
                  </a:cubicBezTo>
                  <a:cubicBezTo>
                    <a:pt x="1354589" y="1624083"/>
                    <a:pt x="1427367" y="1605367"/>
                    <a:pt x="1492333" y="1567870"/>
                  </a:cubicBezTo>
                  <a:lnTo>
                    <a:pt x="2052840" y="1244551"/>
                  </a:lnTo>
                  <a:lnTo>
                    <a:pt x="2052840" y="1228119"/>
                  </a:lnTo>
                  <a:lnTo>
                    <a:pt x="1485221" y="1555499"/>
                  </a:lnTo>
                  <a:close/>
                </a:path>
              </a:pathLst>
            </a:custGeom>
            <a:solidFill>
              <a:srgbClr val="FF5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" name="Google Shape;14;p7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6828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7" name="Google Shape;17;p7"/>
          <p:cNvSpPr txBox="1"/>
          <p:nvPr/>
        </p:nvSpPr>
        <p:spPr>
          <a:xfrm>
            <a:off x="5583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/>
          </a:p>
        </p:txBody>
      </p:sp>
      <p:pic>
        <p:nvPicPr>
          <p:cNvPr descr="Un dibujo de una cara feliz&#10;&#10;Descripción generada automáticamente con confianza baja" id="18" name="Google Shape;18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46478" y="274317"/>
            <a:ext cx="1215041" cy="60580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0"/>
          <p:cNvGrpSpPr/>
          <p:nvPr/>
        </p:nvGrpSpPr>
        <p:grpSpPr>
          <a:xfrm>
            <a:off x="0" y="0"/>
            <a:ext cx="12193199" cy="6657231"/>
            <a:chOff x="0" y="0"/>
            <a:chExt cx="12193199" cy="6657231"/>
          </a:xfrm>
        </p:grpSpPr>
        <p:sp>
          <p:nvSpPr>
            <p:cNvPr id="69" name="Google Shape;69;p10"/>
            <p:cNvSpPr/>
            <p:nvPr/>
          </p:nvSpPr>
          <p:spPr>
            <a:xfrm>
              <a:off x="5951805" y="0"/>
              <a:ext cx="6241330" cy="6657231"/>
            </a:xfrm>
            <a:custGeom>
              <a:rect b="b" l="l" r="r" t="t"/>
              <a:pathLst>
                <a:path extrusionOk="0" h="6657231" w="6241330">
                  <a:moveTo>
                    <a:pt x="5360372" y="6443737"/>
                  </a:moveTo>
                  <a:cubicBezTo>
                    <a:pt x="4900968" y="6708750"/>
                    <a:pt x="4330174" y="6708750"/>
                    <a:pt x="3870769" y="6443737"/>
                  </a:cubicBezTo>
                  <a:lnTo>
                    <a:pt x="759535" y="4649175"/>
                  </a:lnTo>
                  <a:cubicBezTo>
                    <a:pt x="300131" y="4384162"/>
                    <a:pt x="14733" y="3890364"/>
                    <a:pt x="14733" y="3360339"/>
                  </a:cubicBezTo>
                  <a:lnTo>
                    <a:pt x="14733" y="0"/>
                  </a:lnTo>
                  <a:lnTo>
                    <a:pt x="0" y="0"/>
                  </a:lnTo>
                  <a:lnTo>
                    <a:pt x="0" y="3360402"/>
                  </a:lnTo>
                  <a:cubicBezTo>
                    <a:pt x="0" y="3895630"/>
                    <a:pt x="288191" y="4394377"/>
                    <a:pt x="752168" y="4661991"/>
                  </a:cubicBezTo>
                  <a:lnTo>
                    <a:pt x="3863403" y="6456553"/>
                  </a:lnTo>
                  <a:cubicBezTo>
                    <a:pt x="4095391" y="6590360"/>
                    <a:pt x="4355450" y="6657232"/>
                    <a:pt x="4615571" y="6657232"/>
                  </a:cubicBezTo>
                  <a:cubicBezTo>
                    <a:pt x="4875692" y="6657232"/>
                    <a:pt x="5135751" y="6590360"/>
                    <a:pt x="5367739" y="6456553"/>
                  </a:cubicBezTo>
                  <a:lnTo>
                    <a:pt x="6241331" y="5952667"/>
                  </a:lnTo>
                  <a:lnTo>
                    <a:pt x="6241331" y="5935600"/>
                  </a:lnTo>
                  <a:lnTo>
                    <a:pt x="5360309" y="6443737"/>
                  </a:ln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" name="Google Shape;70;p10"/>
            <p:cNvSpPr/>
            <p:nvPr/>
          </p:nvSpPr>
          <p:spPr>
            <a:xfrm>
              <a:off x="0" y="0"/>
              <a:ext cx="4781385" cy="3597371"/>
            </a:xfrm>
            <a:custGeom>
              <a:rect b="b" l="l" r="r" t="t"/>
              <a:pathLst>
                <a:path extrusionOk="0" h="3597371" w="4781385">
                  <a:moveTo>
                    <a:pt x="2131397" y="3597372"/>
                  </a:moveTo>
                  <a:cubicBezTo>
                    <a:pt x="2281145" y="3597372"/>
                    <a:pt x="2430892" y="3558860"/>
                    <a:pt x="2564446" y="3481837"/>
                  </a:cubicBezTo>
                  <a:lnTo>
                    <a:pt x="4348337" y="2452875"/>
                  </a:lnTo>
                  <a:cubicBezTo>
                    <a:pt x="4615444" y="2298828"/>
                    <a:pt x="4781386" y="2011673"/>
                    <a:pt x="4781386" y="1703517"/>
                  </a:cubicBezTo>
                  <a:lnTo>
                    <a:pt x="4781386" y="0"/>
                  </a:lnTo>
                  <a:lnTo>
                    <a:pt x="4765827" y="0"/>
                  </a:lnTo>
                  <a:lnTo>
                    <a:pt x="4765827" y="1703517"/>
                  </a:lnTo>
                  <a:cubicBezTo>
                    <a:pt x="4765827" y="2006153"/>
                    <a:pt x="4602870" y="2288106"/>
                    <a:pt x="4340525" y="2439424"/>
                  </a:cubicBezTo>
                  <a:lnTo>
                    <a:pt x="2556635" y="3468387"/>
                  </a:lnTo>
                  <a:cubicBezTo>
                    <a:pt x="2294354" y="3619705"/>
                    <a:pt x="1968440" y="3619705"/>
                    <a:pt x="1706095" y="3468387"/>
                  </a:cubicBezTo>
                  <a:lnTo>
                    <a:pt x="0" y="2484280"/>
                  </a:lnTo>
                  <a:lnTo>
                    <a:pt x="0" y="2502172"/>
                  </a:lnTo>
                  <a:lnTo>
                    <a:pt x="1698348" y="3481774"/>
                  </a:lnTo>
                  <a:cubicBezTo>
                    <a:pt x="1831901" y="3558797"/>
                    <a:pt x="1981649" y="3597308"/>
                    <a:pt x="2131397" y="3597308"/>
                  </a:cubicBez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10140360" y="0"/>
              <a:ext cx="2052839" cy="1624083"/>
            </a:xfrm>
            <a:custGeom>
              <a:rect b="b" l="l" r="r" t="t"/>
              <a:pathLst>
                <a:path extrusionOk="0" h="1624083" w="2052839">
                  <a:moveTo>
                    <a:pt x="1485221" y="1555499"/>
                  </a:moveTo>
                  <a:cubicBezTo>
                    <a:pt x="1359732" y="1627890"/>
                    <a:pt x="1203761" y="1627890"/>
                    <a:pt x="1078273" y="1555499"/>
                  </a:cubicBezTo>
                  <a:lnTo>
                    <a:pt x="217700" y="1059099"/>
                  </a:lnTo>
                  <a:cubicBezTo>
                    <a:pt x="92211" y="986708"/>
                    <a:pt x="14225" y="851759"/>
                    <a:pt x="14225" y="706976"/>
                  </a:cubicBezTo>
                  <a:lnTo>
                    <a:pt x="14225" y="0"/>
                  </a:lnTo>
                  <a:lnTo>
                    <a:pt x="0" y="0"/>
                  </a:lnTo>
                  <a:lnTo>
                    <a:pt x="0" y="707039"/>
                  </a:lnTo>
                  <a:cubicBezTo>
                    <a:pt x="0" y="856898"/>
                    <a:pt x="80716" y="996542"/>
                    <a:pt x="210587" y="1071471"/>
                  </a:cubicBezTo>
                  <a:lnTo>
                    <a:pt x="1071160" y="1567870"/>
                  </a:lnTo>
                  <a:cubicBezTo>
                    <a:pt x="1136127" y="1605367"/>
                    <a:pt x="1208905" y="1624083"/>
                    <a:pt x="1281746" y="1624083"/>
                  </a:cubicBezTo>
                  <a:cubicBezTo>
                    <a:pt x="1354589" y="1624083"/>
                    <a:pt x="1427367" y="1605367"/>
                    <a:pt x="1492333" y="1567870"/>
                  </a:cubicBezTo>
                  <a:lnTo>
                    <a:pt x="2052840" y="1244551"/>
                  </a:lnTo>
                  <a:lnTo>
                    <a:pt x="2052840" y="1228119"/>
                  </a:lnTo>
                  <a:lnTo>
                    <a:pt x="1485221" y="1555499"/>
                  </a:lnTo>
                  <a:close/>
                </a:path>
              </a:pathLst>
            </a:custGeom>
            <a:solidFill>
              <a:srgbClr val="FF5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2" name="Google Shape;72;p10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6828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5" name="Google Shape;75;p10"/>
          <p:cNvSpPr txBox="1"/>
          <p:nvPr/>
        </p:nvSpPr>
        <p:spPr>
          <a:xfrm>
            <a:off x="5583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/>
          </a:p>
        </p:txBody>
      </p:sp>
      <p:pic>
        <p:nvPicPr>
          <p:cNvPr descr="Un dibujo de una cara feliz&#10;&#10;Descripción generada automáticamente con confianza baja" id="76" name="Google Shape;76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46478" y="274317"/>
            <a:ext cx="1215041" cy="60580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lang="es-MX" sz="3200"/>
              <a:t>Estrategia y Transformación</a:t>
            </a:r>
            <a:endParaRPr sz="3200"/>
          </a:p>
        </p:txBody>
      </p:sp>
      <p:sp>
        <p:nvSpPr>
          <p:cNvPr id="134" name="Google Shape;134;p1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s-MX" sz="2400"/>
              <a:t>Estructuras Organizacionales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5263371" y="1355652"/>
            <a:ext cx="188110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Estrategia y Transformación</a:t>
            </a:r>
            <a:endParaRPr/>
          </a:p>
        </p:txBody>
      </p:sp>
      <p:cxnSp>
        <p:nvCxnSpPr>
          <p:cNvPr id="141" name="Google Shape;141;p3"/>
          <p:cNvCxnSpPr>
            <a:stCxn id="140" idx="2"/>
            <a:endCxn id="142" idx="0"/>
          </p:cNvCxnSpPr>
          <p:nvPr/>
        </p:nvCxnSpPr>
        <p:spPr>
          <a:xfrm rot="5400000">
            <a:off x="3395173" y="-661398"/>
            <a:ext cx="338100" cy="5279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3"/>
          <p:cNvCxnSpPr>
            <a:stCxn id="140" idx="2"/>
            <a:endCxn id="144" idx="0"/>
          </p:cNvCxnSpPr>
          <p:nvPr/>
        </p:nvCxnSpPr>
        <p:spPr>
          <a:xfrm rot="5400000">
            <a:off x="5992573" y="1936002"/>
            <a:ext cx="338100" cy="84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3"/>
          <p:cNvSpPr/>
          <p:nvPr/>
        </p:nvSpPr>
        <p:spPr>
          <a:xfrm>
            <a:off x="401164" y="2824364"/>
            <a:ext cx="135132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Estrategia</a:t>
            </a:r>
            <a:endParaRPr/>
          </a:p>
        </p:txBody>
      </p:sp>
      <p:cxnSp>
        <p:nvCxnSpPr>
          <p:cNvPr id="146" name="Google Shape;146;p3"/>
          <p:cNvCxnSpPr>
            <a:endCxn id="145" idx="1"/>
          </p:cNvCxnSpPr>
          <p:nvPr/>
        </p:nvCxnSpPr>
        <p:spPr>
          <a:xfrm flipH="1" rot="-5400000">
            <a:off x="79864" y="2729864"/>
            <a:ext cx="438600" cy="204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3"/>
          <p:cNvSpPr/>
          <p:nvPr/>
        </p:nvSpPr>
        <p:spPr>
          <a:xfrm>
            <a:off x="96485" y="2147420"/>
            <a:ext cx="1656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Estrategia</a:t>
            </a:r>
            <a:endParaRPr b="1" i="0" sz="900" u="none" cap="none" strike="noStrike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5291399" y="2147420"/>
            <a:ext cx="1656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Value Delivery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401163" y="3461449"/>
            <a:ext cx="135132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Planeación</a:t>
            </a:r>
            <a:endParaRPr/>
          </a:p>
        </p:txBody>
      </p:sp>
      <p:cxnSp>
        <p:nvCxnSpPr>
          <p:cNvPr id="148" name="Google Shape;148;p3"/>
          <p:cNvCxnSpPr>
            <a:endCxn id="147" idx="1"/>
          </p:cNvCxnSpPr>
          <p:nvPr/>
        </p:nvCxnSpPr>
        <p:spPr>
          <a:xfrm flipH="1" rot="-5400000">
            <a:off x="-186837" y="3100249"/>
            <a:ext cx="972000" cy="204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3"/>
          <p:cNvSpPr/>
          <p:nvPr/>
        </p:nvSpPr>
        <p:spPr>
          <a:xfrm>
            <a:off x="1813441" y="2147420"/>
            <a:ext cx="1656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Value Delivery</a:t>
            </a:r>
            <a:endParaRPr b="0" i="1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546249" y="2147420"/>
            <a:ext cx="1656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Value Delivery </a:t>
            </a:r>
            <a:endParaRPr/>
          </a:p>
        </p:txBody>
      </p:sp>
      <p:cxnSp>
        <p:nvCxnSpPr>
          <p:cNvPr id="151" name="Google Shape;151;p3"/>
          <p:cNvCxnSpPr>
            <a:stCxn id="140" idx="2"/>
            <a:endCxn id="149" idx="0"/>
          </p:cNvCxnSpPr>
          <p:nvPr/>
        </p:nvCxnSpPr>
        <p:spPr>
          <a:xfrm rot="5400000">
            <a:off x="4253623" y="197052"/>
            <a:ext cx="338100" cy="3562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" name="Google Shape;152;p3"/>
          <p:cNvCxnSpPr>
            <a:stCxn id="140" idx="2"/>
            <a:endCxn id="150" idx="0"/>
          </p:cNvCxnSpPr>
          <p:nvPr/>
        </p:nvCxnSpPr>
        <p:spPr>
          <a:xfrm rot="5400000">
            <a:off x="5120023" y="1063452"/>
            <a:ext cx="338100" cy="1829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3"/>
          <p:cNvSpPr/>
          <p:nvPr/>
        </p:nvSpPr>
        <p:spPr>
          <a:xfrm>
            <a:off x="2118120" y="2812934"/>
            <a:ext cx="135132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Value Delivery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3"/>
          <p:cNvCxnSpPr>
            <a:endCxn id="153" idx="1"/>
          </p:cNvCxnSpPr>
          <p:nvPr/>
        </p:nvCxnSpPr>
        <p:spPr>
          <a:xfrm flipH="1" rot="-5400000">
            <a:off x="1816170" y="2737784"/>
            <a:ext cx="438600" cy="165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3"/>
          <p:cNvSpPr/>
          <p:nvPr/>
        </p:nvSpPr>
        <p:spPr>
          <a:xfrm>
            <a:off x="8762717" y="2147420"/>
            <a:ext cx="1656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Procesos y Metodología</a:t>
            </a:r>
            <a:endParaRPr/>
          </a:p>
        </p:txBody>
      </p:sp>
      <p:cxnSp>
        <p:nvCxnSpPr>
          <p:cNvPr id="156" name="Google Shape;156;p3"/>
          <p:cNvCxnSpPr>
            <a:stCxn id="140" idx="2"/>
            <a:endCxn id="157" idx="0"/>
          </p:cNvCxnSpPr>
          <p:nvPr/>
        </p:nvCxnSpPr>
        <p:spPr>
          <a:xfrm flipH="1" rot="-5400000">
            <a:off x="6864823" y="1148352"/>
            <a:ext cx="338100" cy="16599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" name="Google Shape;157;p3"/>
          <p:cNvSpPr/>
          <p:nvPr/>
        </p:nvSpPr>
        <p:spPr>
          <a:xfrm>
            <a:off x="7035909" y="2147420"/>
            <a:ext cx="1656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Value Delivery</a:t>
            </a:r>
            <a:endParaRPr b="0" i="1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3"/>
          <p:cNvCxnSpPr>
            <a:stCxn id="140" idx="2"/>
            <a:endCxn id="155" idx="0"/>
          </p:cNvCxnSpPr>
          <p:nvPr/>
        </p:nvCxnSpPr>
        <p:spPr>
          <a:xfrm flipH="1" rot="-5400000">
            <a:off x="7728223" y="284952"/>
            <a:ext cx="338100" cy="338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3"/>
          <p:cNvSpPr/>
          <p:nvPr/>
        </p:nvSpPr>
        <p:spPr>
          <a:xfrm>
            <a:off x="1785668" y="2056537"/>
            <a:ext cx="8679131" cy="1894810"/>
          </a:xfrm>
          <a:prstGeom prst="rect">
            <a:avLst/>
          </a:prstGeom>
          <a:noFill/>
          <a:ln cap="flat" cmpd="sng" w="19050">
            <a:solidFill>
              <a:srgbClr val="FFDDCC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9172828" y="3688249"/>
            <a:ext cx="1142564" cy="21544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 Management Office</a:t>
            </a:r>
            <a:endParaRPr b="1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10488549" y="2147420"/>
            <a:ext cx="1656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Comercial Servicios</a:t>
            </a:r>
            <a:endParaRPr/>
          </a:p>
        </p:txBody>
      </p:sp>
      <p:cxnSp>
        <p:nvCxnSpPr>
          <p:cNvPr id="162" name="Google Shape;162;p3"/>
          <p:cNvCxnSpPr>
            <a:stCxn id="140" idx="2"/>
            <a:endCxn id="161" idx="0"/>
          </p:cNvCxnSpPr>
          <p:nvPr/>
        </p:nvCxnSpPr>
        <p:spPr>
          <a:xfrm flipH="1" rot="-5400000">
            <a:off x="8591173" y="-577998"/>
            <a:ext cx="338100" cy="511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3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Dirección Estrategia y Transformación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-2" y="1121804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3850928" y="2812934"/>
            <a:ext cx="135132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Value Delivery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3"/>
          <p:cNvCxnSpPr>
            <a:endCxn id="165" idx="1"/>
          </p:cNvCxnSpPr>
          <p:nvPr/>
        </p:nvCxnSpPr>
        <p:spPr>
          <a:xfrm flipH="1" rot="-5400000">
            <a:off x="3529178" y="2717984"/>
            <a:ext cx="438600" cy="204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/>
        </p:nvSpPr>
        <p:spPr>
          <a:xfrm>
            <a:off x="444843" y="-19373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Comercial Servicios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3" name="Google Shape;173;p5"/>
          <p:cNvCxnSpPr>
            <a:endCxn id="174" idx="0"/>
          </p:cNvCxnSpPr>
          <p:nvPr/>
        </p:nvCxnSpPr>
        <p:spPr>
          <a:xfrm flipH="1">
            <a:off x="1907981" y="913484"/>
            <a:ext cx="4134900" cy="153300"/>
          </a:xfrm>
          <a:prstGeom prst="bentConnector3">
            <a:avLst>
              <a:gd fmla="val 1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5" name="Google Shape;175;p5"/>
          <p:cNvCxnSpPr/>
          <p:nvPr/>
        </p:nvCxnSpPr>
        <p:spPr>
          <a:xfrm flipH="1">
            <a:off x="3517434" y="913517"/>
            <a:ext cx="2525400" cy="1533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6" name="Google Shape;176;p5"/>
          <p:cNvCxnSpPr/>
          <p:nvPr/>
        </p:nvCxnSpPr>
        <p:spPr>
          <a:xfrm flipH="1">
            <a:off x="5171634" y="913517"/>
            <a:ext cx="871200" cy="1533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5"/>
          <p:cNvCxnSpPr/>
          <p:nvPr/>
        </p:nvCxnSpPr>
        <p:spPr>
          <a:xfrm>
            <a:off x="6042833" y="913516"/>
            <a:ext cx="792600" cy="1533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5"/>
          <p:cNvSpPr/>
          <p:nvPr/>
        </p:nvSpPr>
        <p:spPr>
          <a:xfrm>
            <a:off x="1227581" y="1066784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Comercial Serv Financiero</a:t>
            </a:r>
            <a:endParaRPr/>
          </a:p>
        </p:txBody>
      </p:sp>
      <p:cxnSp>
        <p:nvCxnSpPr>
          <p:cNvPr id="178" name="Google Shape;178;p5"/>
          <p:cNvCxnSpPr/>
          <p:nvPr/>
        </p:nvCxnSpPr>
        <p:spPr>
          <a:xfrm>
            <a:off x="6042833" y="913516"/>
            <a:ext cx="2492100" cy="1533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5"/>
          <p:cNvCxnSpPr/>
          <p:nvPr/>
        </p:nvCxnSpPr>
        <p:spPr>
          <a:xfrm>
            <a:off x="6042833" y="913516"/>
            <a:ext cx="4156800" cy="1533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5"/>
          <p:cNvSpPr/>
          <p:nvPr/>
        </p:nvSpPr>
        <p:spPr>
          <a:xfrm>
            <a:off x="1349981" y="1571405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Comercial Dispe Efe</a:t>
            </a:r>
            <a:endParaRPr/>
          </a:p>
        </p:txBody>
      </p:sp>
      <p:cxnSp>
        <p:nvCxnSpPr>
          <p:cNvPr id="181" name="Google Shape;181;p5"/>
          <p:cNvCxnSpPr/>
          <p:nvPr/>
        </p:nvCxnSpPr>
        <p:spPr>
          <a:xfrm flipH="1" rot="-5400000">
            <a:off x="1170844" y="1621372"/>
            <a:ext cx="265500" cy="92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5"/>
          <p:cNvCxnSpPr>
            <a:endCxn id="183" idx="1"/>
          </p:cNvCxnSpPr>
          <p:nvPr/>
        </p:nvCxnSpPr>
        <p:spPr>
          <a:xfrm flipH="1" rot="-5400000">
            <a:off x="1317281" y="2144126"/>
            <a:ext cx="214500" cy="102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" name="Google Shape;184;p5"/>
          <p:cNvCxnSpPr>
            <a:endCxn id="185" idx="1"/>
          </p:cNvCxnSpPr>
          <p:nvPr/>
        </p:nvCxnSpPr>
        <p:spPr>
          <a:xfrm flipH="1" rot="-5400000">
            <a:off x="1039631" y="2371097"/>
            <a:ext cx="769800" cy="102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5"/>
          <p:cNvSpPr/>
          <p:nvPr/>
        </p:nvSpPr>
        <p:spPr>
          <a:xfrm>
            <a:off x="1475981" y="2076026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Com Retiro Efectivo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1475981" y="2580647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Com Retiro Efectivo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1349979" y="3085268"/>
            <a:ext cx="123840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Com Corresponsalía</a:t>
            </a:r>
            <a:endParaRPr/>
          </a:p>
        </p:txBody>
      </p:sp>
      <p:cxnSp>
        <p:nvCxnSpPr>
          <p:cNvPr id="187" name="Google Shape;187;p5"/>
          <p:cNvCxnSpPr>
            <a:endCxn id="186" idx="1"/>
          </p:cNvCxnSpPr>
          <p:nvPr/>
        </p:nvCxnSpPr>
        <p:spPr>
          <a:xfrm flipH="1" rot="-5400000">
            <a:off x="444729" y="2406818"/>
            <a:ext cx="1717800" cy="92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5"/>
          <p:cNvSpPr/>
          <p:nvPr/>
        </p:nvSpPr>
        <p:spPr>
          <a:xfrm>
            <a:off x="1475980" y="3589889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Com Corresponsalías</a:t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1475236" y="4094510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Com Corresponsalías</a:t>
            </a:r>
            <a:endParaRPr/>
          </a:p>
        </p:txBody>
      </p:sp>
      <p:cxnSp>
        <p:nvCxnSpPr>
          <p:cNvPr id="190" name="Google Shape;190;p5"/>
          <p:cNvCxnSpPr>
            <a:endCxn id="188" idx="1"/>
          </p:cNvCxnSpPr>
          <p:nvPr/>
        </p:nvCxnSpPr>
        <p:spPr>
          <a:xfrm flipH="1" rot="-5400000">
            <a:off x="1283680" y="3624389"/>
            <a:ext cx="301500" cy="83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5"/>
          <p:cNvCxnSpPr>
            <a:endCxn id="189" idx="1"/>
          </p:cNvCxnSpPr>
          <p:nvPr/>
        </p:nvCxnSpPr>
        <p:spPr>
          <a:xfrm flipH="1" rot="-5400000">
            <a:off x="1056886" y="3902960"/>
            <a:ext cx="755100" cy="81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5"/>
          <p:cNvSpPr/>
          <p:nvPr/>
        </p:nvSpPr>
        <p:spPr>
          <a:xfrm>
            <a:off x="1349235" y="4599131"/>
            <a:ext cx="123840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Comercial Spin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1484766" y="5103752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Spin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cxnSp>
        <p:nvCxnSpPr>
          <p:cNvPr id="194" name="Google Shape;194;p5"/>
          <p:cNvCxnSpPr>
            <a:endCxn id="192" idx="1"/>
          </p:cNvCxnSpPr>
          <p:nvPr/>
        </p:nvCxnSpPr>
        <p:spPr>
          <a:xfrm flipH="1" rot="-5400000">
            <a:off x="350235" y="3826931"/>
            <a:ext cx="1905300" cy="92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p5"/>
          <p:cNvCxnSpPr/>
          <p:nvPr/>
        </p:nvCxnSpPr>
        <p:spPr>
          <a:xfrm flipH="1" rot="-5400000">
            <a:off x="1293301" y="5161933"/>
            <a:ext cx="301500" cy="83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5"/>
          <p:cNvSpPr/>
          <p:nvPr/>
        </p:nvSpPr>
        <p:spPr>
          <a:xfrm>
            <a:off x="1373165" y="5608372"/>
            <a:ext cx="123840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Comer Medios Pago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1496970" y="6112994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Com Medios Pago</a:t>
            </a:r>
            <a:endParaRPr/>
          </a:p>
        </p:txBody>
      </p:sp>
      <p:cxnSp>
        <p:nvCxnSpPr>
          <p:cNvPr id="198" name="Google Shape;198;p5"/>
          <p:cNvCxnSpPr/>
          <p:nvPr/>
        </p:nvCxnSpPr>
        <p:spPr>
          <a:xfrm flipH="1" rot="-5400000">
            <a:off x="1322962" y="6170982"/>
            <a:ext cx="301500" cy="83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9" name="Google Shape;199;p5"/>
          <p:cNvCxnSpPr>
            <a:endCxn id="196" idx="1"/>
          </p:cNvCxnSpPr>
          <p:nvPr/>
        </p:nvCxnSpPr>
        <p:spPr>
          <a:xfrm flipH="1" rot="-5400000">
            <a:off x="608465" y="5070472"/>
            <a:ext cx="1412100" cy="117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0" name="Google Shape;200;p5"/>
          <p:cNvSpPr/>
          <p:nvPr/>
        </p:nvSpPr>
        <p:spPr>
          <a:xfrm>
            <a:off x="2959318" y="1571405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Desa Negocio CM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085318" y="2076026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Data Analytics CM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085318" y="2580647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Tecnología CM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3236518" y="3085268"/>
            <a:ext cx="9612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Product Owner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5"/>
          <p:cNvCxnSpPr>
            <a:endCxn id="201" idx="1"/>
          </p:cNvCxnSpPr>
          <p:nvPr/>
        </p:nvCxnSpPr>
        <p:spPr>
          <a:xfrm flipH="1" rot="-5400000">
            <a:off x="2915068" y="2131739"/>
            <a:ext cx="276900" cy="6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" name="Google Shape;205;p5"/>
          <p:cNvCxnSpPr>
            <a:endCxn id="202" idx="1"/>
          </p:cNvCxnSpPr>
          <p:nvPr/>
        </p:nvCxnSpPr>
        <p:spPr>
          <a:xfrm flipH="1" rot="-5400000">
            <a:off x="2740168" y="2461460"/>
            <a:ext cx="626700" cy="6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" name="Google Shape;206;p5"/>
          <p:cNvCxnSpPr>
            <a:endCxn id="203" idx="1"/>
          </p:cNvCxnSpPr>
          <p:nvPr/>
        </p:nvCxnSpPr>
        <p:spPr>
          <a:xfrm flipH="1" rot="-5400000">
            <a:off x="3071518" y="3146231"/>
            <a:ext cx="265800" cy="64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p5"/>
          <p:cNvSpPr/>
          <p:nvPr/>
        </p:nvSpPr>
        <p:spPr>
          <a:xfrm>
            <a:off x="2960011" y="3589889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Operaciones CM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3086011" y="4094510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Habilitación CM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3236528" y="4599131"/>
            <a:ext cx="961883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Habilitacion CM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cxnSp>
        <p:nvCxnSpPr>
          <p:cNvPr id="210" name="Google Shape;210;p5"/>
          <p:cNvCxnSpPr>
            <a:endCxn id="208" idx="1"/>
          </p:cNvCxnSpPr>
          <p:nvPr/>
        </p:nvCxnSpPr>
        <p:spPr>
          <a:xfrm flipH="1" rot="-5400000">
            <a:off x="2915461" y="4149923"/>
            <a:ext cx="276900" cy="64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1" name="Google Shape;211;p5"/>
          <p:cNvCxnSpPr>
            <a:endCxn id="209" idx="1"/>
          </p:cNvCxnSpPr>
          <p:nvPr/>
        </p:nvCxnSpPr>
        <p:spPr>
          <a:xfrm flipH="1" rot="-5400000">
            <a:off x="3064928" y="4653494"/>
            <a:ext cx="278700" cy="64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5"/>
          <p:cNvSpPr/>
          <p:nvPr/>
        </p:nvSpPr>
        <p:spPr>
          <a:xfrm>
            <a:off x="3086011" y="5103752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Mejora Op CM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237211" y="5608372"/>
            <a:ext cx="9612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Mejora Op CM</a:t>
            </a:r>
            <a:endParaRPr/>
          </a:p>
        </p:txBody>
      </p:sp>
      <p:cxnSp>
        <p:nvCxnSpPr>
          <p:cNvPr id="214" name="Google Shape;214;p5"/>
          <p:cNvCxnSpPr>
            <a:endCxn id="212" idx="1"/>
          </p:cNvCxnSpPr>
          <p:nvPr/>
        </p:nvCxnSpPr>
        <p:spPr>
          <a:xfrm flipH="1" rot="-5400000">
            <a:off x="2527711" y="4771415"/>
            <a:ext cx="1052400" cy="64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p5"/>
          <p:cNvCxnSpPr>
            <a:endCxn id="213" idx="1"/>
          </p:cNvCxnSpPr>
          <p:nvPr/>
        </p:nvCxnSpPr>
        <p:spPr>
          <a:xfrm flipH="1" rot="-5400000">
            <a:off x="3065311" y="5662435"/>
            <a:ext cx="278700" cy="65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5"/>
          <p:cNvSpPr/>
          <p:nvPr/>
        </p:nvSpPr>
        <p:spPr>
          <a:xfrm>
            <a:off x="2836918" y="1055580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Líder Transformación Cash Management</a:t>
            </a:r>
            <a:endParaRPr/>
          </a:p>
        </p:txBody>
      </p:sp>
      <p:cxnSp>
        <p:nvCxnSpPr>
          <p:cNvPr id="217" name="Google Shape;217;p5"/>
          <p:cNvCxnSpPr/>
          <p:nvPr/>
        </p:nvCxnSpPr>
        <p:spPr>
          <a:xfrm flipH="1" rot="-5400000">
            <a:off x="2788886" y="1619881"/>
            <a:ext cx="288900" cy="67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5"/>
          <p:cNvCxnSpPr/>
          <p:nvPr/>
        </p:nvCxnSpPr>
        <p:spPr>
          <a:xfrm flipH="1" rot="-5400000">
            <a:off x="1822437" y="2671483"/>
            <a:ext cx="2222400" cy="6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5"/>
          <p:cNvSpPr/>
          <p:nvPr/>
        </p:nvSpPr>
        <p:spPr>
          <a:xfrm>
            <a:off x="2953436" y="6112992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Remesas CM</a:t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3079436" y="6615939"/>
            <a:ext cx="1112400" cy="18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Equipo Extendido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5"/>
          <p:cNvCxnSpPr>
            <a:endCxn id="220" idx="1"/>
          </p:cNvCxnSpPr>
          <p:nvPr/>
        </p:nvCxnSpPr>
        <p:spPr>
          <a:xfrm flipH="1" rot="-5400000">
            <a:off x="2980886" y="6607389"/>
            <a:ext cx="139200" cy="57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2" name="Google Shape;222;p5"/>
          <p:cNvCxnSpPr/>
          <p:nvPr/>
        </p:nvCxnSpPr>
        <p:spPr>
          <a:xfrm flipH="1" rot="-5400000">
            <a:off x="1356387" y="4721472"/>
            <a:ext cx="3161400" cy="75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" name="Google Shape;223;p5"/>
          <p:cNvSpPr/>
          <p:nvPr/>
        </p:nvSpPr>
        <p:spPr>
          <a:xfrm>
            <a:off x="6166332" y="1066784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Comercial Telefonia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6288732" y="1582609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TAE OXXO Cel</a:t>
            </a:r>
            <a:endParaRPr/>
          </a:p>
        </p:txBody>
      </p:sp>
      <p:cxnSp>
        <p:nvCxnSpPr>
          <p:cNvPr id="225" name="Google Shape;225;p5"/>
          <p:cNvCxnSpPr/>
          <p:nvPr/>
        </p:nvCxnSpPr>
        <p:spPr>
          <a:xfrm flipH="1" rot="-5400000">
            <a:off x="6114856" y="1635431"/>
            <a:ext cx="279900" cy="6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p5"/>
          <p:cNvSpPr/>
          <p:nvPr/>
        </p:nvSpPr>
        <p:spPr>
          <a:xfrm>
            <a:off x="6557416" y="2082417"/>
            <a:ext cx="961200" cy="18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Eq. Extendido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5"/>
          <p:cNvCxnSpPr/>
          <p:nvPr/>
        </p:nvCxnSpPr>
        <p:spPr>
          <a:xfrm flipH="1" rot="-5400000">
            <a:off x="6456643" y="2081838"/>
            <a:ext cx="141000" cy="60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5"/>
          <p:cNvSpPr/>
          <p:nvPr/>
        </p:nvSpPr>
        <p:spPr>
          <a:xfrm>
            <a:off x="6288732" y="2352286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Nacional Activacel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5"/>
          <p:cNvCxnSpPr/>
          <p:nvPr/>
        </p:nvCxnSpPr>
        <p:spPr>
          <a:xfrm flipH="1" rot="-5400000">
            <a:off x="5784406" y="2082218"/>
            <a:ext cx="933300" cy="60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0" name="Google Shape;230;p5"/>
          <p:cNvSpPr/>
          <p:nvPr/>
        </p:nvSpPr>
        <p:spPr>
          <a:xfrm>
            <a:off x="6565932" y="2855233"/>
            <a:ext cx="961200" cy="18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Eq. Extendido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5"/>
          <p:cNvCxnSpPr/>
          <p:nvPr/>
        </p:nvCxnSpPr>
        <p:spPr>
          <a:xfrm flipH="1" rot="-5400000">
            <a:off x="6465159" y="2854654"/>
            <a:ext cx="141000" cy="60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5"/>
          <p:cNvSpPr/>
          <p:nvPr/>
        </p:nvSpPr>
        <p:spPr>
          <a:xfrm>
            <a:off x="6288732" y="3082870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Teléfonos SIMS</a:t>
            </a:r>
            <a:endParaRPr/>
          </a:p>
        </p:txBody>
      </p:sp>
      <p:cxnSp>
        <p:nvCxnSpPr>
          <p:cNvPr id="233" name="Google Shape;233;p5"/>
          <p:cNvCxnSpPr/>
          <p:nvPr/>
        </p:nvCxnSpPr>
        <p:spPr>
          <a:xfrm flipH="1" rot="-5400000">
            <a:off x="5784107" y="2804797"/>
            <a:ext cx="941400" cy="6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p5"/>
          <p:cNvSpPr/>
          <p:nvPr/>
        </p:nvSpPr>
        <p:spPr>
          <a:xfrm>
            <a:off x="4618877" y="1578534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Pagos Ecommerce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618877" y="3882276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Comercial Fullfillment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618877" y="491287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Operación Dis Fulfillment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896077" y="2609136"/>
            <a:ext cx="961200" cy="18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Eq. Extendido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5"/>
          <p:cNvCxnSpPr>
            <a:endCxn id="237" idx="1"/>
          </p:cNvCxnSpPr>
          <p:nvPr/>
        </p:nvCxnSpPr>
        <p:spPr>
          <a:xfrm flipH="1" rot="-5400000">
            <a:off x="4775477" y="2578536"/>
            <a:ext cx="173100" cy="6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9" name="Google Shape;239;p5"/>
          <p:cNvSpPr/>
          <p:nvPr/>
        </p:nvSpPr>
        <p:spPr>
          <a:xfrm>
            <a:off x="4744877" y="2094672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Com Giftcards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5"/>
          <p:cNvCxnSpPr/>
          <p:nvPr/>
        </p:nvCxnSpPr>
        <p:spPr>
          <a:xfrm flipH="1" rot="-5400000">
            <a:off x="4564263" y="2140075"/>
            <a:ext cx="288600" cy="72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" name="Google Shape;241;p5"/>
          <p:cNvCxnSpPr/>
          <p:nvPr/>
        </p:nvCxnSpPr>
        <p:spPr>
          <a:xfrm flipH="1" rot="-5400000">
            <a:off x="4440949" y="1617753"/>
            <a:ext cx="270000" cy="55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2" name="Google Shape;242;p5"/>
          <p:cNvSpPr/>
          <p:nvPr/>
        </p:nvSpPr>
        <p:spPr>
          <a:xfrm>
            <a:off x="4744877" y="2851674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Com E-Commerce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/>
          </a:p>
        </p:txBody>
      </p:sp>
      <p:cxnSp>
        <p:nvCxnSpPr>
          <p:cNvPr id="243" name="Google Shape;243;p5"/>
          <p:cNvCxnSpPr/>
          <p:nvPr/>
        </p:nvCxnSpPr>
        <p:spPr>
          <a:xfrm flipH="1" rot="-5400000">
            <a:off x="4256763" y="2561153"/>
            <a:ext cx="898200" cy="67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" name="Google Shape;244;p5"/>
          <p:cNvSpPr/>
          <p:nvPr/>
        </p:nvSpPr>
        <p:spPr>
          <a:xfrm>
            <a:off x="4744877" y="4398414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MKT Adquisición Cliente</a:t>
            </a:r>
            <a:endParaRPr/>
          </a:p>
        </p:txBody>
      </p:sp>
      <p:cxnSp>
        <p:nvCxnSpPr>
          <p:cNvPr id="245" name="Google Shape;245;p5"/>
          <p:cNvCxnSpPr/>
          <p:nvPr/>
        </p:nvCxnSpPr>
        <p:spPr>
          <a:xfrm flipH="1" rot="-5400000">
            <a:off x="3626599" y="2586626"/>
            <a:ext cx="1901400" cy="57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" name="Google Shape;246;p5"/>
          <p:cNvCxnSpPr/>
          <p:nvPr/>
        </p:nvCxnSpPr>
        <p:spPr>
          <a:xfrm flipH="1" rot="-5400000">
            <a:off x="3601849" y="3092150"/>
            <a:ext cx="1963500" cy="70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7" name="Google Shape;247;p5"/>
          <p:cNvCxnSpPr>
            <a:endCxn id="244" idx="1"/>
          </p:cNvCxnSpPr>
          <p:nvPr/>
        </p:nvCxnSpPr>
        <p:spPr>
          <a:xfrm flipH="1" rot="-5400000">
            <a:off x="4554977" y="4434477"/>
            <a:ext cx="301500" cy="78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5"/>
          <p:cNvSpPr/>
          <p:nvPr/>
        </p:nvSpPr>
        <p:spPr>
          <a:xfrm>
            <a:off x="4618877" y="336613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Desarrollo Estrategia</a:t>
            </a:r>
            <a:endParaRPr/>
          </a:p>
        </p:txBody>
      </p:sp>
      <p:cxnSp>
        <p:nvCxnSpPr>
          <p:cNvPr id="249" name="Google Shape;249;p5"/>
          <p:cNvCxnSpPr/>
          <p:nvPr/>
        </p:nvCxnSpPr>
        <p:spPr>
          <a:xfrm flipH="1" rot="-5400000">
            <a:off x="3920000" y="4442573"/>
            <a:ext cx="1325400" cy="68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5"/>
          <p:cNvSpPr/>
          <p:nvPr/>
        </p:nvSpPr>
        <p:spPr>
          <a:xfrm>
            <a:off x="4744877" y="5429013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Op Fullfillment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5"/>
          <p:cNvCxnSpPr>
            <a:endCxn id="250" idx="1"/>
          </p:cNvCxnSpPr>
          <p:nvPr/>
        </p:nvCxnSpPr>
        <p:spPr>
          <a:xfrm flipH="1" rot="-5400000">
            <a:off x="4558877" y="5468976"/>
            <a:ext cx="301500" cy="70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2" name="Google Shape;252;p5"/>
          <p:cNvSpPr/>
          <p:nvPr/>
        </p:nvSpPr>
        <p:spPr>
          <a:xfrm>
            <a:off x="7856400" y="1062396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Comercial Plan Proyectos y DN</a:t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7978800" y="1584103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Product Owner Servicios</a:t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7978800" y="209880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Product Owner Servicios</a:t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7978800" y="2613513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Product Owner Servicios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7978800" y="312821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Product Owner Servicios</a:t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7978800" y="3642923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Product Owner Servicios</a:t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7978800" y="4157625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Product Owner Servicios</a:t>
            </a:r>
            <a:endParaRPr/>
          </a:p>
        </p:txBody>
      </p:sp>
      <p:cxnSp>
        <p:nvCxnSpPr>
          <p:cNvPr id="259" name="Google Shape;259;p5"/>
          <p:cNvCxnSpPr/>
          <p:nvPr/>
        </p:nvCxnSpPr>
        <p:spPr>
          <a:xfrm flipH="1" rot="-5400000">
            <a:off x="7355441" y="2208452"/>
            <a:ext cx="1170000" cy="76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0" name="Google Shape;260;p5"/>
          <p:cNvCxnSpPr/>
          <p:nvPr/>
        </p:nvCxnSpPr>
        <p:spPr>
          <a:xfrm flipH="1" rot="-5400000">
            <a:off x="7621840" y="1968664"/>
            <a:ext cx="637200" cy="76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1" name="Google Shape;261;p5"/>
          <p:cNvCxnSpPr/>
          <p:nvPr/>
        </p:nvCxnSpPr>
        <p:spPr>
          <a:xfrm flipH="1" rot="-5400000">
            <a:off x="7799740" y="1631981"/>
            <a:ext cx="281400" cy="76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2" name="Google Shape;262;p5"/>
          <p:cNvCxnSpPr/>
          <p:nvPr/>
        </p:nvCxnSpPr>
        <p:spPr>
          <a:xfrm flipH="1" rot="-5400000">
            <a:off x="7568441" y="2944890"/>
            <a:ext cx="744000" cy="76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3" name="Google Shape;263;p5"/>
          <p:cNvCxnSpPr/>
          <p:nvPr/>
        </p:nvCxnSpPr>
        <p:spPr>
          <a:xfrm flipH="1" rot="-5400000">
            <a:off x="7594991" y="3486018"/>
            <a:ext cx="690900" cy="76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4" name="Google Shape;264;p5"/>
          <p:cNvCxnSpPr/>
          <p:nvPr/>
        </p:nvCxnSpPr>
        <p:spPr>
          <a:xfrm flipH="1" rot="-5400000">
            <a:off x="7594991" y="4000723"/>
            <a:ext cx="690900" cy="76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5" name="Google Shape;265;p5"/>
          <p:cNvSpPr/>
          <p:nvPr/>
        </p:nvSpPr>
        <p:spPr>
          <a:xfrm>
            <a:off x="9546523" y="1062396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á</a:t>
            </a: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 Comercial Recepción Pago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9668923" y="1585487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Com Recepcion Pagos</a:t>
            </a:r>
            <a:endParaRPr/>
          </a:p>
        </p:txBody>
      </p:sp>
      <p:cxnSp>
        <p:nvCxnSpPr>
          <p:cNvPr id="267" name="Google Shape;267;p5"/>
          <p:cNvCxnSpPr/>
          <p:nvPr/>
        </p:nvCxnSpPr>
        <p:spPr>
          <a:xfrm flipH="1" rot="-5400000">
            <a:off x="9586484" y="2142659"/>
            <a:ext cx="282900" cy="72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8" name="Google Shape;268;p5"/>
          <p:cNvSpPr/>
          <p:nvPr/>
        </p:nvSpPr>
        <p:spPr>
          <a:xfrm>
            <a:off x="9794923" y="2108578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Recep Prepago Boleter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9794923" y="2629995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Recep Pagos Gubername</a:t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9794923" y="3151412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Recep Pagos Socios Come</a:t>
            </a:r>
            <a:endParaRPr/>
          </a:p>
        </p:txBody>
      </p:sp>
      <p:cxnSp>
        <p:nvCxnSpPr>
          <p:cNvPr id="271" name="Google Shape;271;p5"/>
          <p:cNvCxnSpPr/>
          <p:nvPr/>
        </p:nvCxnSpPr>
        <p:spPr>
          <a:xfrm flipH="1" rot="-5400000">
            <a:off x="9405284" y="2481819"/>
            <a:ext cx="648600" cy="7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" name="Google Shape;272;p5"/>
          <p:cNvCxnSpPr/>
          <p:nvPr/>
        </p:nvCxnSpPr>
        <p:spPr>
          <a:xfrm flipH="1" rot="-5400000">
            <a:off x="9385485" y="2969530"/>
            <a:ext cx="700500" cy="8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" name="Google Shape;273;p5"/>
          <p:cNvCxnSpPr>
            <a:endCxn id="266" idx="1"/>
          </p:cNvCxnSpPr>
          <p:nvPr/>
        </p:nvCxnSpPr>
        <p:spPr>
          <a:xfrm flipH="1" rot="-5400000">
            <a:off x="9469873" y="1613237"/>
            <a:ext cx="296400" cy="101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4" name="Google Shape;274;p5"/>
          <p:cNvSpPr/>
          <p:nvPr/>
        </p:nvSpPr>
        <p:spPr>
          <a:xfrm>
            <a:off x="9668923" y="3672829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Comer Recepcion Pagos</a:t>
            </a:r>
            <a:endParaRPr/>
          </a:p>
        </p:txBody>
      </p:sp>
      <p:cxnSp>
        <p:nvCxnSpPr>
          <p:cNvPr id="275" name="Google Shape;275;p5"/>
          <p:cNvCxnSpPr>
            <a:endCxn id="274" idx="1"/>
          </p:cNvCxnSpPr>
          <p:nvPr/>
        </p:nvCxnSpPr>
        <p:spPr>
          <a:xfrm flipH="1" rot="-5400000">
            <a:off x="8457523" y="2688229"/>
            <a:ext cx="2321100" cy="101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5"/>
          <p:cNvSpPr/>
          <p:nvPr/>
        </p:nvSpPr>
        <p:spPr>
          <a:xfrm>
            <a:off x="9794923" y="4195920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Recep Pagos Socios Come</a:t>
            </a: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9794923" y="4717337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Recep Pagos Socios Come</a:t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9794923" y="5238755"/>
            <a:ext cx="1112400" cy="4519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Recep Pagos Socios Come</a:t>
            </a:r>
            <a:endParaRPr/>
          </a:p>
        </p:txBody>
      </p:sp>
      <p:cxnSp>
        <p:nvCxnSpPr>
          <p:cNvPr id="279" name="Google Shape;279;p5"/>
          <p:cNvCxnSpPr>
            <a:endCxn id="276" idx="1"/>
          </p:cNvCxnSpPr>
          <p:nvPr/>
        </p:nvCxnSpPr>
        <p:spPr>
          <a:xfrm flipH="1" rot="-5400000">
            <a:off x="9613723" y="4240683"/>
            <a:ext cx="295500" cy="6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0" name="Google Shape;280;p5"/>
          <p:cNvCxnSpPr>
            <a:endCxn id="277" idx="1"/>
          </p:cNvCxnSpPr>
          <p:nvPr/>
        </p:nvCxnSpPr>
        <p:spPr>
          <a:xfrm flipH="1" rot="-5400000">
            <a:off x="9457723" y="4606100"/>
            <a:ext cx="607500" cy="6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" name="Google Shape;281;p5"/>
          <p:cNvCxnSpPr>
            <a:endCxn id="278" idx="1"/>
          </p:cNvCxnSpPr>
          <p:nvPr/>
        </p:nvCxnSpPr>
        <p:spPr>
          <a:xfrm flipH="1" rot="-5400000">
            <a:off x="9416923" y="5086718"/>
            <a:ext cx="689100" cy="6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2" name="Google Shape;282;p5"/>
          <p:cNvSpPr/>
          <p:nvPr/>
        </p:nvSpPr>
        <p:spPr>
          <a:xfrm>
            <a:off x="6579831" y="3590441"/>
            <a:ext cx="961200" cy="18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Eq. Extendido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5"/>
          <p:cNvCxnSpPr/>
          <p:nvPr/>
        </p:nvCxnSpPr>
        <p:spPr>
          <a:xfrm flipH="1" rot="-5400000">
            <a:off x="6479058" y="3589862"/>
            <a:ext cx="141000" cy="60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p5"/>
          <p:cNvSpPr/>
          <p:nvPr/>
        </p:nvSpPr>
        <p:spPr>
          <a:xfrm>
            <a:off x="4496477" y="1062396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Comercial Comercio Electro</a:t>
            </a:r>
            <a:endParaRPr/>
          </a:p>
        </p:txBody>
      </p:sp>
      <p:sp>
        <p:nvSpPr>
          <p:cNvPr id="285" name="Google Shape;285;p5"/>
          <p:cNvSpPr/>
          <p:nvPr/>
        </p:nvSpPr>
        <p:spPr>
          <a:xfrm>
            <a:off x="5238233" y="481182"/>
            <a:ext cx="1609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Comercial Servicios</a:t>
            </a:r>
            <a:endParaRPr/>
          </a:p>
        </p:txBody>
      </p:sp>
      <p:sp>
        <p:nvSpPr>
          <p:cNvPr id="286" name="Google Shape;286;p5"/>
          <p:cNvSpPr txBox="1"/>
          <p:nvPr/>
        </p:nvSpPr>
        <p:spPr>
          <a:xfrm>
            <a:off x="-2" y="898736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Tema de Office">
  <a:themeElements>
    <a:clrScheme name="femsa P&amp;H">
      <a:dk1>
        <a:srgbClr val="000000"/>
      </a:dk1>
      <a:lt1>
        <a:srgbClr val="FFFFFF"/>
      </a:lt1>
      <a:dk2>
        <a:srgbClr val="EFBAA6"/>
      </a:dk2>
      <a:lt2>
        <a:srgbClr val="F1EFF1"/>
      </a:lt2>
      <a:accent1>
        <a:srgbClr val="FF5800"/>
      </a:accent1>
      <a:accent2>
        <a:srgbClr val="F2B23E"/>
      </a:accent2>
      <a:accent3>
        <a:srgbClr val="B1AFB1"/>
      </a:accent3>
      <a:accent4>
        <a:srgbClr val="E41936"/>
      </a:accent4>
      <a:accent5>
        <a:srgbClr val="FF7057"/>
      </a:accent5>
      <a:accent6>
        <a:srgbClr val="AD475B"/>
      </a:accent6>
      <a:hlink>
        <a:srgbClr val="000000"/>
      </a:hlink>
      <a:folHlink>
        <a:srgbClr val="5356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ema de Office">
  <a:themeElements>
    <a:clrScheme name="femsa P&amp;H">
      <a:dk1>
        <a:srgbClr val="000000"/>
      </a:dk1>
      <a:lt1>
        <a:srgbClr val="FFFFFF"/>
      </a:lt1>
      <a:dk2>
        <a:srgbClr val="EFBAA6"/>
      </a:dk2>
      <a:lt2>
        <a:srgbClr val="F1EFF1"/>
      </a:lt2>
      <a:accent1>
        <a:srgbClr val="FF5800"/>
      </a:accent1>
      <a:accent2>
        <a:srgbClr val="F2B23E"/>
      </a:accent2>
      <a:accent3>
        <a:srgbClr val="B1AFB1"/>
      </a:accent3>
      <a:accent4>
        <a:srgbClr val="E41936"/>
      </a:accent4>
      <a:accent5>
        <a:srgbClr val="FF7057"/>
      </a:accent5>
      <a:accent6>
        <a:srgbClr val="AD475B"/>
      </a:accent6>
      <a:hlink>
        <a:srgbClr val="000000"/>
      </a:hlink>
      <a:folHlink>
        <a:srgbClr val="5356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2025-10-15T17:50:58Z</dcterms:created>
  <dc:creator>Perez Sanchez Maria Fernanda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Office:8\2_Tema de Office:12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