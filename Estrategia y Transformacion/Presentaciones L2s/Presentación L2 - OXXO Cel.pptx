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notesSlides/notesSlide4.xml" ContentType="application/vnd.openxmlformats-officedocument.presentationml.notesSlide+xml"/>
  <Override PartName="/ppt/tags/tag73.xml" ContentType="application/vnd.openxmlformats-officedocument.presentationml.tags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70.xml" ContentType="application/vnd.openxmlformats-officedocument.presentationml.slide+xml"/>
  <Override PartName="/ppt/slides/slide90.xml" ContentType="application/vnd.openxmlformats-officedocument.presentationml.slide+xml"/>
  <Override PartName="/ppt/slides/slide60.xml" ContentType="application/vnd.openxmlformats-officedocument.presentationml.slide+xml"/>
  <Override PartName="/ppt/slides/slide100.xml" ContentType="application/vnd.openxmlformats-officedocument.presentationml.slide+xml"/>
  <Override PartName="/ppt/notesSlides/notesSlide10.xml" ContentType="application/vnd.openxmlformats-officedocument.presentationml.notesSlide+xml"/>
  <Override PartName="/ppt/slideLayouts/slideLayout170.xml" ContentType="application/vnd.openxmlformats-officedocument.presentationml.slideLayout+xml"/>
  <Override PartName="/ppt/theme/themeOverride40.xml" ContentType="application/vnd.openxmlformats-officedocument.themeOverride+xml"/>
  <Override PartName="/ppt/notesSlides/notesSlide30.xml" ContentType="application/vnd.openxmlformats-officedocument.presentationml.notesSlide+xml"/>
  <Override PartName="/ppt/slideLayouts/slideLayout140.xml" ContentType="application/vnd.openxmlformats-officedocument.presentationml.slideLayout+xml"/>
  <Override PartName="/ppt/theme/themeOverride60.xml" ContentType="application/vnd.openxmlformats-officedocument.themeOverride+xml"/>
  <Override PartName="/ppt/slides/slide20.xml" ContentType="application/vnd.openxmlformats-officedocument.presentationml.slide+xml"/>
  <Override PartName="/ppt/theme/themeOverride30.xml" ContentType="application/vnd.openxmlformats-officedocument.themeOverride+xml"/>
  <Override PartName="/ppt/theme/themeOverride70.xml" ContentType="application/vnd.openxmlformats-officedocument.themeOverride+xml"/>
  <Override PartName="/ppt/notesMasters/notesMaster10.xml" ContentType="application/vnd.openxmlformats-officedocument.presentationml.notesMaster+xml"/>
  <Override PartName="/ppt/slideMasters/slideMaster20.xml" ContentType="application/vnd.openxmlformats-officedocument.presentationml.slideMaster+xml"/>
  <Override PartName="/ppt/theme/theme30.xml" ContentType="application/vnd.openxmlformats-officedocument.theme+xml"/>
  <Override PartName="/ppt/slideLayouts/slideLayout150.xml" ContentType="application/vnd.openxmlformats-officedocument.presentationml.slideLayout+xml"/>
  <Override PartName="/ppt/slideLayouts/slideLayout130.xml" ContentType="application/vnd.openxmlformats-officedocument.presentationml.slideLayout+xml"/>
  <Override PartName="/ppt/theme/theme20.xml" ContentType="application/vnd.openxmlformats-officedocument.theme+xml"/>
  <Override PartName="/ppt/slideLayouts/slideLayout16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notesMasterIdLst>
    <p:notesMasterId r:id="rId19"/>
  </p:notesMasterIdLst>
  <p:sldIdLst>
    <p:sldId id="2147482941" r:id="rId6"/>
    <p:sldId id="2147482950" r:id="rId7"/>
    <p:sldId id="2147482947" r:id="rId8"/>
    <p:sldId id="2147482952" r:id="rId9"/>
    <p:sldId id="2147482943" r:id="rId10"/>
    <p:sldId id="2147482944" r:id="rId11"/>
    <p:sldId id="2147482948" r:id="rId12"/>
    <p:sldId id="270" r:id="rId13"/>
    <p:sldId id="258" r:id="rId14"/>
    <p:sldId id="2147482945" r:id="rId15"/>
    <p:sldId id="2147482949" r:id="rId16"/>
    <p:sldId id="2147482954" r:id="rId17"/>
    <p:sldId id="2147482951" r:id="rId1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B35AB1DD-D536-470F-B679-009EF9FB6E63}">
          <p14:sldIdLst>
            <p14:sldId id="2147482941"/>
            <p14:sldId id="2147482950"/>
          </p14:sldIdLst>
        </p14:section>
        <p14:section name="Racional FFP" id="{15040053-0C50-4146-A21D-9E43A4CF9A00}">
          <p14:sldIdLst>
            <p14:sldId id="2147482947"/>
            <p14:sldId id="2147482952"/>
          </p14:sldIdLst>
        </p14:section>
        <p14:section name="Alcance 2026" id="{86D66DA7-4B22-4734-8B2F-FB9674EA118A}">
          <p14:sldIdLst>
            <p14:sldId id="2147482943"/>
          </p14:sldIdLst>
        </p14:section>
        <p14:section name="Percepción inicial" id="{401A8D0E-7B85-4F20-A772-FA4F26AD97EF}">
          <p14:sldIdLst>
            <p14:sldId id="2147482944"/>
          </p14:sldIdLst>
        </p14:section>
        <p14:section name="Descripción de Puesto" id="{0FF4A76F-1F47-4EA7-A686-C9EF9A954A89}">
          <p14:sldIdLst>
            <p14:sldId id="2147482948"/>
            <p14:sldId id="270"/>
          </p14:sldIdLst>
        </p14:section>
        <p14:section name="Principales contribuciones del área" id="{ECBA4FCF-4ABC-4772-872D-193AE93BB28B}">
          <p14:sldIdLst>
            <p14:sldId id="258"/>
          </p14:sldIdLst>
        </p14:section>
        <p14:section name="Interacciones entre áreas y procesos clave" id="{F0FBDAA2-C305-4C2B-AC49-21A67C461C91}">
          <p14:sldIdLst>
            <p14:sldId id="2147482945"/>
          </p14:sldIdLst>
        </p14:section>
        <p14:section name="Preguntas de reflexión" id="{E667A236-7C33-4A65-A550-6234F27326FB}">
          <p14:sldIdLst>
            <p14:sldId id="2147482949"/>
          </p14:sldIdLst>
        </p14:section>
        <p14:section name="Siguientes pasos" id="{3CB73EBB-38C3-438F-941E-B0AFF08AA3BF}">
          <p14:sldIdLst>
            <p14:sldId id="2147482954"/>
            <p14:sldId id="21474829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404" autoAdjust="0"/>
  </p:normalViewPr>
  <p:slideViewPr>
    <p:cSldViewPr snapToGrid="0">
      <p:cViewPr>
        <p:scale>
          <a:sx n="70" d="100"/>
          <a:sy n="70" d="100"/>
        </p:scale>
        <p:origin x="448" y="-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z Barcenas Beatriz Adriana" userId="9d0e2705-d1ec-45d6-a10d-58461a4a334f" providerId="ADAL" clId="{812CDC9A-941A-4B28-B06D-1FCB72D96FFB}"/>
    <pc:docChg chg="undo redo custSel delSld modSld modSection">
      <pc:chgData name="Rodriguez Barcenas Beatriz Adriana" userId="9d0e2705-d1ec-45d6-a10d-58461a4a334f" providerId="ADAL" clId="{812CDC9A-941A-4B28-B06D-1FCB72D96FFB}" dt="2026-04-15T17:53:14.448" v="3297" actId="1076"/>
      <pc:docMkLst>
        <pc:docMk/>
      </pc:docMkLst>
      <pc:sldChg chg="addSp delSp modSp mod">
        <pc:chgData name="Rodriguez Barcenas Beatriz Adriana" userId="9d0e2705-d1ec-45d6-a10d-58461a4a334f" providerId="ADAL" clId="{812CDC9A-941A-4B28-B06D-1FCB72D96FFB}" dt="2026-04-15T17:53:14.448" v="3297" actId="1076"/>
        <pc:sldMkLst>
          <pc:docMk/>
          <pc:sldMk cId="456374482" sldId="258"/>
        </pc:sldMkLst>
        <pc:spChg chg="mod">
          <ac:chgData name="Rodriguez Barcenas Beatriz Adriana" userId="9d0e2705-d1ec-45d6-a10d-58461a4a334f" providerId="ADAL" clId="{812CDC9A-941A-4B28-B06D-1FCB72D96FFB}" dt="2026-04-10T22:02:02.981" v="3129" actId="14100"/>
          <ac:spMkLst>
            <pc:docMk/>
            <pc:sldMk cId="456374482" sldId="258"/>
            <ac:spMk id="2" creationId="{15943841-D0E0-2FDA-A509-DF366A3D331D}"/>
          </ac:spMkLst>
        </pc:spChg>
        <pc:spChg chg="mod">
          <ac:chgData name="Rodriguez Barcenas Beatriz Adriana" userId="9d0e2705-d1ec-45d6-a10d-58461a4a334f" providerId="ADAL" clId="{812CDC9A-941A-4B28-B06D-1FCB72D96FFB}" dt="2026-04-10T21:48:19.331" v="2408" actId="20577"/>
          <ac:spMkLst>
            <pc:docMk/>
            <pc:sldMk cId="456374482" sldId="258"/>
            <ac:spMk id="3" creationId="{202F7401-ED31-48E2-0F9A-CABF5C4E96BD}"/>
          </ac:spMkLst>
        </pc:spChg>
        <pc:spChg chg="mod">
          <ac:chgData name="Rodriguez Barcenas Beatriz Adriana" userId="9d0e2705-d1ec-45d6-a10d-58461a4a334f" providerId="ADAL" clId="{812CDC9A-941A-4B28-B06D-1FCB72D96FFB}" dt="2026-04-10T21:50:11.101" v="2440" actId="20577"/>
          <ac:spMkLst>
            <pc:docMk/>
            <pc:sldMk cId="456374482" sldId="258"/>
            <ac:spMk id="4" creationId="{F5AAEC53-D683-4F11-4911-0A1D330C51DB}"/>
          </ac:spMkLst>
        </pc:spChg>
        <pc:spChg chg="mod">
          <ac:chgData name="Rodriguez Barcenas Beatriz Adriana" userId="9d0e2705-d1ec-45d6-a10d-58461a4a334f" providerId="ADAL" clId="{812CDC9A-941A-4B28-B06D-1FCB72D96FFB}" dt="2026-04-15T15:46:23.027" v="3296" actId="1076"/>
          <ac:spMkLst>
            <pc:docMk/>
            <pc:sldMk cId="456374482" sldId="258"/>
            <ac:spMk id="5" creationId="{2A03BDC4-669B-0F96-65D6-08CFAF2AB1D3}"/>
          </ac:spMkLst>
        </pc:spChg>
        <pc:spChg chg="mod">
          <ac:chgData name="Rodriguez Barcenas Beatriz Adriana" userId="9d0e2705-d1ec-45d6-a10d-58461a4a334f" providerId="ADAL" clId="{812CDC9A-941A-4B28-B06D-1FCB72D96FFB}" dt="2026-04-10T21:51:49.525" v="2731" actId="20577"/>
          <ac:spMkLst>
            <pc:docMk/>
            <pc:sldMk cId="456374482" sldId="258"/>
            <ac:spMk id="6" creationId="{2C749DC5-650F-E603-E734-0BF332E932F8}"/>
          </ac:spMkLst>
        </pc:spChg>
        <pc:spChg chg="mod">
          <ac:chgData name="Rodriguez Barcenas Beatriz Adriana" userId="9d0e2705-d1ec-45d6-a10d-58461a4a334f" providerId="ADAL" clId="{812CDC9A-941A-4B28-B06D-1FCB72D96FFB}" dt="2026-04-10T21:50:52.194" v="2572" actId="20577"/>
          <ac:spMkLst>
            <pc:docMk/>
            <pc:sldMk cId="456374482" sldId="258"/>
            <ac:spMk id="7" creationId="{025BF223-6AFC-6967-F475-435C163332D5}"/>
          </ac:spMkLst>
        </pc:spChg>
        <pc:spChg chg="mod">
          <ac:chgData name="Rodriguez Barcenas Beatriz Adriana" userId="9d0e2705-d1ec-45d6-a10d-58461a4a334f" providerId="ADAL" clId="{812CDC9A-941A-4B28-B06D-1FCB72D96FFB}" dt="2026-04-10T21:52:14.679" v="2780" actId="20577"/>
          <ac:spMkLst>
            <pc:docMk/>
            <pc:sldMk cId="456374482" sldId="258"/>
            <ac:spMk id="8" creationId="{423CE306-CAEC-CB71-9BDB-A4B347B18302}"/>
          </ac:spMkLst>
        </pc:spChg>
        <pc:spChg chg="add mod">
          <ac:chgData name="Rodriguez Barcenas Beatriz Adriana" userId="9d0e2705-d1ec-45d6-a10d-58461a4a334f" providerId="ADAL" clId="{812CDC9A-941A-4B28-B06D-1FCB72D96FFB}" dt="2026-04-15T17:53:14.448" v="3297" actId="1076"/>
          <ac:spMkLst>
            <pc:docMk/>
            <pc:sldMk cId="456374482" sldId="258"/>
            <ac:spMk id="11" creationId="{4B35F134-3D7C-55A2-F1D8-7035357720C9}"/>
          </ac:spMkLst>
        </pc:spChg>
        <pc:spChg chg="mod">
          <ac:chgData name="Rodriguez Barcenas Beatriz Adriana" userId="9d0e2705-d1ec-45d6-a10d-58461a4a334f" providerId="ADAL" clId="{812CDC9A-941A-4B28-B06D-1FCB72D96FFB}" dt="2026-04-10T21:50:29.226" v="2496" actId="20577"/>
          <ac:spMkLst>
            <pc:docMk/>
            <pc:sldMk cId="456374482" sldId="258"/>
            <ac:spMk id="12" creationId="{3B16A55E-E607-9EE6-ECFC-FACE45B08E2C}"/>
          </ac:spMkLst>
        </pc:spChg>
        <pc:spChg chg="add mod">
          <ac:chgData name="Rodriguez Barcenas Beatriz Adriana" userId="9d0e2705-d1ec-45d6-a10d-58461a4a334f" providerId="ADAL" clId="{812CDC9A-941A-4B28-B06D-1FCB72D96FFB}" dt="2026-04-10T21:56:52.236" v="2996" actId="1076"/>
          <ac:spMkLst>
            <pc:docMk/>
            <pc:sldMk cId="456374482" sldId="258"/>
            <ac:spMk id="18" creationId="{9A6A8E01-5C29-870B-CF60-66E59BBB0825}"/>
          </ac:spMkLst>
        </pc:spChg>
        <pc:spChg chg="add mod">
          <ac:chgData name="Rodriguez Barcenas Beatriz Adriana" userId="9d0e2705-d1ec-45d6-a10d-58461a4a334f" providerId="ADAL" clId="{812CDC9A-941A-4B28-B06D-1FCB72D96FFB}" dt="2026-04-14T18:34:55.903" v="3216" actId="1076"/>
          <ac:spMkLst>
            <pc:docMk/>
            <pc:sldMk cId="456374482" sldId="258"/>
            <ac:spMk id="20" creationId="{EB8809B7-325C-3C87-685B-86A2CD8384BF}"/>
          </ac:spMkLst>
        </pc:spChg>
        <pc:spChg chg="mod">
          <ac:chgData name="Rodriguez Barcenas Beatriz Adriana" userId="9d0e2705-d1ec-45d6-a10d-58461a4a334f" providerId="ADAL" clId="{812CDC9A-941A-4B28-B06D-1FCB72D96FFB}" dt="2026-04-10T22:02:15.412" v="3134" actId="20577"/>
          <ac:spMkLst>
            <pc:docMk/>
            <pc:sldMk cId="456374482" sldId="258"/>
            <ac:spMk id="21" creationId="{D0BB167D-2C7D-D430-1D45-DB6FE8827566}"/>
          </ac:spMkLst>
        </pc:spChg>
        <pc:spChg chg="add mod">
          <ac:chgData name="Rodriguez Barcenas Beatriz Adriana" userId="9d0e2705-d1ec-45d6-a10d-58461a4a334f" providerId="ADAL" clId="{812CDC9A-941A-4B28-B06D-1FCB72D96FFB}" dt="2026-04-10T21:57:45.579" v="3016" actId="404"/>
          <ac:spMkLst>
            <pc:docMk/>
            <pc:sldMk cId="456374482" sldId="258"/>
            <ac:spMk id="26" creationId="{6F16FA3C-B491-8657-3315-1347E510262F}"/>
          </ac:spMkLst>
        </pc:spChg>
        <pc:spChg chg="add mod">
          <ac:chgData name="Rodriguez Barcenas Beatriz Adriana" userId="9d0e2705-d1ec-45d6-a10d-58461a4a334f" providerId="ADAL" clId="{812CDC9A-941A-4B28-B06D-1FCB72D96FFB}" dt="2026-04-10T21:58:18.213" v="3036" actId="14100"/>
          <ac:spMkLst>
            <pc:docMk/>
            <pc:sldMk cId="456374482" sldId="258"/>
            <ac:spMk id="28" creationId="{D939851C-2F6E-E6FF-921A-F7BCD1D1CD1E}"/>
          </ac:spMkLst>
        </pc:spChg>
        <pc:spChg chg="add mod">
          <ac:chgData name="Rodriguez Barcenas Beatriz Adriana" userId="9d0e2705-d1ec-45d6-a10d-58461a4a334f" providerId="ADAL" clId="{812CDC9A-941A-4B28-B06D-1FCB72D96FFB}" dt="2026-04-10T21:58:51.110" v="3049" actId="1076"/>
          <ac:spMkLst>
            <pc:docMk/>
            <pc:sldMk cId="456374482" sldId="258"/>
            <ac:spMk id="30" creationId="{40FE85D7-4272-DF29-9D90-5E5F0DEBA5BC}"/>
          </ac:spMkLst>
        </pc:spChg>
        <pc:spChg chg="mod">
          <ac:chgData name="Rodriguez Barcenas Beatriz Adriana" userId="9d0e2705-d1ec-45d6-a10d-58461a4a334f" providerId="ADAL" clId="{812CDC9A-941A-4B28-B06D-1FCB72D96FFB}" dt="2026-04-10T17:06:31.837" v="2092" actId="404"/>
          <ac:spMkLst>
            <pc:docMk/>
            <pc:sldMk cId="456374482" sldId="258"/>
            <ac:spMk id="31" creationId="{6975D636-73BB-21EF-E5A3-82114D16F5CC}"/>
          </ac:spMkLst>
        </pc:spChg>
        <pc:spChg chg="add mod">
          <ac:chgData name="Rodriguez Barcenas Beatriz Adriana" userId="9d0e2705-d1ec-45d6-a10d-58461a4a334f" providerId="ADAL" clId="{812CDC9A-941A-4B28-B06D-1FCB72D96FFB}" dt="2026-04-10T21:59:27.999" v="3064" actId="14100"/>
          <ac:spMkLst>
            <pc:docMk/>
            <pc:sldMk cId="456374482" sldId="258"/>
            <ac:spMk id="34" creationId="{6BE6A6A4-6358-1B06-4ACF-F29B06C8581D}"/>
          </ac:spMkLst>
        </pc:spChg>
        <pc:spChg chg="add mod">
          <ac:chgData name="Rodriguez Barcenas Beatriz Adriana" userId="9d0e2705-d1ec-45d6-a10d-58461a4a334f" providerId="ADAL" clId="{812CDC9A-941A-4B28-B06D-1FCB72D96FFB}" dt="2026-04-10T22:01:06.571" v="3097" actId="14100"/>
          <ac:spMkLst>
            <pc:docMk/>
            <pc:sldMk cId="456374482" sldId="258"/>
            <ac:spMk id="38" creationId="{AC3EDD5A-A090-7E03-9E40-80C40B52B1CD}"/>
          </ac:spMkLst>
        </pc:spChg>
        <pc:spChg chg="add mod">
          <ac:chgData name="Rodriguez Barcenas Beatriz Adriana" userId="9d0e2705-d1ec-45d6-a10d-58461a4a334f" providerId="ADAL" clId="{812CDC9A-941A-4B28-B06D-1FCB72D96FFB}" dt="2026-04-10T22:02:06.615" v="3130" actId="1076"/>
          <ac:spMkLst>
            <pc:docMk/>
            <pc:sldMk cId="456374482" sldId="258"/>
            <ac:spMk id="40" creationId="{A31FCBF2-F219-539C-8E78-BC3676408953}"/>
          </ac:spMkLst>
        </pc:spChg>
        <pc:spChg chg="mod">
          <ac:chgData name="Rodriguez Barcenas Beatriz Adriana" userId="9d0e2705-d1ec-45d6-a10d-58461a4a334f" providerId="ADAL" clId="{812CDC9A-941A-4B28-B06D-1FCB72D96FFB}" dt="2026-04-10T21:49:40.987" v="2413"/>
          <ac:spMkLst>
            <pc:docMk/>
            <pc:sldMk cId="456374482" sldId="258"/>
            <ac:spMk id="261" creationId="{07283218-3E23-D281-2EC9-3CE8DA51E908}"/>
          </ac:spMkLst>
        </pc:spChg>
        <pc:cxnChg chg="add mod">
          <ac:chgData name="Rodriguez Barcenas Beatriz Adriana" userId="9d0e2705-d1ec-45d6-a10d-58461a4a334f" providerId="ADAL" clId="{812CDC9A-941A-4B28-B06D-1FCB72D96FFB}" dt="2026-04-10T21:52:40.465" v="2935" actId="1036"/>
          <ac:cxnSpMkLst>
            <pc:docMk/>
            <pc:sldMk cId="456374482" sldId="258"/>
            <ac:cxnSpMk id="9" creationId="{75A446B4-AD43-BC76-4117-358B58F3D524}"/>
          </ac:cxnSpMkLst>
        </pc:cxnChg>
        <pc:cxnChg chg="add mod">
          <ac:chgData name="Rodriguez Barcenas Beatriz Adriana" userId="9d0e2705-d1ec-45d6-a10d-58461a4a334f" providerId="ADAL" clId="{812CDC9A-941A-4B28-B06D-1FCB72D96FFB}" dt="2026-04-10T21:52:44.842" v="2937" actId="1076"/>
          <ac:cxnSpMkLst>
            <pc:docMk/>
            <pc:sldMk cId="456374482" sldId="258"/>
            <ac:cxnSpMk id="10" creationId="{BBF2BF6B-846A-9A4C-7342-6B18BEF72A0F}"/>
          </ac:cxnSpMkLst>
        </pc:cxnChg>
        <pc:cxnChg chg="mod">
          <ac:chgData name="Rodriguez Barcenas Beatriz Adriana" userId="9d0e2705-d1ec-45d6-a10d-58461a4a334f" providerId="ADAL" clId="{812CDC9A-941A-4B28-B06D-1FCB72D96FFB}" dt="2026-04-10T17:07:20.677" v="2270" actId="1038"/>
          <ac:cxnSpMkLst>
            <pc:docMk/>
            <pc:sldMk cId="456374482" sldId="258"/>
            <ac:cxnSpMk id="14" creationId="{D91F3CF3-2065-DF23-B486-AAD3472C6661}"/>
          </ac:cxnSpMkLst>
        </pc:cxnChg>
        <pc:cxnChg chg="mod">
          <ac:chgData name="Rodriguez Barcenas Beatriz Adriana" userId="9d0e2705-d1ec-45d6-a10d-58461a4a334f" providerId="ADAL" clId="{812CDC9A-941A-4B28-B06D-1FCB72D96FFB}" dt="2026-04-15T15:46:23.027" v="3296" actId="1076"/>
          <ac:cxnSpMkLst>
            <pc:docMk/>
            <pc:sldMk cId="456374482" sldId="258"/>
            <ac:cxnSpMk id="15" creationId="{5F75D40F-AC0E-E83F-BD30-5CCA2AD3B2FA}"/>
          </ac:cxnSpMkLst>
        </pc:cxnChg>
        <pc:cxnChg chg="mod">
          <ac:chgData name="Rodriguez Barcenas Beatriz Adriana" userId="9d0e2705-d1ec-45d6-a10d-58461a4a334f" providerId="ADAL" clId="{812CDC9A-941A-4B28-B06D-1FCB72D96FFB}" dt="2026-04-10T17:07:16.746" v="2269" actId="1038"/>
          <ac:cxnSpMkLst>
            <pc:docMk/>
            <pc:sldMk cId="456374482" sldId="258"/>
            <ac:cxnSpMk id="16" creationId="{EB6A592B-BC3E-8B5C-FA54-5FACD425AC2E}"/>
          </ac:cxnSpMkLst>
        </pc:cxnChg>
        <pc:cxnChg chg="mod">
          <ac:chgData name="Rodriguez Barcenas Beatriz Adriana" userId="9d0e2705-d1ec-45d6-a10d-58461a4a334f" providerId="ADAL" clId="{812CDC9A-941A-4B28-B06D-1FCB72D96FFB}" dt="2026-04-10T17:07:12.549" v="2249" actId="1038"/>
          <ac:cxnSpMkLst>
            <pc:docMk/>
            <pc:sldMk cId="456374482" sldId="258"/>
            <ac:cxnSpMk id="17" creationId="{C669F1A8-205F-12BA-34BD-88A4B3E73091}"/>
          </ac:cxnSpMkLst>
        </pc:cxnChg>
        <pc:cxnChg chg="mod">
          <ac:chgData name="Rodriguez Barcenas Beatriz Adriana" userId="9d0e2705-d1ec-45d6-a10d-58461a4a334f" providerId="ADAL" clId="{812CDC9A-941A-4B28-B06D-1FCB72D96FFB}" dt="2026-04-10T21:52:23.248" v="2854" actId="1038"/>
          <ac:cxnSpMkLst>
            <pc:docMk/>
            <pc:sldMk cId="456374482" sldId="258"/>
            <ac:cxnSpMk id="23" creationId="{0A6DA601-8752-B561-4B7B-488F7161A5DB}"/>
          </ac:cxnSpMkLst>
        </pc:cxnChg>
        <pc:cxnChg chg="mod">
          <ac:chgData name="Rodriguez Barcenas Beatriz Adriana" userId="9d0e2705-d1ec-45d6-a10d-58461a4a334f" providerId="ADAL" clId="{812CDC9A-941A-4B28-B06D-1FCB72D96FFB}" dt="2026-04-10T21:52:48.271" v="2938" actId="1035"/>
          <ac:cxnSpMkLst>
            <pc:docMk/>
            <pc:sldMk cId="456374482" sldId="258"/>
            <ac:cxnSpMk id="24" creationId="{E73C9264-484C-5A6C-2411-BA53AC2AFBFE}"/>
          </ac:cxnSpMkLst>
        </pc:cxnChg>
      </pc:sldChg>
      <pc:sldChg chg="addSp delSp modSp mod modNotesTx">
        <pc:chgData name="Rodriguez Barcenas Beatriz Adriana" userId="9d0e2705-d1ec-45d6-a10d-58461a4a334f" providerId="ADAL" clId="{812CDC9A-941A-4B28-B06D-1FCB72D96FFB}" dt="2026-04-10T21:48:12.330" v="2396" actId="20577"/>
        <pc:sldMkLst>
          <pc:docMk/>
          <pc:sldMk cId="1530523345" sldId="270"/>
        </pc:sldMkLst>
        <pc:spChg chg="mod">
          <ac:chgData name="Rodriguez Barcenas Beatriz Adriana" userId="9d0e2705-d1ec-45d6-a10d-58461a4a334f" providerId="ADAL" clId="{812CDC9A-941A-4B28-B06D-1FCB72D96FFB}" dt="2026-04-10T21:48:12.330" v="2396" actId="20577"/>
          <ac:spMkLst>
            <pc:docMk/>
            <pc:sldMk cId="1530523345" sldId="270"/>
            <ac:spMk id="11" creationId="{5079D1B5-39DA-A17E-E874-D9C06961D0EE}"/>
          </ac:spMkLst>
        </pc:spChg>
        <pc:spChg chg="mod">
          <ac:chgData name="Rodriguez Barcenas Beatriz Adriana" userId="9d0e2705-d1ec-45d6-a10d-58461a4a334f" providerId="ADAL" clId="{812CDC9A-941A-4B28-B06D-1FCB72D96FFB}" dt="2026-04-10T21:47:28.925" v="2390" actId="12"/>
          <ac:spMkLst>
            <pc:docMk/>
            <pc:sldMk cId="1530523345" sldId="270"/>
            <ac:spMk id="16" creationId="{CB728A93-DECE-EA2D-9025-C4B1BD67C1A8}"/>
          </ac:spMkLst>
        </pc:spChg>
        <pc:spChg chg="mod">
          <ac:chgData name="Rodriguez Barcenas Beatriz Adriana" userId="9d0e2705-d1ec-45d6-a10d-58461a4a334f" providerId="ADAL" clId="{812CDC9A-941A-4B28-B06D-1FCB72D96FFB}" dt="2026-04-10T21:47:52.492" v="2393" actId="12"/>
          <ac:spMkLst>
            <pc:docMk/>
            <pc:sldMk cId="1530523345" sldId="270"/>
            <ac:spMk id="18" creationId="{6037BFC9-94B9-A0A1-59DB-B234D6CD0E61}"/>
          </ac:spMkLst>
        </pc:spChg>
      </pc:sldChg>
      <pc:sldChg chg="modSp mod">
        <pc:chgData name="Rodriguez Barcenas Beatriz Adriana" userId="9d0e2705-d1ec-45d6-a10d-58461a4a334f" providerId="ADAL" clId="{812CDC9A-941A-4B28-B06D-1FCB72D96FFB}" dt="2026-04-10T21:25:00.033" v="2355" actId="20577"/>
        <pc:sldMkLst>
          <pc:docMk/>
          <pc:sldMk cId="3748555724" sldId="2147482941"/>
        </pc:sldMkLst>
        <pc:spChg chg="mod">
          <ac:chgData name="Rodriguez Barcenas Beatriz Adriana" userId="9d0e2705-d1ec-45d6-a10d-58461a4a334f" providerId="ADAL" clId="{812CDC9A-941A-4B28-B06D-1FCB72D96FFB}" dt="2026-04-10T16:43:28.886" v="1862" actId="20577"/>
          <ac:spMkLst>
            <pc:docMk/>
            <pc:sldMk cId="3748555724" sldId="2147482941"/>
            <ac:spMk id="2" creationId="{E9847210-94E5-A154-DA52-73E17453356B}"/>
          </ac:spMkLst>
        </pc:spChg>
        <pc:spChg chg="mod">
          <ac:chgData name="Rodriguez Barcenas Beatriz Adriana" userId="9d0e2705-d1ec-45d6-a10d-58461a4a334f" providerId="ADAL" clId="{812CDC9A-941A-4B28-B06D-1FCB72D96FFB}" dt="2026-04-10T21:25:00.033" v="2355" actId="20577"/>
          <ac:spMkLst>
            <pc:docMk/>
            <pc:sldMk cId="3748555724" sldId="2147482941"/>
            <ac:spMk id="4" creationId="{BCC94514-1502-7445-9201-7BD20CD9B125}"/>
          </ac:spMkLst>
        </pc:spChg>
      </pc:sldChg>
      <pc:sldChg chg="delSp modSp mod">
        <pc:chgData name="Rodriguez Barcenas Beatriz Adriana" userId="9d0e2705-d1ec-45d6-a10d-58461a4a334f" providerId="ADAL" clId="{812CDC9A-941A-4B28-B06D-1FCB72D96FFB}" dt="2026-04-10T22:04:10.023" v="3179"/>
        <pc:sldMkLst>
          <pc:docMk/>
          <pc:sldMk cId="2944001035" sldId="2147482945"/>
        </pc:sldMkLst>
        <pc:spChg chg="mod">
          <ac:chgData name="Rodriguez Barcenas Beatriz Adriana" userId="9d0e2705-d1ec-45d6-a10d-58461a4a334f" providerId="ADAL" clId="{812CDC9A-941A-4B28-B06D-1FCB72D96FFB}" dt="2026-04-10T22:03:54.414" v="3175" actId="20577"/>
          <ac:spMkLst>
            <pc:docMk/>
            <pc:sldMk cId="2944001035" sldId="2147482945"/>
            <ac:spMk id="2" creationId="{26556BDD-D6EE-CB29-8EBE-F10B90AD91DC}"/>
          </ac:spMkLst>
        </pc:spChg>
        <pc:spChg chg="mod">
          <ac:chgData name="Rodriguez Barcenas Beatriz Adriana" userId="9d0e2705-d1ec-45d6-a10d-58461a4a334f" providerId="ADAL" clId="{812CDC9A-941A-4B28-B06D-1FCB72D96FFB}" dt="2026-04-10T18:48:18.787" v="2277" actId="1076"/>
          <ac:spMkLst>
            <pc:docMk/>
            <pc:sldMk cId="2944001035" sldId="2147482945"/>
            <ac:spMk id="3" creationId="{8B80DD89-91A3-35BF-46F8-436A28D7C493}"/>
          </ac:spMkLst>
        </pc:spChg>
        <pc:spChg chg="mod">
          <ac:chgData name="Rodriguez Barcenas Beatriz Adriana" userId="9d0e2705-d1ec-45d6-a10d-58461a4a334f" providerId="ADAL" clId="{812CDC9A-941A-4B28-B06D-1FCB72D96FFB}" dt="2026-04-10T22:04:02.877" v="3178" actId="20577"/>
          <ac:spMkLst>
            <pc:docMk/>
            <pc:sldMk cId="2944001035" sldId="2147482945"/>
            <ac:spMk id="4" creationId="{EC81B558-E5CB-5883-53C6-64D6AE0ECAB1}"/>
          </ac:spMkLst>
        </pc:spChg>
        <pc:spChg chg="mod">
          <ac:chgData name="Rodriguez Barcenas Beatriz Adriana" userId="9d0e2705-d1ec-45d6-a10d-58461a4a334f" providerId="ADAL" clId="{812CDC9A-941A-4B28-B06D-1FCB72D96FFB}" dt="2026-04-10T22:03:45.144" v="3172" actId="20577"/>
          <ac:spMkLst>
            <pc:docMk/>
            <pc:sldMk cId="2944001035" sldId="2147482945"/>
            <ac:spMk id="5" creationId="{5DF529FD-B6C4-4983-2BBD-7082564AB2A8}"/>
          </ac:spMkLst>
        </pc:spChg>
        <pc:spChg chg="mod">
          <ac:chgData name="Rodriguez Barcenas Beatriz Adriana" userId="9d0e2705-d1ec-45d6-a10d-58461a4a334f" providerId="ADAL" clId="{812CDC9A-941A-4B28-B06D-1FCB72D96FFB}" dt="2026-04-10T22:04:10.023" v="3179"/>
          <ac:spMkLst>
            <pc:docMk/>
            <pc:sldMk cId="2944001035" sldId="2147482945"/>
            <ac:spMk id="6" creationId="{449EA707-9460-C8EC-3ECD-C3DC35E7B74E}"/>
          </ac:spMkLst>
        </pc:spChg>
        <pc:spChg chg="mod">
          <ac:chgData name="Rodriguez Barcenas Beatriz Adriana" userId="9d0e2705-d1ec-45d6-a10d-58461a4a334f" providerId="ADAL" clId="{812CDC9A-941A-4B28-B06D-1FCB72D96FFB}" dt="2026-04-10T22:03:36.781" v="3169" actId="20577"/>
          <ac:spMkLst>
            <pc:docMk/>
            <pc:sldMk cId="2944001035" sldId="2147482945"/>
            <ac:spMk id="7" creationId="{A89D09B8-BE7A-4A45-EB27-1DE318E563FB}"/>
          </ac:spMkLst>
        </pc:spChg>
        <pc:spChg chg="mod">
          <ac:chgData name="Rodriguez Barcenas Beatriz Adriana" userId="9d0e2705-d1ec-45d6-a10d-58461a4a334f" providerId="ADAL" clId="{812CDC9A-941A-4B28-B06D-1FCB72D96FFB}" dt="2026-04-10T22:03:18.596" v="3142" actId="20577"/>
          <ac:spMkLst>
            <pc:docMk/>
            <pc:sldMk cId="2944001035" sldId="2147482945"/>
            <ac:spMk id="8" creationId="{35769B02-838B-10EC-DB8D-8A4ED180CC34}"/>
          </ac:spMkLst>
        </pc:spChg>
        <pc:spChg chg="mod">
          <ac:chgData name="Rodriguez Barcenas Beatriz Adriana" userId="9d0e2705-d1ec-45d6-a10d-58461a4a334f" providerId="ADAL" clId="{812CDC9A-941A-4B28-B06D-1FCB72D96FFB}" dt="2026-04-10T22:03:27.031" v="3144" actId="20577"/>
          <ac:spMkLst>
            <pc:docMk/>
            <pc:sldMk cId="2944001035" sldId="2147482945"/>
            <ac:spMk id="10" creationId="{D0EDDB1D-E6AF-D645-DD81-290902B1A103}"/>
          </ac:spMkLst>
        </pc:spChg>
        <pc:spChg chg="mod">
          <ac:chgData name="Rodriguez Barcenas Beatriz Adriana" userId="9d0e2705-d1ec-45d6-a10d-58461a4a334f" providerId="ADAL" clId="{812CDC9A-941A-4B28-B06D-1FCB72D96FFB}" dt="2026-04-10T18:49:16.535" v="2289" actId="1035"/>
          <ac:spMkLst>
            <pc:docMk/>
            <pc:sldMk cId="2944001035" sldId="2147482945"/>
            <ac:spMk id="57" creationId="{76B4E10F-C551-0C56-EA0C-EBB9F8115B10}"/>
          </ac:spMkLst>
        </pc:spChg>
        <pc:spChg chg="mod">
          <ac:chgData name="Rodriguez Barcenas Beatriz Adriana" userId="9d0e2705-d1ec-45d6-a10d-58461a4a334f" providerId="ADAL" clId="{812CDC9A-941A-4B28-B06D-1FCB72D96FFB}" dt="2026-04-10T18:49:36.375" v="2337" actId="1038"/>
          <ac:spMkLst>
            <pc:docMk/>
            <pc:sldMk cId="2944001035" sldId="2147482945"/>
            <ac:spMk id="58" creationId="{DFA23498-B8FF-3E9E-261E-E9A99B9530E1}"/>
          </ac:spMkLst>
        </pc:spChg>
        <pc:spChg chg="mod">
          <ac:chgData name="Rodriguez Barcenas Beatriz Adriana" userId="9d0e2705-d1ec-45d6-a10d-58461a4a334f" providerId="ADAL" clId="{812CDC9A-941A-4B28-B06D-1FCB72D96FFB}" dt="2026-04-10T18:49:36.375" v="2337" actId="1038"/>
          <ac:spMkLst>
            <pc:docMk/>
            <pc:sldMk cId="2944001035" sldId="2147482945"/>
            <ac:spMk id="61" creationId="{21345EEA-FE5F-8CFE-4E7B-6895E5872A9C}"/>
          </ac:spMkLst>
        </pc:spChg>
        <pc:spChg chg="mod">
          <ac:chgData name="Rodriguez Barcenas Beatriz Adriana" userId="9d0e2705-d1ec-45d6-a10d-58461a4a334f" providerId="ADAL" clId="{812CDC9A-941A-4B28-B06D-1FCB72D96FFB}" dt="2026-04-10T18:49:26.934" v="2291" actId="14100"/>
          <ac:spMkLst>
            <pc:docMk/>
            <pc:sldMk cId="2944001035" sldId="2147482945"/>
            <ac:spMk id="62" creationId="{FB3CB5BB-6E04-846F-FBBD-8CB6B62B48DC}"/>
          </ac:spMkLst>
        </pc:spChg>
        <pc:spChg chg="mod">
          <ac:chgData name="Rodriguez Barcenas Beatriz Adriana" userId="9d0e2705-d1ec-45d6-a10d-58461a4a334f" providerId="ADAL" clId="{812CDC9A-941A-4B28-B06D-1FCB72D96FFB}" dt="2026-04-10T18:49:36.375" v="2337" actId="1038"/>
          <ac:spMkLst>
            <pc:docMk/>
            <pc:sldMk cId="2944001035" sldId="2147482945"/>
            <ac:spMk id="63" creationId="{013C3E41-8533-A376-95B8-154ACECD76F9}"/>
          </ac:spMkLst>
        </pc:spChg>
        <pc:spChg chg="mod">
          <ac:chgData name="Rodriguez Barcenas Beatriz Adriana" userId="9d0e2705-d1ec-45d6-a10d-58461a4a334f" providerId="ADAL" clId="{812CDC9A-941A-4B28-B06D-1FCB72D96FFB}" dt="2026-04-10T18:49:36.375" v="2337" actId="1038"/>
          <ac:spMkLst>
            <pc:docMk/>
            <pc:sldMk cId="2944001035" sldId="2147482945"/>
            <ac:spMk id="65" creationId="{8A80BF0C-3322-5528-84E9-60773F3CDC2B}"/>
          </ac:spMkLst>
        </pc:spChg>
        <pc:spChg chg="mod">
          <ac:chgData name="Rodriguez Barcenas Beatriz Adriana" userId="9d0e2705-d1ec-45d6-a10d-58461a4a334f" providerId="ADAL" clId="{812CDC9A-941A-4B28-B06D-1FCB72D96FFB}" dt="2026-04-10T18:49:26.934" v="2291" actId="14100"/>
          <ac:spMkLst>
            <pc:docMk/>
            <pc:sldMk cId="2944001035" sldId="2147482945"/>
            <ac:spMk id="68" creationId="{5DD6C0FD-F1C7-E78F-B3C0-E7DF989CAD1A}"/>
          </ac:spMkLst>
        </pc:spChg>
        <pc:spChg chg="mod">
          <ac:chgData name="Rodriguez Barcenas Beatriz Adriana" userId="9d0e2705-d1ec-45d6-a10d-58461a4a334f" providerId="ADAL" clId="{812CDC9A-941A-4B28-B06D-1FCB72D96FFB}" dt="2026-04-10T18:49:26.934" v="2291" actId="14100"/>
          <ac:spMkLst>
            <pc:docMk/>
            <pc:sldMk cId="2944001035" sldId="2147482945"/>
            <ac:spMk id="71" creationId="{2DB2D4E6-953F-0472-E08E-0343B1EFD171}"/>
          </ac:spMkLst>
        </pc:spChg>
        <pc:spChg chg="mod">
          <ac:chgData name="Rodriguez Barcenas Beatriz Adriana" userId="9d0e2705-d1ec-45d6-a10d-58461a4a334f" providerId="ADAL" clId="{812CDC9A-941A-4B28-B06D-1FCB72D96FFB}" dt="2026-04-10T18:49:36.375" v="2337" actId="1038"/>
          <ac:spMkLst>
            <pc:docMk/>
            <pc:sldMk cId="2944001035" sldId="2147482945"/>
            <ac:spMk id="72" creationId="{5B4FDDA6-4FBE-7090-8C12-D2D765B5B191}"/>
          </ac:spMkLst>
        </pc:spChg>
        <pc:spChg chg="mod">
          <ac:chgData name="Rodriguez Barcenas Beatriz Adriana" userId="9d0e2705-d1ec-45d6-a10d-58461a4a334f" providerId="ADAL" clId="{812CDC9A-941A-4B28-B06D-1FCB72D96FFB}" dt="2026-04-10T18:49:36.375" v="2337" actId="1038"/>
          <ac:spMkLst>
            <pc:docMk/>
            <pc:sldMk cId="2944001035" sldId="2147482945"/>
            <ac:spMk id="73" creationId="{BE28F30B-A771-32DF-29C1-3158D124F8B5}"/>
          </ac:spMkLst>
        </pc:spChg>
        <pc:spChg chg="mod">
          <ac:chgData name="Rodriguez Barcenas Beatriz Adriana" userId="9d0e2705-d1ec-45d6-a10d-58461a4a334f" providerId="ADAL" clId="{812CDC9A-941A-4B28-B06D-1FCB72D96FFB}" dt="2026-04-10T18:49:36.375" v="2337" actId="1038"/>
          <ac:spMkLst>
            <pc:docMk/>
            <pc:sldMk cId="2944001035" sldId="2147482945"/>
            <ac:spMk id="74" creationId="{0E4F1F5C-4815-C42D-4A51-1460F838CEC5}"/>
          </ac:spMkLst>
        </pc:spChg>
        <pc:spChg chg="mod">
          <ac:chgData name="Rodriguez Barcenas Beatriz Adriana" userId="9d0e2705-d1ec-45d6-a10d-58461a4a334f" providerId="ADAL" clId="{812CDC9A-941A-4B28-B06D-1FCB72D96FFB}" dt="2026-04-10T18:49:36.375" v="2337" actId="1038"/>
          <ac:spMkLst>
            <pc:docMk/>
            <pc:sldMk cId="2944001035" sldId="2147482945"/>
            <ac:spMk id="75" creationId="{44E95411-248D-7909-92EC-4A8FCAAE692D}"/>
          </ac:spMkLst>
        </pc:spChg>
      </pc:sldChg>
      <pc:sldChg chg="addSp delSp modSp mod modNotesTx">
        <pc:chgData name="Rodriguez Barcenas Beatriz Adriana" userId="9d0e2705-d1ec-45d6-a10d-58461a4a334f" providerId="ADAL" clId="{812CDC9A-941A-4B28-B06D-1FCB72D96FFB}" dt="2026-04-14T18:32:40.841" v="3215" actId="20577"/>
        <pc:sldMkLst>
          <pc:docMk/>
          <pc:sldMk cId="679105534" sldId="2147482948"/>
        </pc:sldMkLst>
        <pc:spChg chg="mod">
          <ac:chgData name="Rodriguez Barcenas Beatriz Adriana" userId="9d0e2705-d1ec-45d6-a10d-58461a4a334f" providerId="ADAL" clId="{812CDC9A-941A-4B28-B06D-1FCB72D96FFB}" dt="2026-04-10T21:26:38.561" v="2363" actId="20577"/>
          <ac:spMkLst>
            <pc:docMk/>
            <pc:sldMk cId="679105534" sldId="2147482948"/>
            <ac:spMk id="46" creationId="{BF4FBAF8-EEF3-881A-D787-8647C59DBF10}"/>
          </ac:spMkLst>
        </pc:spChg>
        <pc:spChg chg="mod">
          <ac:chgData name="Rodriguez Barcenas Beatriz Adriana" userId="9d0e2705-d1ec-45d6-a10d-58461a4a334f" providerId="ADAL" clId="{812CDC9A-941A-4B28-B06D-1FCB72D96FFB}" dt="2026-04-10T21:43:14.199" v="2385" actId="404"/>
          <ac:spMkLst>
            <pc:docMk/>
            <pc:sldMk cId="679105534" sldId="2147482948"/>
            <ac:spMk id="54" creationId="{C7C6C5F9-CD84-5062-30F4-5D3F11BAFC67}"/>
          </ac:spMkLst>
        </pc:spChg>
        <pc:spChg chg="mod">
          <ac:chgData name="Rodriguez Barcenas Beatriz Adriana" userId="9d0e2705-d1ec-45d6-a10d-58461a4a334f" providerId="ADAL" clId="{812CDC9A-941A-4B28-B06D-1FCB72D96FFB}" dt="2026-04-14T18:32:40.841" v="3215" actId="20577"/>
          <ac:spMkLst>
            <pc:docMk/>
            <pc:sldMk cId="679105534" sldId="2147482948"/>
            <ac:spMk id="56" creationId="{10AE335B-E5D2-A6A7-EFF5-4DBB7DACAAF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_rels/notesMaster10.xml.rels><?xml version="1.0" encoding="UTF-8" standalone="yes"?>
<Relationships xmlns="http://schemas.openxmlformats.org/package/2006/relationships"><Relationship Id="rId1" Type="http://schemas.openxmlformats.org/officeDocument/2006/relationships/theme" Target="../theme/theme3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A7176-A95D-4D50-82E7-E0B1E4CABA86}" type="datetimeFigureOut">
              <a:rPr lang="es-MX" smtClean="0"/>
              <a:t>14/04/2026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9E531-8228-4869-972C-A1A5C4B768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1787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10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A7176-A95D-4D50-82E7-E0B1E4CABA86}" type="datetimeFigureOut">
              <a:rPr lang="es-MX" smtClean="0"/>
              <a:t>24/02/2026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9E531-8228-4869-972C-A1A5C4B76845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1787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60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AC6A2-8D51-4349-96A8-60576A5CA0ED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388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A3F73-B9DA-EB27-DB45-EA0D369E8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6678497-9A1A-3833-6860-F6A9A7A452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D76D01B-4C85-41B7-98C1-E1175F838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928DB27-8656-FFFA-5205-AD5C86DCC4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0449E8-F686-473D-9BB1-B67C571B50A0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2760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¿Tu Descripción de Puesto y el funciograma de tu área reflejan con precisión las actividades y responsabilidades que realmente realizas en el día a día (TO BE)?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¿Tienes alguna duda específica sobre el funcionamiento de tu área o sobre la estructura de la organización?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¿Existe algún proceso que consideres necesario rediseñar para mejorar las interacciones, la eficiencia o el funcionamiento general de tu área?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¿Qué rituales, prácticas o espacios de trabajo consideras esenciales para asegurar un funcionamiento adecuado y sostenido en tu área?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recientemente asumiste nuevas responsabilidades, ¿ya se realizó de manera efectiva la transferencia de actividades dentro de tu equipo?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23A7F-676E-4CF1-9D84-2DEDA20CC4A2}" type="slidenum">
              <a:rPr lang="es-MX" smtClean="0"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257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14BFF-2270-19EE-3B61-215B7A097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AE86689-0BF2-7A24-415B-8CDD4DAF46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C6EEAE6-0969-2E6A-09A1-A9D575CF7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2B99489-2D43-16CF-4C5A-80ED26169C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29E531-8228-4869-972C-A1A5C4B76845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95310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608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A3F73-B9DA-EB27-DB45-EA0D369E8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6678497-9A1A-3833-6860-F6A9A7A452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D76D01B-4C85-41B7-98C1-E1175F838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928DB27-8656-FFFA-5205-AD5C86DCC4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0449E8-F686-473D-9BB1-B67C571B50A0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2760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0.xml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0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8C7DFF-44C1-FF85-D9A0-BB58B37C4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3AE20F-E61F-25DF-E08D-A90752429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4DBB89-9044-DE97-901E-A45EF3608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14/04/2026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B373C7-F340-209D-7289-29CD8864B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48ED68-638D-A4D1-6DDB-486085382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20314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3938C6-1D63-865B-616B-DE4AA37E4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B0A2B7-8A2E-B097-D2FD-9902D43CF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A74224-C87E-7817-4F18-9F90B710F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14/04/2026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A8912B-5CB8-7CD5-390F-571C665A4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FF8CC9-DC0F-425A-AA4F-220E951D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3325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5CC765-E2D5-5A07-A022-8B947ED32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AE80D4-4D7E-9A1A-6F24-E98D98F81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A72109-1C51-0F9A-C291-7DA74EFAA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14/04/2026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0189A5-0B7A-9C13-147B-DD4DC89C7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6CD1B1-8A30-1C4F-3558-B74333204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4750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64983-8120-936C-E5F7-636AFC1E3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A56FE1-9859-DA53-9870-E19AD596CB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6E9B74-646B-E553-610E-60FD69C6B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670066-80D5-CF49-3763-EFB1A39F6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14/04/2026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DCB10D-C5BB-2917-DF70-EA5370A41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0441D07-F68C-45BB-C8D3-2E2CC203E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04869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3BE15-C65C-27C3-61B4-80C1F30AA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320DE2-0858-1922-B384-1CE8329AC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60F6030-1CD1-B615-86B5-B1346AA6B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8BD856C-C1FB-7BF2-0304-FEC4FFFE04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14B603F-5221-7D67-93EE-E529FE3AE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A06E7E5-D921-1202-C35C-B250C0B5B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14/04/2026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5F70C23-B57A-6E6B-A83C-91D846C49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B42A847-6E5C-4FB3-354B-F18CA8147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7762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8D2B64-4B38-F2C1-C4BB-05FB4C1AC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C50DCE0-6ECF-9939-BA74-504B6DE20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14/04/2026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B33A7B7-1519-0DD6-5808-2B7C77C3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BE9EABC-B14B-E612-3086-5D11BEB38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6697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B25FE73-8A5C-0A80-C7BB-0D41A60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14/04/2026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CCDA556-8B76-82CF-2D9B-4170BFF1F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D6AEDB-D5AA-76CE-9741-5F8EC108B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30686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CD63C3-2A0E-3199-F4C3-40A9BEE9A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1E618A-6441-BEA8-9A56-52A9F75FE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8982AB-FF9E-419D-49FC-FA55CBFD6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32492E-547F-4B4C-9C63-B3177E69F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14/04/2026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EA5142-DC47-0459-137F-EF7AAD68B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19D715-B32D-045C-C766-A530EFB5E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59499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1D3433-2835-546D-EE78-E332A70DE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7BC949D-8DB1-0ED8-156D-DF157DF995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37DA3D4-54EF-91A9-6079-0A60B1B0D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71CB21E-C5DF-5A5E-FB90-3FC7E821F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14/04/2026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082496B-B12A-C63A-71C4-FA0F3A65F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3DB693-9892-FCE1-865D-D93F429A4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124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012DE-9019-FBA6-DF73-41E892158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7AFA61-362E-79C4-0B76-562A18239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F0161C-4243-B038-5C77-FB019E682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14/04/2026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F26D3C-2302-5EE2-7803-D2CBFEDF5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C246A7-855D-2328-28D3-A6058F2A3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97533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7EF99B5-B043-1E7B-D449-21CAA66A1B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D14D571-7AD4-E43C-0E3B-BC25894DD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4E0073-958D-7293-223B-91C4D294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14/04/2026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2DE800-C5F9-28B2-4ED5-9397DFB49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12D079-5868-1FFC-29FB-6A995454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3624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405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9964B36-D29C-6A4C-3B65-CE41A9DC2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957944" y="3007020"/>
            <a:ext cx="8713693" cy="1874901"/>
          </a:xfrm>
          <a:prstGeom prst="rect">
            <a:avLst/>
          </a:prstGeom>
        </p:spPr>
        <p:txBody>
          <a:bodyPr vert="horz" wrap="square" lIns="108000" tIns="36000" rIns="108000" bIns="36000" anchor="ctr" anchorCtr="0">
            <a:noAutofit/>
          </a:bodyPr>
          <a:lstStyle>
            <a:lvl1pPr algn="l">
              <a:defRPr sz="2933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_tradnl" err="1"/>
              <a:t>Click</a:t>
            </a:r>
            <a:r>
              <a:rPr lang="es-ES_tradnl"/>
              <a:t> to </a:t>
            </a:r>
            <a:r>
              <a:rPr lang="es-ES_tradnl" err="1"/>
              <a:t>edit</a:t>
            </a:r>
            <a:r>
              <a:rPr lang="es-ES_tradnl"/>
              <a:t> Master </a:t>
            </a:r>
            <a:r>
              <a:rPr lang="es-ES_tradnl" err="1"/>
              <a:t>title</a:t>
            </a:r>
            <a:r>
              <a:rPr lang="es-ES_tradnl"/>
              <a:t> </a:t>
            </a:r>
            <a:r>
              <a:rPr lang="es-ES_tradnl" err="1"/>
              <a:t>style</a:t>
            </a:r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E669F59-5AA8-FC7D-C466-DC8797D4B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4" y="745642"/>
            <a:ext cx="2111248" cy="111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077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9905"/>
            <a:ext cx="7896000" cy="77787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338943"/>
            <a:ext cx="10972800" cy="4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3299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5A497E9-8F3A-D4E2-4E2C-4DCC5D7DB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1F1FD42-4E30-DAC3-AAE7-71BF8B995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897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610CF2D-52FA-CFB5-69C4-82EA7511E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705B91B-9437-2CC0-733A-BF69FEE28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3" y="2789908"/>
            <a:ext cx="2428855" cy="127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2754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14/04/2026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63716312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9964B36-D29C-6A4C-3B65-CE41A9DC2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957944" y="3007020"/>
            <a:ext cx="8713693" cy="1874901"/>
          </a:xfrm>
          <a:prstGeom prst="rect">
            <a:avLst/>
          </a:prstGeom>
        </p:spPr>
        <p:txBody>
          <a:bodyPr vert="horz" wrap="square" lIns="108000" tIns="36000" rIns="108000" bIns="36000" anchor="ctr" anchorCtr="0">
            <a:noAutofit/>
          </a:bodyPr>
          <a:lstStyle>
            <a:lvl1pPr algn="l">
              <a:defRPr sz="2933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_tradnl" err="1"/>
              <a:t>Click</a:t>
            </a:r>
            <a:r>
              <a:rPr lang="es-ES_tradnl"/>
              <a:t> to </a:t>
            </a:r>
            <a:r>
              <a:rPr lang="es-ES_tradnl" err="1"/>
              <a:t>edit</a:t>
            </a:r>
            <a:r>
              <a:rPr lang="es-ES_tradnl"/>
              <a:t> Master </a:t>
            </a:r>
            <a:r>
              <a:rPr lang="es-ES_tradnl" err="1"/>
              <a:t>title</a:t>
            </a:r>
            <a:r>
              <a:rPr lang="es-ES_tradnl"/>
              <a:t> </a:t>
            </a:r>
            <a:r>
              <a:rPr lang="es-ES_tradnl" err="1"/>
              <a:t>style</a:t>
            </a:r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E669F59-5AA8-FC7D-C466-DC8797D4B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4" y="745642"/>
            <a:ext cx="2111248" cy="111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07763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9905"/>
            <a:ext cx="7896000" cy="77787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338943"/>
            <a:ext cx="10972800" cy="4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3299435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5A497E9-8F3A-D4E2-4E2C-4DCC5D7DB5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1F1FD42-4E30-DAC3-AAE7-71BF8B9955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89707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610CF2D-52FA-CFB5-69C4-82EA7511E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705B91B-9437-2CC0-733A-BF69FEE28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3" y="2789908"/>
            <a:ext cx="2428855" cy="127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275451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24/02/2026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63716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slideLayout" Target="../slideLayouts/slideLayout150.xml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140.xml"/><Relationship Id="rId1" Type="http://schemas.openxmlformats.org/officeDocument/2006/relationships/slideLayout" Target="../slideLayouts/slideLayout130.xml"/><Relationship Id="rId6" Type="http://schemas.openxmlformats.org/officeDocument/2006/relationships/theme" Target="../theme/theme20.xml"/><Relationship Id="rId5" Type="http://schemas.openxmlformats.org/officeDocument/2006/relationships/slideLayout" Target="../slideLayouts/slideLayout170.xml"/><Relationship Id="rId4" Type="http://schemas.openxmlformats.org/officeDocument/2006/relationships/slideLayout" Target="../slideLayouts/slideLayout1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EA89EE3-65BA-05DD-A73B-3E9A666F2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02E1D3-973C-BBF1-2C8C-6F66C1054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E06749-9559-D2A1-B0DC-224A35275B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00A0D1-5618-4CAB-9766-D6CB01375B9B}" type="datetimeFigureOut">
              <a:rPr lang="es-MX" smtClean="0"/>
              <a:t>14/04/2026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E2F7B7-B1AD-4032-4AFC-78EB7299D1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3B72D7-ADB6-63A7-B4BC-69A8FDF4B9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71D58D7-643F-A0FE-FD5F-89214451350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403899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122AED3-FD15-83A5-ECA7-6C9A81BC3D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1" y="149905"/>
            <a:ext cx="7898103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338943"/>
            <a:ext cx="10972800" cy="48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933">
                <a:solidFill>
                  <a:srgbClr val="53565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0BFA05D-292C-7FDF-6EBD-8F7561E1BB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39339" y="325689"/>
            <a:ext cx="810085" cy="42630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6450420-921C-12D8-6D2D-10B8D0616732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361436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133" b="1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9pPr>
    </p:titleStyle>
    <p:bodyStyle>
      <a:lvl1pPr marL="239178" indent="-23917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Wingdings" pitchFamily="2" charset="2"/>
        <a:buChar char="§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marL="59688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Font typeface="Arial" charset="0"/>
        <a:buChar char="–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2pPr>
      <a:lvl3pPr marL="954593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3pPr>
      <a:lvl4pPr marL="1314418" indent="-359824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90000"/>
        <a:buFont typeface="Lucida Grande" charset="0"/>
        <a:buChar char="&gt;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4pPr>
      <a:lvl5pPr marL="167212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60000"/>
        <a:buFont typeface="Wingdings" charset="2"/>
        <a:buChar char="u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122AED3-FD15-83A5-ECA7-6C9A81BC3D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1" y="149905"/>
            <a:ext cx="7898103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338943"/>
            <a:ext cx="10972800" cy="48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933">
                <a:solidFill>
                  <a:srgbClr val="53565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0BFA05D-292C-7FDF-6EBD-8F7561E1BB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39339" y="325689"/>
            <a:ext cx="810085" cy="42630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6450420-921C-12D8-6D2D-10B8D0616732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361436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133" b="1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9pPr>
    </p:titleStyle>
    <p:bodyStyle>
      <a:lvl1pPr marL="239178" indent="-23917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Wingdings" pitchFamily="2" charset="2"/>
        <a:buChar char="§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marL="59688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Font typeface="Arial" charset="0"/>
        <a:buChar char="–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2pPr>
      <a:lvl3pPr marL="954593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3pPr>
      <a:lvl4pPr marL="1314418" indent="-359824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90000"/>
        <a:buFont typeface="Lucida Grande" charset="0"/>
        <a:buChar char="&gt;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4pPr>
      <a:lvl5pPr marL="167212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60000"/>
        <a:buFont typeface="Wingdings" charset="2"/>
        <a:buChar char="u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13" Type="http://schemas.openxmlformats.org/officeDocument/2006/relationships/tags" Target="../tags/tag12.xml"/><Relationship Id="rId3" Type="http://schemas.openxmlformats.org/officeDocument/2006/relationships/tags" Target="../tags/tag2.xml"/><Relationship Id="rId7" Type="http://schemas.openxmlformats.org/officeDocument/2006/relationships/tags" Target="../tags/tag6.xml"/><Relationship Id="rId12" Type="http://schemas.openxmlformats.org/officeDocument/2006/relationships/tags" Target="../tags/tag11.xml"/><Relationship Id="rId2" Type="http://schemas.openxmlformats.org/officeDocument/2006/relationships/tags" Target="../tags/tag1.xml"/><Relationship Id="rId16" Type="http://schemas.openxmlformats.org/officeDocument/2006/relationships/slideLayout" Target="../slideLayouts/slideLayout14.xml"/><Relationship Id="rId1" Type="http://schemas.openxmlformats.org/officeDocument/2006/relationships/themeOverride" Target="../theme/themeOverride1.xml"/><Relationship Id="rId6" Type="http://schemas.openxmlformats.org/officeDocument/2006/relationships/tags" Target="../tags/tag5.xml"/><Relationship Id="rId11" Type="http://schemas.openxmlformats.org/officeDocument/2006/relationships/tags" Target="../tags/tag10.xml"/><Relationship Id="rId5" Type="http://schemas.openxmlformats.org/officeDocument/2006/relationships/tags" Target="../tags/tag4.xml"/><Relationship Id="rId15" Type="http://schemas.openxmlformats.org/officeDocument/2006/relationships/tags" Target="../tags/tag14.xml"/><Relationship Id="rId10" Type="http://schemas.openxmlformats.org/officeDocument/2006/relationships/tags" Target="../tags/tag9.xml"/><Relationship Id="rId4" Type="http://schemas.openxmlformats.org/officeDocument/2006/relationships/tags" Target="../tags/tag3.xml"/><Relationship Id="rId9" Type="http://schemas.openxmlformats.org/officeDocument/2006/relationships/tags" Target="../tags/tag8.xml"/><Relationship Id="rId14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27.xml"/><Relationship Id="rId18" Type="http://schemas.openxmlformats.org/officeDocument/2006/relationships/tags" Target="../tags/tag32.xml"/><Relationship Id="rId26" Type="http://schemas.openxmlformats.org/officeDocument/2006/relationships/tags" Target="../tags/tag40.xml"/><Relationship Id="rId39" Type="http://schemas.openxmlformats.org/officeDocument/2006/relationships/tags" Target="../tags/tag53.xml"/><Relationship Id="rId21" Type="http://schemas.openxmlformats.org/officeDocument/2006/relationships/tags" Target="../tags/tag35.xml"/><Relationship Id="rId34" Type="http://schemas.openxmlformats.org/officeDocument/2006/relationships/tags" Target="../tags/tag48.xml"/><Relationship Id="rId42" Type="http://schemas.openxmlformats.org/officeDocument/2006/relationships/tags" Target="../tags/tag56.xml"/><Relationship Id="rId47" Type="http://schemas.openxmlformats.org/officeDocument/2006/relationships/tags" Target="../tags/tag61.xml"/><Relationship Id="rId50" Type="http://schemas.openxmlformats.org/officeDocument/2006/relationships/tags" Target="../tags/tag64.xml"/><Relationship Id="rId55" Type="http://schemas.openxmlformats.org/officeDocument/2006/relationships/tags" Target="../tags/tag69.xml"/><Relationship Id="rId7" Type="http://schemas.openxmlformats.org/officeDocument/2006/relationships/tags" Target="../tags/tag21.xml"/><Relationship Id="rId2" Type="http://schemas.openxmlformats.org/officeDocument/2006/relationships/tags" Target="../tags/tag16.xml"/><Relationship Id="rId16" Type="http://schemas.openxmlformats.org/officeDocument/2006/relationships/tags" Target="../tags/tag30.xml"/><Relationship Id="rId29" Type="http://schemas.openxmlformats.org/officeDocument/2006/relationships/tags" Target="../tags/tag43.xml"/><Relationship Id="rId11" Type="http://schemas.openxmlformats.org/officeDocument/2006/relationships/tags" Target="../tags/tag25.xml"/><Relationship Id="rId24" Type="http://schemas.openxmlformats.org/officeDocument/2006/relationships/tags" Target="../tags/tag38.xml"/><Relationship Id="rId32" Type="http://schemas.openxmlformats.org/officeDocument/2006/relationships/tags" Target="../tags/tag46.xml"/><Relationship Id="rId37" Type="http://schemas.openxmlformats.org/officeDocument/2006/relationships/tags" Target="../tags/tag51.xml"/><Relationship Id="rId40" Type="http://schemas.openxmlformats.org/officeDocument/2006/relationships/tags" Target="../tags/tag54.xml"/><Relationship Id="rId45" Type="http://schemas.openxmlformats.org/officeDocument/2006/relationships/tags" Target="../tags/tag59.xml"/><Relationship Id="rId53" Type="http://schemas.openxmlformats.org/officeDocument/2006/relationships/tags" Target="../tags/tag67.xml"/><Relationship Id="rId58" Type="http://schemas.openxmlformats.org/officeDocument/2006/relationships/tags" Target="../tags/tag72.xml"/><Relationship Id="rId5" Type="http://schemas.openxmlformats.org/officeDocument/2006/relationships/tags" Target="../tags/tag19.xml"/><Relationship Id="rId19" Type="http://schemas.openxmlformats.org/officeDocument/2006/relationships/tags" Target="../tags/tag33.xml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tags" Target="../tags/tag28.xml"/><Relationship Id="rId22" Type="http://schemas.openxmlformats.org/officeDocument/2006/relationships/tags" Target="../tags/tag36.xml"/><Relationship Id="rId27" Type="http://schemas.openxmlformats.org/officeDocument/2006/relationships/tags" Target="../tags/tag41.xml"/><Relationship Id="rId30" Type="http://schemas.openxmlformats.org/officeDocument/2006/relationships/tags" Target="../tags/tag44.xml"/><Relationship Id="rId35" Type="http://schemas.openxmlformats.org/officeDocument/2006/relationships/tags" Target="../tags/tag49.xml"/><Relationship Id="rId43" Type="http://schemas.openxmlformats.org/officeDocument/2006/relationships/tags" Target="../tags/tag57.xml"/><Relationship Id="rId48" Type="http://schemas.openxmlformats.org/officeDocument/2006/relationships/tags" Target="../tags/tag62.xml"/><Relationship Id="rId56" Type="http://schemas.openxmlformats.org/officeDocument/2006/relationships/tags" Target="../tags/tag70.xml"/><Relationship Id="rId8" Type="http://schemas.openxmlformats.org/officeDocument/2006/relationships/tags" Target="../tags/tag22.xml"/><Relationship Id="rId51" Type="http://schemas.openxmlformats.org/officeDocument/2006/relationships/tags" Target="../tags/tag65.xml"/><Relationship Id="rId3" Type="http://schemas.openxmlformats.org/officeDocument/2006/relationships/tags" Target="../tags/tag17.xml"/><Relationship Id="rId12" Type="http://schemas.openxmlformats.org/officeDocument/2006/relationships/tags" Target="../tags/tag26.xml"/><Relationship Id="rId17" Type="http://schemas.openxmlformats.org/officeDocument/2006/relationships/tags" Target="../tags/tag31.xml"/><Relationship Id="rId25" Type="http://schemas.openxmlformats.org/officeDocument/2006/relationships/tags" Target="../tags/tag39.xml"/><Relationship Id="rId33" Type="http://schemas.openxmlformats.org/officeDocument/2006/relationships/tags" Target="../tags/tag47.xml"/><Relationship Id="rId38" Type="http://schemas.openxmlformats.org/officeDocument/2006/relationships/tags" Target="../tags/tag52.xml"/><Relationship Id="rId46" Type="http://schemas.openxmlformats.org/officeDocument/2006/relationships/tags" Target="../tags/tag60.xml"/><Relationship Id="rId59" Type="http://schemas.openxmlformats.org/officeDocument/2006/relationships/slideLayout" Target="../slideLayouts/slideLayout14.xml"/><Relationship Id="rId20" Type="http://schemas.openxmlformats.org/officeDocument/2006/relationships/tags" Target="../tags/tag34.xml"/><Relationship Id="rId41" Type="http://schemas.openxmlformats.org/officeDocument/2006/relationships/tags" Target="../tags/tag55.xml"/><Relationship Id="rId54" Type="http://schemas.openxmlformats.org/officeDocument/2006/relationships/tags" Target="../tags/tag68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5" Type="http://schemas.openxmlformats.org/officeDocument/2006/relationships/tags" Target="../tags/tag29.xml"/><Relationship Id="rId23" Type="http://schemas.openxmlformats.org/officeDocument/2006/relationships/tags" Target="../tags/tag37.xml"/><Relationship Id="rId28" Type="http://schemas.openxmlformats.org/officeDocument/2006/relationships/tags" Target="../tags/tag42.xml"/><Relationship Id="rId36" Type="http://schemas.openxmlformats.org/officeDocument/2006/relationships/tags" Target="../tags/tag50.xml"/><Relationship Id="rId49" Type="http://schemas.openxmlformats.org/officeDocument/2006/relationships/tags" Target="../tags/tag63.xml"/><Relationship Id="rId57" Type="http://schemas.openxmlformats.org/officeDocument/2006/relationships/tags" Target="../tags/tag71.xml"/><Relationship Id="rId10" Type="http://schemas.openxmlformats.org/officeDocument/2006/relationships/tags" Target="../tags/tag24.xml"/><Relationship Id="rId31" Type="http://schemas.openxmlformats.org/officeDocument/2006/relationships/tags" Target="../tags/tag45.xml"/><Relationship Id="rId44" Type="http://schemas.openxmlformats.org/officeDocument/2006/relationships/tags" Target="../tags/tag58.xml"/><Relationship Id="rId52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slide" Target="slide100.xml"/><Relationship Id="rId3" Type="http://schemas.openxmlformats.org/officeDocument/2006/relationships/image" Target="../media/image6.png"/><Relationship Id="rId7" Type="http://schemas.openxmlformats.org/officeDocument/2006/relationships/slide" Target="slide90.xml"/><Relationship Id="rId12" Type="http://schemas.openxmlformats.org/officeDocument/2006/relationships/image" Target="../media/image9.png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7.png"/><Relationship Id="rId11" Type="http://schemas.openxmlformats.org/officeDocument/2006/relationships/image" Target="../media/image80.png"/><Relationship Id="rId5" Type="http://schemas.openxmlformats.org/officeDocument/2006/relationships/image" Target="../media/image60.png"/><Relationship Id="rId10" Type="http://schemas.openxmlformats.org/officeDocument/2006/relationships/slide" Target="slide60.xml"/><Relationship Id="rId4" Type="http://schemas.openxmlformats.org/officeDocument/2006/relationships/slide" Target="slide70.xml"/><Relationship Id="rId9" Type="http://schemas.openxmlformats.org/officeDocument/2006/relationships/image" Target="../media/image8.png"/><Relationship Id="rId14" Type="http://schemas.openxmlformats.org/officeDocument/2006/relationships/image" Target="../media/image9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6.xml"/><Relationship Id="rId5" Type="http://schemas.openxmlformats.org/officeDocument/2006/relationships/image" Target="../media/image11.png"/><Relationship Id="rId4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0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0.xml"/><Relationship Id="rId1" Type="http://schemas.openxmlformats.org/officeDocument/2006/relationships/themeOverride" Target="../theme/themeOverride30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170.xml"/><Relationship Id="rId1" Type="http://schemas.openxmlformats.org/officeDocument/2006/relationships/themeOverride" Target="../theme/themeOverride40.xml"/><Relationship Id="rId6" Type="http://schemas.openxmlformats.org/officeDocument/2006/relationships/image" Target="../media/image120.png"/><Relationship Id="rId5" Type="http://schemas.openxmlformats.org/officeDocument/2006/relationships/image" Target="../media/image110.png"/><Relationship Id="rId4" Type="http://schemas.openxmlformats.org/officeDocument/2006/relationships/image" Target="../media/image100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40.xml"/><Relationship Id="rId1" Type="http://schemas.openxmlformats.org/officeDocument/2006/relationships/themeOverride" Target="../theme/themeOverride60.xml"/><Relationship Id="rId5" Type="http://schemas.openxmlformats.org/officeDocument/2006/relationships/image" Target="../media/image11.png"/><Relationship Id="rId4" Type="http://schemas.openxmlformats.org/officeDocument/2006/relationships/slide" Target="slide20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0.xml"/><Relationship Id="rId1" Type="http://schemas.openxmlformats.org/officeDocument/2006/relationships/themeOverride" Target="../theme/themeOverride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CC94514-1502-7445-9201-7BD20CD9B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Fit</a:t>
            </a:r>
            <a:r>
              <a:rPr lang="es-ES_tradnl" dirty="0"/>
              <a:t> </a:t>
            </a:r>
            <a:r>
              <a:rPr lang="es-ES_tradnl" dirty="0" err="1"/>
              <a:t>for</a:t>
            </a:r>
            <a:r>
              <a:rPr lang="es-ES_tradnl" dirty="0"/>
              <a:t> </a:t>
            </a:r>
            <a:r>
              <a:rPr lang="es-ES_tradnl" dirty="0" err="1"/>
              <a:t>Purpose</a:t>
            </a:r>
            <a:r>
              <a:rPr lang="es-ES_tradnl" dirty="0"/>
              <a:t> 2026</a:t>
            </a:r>
            <a:br>
              <a:rPr lang="es-ES_tradnl" dirty="0"/>
            </a:br>
            <a:r>
              <a:rPr lang="es-ES_tradnl" b="1" dirty="0"/>
              <a:t>OXXO Cel</a:t>
            </a:r>
            <a:br>
              <a:rPr lang="es-ES_tradnl" b="0" i="1" dirty="0"/>
            </a:br>
            <a:r>
              <a:rPr lang="es-ES_tradnl" sz="2400" b="0" i="1" dirty="0"/>
              <a:t>Etapa de Detalle de actividades e interacciones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9847210-94E5-A154-DA52-73E17453356B}"/>
              </a:ext>
            </a:extLst>
          </p:cNvPr>
          <p:cNvSpPr txBox="1"/>
          <p:nvPr/>
        </p:nvSpPr>
        <p:spPr>
          <a:xfrm>
            <a:off x="10553700" y="6324600"/>
            <a:ext cx="180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Abril 2026</a:t>
            </a:r>
          </a:p>
        </p:txBody>
      </p:sp>
    </p:spTree>
    <p:extLst>
      <p:ext uri="{BB962C8B-B14F-4D97-AF65-F5344CB8AC3E}">
        <p14:creationId xmlns:p14="http://schemas.microsoft.com/office/powerpoint/2010/main" val="3748555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3242F-D6B6-8883-7120-F7EB9B266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Agenda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F1AB196A-457C-18CD-BDE7-8779FF023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974216"/>
              </p:ext>
            </p:extLst>
          </p:nvPr>
        </p:nvGraphicFramePr>
        <p:xfrm>
          <a:off x="844325" y="1401763"/>
          <a:ext cx="7661275" cy="2770187"/>
        </p:xfrm>
        <a:graphic>
          <a:graphicData uri="http://schemas.openxmlformats.org/drawingml/2006/table">
            <a:tbl>
              <a:tblPr/>
              <a:tblGrid>
                <a:gridCol w="4662996">
                  <a:extLst>
                    <a:ext uri="{9D8B030D-6E8A-4147-A177-3AD203B41FA5}">
                      <a16:colId xmlns:a16="http://schemas.microsoft.com/office/drawing/2014/main" val="1534947559"/>
                    </a:ext>
                  </a:extLst>
                </a:gridCol>
                <a:gridCol w="2998279">
                  <a:extLst>
                    <a:ext uri="{9D8B030D-6E8A-4147-A177-3AD203B41FA5}">
                      <a16:colId xmlns:a16="http://schemas.microsoft.com/office/drawing/2014/main" val="2121972609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2000" b="1" i="0" cap="all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Tema</a:t>
                      </a:r>
                      <a:endParaRPr lang="en-US" sz="3200" b="1" i="0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748" cap="flat" cmpd="sng" algn="ctr">
                      <a:solidFill>
                        <a:srgbClr val="B79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2000" b="1" i="0" cap="all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Tiempo (min)</a:t>
                      </a:r>
                      <a:r>
                        <a:rPr lang="en-US" sz="2000" b="1" i="0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1" i="0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748" cap="flat" cmpd="sng" algn="ctr">
                      <a:solidFill>
                        <a:srgbClr val="B79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8306504"/>
                  </a:ext>
                </a:extLst>
              </a:tr>
              <a:tr h="427037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Racional</a:t>
                      </a:r>
                      <a:r>
                        <a:rPr lang="en-US" sz="1600" b="1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Fit for Purpose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748" cap="flat" cmpd="sng" algn="ctr">
                      <a:solidFill>
                        <a:srgbClr val="B79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748" cap="flat" cmpd="sng" algn="ctr">
                      <a:solidFill>
                        <a:srgbClr val="B79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48875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Alcance</a:t>
                      </a:r>
                      <a:r>
                        <a:rPr lang="en-US" sz="1600" b="1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2026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761853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Percepción inicial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19624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Descripción de puesto L2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30​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74933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Principales contribuciones del área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49114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s-MX" sz="1600" b="1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Interacciones entre áreas y procesos clave</a:t>
                      </a:r>
                      <a:r>
                        <a:rPr lang="es-MX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s-MX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57533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Siguientes</a:t>
                      </a:r>
                      <a:r>
                        <a:rPr lang="en-US" sz="1600" b="1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pasos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57482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94B30EA4-F1E8-A786-6C44-E83C9FA76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8200" y="24018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B9115E4-7613-964D-34B0-2633AFF836C5}"/>
              </a:ext>
            </a:extLst>
          </p:cNvPr>
          <p:cNvSpPr/>
          <p:nvPr/>
        </p:nvSpPr>
        <p:spPr>
          <a:xfrm>
            <a:off x="844325" y="2875872"/>
            <a:ext cx="7661275" cy="952498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9062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0">
            <a:extLst>
              <a:ext uri="{FF2B5EF4-FFF2-40B4-BE49-F238E27FC236}">
                <a16:creationId xmlns:a16="http://schemas.microsoft.com/office/drawing/2014/main" id="{BCF91F4B-9BD8-B6BB-D452-AB34BA160CF2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2529841" y="585778"/>
            <a:ext cx="5160263" cy="353620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3" name="Rectangle 30">
            <a:extLst>
              <a:ext uri="{FF2B5EF4-FFF2-40B4-BE49-F238E27FC236}">
                <a16:creationId xmlns:a16="http://schemas.microsoft.com/office/drawing/2014/main" id="{D5F622C4-A1C4-D27E-EBA7-0B1673BA546E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414275" y="222452"/>
            <a:ext cx="5297421" cy="353620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E1984FD-325A-1DAF-441E-E4E389F39E0D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08760" y="170280"/>
            <a:ext cx="7931152" cy="830997"/>
          </a:xfrm>
          <a:noFill/>
        </p:spPr>
        <p:txBody>
          <a:bodyPr vert="horz"/>
          <a:lstStyle/>
          <a:p>
            <a:r>
              <a:rPr lang="es-ES"/>
              <a:t>Hemos </a:t>
            </a:r>
            <a:r>
              <a:rPr lang="es-ES">
                <a:solidFill>
                  <a:schemeClr val="bg1"/>
                </a:solidFill>
              </a:rPr>
              <a:t>completado el diseño de nuestra organización, </a:t>
            </a:r>
            <a:r>
              <a:rPr lang="es-ES"/>
              <a:t>un primer paso crítico en la </a:t>
            </a:r>
            <a:r>
              <a:rPr lang="es-ES">
                <a:solidFill>
                  <a:schemeClr val="bg1"/>
                </a:solidFill>
              </a:rPr>
              <a:t>redefinición de nuestra dirección estratégica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btfpBulletedList340998">
            <a:extLst>
              <a:ext uri="{FF2B5EF4-FFF2-40B4-BE49-F238E27FC236}">
                <a16:creationId xmlns:a16="http://schemas.microsoft.com/office/drawing/2014/main" id="{6774FF68-F920-0700-BE7A-A260E0F70D61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330242" y="1430015"/>
            <a:ext cx="11531558" cy="935159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7800" marR="0" lvl="0" indent="-17780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La nueva organización que estamos construyendo está adaptada a nuestro propósito y lista para cumplir con nuestra dirección estratégica redefinida.</a:t>
            </a:r>
          </a:p>
          <a:p>
            <a:pPr marL="177800" marR="0" lvl="0" indent="-17780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El diseño del modelo operativo contempla 5 cambios principales: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40624427-A82C-57CA-2AE4-F626493A8C6F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170517" y="2834940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Coloca al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Cliente en el centro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anclando la propuesta de valor en nuestras tiendas y asegurando que el cliente sea el eje de todos nuestros procesos. Fortalecer la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Voz del Cliente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para asegurar el valor a largo plazo.</a:t>
            </a:r>
          </a:p>
        </p:txBody>
      </p:sp>
      <p:sp>
        <p:nvSpPr>
          <p:cNvPr id="17" name="Rectangle 26">
            <a:extLst>
              <a:ext uri="{FF2B5EF4-FFF2-40B4-BE49-F238E27FC236}">
                <a16:creationId xmlns:a16="http://schemas.microsoft.com/office/drawing/2014/main" id="{655212EF-CD3E-1EC4-B1D1-6F50C2E9A5D1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170517" y="3521201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Enfoque al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crecimiento principal del negocio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construyendo alrededor de las tres misiones estratégicas (impulso, reposición diaria y 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foodvenience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), reenfocando nuestra estrategia comercial.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8" name="Rectangle 27">
            <a:extLst>
              <a:ext uri="{FF2B5EF4-FFF2-40B4-BE49-F238E27FC236}">
                <a16:creationId xmlns:a16="http://schemas.microsoft.com/office/drawing/2014/main" id="{1AC72AEF-A584-F23F-DA39-C1A3FC62F5DC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170517" y="4156662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Establece a Servicios Comerciales como un motor de crecimiento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independiente, con enfoque y recursos dedicados.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9" name="Rectangle 28">
            <a:extLst>
              <a:ext uri="{FF2B5EF4-FFF2-40B4-BE49-F238E27FC236}">
                <a16:creationId xmlns:a16="http://schemas.microsoft.com/office/drawing/2014/main" id="{85190384-2B37-CA71-97A1-BBE5276C2F5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170517" y="4792123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Incorpora excelencia operativa en los procesos </a:t>
            </a:r>
            <a:r>
              <a:rPr kumimoji="0" lang="es-ES" sz="1600" b="1" i="0" u="none" strike="noStrike" kern="1200" cap="none" spc="0" normalizeH="0" baseline="0" noProof="0" err="1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end-to-end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para ofrecer una ejecución eficiente en tienda y brindar a los clientes una experiencia 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best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-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in-class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.</a:t>
            </a: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20" name="Rectangle 29">
            <a:extLst>
              <a:ext uri="{FF2B5EF4-FFF2-40B4-BE49-F238E27FC236}">
                <a16:creationId xmlns:a16="http://schemas.microsoft.com/office/drawing/2014/main" id="{B88B6AC4-B4D5-B039-DA62-4A94019FBAC8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1170517" y="5528946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Fortalece Estrategia y Transformación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como el orquestador del cambio y asegurador de la generación de valor en nuestras iniciativas de negocio a largo plazo.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21" name="btfpNumberBubble877561">
            <a:extLst>
              <a:ext uri="{FF2B5EF4-FFF2-40B4-BE49-F238E27FC236}">
                <a16:creationId xmlns:a16="http://schemas.microsoft.com/office/drawing/2014/main" id="{04E4DEA9-AE37-1503-B393-CA7C5875B871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791399" y="276429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1</a:t>
            </a:r>
          </a:p>
        </p:txBody>
      </p:sp>
      <p:sp>
        <p:nvSpPr>
          <p:cNvPr id="22" name="btfpNumberBubble877561">
            <a:extLst>
              <a:ext uri="{FF2B5EF4-FFF2-40B4-BE49-F238E27FC236}">
                <a16:creationId xmlns:a16="http://schemas.microsoft.com/office/drawing/2014/main" id="{38793E7E-F9AA-070E-86C7-6C7DD4DF96ED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791399" y="3583848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2</a:t>
            </a:r>
          </a:p>
        </p:txBody>
      </p:sp>
      <p:sp>
        <p:nvSpPr>
          <p:cNvPr id="23" name="btfpNumberBubble877561">
            <a:extLst>
              <a:ext uri="{FF2B5EF4-FFF2-40B4-BE49-F238E27FC236}">
                <a16:creationId xmlns:a16="http://schemas.microsoft.com/office/drawing/2014/main" id="{34E1A335-0385-7EF0-6264-89D4C7B51E88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791399" y="419155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3</a:t>
            </a:r>
          </a:p>
        </p:txBody>
      </p:sp>
      <p:sp>
        <p:nvSpPr>
          <p:cNvPr id="24" name="btfpNumberBubble877561">
            <a:extLst>
              <a:ext uri="{FF2B5EF4-FFF2-40B4-BE49-F238E27FC236}">
                <a16:creationId xmlns:a16="http://schemas.microsoft.com/office/drawing/2014/main" id="{3F50E6D1-0F58-ED65-920B-4A1A841D5535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791399" y="482258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4</a:t>
            </a:r>
          </a:p>
        </p:txBody>
      </p:sp>
      <p:sp>
        <p:nvSpPr>
          <p:cNvPr id="25" name="btfpNumberBubble877561">
            <a:extLst>
              <a:ext uri="{FF2B5EF4-FFF2-40B4-BE49-F238E27FC236}">
                <a16:creationId xmlns:a16="http://schemas.microsoft.com/office/drawing/2014/main" id="{69C1F2FF-09E9-44EA-5870-E583E53F3CF6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791399" y="5573800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5286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6A517-8AEA-04F6-EDB3-A9A94D630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err="1">
                <a:latin typeface="+mj-lt"/>
              </a:rPr>
              <a:t>Proceso</a:t>
            </a:r>
            <a:r>
              <a:rPr lang="en-US" noProof="0">
                <a:latin typeface="+mj-lt"/>
              </a:rPr>
              <a:t> Diseño FFP</a:t>
            </a:r>
            <a:endParaRPr lang="es-MX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75F14585-98E7-A3BC-F2F7-1B2A2C19AAAD}"/>
              </a:ext>
            </a:extLst>
          </p:cNvPr>
          <p:cNvSpPr/>
          <p:nvPr/>
        </p:nvSpPr>
        <p:spPr bwMode="auto">
          <a:xfrm>
            <a:off x="333729" y="1094890"/>
            <a:ext cx="11528071" cy="3801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7486B2">
                    <a:lumMod val="75000"/>
                  </a:srgbClr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ESTRATEGIA OXXO 2030</a:t>
            </a:r>
          </a:p>
        </p:txBody>
      </p:sp>
      <p:sp>
        <p:nvSpPr>
          <p:cNvPr id="4" name="btfpSequenceArrow919092">
            <a:extLst>
              <a:ext uri="{FF2B5EF4-FFF2-40B4-BE49-F238E27FC236}">
                <a16:creationId xmlns:a16="http://schemas.microsoft.com/office/drawing/2014/main" id="{32C0E100-53E6-2841-146A-57184924C1BD}"/>
              </a:ext>
            </a:extLst>
          </p:cNvPr>
          <p:cNvSpPr/>
          <p:nvPr/>
        </p:nvSpPr>
        <p:spPr bwMode="auto">
          <a:xfrm rot="5400000">
            <a:off x="5969873" y="1073320"/>
            <a:ext cx="252255" cy="972980"/>
          </a:xfrm>
          <a:custGeom>
            <a:avLst/>
            <a:gdLst/>
            <a:ahLst/>
            <a:cxnLst/>
            <a:rect l="0" t="0" r="0" b="0"/>
            <a:pathLst>
              <a:path w="252255" h="972980">
                <a:moveTo>
                  <a:pt x="38100" y="0"/>
                </a:moveTo>
                <a:lnTo>
                  <a:pt x="252254" y="486489"/>
                </a:lnTo>
                <a:lnTo>
                  <a:pt x="38100" y="972979"/>
                </a:lnTo>
                <a:lnTo>
                  <a:pt x="0" y="972979"/>
                </a:lnTo>
                <a:lnTo>
                  <a:pt x="214154" y="486489"/>
                </a:lnTo>
                <a:lnTo>
                  <a:pt x="0" y="0"/>
                </a:lnTo>
              </a:path>
            </a:pathLst>
          </a:custGeom>
          <a:solidFill>
            <a:srgbClr val="D6D6D6"/>
          </a:solidFill>
          <a:ln w="9525" cap="flat" cmpd="sng" algn="ctr">
            <a:solidFill>
              <a:srgbClr val="D6D6D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177800" marR="0" lvl="0" indent="-17780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grpSp>
        <p:nvGrpSpPr>
          <p:cNvPr id="5" name="btfpColumnIndicatorGroup2">
            <a:extLst>
              <a:ext uri="{FF2B5EF4-FFF2-40B4-BE49-F238E27FC236}">
                <a16:creationId xmlns:a16="http://schemas.microsoft.com/office/drawing/2014/main" id="{9E084A55-CBD2-8C41-A3B9-3D5035C9425A}"/>
              </a:ext>
            </a:extLst>
          </p:cNvPr>
          <p:cNvGrpSpPr/>
          <p:nvPr/>
        </p:nvGrpSpPr>
        <p:grpSpPr>
          <a:xfrm>
            <a:off x="0" y="6743700"/>
            <a:ext cx="12192000" cy="137160"/>
            <a:chOff x="0" y="6926580"/>
            <a:chExt cx="12192000" cy="137160"/>
          </a:xfrm>
        </p:grpSpPr>
        <p:sp>
          <p:nvSpPr>
            <p:cNvPr id="6" name="btfpColumnGapBlocker778473">
              <a:extLst>
                <a:ext uri="{FF2B5EF4-FFF2-40B4-BE49-F238E27FC236}">
                  <a16:creationId xmlns:a16="http://schemas.microsoft.com/office/drawing/2014/main" id="{38727832-9A34-C9EB-96D0-1645E9B10D03}"/>
                </a:ext>
              </a:extLst>
            </p:cNvPr>
            <p:cNvSpPr/>
            <p:nvPr/>
          </p:nvSpPr>
          <p:spPr bwMode="auto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" name="btfpColumnGapBlocker507801">
              <a:extLst>
                <a:ext uri="{FF2B5EF4-FFF2-40B4-BE49-F238E27FC236}">
                  <a16:creationId xmlns:a16="http://schemas.microsoft.com/office/drawing/2014/main" id="{84BFDCD7-8059-57E6-DA15-22F1B7C83B70}"/>
                </a:ext>
              </a:extLst>
            </p:cNvPr>
            <p:cNvSpPr/>
            <p:nvPr/>
          </p:nvSpPr>
          <p:spPr bwMode="auto">
            <a:xfrm>
              <a:off x="884555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8" name="btfpColumnIndicator394169">
              <a:extLst>
                <a:ext uri="{FF2B5EF4-FFF2-40B4-BE49-F238E27FC236}">
                  <a16:creationId xmlns:a16="http://schemas.microsoft.com/office/drawing/2014/main" id="{4057D973-3C06-FD78-A505-DB0DBE3D521C}"/>
                </a:ext>
              </a:extLst>
            </p:cNvPr>
            <p:cNvCxnSpPr/>
            <p:nvPr/>
          </p:nvCxnSpPr>
          <p:spPr bwMode="auto">
            <a:xfrm flipV="1">
              <a:off x="118618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btfpColumnIndicator195234">
              <a:extLst>
                <a:ext uri="{FF2B5EF4-FFF2-40B4-BE49-F238E27FC236}">
                  <a16:creationId xmlns:a16="http://schemas.microsoft.com/office/drawing/2014/main" id="{9F53728A-85E0-25CF-443D-7BD68CC4F684}"/>
                </a:ext>
              </a:extLst>
            </p:cNvPr>
            <p:cNvCxnSpPr/>
            <p:nvPr/>
          </p:nvCxnSpPr>
          <p:spPr bwMode="auto">
            <a:xfrm flipV="1">
              <a:off x="93789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" name="btfpColumnGapBlocker735060">
              <a:extLst>
                <a:ext uri="{FF2B5EF4-FFF2-40B4-BE49-F238E27FC236}">
                  <a16:creationId xmlns:a16="http://schemas.microsoft.com/office/drawing/2014/main" id="{C63F85B6-A679-E461-C65C-D4878CC4F5C4}"/>
                </a:ext>
              </a:extLst>
            </p:cNvPr>
            <p:cNvSpPr/>
            <p:nvPr/>
          </p:nvSpPr>
          <p:spPr bwMode="auto">
            <a:xfrm>
              <a:off x="582930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11" name="btfpColumnIndicator244233">
              <a:extLst>
                <a:ext uri="{FF2B5EF4-FFF2-40B4-BE49-F238E27FC236}">
                  <a16:creationId xmlns:a16="http://schemas.microsoft.com/office/drawing/2014/main" id="{011FDCAF-4616-70B3-6D29-CE01067CEBF6}"/>
                </a:ext>
              </a:extLst>
            </p:cNvPr>
            <p:cNvCxnSpPr/>
            <p:nvPr/>
          </p:nvCxnSpPr>
          <p:spPr bwMode="auto">
            <a:xfrm flipV="1">
              <a:off x="88455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btfpColumnIndicator333553">
              <a:extLst>
                <a:ext uri="{FF2B5EF4-FFF2-40B4-BE49-F238E27FC236}">
                  <a16:creationId xmlns:a16="http://schemas.microsoft.com/office/drawing/2014/main" id="{15F3DF43-5256-AD1D-DE63-32EFA89280CD}"/>
                </a:ext>
              </a:extLst>
            </p:cNvPr>
            <p:cNvCxnSpPr/>
            <p:nvPr/>
          </p:nvCxnSpPr>
          <p:spPr bwMode="auto">
            <a:xfrm flipV="1">
              <a:off x="63627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" name="btfpColumnGapBlocker124413">
              <a:extLst>
                <a:ext uri="{FF2B5EF4-FFF2-40B4-BE49-F238E27FC236}">
                  <a16:creationId xmlns:a16="http://schemas.microsoft.com/office/drawing/2014/main" id="{B708EAC4-35F1-32E3-4796-B7BD11457065}"/>
                </a:ext>
              </a:extLst>
            </p:cNvPr>
            <p:cNvSpPr/>
            <p:nvPr/>
          </p:nvSpPr>
          <p:spPr bwMode="auto">
            <a:xfrm>
              <a:off x="281305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28" name="btfpColumnIndicator570367">
              <a:extLst>
                <a:ext uri="{FF2B5EF4-FFF2-40B4-BE49-F238E27FC236}">
                  <a16:creationId xmlns:a16="http://schemas.microsoft.com/office/drawing/2014/main" id="{6987CA3A-806C-80E5-CA70-962016A5C1BE}"/>
                </a:ext>
              </a:extLst>
            </p:cNvPr>
            <p:cNvCxnSpPr/>
            <p:nvPr/>
          </p:nvCxnSpPr>
          <p:spPr bwMode="auto">
            <a:xfrm flipV="1">
              <a:off x="58293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btfpColumnIndicator550737">
              <a:extLst>
                <a:ext uri="{FF2B5EF4-FFF2-40B4-BE49-F238E27FC236}">
                  <a16:creationId xmlns:a16="http://schemas.microsoft.com/office/drawing/2014/main" id="{BB0E2D1F-600D-5C81-EEAD-6225E80A3D4D}"/>
                </a:ext>
              </a:extLst>
            </p:cNvPr>
            <p:cNvCxnSpPr/>
            <p:nvPr/>
          </p:nvCxnSpPr>
          <p:spPr bwMode="auto">
            <a:xfrm flipV="1">
              <a:off x="33464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0" name="btfpColumnGapBlocker936976">
              <a:extLst>
                <a:ext uri="{FF2B5EF4-FFF2-40B4-BE49-F238E27FC236}">
                  <a16:creationId xmlns:a16="http://schemas.microsoft.com/office/drawing/2014/main" id="{005AFD84-26EE-2731-13F4-17D588CAE9AD}"/>
                </a:ext>
              </a:extLst>
            </p:cNvPr>
            <p:cNvSpPr/>
            <p:nvPr/>
          </p:nvSpPr>
          <p:spPr bwMode="auto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31" name="btfpColumnIndicator905545">
              <a:extLst>
                <a:ext uri="{FF2B5EF4-FFF2-40B4-BE49-F238E27FC236}">
                  <a16:creationId xmlns:a16="http://schemas.microsoft.com/office/drawing/2014/main" id="{9390FCC4-5543-B0A7-D262-2C4C0019B05A}"/>
                </a:ext>
              </a:extLst>
            </p:cNvPr>
            <p:cNvCxnSpPr/>
            <p:nvPr/>
          </p:nvCxnSpPr>
          <p:spPr bwMode="auto">
            <a:xfrm flipV="1">
              <a:off x="28130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btfpColumnIndicator289571">
              <a:extLst>
                <a:ext uri="{FF2B5EF4-FFF2-40B4-BE49-F238E27FC236}">
                  <a16:creationId xmlns:a16="http://schemas.microsoft.com/office/drawing/2014/main" id="{024E7151-4175-7EF1-D6FB-904498C2284F}"/>
                </a:ext>
              </a:extLst>
            </p:cNvPr>
            <p:cNvCxnSpPr/>
            <p:nvPr/>
          </p:nvCxnSpPr>
          <p:spPr bwMode="auto">
            <a:xfrm flipV="1">
              <a:off x="3302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3" name="Rectangle 7">
            <a:extLst>
              <a:ext uri="{FF2B5EF4-FFF2-40B4-BE49-F238E27FC236}">
                <a16:creationId xmlns:a16="http://schemas.microsoft.com/office/drawing/2014/main" id="{FFBD04FF-F65D-612C-8ABB-4EAB3B99B4AA}"/>
              </a:ext>
            </a:extLst>
          </p:cNvPr>
          <p:cNvSpPr/>
          <p:nvPr/>
        </p:nvSpPr>
        <p:spPr bwMode="auto">
          <a:xfrm>
            <a:off x="330200" y="3544746"/>
            <a:ext cx="11531600" cy="2472982"/>
          </a:xfrm>
          <a:prstGeom prst="rect">
            <a:avLst/>
          </a:prstGeom>
          <a:noFill/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4" name="Rectangle 8">
            <a:extLst>
              <a:ext uri="{FF2B5EF4-FFF2-40B4-BE49-F238E27FC236}">
                <a16:creationId xmlns:a16="http://schemas.microsoft.com/office/drawing/2014/main" id="{77EC2799-3405-751A-ED99-E39F3628D237}"/>
              </a:ext>
            </a:extLst>
          </p:cNvPr>
          <p:cNvSpPr/>
          <p:nvPr/>
        </p:nvSpPr>
        <p:spPr bwMode="auto">
          <a:xfrm>
            <a:off x="476601" y="3429087"/>
            <a:ext cx="4032000" cy="231318"/>
          </a:xfrm>
          <a:prstGeom prst="rect">
            <a:avLst/>
          </a:prstGeom>
          <a:solidFill>
            <a:srgbClr val="D6D6D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 del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modelo</a:t>
            </a: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operativo</a:t>
            </a:r>
            <a:endParaRPr kumimoji="0" lang="en-US" sz="1600" b="1" i="0" u="none" strike="noStrike" kern="1200" cap="none" spc="300" normalizeH="0" baseline="0" noProof="0">
              <a:ln>
                <a:noFill/>
              </a:ln>
              <a:solidFill>
                <a:srgbClr val="5C5C5C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5" name="Rectangle 17">
            <a:extLst>
              <a:ext uri="{FF2B5EF4-FFF2-40B4-BE49-F238E27FC236}">
                <a16:creationId xmlns:a16="http://schemas.microsoft.com/office/drawing/2014/main" id="{65306367-A635-269D-400E-D6974F8D3760}"/>
              </a:ext>
            </a:extLst>
          </p:cNvPr>
          <p:cNvSpPr/>
          <p:nvPr/>
        </p:nvSpPr>
        <p:spPr bwMode="auto">
          <a:xfrm>
            <a:off x="590550" y="3763095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6" name="Rectangle 18">
            <a:extLst>
              <a:ext uri="{FF2B5EF4-FFF2-40B4-BE49-F238E27FC236}">
                <a16:creationId xmlns:a16="http://schemas.microsoft.com/office/drawing/2014/main" id="{24939795-EFD8-0BBD-8C39-1286EBBD513A}"/>
              </a:ext>
            </a:extLst>
          </p:cNvPr>
          <p:cNvSpPr/>
          <p:nvPr/>
        </p:nvSpPr>
        <p:spPr bwMode="auto">
          <a:xfrm>
            <a:off x="3431116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7" name="Rectangle 21">
            <a:extLst>
              <a:ext uri="{FF2B5EF4-FFF2-40B4-BE49-F238E27FC236}">
                <a16:creationId xmlns:a16="http://schemas.microsoft.com/office/drawing/2014/main" id="{5CCCFF69-288A-4292-BB53-4C8E3CFB9D64}"/>
              </a:ext>
            </a:extLst>
          </p:cNvPr>
          <p:cNvSpPr/>
          <p:nvPr/>
        </p:nvSpPr>
        <p:spPr bwMode="auto">
          <a:xfrm>
            <a:off x="6271682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8" name="Rectangle 24">
            <a:extLst>
              <a:ext uri="{FF2B5EF4-FFF2-40B4-BE49-F238E27FC236}">
                <a16:creationId xmlns:a16="http://schemas.microsoft.com/office/drawing/2014/main" id="{DF5660C6-B0AE-0F03-5D4A-A0815C262F52}"/>
              </a:ext>
            </a:extLst>
          </p:cNvPr>
          <p:cNvSpPr/>
          <p:nvPr/>
        </p:nvSpPr>
        <p:spPr bwMode="auto">
          <a:xfrm>
            <a:off x="9112250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9" name="Rectangle 37">
            <a:extLst>
              <a:ext uri="{FF2B5EF4-FFF2-40B4-BE49-F238E27FC236}">
                <a16:creationId xmlns:a16="http://schemas.microsoft.com/office/drawing/2014/main" id="{6696BD8D-49C9-A39E-9589-F45CB1DFF62C}"/>
              </a:ext>
            </a:extLst>
          </p:cNvPr>
          <p:cNvSpPr/>
          <p:nvPr/>
        </p:nvSpPr>
        <p:spPr bwMode="auto">
          <a:xfrm>
            <a:off x="710931" y="4438315"/>
            <a:ext cx="2255074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LAYER ORGANIZACIONAL</a:t>
            </a:r>
          </a:p>
        </p:txBody>
      </p:sp>
      <p:grpSp>
        <p:nvGrpSpPr>
          <p:cNvPr id="40" name="Group 1115">
            <a:extLst>
              <a:ext uri="{FF2B5EF4-FFF2-40B4-BE49-F238E27FC236}">
                <a16:creationId xmlns:a16="http://schemas.microsoft.com/office/drawing/2014/main" id="{C49063BE-0C20-A29E-700B-55A35D486AE8}"/>
              </a:ext>
            </a:extLst>
          </p:cNvPr>
          <p:cNvGrpSpPr/>
          <p:nvPr/>
        </p:nvGrpSpPr>
        <p:grpSpPr>
          <a:xfrm>
            <a:off x="1575115" y="3854608"/>
            <a:ext cx="520071" cy="454799"/>
            <a:chOff x="715162" y="1890572"/>
            <a:chExt cx="776740" cy="710983"/>
          </a:xfrm>
        </p:grpSpPr>
        <p:cxnSp>
          <p:nvCxnSpPr>
            <p:cNvPr id="41" name="Straight Connector 39">
              <a:extLst>
                <a:ext uri="{FF2B5EF4-FFF2-40B4-BE49-F238E27FC236}">
                  <a16:creationId xmlns:a16="http://schemas.microsoft.com/office/drawing/2014/main" id="{8B746606-8966-46DD-A647-022D87D9FC27}"/>
                </a:ext>
              </a:extLst>
            </p:cNvPr>
            <p:cNvCxnSpPr/>
            <p:nvPr>
              <p:custDataLst>
                <p:tags r:id="rId46"/>
              </p:custDataLst>
            </p:nvPr>
          </p:nvCxnSpPr>
          <p:spPr bwMode="gray">
            <a:xfrm flipH="1">
              <a:off x="1219395" y="2079324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0">
              <a:extLst>
                <a:ext uri="{FF2B5EF4-FFF2-40B4-BE49-F238E27FC236}">
                  <a16:creationId xmlns:a16="http://schemas.microsoft.com/office/drawing/2014/main" id="{88B41F33-080F-070C-8A64-3E945A87CAE2}"/>
                </a:ext>
              </a:extLst>
            </p:cNvPr>
            <p:cNvCxnSpPr/>
            <p:nvPr>
              <p:custDataLst>
                <p:tags r:id="rId47"/>
              </p:custDataLst>
            </p:nvPr>
          </p:nvCxnSpPr>
          <p:spPr bwMode="gray">
            <a:xfrm flipH="1" flipV="1">
              <a:off x="1219395" y="2365737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1">
              <a:extLst>
                <a:ext uri="{FF2B5EF4-FFF2-40B4-BE49-F238E27FC236}">
                  <a16:creationId xmlns:a16="http://schemas.microsoft.com/office/drawing/2014/main" id="{20998B3B-2B8E-719F-77F8-523AAF3C9B2F}"/>
                </a:ext>
              </a:extLst>
            </p:cNvPr>
            <p:cNvCxnSpPr/>
            <p:nvPr>
              <p:custDataLst>
                <p:tags r:id="rId48"/>
              </p:custDataLst>
            </p:nvPr>
          </p:nvCxnSpPr>
          <p:spPr bwMode="gray">
            <a:xfrm>
              <a:off x="914079" y="2079324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2">
              <a:extLst>
                <a:ext uri="{FF2B5EF4-FFF2-40B4-BE49-F238E27FC236}">
                  <a16:creationId xmlns:a16="http://schemas.microsoft.com/office/drawing/2014/main" id="{7C6306B8-3750-4B4D-9F49-65D90A51D7E6}"/>
                </a:ext>
              </a:extLst>
            </p:cNvPr>
            <p:cNvCxnSpPr/>
            <p:nvPr>
              <p:custDataLst>
                <p:tags r:id="rId49"/>
              </p:custDataLst>
            </p:nvPr>
          </p:nvCxnSpPr>
          <p:spPr bwMode="gray">
            <a:xfrm flipV="1">
              <a:off x="914079" y="2365737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3">
              <a:extLst>
                <a:ext uri="{FF2B5EF4-FFF2-40B4-BE49-F238E27FC236}">
                  <a16:creationId xmlns:a16="http://schemas.microsoft.com/office/drawing/2014/main" id="{B56570D3-D211-86A1-9952-7B151490A92C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 bwMode="gray">
            <a:xfrm>
              <a:off x="715162" y="1890572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6" name="Oval 44">
              <a:extLst>
                <a:ext uri="{FF2B5EF4-FFF2-40B4-BE49-F238E27FC236}">
                  <a16:creationId xmlns:a16="http://schemas.microsoft.com/office/drawing/2014/main" id="{06539232-9E29-F15D-97D6-F21EAB6B3489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 bwMode="gray">
            <a:xfrm>
              <a:off x="715162" y="2326596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7" name="Oval 45">
              <a:extLst>
                <a:ext uri="{FF2B5EF4-FFF2-40B4-BE49-F238E27FC236}">
                  <a16:creationId xmlns:a16="http://schemas.microsoft.com/office/drawing/2014/main" id="{ECE11231-D041-B3CE-F952-51F91926FE30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 bwMode="gray">
            <a:xfrm>
              <a:off x="1232480" y="2326596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8" name="Oval 46">
              <a:extLst>
                <a:ext uri="{FF2B5EF4-FFF2-40B4-BE49-F238E27FC236}">
                  <a16:creationId xmlns:a16="http://schemas.microsoft.com/office/drawing/2014/main" id="{8D9CF8F5-FA81-A03E-5D2B-530B3BB11B2C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 bwMode="gray">
            <a:xfrm>
              <a:off x="1232480" y="1890572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9" name="Freeform 10">
              <a:extLst>
                <a:ext uri="{FF2B5EF4-FFF2-40B4-BE49-F238E27FC236}">
                  <a16:creationId xmlns:a16="http://schemas.microsoft.com/office/drawing/2014/main" id="{894FF696-4B39-F175-FE35-F712DBAABA70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 bwMode="auto">
            <a:xfrm>
              <a:off x="931977" y="2069601"/>
              <a:ext cx="159171" cy="169193"/>
            </a:xfrm>
            <a:custGeom>
              <a:avLst/>
              <a:gdLst>
                <a:gd name="T0" fmla="*/ 566 w 566"/>
                <a:gd name="T1" fmla="*/ 64 h 566"/>
                <a:gd name="T2" fmla="*/ 566 w 566"/>
                <a:gd name="T3" fmla="*/ 0 h 566"/>
                <a:gd name="T4" fmla="*/ 0 w 566"/>
                <a:gd name="T5" fmla="*/ 566 h 566"/>
                <a:gd name="T6" fmla="*/ 64 w 566"/>
                <a:gd name="T7" fmla="*/ 566 h 566"/>
                <a:gd name="T8" fmla="*/ 566 w 566"/>
                <a:gd name="T9" fmla="*/ 64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566" y="64"/>
                  </a:moveTo>
                  <a:cubicBezTo>
                    <a:pt x="566" y="0"/>
                    <a:pt x="566" y="0"/>
                    <a:pt x="566" y="0"/>
                  </a:cubicBezTo>
                  <a:cubicBezTo>
                    <a:pt x="261" y="14"/>
                    <a:pt x="15" y="260"/>
                    <a:pt x="0" y="566"/>
                  </a:cubicBezTo>
                  <a:cubicBezTo>
                    <a:pt x="64" y="566"/>
                    <a:pt x="64" y="566"/>
                    <a:pt x="64" y="566"/>
                  </a:cubicBezTo>
                  <a:cubicBezTo>
                    <a:pt x="78" y="296"/>
                    <a:pt x="296" y="78"/>
                    <a:pt x="566" y="64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0" name="Freeform 11">
              <a:extLst>
                <a:ext uri="{FF2B5EF4-FFF2-40B4-BE49-F238E27FC236}">
                  <a16:creationId xmlns:a16="http://schemas.microsoft.com/office/drawing/2014/main" id="{4260B62A-7F87-F2F7-DBD4-91260D0AD242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 bwMode="auto">
            <a:xfrm>
              <a:off x="931977" y="2255933"/>
              <a:ext cx="159171" cy="169193"/>
            </a:xfrm>
            <a:custGeom>
              <a:avLst/>
              <a:gdLst>
                <a:gd name="T0" fmla="*/ 64 w 566"/>
                <a:gd name="T1" fmla="*/ 0 h 566"/>
                <a:gd name="T2" fmla="*/ 0 w 566"/>
                <a:gd name="T3" fmla="*/ 0 h 566"/>
                <a:gd name="T4" fmla="*/ 566 w 566"/>
                <a:gd name="T5" fmla="*/ 566 h 566"/>
                <a:gd name="T6" fmla="*/ 566 w 566"/>
                <a:gd name="T7" fmla="*/ 502 h 566"/>
                <a:gd name="T8" fmla="*/ 64 w 566"/>
                <a:gd name="T9" fmla="*/ 0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6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5" y="306"/>
                    <a:pt x="261" y="552"/>
                    <a:pt x="566" y="566"/>
                  </a:cubicBezTo>
                  <a:cubicBezTo>
                    <a:pt x="566" y="502"/>
                    <a:pt x="566" y="502"/>
                    <a:pt x="566" y="502"/>
                  </a:cubicBezTo>
                  <a:cubicBezTo>
                    <a:pt x="296" y="488"/>
                    <a:pt x="78" y="271"/>
                    <a:pt x="64" y="0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1" name="Freeform 12">
              <a:extLst>
                <a:ext uri="{FF2B5EF4-FFF2-40B4-BE49-F238E27FC236}">
                  <a16:creationId xmlns:a16="http://schemas.microsoft.com/office/drawing/2014/main" id="{87117FA1-7694-D4AF-2698-620D648413B4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 bwMode="auto">
            <a:xfrm>
              <a:off x="1107088" y="2255933"/>
              <a:ext cx="159171" cy="169193"/>
            </a:xfrm>
            <a:custGeom>
              <a:avLst/>
              <a:gdLst>
                <a:gd name="T0" fmla="*/ 0 w 566"/>
                <a:gd name="T1" fmla="*/ 502 h 566"/>
                <a:gd name="T2" fmla="*/ 0 w 566"/>
                <a:gd name="T3" fmla="*/ 566 h 566"/>
                <a:gd name="T4" fmla="*/ 566 w 566"/>
                <a:gd name="T5" fmla="*/ 0 h 566"/>
                <a:gd name="T6" fmla="*/ 503 w 566"/>
                <a:gd name="T7" fmla="*/ 0 h 566"/>
                <a:gd name="T8" fmla="*/ 0 w 566"/>
                <a:gd name="T9" fmla="*/ 502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0" y="502"/>
                  </a:moveTo>
                  <a:cubicBezTo>
                    <a:pt x="0" y="566"/>
                    <a:pt x="0" y="566"/>
                    <a:pt x="0" y="566"/>
                  </a:cubicBezTo>
                  <a:cubicBezTo>
                    <a:pt x="306" y="552"/>
                    <a:pt x="552" y="306"/>
                    <a:pt x="566" y="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488" y="271"/>
                    <a:pt x="271" y="488"/>
                    <a:pt x="0" y="502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2" name="Freeform 13">
              <a:extLst>
                <a:ext uri="{FF2B5EF4-FFF2-40B4-BE49-F238E27FC236}">
                  <a16:creationId xmlns:a16="http://schemas.microsoft.com/office/drawing/2014/main" id="{B0897F47-9515-C426-2F97-F458B4529E61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 bwMode="auto">
            <a:xfrm>
              <a:off x="1107088" y="2069601"/>
              <a:ext cx="159171" cy="169193"/>
            </a:xfrm>
            <a:custGeom>
              <a:avLst/>
              <a:gdLst>
                <a:gd name="T0" fmla="*/ 503 w 566"/>
                <a:gd name="T1" fmla="*/ 566 h 566"/>
                <a:gd name="T2" fmla="*/ 566 w 566"/>
                <a:gd name="T3" fmla="*/ 566 h 566"/>
                <a:gd name="T4" fmla="*/ 0 w 566"/>
                <a:gd name="T5" fmla="*/ 0 h 566"/>
                <a:gd name="T6" fmla="*/ 0 w 566"/>
                <a:gd name="T7" fmla="*/ 64 h 566"/>
                <a:gd name="T8" fmla="*/ 503 w 566"/>
                <a:gd name="T9" fmla="*/ 566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503" y="566"/>
                  </a:moveTo>
                  <a:cubicBezTo>
                    <a:pt x="566" y="566"/>
                    <a:pt x="566" y="566"/>
                    <a:pt x="566" y="566"/>
                  </a:cubicBezTo>
                  <a:cubicBezTo>
                    <a:pt x="552" y="260"/>
                    <a:pt x="306" y="14"/>
                    <a:pt x="0" y="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71" y="78"/>
                    <a:pt x="488" y="296"/>
                    <a:pt x="503" y="566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3" name="Oval 9">
              <a:extLst>
                <a:ext uri="{FF2B5EF4-FFF2-40B4-BE49-F238E27FC236}">
                  <a16:creationId xmlns:a16="http://schemas.microsoft.com/office/drawing/2014/main" id="{CC7D506F-1096-D8D1-47FD-42373B52718E}"/>
                </a:ext>
              </a:extLst>
            </p:cNvPr>
            <p:cNvSpPr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981145" y="2126026"/>
              <a:ext cx="235946" cy="250076"/>
            </a:xfrm>
            <a:prstGeom prst="ellipse">
              <a:avLst/>
            </a:prstGeom>
            <a:solidFill>
              <a:srgbClr val="7891AA"/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46647B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</p:grpSp>
      <p:grpSp>
        <p:nvGrpSpPr>
          <p:cNvPr id="54" name="Group 1061">
            <a:extLst>
              <a:ext uri="{FF2B5EF4-FFF2-40B4-BE49-F238E27FC236}">
                <a16:creationId xmlns:a16="http://schemas.microsoft.com/office/drawing/2014/main" id="{B291D775-1A1B-14FE-371D-731A26B9531C}"/>
              </a:ext>
            </a:extLst>
          </p:cNvPr>
          <p:cNvGrpSpPr/>
          <p:nvPr/>
        </p:nvGrpSpPr>
        <p:grpSpPr>
          <a:xfrm>
            <a:off x="4470740" y="4143221"/>
            <a:ext cx="518437" cy="381834"/>
            <a:chOff x="341981" y="3553252"/>
            <a:chExt cx="1222443" cy="923842"/>
          </a:xfrm>
        </p:grpSpPr>
        <p:sp>
          <p:nvSpPr>
            <p:cNvPr id="55" name="Rectangle 1062">
              <a:extLst>
                <a:ext uri="{FF2B5EF4-FFF2-40B4-BE49-F238E27FC236}">
                  <a16:creationId xmlns:a16="http://schemas.microsoft.com/office/drawing/2014/main" id="{4DEA3810-C625-5B8F-096E-F1A347E6FE64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 bwMode="gray">
            <a:xfrm>
              <a:off x="705794" y="3553252"/>
              <a:ext cx="507611" cy="273496"/>
            </a:xfrm>
            <a:prstGeom prst="rect">
              <a:avLst/>
            </a:prstGeom>
            <a:solidFill>
              <a:srgbClr val="7891AA"/>
            </a:solidFill>
            <a:ln w="1905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6" name="Rectangle 1063">
              <a:extLst>
                <a:ext uri="{FF2B5EF4-FFF2-40B4-BE49-F238E27FC236}">
                  <a16:creationId xmlns:a16="http://schemas.microsoft.com/office/drawing/2014/main" id="{E07CE345-488A-AEFA-BDF0-0D1547DCEA22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 bwMode="gray">
            <a:xfrm>
              <a:off x="341981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7" name="Rectangle 1070">
              <a:extLst>
                <a:ext uri="{FF2B5EF4-FFF2-40B4-BE49-F238E27FC236}">
                  <a16:creationId xmlns:a16="http://schemas.microsoft.com/office/drawing/2014/main" id="{B11E0E64-F74B-E0E1-B3DC-8AF6919FA0F0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 bwMode="gray">
            <a:xfrm>
              <a:off x="809389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8" name="Rectangle 1072">
              <a:extLst>
                <a:ext uri="{FF2B5EF4-FFF2-40B4-BE49-F238E27FC236}">
                  <a16:creationId xmlns:a16="http://schemas.microsoft.com/office/drawing/2014/main" id="{947ADC12-5F7E-3E90-953C-D6A9AF565F9A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 bwMode="gray">
            <a:xfrm>
              <a:off x="1264003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59" name="Connector: Elbow 1073">
              <a:extLst>
                <a:ext uri="{FF2B5EF4-FFF2-40B4-BE49-F238E27FC236}">
                  <a16:creationId xmlns:a16="http://schemas.microsoft.com/office/drawing/2014/main" id="{2A01C40D-CCDE-8937-56DC-527E706461AC}"/>
                </a:ext>
              </a:extLst>
            </p:cNvPr>
            <p:cNvCxnSpPr>
              <a:cxnSpLocks/>
              <a:stCxn id="55" idx="2"/>
              <a:endCxn id="56" idx="0"/>
            </p:cNvCxnSpPr>
            <p:nvPr>
              <p:custDataLst>
                <p:tags r:id="rId43"/>
              </p:custDataLst>
            </p:nvPr>
          </p:nvCxnSpPr>
          <p:spPr bwMode="gray">
            <a:xfrm rot="5400000">
              <a:off x="606562" y="3712378"/>
              <a:ext cx="238668" cy="467408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: Elbow 1078">
              <a:extLst>
                <a:ext uri="{FF2B5EF4-FFF2-40B4-BE49-F238E27FC236}">
                  <a16:creationId xmlns:a16="http://schemas.microsoft.com/office/drawing/2014/main" id="{87DE457F-C1D5-335F-2F86-2EADD8B8B3BA}"/>
                </a:ext>
              </a:extLst>
            </p:cNvPr>
            <p:cNvCxnSpPr>
              <a:cxnSpLocks/>
              <a:stCxn id="55" idx="2"/>
              <a:endCxn id="58" idx="0"/>
            </p:cNvCxnSpPr>
            <p:nvPr>
              <p:custDataLst>
                <p:tags r:id="rId44"/>
              </p:custDataLst>
            </p:nvPr>
          </p:nvCxnSpPr>
          <p:spPr bwMode="gray">
            <a:xfrm rot="16200000" flipH="1">
              <a:off x="1067573" y="3718775"/>
              <a:ext cx="238668" cy="454614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080">
              <a:extLst>
                <a:ext uri="{FF2B5EF4-FFF2-40B4-BE49-F238E27FC236}">
                  <a16:creationId xmlns:a16="http://schemas.microsoft.com/office/drawing/2014/main" id="{DE9487F2-115C-1265-F3EB-EAD4E438DF1C}"/>
                </a:ext>
              </a:extLst>
            </p:cNvPr>
            <p:cNvCxnSpPr>
              <a:cxnSpLocks/>
              <a:stCxn id="55" idx="2"/>
              <a:endCxn id="57" idx="0"/>
            </p:cNvCxnSpPr>
            <p:nvPr>
              <p:custDataLst>
                <p:tags r:id="rId45"/>
              </p:custDataLst>
            </p:nvPr>
          </p:nvCxnSpPr>
          <p:spPr bwMode="gray">
            <a:xfrm>
              <a:off x="959600" y="3826748"/>
              <a:ext cx="0" cy="238668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1081">
              <a:extLst>
                <a:ext uri="{FF2B5EF4-FFF2-40B4-BE49-F238E27FC236}">
                  <a16:creationId xmlns:a16="http://schemas.microsoft.com/office/drawing/2014/main" id="{AE696211-65F8-5B1C-BF08-52D6E9095464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368103" y="4477094"/>
              <a:ext cx="1185137" cy="0"/>
            </a:xfrm>
            <a:prstGeom prst="straightConnector1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 1083">
            <a:extLst>
              <a:ext uri="{FF2B5EF4-FFF2-40B4-BE49-F238E27FC236}">
                <a16:creationId xmlns:a16="http://schemas.microsoft.com/office/drawing/2014/main" id="{E4E4D237-14FB-550C-475B-C908F9E97BC2}"/>
              </a:ext>
            </a:extLst>
          </p:cNvPr>
          <p:cNvSpPr/>
          <p:nvPr/>
        </p:nvSpPr>
        <p:spPr bwMode="auto">
          <a:xfrm>
            <a:off x="3566999" y="4726011"/>
            <a:ext cx="2325921" cy="5510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MACROESTRUCTURA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EQUIPO DIRECTIVO</a:t>
            </a:r>
          </a:p>
        </p:txBody>
      </p:sp>
      <p:grpSp>
        <p:nvGrpSpPr>
          <p:cNvPr id="64" name="Group 1090">
            <a:extLst>
              <a:ext uri="{FF2B5EF4-FFF2-40B4-BE49-F238E27FC236}">
                <a16:creationId xmlns:a16="http://schemas.microsoft.com/office/drawing/2014/main" id="{2D519825-2F26-302D-C5C5-6473A1983B56}"/>
              </a:ext>
            </a:extLst>
          </p:cNvPr>
          <p:cNvGrpSpPr/>
          <p:nvPr/>
        </p:nvGrpSpPr>
        <p:grpSpPr>
          <a:xfrm>
            <a:off x="7256053" y="3876025"/>
            <a:ext cx="518434" cy="381836"/>
            <a:chOff x="185132" y="5037891"/>
            <a:chExt cx="1452667" cy="1169234"/>
          </a:xfrm>
        </p:grpSpPr>
        <p:sp>
          <p:nvSpPr>
            <p:cNvPr id="65" name="Rectangle 1091">
              <a:extLst>
                <a:ext uri="{FF2B5EF4-FFF2-40B4-BE49-F238E27FC236}">
                  <a16:creationId xmlns:a16="http://schemas.microsoft.com/office/drawing/2014/main" id="{B7871160-30A9-0947-190F-9C100BFBBC87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 bwMode="gray">
            <a:xfrm>
              <a:off x="303745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6" name="Rectangle 1092">
              <a:extLst>
                <a:ext uri="{FF2B5EF4-FFF2-40B4-BE49-F238E27FC236}">
                  <a16:creationId xmlns:a16="http://schemas.microsoft.com/office/drawing/2014/main" id="{E714505E-9B2C-6976-4EB6-1C81F1103514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 bwMode="gray">
            <a:xfrm>
              <a:off x="769748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7" name="Rectangle 1093">
              <a:extLst>
                <a:ext uri="{FF2B5EF4-FFF2-40B4-BE49-F238E27FC236}">
                  <a16:creationId xmlns:a16="http://schemas.microsoft.com/office/drawing/2014/main" id="{3B9B5122-50CD-106D-675F-444BCBDE2C4C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 bwMode="gray">
            <a:xfrm>
              <a:off x="1235750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8" name="Rectangle 1094">
              <a:extLst>
                <a:ext uri="{FF2B5EF4-FFF2-40B4-BE49-F238E27FC236}">
                  <a16:creationId xmlns:a16="http://schemas.microsoft.com/office/drawing/2014/main" id="{884BEFF4-743D-F01D-5B9C-0B9C70324FC9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 bwMode="gray">
            <a:xfrm>
              <a:off x="700493" y="5037891"/>
              <a:ext cx="534956" cy="240237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9" name="Rectangle 1095">
              <a:extLst>
                <a:ext uri="{FF2B5EF4-FFF2-40B4-BE49-F238E27FC236}">
                  <a16:creationId xmlns:a16="http://schemas.microsoft.com/office/drawing/2014/main" id="{19C0079C-E66E-84B7-5FD6-889013B17D9E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 bwMode="gray">
            <a:xfrm>
              <a:off x="353601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0" name="Rectangle 1096">
              <a:extLst>
                <a:ext uri="{FF2B5EF4-FFF2-40B4-BE49-F238E27FC236}">
                  <a16:creationId xmlns:a16="http://schemas.microsoft.com/office/drawing/2014/main" id="{62C6EED6-8F84-9E4D-DACB-D6CE4F6E90EE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 bwMode="gray">
            <a:xfrm>
              <a:off x="816987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1" name="Rectangle 1097">
              <a:extLst>
                <a:ext uri="{FF2B5EF4-FFF2-40B4-BE49-F238E27FC236}">
                  <a16:creationId xmlns:a16="http://schemas.microsoft.com/office/drawing/2014/main" id="{F4AFC242-28A4-85C6-29E3-243CC8254B5E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 bwMode="gray">
            <a:xfrm>
              <a:off x="1280373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2" name="Rectangle 1098">
              <a:extLst>
                <a:ext uri="{FF2B5EF4-FFF2-40B4-BE49-F238E27FC236}">
                  <a16:creationId xmlns:a16="http://schemas.microsoft.com/office/drawing/2014/main" id="{F67617A1-567D-C340-ECF6-349FB6D141DC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 bwMode="gray">
            <a:xfrm>
              <a:off x="353601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3" name="Rectangle 1099">
              <a:extLst>
                <a:ext uri="{FF2B5EF4-FFF2-40B4-BE49-F238E27FC236}">
                  <a16:creationId xmlns:a16="http://schemas.microsoft.com/office/drawing/2014/main" id="{525AEC19-0471-FE2F-B214-B52BAC79472C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 bwMode="gray">
            <a:xfrm>
              <a:off x="353601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4" name="Rectangle 1100">
              <a:extLst>
                <a:ext uri="{FF2B5EF4-FFF2-40B4-BE49-F238E27FC236}">
                  <a16:creationId xmlns:a16="http://schemas.microsoft.com/office/drawing/2014/main" id="{29325E05-4DE2-B303-8468-5D74A8F318E1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 bwMode="gray">
            <a:xfrm>
              <a:off x="353601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5" name="Rectangle 1101">
              <a:extLst>
                <a:ext uri="{FF2B5EF4-FFF2-40B4-BE49-F238E27FC236}">
                  <a16:creationId xmlns:a16="http://schemas.microsoft.com/office/drawing/2014/main" id="{64C6F908-2DAD-8426-1AC6-0BE1BAF4AE78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 bwMode="gray">
            <a:xfrm>
              <a:off x="353601" y="598764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6" name="Rectangle 1102">
              <a:extLst>
                <a:ext uri="{FF2B5EF4-FFF2-40B4-BE49-F238E27FC236}">
                  <a16:creationId xmlns:a16="http://schemas.microsoft.com/office/drawing/2014/main" id="{6F4F4802-121E-59C7-2C78-E58E36D11695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 bwMode="gray">
            <a:xfrm>
              <a:off x="353601" y="609322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7" name="Rectangle 1103">
              <a:extLst>
                <a:ext uri="{FF2B5EF4-FFF2-40B4-BE49-F238E27FC236}">
                  <a16:creationId xmlns:a16="http://schemas.microsoft.com/office/drawing/2014/main" id="{962F9ACF-929D-28C2-D15D-F91324D9E8F0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 bwMode="gray">
            <a:xfrm>
              <a:off x="816987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8" name="Rectangle 1104">
              <a:extLst>
                <a:ext uri="{FF2B5EF4-FFF2-40B4-BE49-F238E27FC236}">
                  <a16:creationId xmlns:a16="http://schemas.microsoft.com/office/drawing/2014/main" id="{45C93072-70B7-2740-4F85-7DB784EB558A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 bwMode="gray">
            <a:xfrm>
              <a:off x="816987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9" name="Rectangle 1105">
              <a:extLst>
                <a:ext uri="{FF2B5EF4-FFF2-40B4-BE49-F238E27FC236}">
                  <a16:creationId xmlns:a16="http://schemas.microsoft.com/office/drawing/2014/main" id="{8D3C48D6-8831-5CF5-F349-D1862C42A9C2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 bwMode="gray">
            <a:xfrm>
              <a:off x="816987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0" name="Rectangle 1106">
              <a:extLst>
                <a:ext uri="{FF2B5EF4-FFF2-40B4-BE49-F238E27FC236}">
                  <a16:creationId xmlns:a16="http://schemas.microsoft.com/office/drawing/2014/main" id="{377CD08E-E017-F99C-F78F-026817864D26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 bwMode="gray">
            <a:xfrm>
              <a:off x="1280373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1" name="Rectangle 1107">
              <a:extLst>
                <a:ext uri="{FF2B5EF4-FFF2-40B4-BE49-F238E27FC236}">
                  <a16:creationId xmlns:a16="http://schemas.microsoft.com/office/drawing/2014/main" id="{DF3BB98B-BC42-8637-3B53-BBAA57125A98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 bwMode="gray">
            <a:xfrm>
              <a:off x="1280373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2" name="Rectangle 1108">
              <a:extLst>
                <a:ext uri="{FF2B5EF4-FFF2-40B4-BE49-F238E27FC236}">
                  <a16:creationId xmlns:a16="http://schemas.microsoft.com/office/drawing/2014/main" id="{5E74CDDB-517B-62D1-5017-4B60714842D7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 bwMode="gray">
            <a:xfrm>
              <a:off x="1280373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3" name="Rectangle 1109">
              <a:extLst>
                <a:ext uri="{FF2B5EF4-FFF2-40B4-BE49-F238E27FC236}">
                  <a16:creationId xmlns:a16="http://schemas.microsoft.com/office/drawing/2014/main" id="{C59B097B-5274-8BB6-EB11-84F4B80E52AA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 bwMode="gray">
            <a:xfrm>
              <a:off x="1280373" y="598764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84" name="Straight Arrow Connector 1110">
              <a:extLst>
                <a:ext uri="{FF2B5EF4-FFF2-40B4-BE49-F238E27FC236}">
                  <a16:creationId xmlns:a16="http://schemas.microsoft.com/office/drawing/2014/main" id="{570181B9-9E0F-7C12-EB11-D024353743C3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185132" y="5370991"/>
              <a:ext cx="0" cy="836134"/>
            </a:xfrm>
            <a:prstGeom prst="straightConnector1">
              <a:avLst/>
            </a:prstGeom>
            <a:ln w="16510" cap="flat" cmpd="sng" algn="ctr">
              <a:solidFill>
                <a:srgbClr val="5C5C5C"/>
              </a:solidFill>
              <a:prstDash val="solid"/>
              <a:miter lim="800000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: Elbow 1111">
              <a:extLst>
                <a:ext uri="{FF2B5EF4-FFF2-40B4-BE49-F238E27FC236}">
                  <a16:creationId xmlns:a16="http://schemas.microsoft.com/office/drawing/2014/main" id="{E0C10519-D771-9013-F094-6A9948A41110}"/>
                </a:ext>
              </a:extLst>
            </p:cNvPr>
            <p:cNvCxnSpPr>
              <a:stCxn id="68" idx="2"/>
              <a:endCxn id="69" idx="0"/>
            </p:cNvCxnSpPr>
            <p:nvPr/>
          </p:nvCxnSpPr>
          <p:spPr bwMode="auto">
            <a:xfrm rot="5400000">
              <a:off x="644925" y="5137790"/>
              <a:ext cx="182708" cy="463385"/>
            </a:xfrm>
            <a:prstGeom prst="bentConnector3">
              <a:avLst/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6" name="Connector: Elbow 1112">
              <a:extLst>
                <a:ext uri="{FF2B5EF4-FFF2-40B4-BE49-F238E27FC236}">
                  <a16:creationId xmlns:a16="http://schemas.microsoft.com/office/drawing/2014/main" id="{C4DDDC35-4673-710D-7B6E-A4B977F1E0A3}"/>
                </a:ext>
              </a:extLst>
            </p:cNvPr>
            <p:cNvCxnSpPr>
              <a:cxnSpLocks/>
              <a:stCxn id="68" idx="2"/>
              <a:endCxn id="71" idx="0"/>
            </p:cNvCxnSpPr>
            <p:nvPr/>
          </p:nvCxnSpPr>
          <p:spPr bwMode="auto">
            <a:xfrm rot="16200000" flipH="1">
              <a:off x="1108310" y="5137788"/>
              <a:ext cx="182708" cy="463387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7" name="Straight Connector 1113">
              <a:extLst>
                <a:ext uri="{FF2B5EF4-FFF2-40B4-BE49-F238E27FC236}">
                  <a16:creationId xmlns:a16="http://schemas.microsoft.com/office/drawing/2014/main" id="{F06AEBD1-FE1D-98BF-5D22-572F9F83206D}"/>
                </a:ext>
              </a:extLst>
            </p:cNvPr>
            <p:cNvCxnSpPr>
              <a:cxnSpLocks/>
              <a:stCxn id="68" idx="2"/>
              <a:endCxn id="66" idx="0"/>
            </p:cNvCxnSpPr>
            <p:nvPr/>
          </p:nvCxnSpPr>
          <p:spPr bwMode="auto">
            <a:xfrm>
              <a:off x="967971" y="5278128"/>
              <a:ext cx="2802" cy="133940"/>
            </a:xfrm>
            <a:prstGeom prst="line">
              <a:avLst/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88" name="Rectangle 1114">
            <a:extLst>
              <a:ext uri="{FF2B5EF4-FFF2-40B4-BE49-F238E27FC236}">
                <a16:creationId xmlns:a16="http://schemas.microsoft.com/office/drawing/2014/main" id="{53EB2E55-EA3D-1871-C657-B81C7044A378}"/>
              </a:ext>
            </a:extLst>
          </p:cNvPr>
          <p:cNvSpPr/>
          <p:nvPr/>
        </p:nvSpPr>
        <p:spPr bwMode="auto">
          <a:xfrm>
            <a:off x="6407564" y="4446266"/>
            <a:ext cx="2325921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 DETALLADO POR FUNCIÓN</a:t>
            </a:r>
          </a:p>
        </p:txBody>
      </p:sp>
      <p:sp>
        <p:nvSpPr>
          <p:cNvPr id="89" name="Rectangle 1116">
            <a:extLst>
              <a:ext uri="{FF2B5EF4-FFF2-40B4-BE49-F238E27FC236}">
                <a16:creationId xmlns:a16="http://schemas.microsoft.com/office/drawing/2014/main" id="{FF8EC001-E5F4-21AF-7107-D7A956F8D209}"/>
              </a:ext>
            </a:extLst>
          </p:cNvPr>
          <p:cNvSpPr/>
          <p:nvPr/>
        </p:nvSpPr>
        <p:spPr bwMode="auto">
          <a:xfrm>
            <a:off x="9190979" y="4446266"/>
            <a:ext cx="2325921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SISTEMA DE GESTIÓN</a:t>
            </a:r>
          </a:p>
        </p:txBody>
      </p:sp>
      <p:grpSp>
        <p:nvGrpSpPr>
          <p:cNvPr id="90" name="Group 1117">
            <a:extLst>
              <a:ext uri="{FF2B5EF4-FFF2-40B4-BE49-F238E27FC236}">
                <a16:creationId xmlns:a16="http://schemas.microsoft.com/office/drawing/2014/main" id="{47120D99-AE7B-FC73-25D1-48BACE629064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095702" y="3869532"/>
            <a:ext cx="522286" cy="373220"/>
            <a:chOff x="5048251" y="1223645"/>
            <a:chExt cx="993775" cy="728663"/>
          </a:xfrm>
          <a:solidFill>
            <a:srgbClr val="808080"/>
          </a:solidFill>
        </p:grpSpPr>
        <p:sp>
          <p:nvSpPr>
            <p:cNvPr id="91" name="Freeform 48">
              <a:extLst>
                <a:ext uri="{FF2B5EF4-FFF2-40B4-BE49-F238E27FC236}">
                  <a16:creationId xmlns:a16="http://schemas.microsoft.com/office/drawing/2014/main" id="{A05CDAFF-9F55-C546-741E-7E126F4B520B}"/>
                </a:ext>
              </a:extLst>
            </p:cNvPr>
            <p:cNvSpPr/>
            <p:nvPr/>
          </p:nvSpPr>
          <p:spPr bwMode="auto">
            <a:xfrm>
              <a:off x="5307013" y="1223645"/>
              <a:ext cx="735013" cy="442913"/>
            </a:xfrm>
            <a:custGeom>
              <a:avLst/>
              <a:gdLst>
                <a:gd name="T0" fmla="*/ 226 w 326"/>
                <a:gd name="T1" fmla="*/ 34 h 196"/>
                <a:gd name="T2" fmla="*/ 225 w 326"/>
                <a:gd name="T3" fmla="*/ 33 h 196"/>
                <a:gd name="T4" fmla="*/ 132 w 326"/>
                <a:gd name="T5" fmla="*/ 0 h 196"/>
                <a:gd name="T6" fmla="*/ 33 w 326"/>
                <a:gd name="T7" fmla="*/ 35 h 196"/>
                <a:gd name="T8" fmla="*/ 7 w 326"/>
                <a:gd name="T9" fmla="*/ 74 h 196"/>
                <a:gd name="T10" fmla="*/ 0 w 326"/>
                <a:gd name="T11" fmla="*/ 84 h 196"/>
                <a:gd name="T12" fmla="*/ 9 w 326"/>
                <a:gd name="T13" fmla="*/ 94 h 196"/>
                <a:gd name="T14" fmla="*/ 38 w 326"/>
                <a:gd name="T15" fmla="*/ 101 h 196"/>
                <a:gd name="T16" fmla="*/ 47 w 326"/>
                <a:gd name="T17" fmla="*/ 96 h 196"/>
                <a:gd name="T18" fmla="*/ 91 w 326"/>
                <a:gd name="T19" fmla="*/ 70 h 196"/>
                <a:gd name="T20" fmla="*/ 100 w 326"/>
                <a:gd name="T21" fmla="*/ 65 h 196"/>
                <a:gd name="T22" fmla="*/ 155 w 326"/>
                <a:gd name="T23" fmla="*/ 64 h 196"/>
                <a:gd name="T24" fmla="*/ 155 w 326"/>
                <a:gd name="T25" fmla="*/ 64 h 196"/>
                <a:gd name="T26" fmla="*/ 156 w 326"/>
                <a:gd name="T27" fmla="*/ 64 h 196"/>
                <a:gd name="T28" fmla="*/ 287 w 326"/>
                <a:gd name="T29" fmla="*/ 196 h 196"/>
                <a:gd name="T30" fmla="*/ 326 w 326"/>
                <a:gd name="T31" fmla="*/ 191 h 196"/>
                <a:gd name="T32" fmla="*/ 289 w 326"/>
                <a:gd name="T33" fmla="*/ 17 h 196"/>
                <a:gd name="T34" fmla="*/ 289 w 326"/>
                <a:gd name="T35" fmla="*/ 17 h 196"/>
                <a:gd name="T36" fmla="*/ 290 w 326"/>
                <a:gd name="T37" fmla="*/ 22 h 196"/>
                <a:gd name="T38" fmla="*/ 226 w 326"/>
                <a:gd name="T39" fmla="*/ 34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6" h="196">
                  <a:moveTo>
                    <a:pt x="226" y="34"/>
                  </a:moveTo>
                  <a:cubicBezTo>
                    <a:pt x="225" y="33"/>
                    <a:pt x="225" y="33"/>
                    <a:pt x="225" y="33"/>
                  </a:cubicBezTo>
                  <a:cubicBezTo>
                    <a:pt x="194" y="20"/>
                    <a:pt x="141" y="0"/>
                    <a:pt x="132" y="0"/>
                  </a:cubicBezTo>
                  <a:cubicBezTo>
                    <a:pt x="124" y="0"/>
                    <a:pt x="67" y="21"/>
                    <a:pt x="33" y="35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9" y="94"/>
                    <a:pt x="9" y="94"/>
                    <a:pt x="9" y="94"/>
                  </a:cubicBezTo>
                  <a:cubicBezTo>
                    <a:pt x="38" y="101"/>
                    <a:pt x="38" y="101"/>
                    <a:pt x="38" y="101"/>
                  </a:cubicBezTo>
                  <a:cubicBezTo>
                    <a:pt x="47" y="96"/>
                    <a:pt x="47" y="96"/>
                    <a:pt x="47" y="96"/>
                  </a:cubicBezTo>
                  <a:cubicBezTo>
                    <a:pt x="91" y="70"/>
                    <a:pt x="91" y="70"/>
                    <a:pt x="91" y="70"/>
                  </a:cubicBezTo>
                  <a:cubicBezTo>
                    <a:pt x="100" y="65"/>
                    <a:pt x="100" y="65"/>
                    <a:pt x="100" y="65"/>
                  </a:cubicBezTo>
                  <a:cubicBezTo>
                    <a:pt x="155" y="64"/>
                    <a:pt x="155" y="64"/>
                    <a:pt x="155" y="64"/>
                  </a:cubicBezTo>
                  <a:cubicBezTo>
                    <a:pt x="155" y="64"/>
                    <a:pt x="155" y="64"/>
                    <a:pt x="155" y="64"/>
                  </a:cubicBezTo>
                  <a:cubicBezTo>
                    <a:pt x="156" y="64"/>
                    <a:pt x="156" y="64"/>
                    <a:pt x="156" y="64"/>
                  </a:cubicBezTo>
                  <a:cubicBezTo>
                    <a:pt x="287" y="196"/>
                    <a:pt x="287" y="196"/>
                    <a:pt x="287" y="196"/>
                  </a:cubicBezTo>
                  <a:cubicBezTo>
                    <a:pt x="293" y="196"/>
                    <a:pt x="315" y="193"/>
                    <a:pt x="326" y="191"/>
                  </a:cubicBezTo>
                  <a:cubicBezTo>
                    <a:pt x="289" y="17"/>
                    <a:pt x="289" y="17"/>
                    <a:pt x="289" y="17"/>
                  </a:cubicBezTo>
                  <a:cubicBezTo>
                    <a:pt x="289" y="17"/>
                    <a:pt x="289" y="17"/>
                    <a:pt x="289" y="17"/>
                  </a:cubicBezTo>
                  <a:cubicBezTo>
                    <a:pt x="290" y="22"/>
                    <a:pt x="290" y="22"/>
                    <a:pt x="290" y="22"/>
                  </a:cubicBezTo>
                  <a:lnTo>
                    <a:pt x="226" y="34"/>
                  </a:ln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92" name="Freeform 49">
              <a:extLst>
                <a:ext uri="{FF2B5EF4-FFF2-40B4-BE49-F238E27FC236}">
                  <a16:creationId xmlns:a16="http://schemas.microsoft.com/office/drawing/2014/main" id="{B269ED9C-19D6-143E-4DB0-50A230EFBA73}"/>
                </a:ext>
              </a:extLst>
            </p:cNvPr>
            <p:cNvSpPr/>
            <p:nvPr/>
          </p:nvSpPr>
          <p:spPr bwMode="auto">
            <a:xfrm>
              <a:off x="5048251" y="1303020"/>
              <a:ext cx="904875" cy="631825"/>
            </a:xfrm>
            <a:custGeom>
              <a:avLst/>
              <a:gdLst>
                <a:gd name="T0" fmla="*/ 31 w 401"/>
                <a:gd name="T1" fmla="*/ 157 h 280"/>
                <a:gd name="T2" fmla="*/ 31 w 401"/>
                <a:gd name="T3" fmla="*/ 157 h 280"/>
                <a:gd name="T4" fmla="*/ 31 w 401"/>
                <a:gd name="T5" fmla="*/ 157 h 280"/>
                <a:gd name="T6" fmla="*/ 31 w 401"/>
                <a:gd name="T7" fmla="*/ 156 h 280"/>
                <a:gd name="T8" fmla="*/ 65 w 401"/>
                <a:gd name="T9" fmla="*/ 122 h 280"/>
                <a:gd name="T10" fmla="*/ 91 w 401"/>
                <a:gd name="T11" fmla="*/ 111 h 280"/>
                <a:gd name="T12" fmla="*/ 117 w 401"/>
                <a:gd name="T13" fmla="*/ 122 h 280"/>
                <a:gd name="T14" fmla="*/ 127 w 401"/>
                <a:gd name="T15" fmla="*/ 141 h 280"/>
                <a:gd name="T16" fmla="*/ 132 w 401"/>
                <a:gd name="T17" fmla="*/ 140 h 280"/>
                <a:gd name="T18" fmla="*/ 158 w 401"/>
                <a:gd name="T19" fmla="*/ 151 h 280"/>
                <a:gd name="T20" fmla="*/ 168 w 401"/>
                <a:gd name="T21" fmla="*/ 172 h 280"/>
                <a:gd name="T22" fmla="*/ 170 w 401"/>
                <a:gd name="T23" fmla="*/ 172 h 280"/>
                <a:gd name="T24" fmla="*/ 195 w 401"/>
                <a:gd name="T25" fmla="*/ 182 h 280"/>
                <a:gd name="T26" fmla="*/ 204 w 401"/>
                <a:gd name="T27" fmla="*/ 200 h 280"/>
                <a:gd name="T28" fmla="*/ 211 w 401"/>
                <a:gd name="T29" fmla="*/ 199 h 280"/>
                <a:gd name="T30" fmla="*/ 234 w 401"/>
                <a:gd name="T31" fmla="*/ 209 h 280"/>
                <a:gd name="T32" fmla="*/ 244 w 401"/>
                <a:gd name="T33" fmla="*/ 233 h 280"/>
                <a:gd name="T34" fmla="*/ 234 w 401"/>
                <a:gd name="T35" fmla="*/ 257 h 280"/>
                <a:gd name="T36" fmla="*/ 232 w 401"/>
                <a:gd name="T37" fmla="*/ 259 h 280"/>
                <a:gd name="T38" fmla="*/ 248 w 401"/>
                <a:gd name="T39" fmla="*/ 276 h 280"/>
                <a:gd name="T40" fmla="*/ 259 w 401"/>
                <a:gd name="T41" fmla="*/ 280 h 280"/>
                <a:gd name="T42" fmla="*/ 271 w 401"/>
                <a:gd name="T43" fmla="*/ 276 h 280"/>
                <a:gd name="T44" fmla="*/ 270 w 401"/>
                <a:gd name="T45" fmla="*/ 252 h 280"/>
                <a:gd name="T46" fmla="*/ 242 w 401"/>
                <a:gd name="T47" fmla="*/ 207 h 280"/>
                <a:gd name="T48" fmla="*/ 248 w 401"/>
                <a:gd name="T49" fmla="*/ 202 h 280"/>
                <a:gd name="T50" fmla="*/ 289 w 401"/>
                <a:gd name="T51" fmla="*/ 245 h 280"/>
                <a:gd name="T52" fmla="*/ 300 w 401"/>
                <a:gd name="T53" fmla="*/ 250 h 280"/>
                <a:gd name="T54" fmla="*/ 311 w 401"/>
                <a:gd name="T55" fmla="*/ 245 h 280"/>
                <a:gd name="T56" fmla="*/ 310 w 401"/>
                <a:gd name="T57" fmla="*/ 222 h 280"/>
                <a:gd name="T58" fmla="*/ 310 w 401"/>
                <a:gd name="T59" fmla="*/ 222 h 280"/>
                <a:gd name="T60" fmla="*/ 275 w 401"/>
                <a:gd name="T61" fmla="*/ 170 h 280"/>
                <a:gd name="T62" fmla="*/ 282 w 401"/>
                <a:gd name="T63" fmla="*/ 164 h 280"/>
                <a:gd name="T64" fmla="*/ 329 w 401"/>
                <a:gd name="T65" fmla="*/ 215 h 280"/>
                <a:gd name="T66" fmla="*/ 340 w 401"/>
                <a:gd name="T67" fmla="*/ 219 h 280"/>
                <a:gd name="T68" fmla="*/ 351 w 401"/>
                <a:gd name="T69" fmla="*/ 215 h 280"/>
                <a:gd name="T70" fmla="*/ 351 w 401"/>
                <a:gd name="T71" fmla="*/ 192 h 280"/>
                <a:gd name="T72" fmla="*/ 309 w 401"/>
                <a:gd name="T73" fmla="*/ 138 h 280"/>
                <a:gd name="T74" fmla="*/ 316 w 401"/>
                <a:gd name="T75" fmla="*/ 133 h 280"/>
                <a:gd name="T76" fmla="*/ 322 w 401"/>
                <a:gd name="T77" fmla="*/ 139 h 280"/>
                <a:gd name="T78" fmla="*/ 340 w 401"/>
                <a:gd name="T79" fmla="*/ 156 h 280"/>
                <a:gd name="T80" fmla="*/ 374 w 401"/>
                <a:gd name="T81" fmla="*/ 190 h 280"/>
                <a:gd name="T82" fmla="*/ 385 w 401"/>
                <a:gd name="T83" fmla="*/ 195 h 280"/>
                <a:gd name="T84" fmla="*/ 396 w 401"/>
                <a:gd name="T85" fmla="*/ 190 h 280"/>
                <a:gd name="T86" fmla="*/ 401 w 401"/>
                <a:gd name="T87" fmla="*/ 179 h 280"/>
                <a:gd name="T88" fmla="*/ 396 w 401"/>
                <a:gd name="T89" fmla="*/ 168 h 280"/>
                <a:gd name="T90" fmla="*/ 357 w 401"/>
                <a:gd name="T91" fmla="*/ 128 h 280"/>
                <a:gd name="T92" fmla="*/ 266 w 401"/>
                <a:gd name="T93" fmla="*/ 38 h 280"/>
                <a:gd name="T94" fmla="*/ 217 w 401"/>
                <a:gd name="T95" fmla="*/ 39 h 280"/>
                <a:gd name="T96" fmla="*/ 209 w 401"/>
                <a:gd name="T97" fmla="*/ 42 h 280"/>
                <a:gd name="T98" fmla="*/ 166 w 401"/>
                <a:gd name="T99" fmla="*/ 69 h 280"/>
                <a:gd name="T100" fmla="*/ 153 w 401"/>
                <a:gd name="T101" fmla="*/ 75 h 280"/>
                <a:gd name="T102" fmla="*/ 119 w 401"/>
                <a:gd name="T103" fmla="*/ 67 h 280"/>
                <a:gd name="T104" fmla="*/ 103 w 401"/>
                <a:gd name="T105" fmla="*/ 51 h 280"/>
                <a:gd name="T106" fmla="*/ 130 w 401"/>
                <a:gd name="T107" fmla="*/ 8 h 280"/>
                <a:gd name="T108" fmla="*/ 37 w 401"/>
                <a:gd name="T109" fmla="*/ 5 h 280"/>
                <a:gd name="T110" fmla="*/ 37 w 401"/>
                <a:gd name="T111" fmla="*/ 0 h 280"/>
                <a:gd name="T112" fmla="*/ 37 w 401"/>
                <a:gd name="T113" fmla="*/ 0 h 280"/>
                <a:gd name="T114" fmla="*/ 0 w 401"/>
                <a:gd name="T115" fmla="*/ 149 h 280"/>
                <a:gd name="T116" fmla="*/ 0 w 401"/>
                <a:gd name="T117" fmla="*/ 149 h 280"/>
                <a:gd name="T118" fmla="*/ 2 w 401"/>
                <a:gd name="T119" fmla="*/ 145 h 280"/>
                <a:gd name="T120" fmla="*/ 31 w 401"/>
                <a:gd name="T121" fmla="*/ 157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01" h="280">
                  <a:moveTo>
                    <a:pt x="31" y="157"/>
                  </a:moveTo>
                  <a:cubicBezTo>
                    <a:pt x="31" y="157"/>
                    <a:pt x="31" y="157"/>
                    <a:pt x="31" y="157"/>
                  </a:cubicBezTo>
                  <a:cubicBezTo>
                    <a:pt x="31" y="157"/>
                    <a:pt x="31" y="157"/>
                    <a:pt x="31" y="157"/>
                  </a:cubicBezTo>
                  <a:cubicBezTo>
                    <a:pt x="31" y="156"/>
                    <a:pt x="31" y="156"/>
                    <a:pt x="31" y="156"/>
                  </a:cubicBezTo>
                  <a:cubicBezTo>
                    <a:pt x="65" y="122"/>
                    <a:pt x="65" y="122"/>
                    <a:pt x="65" y="122"/>
                  </a:cubicBezTo>
                  <a:cubicBezTo>
                    <a:pt x="72" y="115"/>
                    <a:pt x="82" y="111"/>
                    <a:pt x="91" y="111"/>
                  </a:cubicBezTo>
                  <a:cubicBezTo>
                    <a:pt x="101" y="111"/>
                    <a:pt x="110" y="115"/>
                    <a:pt x="117" y="122"/>
                  </a:cubicBezTo>
                  <a:cubicBezTo>
                    <a:pt x="122" y="127"/>
                    <a:pt x="126" y="134"/>
                    <a:pt x="127" y="141"/>
                  </a:cubicBezTo>
                  <a:cubicBezTo>
                    <a:pt x="129" y="141"/>
                    <a:pt x="130" y="140"/>
                    <a:pt x="132" y="140"/>
                  </a:cubicBezTo>
                  <a:cubicBezTo>
                    <a:pt x="141" y="140"/>
                    <a:pt x="151" y="144"/>
                    <a:pt x="158" y="151"/>
                  </a:cubicBezTo>
                  <a:cubicBezTo>
                    <a:pt x="163" y="157"/>
                    <a:pt x="167" y="164"/>
                    <a:pt x="168" y="172"/>
                  </a:cubicBezTo>
                  <a:cubicBezTo>
                    <a:pt x="169" y="172"/>
                    <a:pt x="169" y="172"/>
                    <a:pt x="170" y="172"/>
                  </a:cubicBezTo>
                  <a:cubicBezTo>
                    <a:pt x="179" y="172"/>
                    <a:pt x="188" y="175"/>
                    <a:pt x="195" y="182"/>
                  </a:cubicBezTo>
                  <a:cubicBezTo>
                    <a:pt x="200" y="187"/>
                    <a:pt x="203" y="193"/>
                    <a:pt x="204" y="200"/>
                  </a:cubicBezTo>
                  <a:cubicBezTo>
                    <a:pt x="206" y="199"/>
                    <a:pt x="208" y="199"/>
                    <a:pt x="211" y="199"/>
                  </a:cubicBezTo>
                  <a:cubicBezTo>
                    <a:pt x="220" y="199"/>
                    <a:pt x="228" y="202"/>
                    <a:pt x="234" y="209"/>
                  </a:cubicBezTo>
                  <a:cubicBezTo>
                    <a:pt x="241" y="215"/>
                    <a:pt x="244" y="224"/>
                    <a:pt x="244" y="233"/>
                  </a:cubicBezTo>
                  <a:cubicBezTo>
                    <a:pt x="244" y="242"/>
                    <a:pt x="241" y="250"/>
                    <a:pt x="234" y="257"/>
                  </a:cubicBezTo>
                  <a:cubicBezTo>
                    <a:pt x="232" y="259"/>
                    <a:pt x="232" y="259"/>
                    <a:pt x="232" y="259"/>
                  </a:cubicBezTo>
                  <a:cubicBezTo>
                    <a:pt x="248" y="276"/>
                    <a:pt x="248" y="276"/>
                    <a:pt x="248" y="276"/>
                  </a:cubicBezTo>
                  <a:cubicBezTo>
                    <a:pt x="251" y="279"/>
                    <a:pt x="255" y="280"/>
                    <a:pt x="259" y="280"/>
                  </a:cubicBezTo>
                  <a:cubicBezTo>
                    <a:pt x="264" y="280"/>
                    <a:pt x="268" y="278"/>
                    <a:pt x="271" y="276"/>
                  </a:cubicBezTo>
                  <a:cubicBezTo>
                    <a:pt x="279" y="268"/>
                    <a:pt x="270" y="252"/>
                    <a:pt x="270" y="252"/>
                  </a:cubicBezTo>
                  <a:cubicBezTo>
                    <a:pt x="242" y="207"/>
                    <a:pt x="242" y="207"/>
                    <a:pt x="242" y="207"/>
                  </a:cubicBezTo>
                  <a:cubicBezTo>
                    <a:pt x="248" y="202"/>
                    <a:pt x="248" y="202"/>
                    <a:pt x="248" y="202"/>
                  </a:cubicBezTo>
                  <a:cubicBezTo>
                    <a:pt x="289" y="245"/>
                    <a:pt x="289" y="245"/>
                    <a:pt x="289" y="245"/>
                  </a:cubicBezTo>
                  <a:cubicBezTo>
                    <a:pt x="291" y="248"/>
                    <a:pt x="295" y="250"/>
                    <a:pt x="300" y="250"/>
                  </a:cubicBezTo>
                  <a:cubicBezTo>
                    <a:pt x="304" y="250"/>
                    <a:pt x="308" y="248"/>
                    <a:pt x="311" y="245"/>
                  </a:cubicBezTo>
                  <a:cubicBezTo>
                    <a:pt x="315" y="241"/>
                    <a:pt x="318" y="235"/>
                    <a:pt x="310" y="222"/>
                  </a:cubicBezTo>
                  <a:cubicBezTo>
                    <a:pt x="310" y="222"/>
                    <a:pt x="310" y="222"/>
                    <a:pt x="310" y="222"/>
                  </a:cubicBezTo>
                  <a:cubicBezTo>
                    <a:pt x="275" y="170"/>
                    <a:pt x="275" y="170"/>
                    <a:pt x="275" y="170"/>
                  </a:cubicBezTo>
                  <a:cubicBezTo>
                    <a:pt x="282" y="164"/>
                    <a:pt x="282" y="164"/>
                    <a:pt x="282" y="164"/>
                  </a:cubicBezTo>
                  <a:cubicBezTo>
                    <a:pt x="329" y="215"/>
                    <a:pt x="329" y="215"/>
                    <a:pt x="329" y="215"/>
                  </a:cubicBezTo>
                  <a:cubicBezTo>
                    <a:pt x="332" y="218"/>
                    <a:pt x="336" y="219"/>
                    <a:pt x="340" y="219"/>
                  </a:cubicBezTo>
                  <a:cubicBezTo>
                    <a:pt x="344" y="219"/>
                    <a:pt x="348" y="218"/>
                    <a:pt x="351" y="215"/>
                  </a:cubicBezTo>
                  <a:cubicBezTo>
                    <a:pt x="357" y="209"/>
                    <a:pt x="357" y="200"/>
                    <a:pt x="351" y="192"/>
                  </a:cubicBezTo>
                  <a:cubicBezTo>
                    <a:pt x="309" y="138"/>
                    <a:pt x="309" y="138"/>
                    <a:pt x="309" y="138"/>
                  </a:cubicBezTo>
                  <a:cubicBezTo>
                    <a:pt x="316" y="133"/>
                    <a:pt x="316" y="133"/>
                    <a:pt x="316" y="133"/>
                  </a:cubicBezTo>
                  <a:cubicBezTo>
                    <a:pt x="316" y="133"/>
                    <a:pt x="319" y="136"/>
                    <a:pt x="322" y="139"/>
                  </a:cubicBezTo>
                  <a:cubicBezTo>
                    <a:pt x="329" y="145"/>
                    <a:pt x="338" y="155"/>
                    <a:pt x="340" y="156"/>
                  </a:cubicBezTo>
                  <a:cubicBezTo>
                    <a:pt x="374" y="190"/>
                    <a:pt x="374" y="190"/>
                    <a:pt x="374" y="190"/>
                  </a:cubicBezTo>
                  <a:cubicBezTo>
                    <a:pt x="377" y="193"/>
                    <a:pt x="381" y="195"/>
                    <a:pt x="385" y="195"/>
                  </a:cubicBezTo>
                  <a:cubicBezTo>
                    <a:pt x="389" y="195"/>
                    <a:pt x="393" y="193"/>
                    <a:pt x="396" y="190"/>
                  </a:cubicBezTo>
                  <a:cubicBezTo>
                    <a:pt x="399" y="187"/>
                    <a:pt x="401" y="183"/>
                    <a:pt x="401" y="179"/>
                  </a:cubicBezTo>
                  <a:cubicBezTo>
                    <a:pt x="401" y="175"/>
                    <a:pt x="399" y="171"/>
                    <a:pt x="396" y="168"/>
                  </a:cubicBezTo>
                  <a:cubicBezTo>
                    <a:pt x="357" y="128"/>
                    <a:pt x="357" y="128"/>
                    <a:pt x="357" y="12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17" y="39"/>
                    <a:pt x="217" y="39"/>
                    <a:pt x="217" y="39"/>
                  </a:cubicBezTo>
                  <a:cubicBezTo>
                    <a:pt x="209" y="42"/>
                    <a:pt x="209" y="42"/>
                    <a:pt x="209" y="42"/>
                  </a:cubicBezTo>
                  <a:cubicBezTo>
                    <a:pt x="166" y="69"/>
                    <a:pt x="166" y="69"/>
                    <a:pt x="166" y="69"/>
                  </a:cubicBezTo>
                  <a:cubicBezTo>
                    <a:pt x="153" y="75"/>
                    <a:pt x="153" y="75"/>
                    <a:pt x="153" y="75"/>
                  </a:cubicBezTo>
                  <a:cubicBezTo>
                    <a:pt x="119" y="67"/>
                    <a:pt x="119" y="67"/>
                    <a:pt x="119" y="67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30" y="8"/>
                    <a:pt x="130" y="8"/>
                    <a:pt x="130" y="8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2" y="145"/>
                    <a:pt x="2" y="145"/>
                    <a:pt x="2" y="145"/>
                  </a:cubicBezTo>
                  <a:lnTo>
                    <a:pt x="31" y="157"/>
                  </a:lnTo>
                  <a:close/>
                </a:path>
              </a:pathLst>
            </a:custGeom>
            <a:solidFill>
              <a:srgbClr val="789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93" name="Freeform 50">
              <a:extLst>
                <a:ext uri="{FF2B5EF4-FFF2-40B4-BE49-F238E27FC236}">
                  <a16:creationId xmlns:a16="http://schemas.microsoft.com/office/drawing/2014/main" id="{832185E7-8CA9-9807-62B1-30131B5F2B2C}"/>
                </a:ext>
              </a:extLst>
            </p:cNvPr>
            <p:cNvSpPr/>
            <p:nvPr/>
          </p:nvSpPr>
          <p:spPr bwMode="auto">
            <a:xfrm>
              <a:off x="5110163" y="1574483"/>
              <a:ext cx="471488" cy="377825"/>
            </a:xfrm>
            <a:custGeom>
              <a:avLst/>
              <a:gdLst>
                <a:gd name="T0" fmla="*/ 209 w 209"/>
                <a:gd name="T1" fmla="*/ 113 h 168"/>
                <a:gd name="T2" fmla="*/ 201 w 209"/>
                <a:gd name="T3" fmla="*/ 95 h 168"/>
                <a:gd name="T4" fmla="*/ 184 w 209"/>
                <a:gd name="T5" fmla="*/ 87 h 168"/>
                <a:gd name="T6" fmla="*/ 168 w 209"/>
                <a:gd name="T7" fmla="*/ 92 h 168"/>
                <a:gd name="T8" fmla="*/ 169 w 209"/>
                <a:gd name="T9" fmla="*/ 86 h 168"/>
                <a:gd name="T10" fmla="*/ 162 w 209"/>
                <a:gd name="T11" fmla="*/ 68 h 168"/>
                <a:gd name="T12" fmla="*/ 143 w 209"/>
                <a:gd name="T13" fmla="*/ 60 h 168"/>
                <a:gd name="T14" fmla="*/ 132 w 209"/>
                <a:gd name="T15" fmla="*/ 63 h 168"/>
                <a:gd name="T16" fmla="*/ 133 w 209"/>
                <a:gd name="T17" fmla="*/ 57 h 168"/>
                <a:gd name="T18" fmla="*/ 125 w 209"/>
                <a:gd name="T19" fmla="*/ 37 h 168"/>
                <a:gd name="T20" fmla="*/ 105 w 209"/>
                <a:gd name="T21" fmla="*/ 29 h 168"/>
                <a:gd name="T22" fmla="*/ 92 w 209"/>
                <a:gd name="T23" fmla="*/ 32 h 168"/>
                <a:gd name="T24" fmla="*/ 93 w 209"/>
                <a:gd name="T25" fmla="*/ 28 h 168"/>
                <a:gd name="T26" fmla="*/ 84 w 209"/>
                <a:gd name="T27" fmla="*/ 8 h 168"/>
                <a:gd name="T28" fmla="*/ 64 w 209"/>
                <a:gd name="T29" fmla="*/ 0 h 168"/>
                <a:gd name="T30" fmla="*/ 44 w 209"/>
                <a:gd name="T31" fmla="*/ 8 h 168"/>
                <a:gd name="T32" fmla="*/ 10 w 209"/>
                <a:gd name="T33" fmla="*/ 42 h 168"/>
                <a:gd name="T34" fmla="*/ 9 w 209"/>
                <a:gd name="T35" fmla="*/ 44 h 168"/>
                <a:gd name="T36" fmla="*/ 4 w 209"/>
                <a:gd name="T37" fmla="*/ 51 h 168"/>
                <a:gd name="T38" fmla="*/ 10 w 209"/>
                <a:gd name="T39" fmla="*/ 82 h 168"/>
                <a:gd name="T40" fmla="*/ 30 w 209"/>
                <a:gd name="T41" fmla="*/ 91 h 168"/>
                <a:gd name="T42" fmla="*/ 42 w 209"/>
                <a:gd name="T43" fmla="*/ 88 h 168"/>
                <a:gd name="T44" fmla="*/ 50 w 209"/>
                <a:gd name="T45" fmla="*/ 111 h 168"/>
                <a:gd name="T46" fmla="*/ 70 w 209"/>
                <a:gd name="T47" fmla="*/ 120 h 168"/>
                <a:gd name="T48" fmla="*/ 87 w 209"/>
                <a:gd name="T49" fmla="*/ 114 h 168"/>
                <a:gd name="T50" fmla="*/ 94 w 209"/>
                <a:gd name="T51" fmla="*/ 135 h 168"/>
                <a:gd name="T52" fmla="*/ 112 w 209"/>
                <a:gd name="T53" fmla="*/ 143 h 168"/>
                <a:gd name="T54" fmla="*/ 129 w 209"/>
                <a:gd name="T55" fmla="*/ 137 h 168"/>
                <a:gd name="T56" fmla="*/ 128 w 209"/>
                <a:gd name="T57" fmla="*/ 143 h 168"/>
                <a:gd name="T58" fmla="*/ 135 w 209"/>
                <a:gd name="T59" fmla="*/ 161 h 168"/>
                <a:gd name="T60" fmla="*/ 153 w 209"/>
                <a:gd name="T61" fmla="*/ 168 h 168"/>
                <a:gd name="T62" fmla="*/ 171 w 209"/>
                <a:gd name="T63" fmla="*/ 161 h 168"/>
                <a:gd name="T64" fmla="*/ 190 w 209"/>
                <a:gd name="T65" fmla="*/ 142 h 168"/>
                <a:gd name="T66" fmla="*/ 196 w 209"/>
                <a:gd name="T67" fmla="*/ 137 h 168"/>
                <a:gd name="T68" fmla="*/ 201 w 209"/>
                <a:gd name="T69" fmla="*/ 131 h 168"/>
                <a:gd name="T70" fmla="*/ 209 w 209"/>
                <a:gd name="T71" fmla="*/ 113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09" h="168">
                  <a:moveTo>
                    <a:pt x="209" y="113"/>
                  </a:moveTo>
                  <a:cubicBezTo>
                    <a:pt x="209" y="106"/>
                    <a:pt x="206" y="100"/>
                    <a:pt x="201" y="95"/>
                  </a:cubicBezTo>
                  <a:cubicBezTo>
                    <a:pt x="197" y="90"/>
                    <a:pt x="190" y="87"/>
                    <a:pt x="184" y="87"/>
                  </a:cubicBezTo>
                  <a:cubicBezTo>
                    <a:pt x="178" y="87"/>
                    <a:pt x="173" y="89"/>
                    <a:pt x="168" y="92"/>
                  </a:cubicBezTo>
                  <a:cubicBezTo>
                    <a:pt x="169" y="90"/>
                    <a:pt x="169" y="88"/>
                    <a:pt x="169" y="86"/>
                  </a:cubicBezTo>
                  <a:cubicBezTo>
                    <a:pt x="169" y="79"/>
                    <a:pt x="166" y="73"/>
                    <a:pt x="162" y="68"/>
                  </a:cubicBezTo>
                  <a:cubicBezTo>
                    <a:pt x="157" y="63"/>
                    <a:pt x="150" y="60"/>
                    <a:pt x="143" y="60"/>
                  </a:cubicBezTo>
                  <a:cubicBezTo>
                    <a:pt x="139" y="60"/>
                    <a:pt x="136" y="61"/>
                    <a:pt x="132" y="63"/>
                  </a:cubicBezTo>
                  <a:cubicBezTo>
                    <a:pt x="133" y="61"/>
                    <a:pt x="133" y="59"/>
                    <a:pt x="133" y="57"/>
                  </a:cubicBezTo>
                  <a:cubicBezTo>
                    <a:pt x="133" y="50"/>
                    <a:pt x="130" y="43"/>
                    <a:pt x="125" y="37"/>
                  </a:cubicBezTo>
                  <a:cubicBezTo>
                    <a:pt x="119" y="32"/>
                    <a:pt x="112" y="29"/>
                    <a:pt x="105" y="29"/>
                  </a:cubicBezTo>
                  <a:cubicBezTo>
                    <a:pt x="100" y="29"/>
                    <a:pt x="96" y="30"/>
                    <a:pt x="92" y="32"/>
                  </a:cubicBezTo>
                  <a:cubicBezTo>
                    <a:pt x="92" y="31"/>
                    <a:pt x="93" y="29"/>
                    <a:pt x="93" y="28"/>
                  </a:cubicBezTo>
                  <a:cubicBezTo>
                    <a:pt x="93" y="21"/>
                    <a:pt x="90" y="14"/>
                    <a:pt x="84" y="8"/>
                  </a:cubicBezTo>
                  <a:cubicBezTo>
                    <a:pt x="79" y="3"/>
                    <a:pt x="72" y="0"/>
                    <a:pt x="64" y="0"/>
                  </a:cubicBezTo>
                  <a:cubicBezTo>
                    <a:pt x="57" y="0"/>
                    <a:pt x="50" y="3"/>
                    <a:pt x="44" y="8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3"/>
                    <a:pt x="9" y="43"/>
                    <a:pt x="9" y="44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0" y="61"/>
                    <a:pt x="2" y="74"/>
                    <a:pt x="10" y="82"/>
                  </a:cubicBezTo>
                  <a:cubicBezTo>
                    <a:pt x="16" y="88"/>
                    <a:pt x="23" y="91"/>
                    <a:pt x="30" y="91"/>
                  </a:cubicBezTo>
                  <a:cubicBezTo>
                    <a:pt x="34" y="91"/>
                    <a:pt x="39" y="90"/>
                    <a:pt x="42" y="88"/>
                  </a:cubicBezTo>
                  <a:cubicBezTo>
                    <a:pt x="41" y="96"/>
                    <a:pt x="44" y="105"/>
                    <a:pt x="50" y="111"/>
                  </a:cubicBezTo>
                  <a:cubicBezTo>
                    <a:pt x="56" y="117"/>
                    <a:pt x="63" y="120"/>
                    <a:pt x="70" y="120"/>
                  </a:cubicBezTo>
                  <a:cubicBezTo>
                    <a:pt x="76" y="120"/>
                    <a:pt x="82" y="118"/>
                    <a:pt x="87" y="114"/>
                  </a:cubicBezTo>
                  <a:cubicBezTo>
                    <a:pt x="86" y="122"/>
                    <a:pt x="88" y="130"/>
                    <a:pt x="94" y="135"/>
                  </a:cubicBezTo>
                  <a:cubicBezTo>
                    <a:pt x="99" y="140"/>
                    <a:pt x="105" y="143"/>
                    <a:pt x="112" y="143"/>
                  </a:cubicBezTo>
                  <a:cubicBezTo>
                    <a:pt x="118" y="143"/>
                    <a:pt x="124" y="141"/>
                    <a:pt x="129" y="137"/>
                  </a:cubicBezTo>
                  <a:cubicBezTo>
                    <a:pt x="128" y="139"/>
                    <a:pt x="128" y="141"/>
                    <a:pt x="128" y="143"/>
                  </a:cubicBezTo>
                  <a:cubicBezTo>
                    <a:pt x="128" y="150"/>
                    <a:pt x="131" y="156"/>
                    <a:pt x="135" y="161"/>
                  </a:cubicBezTo>
                  <a:cubicBezTo>
                    <a:pt x="140" y="166"/>
                    <a:pt x="147" y="168"/>
                    <a:pt x="153" y="168"/>
                  </a:cubicBezTo>
                  <a:cubicBezTo>
                    <a:pt x="160" y="168"/>
                    <a:pt x="167" y="166"/>
                    <a:pt x="171" y="161"/>
                  </a:cubicBezTo>
                  <a:cubicBezTo>
                    <a:pt x="190" y="142"/>
                    <a:pt x="190" y="142"/>
                    <a:pt x="190" y="142"/>
                  </a:cubicBezTo>
                  <a:cubicBezTo>
                    <a:pt x="196" y="137"/>
                    <a:pt x="196" y="137"/>
                    <a:pt x="196" y="137"/>
                  </a:cubicBezTo>
                  <a:cubicBezTo>
                    <a:pt x="201" y="131"/>
                    <a:pt x="201" y="131"/>
                    <a:pt x="201" y="131"/>
                  </a:cubicBezTo>
                  <a:cubicBezTo>
                    <a:pt x="206" y="126"/>
                    <a:pt x="209" y="120"/>
                    <a:pt x="209" y="113"/>
                  </a:cubicBez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</p:grpSp>
      <p:sp>
        <p:nvSpPr>
          <p:cNvPr id="94" name="Rectangle 1123">
            <a:extLst>
              <a:ext uri="{FF2B5EF4-FFF2-40B4-BE49-F238E27FC236}">
                <a16:creationId xmlns:a16="http://schemas.microsoft.com/office/drawing/2014/main" id="{E1F3C310-6B7F-FAD1-0753-780F62CE4158}"/>
              </a:ext>
            </a:extLst>
          </p:cNvPr>
          <p:cNvSpPr/>
          <p:nvPr/>
        </p:nvSpPr>
        <p:spPr bwMode="auto">
          <a:xfrm>
            <a:off x="6721601" y="4834482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COMERCIAL</a:t>
            </a:r>
          </a:p>
        </p:txBody>
      </p:sp>
      <p:sp>
        <p:nvSpPr>
          <p:cNvPr id="95" name="Rectangle 1126">
            <a:extLst>
              <a:ext uri="{FF2B5EF4-FFF2-40B4-BE49-F238E27FC236}">
                <a16:creationId xmlns:a16="http://schemas.microsoft.com/office/drawing/2014/main" id="{4CCBDC74-4C1D-BC30-3F4E-DB9A659C7F73}"/>
              </a:ext>
            </a:extLst>
          </p:cNvPr>
          <p:cNvSpPr/>
          <p:nvPr/>
        </p:nvSpPr>
        <p:spPr bwMode="auto">
          <a:xfrm>
            <a:off x="6721601" y="5449098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RH</a:t>
            </a:r>
          </a:p>
        </p:txBody>
      </p:sp>
      <p:sp>
        <p:nvSpPr>
          <p:cNvPr id="96" name="Rectangle 1127">
            <a:extLst>
              <a:ext uri="{FF2B5EF4-FFF2-40B4-BE49-F238E27FC236}">
                <a16:creationId xmlns:a16="http://schemas.microsoft.com/office/drawing/2014/main" id="{D823198A-BF22-F4E3-E1C7-22C53704A1F5}"/>
              </a:ext>
            </a:extLst>
          </p:cNvPr>
          <p:cNvSpPr/>
          <p:nvPr/>
        </p:nvSpPr>
        <p:spPr bwMode="auto">
          <a:xfrm>
            <a:off x="6721601" y="5653971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TI</a:t>
            </a:r>
          </a:p>
        </p:txBody>
      </p:sp>
      <p:sp>
        <p:nvSpPr>
          <p:cNvPr id="97" name="Rectangle 1128">
            <a:extLst>
              <a:ext uri="{FF2B5EF4-FFF2-40B4-BE49-F238E27FC236}">
                <a16:creationId xmlns:a16="http://schemas.microsoft.com/office/drawing/2014/main" id="{75A9F9DC-7CC6-9378-FD81-922ABF00670B}"/>
              </a:ext>
            </a:extLst>
          </p:cNvPr>
          <p:cNvSpPr/>
          <p:nvPr/>
        </p:nvSpPr>
        <p:spPr bwMode="auto">
          <a:xfrm>
            <a:off x="6721601" y="5039354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FUNCIONES CORE</a:t>
            </a:r>
          </a:p>
        </p:txBody>
      </p:sp>
      <p:sp>
        <p:nvSpPr>
          <p:cNvPr id="98" name="Rectangle 5">
            <a:extLst>
              <a:ext uri="{FF2B5EF4-FFF2-40B4-BE49-F238E27FC236}">
                <a16:creationId xmlns:a16="http://schemas.microsoft.com/office/drawing/2014/main" id="{41C583CB-FCD3-7CAF-7AA4-ECA934785B43}"/>
              </a:ext>
            </a:extLst>
          </p:cNvPr>
          <p:cNvSpPr/>
          <p:nvPr/>
        </p:nvSpPr>
        <p:spPr bwMode="auto">
          <a:xfrm>
            <a:off x="6721601" y="5244226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FINANZAS</a:t>
            </a:r>
          </a:p>
        </p:txBody>
      </p:sp>
      <p:sp>
        <p:nvSpPr>
          <p:cNvPr id="99" name="Rectangle 19">
            <a:extLst>
              <a:ext uri="{FF2B5EF4-FFF2-40B4-BE49-F238E27FC236}">
                <a16:creationId xmlns:a16="http://schemas.microsoft.com/office/drawing/2014/main" id="{27BC51B6-F7E8-6656-0F39-1273BC27737B}"/>
              </a:ext>
            </a:extLst>
          </p:cNvPr>
          <p:cNvSpPr/>
          <p:nvPr/>
        </p:nvSpPr>
        <p:spPr bwMode="auto">
          <a:xfrm>
            <a:off x="330200" y="1729084"/>
            <a:ext cx="11531600" cy="1550529"/>
          </a:xfrm>
          <a:prstGeom prst="rect">
            <a:avLst/>
          </a:prstGeom>
          <a:noFill/>
          <a:ln w="19050" cap="flat" cmpd="sng" algn="ctr">
            <a:solidFill>
              <a:srgbClr val="FF7F32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00" name="Rectangle 20">
            <a:extLst>
              <a:ext uri="{FF2B5EF4-FFF2-40B4-BE49-F238E27FC236}">
                <a16:creationId xmlns:a16="http://schemas.microsoft.com/office/drawing/2014/main" id="{304C91F2-FA45-5676-F6B3-481F7F4EECDE}"/>
              </a:ext>
            </a:extLst>
          </p:cNvPr>
          <p:cNvSpPr/>
          <p:nvPr/>
        </p:nvSpPr>
        <p:spPr bwMode="auto">
          <a:xfrm>
            <a:off x="476602" y="1484557"/>
            <a:ext cx="3090397" cy="231318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Principios</a:t>
            </a: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 de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</a:t>
            </a:r>
            <a:endParaRPr kumimoji="0" lang="en-US" sz="1600" b="1" i="0" u="none" strike="noStrike" kern="1200" cap="none" spc="3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01" name="Rectangle 23">
            <a:extLst>
              <a:ext uri="{FF2B5EF4-FFF2-40B4-BE49-F238E27FC236}">
                <a16:creationId xmlns:a16="http://schemas.microsoft.com/office/drawing/2014/main" id="{885C0B7F-08CF-9E95-47E1-3D76C84835CD}"/>
              </a:ext>
            </a:extLst>
          </p:cNvPr>
          <p:cNvSpPr/>
          <p:nvPr/>
        </p:nvSpPr>
        <p:spPr bwMode="auto">
          <a:xfrm>
            <a:off x="590550" y="1990853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Organizarnos para escalar nuestro </a:t>
            </a:r>
            <a:r>
              <a:rPr kumimoji="0" lang="es-MX" sz="1400" b="1" i="1" u="none" strike="noStrike" kern="1200" cap="none" spc="0" normalizeH="0" baseline="0" noProof="0" err="1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core</a:t>
            </a: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 y crear el futuro</a:t>
            </a:r>
          </a:p>
        </p:txBody>
      </p:sp>
      <p:sp>
        <p:nvSpPr>
          <p:cNvPr id="102" name="Rectangle 22">
            <a:extLst>
              <a:ext uri="{FF2B5EF4-FFF2-40B4-BE49-F238E27FC236}">
                <a16:creationId xmlns:a16="http://schemas.microsoft.com/office/drawing/2014/main" id="{ED97AFC6-E30A-54C5-7455-BE949C0475AA}"/>
              </a:ext>
            </a:extLst>
          </p:cNvPr>
          <p:cNvSpPr/>
          <p:nvPr/>
        </p:nvSpPr>
        <p:spPr bwMode="auto">
          <a:xfrm>
            <a:off x="3431116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Liderar centralmente y empoderar la ejecución local</a:t>
            </a:r>
          </a:p>
        </p:txBody>
      </p:sp>
      <p:sp>
        <p:nvSpPr>
          <p:cNvPr id="103" name="Rectangle 26">
            <a:extLst>
              <a:ext uri="{FF2B5EF4-FFF2-40B4-BE49-F238E27FC236}">
                <a16:creationId xmlns:a16="http://schemas.microsoft.com/office/drawing/2014/main" id="{E50C9D03-6102-4891-1466-D20FDA09660A}"/>
              </a:ext>
            </a:extLst>
          </p:cNvPr>
          <p:cNvSpPr/>
          <p:nvPr/>
        </p:nvSpPr>
        <p:spPr bwMode="auto">
          <a:xfrm>
            <a:off x="6271682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Operar con excelencia y orientado al cliente</a:t>
            </a:r>
          </a:p>
        </p:txBody>
      </p:sp>
      <p:sp>
        <p:nvSpPr>
          <p:cNvPr id="104" name="Rectangle 25">
            <a:extLst>
              <a:ext uri="{FF2B5EF4-FFF2-40B4-BE49-F238E27FC236}">
                <a16:creationId xmlns:a16="http://schemas.microsoft.com/office/drawing/2014/main" id="{2D18B3D1-C20D-B297-5975-7909670A0B90}"/>
              </a:ext>
            </a:extLst>
          </p:cNvPr>
          <p:cNvSpPr/>
          <p:nvPr/>
        </p:nvSpPr>
        <p:spPr bwMode="auto">
          <a:xfrm>
            <a:off x="9112250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Simplificar para un crecimiento rentable</a:t>
            </a:r>
          </a:p>
        </p:txBody>
      </p:sp>
      <p:sp>
        <p:nvSpPr>
          <p:cNvPr id="105" name="btfpNumberBubble655047">
            <a:extLst>
              <a:ext uri="{FF2B5EF4-FFF2-40B4-BE49-F238E27FC236}">
                <a16:creationId xmlns:a16="http://schemas.microsoft.com/office/drawing/2014/main" id="{005DA51A-613F-3A4F-F71E-E4A92D9885B5}"/>
              </a:ext>
            </a:extLst>
          </p:cNvPr>
          <p:cNvSpPr/>
          <p:nvPr/>
        </p:nvSpPr>
        <p:spPr bwMode="gray">
          <a:xfrm>
            <a:off x="3293112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2</a:t>
            </a:r>
          </a:p>
        </p:txBody>
      </p:sp>
      <p:sp>
        <p:nvSpPr>
          <p:cNvPr id="106" name="btfpNumberBubble655047">
            <a:extLst>
              <a:ext uri="{FF2B5EF4-FFF2-40B4-BE49-F238E27FC236}">
                <a16:creationId xmlns:a16="http://schemas.microsoft.com/office/drawing/2014/main" id="{9EE30D9B-E833-1A7D-F04B-8D055253F3F0}"/>
              </a:ext>
            </a:extLst>
          </p:cNvPr>
          <p:cNvSpPr/>
          <p:nvPr/>
        </p:nvSpPr>
        <p:spPr bwMode="gray">
          <a:xfrm>
            <a:off x="8974246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4</a:t>
            </a:r>
          </a:p>
        </p:txBody>
      </p:sp>
      <p:sp>
        <p:nvSpPr>
          <p:cNvPr id="107" name="btfpNumberBubble655047">
            <a:extLst>
              <a:ext uri="{FF2B5EF4-FFF2-40B4-BE49-F238E27FC236}">
                <a16:creationId xmlns:a16="http://schemas.microsoft.com/office/drawing/2014/main" id="{9F8130CA-449E-6084-3241-84039FDE09F3}"/>
              </a:ext>
            </a:extLst>
          </p:cNvPr>
          <p:cNvSpPr/>
          <p:nvPr/>
        </p:nvSpPr>
        <p:spPr bwMode="gray">
          <a:xfrm>
            <a:off x="6133678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3</a:t>
            </a:r>
          </a:p>
        </p:txBody>
      </p:sp>
      <p:sp>
        <p:nvSpPr>
          <p:cNvPr id="108" name="btfpNumberBubble655047">
            <a:extLst>
              <a:ext uri="{FF2B5EF4-FFF2-40B4-BE49-F238E27FC236}">
                <a16:creationId xmlns:a16="http://schemas.microsoft.com/office/drawing/2014/main" id="{DC034213-6FF6-2D4E-D306-B35987110696}"/>
              </a:ext>
            </a:extLst>
          </p:cNvPr>
          <p:cNvSpPr/>
          <p:nvPr/>
        </p:nvSpPr>
        <p:spPr bwMode="gray">
          <a:xfrm>
            <a:off x="452546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1</a:t>
            </a:r>
          </a:p>
        </p:txBody>
      </p:sp>
      <p:sp>
        <p:nvSpPr>
          <p:cNvPr id="109" name="btfpSequenceArrow919092">
            <a:extLst>
              <a:ext uri="{FF2B5EF4-FFF2-40B4-BE49-F238E27FC236}">
                <a16:creationId xmlns:a16="http://schemas.microsoft.com/office/drawing/2014/main" id="{863B0D01-EE1A-660C-471F-11F6F08F4966}"/>
              </a:ext>
            </a:extLst>
          </p:cNvPr>
          <p:cNvSpPr/>
          <p:nvPr/>
        </p:nvSpPr>
        <p:spPr bwMode="auto">
          <a:xfrm rot="5400000">
            <a:off x="5969873" y="2930480"/>
            <a:ext cx="252255" cy="972980"/>
          </a:xfrm>
          <a:custGeom>
            <a:avLst/>
            <a:gdLst/>
            <a:ahLst/>
            <a:cxnLst/>
            <a:rect l="0" t="0" r="0" b="0"/>
            <a:pathLst>
              <a:path w="252255" h="972980">
                <a:moveTo>
                  <a:pt x="38100" y="0"/>
                </a:moveTo>
                <a:lnTo>
                  <a:pt x="252254" y="486489"/>
                </a:lnTo>
                <a:lnTo>
                  <a:pt x="38100" y="972979"/>
                </a:lnTo>
                <a:lnTo>
                  <a:pt x="0" y="972979"/>
                </a:lnTo>
                <a:lnTo>
                  <a:pt x="214154" y="486489"/>
                </a:lnTo>
                <a:lnTo>
                  <a:pt x="0" y="0"/>
                </a:lnTo>
              </a:path>
            </a:pathLst>
          </a:custGeom>
          <a:solidFill>
            <a:srgbClr val="D6D6D6"/>
          </a:solidFill>
          <a:ln w="9525" cap="flat" cmpd="sng" algn="ctr">
            <a:solidFill>
              <a:srgbClr val="D6D6D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177800" marR="0" lvl="0" indent="-17780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10" name="Rectangle 6">
            <a:extLst>
              <a:ext uri="{FF2B5EF4-FFF2-40B4-BE49-F238E27FC236}">
                <a16:creationId xmlns:a16="http://schemas.microsoft.com/office/drawing/2014/main" id="{DA07694D-F337-F6B0-F6C2-56152EE58365}"/>
              </a:ext>
            </a:extLst>
          </p:cNvPr>
          <p:cNvSpPr/>
          <p:nvPr/>
        </p:nvSpPr>
        <p:spPr bwMode="auto">
          <a:xfrm>
            <a:off x="333729" y="6102591"/>
            <a:ext cx="11528071" cy="380157"/>
          </a:xfrm>
          <a:prstGeom prst="rect">
            <a:avLst/>
          </a:prstGeom>
          <a:solidFill>
            <a:srgbClr val="DCE2D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07867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GESTIÓN DEL CAMBIO</a:t>
            </a:r>
          </a:p>
        </p:txBody>
      </p:sp>
      <p:sp>
        <p:nvSpPr>
          <p:cNvPr id="111" name="Rectangle 1035">
            <a:extLst>
              <a:ext uri="{FF2B5EF4-FFF2-40B4-BE49-F238E27FC236}">
                <a16:creationId xmlns:a16="http://schemas.microsoft.com/office/drawing/2014/main" id="{B2F98F96-CE84-F630-62FA-CBD6A294E51D}"/>
              </a:ext>
            </a:extLst>
          </p:cNvPr>
          <p:cNvSpPr/>
          <p:nvPr/>
        </p:nvSpPr>
        <p:spPr bwMode="auto">
          <a:xfrm>
            <a:off x="9519383" y="4946755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7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FOROS /CONECIONES</a:t>
            </a:r>
          </a:p>
        </p:txBody>
      </p:sp>
      <p:sp>
        <p:nvSpPr>
          <p:cNvPr id="112" name="Rectangle 1036">
            <a:extLst>
              <a:ext uri="{FF2B5EF4-FFF2-40B4-BE49-F238E27FC236}">
                <a16:creationId xmlns:a16="http://schemas.microsoft.com/office/drawing/2014/main" id="{162D803B-72AA-172B-2DEB-9BDAB77424C2}"/>
              </a:ext>
            </a:extLst>
          </p:cNvPr>
          <p:cNvSpPr/>
          <p:nvPr/>
        </p:nvSpPr>
        <p:spPr bwMode="auto">
          <a:xfrm>
            <a:off x="9519383" y="5154728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DECISIONES CLAVE</a:t>
            </a:r>
          </a:p>
        </p:txBody>
      </p:sp>
      <p:sp>
        <p:nvSpPr>
          <p:cNvPr id="113" name="Rectangle 1037">
            <a:extLst>
              <a:ext uri="{FF2B5EF4-FFF2-40B4-BE49-F238E27FC236}">
                <a16:creationId xmlns:a16="http://schemas.microsoft.com/office/drawing/2014/main" id="{E0B79A87-18B3-4E59-8FB9-A4F4AFA2D258}"/>
              </a:ext>
            </a:extLst>
          </p:cNvPr>
          <p:cNvSpPr/>
          <p:nvPr/>
        </p:nvSpPr>
        <p:spPr bwMode="auto">
          <a:xfrm>
            <a:off x="9519383" y="5362701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7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RESPONSABILIDADES</a:t>
            </a:r>
          </a:p>
        </p:txBody>
      </p:sp>
      <p:sp>
        <p:nvSpPr>
          <p:cNvPr id="114" name="Rectangle 1038">
            <a:extLst>
              <a:ext uri="{FF2B5EF4-FFF2-40B4-BE49-F238E27FC236}">
                <a16:creationId xmlns:a16="http://schemas.microsoft.com/office/drawing/2014/main" id="{CD6A2270-DB89-3133-2E48-EC675A6C58F8}"/>
              </a:ext>
            </a:extLst>
          </p:cNvPr>
          <p:cNvSpPr/>
          <p:nvPr/>
        </p:nvSpPr>
        <p:spPr bwMode="auto">
          <a:xfrm>
            <a:off x="9519383" y="5570673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INTERACCIONES</a:t>
            </a:r>
          </a:p>
        </p:txBody>
      </p:sp>
      <p:sp>
        <p:nvSpPr>
          <p:cNvPr id="115" name="Rectangle 2">
            <a:extLst>
              <a:ext uri="{FF2B5EF4-FFF2-40B4-BE49-F238E27FC236}">
                <a16:creationId xmlns:a16="http://schemas.microsoft.com/office/drawing/2014/main" id="{B1337DD6-F3BE-DCEF-6601-259820CBE6FF}"/>
              </a:ext>
            </a:extLst>
          </p:cNvPr>
          <p:cNvSpPr/>
          <p:nvPr/>
        </p:nvSpPr>
        <p:spPr bwMode="auto">
          <a:xfrm>
            <a:off x="936520" y="5051939"/>
            <a:ext cx="1795959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CORPORATIVO OXXO</a:t>
            </a:r>
          </a:p>
        </p:txBody>
      </p:sp>
      <p:sp>
        <p:nvSpPr>
          <p:cNvPr id="116" name="Rectangle 4">
            <a:extLst>
              <a:ext uri="{FF2B5EF4-FFF2-40B4-BE49-F238E27FC236}">
                <a16:creationId xmlns:a16="http://schemas.microsoft.com/office/drawing/2014/main" id="{9FA25082-8E0B-179F-36DC-A9D6AAF8D838}"/>
              </a:ext>
            </a:extLst>
          </p:cNvPr>
          <p:cNvSpPr/>
          <p:nvPr/>
        </p:nvSpPr>
        <p:spPr bwMode="auto">
          <a:xfrm>
            <a:off x="936520" y="4834482"/>
            <a:ext cx="1795959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FEMSA / P&amp;H</a:t>
            </a:r>
          </a:p>
        </p:txBody>
      </p:sp>
      <p:sp>
        <p:nvSpPr>
          <p:cNvPr id="117" name="Rectangle 1034">
            <a:extLst>
              <a:ext uri="{FF2B5EF4-FFF2-40B4-BE49-F238E27FC236}">
                <a16:creationId xmlns:a16="http://schemas.microsoft.com/office/drawing/2014/main" id="{E596122A-26B0-E42B-67AA-D2FC48AD597F}"/>
              </a:ext>
            </a:extLst>
          </p:cNvPr>
          <p:cNvSpPr/>
          <p:nvPr/>
        </p:nvSpPr>
        <p:spPr bwMode="auto">
          <a:xfrm>
            <a:off x="936520" y="5269396"/>
            <a:ext cx="1795959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ZONA / CLUSTER</a:t>
            </a:r>
          </a:p>
        </p:txBody>
      </p:sp>
      <p:sp>
        <p:nvSpPr>
          <p:cNvPr id="118" name="Rectangle 3">
            <a:extLst>
              <a:ext uri="{FF2B5EF4-FFF2-40B4-BE49-F238E27FC236}">
                <a16:creationId xmlns:a16="http://schemas.microsoft.com/office/drawing/2014/main" id="{420B8C32-9A23-948A-66FA-050F5441045B}"/>
              </a:ext>
            </a:extLst>
          </p:cNvPr>
          <p:cNvSpPr/>
          <p:nvPr/>
        </p:nvSpPr>
        <p:spPr bwMode="auto">
          <a:xfrm>
            <a:off x="936520" y="5653971"/>
            <a:ext cx="878916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PLAZA</a:t>
            </a:r>
          </a:p>
        </p:txBody>
      </p:sp>
      <p:sp>
        <p:nvSpPr>
          <p:cNvPr id="119" name="Rectangle 1033">
            <a:extLst>
              <a:ext uri="{FF2B5EF4-FFF2-40B4-BE49-F238E27FC236}">
                <a16:creationId xmlns:a16="http://schemas.microsoft.com/office/drawing/2014/main" id="{B22A2806-FB73-3A99-D373-C496DE0AAA49}"/>
              </a:ext>
            </a:extLst>
          </p:cNvPr>
          <p:cNvSpPr/>
          <p:nvPr/>
        </p:nvSpPr>
        <p:spPr bwMode="auto">
          <a:xfrm>
            <a:off x="936520" y="5461684"/>
            <a:ext cx="878916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REGION</a:t>
            </a:r>
          </a:p>
        </p:txBody>
      </p:sp>
      <p:sp>
        <p:nvSpPr>
          <p:cNvPr id="120" name="Rectangle 1033">
            <a:extLst>
              <a:ext uri="{FF2B5EF4-FFF2-40B4-BE49-F238E27FC236}">
                <a16:creationId xmlns:a16="http://schemas.microsoft.com/office/drawing/2014/main" id="{670E34BD-A353-9533-AE4B-EEB9EFCE9B7F}"/>
              </a:ext>
            </a:extLst>
          </p:cNvPr>
          <p:cNvSpPr/>
          <p:nvPr/>
        </p:nvSpPr>
        <p:spPr bwMode="auto">
          <a:xfrm>
            <a:off x="1853563" y="5461684"/>
            <a:ext cx="878916" cy="343986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CEDIS / CT</a:t>
            </a:r>
          </a:p>
        </p:txBody>
      </p:sp>
      <p:sp>
        <p:nvSpPr>
          <p:cNvPr id="141" name="Rectángulo 140">
            <a:extLst>
              <a:ext uri="{FF2B5EF4-FFF2-40B4-BE49-F238E27FC236}">
                <a16:creationId xmlns:a16="http://schemas.microsoft.com/office/drawing/2014/main" id="{8C821ACB-7AD0-3C3F-0A2E-C0FC1CACCAAC}"/>
              </a:ext>
            </a:extLst>
          </p:cNvPr>
          <p:cNvSpPr/>
          <p:nvPr/>
        </p:nvSpPr>
        <p:spPr>
          <a:xfrm>
            <a:off x="0" y="1065224"/>
            <a:ext cx="12192000" cy="5815636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40" name="Grupo 139">
            <a:extLst>
              <a:ext uri="{FF2B5EF4-FFF2-40B4-BE49-F238E27FC236}">
                <a16:creationId xmlns:a16="http://schemas.microsoft.com/office/drawing/2014/main" id="{683D45E2-69C3-C319-0B78-12EDFA89C44D}"/>
              </a:ext>
            </a:extLst>
          </p:cNvPr>
          <p:cNvGrpSpPr/>
          <p:nvPr/>
        </p:nvGrpSpPr>
        <p:grpSpPr>
          <a:xfrm>
            <a:off x="0" y="2388115"/>
            <a:ext cx="12192000" cy="3166296"/>
            <a:chOff x="0" y="2388115"/>
            <a:chExt cx="12192000" cy="3166296"/>
          </a:xfrm>
        </p:grpSpPr>
        <p:grpSp>
          <p:nvGrpSpPr>
            <p:cNvPr id="122" name="btfpColumnIndicatorGroup2">
              <a:extLst>
                <a:ext uri="{FF2B5EF4-FFF2-40B4-BE49-F238E27FC236}">
                  <a16:creationId xmlns:a16="http://schemas.microsoft.com/office/drawing/2014/main" id="{BA3CE7D1-4E33-0D0F-0963-EB6B7923228D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0" y="5417251"/>
              <a:ext cx="12192000" cy="137160"/>
              <a:chOff x="0" y="6926580"/>
              <a:chExt cx="12192000" cy="137160"/>
            </a:xfrm>
          </p:grpSpPr>
          <p:sp>
            <p:nvSpPr>
              <p:cNvPr id="123" name="btfpColumnGapBlocker347912">
                <a:extLst>
                  <a:ext uri="{FF2B5EF4-FFF2-40B4-BE49-F238E27FC236}">
                    <a16:creationId xmlns:a16="http://schemas.microsoft.com/office/drawing/2014/main" id="{F1A6A9F7-4702-C699-46CF-CEBD8AEFAA65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11861800" y="6926580"/>
                <a:ext cx="3302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sp>
            <p:nvSpPr>
              <p:cNvPr id="124" name="btfpColumnGapBlocker117571">
                <a:extLst>
                  <a:ext uri="{FF2B5EF4-FFF2-40B4-BE49-F238E27FC236}">
                    <a16:creationId xmlns:a16="http://schemas.microsoft.com/office/drawing/2014/main" id="{840C7F32-F7AF-EFCE-8AB1-5FD9CB4EF4A6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5829300" y="6926580"/>
                <a:ext cx="5334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cxnSp>
            <p:nvCxnSpPr>
              <p:cNvPr id="125" name="btfpColumnIndicator219476">
                <a:extLst>
                  <a:ext uri="{FF2B5EF4-FFF2-40B4-BE49-F238E27FC236}">
                    <a16:creationId xmlns:a16="http://schemas.microsoft.com/office/drawing/2014/main" id="{4169880F-4E69-55BE-20B2-F306B34CB7E0}"/>
                  </a:ext>
                </a:extLst>
              </p:cNvPr>
              <p:cNvCxnSpPr/>
              <p:nvPr>
                <p:custDataLst>
                  <p:tags r:id="rId15"/>
                </p:custDataLst>
              </p:nvPr>
            </p:nvCxnSpPr>
            <p:spPr bwMode="auto">
              <a:xfrm flipH="1" flipV="1">
                <a:off x="118618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6" name="btfpColumnIndicator676053">
                <a:extLst>
                  <a:ext uri="{FF2B5EF4-FFF2-40B4-BE49-F238E27FC236}">
                    <a16:creationId xmlns:a16="http://schemas.microsoft.com/office/drawing/2014/main" id="{431A3C9E-436C-B52A-98E3-C07D22A55686}"/>
                  </a:ext>
                </a:extLst>
              </p:cNvPr>
              <p:cNvCxnSpPr/>
              <p:nvPr>
                <p:custDataLst>
                  <p:tags r:id="rId16"/>
                </p:custDataLst>
              </p:nvPr>
            </p:nvCxnSpPr>
            <p:spPr bwMode="auto">
              <a:xfrm flipH="1" flipV="1">
                <a:off x="63627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27" name="btfpColumnGapBlocker434925">
                <a:extLst>
                  <a:ext uri="{FF2B5EF4-FFF2-40B4-BE49-F238E27FC236}">
                    <a16:creationId xmlns:a16="http://schemas.microsoft.com/office/drawing/2014/main" id="{AC8102E3-F38C-E606-6C82-4648A39F40FA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0" y="6926580"/>
                <a:ext cx="3302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cxnSp>
            <p:nvCxnSpPr>
              <p:cNvPr id="128" name="btfpColumnIndicator578020">
                <a:extLst>
                  <a:ext uri="{FF2B5EF4-FFF2-40B4-BE49-F238E27FC236}">
                    <a16:creationId xmlns:a16="http://schemas.microsoft.com/office/drawing/2014/main" id="{B96B4223-BDE9-33C2-502F-DB6F5362AE4F}"/>
                  </a:ext>
                </a:extLst>
              </p:cNvPr>
              <p:cNvCxnSpPr/>
              <p:nvPr>
                <p:custDataLst>
                  <p:tags r:id="rId18"/>
                </p:custDataLst>
              </p:nvPr>
            </p:nvCxnSpPr>
            <p:spPr bwMode="auto">
              <a:xfrm flipH="1" flipV="1">
                <a:off x="58293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9" name="btfpColumnIndicator720107">
                <a:extLst>
                  <a:ext uri="{FF2B5EF4-FFF2-40B4-BE49-F238E27FC236}">
                    <a16:creationId xmlns:a16="http://schemas.microsoft.com/office/drawing/2014/main" id="{711912C1-3038-E558-F5E7-159F1BD9A405}"/>
                  </a:ext>
                </a:extLst>
              </p:cNvPr>
              <p:cNvCxnSpPr/>
              <p:nvPr>
                <p:custDataLst>
                  <p:tags r:id="rId19"/>
                </p:custDataLst>
              </p:nvPr>
            </p:nvCxnSpPr>
            <p:spPr bwMode="auto">
              <a:xfrm flipH="1" flipV="1">
                <a:off x="3302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30" name="Rectangle 43">
              <a:extLst>
                <a:ext uri="{FF2B5EF4-FFF2-40B4-BE49-F238E27FC236}">
                  <a16:creationId xmlns:a16="http://schemas.microsoft.com/office/drawing/2014/main" id="{A0309CFB-ED6C-0AD3-3705-F2C29DA9563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 bwMode="auto">
            <a:xfrm>
              <a:off x="0" y="2388115"/>
              <a:ext cx="12192000" cy="2968508"/>
            </a:xfrm>
            <a:prstGeom prst="rect">
              <a:avLst/>
            </a:prstGeom>
            <a:solidFill>
              <a:srgbClr val="0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131" name="Rectangle 44">
              <a:extLst>
                <a:ext uri="{FF2B5EF4-FFF2-40B4-BE49-F238E27FC236}">
                  <a16:creationId xmlns:a16="http://schemas.microsoft.com/office/drawing/2014/main" id="{E867C3AD-DA9E-A589-1293-DD17572C4FC0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 bwMode="auto">
            <a:xfrm>
              <a:off x="482138" y="2987407"/>
              <a:ext cx="11582862" cy="2219428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18288" tIns="27432" rIns="0" bIns="0" rtlCol="0">
              <a:noAutofit/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ES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Cambio organizacional con enfoque al </a:t>
              </a:r>
              <a:r>
                <a:rPr kumimoji="0" lang="es-ES" sz="1200" b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crecimiento </a:t>
              </a:r>
              <a:r>
                <a:rPr kumimoji="0" lang="es-ES" sz="1200" b="1" i="1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core</a:t>
              </a:r>
              <a:r>
                <a:rPr kumimoji="0" lang="es-ES" sz="1200" b="1" i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ES" sz="1200" b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de negocio,</a:t>
              </a:r>
              <a:r>
                <a:rPr kumimoji="0" lang="es-ES" sz="1200" b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mediante tres misiones estratégicas: Impulso, Reposición Diaria y </a:t>
              </a:r>
              <a:r>
                <a:rPr kumimoji="0" lang="es-ES" sz="1200" b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Foodvenience</a:t>
              </a:r>
              <a:r>
                <a:rPr lang="es-ES" sz="1200" b="1">
                  <a:solidFill>
                    <a:srgbClr val="FFFFFF"/>
                  </a:solidFill>
                  <a:latin typeface="Open Sans"/>
                  <a:ea typeface="Open Sans"/>
                  <a:cs typeface="Arial"/>
                </a:rPr>
                <a:t>, reenfocando nuestra estrategia comercial. </a:t>
              </a:r>
              <a:endParaRPr kumimoji="0" lang="es-ES" sz="1200" b="1" i="0" u="sng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Evolución de la plataforma de </a:t>
              </a: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Customer</a:t>
              </a: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&amp; </a:t>
              </a: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Mkt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con autonomía en </a:t>
              </a:r>
              <a:r>
                <a:rPr lang="es-MX" sz="1200" b="1">
                  <a:solidFill>
                    <a:srgbClr val="FFFFFF"/>
                  </a:solidFill>
                  <a:latin typeface="Open Sans"/>
                  <a:ea typeface="Open Sans"/>
                  <a:cs typeface="Arial"/>
                </a:rPr>
                <a:t>la definición del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Customer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Value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Proposition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e integración del área de Marketing.</a:t>
              </a: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Integración de Expansión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dentro de la plataforma de Operaciones.</a:t>
              </a:r>
              <a:endParaRPr kumimoji="0" lang="en-US" sz="1200" b="1" 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Creación de un área independiente de Excelencia Operativa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, responsable del modelo de madurez de procesos 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end</a:t>
              </a:r>
              <a:r>
                <a:rPr kumimoji="0" lang="es-MX" sz="1200" b="1" i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-to-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end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y del mapeo y diseño de procesos de operación en tienda.</a:t>
              </a:r>
              <a:endParaRPr kumimoji="0" lang="en-US" sz="1200" b="1" 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Evolución de Estrategia y Transformación,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para orquestar y monitorear la implementación de los cambios estratégicos en la organización y asegurar que las iniciativas prioritarias alcancen su potencial mediante la gestión de la 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Value</a:t>
              </a:r>
              <a:r>
                <a:rPr kumimoji="0" lang="es-MX" sz="1200" b="1" i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Management Office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.</a:t>
              </a: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Despriorización</a:t>
              </a: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de Entrega Directa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, integrando las operaciones restantes al BAU de Comercial.</a:t>
              </a:r>
              <a:endParaRPr lang="en-US" sz="1200">
                <a:solidFill>
                  <a:srgbClr val="FFFFFF"/>
                </a:solidFill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132" name="TextBox 46">
              <a:extLst>
                <a:ext uri="{FF2B5EF4-FFF2-40B4-BE49-F238E27FC236}">
                  <a16:creationId xmlns:a16="http://schemas.microsoft.com/office/drawing/2014/main" id="{3729786C-8444-87B3-9718-2BE640E07E09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299223" y="2478954"/>
              <a:ext cx="3722445" cy="338554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marR="0" lvl="0" indent="0" algn="l" defTabSz="711200" rtl="0" eaLnBrk="0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30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PRINCIPALES CAMBIOS</a:t>
              </a:r>
            </a:p>
          </p:txBody>
        </p:sp>
        <p:sp>
          <p:nvSpPr>
            <p:cNvPr id="133" name="btfpNumberBubble112603">
              <a:extLst>
                <a:ext uri="{FF2B5EF4-FFF2-40B4-BE49-F238E27FC236}">
                  <a16:creationId xmlns:a16="http://schemas.microsoft.com/office/drawing/2014/main" id="{12594008-D6B4-8AF3-902D-A453EA8FEF74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429515" y="301309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1</a:t>
              </a:r>
            </a:p>
          </p:txBody>
        </p:sp>
        <p:sp>
          <p:nvSpPr>
            <p:cNvPr id="134" name="btfpNumberBubble112603">
              <a:extLst>
                <a:ext uri="{FF2B5EF4-FFF2-40B4-BE49-F238E27FC236}">
                  <a16:creationId xmlns:a16="http://schemas.microsoft.com/office/drawing/2014/main" id="{CF9E118D-ABA1-DC66-ED4E-4A1FD539C9B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429515" y="346358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2</a:t>
              </a:r>
            </a:p>
          </p:txBody>
        </p:sp>
        <p:sp>
          <p:nvSpPr>
            <p:cNvPr id="135" name="btfpNumberBubble112603">
              <a:extLst>
                <a:ext uri="{FF2B5EF4-FFF2-40B4-BE49-F238E27FC236}">
                  <a16:creationId xmlns:a16="http://schemas.microsoft.com/office/drawing/2014/main" id="{507BFD97-BA8A-9154-C9AE-9A40CAF23B02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429515" y="3708983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3</a:t>
              </a:r>
            </a:p>
          </p:txBody>
        </p:sp>
        <p:sp>
          <p:nvSpPr>
            <p:cNvPr id="136" name="btfpNumberBubble112603">
              <a:extLst>
                <a:ext uri="{FF2B5EF4-FFF2-40B4-BE49-F238E27FC236}">
                  <a16:creationId xmlns:a16="http://schemas.microsoft.com/office/drawing/2014/main" id="{125A1D6A-1E4C-D302-AF90-10019567E8C8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 bwMode="auto">
            <a:xfrm>
              <a:off x="429515" y="3990490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4</a:t>
              </a:r>
            </a:p>
          </p:txBody>
        </p:sp>
        <p:sp>
          <p:nvSpPr>
            <p:cNvPr id="137" name="btfpNumberBubble112603">
              <a:extLst>
                <a:ext uri="{FF2B5EF4-FFF2-40B4-BE49-F238E27FC236}">
                  <a16:creationId xmlns:a16="http://schemas.microsoft.com/office/drawing/2014/main" id="{3340BF1C-FF5E-5302-5338-11B00CFDE0DD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auto">
            <a:xfrm>
              <a:off x="429515" y="441599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5</a:t>
              </a:r>
            </a:p>
          </p:txBody>
        </p:sp>
        <p:sp>
          <p:nvSpPr>
            <p:cNvPr id="138" name="btfpNumberBubble112603">
              <a:extLst>
                <a:ext uri="{FF2B5EF4-FFF2-40B4-BE49-F238E27FC236}">
                  <a16:creationId xmlns:a16="http://schemas.microsoft.com/office/drawing/2014/main" id="{9BD7B82C-995A-D62A-E756-CD2BB10D11F3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429515" y="4855017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6</a:t>
              </a:r>
            </a:p>
          </p:txBody>
        </p:sp>
        <p:sp>
          <p:nvSpPr>
            <p:cNvPr id="139" name="Rectangle 59">
              <a:extLst>
                <a:ext uri="{FF2B5EF4-FFF2-40B4-BE49-F238E27FC236}">
                  <a16:creationId xmlns:a16="http://schemas.microsoft.com/office/drawing/2014/main" id="{E4F07185-88B7-B780-027C-AB69F574CA50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gray">
            <a:xfrm>
              <a:off x="368455" y="2822059"/>
              <a:ext cx="1141197" cy="50556"/>
            </a:xfrm>
            <a:prstGeom prst="rect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6"/>
                </a:gs>
              </a:gsLst>
              <a:lin ang="3600000" scaled="0"/>
            </a:gradFill>
            <a:ln w="9525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9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Open Sans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2862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CA259E49-32B0-B943-01D4-022070342295}"/>
              </a:ext>
            </a:extLst>
          </p:cNvPr>
          <p:cNvSpPr/>
          <p:nvPr/>
        </p:nvSpPr>
        <p:spPr>
          <a:xfrm>
            <a:off x="8096889" y="3114675"/>
            <a:ext cx="3485512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9184C03-AC28-9BA4-B756-2CD86384DEE3}"/>
              </a:ext>
            </a:extLst>
          </p:cNvPr>
          <p:cNvSpPr/>
          <p:nvPr/>
        </p:nvSpPr>
        <p:spPr>
          <a:xfrm>
            <a:off x="4429966" y="3114675"/>
            <a:ext cx="3549131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273D5BA-85D3-C47A-239B-E8DD6B484D22}"/>
              </a:ext>
            </a:extLst>
          </p:cNvPr>
          <p:cNvSpPr/>
          <p:nvPr/>
        </p:nvSpPr>
        <p:spPr>
          <a:xfrm>
            <a:off x="609600" y="3114675"/>
            <a:ext cx="3700071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9" name="Flecha: a la derecha 68">
            <a:extLst>
              <a:ext uri="{FF2B5EF4-FFF2-40B4-BE49-F238E27FC236}">
                <a16:creationId xmlns:a16="http://schemas.microsoft.com/office/drawing/2014/main" id="{0F49035D-4286-8AF0-D171-A4BE2E53D8AE}"/>
              </a:ext>
            </a:extLst>
          </p:cNvPr>
          <p:cNvSpPr/>
          <p:nvPr/>
        </p:nvSpPr>
        <p:spPr>
          <a:xfrm>
            <a:off x="1009650" y="2039750"/>
            <a:ext cx="10334625" cy="52939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angle 16">
            <a:extLst>
              <a:ext uri="{FF2B5EF4-FFF2-40B4-BE49-F238E27FC236}">
                <a16:creationId xmlns:a16="http://schemas.microsoft.com/office/drawing/2014/main" id="{6D95FF1C-5BB1-D6DC-1F1A-460AB5B989A3}"/>
              </a:ext>
            </a:extLst>
          </p:cNvPr>
          <p:cNvSpPr/>
          <p:nvPr/>
        </p:nvSpPr>
        <p:spPr bwMode="auto">
          <a:xfrm>
            <a:off x="1530285" y="1885702"/>
            <a:ext cx="2147110" cy="894316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 Organizacionales 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Documentación de Roles</a:t>
            </a:r>
          </a:p>
        </p:txBody>
      </p:sp>
      <p:sp>
        <p:nvSpPr>
          <p:cNvPr id="65" name="Rectangle 15">
            <a:extLst>
              <a:ext uri="{FF2B5EF4-FFF2-40B4-BE49-F238E27FC236}">
                <a16:creationId xmlns:a16="http://schemas.microsoft.com/office/drawing/2014/main" id="{CC6BD857-6011-7AFA-3B1A-BBDA85228126}"/>
              </a:ext>
            </a:extLst>
          </p:cNvPr>
          <p:cNvSpPr/>
          <p:nvPr/>
        </p:nvSpPr>
        <p:spPr bwMode="auto">
          <a:xfrm>
            <a:off x="3939365" y="1885703"/>
            <a:ext cx="2147110" cy="894316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Interacciones Críticas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Cross-plataformas</a:t>
            </a:r>
          </a:p>
        </p:txBody>
      </p:sp>
      <p:sp>
        <p:nvSpPr>
          <p:cNvPr id="66" name="Rectangle 18">
            <a:extLst>
              <a:ext uri="{FF2B5EF4-FFF2-40B4-BE49-F238E27FC236}">
                <a16:creationId xmlns:a16="http://schemas.microsoft.com/office/drawing/2014/main" id="{EB9FCE88-37AF-76B4-CBE2-8BC238557178}"/>
              </a:ext>
            </a:extLst>
          </p:cNvPr>
          <p:cNvSpPr/>
          <p:nvPr/>
        </p:nvSpPr>
        <p:spPr bwMode="auto">
          <a:xfrm>
            <a:off x="6288055" y="1885702"/>
            <a:ext cx="2147110" cy="89431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RASCI por Función de Procesos Clave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Internos x Área</a:t>
            </a:r>
          </a:p>
        </p:txBody>
      </p:sp>
      <p:sp>
        <p:nvSpPr>
          <p:cNvPr id="67" name="Rectangle 17">
            <a:extLst>
              <a:ext uri="{FF2B5EF4-FFF2-40B4-BE49-F238E27FC236}">
                <a16:creationId xmlns:a16="http://schemas.microsoft.com/office/drawing/2014/main" id="{456109EA-280B-3302-11D4-E975C6346342}"/>
              </a:ext>
            </a:extLst>
          </p:cNvPr>
          <p:cNvSpPr/>
          <p:nvPr/>
        </p:nvSpPr>
        <p:spPr bwMode="auto">
          <a:xfrm>
            <a:off x="8636745" y="1885701"/>
            <a:ext cx="2147110" cy="8943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1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Integración al Sistema de Gestión </a:t>
            </a:r>
            <a:r>
              <a:rPr kumimoji="0" lang="es-MX" sz="6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Consolidación y Seguimiento</a:t>
            </a:r>
          </a:p>
        </p:txBody>
      </p:sp>
      <p:sp>
        <p:nvSpPr>
          <p:cNvPr id="70" name="Triángulo isósceles 69">
            <a:extLst>
              <a:ext uri="{FF2B5EF4-FFF2-40B4-BE49-F238E27FC236}">
                <a16:creationId xmlns:a16="http://schemas.microsoft.com/office/drawing/2014/main" id="{87FDD6D4-CE7A-2B79-5038-EC744418E164}"/>
              </a:ext>
            </a:extLst>
          </p:cNvPr>
          <p:cNvSpPr/>
          <p:nvPr/>
        </p:nvSpPr>
        <p:spPr>
          <a:xfrm rot="10800000">
            <a:off x="2270465" y="1573986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Vista general de diapositiva 2">
                <a:extLst>
                  <a:ext uri="{FF2B5EF4-FFF2-40B4-BE49-F238E27FC236}">
                    <a16:creationId xmlns:a16="http://schemas.microsoft.com/office/drawing/2014/main" id="{FAD28124-1A68-0DBE-3B0C-D189AAB7C94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72892949"/>
                  </p:ext>
                </p:extLst>
              </p:nvPr>
            </p:nvGraphicFramePr>
            <p:xfrm>
              <a:off x="4670020" y="3832102"/>
              <a:ext cx="3048000" cy="1714500"/>
            </p:xfrm>
            <a:graphic>
              <a:graphicData uri="http://schemas.microsoft.com/office/powerpoint/2016/slidezoom">
                <pslz:sldZm>
                  <pslz:sldZmObj sldId="2147482948" cId="679105534">
                    <pslz:zmPr id="{2EF7A580-0944-4690-8358-5BC265EEABE3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Vista general de diapositiva 2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FAD28124-1A68-0DBE-3B0C-D189AAB7C94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70020" y="3832102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8" name="Vista general de diapositiva 7">
                <a:extLst>
                  <a:ext uri="{FF2B5EF4-FFF2-40B4-BE49-F238E27FC236}">
                    <a16:creationId xmlns:a16="http://schemas.microsoft.com/office/drawing/2014/main" id="{14ED546A-B7CE-8140-623E-18969345E88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95931233"/>
                  </p:ext>
                </p:extLst>
              </p:nvPr>
            </p:nvGraphicFramePr>
            <p:xfrm>
              <a:off x="8283257" y="3911036"/>
              <a:ext cx="1974321" cy="1227807"/>
            </p:xfrm>
            <a:graphic>
              <a:graphicData uri="http://schemas.microsoft.com/office/powerpoint/2016/slidezoom">
                <pslz:sldZm>
                  <pslz:sldZmObj sldId="258" cId="456374482">
                    <pslz:zmPr id="{777291E2-0FE2-4704-8BA7-655626E98D5B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974321" cy="122780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8" name="Vista general de diapositiva 7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14ED546A-B7CE-8140-623E-18969345E88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83257" y="3911036"/>
                <a:ext cx="1974321" cy="1227807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Vista general de diapositiva 9">
                <a:extLst>
                  <a:ext uri="{FF2B5EF4-FFF2-40B4-BE49-F238E27FC236}">
                    <a16:creationId xmlns:a16="http://schemas.microsoft.com/office/drawing/2014/main" id="{431F8BB0-150E-39B7-BBF1-B78511638F7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14890791"/>
                  </p:ext>
                </p:extLst>
              </p:nvPr>
            </p:nvGraphicFramePr>
            <p:xfrm>
              <a:off x="918229" y="3832102"/>
              <a:ext cx="3048000" cy="1714500"/>
            </p:xfrm>
            <a:graphic>
              <a:graphicData uri="http://schemas.microsoft.com/office/powerpoint/2016/slidezoom">
                <pslz:sldZm>
                  <pslz:sldZmObj sldId="2147482944" cId="946345740">
                    <pslz:zmPr id="{748AD451-17AF-4070-BA6C-5BC4AB5EB25B}" returnToParent="0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Vista general de diapositiva 9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431F8BB0-150E-39B7-BBF1-B78511638F7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18229" y="3832102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12" name="CuadroTexto 11">
            <a:extLst>
              <a:ext uri="{FF2B5EF4-FFF2-40B4-BE49-F238E27FC236}">
                <a16:creationId xmlns:a16="http://schemas.microsoft.com/office/drawing/2014/main" id="{88CF2FDA-BB4C-E55C-115D-BB25F24378F9}"/>
              </a:ext>
            </a:extLst>
          </p:cNvPr>
          <p:cNvSpPr txBox="1"/>
          <p:nvPr/>
        </p:nvSpPr>
        <p:spPr>
          <a:xfrm>
            <a:off x="960484" y="3232606"/>
            <a:ext cx="3048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Percepción inicial (retos, dudas, apoyos requeridos organización para clarificar la función)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704E574-6CAC-27B5-5470-87C0E60750C1}"/>
              </a:ext>
            </a:extLst>
          </p:cNvPr>
          <p:cNvSpPr txBox="1"/>
          <p:nvPr/>
        </p:nvSpPr>
        <p:spPr>
          <a:xfrm>
            <a:off x="4620742" y="3257532"/>
            <a:ext cx="31465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 err="1">
                <a:solidFill>
                  <a:srgbClr val="000000"/>
                </a:solidFill>
                <a:latin typeface="Calibri" panose="020F0502020204030204" pitchFamily="34" charset="0"/>
              </a:rPr>
              <a:t>Feedback</a:t>
            </a:r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 DP rol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2F380EB-E5B9-5B50-6CCA-5A3D9908E7A6}"/>
              </a:ext>
            </a:extLst>
          </p:cNvPr>
          <p:cNvSpPr txBox="1"/>
          <p:nvPr/>
        </p:nvSpPr>
        <p:spPr>
          <a:xfrm>
            <a:off x="8283257" y="3232606"/>
            <a:ext cx="314655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Actividades </a:t>
            </a:r>
            <a:r>
              <a:rPr lang="es-ES" sz="1100" b="1" err="1">
                <a:solidFill>
                  <a:srgbClr val="000000"/>
                </a:solidFill>
                <a:latin typeface="Calibri" panose="020F0502020204030204" pitchFamily="34" charset="0"/>
              </a:rPr>
              <a:t>core</a:t>
            </a:r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 de reportes (L3)</a:t>
            </a:r>
          </a:p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+</a:t>
            </a:r>
          </a:p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Interacciones macro / procesos</a:t>
            </a:r>
          </a:p>
        </p:txBody>
      </p:sp>
      <p:sp>
        <p:nvSpPr>
          <p:cNvPr id="2" name="Triángulo isósceles 1">
            <a:extLst>
              <a:ext uri="{FF2B5EF4-FFF2-40B4-BE49-F238E27FC236}">
                <a16:creationId xmlns:a16="http://schemas.microsoft.com/office/drawing/2014/main" id="{8BE1E31A-3D1C-68D4-E7AA-9CE837628BEB}"/>
              </a:ext>
            </a:extLst>
          </p:cNvPr>
          <p:cNvSpPr/>
          <p:nvPr/>
        </p:nvSpPr>
        <p:spPr>
          <a:xfrm rot="10800000">
            <a:off x="4679545" y="1573986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646412A6-F80A-D921-86F5-9363801D5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Alcance 2026</a:t>
            </a:r>
            <a:endParaRPr lang="es-MX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Vista general de diapositiva 6">
                <a:extLst>
                  <a:ext uri="{FF2B5EF4-FFF2-40B4-BE49-F238E27FC236}">
                    <a16:creationId xmlns:a16="http://schemas.microsoft.com/office/drawing/2014/main" id="{62BF6BAF-EEBF-CC3A-B4D8-E1076F2D929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4229025"/>
                  </p:ext>
                </p:extLst>
              </p:nvPr>
            </p:nvGraphicFramePr>
            <p:xfrm>
              <a:off x="9426820" y="4565208"/>
              <a:ext cx="1974320" cy="1110555"/>
            </p:xfrm>
            <a:graphic>
              <a:graphicData uri="http://schemas.microsoft.com/office/powerpoint/2016/slidezoom">
                <pslz:sldZm>
                  <pslz:sldZmObj sldId="2147482945" cId="2944001035">
                    <pslz:zmPr id="{A7B90F5A-62F8-4DF9-8600-3E26905D9EA4}" returnToParent="0" transitionDur="100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974320" cy="111055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Vista general de diapositiva 6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62BF6BAF-EEBF-CC3A-B4D8-E1076F2D929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426820" y="4565208"/>
                <a:ext cx="1974320" cy="111055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4715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7FE4F8-1D50-3B4B-8AAC-2417CBBCFEA9}"/>
              </a:ext>
            </a:extLst>
          </p:cNvPr>
          <p:cNvSpPr/>
          <p:nvPr/>
        </p:nvSpPr>
        <p:spPr>
          <a:xfrm>
            <a:off x="1113306" y="284824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Tengo claridad de la misión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D12D446-A1FE-2D55-8ED8-9BF6AB433C6D}"/>
              </a:ext>
            </a:extLst>
          </p:cNvPr>
          <p:cNvSpPr/>
          <p:nvPr/>
        </p:nvSpPr>
        <p:spPr>
          <a:xfrm>
            <a:off x="1113302" y="3937432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Me resultan claras las actividades de las posiciones de la plataforma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1FD7DEA-CCB0-3F0F-FCE1-E42492D493A9}"/>
              </a:ext>
            </a:extLst>
          </p:cNvPr>
          <p:cNvSpPr/>
          <p:nvPr/>
        </p:nvSpPr>
        <p:spPr>
          <a:xfrm>
            <a:off x="1113301" y="4499420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Percibo claridad de cada ocupante sobre la función de su puesto e impacto en los objetivos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8E8AB1C-0912-901D-0DF3-E8CB08F3F881}"/>
              </a:ext>
            </a:extLst>
          </p:cNvPr>
          <p:cNvSpPr/>
          <p:nvPr/>
        </p:nvSpPr>
        <p:spPr>
          <a:xfrm>
            <a:off x="700928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BAA50C-D38E-8DF6-685A-DAFAE69206BE}"/>
              </a:ext>
            </a:extLst>
          </p:cNvPr>
          <p:cNvSpPr/>
          <p:nvPr/>
        </p:nvSpPr>
        <p:spPr>
          <a:xfrm>
            <a:off x="767603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2D0F290-D177-ABE8-7B9A-391D7C05E93A}"/>
              </a:ext>
            </a:extLst>
          </p:cNvPr>
          <p:cNvSpPr/>
          <p:nvPr/>
        </p:nvSpPr>
        <p:spPr>
          <a:xfrm>
            <a:off x="834278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C6835E8-F0BE-E0DA-D1F3-BF15948CC999}"/>
              </a:ext>
            </a:extLst>
          </p:cNvPr>
          <p:cNvSpPr/>
          <p:nvPr/>
        </p:nvSpPr>
        <p:spPr>
          <a:xfrm>
            <a:off x="900953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1B8A6E4-AF49-5BBB-2D6D-34655455BB58}"/>
              </a:ext>
            </a:extLst>
          </p:cNvPr>
          <p:cNvSpPr/>
          <p:nvPr/>
        </p:nvSpPr>
        <p:spPr>
          <a:xfrm>
            <a:off x="9676283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1141883" y="1591212"/>
            <a:ext cx="91316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Objetivo:</a:t>
            </a:r>
          </a:p>
          <a:p>
            <a:r>
              <a:rPr lang="es-ES" sz="1400" i="1" dirty="0"/>
              <a:t>Tener percepción y estatus actual de claridad de las funciones del área y entender necesidades a nivel plataforma de apoyos requeridos por organización</a:t>
            </a:r>
            <a:endParaRPr lang="es-MX" sz="1400" i="1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E4B3D03-78D4-E434-A214-B4F4ED3147E3}"/>
              </a:ext>
            </a:extLst>
          </p:cNvPr>
          <p:cNvSpPr txBox="1"/>
          <p:nvPr/>
        </p:nvSpPr>
        <p:spPr>
          <a:xfrm>
            <a:off x="6619346" y="2617745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Desacuerdo 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F4BED0D-E57D-53BA-5559-732695A6AE78}"/>
              </a:ext>
            </a:extLst>
          </p:cNvPr>
          <p:cNvSpPr txBox="1"/>
          <p:nvPr/>
        </p:nvSpPr>
        <p:spPr>
          <a:xfrm>
            <a:off x="9219082" y="2617745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 acuerdo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1ABDE23-FC17-AD90-BC9E-AF97FB35EE52}"/>
              </a:ext>
            </a:extLst>
          </p:cNvPr>
          <p:cNvSpPr/>
          <p:nvPr/>
        </p:nvSpPr>
        <p:spPr>
          <a:xfrm>
            <a:off x="1118071" y="340069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Entiendo el racional de los cambios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401378D-D1E9-5ABF-82D0-A09EADCF9921}"/>
              </a:ext>
            </a:extLst>
          </p:cNvPr>
          <p:cNvSpPr/>
          <p:nvPr/>
        </p:nvSpPr>
        <p:spPr>
          <a:xfrm>
            <a:off x="1113301" y="5085684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Hay suficiente información para realizar adecuadamente las funciones y establecer objetivos clave del año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D4C2E17-7EE8-7AEE-3BC4-7954423416B6}"/>
              </a:ext>
            </a:extLst>
          </p:cNvPr>
          <p:cNvSpPr/>
          <p:nvPr/>
        </p:nvSpPr>
        <p:spPr>
          <a:xfrm>
            <a:off x="700928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195C6FE-0878-BD6F-4278-3D68E6995819}"/>
              </a:ext>
            </a:extLst>
          </p:cNvPr>
          <p:cNvSpPr/>
          <p:nvPr/>
        </p:nvSpPr>
        <p:spPr>
          <a:xfrm>
            <a:off x="767603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A76184A-3627-12F3-AEE9-0E4AEB0FDEFE}"/>
              </a:ext>
            </a:extLst>
          </p:cNvPr>
          <p:cNvSpPr/>
          <p:nvPr/>
        </p:nvSpPr>
        <p:spPr>
          <a:xfrm>
            <a:off x="834278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B1E6A43-E234-0F28-0C55-54B7DD1CC80F}"/>
              </a:ext>
            </a:extLst>
          </p:cNvPr>
          <p:cNvSpPr/>
          <p:nvPr/>
        </p:nvSpPr>
        <p:spPr>
          <a:xfrm>
            <a:off x="900953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47C3E97C-D33B-9B32-142A-8681DE8DDAEF}"/>
              </a:ext>
            </a:extLst>
          </p:cNvPr>
          <p:cNvSpPr/>
          <p:nvPr/>
        </p:nvSpPr>
        <p:spPr>
          <a:xfrm>
            <a:off x="9676283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B426A0A-057F-CD5D-5ECB-DE46EE96DBDE}"/>
              </a:ext>
            </a:extLst>
          </p:cNvPr>
          <p:cNvSpPr/>
          <p:nvPr/>
        </p:nvSpPr>
        <p:spPr>
          <a:xfrm>
            <a:off x="700928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56E75B3-107F-CB1B-7F16-52AB46B217A0}"/>
              </a:ext>
            </a:extLst>
          </p:cNvPr>
          <p:cNvSpPr/>
          <p:nvPr/>
        </p:nvSpPr>
        <p:spPr>
          <a:xfrm>
            <a:off x="767603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0A9E07E-BC25-19F0-7E29-6EA050AE4FD2}"/>
              </a:ext>
            </a:extLst>
          </p:cNvPr>
          <p:cNvSpPr/>
          <p:nvPr/>
        </p:nvSpPr>
        <p:spPr>
          <a:xfrm>
            <a:off x="834278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F3CD23E-008B-96BB-6553-057E3D828213}"/>
              </a:ext>
            </a:extLst>
          </p:cNvPr>
          <p:cNvSpPr/>
          <p:nvPr/>
        </p:nvSpPr>
        <p:spPr>
          <a:xfrm>
            <a:off x="900953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4C25EC9-011F-3816-1A58-2C6E58DB342E}"/>
              </a:ext>
            </a:extLst>
          </p:cNvPr>
          <p:cNvSpPr/>
          <p:nvPr/>
        </p:nvSpPr>
        <p:spPr>
          <a:xfrm>
            <a:off x="9676283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58A2AF4-113F-A799-EFE4-1A902C2B0763}"/>
              </a:ext>
            </a:extLst>
          </p:cNvPr>
          <p:cNvSpPr/>
          <p:nvPr/>
        </p:nvSpPr>
        <p:spPr>
          <a:xfrm>
            <a:off x="700927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2DA68DD-9EF6-F60A-7687-BB917FC39F87}"/>
              </a:ext>
            </a:extLst>
          </p:cNvPr>
          <p:cNvSpPr/>
          <p:nvPr/>
        </p:nvSpPr>
        <p:spPr>
          <a:xfrm>
            <a:off x="767602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53142616-0094-6DC4-48F1-FA37A2A17640}"/>
              </a:ext>
            </a:extLst>
          </p:cNvPr>
          <p:cNvSpPr/>
          <p:nvPr/>
        </p:nvSpPr>
        <p:spPr>
          <a:xfrm>
            <a:off x="834277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6D49AC2-BD04-6DBE-818D-697878E1DF70}"/>
              </a:ext>
            </a:extLst>
          </p:cNvPr>
          <p:cNvSpPr/>
          <p:nvPr/>
        </p:nvSpPr>
        <p:spPr>
          <a:xfrm>
            <a:off x="900952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0011520-7618-A3C8-798B-5836617AD8CC}"/>
              </a:ext>
            </a:extLst>
          </p:cNvPr>
          <p:cNvSpPr/>
          <p:nvPr/>
        </p:nvSpPr>
        <p:spPr>
          <a:xfrm>
            <a:off x="9676279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F94D6656-5C4D-D893-4041-37DA27F2EA55}"/>
              </a:ext>
            </a:extLst>
          </p:cNvPr>
          <p:cNvSpPr/>
          <p:nvPr/>
        </p:nvSpPr>
        <p:spPr>
          <a:xfrm>
            <a:off x="700928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A9162D19-B604-E685-83B3-82B7DEDE0227}"/>
              </a:ext>
            </a:extLst>
          </p:cNvPr>
          <p:cNvSpPr/>
          <p:nvPr/>
        </p:nvSpPr>
        <p:spPr>
          <a:xfrm>
            <a:off x="767603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2184184E-6F5C-5679-F5E2-F9BE720EDCF6}"/>
              </a:ext>
            </a:extLst>
          </p:cNvPr>
          <p:cNvSpPr/>
          <p:nvPr/>
        </p:nvSpPr>
        <p:spPr>
          <a:xfrm>
            <a:off x="834278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2C91F9A0-9AF9-626F-9293-CE0E105B592B}"/>
              </a:ext>
            </a:extLst>
          </p:cNvPr>
          <p:cNvSpPr/>
          <p:nvPr/>
        </p:nvSpPr>
        <p:spPr>
          <a:xfrm>
            <a:off x="900953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F2DFFA15-F145-F25C-0AEC-D3991E68F61F}"/>
              </a:ext>
            </a:extLst>
          </p:cNvPr>
          <p:cNvSpPr/>
          <p:nvPr/>
        </p:nvSpPr>
        <p:spPr>
          <a:xfrm>
            <a:off x="9676283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Percepción inicial</a:t>
            </a:r>
            <a:endParaRPr lang="es-MX"/>
          </a:p>
        </p:txBody>
      </p:sp>
      <p:pic>
        <p:nvPicPr>
          <p:cNvPr id="16" name="Imagen 15" descr="Dibujo de una mesa de billar&#10;&#10;El contenido generado por IA puede ser incorrecto.">
            <a:extLst>
              <a:ext uri="{FF2B5EF4-FFF2-40B4-BE49-F238E27FC236}">
                <a16:creationId xmlns:a16="http://schemas.microsoft.com/office/drawing/2014/main" id="{193AC80E-E1CF-5F56-3F58-51BAF96111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t="33913" r="73823" b="37793"/>
          <a:stretch>
            <a:fillRect/>
          </a:stretch>
        </p:blipFill>
        <p:spPr>
          <a:xfrm>
            <a:off x="10257742" y="1138561"/>
            <a:ext cx="499639" cy="540072"/>
          </a:xfrm>
          <a:prstGeom prst="rect">
            <a:avLst/>
          </a:prstGeom>
        </p:spPr>
      </p:pic>
      <p:pic>
        <p:nvPicPr>
          <p:cNvPr id="42" name="Imagen 41" descr="Dibujo de una mesa de billar&#10;&#10;El contenido generado por IA puede ser incorrecto.">
            <a:extLst>
              <a:ext uri="{FF2B5EF4-FFF2-40B4-BE49-F238E27FC236}">
                <a16:creationId xmlns:a16="http://schemas.microsoft.com/office/drawing/2014/main" id="{AACD539C-1822-BBCF-47AE-327BD10528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165" t="34124" r="37291" b="37600"/>
          <a:stretch>
            <a:fillRect/>
          </a:stretch>
        </p:blipFill>
        <p:spPr>
          <a:xfrm>
            <a:off x="10795481" y="1148086"/>
            <a:ext cx="526080" cy="540072"/>
          </a:xfrm>
          <a:prstGeom prst="rect">
            <a:avLst/>
          </a:prstGeom>
        </p:spPr>
      </p:pic>
      <p:pic>
        <p:nvPicPr>
          <p:cNvPr id="43" name="Imagen 42" descr="Dibujo de una mesa de billar&#10;&#10;El contenido generado por IA puede ser incorrecto.">
            <a:extLst>
              <a:ext uri="{FF2B5EF4-FFF2-40B4-BE49-F238E27FC236}">
                <a16:creationId xmlns:a16="http://schemas.microsoft.com/office/drawing/2014/main" id="{F061F245-D21D-A0AB-19FA-811020F3C8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050" t="35171" b="36667"/>
          <a:stretch>
            <a:fillRect/>
          </a:stretch>
        </p:blipFill>
        <p:spPr>
          <a:xfrm>
            <a:off x="11359661" y="1169319"/>
            <a:ext cx="514747" cy="537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345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AA692062-D8DD-BC82-359B-CCC7818A691B}"/>
              </a:ext>
            </a:extLst>
          </p:cNvPr>
          <p:cNvSpPr/>
          <p:nvPr/>
        </p:nvSpPr>
        <p:spPr>
          <a:xfrm>
            <a:off x="5555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6" name="Título 3">
            <a:extLst>
              <a:ext uri="{FF2B5EF4-FFF2-40B4-BE49-F238E27FC236}">
                <a16:creationId xmlns:a16="http://schemas.microsoft.com/office/drawing/2014/main" id="{BF4FBAF8-EEF3-881A-D787-8647C59DBF10}"/>
              </a:ext>
            </a:extLst>
          </p:cNvPr>
          <p:cNvSpPr txBox="1">
            <a:spLocks/>
          </p:cNvSpPr>
          <p:nvPr/>
        </p:nvSpPr>
        <p:spPr>
          <a:xfrm>
            <a:off x="190500" y="121330"/>
            <a:ext cx="7896000" cy="7778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133" b="1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s-ES" dirty="0"/>
              <a:t>Descripción de Puesto | Gerente OXXO Cel</a:t>
            </a:r>
          </a:p>
          <a:p>
            <a:r>
              <a:rPr lang="es-ES" b="0" i="1" dirty="0"/>
              <a:t>Propósito y Contribuciones</a:t>
            </a:r>
            <a:endParaRPr lang="es-MX" b="0" i="1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C7C6C5F9-CD84-5062-30F4-5D3F11BAFC67}"/>
              </a:ext>
            </a:extLst>
          </p:cNvPr>
          <p:cNvSpPr txBox="1"/>
          <p:nvPr/>
        </p:nvSpPr>
        <p:spPr>
          <a:xfrm>
            <a:off x="266700" y="1999023"/>
            <a:ext cx="11668125" cy="461664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tabLst/>
              <a:defRPr/>
            </a:pPr>
            <a:r>
              <a:rPr lang="es-MX" sz="1050" b="1" dirty="0">
                <a:solidFill>
                  <a:prstClr val="black"/>
                </a:solidFill>
                <a:latin typeface="+mn-lt"/>
              </a:rPr>
              <a:t>Contribuciones:</a:t>
            </a:r>
          </a:p>
          <a:p>
            <a:pPr marL="228600" indent="-228600" fontAlgn="t">
              <a:buFont typeface="+mj-lt"/>
              <a:buAutoNum type="arabicPeriod"/>
            </a:pPr>
            <a:r>
              <a:rPr lang="es-MX" sz="1050" b="1" dirty="0">
                <a:solidFill>
                  <a:schemeClr val="tx1"/>
                </a:solidFill>
              </a:rPr>
              <a:t>Definir y liderar la estrategia integral del negocio OXXO Cel</a:t>
            </a:r>
            <a:r>
              <a:rPr lang="es-MX" sz="1050" dirty="0">
                <a:solidFill>
                  <a:schemeClr val="tx1"/>
                </a:solidFill>
              </a:rPr>
              <a:t>, asegurando crecimiento rentable, propuesta de valor competitiva, posicionamiento en el mercado de telefonía y alineación con la estrategia del ecosistema OXXO.</a:t>
            </a:r>
          </a:p>
          <a:p>
            <a:pPr marL="228600" indent="-228600" fontAlgn="t">
              <a:buFont typeface="+mj-lt"/>
              <a:buAutoNum type="arabicPeriod"/>
            </a:pPr>
            <a:endParaRPr lang="es-MX" sz="1050" dirty="0">
              <a:solidFill>
                <a:schemeClr val="tx1"/>
              </a:solidFill>
            </a:endParaRPr>
          </a:p>
          <a:p>
            <a:pPr marL="228600" indent="-228600" fontAlgn="t">
              <a:buFont typeface="+mj-lt"/>
              <a:buAutoNum type="arabicPeriod"/>
            </a:pPr>
            <a:r>
              <a:rPr lang="es-MX" sz="1050" b="1" dirty="0">
                <a:solidFill>
                  <a:schemeClr val="tx1"/>
                </a:solidFill>
              </a:rPr>
              <a:t>Impulsar el crecimiento de la base de clientes y los ingresos</a:t>
            </a:r>
            <a:r>
              <a:rPr lang="es-MX" sz="1050" dirty="0">
                <a:solidFill>
                  <a:schemeClr val="tx1"/>
                </a:solidFill>
              </a:rPr>
              <a:t>, mediante el diseño y ejecución de estrategias comerciales </a:t>
            </a:r>
            <a:r>
              <a:rPr lang="es-MX" sz="1050" dirty="0" err="1">
                <a:solidFill>
                  <a:schemeClr val="tx1"/>
                </a:solidFill>
              </a:rPr>
              <a:t>end‑to‑end</a:t>
            </a:r>
            <a:r>
              <a:rPr lang="es-MX" sz="1050" dirty="0">
                <a:solidFill>
                  <a:schemeClr val="tx1"/>
                </a:solidFill>
              </a:rPr>
              <a:t> que integren adquisición, </a:t>
            </a:r>
            <a:r>
              <a:rPr lang="es-MX" sz="1050" dirty="0" err="1">
                <a:solidFill>
                  <a:schemeClr val="tx1"/>
                </a:solidFill>
              </a:rPr>
              <a:t>pricing</a:t>
            </a:r>
            <a:r>
              <a:rPr lang="es-MX" sz="1050" dirty="0">
                <a:solidFill>
                  <a:schemeClr val="tx1"/>
                </a:solidFill>
              </a:rPr>
              <a:t>, promociones, incentivos, campañas, activaciones en tienda y expansión de dispositivos y servicios.</a:t>
            </a:r>
          </a:p>
          <a:p>
            <a:pPr marL="228600" indent="-228600" fontAlgn="t">
              <a:buFont typeface="+mj-lt"/>
              <a:buAutoNum type="arabicPeriod"/>
            </a:pPr>
            <a:endParaRPr lang="es-MX" sz="1050" dirty="0">
              <a:solidFill>
                <a:schemeClr val="tx1"/>
              </a:solidFill>
            </a:endParaRPr>
          </a:p>
          <a:p>
            <a:pPr marL="228600" indent="-228600" fontAlgn="t">
              <a:buFont typeface="+mj-lt"/>
              <a:buAutoNum type="arabicPeriod"/>
            </a:pPr>
            <a:r>
              <a:rPr lang="es-MX" sz="1050" b="1" dirty="0">
                <a:solidFill>
                  <a:schemeClr val="tx1"/>
                </a:solidFill>
              </a:rPr>
              <a:t>Liderar la evolución del portafolio de productos y servicios OXXO Cel</a:t>
            </a:r>
            <a:r>
              <a:rPr lang="es-MX" sz="1050" dirty="0">
                <a:solidFill>
                  <a:schemeClr val="tx1"/>
                </a:solidFill>
              </a:rPr>
              <a:t>, incluyendo telefonía, </a:t>
            </a:r>
            <a:r>
              <a:rPr lang="es-MX" sz="1050" dirty="0" err="1">
                <a:solidFill>
                  <a:schemeClr val="tx1"/>
                </a:solidFill>
              </a:rPr>
              <a:t>eSIM</a:t>
            </a:r>
            <a:r>
              <a:rPr lang="es-MX" sz="1050" dirty="0">
                <a:solidFill>
                  <a:schemeClr val="tx1"/>
                </a:solidFill>
              </a:rPr>
              <a:t>, </a:t>
            </a:r>
            <a:r>
              <a:rPr lang="es-MX" sz="1050" dirty="0" err="1">
                <a:solidFill>
                  <a:schemeClr val="tx1"/>
                </a:solidFill>
              </a:rPr>
              <a:t>bundles</a:t>
            </a:r>
            <a:r>
              <a:rPr lang="es-MX" sz="1050" dirty="0">
                <a:solidFill>
                  <a:schemeClr val="tx1"/>
                </a:solidFill>
              </a:rPr>
              <a:t>, servicios digitales y nuevas propuestas, alineadas a las necesidades del cliente y a las tendencias del mercado.</a:t>
            </a:r>
          </a:p>
          <a:p>
            <a:pPr marL="228600" indent="-228600" fontAlgn="t">
              <a:buFont typeface="+mj-lt"/>
              <a:buAutoNum type="arabicPeriod"/>
            </a:pPr>
            <a:endParaRPr lang="es-MX" sz="1050" dirty="0">
              <a:solidFill>
                <a:schemeClr val="tx1"/>
              </a:solidFill>
            </a:endParaRPr>
          </a:p>
          <a:p>
            <a:pPr marL="228600" indent="-228600" fontAlgn="t">
              <a:buFont typeface="+mj-lt"/>
              <a:buAutoNum type="arabicPeriod"/>
            </a:pPr>
            <a:r>
              <a:rPr lang="es-MX" sz="1050" b="1" dirty="0">
                <a:solidFill>
                  <a:schemeClr val="tx1"/>
                </a:solidFill>
              </a:rPr>
              <a:t>Asegurar una experiencia de cliente consistente y diferenciada</a:t>
            </a:r>
            <a:r>
              <a:rPr lang="es-MX" sz="1050" dirty="0">
                <a:solidFill>
                  <a:schemeClr val="tx1"/>
                </a:solidFill>
              </a:rPr>
              <a:t>, integrando estrategias de CX, comunicación, fidelización y retención que incrementen la permanencia, reduzcan </a:t>
            </a:r>
            <a:r>
              <a:rPr lang="es-MX" sz="1050" dirty="0" err="1">
                <a:solidFill>
                  <a:schemeClr val="tx1"/>
                </a:solidFill>
              </a:rPr>
              <a:t>churn</a:t>
            </a:r>
            <a:r>
              <a:rPr lang="es-MX" sz="1050" dirty="0">
                <a:solidFill>
                  <a:schemeClr val="tx1"/>
                </a:solidFill>
              </a:rPr>
              <a:t> y maximicen el valor del cliente.</a:t>
            </a:r>
          </a:p>
          <a:p>
            <a:pPr marL="228600" indent="-228600" fontAlgn="t">
              <a:buFont typeface="+mj-lt"/>
              <a:buAutoNum type="arabicPeriod"/>
            </a:pPr>
            <a:endParaRPr lang="es-MX" sz="1050" dirty="0">
              <a:solidFill>
                <a:schemeClr val="tx1"/>
              </a:solidFill>
            </a:endParaRPr>
          </a:p>
          <a:p>
            <a:pPr marL="228600" indent="-228600" fontAlgn="t">
              <a:buFont typeface="+mj-lt"/>
              <a:buAutoNum type="arabicPeriod"/>
            </a:pPr>
            <a:r>
              <a:rPr lang="es-MX" sz="1050" b="1" dirty="0">
                <a:solidFill>
                  <a:schemeClr val="tx1"/>
                </a:solidFill>
              </a:rPr>
              <a:t>Garantizar la correcta operación integral del negocio</a:t>
            </a:r>
            <a:r>
              <a:rPr lang="es-MX" sz="1050" dirty="0">
                <a:solidFill>
                  <a:schemeClr val="tx1"/>
                </a:solidFill>
              </a:rPr>
              <a:t>, asegurando la continuidad del servicio de líneas, chips, dispositivos y usuarios activos, así como la ejecución eficiente de procesos operativos en tienda y canales digitales.</a:t>
            </a:r>
          </a:p>
          <a:p>
            <a:pPr marL="228600" indent="-228600" fontAlgn="t">
              <a:buFont typeface="+mj-lt"/>
              <a:buAutoNum type="arabicPeriod"/>
            </a:pPr>
            <a:endParaRPr lang="es-MX" sz="1050" dirty="0">
              <a:solidFill>
                <a:schemeClr val="tx1"/>
              </a:solidFill>
            </a:endParaRPr>
          </a:p>
          <a:p>
            <a:pPr marL="228600" indent="-228600" fontAlgn="t">
              <a:buFont typeface="+mj-lt"/>
              <a:buAutoNum type="arabicPeriod"/>
            </a:pPr>
            <a:r>
              <a:rPr lang="es-MX" sz="1050" b="1" dirty="0">
                <a:solidFill>
                  <a:schemeClr val="tx1"/>
                </a:solidFill>
              </a:rPr>
              <a:t>Dirigir la operación y ejecución comercial en tienda</a:t>
            </a:r>
            <a:r>
              <a:rPr lang="es-MX" sz="1050" dirty="0">
                <a:solidFill>
                  <a:schemeClr val="tx1"/>
                </a:solidFill>
              </a:rPr>
              <a:t>, asegurando capacitación, habilitación, </a:t>
            </a:r>
            <a:r>
              <a:rPr lang="es-MX" sz="1050" dirty="0" err="1">
                <a:solidFill>
                  <a:schemeClr val="tx1"/>
                </a:solidFill>
              </a:rPr>
              <a:t>onboarding</a:t>
            </a:r>
            <a:r>
              <a:rPr lang="es-MX" sz="1050" dirty="0">
                <a:solidFill>
                  <a:schemeClr val="tx1"/>
                </a:solidFill>
              </a:rPr>
              <a:t>, herramientas e incentivos que maximicen el desempeño del personal y la productividad del punto de venta.</a:t>
            </a:r>
          </a:p>
          <a:p>
            <a:pPr marL="228600" indent="-228600" fontAlgn="t">
              <a:buFont typeface="+mj-lt"/>
              <a:buAutoNum type="arabicPeriod"/>
            </a:pPr>
            <a:endParaRPr lang="es-MX" sz="1050" dirty="0">
              <a:solidFill>
                <a:schemeClr val="tx1"/>
              </a:solidFill>
            </a:endParaRPr>
          </a:p>
          <a:p>
            <a:pPr marL="228600" indent="-228600" fontAlgn="t">
              <a:buFont typeface="+mj-lt"/>
              <a:buAutoNum type="arabicPeriod"/>
            </a:pPr>
            <a:r>
              <a:rPr lang="es-MX" sz="1050" b="1" dirty="0">
                <a:solidFill>
                  <a:schemeClr val="tx1"/>
                </a:solidFill>
              </a:rPr>
              <a:t>Asegurar la operación tecnológica de OXXO Cel</a:t>
            </a:r>
            <a:r>
              <a:rPr lang="es-MX" sz="1050" dirty="0">
                <a:solidFill>
                  <a:schemeClr val="tx1"/>
                </a:solidFill>
              </a:rPr>
              <a:t>, incluyendo plataformas, soporte, procesos digitales, </a:t>
            </a:r>
            <a:r>
              <a:rPr lang="es-MX" sz="1050" dirty="0" err="1">
                <a:solidFill>
                  <a:schemeClr val="tx1"/>
                </a:solidFill>
              </a:rPr>
              <a:t>call</a:t>
            </a:r>
            <a:r>
              <a:rPr lang="es-MX" sz="1050" dirty="0">
                <a:solidFill>
                  <a:schemeClr val="tx1"/>
                </a:solidFill>
              </a:rPr>
              <a:t> center, medios de pago e infraestructura, impulsando la mejora continua y la eficiencia operativa.</a:t>
            </a:r>
          </a:p>
          <a:p>
            <a:pPr marL="228600" indent="-228600" fontAlgn="t">
              <a:buFont typeface="+mj-lt"/>
              <a:buAutoNum type="arabicPeriod"/>
            </a:pPr>
            <a:endParaRPr lang="es-MX" sz="1050" dirty="0">
              <a:solidFill>
                <a:schemeClr val="tx1"/>
              </a:solidFill>
            </a:endParaRPr>
          </a:p>
          <a:p>
            <a:pPr marL="228600" indent="-228600" fontAlgn="t">
              <a:buFont typeface="+mj-lt"/>
              <a:buAutoNum type="arabicPeriod"/>
            </a:pPr>
            <a:r>
              <a:rPr lang="es-MX" sz="1050" b="1" dirty="0">
                <a:solidFill>
                  <a:schemeClr val="tx1"/>
                </a:solidFill>
              </a:rPr>
              <a:t>Gestionar estratégicamente la relación con proveedores y socios clave</a:t>
            </a:r>
            <a:r>
              <a:rPr lang="es-MX" sz="1050" dirty="0">
                <a:solidFill>
                  <a:schemeClr val="tx1"/>
                </a:solidFill>
              </a:rPr>
              <a:t>, garantizando condiciones comerciales óptimas, continuidad de la cadena de suministro y soporte al crecimiento del negocio.</a:t>
            </a:r>
          </a:p>
          <a:p>
            <a:pPr marL="228600" indent="-228600" fontAlgn="t">
              <a:buFont typeface="+mj-lt"/>
              <a:buAutoNum type="arabicPeriod"/>
            </a:pPr>
            <a:endParaRPr lang="es-MX" sz="1050" dirty="0">
              <a:solidFill>
                <a:schemeClr val="tx1"/>
              </a:solidFill>
            </a:endParaRPr>
          </a:p>
          <a:p>
            <a:pPr marL="228600" indent="-228600" fontAlgn="t">
              <a:buFont typeface="+mj-lt"/>
              <a:buAutoNum type="arabicPeriod"/>
            </a:pPr>
            <a:r>
              <a:rPr lang="es-MX" sz="1050" b="1" dirty="0">
                <a:solidFill>
                  <a:schemeClr val="tx1"/>
                </a:solidFill>
              </a:rPr>
              <a:t>Impulsar un modelo de gestión y toma de decisiones basado en datos</a:t>
            </a:r>
            <a:r>
              <a:rPr lang="es-MX" sz="1050" dirty="0">
                <a:solidFill>
                  <a:schemeClr val="tx1"/>
                </a:solidFill>
              </a:rPr>
              <a:t>, asegurando el uso efectivo de analítica, </a:t>
            </a:r>
            <a:r>
              <a:rPr lang="es-MX" sz="1050" dirty="0" err="1">
                <a:solidFill>
                  <a:schemeClr val="tx1"/>
                </a:solidFill>
              </a:rPr>
              <a:t>KPIs</a:t>
            </a:r>
            <a:r>
              <a:rPr lang="es-MX" sz="1050" dirty="0">
                <a:solidFill>
                  <a:schemeClr val="tx1"/>
                </a:solidFill>
              </a:rPr>
              <a:t> y </a:t>
            </a:r>
            <a:r>
              <a:rPr lang="es-MX" sz="1050" dirty="0" err="1">
                <a:solidFill>
                  <a:schemeClr val="tx1"/>
                </a:solidFill>
              </a:rPr>
              <a:t>dashboards</a:t>
            </a:r>
            <a:r>
              <a:rPr lang="es-MX" sz="1050" dirty="0">
                <a:solidFill>
                  <a:schemeClr val="tx1"/>
                </a:solidFill>
              </a:rPr>
              <a:t> para optimizar desempeño comercial, operativo, financiero y de experiencia del cliente.</a:t>
            </a:r>
          </a:p>
          <a:p>
            <a:pPr marL="228600" indent="-228600" fontAlgn="t">
              <a:buFont typeface="+mj-lt"/>
              <a:buAutoNum type="arabicPeriod"/>
            </a:pPr>
            <a:endParaRPr lang="es-MX" sz="1050" dirty="0">
              <a:solidFill>
                <a:schemeClr val="tx1"/>
              </a:solidFill>
            </a:endParaRPr>
          </a:p>
          <a:p>
            <a:pPr marL="228600" indent="-228600" fontAlgn="t">
              <a:buFont typeface="+mj-lt"/>
              <a:buAutoNum type="arabicPeriod"/>
            </a:pPr>
            <a:r>
              <a:rPr lang="es-MX" sz="1050" b="1" dirty="0">
                <a:solidFill>
                  <a:schemeClr val="tx1"/>
                </a:solidFill>
              </a:rPr>
              <a:t>Coordinar y alinear equipos multidisciplinarios y </a:t>
            </a:r>
            <a:r>
              <a:rPr lang="es-MX" sz="1050" b="1" dirty="0" err="1">
                <a:solidFill>
                  <a:schemeClr val="tx1"/>
                </a:solidFill>
              </a:rPr>
              <a:t>stakeholders</a:t>
            </a:r>
            <a:r>
              <a:rPr lang="es-MX" sz="1050" b="1" dirty="0">
                <a:solidFill>
                  <a:schemeClr val="tx1"/>
                </a:solidFill>
              </a:rPr>
              <a:t> internos</a:t>
            </a:r>
            <a:r>
              <a:rPr lang="es-MX" sz="1050" dirty="0">
                <a:solidFill>
                  <a:schemeClr val="tx1"/>
                </a:solidFill>
              </a:rPr>
              <a:t>, asegurando claridad de objetivos, ejecución integrada, cumplimiento de indicadores clave y representación efectiva del negocio en foros estratégicos.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10AE335B-E5D2-A6A7-EFF5-4DBB7DACAAF6}"/>
              </a:ext>
            </a:extLst>
          </p:cNvPr>
          <p:cNvSpPr txBox="1"/>
          <p:nvPr/>
        </p:nvSpPr>
        <p:spPr>
          <a:xfrm>
            <a:off x="266700" y="1240929"/>
            <a:ext cx="11668125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s-MX" sz="1200" b="1" dirty="0">
                <a:latin typeface="+mj-lt"/>
              </a:rPr>
              <a:t>Propósito: </a:t>
            </a:r>
            <a:r>
              <a:rPr lang="es-MX" sz="1200" dirty="0">
                <a:solidFill>
                  <a:schemeClr val="tx1"/>
                </a:solidFill>
              </a:rPr>
              <a:t>Liderar el </a:t>
            </a:r>
            <a:r>
              <a:rPr lang="es-MX" sz="1200" b="1" dirty="0">
                <a:solidFill>
                  <a:schemeClr val="tx1"/>
                </a:solidFill>
              </a:rPr>
              <a:t>crecimiento rentable y sostenible del negocio OXXO Cel</a:t>
            </a:r>
            <a:r>
              <a:rPr lang="es-MX" sz="1200" dirty="0">
                <a:solidFill>
                  <a:schemeClr val="tx1"/>
                </a:solidFill>
              </a:rPr>
              <a:t>, definiendo y ejecutando la estrategia de conectividad de ecosistema OXXO, desde la adquisición y fidelización de clientes hasta la operación y evolución de productos y servicios, asegurando una experiencia consistente, una operación escalable y una propuesta de valor competitiva que capitalice el ecosistema OXXO.</a:t>
            </a:r>
          </a:p>
        </p:txBody>
      </p:sp>
    </p:spTree>
    <p:extLst>
      <p:ext uri="{BB962C8B-B14F-4D97-AF65-F5344CB8AC3E}">
        <p14:creationId xmlns:p14="http://schemas.microsoft.com/office/powerpoint/2010/main" val="679105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3">
            <a:extLst>
              <a:ext uri="{FF2B5EF4-FFF2-40B4-BE49-F238E27FC236}">
                <a16:creationId xmlns:a16="http://schemas.microsoft.com/office/drawing/2014/main" id="{5079D1B5-39DA-A17E-E874-D9C06961D0EE}"/>
              </a:ext>
            </a:extLst>
          </p:cNvPr>
          <p:cNvSpPr txBox="1">
            <a:spLocks/>
          </p:cNvSpPr>
          <p:nvPr/>
        </p:nvSpPr>
        <p:spPr>
          <a:xfrm>
            <a:off x="190500" y="121330"/>
            <a:ext cx="7896000" cy="7778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133" b="1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s-ES" dirty="0"/>
              <a:t>Descripción de Puesto | Gerente OXXO Cel </a:t>
            </a:r>
          </a:p>
          <a:p>
            <a:r>
              <a:rPr lang="es-ES" b="0" i="1" dirty="0"/>
              <a:t>Decisiones y Retos</a:t>
            </a:r>
            <a:endParaRPr lang="es-MX" b="0" i="1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B728A93-DECE-EA2D-9025-C4B1BD67C1A8}"/>
              </a:ext>
            </a:extLst>
          </p:cNvPr>
          <p:cNvSpPr txBox="1"/>
          <p:nvPr/>
        </p:nvSpPr>
        <p:spPr>
          <a:xfrm>
            <a:off x="819150" y="1366897"/>
            <a:ext cx="10563225" cy="141577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ＭＳ Ｐゴシック" charset="0"/>
                <a:cs typeface="Arial"/>
              </a:rPr>
              <a:t>Decisiones Relevantes del Puesto </a:t>
            </a:r>
          </a:p>
          <a:p>
            <a:pPr marL="171450" indent="-171450" fontAlgn="t">
              <a:buFont typeface="Wingdings" panose="05000000000000000000" pitchFamily="2" charset="2"/>
              <a:buChar char="§"/>
            </a:pPr>
            <a:r>
              <a:rPr lang="es-MX" sz="1200" b="1" dirty="0">
                <a:solidFill>
                  <a:schemeClr val="tx1"/>
                </a:solidFill>
              </a:rPr>
              <a:t>Definir la estrategia de crecimiento y rentabilidad del negocio</a:t>
            </a:r>
            <a:r>
              <a:rPr lang="es-MX" sz="1200" dirty="0">
                <a:solidFill>
                  <a:schemeClr val="tx1"/>
                </a:solidFill>
              </a:rPr>
              <a:t>, priorizando entre adquisición, retención, nuevos productos y expansión dentro del ecosistema OXXO.</a:t>
            </a:r>
          </a:p>
          <a:p>
            <a:pPr marL="171450" indent="-171450" fontAlgn="t">
              <a:buFont typeface="Wingdings" panose="05000000000000000000" pitchFamily="2" charset="2"/>
              <a:buChar char="§"/>
            </a:pPr>
            <a:r>
              <a:rPr lang="es-MX" sz="1200" b="1" dirty="0">
                <a:solidFill>
                  <a:schemeClr val="tx1"/>
                </a:solidFill>
              </a:rPr>
              <a:t>Establecer la estrategia comercial integral</a:t>
            </a:r>
            <a:r>
              <a:rPr lang="es-MX" sz="1200" dirty="0">
                <a:solidFill>
                  <a:schemeClr val="tx1"/>
                </a:solidFill>
              </a:rPr>
              <a:t>, incluyendo </a:t>
            </a:r>
            <a:r>
              <a:rPr lang="es-MX" sz="1200" dirty="0" err="1">
                <a:solidFill>
                  <a:schemeClr val="tx1"/>
                </a:solidFill>
              </a:rPr>
              <a:t>pricing</a:t>
            </a:r>
            <a:r>
              <a:rPr lang="es-MX" sz="1200" dirty="0">
                <a:solidFill>
                  <a:schemeClr val="tx1"/>
                </a:solidFill>
              </a:rPr>
              <a:t>, promociones, campañas e incentivos, balanceando volumen, margen y valor del cliente.</a:t>
            </a:r>
          </a:p>
          <a:p>
            <a:pPr marL="171450" indent="-171450" fontAlgn="t">
              <a:buFont typeface="Wingdings" panose="05000000000000000000" pitchFamily="2" charset="2"/>
              <a:buChar char="§"/>
            </a:pPr>
            <a:r>
              <a:rPr lang="es-MX" sz="1200" b="1" dirty="0">
                <a:solidFill>
                  <a:schemeClr val="tx1"/>
                </a:solidFill>
              </a:rPr>
              <a:t>Decidir la evolución del portafolio de productos y servicios</a:t>
            </a:r>
            <a:r>
              <a:rPr lang="es-MX" sz="1200" dirty="0">
                <a:solidFill>
                  <a:schemeClr val="tx1"/>
                </a:solidFill>
              </a:rPr>
              <a:t>, determinando lanzamientos, ajustes o descontinuaciones conforme a desempeño y mercado.</a:t>
            </a:r>
          </a:p>
          <a:p>
            <a:pPr marL="171450" indent="-171450" fontAlgn="t">
              <a:buFont typeface="Wingdings" panose="05000000000000000000" pitchFamily="2" charset="2"/>
              <a:buChar char="§"/>
            </a:pPr>
            <a:r>
              <a:rPr lang="es-MX" sz="1200" b="1" dirty="0">
                <a:solidFill>
                  <a:schemeClr val="tx1"/>
                </a:solidFill>
              </a:rPr>
              <a:t>Asignar recursos entre operación, experiencia, tecnología y crecimiento</a:t>
            </a:r>
            <a:r>
              <a:rPr lang="es-MX" sz="1200" dirty="0">
                <a:solidFill>
                  <a:schemeClr val="tx1"/>
                </a:solidFill>
              </a:rPr>
              <a:t>, asegurando estabilidad operativa y escalabilidad del negocio.</a:t>
            </a:r>
          </a:p>
          <a:p>
            <a:pPr marL="171450" indent="-171450" fontAlgn="t">
              <a:buFont typeface="Wingdings" panose="05000000000000000000" pitchFamily="2" charset="2"/>
              <a:buChar char="§"/>
            </a:pPr>
            <a:r>
              <a:rPr lang="es-MX" sz="1200" b="1" dirty="0">
                <a:solidFill>
                  <a:schemeClr val="tx1"/>
                </a:solidFill>
              </a:rPr>
              <a:t>Seleccionar y gestionar alianzas estratégicas y proveedores clave</a:t>
            </a:r>
            <a:r>
              <a:rPr lang="es-MX" sz="1200" dirty="0">
                <a:solidFill>
                  <a:schemeClr val="tx1"/>
                </a:solidFill>
              </a:rPr>
              <a:t>, definiendo modelos de colaboración que aseguren continuidad y ventaja competitiva.</a:t>
            </a:r>
          </a:p>
          <a:p>
            <a:endParaRPr lang="es-MX" sz="1200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037BFC9-94B9-A0A1-59DB-B234D6CD0E61}"/>
              </a:ext>
            </a:extLst>
          </p:cNvPr>
          <p:cNvSpPr txBox="1"/>
          <p:nvPr/>
        </p:nvSpPr>
        <p:spPr>
          <a:xfrm>
            <a:off x="819150" y="3505200"/>
            <a:ext cx="10563225" cy="141577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ＭＳ Ｐゴシック" charset="0"/>
                <a:cs typeface="Arial"/>
              </a:rPr>
              <a:t>Principales Retos del Puesto </a:t>
            </a:r>
          </a:p>
          <a:p>
            <a:pPr marL="171450" indent="-171450" fontAlgn="t">
              <a:buFont typeface="Wingdings" panose="05000000000000000000" pitchFamily="2" charset="2"/>
              <a:buChar char="§"/>
            </a:pPr>
            <a:r>
              <a:rPr lang="es-MX" sz="1200" b="1" dirty="0">
                <a:solidFill>
                  <a:schemeClr val="tx1"/>
                </a:solidFill>
              </a:rPr>
              <a:t>Lograr crecimiento acelerado sin deteriorar rentabilidad ni experiencia del cliente</a:t>
            </a:r>
            <a:r>
              <a:rPr lang="es-MX" sz="1200" dirty="0">
                <a:solidFill>
                  <a:schemeClr val="tx1"/>
                </a:solidFill>
              </a:rPr>
              <a:t>, en un mercado altamente competitivo y sensible a precio.</a:t>
            </a:r>
          </a:p>
          <a:p>
            <a:pPr marL="171450" indent="-171450" fontAlgn="t">
              <a:buFont typeface="Wingdings" panose="05000000000000000000" pitchFamily="2" charset="2"/>
              <a:buChar char="§"/>
            </a:pPr>
            <a:r>
              <a:rPr lang="es-MX" sz="1200" b="1" dirty="0">
                <a:solidFill>
                  <a:schemeClr val="tx1"/>
                </a:solidFill>
              </a:rPr>
              <a:t>Diferenciar la propuesta de valor de OXXO Cel</a:t>
            </a:r>
            <a:r>
              <a:rPr lang="es-MX" sz="1200" dirty="0">
                <a:solidFill>
                  <a:schemeClr val="tx1"/>
                </a:solidFill>
              </a:rPr>
              <a:t>, capitalizando el ecosistema OXXO frente a operadores tradicionales y ofertas digitales.</a:t>
            </a:r>
          </a:p>
          <a:p>
            <a:pPr marL="171450" indent="-171450" fontAlgn="t">
              <a:buFont typeface="Wingdings" panose="05000000000000000000" pitchFamily="2" charset="2"/>
              <a:buChar char="§"/>
            </a:pPr>
            <a:r>
              <a:rPr lang="es-MX" sz="1200" b="1" dirty="0">
                <a:solidFill>
                  <a:schemeClr val="tx1"/>
                </a:solidFill>
              </a:rPr>
              <a:t>Mantener estabilidad operativa y tecnológica</a:t>
            </a:r>
            <a:r>
              <a:rPr lang="es-MX" sz="1200" dirty="0">
                <a:solidFill>
                  <a:schemeClr val="tx1"/>
                </a:solidFill>
              </a:rPr>
              <a:t> mientras se escala la base de usuarios, productos y transacciones.</a:t>
            </a:r>
          </a:p>
          <a:p>
            <a:pPr marL="171450" indent="-171450" fontAlgn="t">
              <a:buFont typeface="Wingdings" panose="05000000000000000000" pitchFamily="2" charset="2"/>
              <a:buChar char="§"/>
            </a:pPr>
            <a:r>
              <a:rPr lang="es-MX" sz="1200" b="1" dirty="0">
                <a:solidFill>
                  <a:schemeClr val="tx1"/>
                </a:solidFill>
              </a:rPr>
              <a:t>Reducir </a:t>
            </a:r>
            <a:r>
              <a:rPr lang="es-MX" sz="1200" b="1" dirty="0" err="1">
                <a:solidFill>
                  <a:schemeClr val="tx1"/>
                </a:solidFill>
              </a:rPr>
              <a:t>churn</a:t>
            </a:r>
            <a:r>
              <a:rPr lang="es-MX" sz="1200" b="1" dirty="0">
                <a:solidFill>
                  <a:schemeClr val="tx1"/>
                </a:solidFill>
              </a:rPr>
              <a:t> y aumentar el valor del cliente</a:t>
            </a:r>
            <a:r>
              <a:rPr lang="es-MX" sz="1200" dirty="0">
                <a:solidFill>
                  <a:schemeClr val="tx1"/>
                </a:solidFill>
              </a:rPr>
              <a:t>, asegurando una experiencia consistente en múltiples puntos de contacto.</a:t>
            </a:r>
          </a:p>
          <a:p>
            <a:pPr marL="171450" indent="-171450" fontAlgn="t">
              <a:buFont typeface="Wingdings" panose="05000000000000000000" pitchFamily="2" charset="2"/>
              <a:buChar char="§"/>
            </a:pPr>
            <a:r>
              <a:rPr lang="es-MX" sz="1200" b="1" dirty="0">
                <a:solidFill>
                  <a:schemeClr val="tx1"/>
                </a:solidFill>
              </a:rPr>
              <a:t>Alinear equipos y </a:t>
            </a:r>
            <a:r>
              <a:rPr lang="es-MX" sz="1200" b="1" dirty="0" err="1">
                <a:solidFill>
                  <a:schemeClr val="tx1"/>
                </a:solidFill>
              </a:rPr>
              <a:t>stakeholders</a:t>
            </a:r>
            <a:r>
              <a:rPr lang="es-MX" sz="1200" b="1" dirty="0">
                <a:solidFill>
                  <a:schemeClr val="tx1"/>
                </a:solidFill>
              </a:rPr>
              <a:t> con prioridades diversas</a:t>
            </a:r>
            <a:r>
              <a:rPr lang="es-MX" sz="1200" dirty="0">
                <a:solidFill>
                  <a:schemeClr val="tx1"/>
                </a:solidFill>
              </a:rPr>
              <a:t>, garantizando ejecución integrada y foco en resultados de negocio.</a:t>
            </a:r>
          </a:p>
          <a:p>
            <a:pPr marL="171450" lvl="0" indent="-171450">
              <a:buFont typeface="Wingdings" panose="05000000000000000000" pitchFamily="2" charset="2"/>
              <a:buChar char="§"/>
              <a:defRPr/>
            </a:pPr>
            <a:endParaRPr lang="es-MX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5233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AA8D71CC-25E5-3083-AA59-D48069D2D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>
            <a:extLst>
              <a:ext uri="{FF2B5EF4-FFF2-40B4-BE49-F238E27FC236}">
                <a16:creationId xmlns:a16="http://schemas.microsoft.com/office/drawing/2014/main" id="{6975D636-73BB-21EF-E5A3-82114D16F5CC}"/>
              </a:ext>
            </a:extLst>
          </p:cNvPr>
          <p:cNvSpPr/>
          <p:nvPr/>
        </p:nvSpPr>
        <p:spPr>
          <a:xfrm>
            <a:off x="5236910" y="1594109"/>
            <a:ext cx="1718177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Director Estrategia y Transformación</a:t>
            </a:r>
          </a:p>
          <a:p>
            <a:pPr lvl="0" algn="ctr">
              <a:defRPr/>
            </a:pPr>
            <a:r>
              <a:rPr lang="es-MX" sz="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Diego Velarde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9332E09C-E225-D9E3-526F-3AFCF8A8C4DB}"/>
              </a:ext>
            </a:extLst>
          </p:cNvPr>
          <p:cNvCxnSpPr>
            <a:cxnSpLocks/>
            <a:stCxn id="31" idx="2"/>
          </p:cNvCxnSpPr>
          <p:nvPr/>
        </p:nvCxnSpPr>
        <p:spPr>
          <a:xfrm>
            <a:off x="6095999" y="2047709"/>
            <a:ext cx="0" cy="164358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9" name="Imagen 258">
            <a:hlinkClick r:id="rId4" action="ppaction://hlinksldjump"/>
            <a:extLst>
              <a:ext uri="{FF2B5EF4-FFF2-40B4-BE49-F238E27FC236}">
                <a16:creationId xmlns:a16="http://schemas.microsoft.com/office/drawing/2014/main" id="{56574E46-B9FB-C21B-56AB-E6727A8527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3328" y="96838"/>
            <a:ext cx="314834" cy="314834"/>
          </a:xfrm>
          <a:prstGeom prst="rect">
            <a:avLst/>
          </a:prstGeom>
        </p:spPr>
      </p:pic>
      <p:sp>
        <p:nvSpPr>
          <p:cNvPr id="261" name="CuadroTexto 260">
            <a:extLst>
              <a:ext uri="{FF2B5EF4-FFF2-40B4-BE49-F238E27FC236}">
                <a16:creationId xmlns:a16="http://schemas.microsoft.com/office/drawing/2014/main" id="{07283218-3E23-D281-2EC9-3CE8DA51E908}"/>
              </a:ext>
            </a:extLst>
          </p:cNvPr>
          <p:cNvSpPr txBox="1"/>
          <p:nvPr/>
        </p:nvSpPr>
        <p:spPr>
          <a:xfrm>
            <a:off x="192212" y="1167055"/>
            <a:ext cx="484651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b="1" dirty="0"/>
              <a:t>Propósito</a:t>
            </a:r>
          </a:p>
          <a:p>
            <a:pPr lvl="0">
              <a:defRPr/>
            </a:pPr>
            <a:r>
              <a:rPr lang="es-MX" sz="1100" dirty="0"/>
              <a:t>Liderar el </a:t>
            </a:r>
            <a:r>
              <a:rPr lang="es-MX" sz="1100" b="1" dirty="0"/>
              <a:t>crecimiento rentable y sostenible del negocio OXXO Cel</a:t>
            </a:r>
            <a:r>
              <a:rPr lang="es-MX" sz="1100" dirty="0"/>
              <a:t>, definiendo y ejecutando la estrategia integral de telefonía, desde la adquisición y fidelización de clientes hasta la operación y evolución de productos y servicios, asegurando una experiencia consistente, una operación escalable y una propuesta de valor competitiva que capitalice el ecosistema OXXO.</a:t>
            </a:r>
            <a:endParaRPr lang="es-MX" sz="1100" dirty="0">
              <a:solidFill>
                <a:prstClr val="black"/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5943841-D0E0-2FDA-A509-DF366A3D331D}"/>
              </a:ext>
            </a:extLst>
          </p:cNvPr>
          <p:cNvSpPr/>
          <p:nvPr/>
        </p:nvSpPr>
        <p:spPr>
          <a:xfrm>
            <a:off x="44826" y="3340936"/>
            <a:ext cx="12058772" cy="29526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fontAlgn="base"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3" name="Título 3">
            <a:extLst>
              <a:ext uri="{FF2B5EF4-FFF2-40B4-BE49-F238E27FC236}">
                <a16:creationId xmlns:a16="http://schemas.microsoft.com/office/drawing/2014/main" id="{202F7401-ED31-48E2-0F9A-CABF5C4E9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27" y="161576"/>
            <a:ext cx="7896000" cy="777875"/>
          </a:xfrm>
        </p:spPr>
        <p:txBody>
          <a:bodyPr/>
          <a:lstStyle/>
          <a:p>
            <a:r>
              <a:rPr lang="es-ES" dirty="0"/>
              <a:t>Principales contribuciones del área</a:t>
            </a:r>
            <a:br>
              <a:rPr lang="es-ES" dirty="0"/>
            </a:br>
            <a:r>
              <a:rPr lang="es-ES" b="0" dirty="0"/>
              <a:t>Estrategia y Transformación – OXXO Cel</a:t>
            </a:r>
            <a:endParaRPr lang="es-MX" b="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5AAEC53-D683-4F11-4911-0A1D330C51DB}"/>
              </a:ext>
            </a:extLst>
          </p:cNvPr>
          <p:cNvSpPr/>
          <p:nvPr/>
        </p:nvSpPr>
        <p:spPr>
          <a:xfrm>
            <a:off x="5290963" y="2151104"/>
            <a:ext cx="160884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OXXO Cel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Marco Rodriguez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A03BDC4-669B-0F96-65D6-08CFAF2AB1D3}"/>
              </a:ext>
            </a:extLst>
          </p:cNvPr>
          <p:cNvSpPr/>
          <p:nvPr/>
        </p:nvSpPr>
        <p:spPr>
          <a:xfrm>
            <a:off x="5261729" y="2756205"/>
            <a:ext cx="1692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Analista Operación Teléfonos y Chips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Leonardo Hernández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C749DC5-650F-E603-E734-0BF332E932F8}"/>
              </a:ext>
            </a:extLst>
          </p:cNvPr>
          <p:cNvSpPr/>
          <p:nvPr/>
        </p:nvSpPr>
        <p:spPr>
          <a:xfrm>
            <a:off x="7821031" y="2756205"/>
            <a:ext cx="1692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Coordinador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Product</a:t>
            </a: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Owner</a:t>
            </a: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CX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Verónica González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25BF223-6AFC-6967-F475-435C163332D5}"/>
              </a:ext>
            </a:extLst>
          </p:cNvPr>
          <p:cNvSpPr/>
          <p:nvPr/>
        </p:nvSpPr>
        <p:spPr>
          <a:xfrm>
            <a:off x="2701665" y="2756205"/>
            <a:ext cx="1692000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Coordinador Comercial Fidelización Clientes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Antonio Salazar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23CE306-CAEC-CB71-9BDB-A4B347B18302}"/>
              </a:ext>
            </a:extLst>
          </p:cNvPr>
          <p:cNvSpPr/>
          <p:nvPr/>
        </p:nvSpPr>
        <p:spPr>
          <a:xfrm>
            <a:off x="10275558" y="2756205"/>
            <a:ext cx="1692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Analista Datos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Kleist Jimenez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B16A55E-E607-9EE6-ECFC-FACE45B08E2C}"/>
              </a:ext>
            </a:extLst>
          </p:cNvPr>
          <p:cNvSpPr/>
          <p:nvPr/>
        </p:nvSpPr>
        <p:spPr>
          <a:xfrm>
            <a:off x="178177" y="2756205"/>
            <a:ext cx="1692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Adquisición Cliente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Daniel Pardo</a:t>
            </a:r>
          </a:p>
        </p:txBody>
      </p:sp>
      <p:cxnSp>
        <p:nvCxnSpPr>
          <p:cNvPr id="13" name="Conector: angular 12">
            <a:extLst>
              <a:ext uri="{FF2B5EF4-FFF2-40B4-BE49-F238E27FC236}">
                <a16:creationId xmlns:a16="http://schemas.microsoft.com/office/drawing/2014/main" id="{8CFBAECC-008D-7D9C-88C2-8918D83F8FBB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 rot="5400000">
            <a:off x="3484030" y="144851"/>
            <a:ext cx="151501" cy="5071206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4" name="Conector: angular 13">
            <a:extLst>
              <a:ext uri="{FF2B5EF4-FFF2-40B4-BE49-F238E27FC236}">
                <a16:creationId xmlns:a16="http://schemas.microsoft.com/office/drawing/2014/main" id="{D91F3CF3-2065-DF23-B486-AAD3472C6661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5400000">
            <a:off x="4745774" y="1406595"/>
            <a:ext cx="151501" cy="2547718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5" name="Conector: angular 14">
            <a:extLst>
              <a:ext uri="{FF2B5EF4-FFF2-40B4-BE49-F238E27FC236}">
                <a16:creationId xmlns:a16="http://schemas.microsoft.com/office/drawing/2014/main" id="{5F75D40F-AC0E-E83F-BD30-5CCA2AD3B2FA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rot="16200000" flipH="1">
            <a:off x="6025806" y="2674281"/>
            <a:ext cx="151501" cy="12346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6" name="Conector: angular 15">
            <a:extLst>
              <a:ext uri="{FF2B5EF4-FFF2-40B4-BE49-F238E27FC236}">
                <a16:creationId xmlns:a16="http://schemas.microsoft.com/office/drawing/2014/main" id="{EB6A592B-BC3E-8B5C-FA54-5FACD425AC2E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rot="16200000" flipH="1">
            <a:off x="7305457" y="1394630"/>
            <a:ext cx="151501" cy="2571648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7" name="Conector: angular 16">
            <a:extLst>
              <a:ext uri="{FF2B5EF4-FFF2-40B4-BE49-F238E27FC236}">
                <a16:creationId xmlns:a16="http://schemas.microsoft.com/office/drawing/2014/main" id="{C669F1A8-205F-12BA-34BD-88A4B3E73091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 rot="16200000" flipH="1">
            <a:off x="8532720" y="167366"/>
            <a:ext cx="151501" cy="5026175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000000"/>
            </a:solidFill>
            <a:prstDash val="solid"/>
          </a:ln>
          <a:effectLst/>
        </p:spPr>
      </p:cxnSp>
      <p:sp>
        <p:nvSpPr>
          <p:cNvPr id="21" name="Rectángulo 20">
            <a:extLst>
              <a:ext uri="{FF2B5EF4-FFF2-40B4-BE49-F238E27FC236}">
                <a16:creationId xmlns:a16="http://schemas.microsoft.com/office/drawing/2014/main" id="{D0BB167D-2C7D-D430-1D45-DB6FE8827566}"/>
              </a:ext>
            </a:extLst>
          </p:cNvPr>
          <p:cNvSpPr/>
          <p:nvPr/>
        </p:nvSpPr>
        <p:spPr>
          <a:xfrm>
            <a:off x="7287768" y="1134076"/>
            <a:ext cx="4434840" cy="1250287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900" b="1" dirty="0">
                <a:solidFill>
                  <a:schemeClr val="tx1"/>
                </a:solidFill>
              </a:rPr>
              <a:t>GERENTE: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900" b="1" dirty="0">
                <a:solidFill>
                  <a:schemeClr val="tx1"/>
                </a:solidFill>
              </a:rPr>
              <a:t>(1) - Definir y liderar la estrategia integral del negocio OXXO Cel</a:t>
            </a:r>
            <a:r>
              <a:rPr lang="es-MX" sz="900" dirty="0">
                <a:solidFill>
                  <a:schemeClr val="tx1"/>
                </a:solidFill>
              </a:rPr>
              <a:t>, asegurando crecimiento rentable, propuesta de valor competitiva, posicionamiento en el mercado de telefonía y alineación con la estrategia del ecosistema OXXO.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900" b="1" dirty="0">
                <a:solidFill>
                  <a:schemeClr val="tx1"/>
                </a:solidFill>
              </a:rPr>
              <a:t>(8) - Gestionar estratégicamente la relación con proveedores y socios clave</a:t>
            </a:r>
            <a:r>
              <a:rPr lang="es-MX" sz="900" dirty="0">
                <a:solidFill>
                  <a:schemeClr val="tx1"/>
                </a:solidFill>
              </a:rPr>
              <a:t>, garantizando condiciones comerciales óptimas, continuidad de la cadena de suministro y soporte al crecimiento del negocio.</a:t>
            </a:r>
            <a:endParaRPr lang="es-MX" sz="900" b="1" dirty="0">
              <a:solidFill>
                <a:schemeClr val="tx1"/>
              </a:solidFill>
            </a:endParaRP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0A6DA601-8752-B561-4B7B-488F7161A5DB}"/>
              </a:ext>
            </a:extLst>
          </p:cNvPr>
          <p:cNvCxnSpPr>
            <a:cxnSpLocks/>
          </p:cNvCxnSpPr>
          <p:nvPr/>
        </p:nvCxnSpPr>
        <p:spPr>
          <a:xfrm>
            <a:off x="2282952" y="3355052"/>
            <a:ext cx="0" cy="255270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E73C9264-484C-5A6C-2411-BA53AC2AFBFE}"/>
              </a:ext>
            </a:extLst>
          </p:cNvPr>
          <p:cNvCxnSpPr>
            <a:cxnSpLocks/>
          </p:cNvCxnSpPr>
          <p:nvPr/>
        </p:nvCxnSpPr>
        <p:spPr>
          <a:xfrm>
            <a:off x="4844415" y="3345908"/>
            <a:ext cx="0" cy="255270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75A446B4-AD43-BC76-4117-358B58F3D524}"/>
              </a:ext>
            </a:extLst>
          </p:cNvPr>
          <p:cNvCxnSpPr>
            <a:cxnSpLocks/>
          </p:cNvCxnSpPr>
          <p:nvPr/>
        </p:nvCxnSpPr>
        <p:spPr>
          <a:xfrm>
            <a:off x="7456551" y="3330134"/>
            <a:ext cx="0" cy="255270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BBF2BF6B-846A-9A4C-7342-6B18BEF72A0F}"/>
              </a:ext>
            </a:extLst>
          </p:cNvPr>
          <p:cNvCxnSpPr>
            <a:cxnSpLocks/>
          </p:cNvCxnSpPr>
          <p:nvPr/>
        </p:nvCxnSpPr>
        <p:spPr>
          <a:xfrm>
            <a:off x="10004679" y="3340936"/>
            <a:ext cx="0" cy="255270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A6A8E01-5C29-870B-CF60-66E59BBB0825}"/>
              </a:ext>
            </a:extLst>
          </p:cNvPr>
          <p:cNvSpPr txBox="1"/>
          <p:nvPr/>
        </p:nvSpPr>
        <p:spPr>
          <a:xfrm>
            <a:off x="-14381" y="3372630"/>
            <a:ext cx="221335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indent="-182563" fontAlgn="t">
              <a:buFont typeface="Arial" panose="020B0604020202020204" pitchFamily="34" charset="0"/>
              <a:buChar char="•"/>
            </a:pPr>
            <a:r>
              <a:rPr lang="es-MX" sz="900" b="1" dirty="0">
                <a:solidFill>
                  <a:schemeClr val="tx1"/>
                </a:solidFill>
              </a:rPr>
              <a:t>(2) - Impulsar el crecimiento de la base de clientes y los ingresos</a:t>
            </a:r>
            <a:r>
              <a:rPr lang="es-MX" sz="900" dirty="0">
                <a:solidFill>
                  <a:schemeClr val="tx1"/>
                </a:solidFill>
              </a:rPr>
              <a:t>, mediante el diseño y ejecución de estrategias comerciales </a:t>
            </a:r>
            <a:r>
              <a:rPr lang="es-MX" sz="900" dirty="0" err="1">
                <a:solidFill>
                  <a:schemeClr val="tx1"/>
                </a:solidFill>
              </a:rPr>
              <a:t>end‑to‑end</a:t>
            </a:r>
            <a:r>
              <a:rPr lang="es-MX" sz="900" dirty="0">
                <a:solidFill>
                  <a:schemeClr val="tx1"/>
                </a:solidFill>
              </a:rPr>
              <a:t> que integren adquisición, </a:t>
            </a:r>
            <a:r>
              <a:rPr lang="es-MX" sz="900" dirty="0" err="1">
                <a:solidFill>
                  <a:schemeClr val="tx1"/>
                </a:solidFill>
              </a:rPr>
              <a:t>pricing</a:t>
            </a:r>
            <a:r>
              <a:rPr lang="es-MX" sz="900" dirty="0">
                <a:solidFill>
                  <a:schemeClr val="tx1"/>
                </a:solidFill>
              </a:rPr>
              <a:t>, promociones, incentivos, campañas, activaciones en tienda y expansión de dispositivos y servicios.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B8809B7-325C-3C87-685B-86A2CD8384BF}"/>
              </a:ext>
            </a:extLst>
          </p:cNvPr>
          <p:cNvSpPr txBox="1"/>
          <p:nvPr/>
        </p:nvSpPr>
        <p:spPr>
          <a:xfrm>
            <a:off x="-64532" y="4812693"/>
            <a:ext cx="24232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indent="-182563" fontAlgn="t">
              <a:buFont typeface="Arial" panose="020B0604020202020204" pitchFamily="34" charset="0"/>
              <a:buChar char="•"/>
            </a:pPr>
            <a:r>
              <a:rPr lang="es-MX" sz="900" b="1" dirty="0">
                <a:solidFill>
                  <a:schemeClr val="tx1"/>
                </a:solidFill>
              </a:rPr>
              <a:t>(3) - Liderar la evolución del portafolio de productos y servicios OXXO Cel</a:t>
            </a:r>
            <a:r>
              <a:rPr lang="es-MX" sz="900" dirty="0">
                <a:solidFill>
                  <a:schemeClr val="tx1"/>
                </a:solidFill>
              </a:rPr>
              <a:t>, incluyendo telefonía, </a:t>
            </a:r>
            <a:r>
              <a:rPr lang="es-MX" sz="900" dirty="0" err="1">
                <a:solidFill>
                  <a:schemeClr val="tx1"/>
                </a:solidFill>
              </a:rPr>
              <a:t>eSIM</a:t>
            </a:r>
            <a:r>
              <a:rPr lang="es-MX" sz="900" dirty="0">
                <a:solidFill>
                  <a:schemeClr val="tx1"/>
                </a:solidFill>
              </a:rPr>
              <a:t>, </a:t>
            </a:r>
            <a:r>
              <a:rPr lang="es-MX" sz="900" dirty="0" err="1">
                <a:solidFill>
                  <a:schemeClr val="tx1"/>
                </a:solidFill>
              </a:rPr>
              <a:t>bundles</a:t>
            </a:r>
            <a:r>
              <a:rPr lang="es-MX" sz="900" dirty="0">
                <a:solidFill>
                  <a:schemeClr val="tx1"/>
                </a:solidFill>
              </a:rPr>
              <a:t>, servicios digitales y nuevas propuestas, alineadas a las necesidades del cliente y a las tendencias del mercado.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F16FA3C-B491-8657-3315-1347E510262F}"/>
              </a:ext>
            </a:extLst>
          </p:cNvPr>
          <p:cNvSpPr txBox="1"/>
          <p:nvPr/>
        </p:nvSpPr>
        <p:spPr>
          <a:xfrm>
            <a:off x="2282952" y="4376942"/>
            <a:ext cx="2687037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indent="-182563" fontAlgn="t">
              <a:buFont typeface="Arial" panose="020B0604020202020204" pitchFamily="34" charset="0"/>
              <a:buChar char="•"/>
            </a:pPr>
            <a:r>
              <a:rPr lang="es-MX" sz="900" b="1" dirty="0">
                <a:solidFill>
                  <a:schemeClr val="tx1"/>
                </a:solidFill>
              </a:rPr>
              <a:t>(4) - Asegurar una experiencia de cliente consistente y diferenciada</a:t>
            </a:r>
            <a:r>
              <a:rPr lang="es-MX" sz="900" dirty="0">
                <a:solidFill>
                  <a:schemeClr val="tx1"/>
                </a:solidFill>
              </a:rPr>
              <a:t>, integrando estrategias de CX, comunicación, fidelización y retención que incrementen la permanencia, reduzcan </a:t>
            </a:r>
            <a:r>
              <a:rPr lang="es-MX" sz="900" dirty="0" err="1">
                <a:solidFill>
                  <a:schemeClr val="tx1"/>
                </a:solidFill>
              </a:rPr>
              <a:t>churn</a:t>
            </a:r>
            <a:r>
              <a:rPr lang="es-MX" sz="900" dirty="0">
                <a:solidFill>
                  <a:schemeClr val="tx1"/>
                </a:solidFill>
              </a:rPr>
              <a:t> y maximicen el valor del cliente.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D939851C-2F6E-E6FF-921A-F7BCD1D1CD1E}"/>
              </a:ext>
            </a:extLst>
          </p:cNvPr>
          <p:cNvSpPr txBox="1"/>
          <p:nvPr/>
        </p:nvSpPr>
        <p:spPr>
          <a:xfrm>
            <a:off x="4871148" y="3388047"/>
            <a:ext cx="24166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indent="-182563" fontAlgn="t">
              <a:buFont typeface="Arial" panose="020B0604020202020204" pitchFamily="34" charset="0"/>
              <a:buChar char="•"/>
            </a:pPr>
            <a:r>
              <a:rPr lang="es-MX" sz="900" b="1" dirty="0">
                <a:solidFill>
                  <a:schemeClr val="tx1"/>
                </a:solidFill>
              </a:rPr>
              <a:t>(5) - Garantizar la correcta operación integral del negocio</a:t>
            </a:r>
            <a:r>
              <a:rPr lang="es-MX" sz="900" dirty="0">
                <a:solidFill>
                  <a:schemeClr val="tx1"/>
                </a:solidFill>
              </a:rPr>
              <a:t>, asegurando la continuidad del servicio de líneas, chips, dispositivos y usuarios activos, así como la ejecución eficiente de procesos operativos en tienda y canales digitales.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40FE85D7-4272-DF29-9D90-5E5F0DEBA5BC}"/>
              </a:ext>
            </a:extLst>
          </p:cNvPr>
          <p:cNvSpPr txBox="1"/>
          <p:nvPr/>
        </p:nvSpPr>
        <p:spPr>
          <a:xfrm>
            <a:off x="4948093" y="4269956"/>
            <a:ext cx="2050474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indent="-182563" fontAlgn="t">
              <a:buFont typeface="Arial" panose="020B0604020202020204" pitchFamily="34" charset="0"/>
              <a:buChar char="•"/>
            </a:pPr>
            <a:r>
              <a:rPr lang="es-MX" sz="900" b="1" dirty="0">
                <a:solidFill>
                  <a:schemeClr val="tx1"/>
                </a:solidFill>
              </a:rPr>
              <a:t>(6) - Dirigir la operación y ejecución comercial en tienda</a:t>
            </a:r>
            <a:r>
              <a:rPr lang="es-MX" sz="900" dirty="0">
                <a:solidFill>
                  <a:schemeClr val="tx1"/>
                </a:solidFill>
              </a:rPr>
              <a:t>, asegurando capacitación, habilitación, </a:t>
            </a:r>
            <a:r>
              <a:rPr lang="es-MX" sz="900" dirty="0" err="1">
                <a:solidFill>
                  <a:schemeClr val="tx1"/>
                </a:solidFill>
              </a:rPr>
              <a:t>onboarding</a:t>
            </a:r>
            <a:r>
              <a:rPr lang="es-MX" sz="900" dirty="0">
                <a:solidFill>
                  <a:schemeClr val="tx1"/>
                </a:solidFill>
              </a:rPr>
              <a:t>, herramientas e incentivos que maximicen el desempeño del personal y la productividad del punto de venta.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BE6A6A4-6358-1B06-4ACF-F29B06C8581D}"/>
              </a:ext>
            </a:extLst>
          </p:cNvPr>
          <p:cNvSpPr txBox="1"/>
          <p:nvPr/>
        </p:nvSpPr>
        <p:spPr>
          <a:xfrm>
            <a:off x="4927117" y="5356397"/>
            <a:ext cx="23606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indent="-182563" fontAlgn="t">
              <a:buFont typeface="Arial" panose="020B0604020202020204" pitchFamily="34" charset="0"/>
              <a:buChar char="•"/>
            </a:pPr>
            <a:r>
              <a:rPr lang="es-MX" sz="900" b="1" dirty="0">
                <a:solidFill>
                  <a:schemeClr val="tx1"/>
                </a:solidFill>
              </a:rPr>
              <a:t>(7) - Asegurar la operación tecnológica de OXXO Cel</a:t>
            </a:r>
            <a:r>
              <a:rPr lang="es-MX" sz="900" dirty="0">
                <a:solidFill>
                  <a:schemeClr val="tx1"/>
                </a:solidFill>
              </a:rPr>
              <a:t>, incluyendo plataformas, soporte, procesos digitales, </a:t>
            </a:r>
            <a:r>
              <a:rPr lang="es-MX" sz="900" dirty="0" err="1">
                <a:solidFill>
                  <a:schemeClr val="tx1"/>
                </a:solidFill>
              </a:rPr>
              <a:t>call</a:t>
            </a:r>
            <a:r>
              <a:rPr lang="es-MX" sz="900" dirty="0">
                <a:solidFill>
                  <a:schemeClr val="tx1"/>
                </a:solidFill>
              </a:rPr>
              <a:t> center, medios de pago e infraestructura, impulsando la mejora continua y la eficiencia operativa.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AC3EDD5A-A090-7E03-9E40-80C40B52B1CD}"/>
              </a:ext>
            </a:extLst>
          </p:cNvPr>
          <p:cNvSpPr txBox="1"/>
          <p:nvPr/>
        </p:nvSpPr>
        <p:spPr>
          <a:xfrm>
            <a:off x="10068687" y="3445427"/>
            <a:ext cx="20349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indent="-182563" fontAlgn="t">
              <a:buFont typeface="Arial" panose="020B0604020202020204" pitchFamily="34" charset="0"/>
              <a:buChar char="•"/>
            </a:pPr>
            <a:r>
              <a:rPr lang="es-MX" sz="900" b="1" dirty="0">
                <a:solidFill>
                  <a:schemeClr val="tx1"/>
                </a:solidFill>
              </a:rPr>
              <a:t>(9) - Impulsar un modelo de gestión y toma de decisiones basado en datos</a:t>
            </a:r>
            <a:r>
              <a:rPr lang="es-MX" sz="900" dirty="0">
                <a:solidFill>
                  <a:schemeClr val="tx1"/>
                </a:solidFill>
              </a:rPr>
              <a:t>, asegurando el uso efectivo de analítica, </a:t>
            </a:r>
            <a:r>
              <a:rPr lang="es-MX" sz="900" dirty="0" err="1">
                <a:solidFill>
                  <a:schemeClr val="tx1"/>
                </a:solidFill>
              </a:rPr>
              <a:t>KPIs</a:t>
            </a:r>
            <a:r>
              <a:rPr lang="es-MX" sz="900" dirty="0">
                <a:solidFill>
                  <a:schemeClr val="tx1"/>
                </a:solidFill>
              </a:rPr>
              <a:t> y </a:t>
            </a:r>
            <a:r>
              <a:rPr lang="es-MX" sz="900" dirty="0" err="1">
                <a:solidFill>
                  <a:schemeClr val="tx1"/>
                </a:solidFill>
              </a:rPr>
              <a:t>dashboards</a:t>
            </a:r>
            <a:r>
              <a:rPr lang="es-MX" sz="900" dirty="0">
                <a:solidFill>
                  <a:schemeClr val="tx1"/>
                </a:solidFill>
              </a:rPr>
              <a:t> para optimizar desempeño comercial, operativo, financiero y de experiencia del cliente.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A31FCBF2-F219-539C-8E78-BC3676408953}"/>
              </a:ext>
            </a:extLst>
          </p:cNvPr>
          <p:cNvSpPr txBox="1"/>
          <p:nvPr/>
        </p:nvSpPr>
        <p:spPr>
          <a:xfrm>
            <a:off x="105175" y="6318241"/>
            <a:ext cx="117363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s-MX" sz="900" b="1" dirty="0"/>
              <a:t>TRANSVERSAL:</a:t>
            </a:r>
            <a:endParaRPr lang="es-MX" sz="900" b="1" dirty="0">
              <a:solidFill>
                <a:schemeClr val="tx1"/>
              </a:solidFill>
            </a:endParaRPr>
          </a:p>
          <a:p>
            <a:pPr marL="182563" indent="-182563" fontAlgn="t">
              <a:buFont typeface="Arial" panose="020B0604020202020204" pitchFamily="34" charset="0"/>
              <a:buChar char="•"/>
            </a:pPr>
            <a:r>
              <a:rPr lang="es-MX" sz="900" b="1" dirty="0">
                <a:solidFill>
                  <a:schemeClr val="tx1"/>
                </a:solidFill>
              </a:rPr>
              <a:t>(10) - Coordinar y alinear equipos multidisciplinarios y </a:t>
            </a:r>
            <a:r>
              <a:rPr lang="es-MX" sz="900" b="1" dirty="0" err="1">
                <a:solidFill>
                  <a:schemeClr val="tx1"/>
                </a:solidFill>
              </a:rPr>
              <a:t>stakeholders</a:t>
            </a:r>
            <a:r>
              <a:rPr lang="es-MX" sz="900" b="1" dirty="0">
                <a:solidFill>
                  <a:schemeClr val="tx1"/>
                </a:solidFill>
              </a:rPr>
              <a:t> internos</a:t>
            </a:r>
            <a:r>
              <a:rPr lang="es-MX" sz="900" dirty="0">
                <a:solidFill>
                  <a:schemeClr val="tx1"/>
                </a:solidFill>
              </a:rPr>
              <a:t>, asegurando claridad de objetivos, ejecución integrada, cumplimiento de indicadores clave y representación efectiva del negocio en foros estratégicos.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B35F134-3D7C-55A2-F1D8-7035357720C9}"/>
              </a:ext>
            </a:extLst>
          </p:cNvPr>
          <p:cNvSpPr/>
          <p:nvPr/>
        </p:nvSpPr>
        <p:spPr>
          <a:xfrm>
            <a:off x="5709486" y="3495707"/>
            <a:ext cx="1413027" cy="10283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dirty="0"/>
              <a:t>Relación proveedores, abasto, ejecución en tienda (</a:t>
            </a:r>
            <a:r>
              <a:rPr lang="es-MX" sz="1100" dirty="0" err="1"/>
              <a:t>category</a:t>
            </a:r>
            <a:r>
              <a:rPr lang="es-MX" sz="11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56374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B80DD89-91A3-35BF-46F8-436A28D7C493}"/>
              </a:ext>
            </a:extLst>
          </p:cNvPr>
          <p:cNvSpPr txBox="1"/>
          <p:nvPr/>
        </p:nvSpPr>
        <p:spPr>
          <a:xfrm>
            <a:off x="172499" y="1179344"/>
            <a:ext cx="9048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Objetivo:</a:t>
            </a:r>
          </a:p>
          <a:p>
            <a:r>
              <a:rPr lang="es-ES" sz="1400" i="1" dirty="0"/>
              <a:t>Entender los procesos </a:t>
            </a:r>
            <a:r>
              <a:rPr lang="es-ES" sz="1400" i="1" dirty="0" err="1"/>
              <a:t>core</a:t>
            </a:r>
            <a:r>
              <a:rPr lang="es-ES" sz="1400" i="1" dirty="0"/>
              <a:t> y que pudieron haber tenido alguna modificación  </a:t>
            </a:r>
            <a:endParaRPr lang="es-MX" sz="1400" i="1" dirty="0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35769B02-838B-10EC-DB8D-8A4ED180C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499" y="141131"/>
            <a:ext cx="7896000" cy="777875"/>
          </a:xfrm>
        </p:spPr>
        <p:txBody>
          <a:bodyPr/>
          <a:lstStyle/>
          <a:p>
            <a:r>
              <a:rPr lang="es-ES" dirty="0"/>
              <a:t>Interacciones entre áreas y procesos clave</a:t>
            </a:r>
            <a:br>
              <a:rPr lang="es-ES" dirty="0"/>
            </a:br>
            <a:r>
              <a:rPr lang="es-ES" b="0" dirty="0"/>
              <a:t>Estrategia y Transformación – OXXO Cel</a:t>
            </a:r>
            <a:endParaRPr lang="es-MX" b="0" dirty="0"/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76B4E10F-C551-0C56-EA0C-EBB9F8115B10}"/>
              </a:ext>
            </a:extLst>
          </p:cNvPr>
          <p:cNvSpPr/>
          <p:nvPr/>
        </p:nvSpPr>
        <p:spPr>
          <a:xfrm>
            <a:off x="10267615" y="2122814"/>
            <a:ext cx="1148705" cy="453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algn="ctr"/>
            <a:r>
              <a:rPr lang="es-MX" sz="1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Entregables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DFA23498-B8FF-3E9E-261E-E9A99B9530E1}"/>
              </a:ext>
            </a:extLst>
          </p:cNvPr>
          <p:cNvSpPr/>
          <p:nvPr/>
        </p:nvSpPr>
        <p:spPr>
          <a:xfrm>
            <a:off x="612891" y="2122063"/>
            <a:ext cx="199926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Proceso/Actividad</a:t>
            </a:r>
            <a:endParaRPr kumimoji="0" lang="es-MX" sz="1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9C39A803-E9D0-AE97-C40E-B0BB62CEBBCF}"/>
              </a:ext>
            </a:extLst>
          </p:cNvPr>
          <p:cNvSpPr/>
          <p:nvPr/>
        </p:nvSpPr>
        <p:spPr>
          <a:xfrm>
            <a:off x="603365" y="2972481"/>
            <a:ext cx="1980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1.-</a:t>
            </a:r>
            <a:endParaRPr kumimoji="0" lang="es-MX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E1FE4831-9D8F-BE77-6CC0-72B0BC9C2214}"/>
              </a:ext>
            </a:extLst>
          </p:cNvPr>
          <p:cNvSpPr txBox="1"/>
          <p:nvPr/>
        </p:nvSpPr>
        <p:spPr>
          <a:xfrm>
            <a:off x="665103" y="2722287"/>
            <a:ext cx="207118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i="1" dirty="0"/>
              <a:t>Enlistar por prioridad e impacto</a:t>
            </a:r>
            <a:endParaRPr lang="es-MX" sz="800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21345EEA-FE5F-8CFE-4E7B-6895E5872A9C}"/>
              </a:ext>
            </a:extLst>
          </p:cNvPr>
          <p:cNvSpPr txBox="1"/>
          <p:nvPr/>
        </p:nvSpPr>
        <p:spPr>
          <a:xfrm>
            <a:off x="2654496" y="2722287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i="1" dirty="0"/>
              <a:t>Identificar (</a:t>
            </a:r>
            <a:r>
              <a:rPr lang="es-ES" sz="800" i="1" dirty="0" err="1"/>
              <a:t>Accountable</a:t>
            </a:r>
            <a:r>
              <a:rPr lang="es-ES" sz="800" i="1" dirty="0"/>
              <a:t>) y áreas impactadas</a:t>
            </a:r>
            <a:endParaRPr lang="es-MX" sz="800" dirty="0"/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FB3CB5BB-6E04-846F-FBBD-8CB6B62B48DC}"/>
              </a:ext>
            </a:extLst>
          </p:cNvPr>
          <p:cNvSpPr/>
          <p:nvPr/>
        </p:nvSpPr>
        <p:spPr>
          <a:xfrm>
            <a:off x="2590205" y="2972129"/>
            <a:ext cx="8826115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013C3E41-8533-A376-95B8-154ACECD76F9}"/>
              </a:ext>
            </a:extLst>
          </p:cNvPr>
          <p:cNvSpPr txBox="1"/>
          <p:nvPr/>
        </p:nvSpPr>
        <p:spPr>
          <a:xfrm>
            <a:off x="3079443" y="3067265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73C07C05-BCF8-B968-F9E9-B81F2BF448F6}"/>
              </a:ext>
            </a:extLst>
          </p:cNvPr>
          <p:cNvSpPr/>
          <p:nvPr/>
        </p:nvSpPr>
        <p:spPr>
          <a:xfrm>
            <a:off x="603365" y="3504384"/>
            <a:ext cx="1980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0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8A80BF0C-3322-5528-84E9-60773F3CDC2B}"/>
              </a:ext>
            </a:extLst>
          </p:cNvPr>
          <p:cNvSpPr/>
          <p:nvPr/>
        </p:nvSpPr>
        <p:spPr>
          <a:xfrm>
            <a:off x="2590205" y="3504032"/>
            <a:ext cx="8826115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FD8C14BA-4A46-CBDD-C6A5-222F54DCB334}"/>
              </a:ext>
            </a:extLst>
          </p:cNvPr>
          <p:cNvSpPr txBox="1"/>
          <p:nvPr/>
        </p:nvSpPr>
        <p:spPr>
          <a:xfrm>
            <a:off x="3079443" y="3599168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Rectángulo 66">
            <a:extLst>
              <a:ext uri="{FF2B5EF4-FFF2-40B4-BE49-F238E27FC236}">
                <a16:creationId xmlns:a16="http://schemas.microsoft.com/office/drawing/2014/main" id="{531F763A-86B3-AD2A-94E9-E9EE7C55B0F5}"/>
              </a:ext>
            </a:extLst>
          </p:cNvPr>
          <p:cNvSpPr/>
          <p:nvPr/>
        </p:nvSpPr>
        <p:spPr>
          <a:xfrm>
            <a:off x="603365" y="4035935"/>
            <a:ext cx="1980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0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Rectángulo 67">
            <a:extLst>
              <a:ext uri="{FF2B5EF4-FFF2-40B4-BE49-F238E27FC236}">
                <a16:creationId xmlns:a16="http://schemas.microsoft.com/office/drawing/2014/main" id="{5DD6C0FD-F1C7-E78F-B3C0-E7DF989CAD1A}"/>
              </a:ext>
            </a:extLst>
          </p:cNvPr>
          <p:cNvSpPr/>
          <p:nvPr/>
        </p:nvSpPr>
        <p:spPr>
          <a:xfrm>
            <a:off x="2590205" y="4035583"/>
            <a:ext cx="8826115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E1B1A847-EA35-9D0C-8206-010EE4D63B47}"/>
              </a:ext>
            </a:extLst>
          </p:cNvPr>
          <p:cNvSpPr txBox="1"/>
          <p:nvPr/>
        </p:nvSpPr>
        <p:spPr>
          <a:xfrm>
            <a:off x="3079443" y="4130719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AD4C895D-B746-275C-09BB-27F322E2835A}"/>
              </a:ext>
            </a:extLst>
          </p:cNvPr>
          <p:cNvSpPr/>
          <p:nvPr/>
        </p:nvSpPr>
        <p:spPr>
          <a:xfrm>
            <a:off x="603365" y="4584671"/>
            <a:ext cx="1980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0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2DB2D4E6-953F-0472-E08E-0343B1EFD171}"/>
              </a:ext>
            </a:extLst>
          </p:cNvPr>
          <p:cNvSpPr/>
          <p:nvPr/>
        </p:nvSpPr>
        <p:spPr>
          <a:xfrm>
            <a:off x="2590205" y="4584319"/>
            <a:ext cx="8826115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5B4FDDA6-4FBE-7090-8C12-D2D765B5B191}"/>
              </a:ext>
            </a:extLst>
          </p:cNvPr>
          <p:cNvSpPr txBox="1"/>
          <p:nvPr/>
        </p:nvSpPr>
        <p:spPr>
          <a:xfrm>
            <a:off x="3079443" y="4679455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BE28F30B-A771-32DF-29C1-3158D124F8B5}"/>
              </a:ext>
            </a:extLst>
          </p:cNvPr>
          <p:cNvSpPr/>
          <p:nvPr/>
        </p:nvSpPr>
        <p:spPr>
          <a:xfrm>
            <a:off x="603365" y="5151904"/>
            <a:ext cx="1980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0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0E4F1F5C-4815-C42D-4A51-1460F838CEC5}"/>
              </a:ext>
            </a:extLst>
          </p:cNvPr>
          <p:cNvSpPr/>
          <p:nvPr/>
        </p:nvSpPr>
        <p:spPr>
          <a:xfrm>
            <a:off x="2590205" y="5151552"/>
            <a:ext cx="8826115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44E95411-248D-7909-92EC-4A8FCAAE692D}"/>
              </a:ext>
            </a:extLst>
          </p:cNvPr>
          <p:cNvSpPr txBox="1"/>
          <p:nvPr/>
        </p:nvSpPr>
        <p:spPr>
          <a:xfrm>
            <a:off x="3079443" y="5246688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4402E3D7-DDAA-EC27-11C0-19F04A1739F3}"/>
              </a:ext>
            </a:extLst>
          </p:cNvPr>
          <p:cNvCxnSpPr>
            <a:cxnSpLocks/>
          </p:cNvCxnSpPr>
          <p:nvPr/>
        </p:nvCxnSpPr>
        <p:spPr>
          <a:xfrm>
            <a:off x="9096042" y="2969067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26556BDD-D6EE-CB29-8EBE-F10B90AD91DC}"/>
              </a:ext>
            </a:extLst>
          </p:cNvPr>
          <p:cNvSpPr/>
          <p:nvPr/>
        </p:nvSpPr>
        <p:spPr>
          <a:xfrm>
            <a:off x="6482894" y="2122063"/>
            <a:ext cx="1296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Analista Operación Teléfonos y Chips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Leonardo Hernández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C81B558-E5CB-5883-53C6-64D6AE0ECAB1}"/>
              </a:ext>
            </a:extLst>
          </p:cNvPr>
          <p:cNvSpPr/>
          <p:nvPr/>
        </p:nvSpPr>
        <p:spPr>
          <a:xfrm>
            <a:off x="7768733" y="2122063"/>
            <a:ext cx="1296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Coordinador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Product</a:t>
            </a: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Owner</a:t>
            </a: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CX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Verónica González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DF529FD-B6C4-4983-2BBD-7082564AB2A8}"/>
              </a:ext>
            </a:extLst>
          </p:cNvPr>
          <p:cNvSpPr/>
          <p:nvPr/>
        </p:nvSpPr>
        <p:spPr>
          <a:xfrm>
            <a:off x="5185680" y="2122063"/>
            <a:ext cx="1296000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Coordinador Comercial Fidelización Clientes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Antonio Salazar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49EA707-9460-C8EC-3ECD-C3DC35E7B74E}"/>
              </a:ext>
            </a:extLst>
          </p:cNvPr>
          <p:cNvSpPr/>
          <p:nvPr/>
        </p:nvSpPr>
        <p:spPr>
          <a:xfrm>
            <a:off x="8971615" y="2122063"/>
            <a:ext cx="1296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Analista Datos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Kleist Jimenez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89D09B8-BE7A-4A45-EB27-1DE318E563FB}"/>
              </a:ext>
            </a:extLst>
          </p:cNvPr>
          <p:cNvSpPr/>
          <p:nvPr/>
        </p:nvSpPr>
        <p:spPr>
          <a:xfrm>
            <a:off x="3888468" y="2122063"/>
            <a:ext cx="1296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Adquisición Cliente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Daniel Pardo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0EDDB1D-E6AF-D645-DD81-290902B1A103}"/>
              </a:ext>
            </a:extLst>
          </p:cNvPr>
          <p:cNvSpPr/>
          <p:nvPr/>
        </p:nvSpPr>
        <p:spPr>
          <a:xfrm>
            <a:off x="2606426" y="2122063"/>
            <a:ext cx="1296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OXXO Cel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Marco Rodriguez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60651784-56FD-8241-617B-6E76C22FB8D1}"/>
              </a:ext>
            </a:extLst>
          </p:cNvPr>
          <p:cNvCxnSpPr>
            <a:cxnSpLocks/>
          </p:cNvCxnSpPr>
          <p:nvPr/>
        </p:nvCxnSpPr>
        <p:spPr>
          <a:xfrm>
            <a:off x="10251787" y="2969067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524925C4-602D-AB3B-B22D-780F9C87937E}"/>
              </a:ext>
            </a:extLst>
          </p:cNvPr>
          <p:cNvCxnSpPr>
            <a:cxnSpLocks/>
          </p:cNvCxnSpPr>
          <p:nvPr/>
        </p:nvCxnSpPr>
        <p:spPr>
          <a:xfrm>
            <a:off x="7778894" y="2969067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8654B92E-C880-E9EC-A05B-E8FCF772E3E0}"/>
              </a:ext>
            </a:extLst>
          </p:cNvPr>
          <p:cNvCxnSpPr>
            <a:cxnSpLocks/>
          </p:cNvCxnSpPr>
          <p:nvPr/>
        </p:nvCxnSpPr>
        <p:spPr>
          <a:xfrm>
            <a:off x="6481680" y="2969067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AC041544-EA10-DD8E-B078-2C08451FBC39}"/>
              </a:ext>
            </a:extLst>
          </p:cNvPr>
          <p:cNvCxnSpPr>
            <a:cxnSpLocks/>
          </p:cNvCxnSpPr>
          <p:nvPr/>
        </p:nvCxnSpPr>
        <p:spPr>
          <a:xfrm>
            <a:off x="5184468" y="2969067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16053B95-128C-5E84-ACBC-72BA970F273E}"/>
              </a:ext>
            </a:extLst>
          </p:cNvPr>
          <p:cNvCxnSpPr>
            <a:cxnSpLocks/>
          </p:cNvCxnSpPr>
          <p:nvPr/>
        </p:nvCxnSpPr>
        <p:spPr>
          <a:xfrm>
            <a:off x="3775980" y="2969067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40010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FA7823-5928-7F89-B21B-AE20319DF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Preguntas de reflexión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DB22CF-2172-110F-3136-96E309847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fontAlgn="t">
              <a:buFont typeface="+mj-lt"/>
              <a:buAutoNum type="arabicPeriod"/>
            </a:pPr>
            <a:r>
              <a:rPr lang="es-MX" sz="1800" i="1" dirty="0"/>
              <a:t>¿Tu Descripción de Puesto y el funciograma de tu área reflejan con precisión las actividades y responsabilidades que realmente realizas en el día a día (TO BE)?</a:t>
            </a:r>
          </a:p>
          <a:p>
            <a:pPr marL="457200" indent="-457200" fontAlgn="t">
              <a:buFont typeface="+mj-lt"/>
              <a:buAutoNum type="arabicPeriod"/>
            </a:pPr>
            <a:endParaRPr lang="es-MX" sz="1800" i="1" dirty="0"/>
          </a:p>
          <a:p>
            <a:pPr marL="457200" indent="-457200" fontAlgn="t">
              <a:buFont typeface="+mj-lt"/>
              <a:buAutoNum type="arabicPeriod"/>
            </a:pPr>
            <a:r>
              <a:rPr lang="es-MX" sz="1800" i="1" dirty="0"/>
              <a:t>¿Tienes alguna duda específica sobre el funcionamiento de tu área o sobre la estructura de la organización?</a:t>
            </a:r>
          </a:p>
          <a:p>
            <a:pPr marL="457200" indent="-457200" fontAlgn="t">
              <a:buFont typeface="+mj-lt"/>
              <a:buAutoNum type="arabicPeriod"/>
            </a:pPr>
            <a:endParaRPr lang="es-MX" sz="1800" i="1" dirty="0"/>
          </a:p>
          <a:p>
            <a:pPr marL="457200" indent="-457200" fontAlgn="t">
              <a:buFont typeface="+mj-lt"/>
              <a:buAutoNum type="arabicPeriod"/>
            </a:pPr>
            <a:r>
              <a:rPr lang="es-MX" sz="1800" i="1" dirty="0"/>
              <a:t>¿Existe algún proceso que consideres necesario rediseñar para mejorar las interacciones, la eficiencia o el funcionamiento general de tu área?</a:t>
            </a:r>
          </a:p>
          <a:p>
            <a:pPr marL="0" indent="0" fontAlgn="t">
              <a:buNone/>
            </a:pPr>
            <a:endParaRPr lang="es-MX" sz="1800" i="1" dirty="0"/>
          </a:p>
          <a:p>
            <a:pPr marL="457200" indent="-457200" fontAlgn="t">
              <a:buFont typeface="+mj-lt"/>
              <a:buAutoNum type="arabicPeriod" startAt="4"/>
            </a:pPr>
            <a:r>
              <a:rPr lang="es-MX" sz="1800" i="1" dirty="0"/>
              <a:t>Si recientemente asumiste nuevas responsabilidades, ¿ya se realizó de manera efectiva la transferencia de actividades dentro de tu equipo?</a:t>
            </a:r>
          </a:p>
          <a:p>
            <a:pPr marL="457200" indent="-457200" fontAlgn="t">
              <a:buFont typeface="+mj-lt"/>
              <a:buAutoNum type="arabicPeriod" startAt="4"/>
            </a:pPr>
            <a:endParaRPr lang="es-MX" sz="1800" i="1" dirty="0"/>
          </a:p>
          <a:p>
            <a:pPr marL="457200" indent="-457200" fontAlgn="t">
              <a:buFont typeface="+mj-lt"/>
              <a:buAutoNum type="arabicPeriod" startAt="4"/>
            </a:pPr>
            <a:r>
              <a:rPr lang="es-MX" sz="1800" i="1" dirty="0"/>
              <a:t>¿Qué rituales, prácticas o espacios de trabajo consideras esenciales para asegurar un funcionamiento adecuado y sostenido en tu área?</a:t>
            </a:r>
          </a:p>
          <a:p>
            <a:pPr marL="457200" indent="-457200" fontAlgn="t">
              <a:buFont typeface="+mj-lt"/>
              <a:buAutoNum type="arabicPeriod" startAt="4"/>
            </a:pPr>
            <a:endParaRPr lang="es-MX" sz="1800" i="1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93FCBE-2554-B3CE-F23D-2B24D0D03E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7059DBC-E59A-064C-BA88-35FC96E8C5B3}" type="slidenum">
              <a:rPr lang="es-MX" smtClean="0"/>
              <a:pPr>
                <a:defRPr/>
              </a:pPr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659982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FC5A0-8C93-71AE-D9CA-34CB5E5D2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ítulo 20">
            <a:extLst>
              <a:ext uri="{FF2B5EF4-FFF2-40B4-BE49-F238E27FC236}">
                <a16:creationId xmlns:a16="http://schemas.microsoft.com/office/drawing/2014/main" id="{288AD74F-DDB8-B9D1-C24D-B54B44D5A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Siguientes pasos</a:t>
            </a:r>
            <a:endParaRPr lang="es-MX"/>
          </a:p>
        </p:txBody>
      </p:sp>
      <p:graphicFrame>
        <p:nvGraphicFramePr>
          <p:cNvPr id="29" name="btfpTable784278">
            <a:extLst>
              <a:ext uri="{FF2B5EF4-FFF2-40B4-BE49-F238E27FC236}">
                <a16:creationId xmlns:a16="http://schemas.microsoft.com/office/drawing/2014/main" id="{88095F32-24CC-5EC5-389D-AC8DF1CFFE06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67155" y="1103442"/>
          <a:ext cx="8847992" cy="5198958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395373">
                  <a:extLst>
                    <a:ext uri="{9D8B030D-6E8A-4147-A177-3AD203B41FA5}">
                      <a16:colId xmlns:a16="http://schemas.microsoft.com/office/drawing/2014/main" val="3314553648"/>
                    </a:ext>
                  </a:extLst>
                </a:gridCol>
                <a:gridCol w="388860">
                  <a:extLst>
                    <a:ext uri="{9D8B030D-6E8A-4147-A177-3AD203B41FA5}">
                      <a16:colId xmlns:a16="http://schemas.microsoft.com/office/drawing/2014/main" val="71576085"/>
                    </a:ext>
                  </a:extLst>
                </a:gridCol>
                <a:gridCol w="388860">
                  <a:extLst>
                    <a:ext uri="{9D8B030D-6E8A-4147-A177-3AD203B41FA5}">
                      <a16:colId xmlns:a16="http://schemas.microsoft.com/office/drawing/2014/main" val="2575597997"/>
                    </a:ext>
                  </a:extLst>
                </a:gridCol>
                <a:gridCol w="456018">
                  <a:extLst>
                    <a:ext uri="{9D8B030D-6E8A-4147-A177-3AD203B41FA5}">
                      <a16:colId xmlns:a16="http://schemas.microsoft.com/office/drawing/2014/main" val="3663393661"/>
                    </a:ext>
                  </a:extLst>
                </a:gridCol>
                <a:gridCol w="415208">
                  <a:extLst>
                    <a:ext uri="{9D8B030D-6E8A-4147-A177-3AD203B41FA5}">
                      <a16:colId xmlns:a16="http://schemas.microsoft.com/office/drawing/2014/main" val="3432567884"/>
                    </a:ext>
                  </a:extLst>
                </a:gridCol>
                <a:gridCol w="462825">
                  <a:extLst>
                    <a:ext uri="{9D8B030D-6E8A-4147-A177-3AD203B41FA5}">
                      <a16:colId xmlns:a16="http://schemas.microsoft.com/office/drawing/2014/main" val="323791882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878108686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855642880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40498895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87237236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18291515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58384672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948502103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88943007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11931494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0011866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42560274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192564800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75077015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737538312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528252452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726501097"/>
                    </a:ext>
                  </a:extLst>
                </a:gridCol>
              </a:tblGrid>
              <a:tr h="200342">
                <a:tc gridSpan="3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Noviembre</a:t>
                      </a:r>
                      <a:endParaRPr lang="en-US"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Noviembre</a:t>
                      </a: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Diciembre</a:t>
                      </a:r>
                      <a:endParaRPr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10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FFFFFF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Enero</a:t>
                      </a:r>
                      <a:endParaRPr lang="en-US"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MX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Febrero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ES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Marzo</a:t>
                      </a: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ES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Abril</a:t>
                      </a: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70477"/>
                  </a:ext>
                </a:extLst>
              </a:tr>
              <a:tr h="209047">
                <a:tc>
                  <a:txBody>
                    <a:bodyPr/>
                    <a:lstStyle/>
                    <a:p>
                      <a:pPr marL="0" indent="0" algn="l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10-14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17-21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24-28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01-05</a:t>
                      </a:r>
                      <a:endParaRPr lang="en-US" sz="800" b="1" baseline="3000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08-12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week freeze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05-09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12-16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19-23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26-30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02-06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09-13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16-20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23-27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02-06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09-13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16-20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23-27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30-03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06-10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13-17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20-24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730660"/>
                  </a:ext>
                </a:extLst>
              </a:tr>
              <a:tr h="937025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812956"/>
                  </a:ext>
                </a:extLst>
              </a:tr>
              <a:tr h="234000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1250760"/>
                  </a:ext>
                </a:extLst>
              </a:tr>
              <a:tr h="94615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491739"/>
                  </a:ext>
                </a:extLst>
              </a:tr>
              <a:tr h="518583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7338163"/>
                  </a:ext>
                </a:extLst>
              </a:tr>
            </a:tbl>
          </a:graphicData>
        </a:graphic>
      </p:graphicFrame>
      <p:sp>
        <p:nvSpPr>
          <p:cNvPr id="30" name="Rectangle 16">
            <a:extLst>
              <a:ext uri="{FF2B5EF4-FFF2-40B4-BE49-F238E27FC236}">
                <a16:creationId xmlns:a16="http://schemas.microsoft.com/office/drawing/2014/main" id="{C3796059-AE52-6FD0-6DB7-B6D15200CF56}"/>
              </a:ext>
            </a:extLst>
          </p:cNvPr>
          <p:cNvSpPr/>
          <p:nvPr/>
        </p:nvSpPr>
        <p:spPr bwMode="auto">
          <a:xfrm rot="16200000">
            <a:off x="-158365" y="1846635"/>
            <a:ext cx="904387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</a:t>
            </a:r>
          </a:p>
        </p:txBody>
      </p:sp>
      <p:graphicFrame>
        <p:nvGraphicFramePr>
          <p:cNvPr id="31" name="Tabla 30">
            <a:extLst>
              <a:ext uri="{FF2B5EF4-FFF2-40B4-BE49-F238E27FC236}">
                <a16:creationId xmlns:a16="http://schemas.microsoft.com/office/drawing/2014/main" id="{90F263E7-2160-1CDA-E6D5-0BD0E44AB4A1}"/>
              </a:ext>
            </a:extLst>
          </p:cNvPr>
          <p:cNvGraphicFramePr>
            <a:graphicFrameLocks noGrp="1"/>
          </p:cNvGraphicFramePr>
          <p:nvPr/>
        </p:nvGraphicFramePr>
        <p:xfrm>
          <a:off x="486057" y="1586671"/>
          <a:ext cx="2289564" cy="904388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Documentación áreas, propósitos y responsabilidades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Descripciones de Puesto L1 y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178669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Descripciones de Puesto resto de organización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347413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Matriz RASCI (Metodología y ejercicio central)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5119"/>
                  </a:ext>
                </a:extLst>
              </a:tr>
            </a:tbl>
          </a:graphicData>
        </a:graphic>
      </p:graphicFrame>
      <p:sp>
        <p:nvSpPr>
          <p:cNvPr id="32" name="btfpNumberBubble424218">
            <a:extLst>
              <a:ext uri="{FF2B5EF4-FFF2-40B4-BE49-F238E27FC236}">
                <a16:creationId xmlns:a16="http://schemas.microsoft.com/office/drawing/2014/main" id="{E9B8D3A3-5BC1-58B6-8B1A-D9AB1E58836A}"/>
              </a:ext>
            </a:extLst>
          </p:cNvPr>
          <p:cNvSpPr/>
          <p:nvPr/>
        </p:nvSpPr>
        <p:spPr bwMode="auto">
          <a:xfrm>
            <a:off x="-1" y="1461321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1E7B6694-4C95-FC46-FB27-AFE9B9F68295}"/>
              </a:ext>
            </a:extLst>
          </p:cNvPr>
          <p:cNvSpPr/>
          <p:nvPr/>
        </p:nvSpPr>
        <p:spPr bwMode="auto">
          <a:xfrm>
            <a:off x="2767155" y="1624965"/>
            <a:ext cx="36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305979C7-35F2-5A41-8FE7-9DD9119D766E}"/>
              </a:ext>
            </a:extLst>
          </p:cNvPr>
          <p:cNvSpPr/>
          <p:nvPr/>
        </p:nvSpPr>
        <p:spPr bwMode="auto">
          <a:xfrm>
            <a:off x="3188434" y="1799064"/>
            <a:ext cx="36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8D0B9FA0-6340-5673-1521-40F4E6F01E03}"/>
              </a:ext>
            </a:extLst>
          </p:cNvPr>
          <p:cNvSpPr/>
          <p:nvPr/>
        </p:nvSpPr>
        <p:spPr bwMode="auto">
          <a:xfrm>
            <a:off x="3548434" y="1998315"/>
            <a:ext cx="8064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AB0709B9-BEEB-33D4-FD48-27EF0E5D8B67}"/>
              </a:ext>
            </a:extLst>
          </p:cNvPr>
          <p:cNvSpPr/>
          <p:nvPr/>
        </p:nvSpPr>
        <p:spPr bwMode="auto">
          <a:xfrm>
            <a:off x="3548434" y="2261026"/>
            <a:ext cx="8064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8" name="Rectangle 16">
            <a:extLst>
              <a:ext uri="{FF2B5EF4-FFF2-40B4-BE49-F238E27FC236}">
                <a16:creationId xmlns:a16="http://schemas.microsoft.com/office/drawing/2014/main" id="{FB8AF006-828F-0FB1-05B7-40E54C010BE1}"/>
              </a:ext>
            </a:extLst>
          </p:cNvPr>
          <p:cNvSpPr/>
          <p:nvPr/>
        </p:nvSpPr>
        <p:spPr bwMode="auto">
          <a:xfrm rot="16200000">
            <a:off x="-847834" y="3498448"/>
            <a:ext cx="2260971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Procesos clave por Función</a:t>
            </a:r>
          </a:p>
        </p:txBody>
      </p:sp>
      <p:graphicFrame>
        <p:nvGraphicFramePr>
          <p:cNvPr id="39" name="Tabla 38">
            <a:extLst>
              <a:ext uri="{FF2B5EF4-FFF2-40B4-BE49-F238E27FC236}">
                <a16:creationId xmlns:a16="http://schemas.microsoft.com/office/drawing/2014/main" id="{82735247-C62D-F486-7690-C46D888080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699302"/>
              </p:ext>
            </p:extLst>
          </p:nvPr>
        </p:nvGraphicFramePr>
        <p:xfrm>
          <a:off x="474878" y="2560194"/>
          <a:ext cx="2289564" cy="2234484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800" b="0"/>
                        <a:t>Diagnóstico HRBP – Post FFP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84792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Diagnóstico Change Management - L1 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522796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Diagnóstico Change Management –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681120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Estrategia CM por plataforma y transversal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62334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Diálogos 1:1 L2 – Racional y alcance FFP 2026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Validación de DP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347413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Revisión de principales contribuciones por c/área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5119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Mapeo de procesos clave e interacciones críticas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8480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Workshop +2 áreas para detallar interacciones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728803"/>
                  </a:ext>
                </a:extLst>
              </a:tr>
            </a:tbl>
          </a:graphicData>
        </a:graphic>
      </p:graphicFrame>
      <p:sp>
        <p:nvSpPr>
          <p:cNvPr id="40" name="btfpNumberBubble424218">
            <a:extLst>
              <a:ext uri="{FF2B5EF4-FFF2-40B4-BE49-F238E27FC236}">
                <a16:creationId xmlns:a16="http://schemas.microsoft.com/office/drawing/2014/main" id="{CD9FD411-C630-382C-45A2-E588359B989B}"/>
              </a:ext>
            </a:extLst>
          </p:cNvPr>
          <p:cNvSpPr/>
          <p:nvPr/>
        </p:nvSpPr>
        <p:spPr bwMode="auto">
          <a:xfrm>
            <a:off x="-11180" y="2434844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2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DD8600BD-21B7-FE5D-C98E-68CF34FED7B0}"/>
              </a:ext>
            </a:extLst>
          </p:cNvPr>
          <p:cNvSpPr/>
          <p:nvPr/>
        </p:nvSpPr>
        <p:spPr bwMode="auto">
          <a:xfrm>
            <a:off x="4876719" y="1573967"/>
            <a:ext cx="360000" cy="4245361"/>
          </a:xfrm>
          <a:prstGeom prst="rect">
            <a:avLst/>
          </a:prstGeom>
          <a:solidFill>
            <a:schemeClr val="tx2">
              <a:alpha val="7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27676E50-BB60-063D-06DD-03234AE6987F}"/>
              </a:ext>
            </a:extLst>
          </p:cNvPr>
          <p:cNvSpPr/>
          <p:nvPr/>
        </p:nvSpPr>
        <p:spPr bwMode="auto">
          <a:xfrm>
            <a:off x="8098153" y="3409351"/>
            <a:ext cx="1836000" cy="31090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Plataformas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core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(Comercial,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CdS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Operaciones)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03D6E73D-0A97-4231-D296-46087F92A212}"/>
              </a:ext>
            </a:extLst>
          </p:cNvPr>
          <p:cNvSpPr/>
          <p:nvPr/>
        </p:nvSpPr>
        <p:spPr bwMode="auto">
          <a:xfrm>
            <a:off x="8319814" y="3758531"/>
            <a:ext cx="1620000" cy="3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Plataformas con alta evolución (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Commercial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Finance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VMO, C&amp;M)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EF39E6D3-DAFF-E13F-76F5-334DB244C13A}"/>
              </a:ext>
            </a:extLst>
          </p:cNvPr>
          <p:cNvSpPr/>
          <p:nvPr/>
        </p:nvSpPr>
        <p:spPr bwMode="auto">
          <a:xfrm>
            <a:off x="8613125" y="4102060"/>
            <a:ext cx="1332000" cy="3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Plataformas de soporte (TI, RH,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Exc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Operativa)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5844969C-E86E-004A-29B0-09FB87A723F0}"/>
              </a:ext>
            </a:extLst>
          </p:cNvPr>
          <p:cNvSpPr/>
          <p:nvPr/>
        </p:nvSpPr>
        <p:spPr bwMode="auto">
          <a:xfrm>
            <a:off x="7191152" y="2562061"/>
            <a:ext cx="56203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96B2AB77-129C-B972-22F4-CD4D8D8E4004}"/>
              </a:ext>
            </a:extLst>
          </p:cNvPr>
          <p:cNvSpPr/>
          <p:nvPr/>
        </p:nvSpPr>
        <p:spPr bwMode="auto">
          <a:xfrm>
            <a:off x="10128035" y="3409351"/>
            <a:ext cx="1441897" cy="10023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Presentación y comunicación en TOPS Marzo / Abril</a:t>
            </a:r>
          </a:p>
        </p:txBody>
      </p:sp>
      <p:sp>
        <p:nvSpPr>
          <p:cNvPr id="47" name="Rectangle 16">
            <a:extLst>
              <a:ext uri="{FF2B5EF4-FFF2-40B4-BE49-F238E27FC236}">
                <a16:creationId xmlns:a16="http://schemas.microsoft.com/office/drawing/2014/main" id="{906C9B22-2BEF-AF61-D107-5D3D0BBD88DD}"/>
              </a:ext>
            </a:extLst>
          </p:cNvPr>
          <p:cNvSpPr/>
          <p:nvPr/>
        </p:nvSpPr>
        <p:spPr bwMode="auto">
          <a:xfrm rot="16200000">
            <a:off x="-169543" y="5216642"/>
            <a:ext cx="904388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Modelo de gestión</a:t>
            </a:r>
          </a:p>
        </p:txBody>
      </p:sp>
      <p:graphicFrame>
        <p:nvGraphicFramePr>
          <p:cNvPr id="48" name="Tabla 47">
            <a:extLst>
              <a:ext uri="{FF2B5EF4-FFF2-40B4-BE49-F238E27FC236}">
                <a16:creationId xmlns:a16="http://schemas.microsoft.com/office/drawing/2014/main" id="{1DB4AC3E-0A5A-C01B-5FE7-E4547A64D2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245944"/>
              </p:ext>
            </p:extLst>
          </p:nvPr>
        </p:nvGraphicFramePr>
        <p:xfrm>
          <a:off x="474878" y="4956679"/>
          <a:ext cx="2289564" cy="813672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712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Integración de inputs interacciones a Sistema Gestión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712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504087"/>
                  </a:ext>
                </a:extLst>
              </a:tr>
              <a:tr h="2712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Medición de adopción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630058"/>
                  </a:ext>
                </a:extLst>
              </a:tr>
            </a:tbl>
          </a:graphicData>
        </a:graphic>
      </p:graphicFrame>
      <p:sp>
        <p:nvSpPr>
          <p:cNvPr id="49" name="btfpNumberBubble424218">
            <a:extLst>
              <a:ext uri="{FF2B5EF4-FFF2-40B4-BE49-F238E27FC236}">
                <a16:creationId xmlns:a16="http://schemas.microsoft.com/office/drawing/2014/main" id="{28B85193-26DC-5AAF-D9C6-B11572DA83D9}"/>
              </a:ext>
            </a:extLst>
          </p:cNvPr>
          <p:cNvSpPr/>
          <p:nvPr/>
        </p:nvSpPr>
        <p:spPr bwMode="auto">
          <a:xfrm>
            <a:off x="-11180" y="4831329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3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705A2893-CF9F-039E-BDB3-A553DEA4BF9A}"/>
              </a:ext>
            </a:extLst>
          </p:cNvPr>
          <p:cNvSpPr/>
          <p:nvPr/>
        </p:nvSpPr>
        <p:spPr bwMode="auto">
          <a:xfrm>
            <a:off x="10125261" y="4961611"/>
            <a:ext cx="1444671" cy="172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3" name="Rectangle 16">
            <a:extLst>
              <a:ext uri="{FF2B5EF4-FFF2-40B4-BE49-F238E27FC236}">
                <a16:creationId xmlns:a16="http://schemas.microsoft.com/office/drawing/2014/main" id="{49EB8E5F-90E9-71F5-C1E3-6728A133F539}"/>
              </a:ext>
            </a:extLst>
          </p:cNvPr>
          <p:cNvSpPr/>
          <p:nvPr/>
        </p:nvSpPr>
        <p:spPr bwMode="auto">
          <a:xfrm rot="16200000">
            <a:off x="56555" y="5931584"/>
            <a:ext cx="452193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Estabilización</a:t>
            </a:r>
          </a:p>
        </p:txBody>
      </p:sp>
      <p:graphicFrame>
        <p:nvGraphicFramePr>
          <p:cNvPr id="54" name="Tabla 53">
            <a:extLst>
              <a:ext uri="{FF2B5EF4-FFF2-40B4-BE49-F238E27FC236}">
                <a16:creationId xmlns:a16="http://schemas.microsoft.com/office/drawing/2014/main" id="{218488FE-7666-32A5-83EE-153D7921D620}"/>
              </a:ext>
            </a:extLst>
          </p:cNvPr>
          <p:cNvGraphicFramePr>
            <a:graphicFrameLocks noGrp="1"/>
          </p:cNvGraphicFramePr>
          <p:nvPr/>
        </p:nvGraphicFramePr>
        <p:xfrm>
          <a:off x="474878" y="5897718"/>
          <a:ext cx="2289564" cy="452194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Diseño de metodología diagnóstico del modelo operativo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Diagnóstico </a:t>
                      </a:r>
                      <a:r>
                        <a:rPr kumimoji="0" lang="es-ES" sz="7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org</a:t>
                      </a: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. desempeño modelo operativo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04608"/>
                  </a:ext>
                </a:extLst>
              </a:tr>
            </a:tbl>
          </a:graphicData>
        </a:graphic>
      </p:graphicFrame>
      <p:sp>
        <p:nvSpPr>
          <p:cNvPr id="55" name="btfpNumberBubble424218">
            <a:extLst>
              <a:ext uri="{FF2B5EF4-FFF2-40B4-BE49-F238E27FC236}">
                <a16:creationId xmlns:a16="http://schemas.microsoft.com/office/drawing/2014/main" id="{049C1190-6A18-A369-8826-05C5FE7420BF}"/>
              </a:ext>
            </a:extLst>
          </p:cNvPr>
          <p:cNvSpPr/>
          <p:nvPr/>
        </p:nvSpPr>
        <p:spPr bwMode="auto">
          <a:xfrm>
            <a:off x="-11180" y="5772368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4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FF0539EF-CA6F-717D-2FAA-20594ADF352F}"/>
              </a:ext>
            </a:extLst>
          </p:cNvPr>
          <p:cNvSpPr/>
          <p:nvPr/>
        </p:nvSpPr>
        <p:spPr bwMode="auto">
          <a:xfrm>
            <a:off x="10167763" y="5408870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FFF720E9-1505-A85A-44DE-F75840CC2334}"/>
              </a:ext>
            </a:extLst>
          </p:cNvPr>
          <p:cNvSpPr/>
          <p:nvPr/>
        </p:nvSpPr>
        <p:spPr bwMode="auto">
          <a:xfrm>
            <a:off x="10167763" y="5597552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5EF22818-AFC4-66C6-C096-73EAD1E3FC8A}"/>
              </a:ext>
            </a:extLst>
          </p:cNvPr>
          <p:cNvSpPr/>
          <p:nvPr/>
        </p:nvSpPr>
        <p:spPr bwMode="auto">
          <a:xfrm>
            <a:off x="10167763" y="5910628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B2387692-46A2-DBD8-B456-47AA9023B40F}"/>
              </a:ext>
            </a:extLst>
          </p:cNvPr>
          <p:cNvSpPr/>
          <p:nvPr/>
        </p:nvSpPr>
        <p:spPr bwMode="auto">
          <a:xfrm>
            <a:off x="10167763" y="6099310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0DC0D94-C9F8-BF5B-2308-00A725D87477}"/>
              </a:ext>
            </a:extLst>
          </p:cNvPr>
          <p:cNvSpPr/>
          <p:nvPr/>
        </p:nvSpPr>
        <p:spPr bwMode="auto">
          <a:xfrm>
            <a:off x="7191150" y="2777358"/>
            <a:ext cx="907003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84DEC46-34B5-74FF-4857-D54E4CCCCAE4}"/>
              </a:ext>
            </a:extLst>
          </p:cNvPr>
          <p:cNvSpPr/>
          <p:nvPr/>
        </p:nvSpPr>
        <p:spPr bwMode="auto">
          <a:xfrm>
            <a:off x="7191150" y="2988426"/>
            <a:ext cx="2122184" cy="1984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508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F8192-D968-32AE-A537-40ABE9518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5CE3262-B546-3A76-FE89-9211233C3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400" b="0" i="1"/>
              <a:t>Gracias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D08F26C-A573-6591-62BD-A45EB58DF6FC}"/>
              </a:ext>
            </a:extLst>
          </p:cNvPr>
          <p:cNvSpPr txBox="1"/>
          <p:nvPr/>
        </p:nvSpPr>
        <p:spPr>
          <a:xfrm>
            <a:off x="10553700" y="6324600"/>
            <a:ext cx="180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Marzo 2026</a:t>
            </a:r>
          </a:p>
        </p:txBody>
      </p:sp>
    </p:spTree>
    <p:extLst>
      <p:ext uri="{BB962C8B-B14F-4D97-AF65-F5344CB8AC3E}">
        <p14:creationId xmlns:p14="http://schemas.microsoft.com/office/powerpoint/2010/main" val="34297565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3242F-D6B6-8883-7120-F7EB9B266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Agenda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37DE6F-1964-E3F7-C046-CE9D29BB7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/>
              <a:t>Racional </a:t>
            </a:r>
            <a:r>
              <a:rPr lang="es-MX" err="1"/>
              <a:t>Fit</a:t>
            </a:r>
            <a:r>
              <a:rPr lang="es-MX"/>
              <a:t> </a:t>
            </a:r>
            <a:r>
              <a:rPr lang="es-MX" err="1"/>
              <a:t>for</a:t>
            </a:r>
            <a:r>
              <a:rPr lang="es-MX"/>
              <a:t> </a:t>
            </a:r>
            <a:r>
              <a:rPr lang="es-MX" err="1"/>
              <a:t>Purpose</a:t>
            </a:r>
            <a:r>
              <a:rPr lang="es-MX"/>
              <a:t> </a:t>
            </a:r>
          </a:p>
          <a:p>
            <a:r>
              <a:rPr lang="es-MX"/>
              <a:t>Alcance 2026</a:t>
            </a:r>
          </a:p>
          <a:p>
            <a:r>
              <a:rPr lang="es-MX"/>
              <a:t>Percepción inicial</a:t>
            </a:r>
          </a:p>
          <a:p>
            <a:r>
              <a:rPr lang="es-MX"/>
              <a:t>Descripción de puesto L2</a:t>
            </a:r>
          </a:p>
          <a:p>
            <a:r>
              <a:rPr lang="es-MX"/>
              <a:t>Principales contribuciones del área</a:t>
            </a:r>
          </a:p>
          <a:p>
            <a:r>
              <a:rPr lang="es-MX"/>
              <a:t>Interacciones entre áreas y procesos clave</a:t>
            </a:r>
          </a:p>
          <a:p>
            <a:r>
              <a:rPr lang="es-MX"/>
              <a:t>Siguientes pasos</a:t>
            </a:r>
          </a:p>
          <a:p>
            <a:endParaRPr lang="es-MX"/>
          </a:p>
          <a:p>
            <a:endParaRPr lang="es-MX"/>
          </a:p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906223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7FE4F8-1D50-3B4B-8AAC-2417CBBCFEA9}"/>
              </a:ext>
            </a:extLst>
          </p:cNvPr>
          <p:cNvSpPr/>
          <p:nvPr/>
        </p:nvSpPr>
        <p:spPr>
          <a:xfrm>
            <a:off x="1113306" y="284824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Tengo claridad de la misión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D12D446-A1FE-2D55-8ED8-9BF6AB433C6D}"/>
              </a:ext>
            </a:extLst>
          </p:cNvPr>
          <p:cNvSpPr/>
          <p:nvPr/>
        </p:nvSpPr>
        <p:spPr>
          <a:xfrm>
            <a:off x="1113302" y="3937432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Me resultan claras las actividades de las posiciones de la plataforma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1FD7DEA-CCB0-3F0F-FCE1-E42492D493A9}"/>
              </a:ext>
            </a:extLst>
          </p:cNvPr>
          <p:cNvSpPr/>
          <p:nvPr/>
        </p:nvSpPr>
        <p:spPr>
          <a:xfrm>
            <a:off x="1113301" y="4499420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Percibo claridad de cada ocupante sobre la función de su puesto e impacto en los objetivos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8E8AB1C-0912-901D-0DF3-E8CB08F3F881}"/>
              </a:ext>
            </a:extLst>
          </p:cNvPr>
          <p:cNvSpPr/>
          <p:nvPr/>
        </p:nvSpPr>
        <p:spPr>
          <a:xfrm>
            <a:off x="700928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BAA50C-D38E-8DF6-685A-DAFAE69206BE}"/>
              </a:ext>
            </a:extLst>
          </p:cNvPr>
          <p:cNvSpPr/>
          <p:nvPr/>
        </p:nvSpPr>
        <p:spPr>
          <a:xfrm>
            <a:off x="767603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2D0F290-D177-ABE8-7B9A-391D7C05E93A}"/>
              </a:ext>
            </a:extLst>
          </p:cNvPr>
          <p:cNvSpPr/>
          <p:nvPr/>
        </p:nvSpPr>
        <p:spPr>
          <a:xfrm>
            <a:off x="834278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C6835E8-F0BE-E0DA-D1F3-BF15948CC999}"/>
              </a:ext>
            </a:extLst>
          </p:cNvPr>
          <p:cNvSpPr/>
          <p:nvPr/>
        </p:nvSpPr>
        <p:spPr>
          <a:xfrm>
            <a:off x="900953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1B8A6E4-AF49-5BBB-2D6D-34655455BB58}"/>
              </a:ext>
            </a:extLst>
          </p:cNvPr>
          <p:cNvSpPr/>
          <p:nvPr/>
        </p:nvSpPr>
        <p:spPr>
          <a:xfrm>
            <a:off x="9676283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1141883" y="1591212"/>
            <a:ext cx="91316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Objetivo:</a:t>
            </a:r>
          </a:p>
          <a:p>
            <a:r>
              <a:rPr lang="es-ES" sz="1400" i="1"/>
              <a:t>Tener percepción y estatus actual de claridad de las funciones del área y entender necesidades a nivel plataforma de apoyos requeridos por organización</a:t>
            </a:r>
            <a:endParaRPr lang="es-MX" sz="1400" i="1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E4B3D03-78D4-E434-A214-B4F4ED3147E3}"/>
              </a:ext>
            </a:extLst>
          </p:cNvPr>
          <p:cNvSpPr txBox="1"/>
          <p:nvPr/>
        </p:nvSpPr>
        <p:spPr>
          <a:xfrm>
            <a:off x="6619346" y="2617745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Desacuerdo 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F4BED0D-E57D-53BA-5559-732695A6AE78}"/>
              </a:ext>
            </a:extLst>
          </p:cNvPr>
          <p:cNvSpPr txBox="1"/>
          <p:nvPr/>
        </p:nvSpPr>
        <p:spPr>
          <a:xfrm>
            <a:off x="9219082" y="2617745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 acuerdo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1ABDE23-FC17-AD90-BC9E-AF97FB35EE52}"/>
              </a:ext>
            </a:extLst>
          </p:cNvPr>
          <p:cNvSpPr/>
          <p:nvPr/>
        </p:nvSpPr>
        <p:spPr>
          <a:xfrm>
            <a:off x="1118071" y="340069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Entiendo el racional de los cambios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401378D-D1E9-5ABF-82D0-A09EADCF9921}"/>
              </a:ext>
            </a:extLst>
          </p:cNvPr>
          <p:cNvSpPr/>
          <p:nvPr/>
        </p:nvSpPr>
        <p:spPr>
          <a:xfrm>
            <a:off x="1113301" y="5085684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Hay suficiente información para realizar adecuadamente las funciones y establecer objetivos clave del año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D4C2E17-7EE8-7AEE-3BC4-7954423416B6}"/>
              </a:ext>
            </a:extLst>
          </p:cNvPr>
          <p:cNvSpPr/>
          <p:nvPr/>
        </p:nvSpPr>
        <p:spPr>
          <a:xfrm>
            <a:off x="700928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195C6FE-0878-BD6F-4278-3D68E6995819}"/>
              </a:ext>
            </a:extLst>
          </p:cNvPr>
          <p:cNvSpPr/>
          <p:nvPr/>
        </p:nvSpPr>
        <p:spPr>
          <a:xfrm>
            <a:off x="767603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A76184A-3627-12F3-AEE9-0E4AEB0FDEFE}"/>
              </a:ext>
            </a:extLst>
          </p:cNvPr>
          <p:cNvSpPr/>
          <p:nvPr/>
        </p:nvSpPr>
        <p:spPr>
          <a:xfrm>
            <a:off x="834278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B1E6A43-E234-0F28-0C55-54B7DD1CC80F}"/>
              </a:ext>
            </a:extLst>
          </p:cNvPr>
          <p:cNvSpPr/>
          <p:nvPr/>
        </p:nvSpPr>
        <p:spPr>
          <a:xfrm>
            <a:off x="900953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47C3E97C-D33B-9B32-142A-8681DE8DDAEF}"/>
              </a:ext>
            </a:extLst>
          </p:cNvPr>
          <p:cNvSpPr/>
          <p:nvPr/>
        </p:nvSpPr>
        <p:spPr>
          <a:xfrm>
            <a:off x="9676283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B426A0A-057F-CD5D-5ECB-DE46EE96DBDE}"/>
              </a:ext>
            </a:extLst>
          </p:cNvPr>
          <p:cNvSpPr/>
          <p:nvPr/>
        </p:nvSpPr>
        <p:spPr>
          <a:xfrm>
            <a:off x="700928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56E75B3-107F-CB1B-7F16-52AB46B217A0}"/>
              </a:ext>
            </a:extLst>
          </p:cNvPr>
          <p:cNvSpPr/>
          <p:nvPr/>
        </p:nvSpPr>
        <p:spPr>
          <a:xfrm>
            <a:off x="767603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0A9E07E-BC25-19F0-7E29-6EA050AE4FD2}"/>
              </a:ext>
            </a:extLst>
          </p:cNvPr>
          <p:cNvSpPr/>
          <p:nvPr/>
        </p:nvSpPr>
        <p:spPr>
          <a:xfrm>
            <a:off x="834278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F3CD23E-008B-96BB-6553-057E3D828213}"/>
              </a:ext>
            </a:extLst>
          </p:cNvPr>
          <p:cNvSpPr/>
          <p:nvPr/>
        </p:nvSpPr>
        <p:spPr>
          <a:xfrm>
            <a:off x="900953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4C25EC9-011F-3816-1A58-2C6E58DB342E}"/>
              </a:ext>
            </a:extLst>
          </p:cNvPr>
          <p:cNvSpPr/>
          <p:nvPr/>
        </p:nvSpPr>
        <p:spPr>
          <a:xfrm>
            <a:off x="9676283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58A2AF4-113F-A799-EFE4-1A902C2B0763}"/>
              </a:ext>
            </a:extLst>
          </p:cNvPr>
          <p:cNvSpPr/>
          <p:nvPr/>
        </p:nvSpPr>
        <p:spPr>
          <a:xfrm>
            <a:off x="700927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2DA68DD-9EF6-F60A-7687-BB917FC39F87}"/>
              </a:ext>
            </a:extLst>
          </p:cNvPr>
          <p:cNvSpPr/>
          <p:nvPr/>
        </p:nvSpPr>
        <p:spPr>
          <a:xfrm>
            <a:off x="767602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53142616-0094-6DC4-48F1-FA37A2A17640}"/>
              </a:ext>
            </a:extLst>
          </p:cNvPr>
          <p:cNvSpPr/>
          <p:nvPr/>
        </p:nvSpPr>
        <p:spPr>
          <a:xfrm>
            <a:off x="834277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6D49AC2-BD04-6DBE-818D-697878E1DF70}"/>
              </a:ext>
            </a:extLst>
          </p:cNvPr>
          <p:cNvSpPr/>
          <p:nvPr/>
        </p:nvSpPr>
        <p:spPr>
          <a:xfrm>
            <a:off x="900952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0011520-7618-A3C8-798B-5836617AD8CC}"/>
              </a:ext>
            </a:extLst>
          </p:cNvPr>
          <p:cNvSpPr/>
          <p:nvPr/>
        </p:nvSpPr>
        <p:spPr>
          <a:xfrm>
            <a:off x="9676279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F94D6656-5C4D-D893-4041-37DA27F2EA55}"/>
              </a:ext>
            </a:extLst>
          </p:cNvPr>
          <p:cNvSpPr/>
          <p:nvPr/>
        </p:nvSpPr>
        <p:spPr>
          <a:xfrm>
            <a:off x="700928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A9162D19-B604-E685-83B3-82B7DEDE0227}"/>
              </a:ext>
            </a:extLst>
          </p:cNvPr>
          <p:cNvSpPr/>
          <p:nvPr/>
        </p:nvSpPr>
        <p:spPr>
          <a:xfrm>
            <a:off x="767603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2184184E-6F5C-5679-F5E2-F9BE720EDCF6}"/>
              </a:ext>
            </a:extLst>
          </p:cNvPr>
          <p:cNvSpPr/>
          <p:nvPr/>
        </p:nvSpPr>
        <p:spPr>
          <a:xfrm>
            <a:off x="834278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2C91F9A0-9AF9-626F-9293-CE0E105B592B}"/>
              </a:ext>
            </a:extLst>
          </p:cNvPr>
          <p:cNvSpPr/>
          <p:nvPr/>
        </p:nvSpPr>
        <p:spPr>
          <a:xfrm>
            <a:off x="900953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F2DFFA15-F145-F25C-0AEC-D3991E68F61F}"/>
              </a:ext>
            </a:extLst>
          </p:cNvPr>
          <p:cNvSpPr/>
          <p:nvPr/>
        </p:nvSpPr>
        <p:spPr>
          <a:xfrm>
            <a:off x="9676283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Percepción inicial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46345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AA692062-D8DD-BC82-359B-CCC7818A691B}"/>
              </a:ext>
            </a:extLst>
          </p:cNvPr>
          <p:cNvSpPr/>
          <p:nvPr/>
        </p:nvSpPr>
        <p:spPr>
          <a:xfrm>
            <a:off x="5555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B0941E57-8524-442D-AA1E-71E27E8D8793}"/>
              </a:ext>
            </a:extLst>
          </p:cNvPr>
          <p:cNvSpPr/>
          <p:nvPr/>
        </p:nvSpPr>
        <p:spPr>
          <a:xfrm>
            <a:off x="1524001" y="1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E3245FAE-0440-417C-89AD-5D987BA90110}"/>
              </a:ext>
            </a:extLst>
          </p:cNvPr>
          <p:cNvSpPr txBox="1">
            <a:spLocks/>
          </p:cNvSpPr>
          <p:nvPr/>
        </p:nvSpPr>
        <p:spPr>
          <a:xfrm>
            <a:off x="1498646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MX" sz="1400" b="1">
                <a:solidFill>
                  <a:prstClr val="white"/>
                </a:solidFill>
                <a:latin typeface="Calibri Light" panose="020F0302020204030204"/>
              </a:rPr>
              <a:t>DESCRIPCIÓN DE PUESTO</a:t>
            </a:r>
          </a:p>
          <a:p>
            <a:pPr>
              <a:defRPr/>
            </a:pPr>
            <a:r>
              <a:rPr lang="es-MX" sz="1300" b="1">
                <a:solidFill>
                  <a:prstClr val="white"/>
                </a:solidFill>
                <a:latin typeface="Calibri Light" panose="020F0302020204030204"/>
              </a:rPr>
              <a:t>Nombre Puesto: Director Abasto</a:t>
            </a:r>
            <a:br>
              <a:rPr lang="es-MX" sz="1300" b="1">
                <a:solidFill>
                  <a:prstClr val="white"/>
                </a:solidFill>
                <a:latin typeface="Calibri Light" panose="020F0302020204030204"/>
              </a:rPr>
            </a:br>
            <a:r>
              <a:rPr lang="es-MX" sz="1300" b="1">
                <a:solidFill>
                  <a:prstClr val="white"/>
                </a:solidFill>
                <a:latin typeface="Calibri Light" panose="020F0302020204030204"/>
              </a:rPr>
              <a:t>Nombre Puesto Jefe Directo: Director Cadena de Suministro</a:t>
            </a:r>
            <a:br>
              <a:rPr lang="es-MX" sz="1300" b="1">
                <a:solidFill>
                  <a:prstClr val="white"/>
                </a:solidFill>
                <a:latin typeface="Calibri Light" panose="020F0302020204030204"/>
              </a:rPr>
            </a:br>
            <a:r>
              <a:rPr lang="es-MX" sz="1300" b="1">
                <a:solidFill>
                  <a:prstClr val="white"/>
                </a:solidFill>
                <a:latin typeface="Calibri Light" panose="020F0302020204030204"/>
              </a:rPr>
              <a:t>Área Funcional: Cadena de Suministro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4BBF896-9BEA-4AC9-8A7E-3FA108F11265}"/>
              </a:ext>
            </a:extLst>
          </p:cNvPr>
          <p:cNvSpPr txBox="1">
            <a:spLocks/>
          </p:cNvSpPr>
          <p:nvPr/>
        </p:nvSpPr>
        <p:spPr>
          <a:xfrm>
            <a:off x="1598104" y="969029"/>
            <a:ext cx="7186069" cy="804013"/>
          </a:xfrm>
          <a:prstGeom prst="rect">
            <a:avLst/>
          </a:prstGeom>
          <a:ln w="6350">
            <a:solidFill>
              <a:srgbClr val="99002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s-MX" sz="1200" b="1">
                <a:solidFill>
                  <a:prstClr val="black"/>
                </a:solidFill>
                <a:latin typeface="Calibri Light" panose="020F0302020204030204"/>
              </a:rPr>
              <a:t>Propósito del Puesto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</a:rPr>
              <a:t>Diseñar y operar la estrategia de demanda, abasto y suministro de OXXO México, con el fin de potencializar la propuesta de valor centrada en el Cliente, robusteciendo mediante digitalización, procesos de gestión y el desarrollo de Talento, con el fin de garantizar la abasto sustentable y sostenible de acuerdo con la expansión del negocio con sus nuevos canales y  capas de valor agregadas.​ 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B449C0C-A873-4B2A-A592-C971D47DCF09}"/>
              </a:ext>
            </a:extLst>
          </p:cNvPr>
          <p:cNvSpPr txBox="1">
            <a:spLocks/>
          </p:cNvSpPr>
          <p:nvPr/>
        </p:nvSpPr>
        <p:spPr bwMode="auto">
          <a:xfrm>
            <a:off x="1598103" y="1823416"/>
            <a:ext cx="7191449" cy="341885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None/>
              <a:defRPr/>
            </a:pPr>
            <a:r>
              <a:rPr lang="es-MX" sz="1100" b="1">
                <a:solidFill>
                  <a:prstClr val="black"/>
                </a:solidFill>
                <a:latin typeface="Calibri Light" panose="020F0302020204030204"/>
              </a:rPr>
              <a:t>Responsabilidades </a:t>
            </a:r>
          </a:p>
          <a:p>
            <a:pPr marL="174625" indent="-174625" defTabSz="457200">
              <a:buFont typeface="Calibri Light" panose="020F0302020204030204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Diseñar la estrategia de abasto atendiendo las categorías comerciales </a:t>
            </a:r>
            <a:r>
              <a:rPr lang="es-MX" sz="900">
                <a:solidFill>
                  <a:prstClr val="black"/>
                </a:solidFill>
                <a:latin typeface="Calibri"/>
                <a:ea typeface="ＭＳ Ｐゴシック"/>
              </a:rPr>
              <a:t>tales como hambre, impulso, </a:t>
            </a:r>
            <a:r>
              <a:rPr lang="es-MX" sz="900" err="1">
                <a:solidFill>
                  <a:prstClr val="black"/>
                </a:solidFill>
                <a:latin typeface="Calibri"/>
                <a:ea typeface="ＭＳ Ｐゴシック"/>
              </a:rPr>
              <a:t>daily</a:t>
            </a:r>
            <a:r>
              <a:rPr lang="es-MX" sz="900">
                <a:solidFill>
                  <a:prstClr val="black"/>
                </a:solidFill>
                <a:latin typeface="Calibri"/>
                <a:ea typeface="ＭＳ Ｐゴシック"/>
              </a:rPr>
              <a:t> </a:t>
            </a:r>
            <a:r>
              <a:rPr lang="es-MX" sz="900" err="1">
                <a:solidFill>
                  <a:prstClr val="black"/>
                </a:solidFill>
                <a:latin typeface="Calibri"/>
                <a:ea typeface="ＭＳ Ｐゴシック"/>
              </a:rPr>
              <a:t>replenishment</a:t>
            </a:r>
            <a:r>
              <a:rPr lang="es-MX" sz="900">
                <a:solidFill>
                  <a:prstClr val="black"/>
                </a:solidFill>
                <a:latin typeface="Calibri"/>
                <a:ea typeface="ＭＳ Ｐゴシック"/>
              </a:rPr>
              <a:t>, </a:t>
            </a:r>
            <a:r>
              <a:rPr lang="es-MX" sz="900" err="1">
                <a:solidFill>
                  <a:prstClr val="black"/>
                </a:solidFill>
                <a:latin typeface="Calibri"/>
                <a:ea typeface="ＭＳ Ｐゴシック"/>
              </a:rPr>
              <a:t>fresh</a:t>
            </a:r>
            <a:r>
              <a:rPr lang="es-MX" sz="900">
                <a:solidFill>
                  <a:prstClr val="black"/>
                </a:solidFill>
                <a:latin typeface="Calibri"/>
                <a:ea typeface="ＭＳ Ｐゴシック"/>
              </a:rPr>
              <a:t>, marcas propias u otras que permitan simplificar las relaciones estratégicas de suministro.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Asegurar la correcta demanda de acuerdo con las necesidades de la tienda </a:t>
            </a:r>
            <a:r>
              <a:rPr lang="es-MX" sz="900" b="1">
                <a:solidFill>
                  <a:srgbClr val="0070C0"/>
                </a:solidFill>
                <a:latin typeface="Calibri" panose="020F0502020204030204"/>
                <a:ea typeface="ＭＳ Ｐゴシック"/>
              </a:rPr>
              <a:t>en coordinación con estrategia de S&amp;OP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, generando modelos de pronóstico de demanda para mejorar la precisión y reducir inventarios obsoletos.​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Diseñar estrategias de abastecimiento actuales y futuras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, que optimicen costos y garanticen la disponibilidad de productos clave, así como, la agilidad requerida para responder a las necesidades 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Promover y empujar  un esquema operativo basado en procesos y rituales de gestión 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con los roles involucrados (comercial, operaciones, procesos CS y otras) que promuevan  la colaboración con el fin de capitalizar oportunidades.​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Construir sinergias con otras unidades de FEMSA 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con el fin de establecer aprovechamiento de los recursos para lograr mayor eficiencia en los procesos y crecimiento colaborativo.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Identificar oportunidades en los eslabones de la cadena, desde socios comerciales hasta la tienda 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que sumen valor a OXXO México y resto de las unidades de FEMSA que permitan establecer una mejora continua. 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Diseñar planes de contingencia ante cambios en el entorno 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como sociopolíticos, climáticos, de seguridad u otros que permitan anticipar de forma flexible, ágil y resiliente los retos presentes y futuros minimizando el impacto en los objetivos clave del negocio. 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​Cumplir y promover con la aplicación de los procesos y rituales cultura de la Compañía.​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15D17D2-44E5-437D-85A9-8663E6915F24}"/>
              </a:ext>
            </a:extLst>
          </p:cNvPr>
          <p:cNvSpPr txBox="1">
            <a:spLocks/>
          </p:cNvSpPr>
          <p:nvPr/>
        </p:nvSpPr>
        <p:spPr bwMode="auto">
          <a:xfrm>
            <a:off x="1598103" y="5272810"/>
            <a:ext cx="44407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None/>
              <a:defRPr/>
            </a:pPr>
            <a:r>
              <a:rPr lang="es-MX" sz="1300" b="1">
                <a:solidFill>
                  <a:prstClr val="black"/>
                </a:solidFill>
                <a:latin typeface="Calibri Light" panose="020F0302020204030204"/>
              </a:rPr>
              <a:t>Decisiones Relevantes del Puesto 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Identificar riesgos / situaciones atípicas en el abasto de la cadena de suministro y diseñar planes de contingencia.​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Asegurar la continuidad del abastecimiento en escenarios de crisis o disrupción global.​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Garantizar el cumplimiento de normativas ambientales, regulatorias y de seguridad en el abastecimiento.​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2D69A6-DFF2-462D-9933-A6738681F22F}"/>
              </a:ext>
            </a:extLst>
          </p:cNvPr>
          <p:cNvSpPr txBox="1">
            <a:spLocks/>
          </p:cNvSpPr>
          <p:nvPr/>
        </p:nvSpPr>
        <p:spPr bwMode="auto">
          <a:xfrm>
            <a:off x="6143672" y="5272810"/>
            <a:ext cx="44280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None/>
              <a:defRPr/>
            </a:pPr>
            <a:r>
              <a:rPr lang="es-MX" sz="1300" b="1">
                <a:solidFill>
                  <a:prstClr val="black"/>
                </a:solidFill>
                <a:latin typeface="Calibri Light" panose="020F0302020204030204"/>
              </a:rPr>
              <a:t>Principales Retos del Puesto 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Garantizar la disponibilidad de productos en un entorno de alta volatilidad.​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Mejorar la precisión de los pronósticos de demanda en un mercado cambiante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Reducir costos de abastecimiento y suministro sin comprometer la calidad del servicio.​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Transformar digitalmente la planificación de demanda y abastecimiento para aumentar eficiencia.​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endParaRPr lang="es-MX" sz="1000">
              <a:solidFill>
                <a:prstClr val="black"/>
              </a:solidFill>
            </a:endParaRPr>
          </a:p>
          <a:p>
            <a:pPr marL="574675" lvl="1" indent="-174625" defTabSz="457200">
              <a:buFont typeface="Wingdings" panose="05000000000000000000" pitchFamily="2" charset="2"/>
              <a:buChar char="§"/>
              <a:defRPr/>
            </a:pPr>
            <a:endParaRPr lang="es-MX" sz="1000">
              <a:solidFill>
                <a:prstClr val="black"/>
              </a:solidFill>
            </a:endParaRP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endParaRPr lang="es-MX" sz="100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0" name="Grupo 12">
            <a:extLst>
              <a:ext uri="{FF2B5EF4-FFF2-40B4-BE49-F238E27FC236}">
                <a16:creationId xmlns:a16="http://schemas.microsoft.com/office/drawing/2014/main" id="{A746893C-AF94-48A8-8883-58802F3E1DFD}"/>
              </a:ext>
            </a:extLst>
          </p:cNvPr>
          <p:cNvGrpSpPr/>
          <p:nvPr/>
        </p:nvGrpSpPr>
        <p:grpSpPr>
          <a:xfrm>
            <a:off x="8856180" y="969029"/>
            <a:ext cx="1728192" cy="1717735"/>
            <a:chOff x="7319480" y="969028"/>
            <a:chExt cx="1728192" cy="1717735"/>
          </a:xfrm>
        </p:grpSpPr>
        <p:sp>
          <p:nvSpPr>
            <p:cNvPr id="11" name="39 Rectángulo">
              <a:extLst>
                <a:ext uri="{FF2B5EF4-FFF2-40B4-BE49-F238E27FC236}">
                  <a16:creationId xmlns:a16="http://schemas.microsoft.com/office/drawing/2014/main" id="{DC61830D-58DD-4F58-9ED9-8C6149D2C69E}"/>
                </a:ext>
              </a:extLst>
            </p:cNvPr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defRPr/>
              </a:pPr>
              <a:endParaRPr lang="es-MX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2" name="1 CuadroTexto">
              <a:extLst>
                <a:ext uri="{FF2B5EF4-FFF2-40B4-BE49-F238E27FC236}">
                  <a16:creationId xmlns:a16="http://schemas.microsoft.com/office/drawing/2014/main" id="{360DED1C-B22A-4096-93CB-0902A3A44024}"/>
                </a:ext>
              </a:extLst>
            </p:cNvPr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457200">
                <a:defRPr/>
              </a:pPr>
              <a:r>
                <a:rPr lang="es-MX" sz="1200" b="1">
                  <a:solidFill>
                    <a:prstClr val="black"/>
                  </a:solidFill>
                  <a:latin typeface="Calibri Light" panose="020F0302020204030204"/>
                </a:rPr>
                <a:t>Herramientas Puesto:</a:t>
              </a:r>
            </a:p>
          </p:txBody>
        </p:sp>
      </p:grpSp>
      <p:pic>
        <p:nvPicPr>
          <p:cNvPr id="13" name="Picture 6" descr="https://d30y9cdsu7xlg0.cloudfront.net/png/1999-200.png">
            <a:extLst>
              <a:ext uri="{FF2B5EF4-FFF2-40B4-BE49-F238E27FC236}">
                <a16:creationId xmlns:a16="http://schemas.microsoft.com/office/drawing/2014/main" id="{AA179792-2E49-4795-A057-41AA17D34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0892" y="1248360"/>
            <a:ext cx="245644" cy="24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https://d30y9cdsu7xlg0.cloudfront.net/png/41085-200.png">
            <a:extLst>
              <a:ext uri="{FF2B5EF4-FFF2-40B4-BE49-F238E27FC236}">
                <a16:creationId xmlns:a16="http://schemas.microsoft.com/office/drawing/2014/main" id="{E73FE279-A4BB-496B-8A3A-BDDDEA023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360" y="1993705"/>
            <a:ext cx="175626" cy="175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https://d30y9cdsu7xlg0.cloudfront.net/png/1335-200.png">
            <a:extLst>
              <a:ext uri="{FF2B5EF4-FFF2-40B4-BE49-F238E27FC236}">
                <a16:creationId xmlns:a16="http://schemas.microsoft.com/office/drawing/2014/main" id="{8EB642A7-702A-4DE1-AED8-64A0E4461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361" y="1729359"/>
            <a:ext cx="262955" cy="26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https://d30y9cdsu7xlg0.cloudfront.net/png/131938-200.png">
            <a:extLst>
              <a:ext uri="{FF2B5EF4-FFF2-40B4-BE49-F238E27FC236}">
                <a16:creationId xmlns:a16="http://schemas.microsoft.com/office/drawing/2014/main" id="{F112B20D-AF2D-4403-A36A-50CECE79C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360" y="1483752"/>
            <a:ext cx="235520" cy="23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3 Rectángulo">
            <a:extLst>
              <a:ext uri="{FF2B5EF4-FFF2-40B4-BE49-F238E27FC236}">
                <a16:creationId xmlns:a16="http://schemas.microsoft.com/office/drawing/2014/main" id="{22487BD1-424B-4561-9543-36490BD469B9}"/>
              </a:ext>
            </a:extLst>
          </p:cNvPr>
          <p:cNvSpPr/>
          <p:nvPr/>
        </p:nvSpPr>
        <p:spPr>
          <a:xfrm>
            <a:off x="8983294" y="1300701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8" name="15 CuadroTexto">
            <a:extLst>
              <a:ext uri="{FF2B5EF4-FFF2-40B4-BE49-F238E27FC236}">
                <a16:creationId xmlns:a16="http://schemas.microsoft.com/office/drawing/2014/main" id="{2A1643D8-3B1E-43E4-809B-4F3F8C67E082}"/>
              </a:ext>
            </a:extLst>
          </p:cNvPr>
          <p:cNvSpPr txBox="1"/>
          <p:nvPr/>
        </p:nvSpPr>
        <p:spPr>
          <a:xfrm>
            <a:off x="9589788" y="1248073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1000" i="1">
                <a:solidFill>
                  <a:prstClr val="black"/>
                </a:solidFill>
                <a:latin typeface="Calibri Light" panose="020F0302020204030204"/>
              </a:rPr>
              <a:t>Laptop</a:t>
            </a:r>
          </a:p>
        </p:txBody>
      </p:sp>
      <p:sp>
        <p:nvSpPr>
          <p:cNvPr id="19" name="16 CuadroTexto">
            <a:extLst>
              <a:ext uri="{FF2B5EF4-FFF2-40B4-BE49-F238E27FC236}">
                <a16:creationId xmlns:a16="http://schemas.microsoft.com/office/drawing/2014/main" id="{5B3588BA-225C-4B8B-A340-C767A6A44AC8}"/>
              </a:ext>
            </a:extLst>
          </p:cNvPr>
          <p:cNvSpPr txBox="1"/>
          <p:nvPr/>
        </p:nvSpPr>
        <p:spPr>
          <a:xfrm>
            <a:off x="9589788" y="1478403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1000" i="1">
                <a:solidFill>
                  <a:prstClr val="black"/>
                </a:solidFill>
                <a:latin typeface="Calibri Light" panose="020F0302020204030204"/>
              </a:rPr>
              <a:t>Escritorio</a:t>
            </a:r>
          </a:p>
        </p:txBody>
      </p:sp>
      <p:sp>
        <p:nvSpPr>
          <p:cNvPr id="20" name="17 CuadroTexto">
            <a:extLst>
              <a:ext uri="{FF2B5EF4-FFF2-40B4-BE49-F238E27FC236}">
                <a16:creationId xmlns:a16="http://schemas.microsoft.com/office/drawing/2014/main" id="{763B8576-89EC-4602-9301-D147041A94DC}"/>
              </a:ext>
            </a:extLst>
          </p:cNvPr>
          <p:cNvSpPr txBox="1"/>
          <p:nvPr/>
        </p:nvSpPr>
        <p:spPr>
          <a:xfrm>
            <a:off x="9589789" y="1737726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1000" i="1">
                <a:solidFill>
                  <a:prstClr val="black"/>
                </a:solidFill>
                <a:latin typeface="Calibri Light" panose="020F0302020204030204"/>
              </a:rPr>
              <a:t>Auto</a:t>
            </a:r>
          </a:p>
        </p:txBody>
      </p:sp>
      <p:sp>
        <p:nvSpPr>
          <p:cNvPr id="21" name="18 CuadroTexto">
            <a:extLst>
              <a:ext uri="{FF2B5EF4-FFF2-40B4-BE49-F238E27FC236}">
                <a16:creationId xmlns:a16="http://schemas.microsoft.com/office/drawing/2014/main" id="{629AEC15-3A8A-435C-B3CB-1B95EB5DB6F0}"/>
              </a:ext>
            </a:extLst>
          </p:cNvPr>
          <p:cNvSpPr txBox="1"/>
          <p:nvPr/>
        </p:nvSpPr>
        <p:spPr>
          <a:xfrm>
            <a:off x="9589789" y="1958409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1000" i="1">
                <a:solidFill>
                  <a:prstClr val="black"/>
                </a:solidFill>
                <a:latin typeface="Calibri Light" panose="020F0302020204030204"/>
              </a:rPr>
              <a:t>Celular </a:t>
            </a:r>
          </a:p>
        </p:txBody>
      </p:sp>
      <p:sp>
        <p:nvSpPr>
          <p:cNvPr id="22" name="31 Rectángulo">
            <a:extLst>
              <a:ext uri="{FF2B5EF4-FFF2-40B4-BE49-F238E27FC236}">
                <a16:creationId xmlns:a16="http://schemas.microsoft.com/office/drawing/2014/main" id="{040F413D-4D4F-471F-879D-45417E885567}"/>
              </a:ext>
            </a:extLst>
          </p:cNvPr>
          <p:cNvSpPr/>
          <p:nvPr/>
        </p:nvSpPr>
        <p:spPr>
          <a:xfrm>
            <a:off x="8946042" y="3118873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3" name="33 CuadroTexto">
            <a:extLst>
              <a:ext uri="{FF2B5EF4-FFF2-40B4-BE49-F238E27FC236}">
                <a16:creationId xmlns:a16="http://schemas.microsoft.com/office/drawing/2014/main" id="{6E1764D7-956B-4836-A22C-EC23DB86CB9E}"/>
              </a:ext>
            </a:extLst>
          </p:cNvPr>
          <p:cNvSpPr txBox="1"/>
          <p:nvPr/>
        </p:nvSpPr>
        <p:spPr>
          <a:xfrm>
            <a:off x="9146365" y="3060110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VPN</a:t>
            </a:r>
          </a:p>
        </p:txBody>
      </p:sp>
      <p:sp>
        <p:nvSpPr>
          <p:cNvPr id="24" name="34 CuadroTexto">
            <a:extLst>
              <a:ext uri="{FF2B5EF4-FFF2-40B4-BE49-F238E27FC236}">
                <a16:creationId xmlns:a16="http://schemas.microsoft.com/office/drawing/2014/main" id="{D2193E3B-4006-48B8-BD5B-B3FE716B9285}"/>
              </a:ext>
            </a:extLst>
          </p:cNvPr>
          <p:cNvSpPr txBox="1"/>
          <p:nvPr/>
        </p:nvSpPr>
        <p:spPr>
          <a:xfrm>
            <a:off x="9912424" y="306011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Internet </a:t>
            </a:r>
          </a:p>
        </p:txBody>
      </p:sp>
      <p:sp>
        <p:nvSpPr>
          <p:cNvPr id="25" name="35 Rectángulo">
            <a:extLst>
              <a:ext uri="{FF2B5EF4-FFF2-40B4-BE49-F238E27FC236}">
                <a16:creationId xmlns:a16="http://schemas.microsoft.com/office/drawing/2014/main" id="{70E0DB33-1CFC-4153-B0B7-55BE4791DD08}"/>
              </a:ext>
            </a:extLst>
          </p:cNvPr>
          <p:cNvSpPr/>
          <p:nvPr/>
        </p:nvSpPr>
        <p:spPr>
          <a:xfrm>
            <a:off x="8946705" y="3360359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6" name="36 CuadroTexto">
            <a:extLst>
              <a:ext uri="{FF2B5EF4-FFF2-40B4-BE49-F238E27FC236}">
                <a16:creationId xmlns:a16="http://schemas.microsoft.com/office/drawing/2014/main" id="{3299802D-7DC6-4F87-AB01-5236D5AAA15C}"/>
              </a:ext>
            </a:extLst>
          </p:cNvPr>
          <p:cNvSpPr txBox="1"/>
          <p:nvPr/>
        </p:nvSpPr>
        <p:spPr>
          <a:xfrm>
            <a:off x="9146365" y="3301596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BI</a:t>
            </a:r>
          </a:p>
        </p:txBody>
      </p:sp>
      <p:sp>
        <p:nvSpPr>
          <p:cNvPr id="27" name="38 CuadroTexto">
            <a:extLst>
              <a:ext uri="{FF2B5EF4-FFF2-40B4-BE49-F238E27FC236}">
                <a16:creationId xmlns:a16="http://schemas.microsoft.com/office/drawing/2014/main" id="{6CB3B794-8194-4085-BC5B-EA6EC0E1CB5D}"/>
              </a:ext>
            </a:extLst>
          </p:cNvPr>
          <p:cNvSpPr txBox="1"/>
          <p:nvPr/>
        </p:nvSpPr>
        <p:spPr>
          <a:xfrm>
            <a:off x="9912424" y="330509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SAP</a:t>
            </a:r>
          </a:p>
        </p:txBody>
      </p:sp>
      <p:sp>
        <p:nvSpPr>
          <p:cNvPr id="28" name="40 Rectángulo">
            <a:extLst>
              <a:ext uri="{FF2B5EF4-FFF2-40B4-BE49-F238E27FC236}">
                <a16:creationId xmlns:a16="http://schemas.microsoft.com/office/drawing/2014/main" id="{DA1FC102-237B-4FB9-BB82-8480A0371965}"/>
              </a:ext>
            </a:extLst>
          </p:cNvPr>
          <p:cNvSpPr/>
          <p:nvPr/>
        </p:nvSpPr>
        <p:spPr>
          <a:xfrm>
            <a:off x="8946705" y="3627594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9" name="41 CuadroTexto">
            <a:extLst>
              <a:ext uri="{FF2B5EF4-FFF2-40B4-BE49-F238E27FC236}">
                <a16:creationId xmlns:a16="http://schemas.microsoft.com/office/drawing/2014/main" id="{F3DA3879-A853-4566-8B3B-0545001CF195}"/>
              </a:ext>
            </a:extLst>
          </p:cNvPr>
          <p:cNvSpPr txBox="1"/>
          <p:nvPr/>
        </p:nvSpPr>
        <p:spPr>
          <a:xfrm>
            <a:off x="9146365" y="3568831"/>
            <a:ext cx="4751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 err="1">
                <a:solidFill>
                  <a:prstClr val="black"/>
                </a:solidFill>
                <a:latin typeface="Calibri Light" panose="020F0302020204030204"/>
              </a:rPr>
              <a:t>Retek</a:t>
            </a:r>
            <a:endParaRPr lang="es-MX" sz="800" i="1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30" name="43 CuadroTexto">
            <a:extLst>
              <a:ext uri="{FF2B5EF4-FFF2-40B4-BE49-F238E27FC236}">
                <a16:creationId xmlns:a16="http://schemas.microsoft.com/office/drawing/2014/main" id="{33CD4D57-6BD3-49ED-A6E4-59CEC83D94CF}"/>
              </a:ext>
            </a:extLst>
          </p:cNvPr>
          <p:cNvSpPr txBox="1"/>
          <p:nvPr/>
        </p:nvSpPr>
        <p:spPr>
          <a:xfrm>
            <a:off x="9912424" y="3545582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Oracle</a:t>
            </a:r>
          </a:p>
        </p:txBody>
      </p:sp>
      <p:sp>
        <p:nvSpPr>
          <p:cNvPr id="31" name="44 Rectángulo">
            <a:extLst>
              <a:ext uri="{FF2B5EF4-FFF2-40B4-BE49-F238E27FC236}">
                <a16:creationId xmlns:a16="http://schemas.microsoft.com/office/drawing/2014/main" id="{84F92013-D432-4DA4-93F9-1C5CA6AB50BE}"/>
              </a:ext>
            </a:extLst>
          </p:cNvPr>
          <p:cNvSpPr/>
          <p:nvPr/>
        </p:nvSpPr>
        <p:spPr>
          <a:xfrm>
            <a:off x="8946705" y="3852615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32" name="45 CuadroTexto">
            <a:extLst>
              <a:ext uri="{FF2B5EF4-FFF2-40B4-BE49-F238E27FC236}">
                <a16:creationId xmlns:a16="http://schemas.microsoft.com/office/drawing/2014/main" id="{3F6BECE3-8EE7-4AC0-B75D-0D183DDB6207}"/>
              </a:ext>
            </a:extLst>
          </p:cNvPr>
          <p:cNvSpPr txBox="1"/>
          <p:nvPr/>
        </p:nvSpPr>
        <p:spPr>
          <a:xfrm>
            <a:off x="9146366" y="3793852"/>
            <a:ext cx="469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SIV</a:t>
            </a:r>
          </a:p>
        </p:txBody>
      </p:sp>
      <p:sp>
        <p:nvSpPr>
          <p:cNvPr id="33" name="46 Rectángulo">
            <a:extLst>
              <a:ext uri="{FF2B5EF4-FFF2-40B4-BE49-F238E27FC236}">
                <a16:creationId xmlns:a16="http://schemas.microsoft.com/office/drawing/2014/main" id="{E636CE0B-B0B7-4FA9-B9C5-015CDC1232A9}"/>
              </a:ext>
            </a:extLst>
          </p:cNvPr>
          <p:cNvSpPr/>
          <p:nvPr/>
        </p:nvSpPr>
        <p:spPr>
          <a:xfrm>
            <a:off x="9704362" y="3118873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34" name="47 Rectángulo">
            <a:extLst>
              <a:ext uri="{FF2B5EF4-FFF2-40B4-BE49-F238E27FC236}">
                <a16:creationId xmlns:a16="http://schemas.microsoft.com/office/drawing/2014/main" id="{C50780F3-5BF2-4916-BC92-274D33B041BE}"/>
              </a:ext>
            </a:extLst>
          </p:cNvPr>
          <p:cNvSpPr/>
          <p:nvPr/>
        </p:nvSpPr>
        <p:spPr>
          <a:xfrm>
            <a:off x="9705025" y="335964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35" name="48 Rectángulo">
            <a:extLst>
              <a:ext uri="{FF2B5EF4-FFF2-40B4-BE49-F238E27FC236}">
                <a16:creationId xmlns:a16="http://schemas.microsoft.com/office/drawing/2014/main" id="{41BFF3D0-1F36-4DC0-96BB-7E1CF827C149}"/>
              </a:ext>
            </a:extLst>
          </p:cNvPr>
          <p:cNvSpPr/>
          <p:nvPr/>
        </p:nvSpPr>
        <p:spPr>
          <a:xfrm>
            <a:off x="9705025" y="3600407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grpSp>
        <p:nvGrpSpPr>
          <p:cNvPr id="36" name="Grupo 13">
            <a:extLst>
              <a:ext uri="{FF2B5EF4-FFF2-40B4-BE49-F238E27FC236}">
                <a16:creationId xmlns:a16="http://schemas.microsoft.com/office/drawing/2014/main" id="{94B79221-31F7-4AE2-8BA6-959527BBBD36}"/>
              </a:ext>
            </a:extLst>
          </p:cNvPr>
          <p:cNvGrpSpPr/>
          <p:nvPr/>
        </p:nvGrpSpPr>
        <p:grpSpPr>
          <a:xfrm>
            <a:off x="8856180" y="2769544"/>
            <a:ext cx="1728192" cy="1547090"/>
            <a:chOff x="7319480" y="2769544"/>
            <a:chExt cx="1728192" cy="2268000"/>
          </a:xfrm>
        </p:grpSpPr>
        <p:sp>
          <p:nvSpPr>
            <p:cNvPr id="37" name="25 CuadroTexto">
              <a:extLst>
                <a:ext uri="{FF2B5EF4-FFF2-40B4-BE49-F238E27FC236}">
                  <a16:creationId xmlns:a16="http://schemas.microsoft.com/office/drawing/2014/main" id="{0479827A-5583-40D4-9948-595AC75C7571}"/>
                </a:ext>
              </a:extLst>
            </p:cNvPr>
            <p:cNvSpPr txBox="1"/>
            <p:nvPr/>
          </p:nvSpPr>
          <p:spPr>
            <a:xfrm>
              <a:off x="7322014" y="2769544"/>
              <a:ext cx="1723124" cy="406074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latin typeface="+mj-lt"/>
                </a:defRPr>
              </a:lvl1pPr>
            </a:lstStyle>
            <a:p>
              <a:pPr defTabSz="457200">
                <a:defRPr/>
              </a:pPr>
              <a:r>
                <a:rPr lang="es-MX">
                  <a:solidFill>
                    <a:prstClr val="black"/>
                  </a:solidFill>
                  <a:latin typeface="Calibri Light" panose="020F0302020204030204"/>
                </a:rPr>
                <a:t>Sistemas / Software: </a:t>
              </a:r>
            </a:p>
          </p:txBody>
        </p:sp>
        <p:sp>
          <p:nvSpPr>
            <p:cNvPr id="38" name="49 Rectángulo">
              <a:extLst>
                <a:ext uri="{FF2B5EF4-FFF2-40B4-BE49-F238E27FC236}">
                  <a16:creationId xmlns:a16="http://schemas.microsoft.com/office/drawing/2014/main" id="{9705D9BB-13E2-4013-B814-F0A7B2F8F4C4}"/>
                </a:ext>
              </a:extLst>
            </p:cNvPr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defRPr/>
              </a:pPr>
              <a:endParaRPr lang="es-MX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39" name="53 CuadroTexto">
            <a:extLst>
              <a:ext uri="{FF2B5EF4-FFF2-40B4-BE49-F238E27FC236}">
                <a16:creationId xmlns:a16="http://schemas.microsoft.com/office/drawing/2014/main" id="{96AFC125-8E68-4CC9-8BBE-24E3AFB43C9D}"/>
              </a:ext>
            </a:extLst>
          </p:cNvPr>
          <p:cNvSpPr txBox="1"/>
          <p:nvPr/>
        </p:nvSpPr>
        <p:spPr>
          <a:xfrm>
            <a:off x="9912424" y="3784461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 err="1">
                <a:solidFill>
                  <a:prstClr val="black"/>
                </a:solidFill>
                <a:latin typeface="Calibri Light" panose="020F0302020204030204"/>
              </a:rPr>
              <a:t>Autocad</a:t>
            </a:r>
            <a:endParaRPr lang="es-MX" sz="800" i="1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40" name="54 Rectángulo">
            <a:extLst>
              <a:ext uri="{FF2B5EF4-FFF2-40B4-BE49-F238E27FC236}">
                <a16:creationId xmlns:a16="http://schemas.microsoft.com/office/drawing/2014/main" id="{DBDEE9EE-44FA-45AF-BD88-424CB08F719F}"/>
              </a:ext>
            </a:extLst>
          </p:cNvPr>
          <p:cNvSpPr/>
          <p:nvPr/>
        </p:nvSpPr>
        <p:spPr>
          <a:xfrm>
            <a:off x="9705025" y="3841174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41" name="58 Rectángulo">
            <a:extLst>
              <a:ext uri="{FF2B5EF4-FFF2-40B4-BE49-F238E27FC236}">
                <a16:creationId xmlns:a16="http://schemas.microsoft.com/office/drawing/2014/main" id="{BB9F12A6-6992-4DEB-9E75-053FCAC74F0F}"/>
              </a:ext>
            </a:extLst>
          </p:cNvPr>
          <p:cNvSpPr/>
          <p:nvPr/>
        </p:nvSpPr>
        <p:spPr>
          <a:xfrm>
            <a:off x="8946705" y="4082521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cxnSp>
        <p:nvCxnSpPr>
          <p:cNvPr id="45" name="Conector recto 20">
            <a:extLst>
              <a:ext uri="{FF2B5EF4-FFF2-40B4-BE49-F238E27FC236}">
                <a16:creationId xmlns:a16="http://schemas.microsoft.com/office/drawing/2014/main" id="{707B27F0-D22A-4154-BA5C-1DF6B7EDB113}"/>
              </a:ext>
            </a:extLst>
          </p:cNvPr>
          <p:cNvCxnSpPr/>
          <p:nvPr/>
        </p:nvCxnSpPr>
        <p:spPr>
          <a:xfrm flipV="1">
            <a:off x="9229020" y="4210997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58 Rectángulo">
            <a:extLst>
              <a:ext uri="{FF2B5EF4-FFF2-40B4-BE49-F238E27FC236}">
                <a16:creationId xmlns:a16="http://schemas.microsoft.com/office/drawing/2014/main" id="{7620F28F-CD5A-44F7-B2B8-537871C7C16C}"/>
              </a:ext>
            </a:extLst>
          </p:cNvPr>
          <p:cNvSpPr/>
          <p:nvPr/>
        </p:nvSpPr>
        <p:spPr>
          <a:xfrm>
            <a:off x="9705025" y="4081941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cxnSp>
        <p:nvCxnSpPr>
          <p:cNvPr id="53" name="Conector recto 88">
            <a:extLst>
              <a:ext uri="{FF2B5EF4-FFF2-40B4-BE49-F238E27FC236}">
                <a16:creationId xmlns:a16="http://schemas.microsoft.com/office/drawing/2014/main" id="{13D989D9-FC28-4C61-9D1E-DD4EB41F249C}"/>
              </a:ext>
            </a:extLst>
          </p:cNvPr>
          <p:cNvCxnSpPr/>
          <p:nvPr/>
        </p:nvCxnSpPr>
        <p:spPr>
          <a:xfrm flipV="1">
            <a:off x="9986183" y="4210997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57" name="3 Rectángulo">
            <a:extLst>
              <a:ext uri="{FF2B5EF4-FFF2-40B4-BE49-F238E27FC236}">
                <a16:creationId xmlns:a16="http://schemas.microsoft.com/office/drawing/2014/main" id="{A3DF56A7-2EC2-4175-9C9A-DFA0BCB13B7C}"/>
              </a:ext>
            </a:extLst>
          </p:cNvPr>
          <p:cNvSpPr/>
          <p:nvPr/>
        </p:nvSpPr>
        <p:spPr>
          <a:xfrm>
            <a:off x="8983294" y="1536672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 useBgFill="1">
        <p:nvSpPr>
          <p:cNvPr id="58" name="3 Rectángulo">
            <a:extLst>
              <a:ext uri="{FF2B5EF4-FFF2-40B4-BE49-F238E27FC236}">
                <a16:creationId xmlns:a16="http://schemas.microsoft.com/office/drawing/2014/main" id="{DC9336CD-394F-4FD1-AF85-4F5675C3F08C}"/>
              </a:ext>
            </a:extLst>
          </p:cNvPr>
          <p:cNvSpPr/>
          <p:nvPr/>
        </p:nvSpPr>
        <p:spPr>
          <a:xfrm>
            <a:off x="8983294" y="1773041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59" name="3 Rectángulo">
            <a:extLst>
              <a:ext uri="{FF2B5EF4-FFF2-40B4-BE49-F238E27FC236}">
                <a16:creationId xmlns:a16="http://schemas.microsoft.com/office/drawing/2014/main" id="{5EFE596B-914B-430D-AD05-7E349675DE42}"/>
              </a:ext>
            </a:extLst>
          </p:cNvPr>
          <p:cNvSpPr/>
          <p:nvPr/>
        </p:nvSpPr>
        <p:spPr>
          <a:xfrm>
            <a:off x="8983294" y="2009410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60" name="3 Rectángulo">
            <a:extLst>
              <a:ext uri="{FF2B5EF4-FFF2-40B4-BE49-F238E27FC236}">
                <a16:creationId xmlns:a16="http://schemas.microsoft.com/office/drawing/2014/main" id="{513E3870-AEEC-44AB-93C1-C9D4D8F7CD3A}"/>
              </a:ext>
            </a:extLst>
          </p:cNvPr>
          <p:cNvSpPr/>
          <p:nvPr/>
        </p:nvSpPr>
        <p:spPr>
          <a:xfrm>
            <a:off x="8983294" y="224577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61" name="3 Rectángulo">
            <a:extLst>
              <a:ext uri="{FF2B5EF4-FFF2-40B4-BE49-F238E27FC236}">
                <a16:creationId xmlns:a16="http://schemas.microsoft.com/office/drawing/2014/main" id="{FBE03FC3-2A7C-43A4-AAA2-D35C85AE35BF}"/>
              </a:ext>
            </a:extLst>
          </p:cNvPr>
          <p:cNvSpPr/>
          <p:nvPr/>
        </p:nvSpPr>
        <p:spPr>
          <a:xfrm>
            <a:off x="8983294" y="248214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cxnSp>
        <p:nvCxnSpPr>
          <p:cNvPr id="62" name="Conector recto 97">
            <a:extLst>
              <a:ext uri="{FF2B5EF4-FFF2-40B4-BE49-F238E27FC236}">
                <a16:creationId xmlns:a16="http://schemas.microsoft.com/office/drawing/2014/main" id="{6FE4E04B-0AB2-470C-B33F-5A12739668DD}"/>
              </a:ext>
            </a:extLst>
          </p:cNvPr>
          <p:cNvCxnSpPr/>
          <p:nvPr/>
        </p:nvCxnSpPr>
        <p:spPr>
          <a:xfrm flipV="1">
            <a:off x="9330891" y="2431241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98">
            <a:extLst>
              <a:ext uri="{FF2B5EF4-FFF2-40B4-BE49-F238E27FC236}">
                <a16:creationId xmlns:a16="http://schemas.microsoft.com/office/drawing/2014/main" id="{9F138228-3949-4800-A3CA-2EE3CBCD4186}"/>
              </a:ext>
            </a:extLst>
          </p:cNvPr>
          <p:cNvCxnSpPr/>
          <p:nvPr/>
        </p:nvCxnSpPr>
        <p:spPr>
          <a:xfrm flipV="1">
            <a:off x="9330891" y="2650335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1139211-FB42-484F-9DE3-5F86AFC39BF6}"/>
              </a:ext>
            </a:extLst>
          </p:cNvPr>
          <p:cNvGraphicFramePr>
            <a:graphicFrameLocks noGrp="1"/>
          </p:cNvGraphicFramePr>
          <p:nvPr/>
        </p:nvGraphicFramePr>
        <p:xfrm>
          <a:off x="8856180" y="4418249"/>
          <a:ext cx="1732517" cy="7909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2517">
                  <a:extLst>
                    <a:ext uri="{9D8B030D-6E8A-4147-A177-3AD203B41FA5}">
                      <a16:colId xmlns:a16="http://schemas.microsoft.com/office/drawing/2014/main" val="1709370710"/>
                    </a:ext>
                  </a:extLst>
                </a:gridCol>
              </a:tblGrid>
              <a:tr h="790909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u="none" strike="noStrike">
                          <a:effectLst/>
                        </a:rPr>
                        <a:t>NOTA IMPORTANTE</a:t>
                      </a:r>
                      <a:r>
                        <a:rPr lang="es-MX" sz="1100" u="none" strike="noStrike">
                          <a:effectLst/>
                        </a:rPr>
                        <a:t>: Toda herramienta o software que impacte en gasto, estará sujeta a autorización.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805098"/>
                  </a:ext>
                </a:extLst>
              </a:tr>
            </a:tbl>
          </a:graphicData>
        </a:graphic>
      </p:graphicFrame>
      <p:sp>
        <p:nvSpPr>
          <p:cNvPr id="42" name="CuadroTexto 41">
            <a:extLst>
              <a:ext uri="{FF2B5EF4-FFF2-40B4-BE49-F238E27FC236}">
                <a16:creationId xmlns:a16="http://schemas.microsoft.com/office/drawing/2014/main" id="{C7BE7386-847F-D3C3-1C25-08508DD8A0A1}"/>
              </a:ext>
            </a:extLst>
          </p:cNvPr>
          <p:cNvSpPr txBox="1"/>
          <p:nvPr/>
        </p:nvSpPr>
        <p:spPr>
          <a:xfrm>
            <a:off x="8883622" y="1230170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59BE0A2-50E4-043A-41EF-77662E59E493}"/>
              </a:ext>
            </a:extLst>
          </p:cNvPr>
          <p:cNvSpPr txBox="1"/>
          <p:nvPr/>
        </p:nvSpPr>
        <p:spPr>
          <a:xfrm>
            <a:off x="8832653" y="3014201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D216D41-0019-93B7-B5E4-DFAEA3E4E84D}"/>
              </a:ext>
            </a:extLst>
          </p:cNvPr>
          <p:cNvSpPr txBox="1"/>
          <p:nvPr/>
        </p:nvSpPr>
        <p:spPr>
          <a:xfrm>
            <a:off x="9575380" y="3038443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DD6122-049D-87B2-9FCE-89D047581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2462" y="157088"/>
            <a:ext cx="1047750" cy="532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CuadroTexto 49">
            <a:extLst>
              <a:ext uri="{FF2B5EF4-FFF2-40B4-BE49-F238E27FC236}">
                <a16:creationId xmlns:a16="http://schemas.microsoft.com/office/drawing/2014/main" id="{BF1B0612-260A-31B2-838C-9B4AFCB8764D}"/>
              </a:ext>
            </a:extLst>
          </p:cNvPr>
          <p:cNvSpPr txBox="1"/>
          <p:nvPr/>
        </p:nvSpPr>
        <p:spPr>
          <a:xfrm>
            <a:off x="8883622" y="1935020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A6107963-9004-24C6-7D35-077CC0F832B2}"/>
              </a:ext>
            </a:extLst>
          </p:cNvPr>
          <p:cNvSpPr txBox="1"/>
          <p:nvPr/>
        </p:nvSpPr>
        <p:spPr>
          <a:xfrm>
            <a:off x="8826518" y="3277371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6F580220-5E98-4C3B-4293-9C354CF9ED12}"/>
              </a:ext>
            </a:extLst>
          </p:cNvPr>
          <p:cNvSpPr/>
          <p:nvPr/>
        </p:nvSpPr>
        <p:spPr>
          <a:xfrm>
            <a:off x="66675" y="1112280"/>
            <a:ext cx="942975" cy="2183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>
                <a:solidFill>
                  <a:schemeClr val="tx1"/>
                </a:solidFill>
              </a:rPr>
              <a:t>Ejemplo</a:t>
            </a:r>
          </a:p>
        </p:txBody>
      </p:sp>
    </p:spTree>
    <p:extLst>
      <p:ext uri="{BB962C8B-B14F-4D97-AF65-F5344CB8AC3E}">
        <p14:creationId xmlns:p14="http://schemas.microsoft.com/office/powerpoint/2010/main" val="679105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AA8D71CC-25E5-3083-AA59-D48069D2D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ángulo 26">
            <a:extLst>
              <a:ext uri="{FF2B5EF4-FFF2-40B4-BE49-F238E27FC236}">
                <a16:creationId xmlns:a16="http://schemas.microsoft.com/office/drawing/2014/main" id="{685B80D0-ACE9-430D-0968-D497B6A86DE4}"/>
              </a:ext>
            </a:extLst>
          </p:cNvPr>
          <p:cNvSpPr/>
          <p:nvPr/>
        </p:nvSpPr>
        <p:spPr>
          <a:xfrm>
            <a:off x="4903268" y="2307026"/>
            <a:ext cx="160884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Director Abasto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Lauro Tagle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6975D636-73BB-21EF-E5A3-82114D16F5CC}"/>
              </a:ext>
            </a:extLst>
          </p:cNvPr>
          <p:cNvSpPr/>
          <p:nvPr/>
        </p:nvSpPr>
        <p:spPr>
          <a:xfrm>
            <a:off x="4851061" y="1680834"/>
            <a:ext cx="1718177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Director Cadena Suministro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9332E09C-E225-D9E3-526F-3AFCF8A8C4DB}"/>
              </a:ext>
            </a:extLst>
          </p:cNvPr>
          <p:cNvCxnSpPr>
            <a:cxnSpLocks/>
            <a:stCxn id="31" idx="2"/>
            <a:endCxn id="27" idx="0"/>
          </p:cNvCxnSpPr>
          <p:nvPr/>
        </p:nvCxnSpPr>
        <p:spPr>
          <a:xfrm flipH="1">
            <a:off x="5707688" y="2134434"/>
            <a:ext cx="2462" cy="172592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ángulo 29">
            <a:extLst>
              <a:ext uri="{FF2B5EF4-FFF2-40B4-BE49-F238E27FC236}">
                <a16:creationId xmlns:a16="http://schemas.microsoft.com/office/drawing/2014/main" id="{47A6FC54-A62D-9E15-75B3-034E27B67F04}"/>
              </a:ext>
            </a:extLst>
          </p:cNvPr>
          <p:cNvSpPr/>
          <p:nvPr/>
        </p:nvSpPr>
        <p:spPr>
          <a:xfrm>
            <a:off x="3720718" y="2969783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Reposición Diaria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Isolda Hernandez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32EFAB8A-1A5C-B76D-17CB-81E752A31798}"/>
              </a:ext>
            </a:extLst>
          </p:cNvPr>
          <p:cNvSpPr/>
          <p:nvPr/>
        </p:nvSpPr>
        <p:spPr>
          <a:xfrm>
            <a:off x="6535863" y="2969548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Abasto Marcas Propias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Gabriela Reyes Garza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252F0BDB-1258-8538-8AB5-ECB03C822DD7}"/>
              </a:ext>
            </a:extLst>
          </p:cNvPr>
          <p:cNvSpPr/>
          <p:nvPr/>
        </p:nvSpPr>
        <p:spPr>
          <a:xfrm>
            <a:off x="5100146" y="2969548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Abasto </a:t>
            </a:r>
            <a:r>
              <a:rPr kumimoji="0" lang="es-MX" sz="7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</a:t>
            </a:r>
            <a:r>
              <a:rPr lang="es-MX" sz="7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kumimoji="0" lang="es-MX" sz="7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ervice</a:t>
            </a:r>
            <a:endParaRPr kumimoji="0" lang="es-MX" sz="7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Rosmil</a:t>
            </a: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Gabriela Sanchez</a:t>
            </a:r>
          </a:p>
        </p:txBody>
      </p:sp>
      <p:cxnSp>
        <p:nvCxnSpPr>
          <p:cNvPr id="43" name="Conector: angular 42">
            <a:extLst>
              <a:ext uri="{FF2B5EF4-FFF2-40B4-BE49-F238E27FC236}">
                <a16:creationId xmlns:a16="http://schemas.microsoft.com/office/drawing/2014/main" id="{2BFB9C14-CF49-8026-6599-FFAE363FC324}"/>
              </a:ext>
            </a:extLst>
          </p:cNvPr>
          <p:cNvCxnSpPr>
            <a:stCxn id="30" idx="0"/>
            <a:endCxn id="27" idx="2"/>
          </p:cNvCxnSpPr>
          <p:nvPr/>
        </p:nvCxnSpPr>
        <p:spPr>
          <a:xfrm rot="5400000" flipH="1" flipV="1">
            <a:off x="4918758" y="2180854"/>
            <a:ext cx="209157" cy="1368703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ector: angular 46">
            <a:extLst>
              <a:ext uri="{FF2B5EF4-FFF2-40B4-BE49-F238E27FC236}">
                <a16:creationId xmlns:a16="http://schemas.microsoft.com/office/drawing/2014/main" id="{C1127ABF-BD9A-F5B3-B01E-9B1DFAC88568}"/>
              </a:ext>
            </a:extLst>
          </p:cNvPr>
          <p:cNvCxnSpPr>
            <a:cxnSpLocks/>
            <a:stCxn id="39" idx="0"/>
            <a:endCxn id="27" idx="2"/>
          </p:cNvCxnSpPr>
          <p:nvPr/>
        </p:nvCxnSpPr>
        <p:spPr>
          <a:xfrm rot="5400000" flipH="1" flipV="1">
            <a:off x="3481069" y="743047"/>
            <a:ext cx="209040" cy="4244198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ector: angular 48">
            <a:extLst>
              <a:ext uri="{FF2B5EF4-FFF2-40B4-BE49-F238E27FC236}">
                <a16:creationId xmlns:a16="http://schemas.microsoft.com/office/drawing/2014/main" id="{453EEA93-8E4C-3981-531C-15036E26F4BF}"/>
              </a:ext>
            </a:extLst>
          </p:cNvPr>
          <p:cNvCxnSpPr>
            <a:stCxn id="34" idx="0"/>
            <a:endCxn id="27" idx="2"/>
          </p:cNvCxnSpPr>
          <p:nvPr/>
        </p:nvCxnSpPr>
        <p:spPr>
          <a:xfrm rot="16200000" flipV="1">
            <a:off x="6326448" y="2141866"/>
            <a:ext cx="208922" cy="1446442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ector: angular 50">
            <a:extLst>
              <a:ext uri="{FF2B5EF4-FFF2-40B4-BE49-F238E27FC236}">
                <a16:creationId xmlns:a16="http://schemas.microsoft.com/office/drawing/2014/main" id="{7183C520-F779-D01B-2080-E05D60DFFF18}"/>
              </a:ext>
            </a:extLst>
          </p:cNvPr>
          <p:cNvCxnSpPr>
            <a:cxnSpLocks/>
            <a:stCxn id="41" idx="0"/>
            <a:endCxn id="27" idx="2"/>
          </p:cNvCxnSpPr>
          <p:nvPr/>
        </p:nvCxnSpPr>
        <p:spPr>
          <a:xfrm rot="5400000" flipH="1" flipV="1">
            <a:off x="4196284" y="1458026"/>
            <a:ext cx="208804" cy="2814004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ector: angular 52">
            <a:extLst>
              <a:ext uri="{FF2B5EF4-FFF2-40B4-BE49-F238E27FC236}">
                <a16:creationId xmlns:a16="http://schemas.microsoft.com/office/drawing/2014/main" id="{C47A9A38-FE0C-AF2F-6030-E36EF4E1B5C5}"/>
              </a:ext>
            </a:extLst>
          </p:cNvPr>
          <p:cNvCxnSpPr>
            <a:stCxn id="36" idx="0"/>
            <a:endCxn id="27" idx="2"/>
          </p:cNvCxnSpPr>
          <p:nvPr/>
        </p:nvCxnSpPr>
        <p:spPr>
          <a:xfrm rot="16200000" flipV="1">
            <a:off x="5608590" y="2859724"/>
            <a:ext cx="208922" cy="10725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ángulo 38">
            <a:extLst>
              <a:ext uri="{FF2B5EF4-FFF2-40B4-BE49-F238E27FC236}">
                <a16:creationId xmlns:a16="http://schemas.microsoft.com/office/drawing/2014/main" id="{AEDAF17E-34A3-971D-9BAF-B6F6084E112F}"/>
              </a:ext>
            </a:extLst>
          </p:cNvPr>
          <p:cNvSpPr/>
          <p:nvPr/>
        </p:nvSpPr>
        <p:spPr>
          <a:xfrm>
            <a:off x="845223" y="2969666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Impulso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Suzell Denise Silva 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C6516FBC-C73E-D502-1FF2-24AD86BBEE84}"/>
              </a:ext>
            </a:extLst>
          </p:cNvPr>
          <p:cNvSpPr/>
          <p:nvPr/>
        </p:nvSpPr>
        <p:spPr>
          <a:xfrm>
            <a:off x="2275417" y="2969430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Impulso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 Karen de Leon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C1AC66B0-B0F6-8032-1E47-E91F8FB27E71}"/>
              </a:ext>
            </a:extLst>
          </p:cNvPr>
          <p:cNvSpPr/>
          <p:nvPr/>
        </p:nvSpPr>
        <p:spPr>
          <a:xfrm>
            <a:off x="7978927" y="2969430"/>
            <a:ext cx="1236534" cy="453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Soporte Abasto</a:t>
            </a:r>
          </a:p>
        </p:txBody>
      </p:sp>
      <p:cxnSp>
        <p:nvCxnSpPr>
          <p:cNvPr id="48" name="Conector: angular 47">
            <a:extLst>
              <a:ext uri="{FF2B5EF4-FFF2-40B4-BE49-F238E27FC236}">
                <a16:creationId xmlns:a16="http://schemas.microsoft.com/office/drawing/2014/main" id="{A73CD7AD-4983-7724-856C-46CC654CA758}"/>
              </a:ext>
            </a:extLst>
          </p:cNvPr>
          <p:cNvCxnSpPr>
            <a:cxnSpLocks/>
            <a:stCxn id="46" idx="0"/>
            <a:endCxn id="27" idx="2"/>
          </p:cNvCxnSpPr>
          <p:nvPr/>
        </p:nvCxnSpPr>
        <p:spPr>
          <a:xfrm rot="16200000" flipV="1">
            <a:off x="7048039" y="1420275"/>
            <a:ext cx="208804" cy="2889506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Bocadillo: rectángulo con esquinas redondeadas 196">
            <a:extLst>
              <a:ext uri="{FF2B5EF4-FFF2-40B4-BE49-F238E27FC236}">
                <a16:creationId xmlns:a16="http://schemas.microsoft.com/office/drawing/2014/main" id="{19FE0ED9-7EE0-61F9-EC24-6B9EE9AB0970}"/>
              </a:ext>
            </a:extLst>
          </p:cNvPr>
          <p:cNvSpPr/>
          <p:nvPr/>
        </p:nvSpPr>
        <p:spPr>
          <a:xfrm>
            <a:off x="9566547" y="2785013"/>
            <a:ext cx="2061048" cy="640856"/>
          </a:xfrm>
          <a:prstGeom prst="wedgeRoundRectCallout">
            <a:avLst>
              <a:gd name="adj1" fmla="val -66264"/>
              <a:gd name="adj2" fmla="val 11233"/>
              <a:gd name="adj3" fmla="val 16667"/>
            </a:avLst>
          </a:prstGeom>
          <a:solidFill>
            <a:srgbClr val="F6F6F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>
                <a:solidFill>
                  <a:schemeClr val="tx1"/>
                </a:solidFill>
              </a:rPr>
              <a:t>FTE adicional, se recupera de la centralización de abasto en operaciones, aquí se ampliará </a:t>
            </a:r>
            <a:r>
              <a:rPr lang="es-ES" sz="800" err="1">
                <a:solidFill>
                  <a:schemeClr val="tx1"/>
                </a:solidFill>
              </a:rPr>
              <a:t>SoC</a:t>
            </a:r>
            <a:r>
              <a:rPr lang="es-ES" sz="800">
                <a:solidFill>
                  <a:schemeClr val="tx1"/>
                </a:solidFill>
              </a:rPr>
              <a:t> una vez centralizadas las funciones</a:t>
            </a:r>
            <a:endParaRPr lang="es-MX" sz="800">
              <a:solidFill>
                <a:schemeClr val="tx1"/>
              </a:solidFill>
            </a:endParaRPr>
          </a:p>
        </p:txBody>
      </p:sp>
      <p:sp>
        <p:nvSpPr>
          <p:cNvPr id="200" name="Rectángulo 199">
            <a:extLst>
              <a:ext uri="{FF2B5EF4-FFF2-40B4-BE49-F238E27FC236}">
                <a16:creationId xmlns:a16="http://schemas.microsoft.com/office/drawing/2014/main" id="{82E13FB6-AAC2-D4DF-E99C-49632376B68E}"/>
              </a:ext>
            </a:extLst>
          </p:cNvPr>
          <p:cNvSpPr/>
          <p:nvPr/>
        </p:nvSpPr>
        <p:spPr>
          <a:xfrm>
            <a:off x="2280178" y="3423028"/>
            <a:ext cx="1231011" cy="17283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00" i="1">
                <a:solidFill>
                  <a:schemeClr val="tx1"/>
                </a:solidFill>
              </a:rPr>
              <a:t>2  vacantes, Analista Abasto</a:t>
            </a:r>
            <a:endParaRPr lang="es-MX" sz="600" i="1">
              <a:solidFill>
                <a:schemeClr val="tx1"/>
              </a:solidFill>
            </a:endParaRPr>
          </a:p>
        </p:txBody>
      </p:sp>
      <p:pic>
        <p:nvPicPr>
          <p:cNvPr id="259" name="Imagen 258">
            <a:hlinkClick r:id="rId4" action="ppaction://hlinksldjump"/>
            <a:extLst>
              <a:ext uri="{FF2B5EF4-FFF2-40B4-BE49-F238E27FC236}">
                <a16:creationId xmlns:a16="http://schemas.microsoft.com/office/drawing/2014/main" id="{56574E46-B9FB-C21B-56AB-E6727A8527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3328" y="96838"/>
            <a:ext cx="314834" cy="314834"/>
          </a:xfrm>
          <a:prstGeom prst="rect">
            <a:avLst/>
          </a:prstGeom>
        </p:spPr>
      </p:pic>
      <p:sp>
        <p:nvSpPr>
          <p:cNvPr id="261" name="CuadroTexto 260">
            <a:extLst>
              <a:ext uri="{FF2B5EF4-FFF2-40B4-BE49-F238E27FC236}">
                <a16:creationId xmlns:a16="http://schemas.microsoft.com/office/drawing/2014/main" id="{07283218-3E23-D281-2EC9-3CE8DA51E908}"/>
              </a:ext>
            </a:extLst>
          </p:cNvPr>
          <p:cNvSpPr txBox="1"/>
          <p:nvPr/>
        </p:nvSpPr>
        <p:spPr>
          <a:xfrm>
            <a:off x="444843" y="1330609"/>
            <a:ext cx="4378616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b="1"/>
              <a:t>Propósito</a:t>
            </a:r>
          </a:p>
          <a:p>
            <a:r>
              <a:rPr lang="es-MX" sz="1000"/>
              <a:t>Diseñar y operar la estrategia de </a:t>
            </a:r>
            <a:r>
              <a:rPr lang="es-MX" sz="1000" b="1"/>
              <a:t>demanda, abasto y suministro </a:t>
            </a:r>
            <a:r>
              <a:rPr lang="es-MX" sz="1000"/>
              <a:t>de OXXO México, con el fin de potencializar la propuesta de valor centrada en el Cliente, con el fin de garantizar la abasto sustentable y sostenible de acuerdo con la expansión del negocio con sus nuevos canales y  capas de valor agregadas.​ 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5943841-D0E0-2FDA-A509-DF366A3D331D}"/>
              </a:ext>
            </a:extLst>
          </p:cNvPr>
          <p:cNvSpPr/>
          <p:nvPr/>
        </p:nvSpPr>
        <p:spPr>
          <a:xfrm>
            <a:off x="847984" y="3791677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>
                <a:solidFill>
                  <a:sysClr val="windowText" lastClr="000000"/>
                </a:solidFill>
              </a:rPr>
              <a:t>- 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631D6DEB-59A3-D310-FE8A-C471154E947D}"/>
              </a:ext>
            </a:extLst>
          </p:cNvPr>
          <p:cNvSpPr/>
          <p:nvPr/>
        </p:nvSpPr>
        <p:spPr>
          <a:xfrm>
            <a:off x="2282723" y="3791676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F49E4E79-E6C0-C204-4595-50CF6C708E1C}"/>
              </a:ext>
            </a:extLst>
          </p:cNvPr>
          <p:cNvSpPr/>
          <p:nvPr/>
        </p:nvSpPr>
        <p:spPr>
          <a:xfrm>
            <a:off x="3766886" y="3791676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7A5135EF-299A-CD02-2D8F-6717466AD939}"/>
              </a:ext>
            </a:extLst>
          </p:cNvPr>
          <p:cNvSpPr/>
          <p:nvPr/>
        </p:nvSpPr>
        <p:spPr>
          <a:xfrm>
            <a:off x="5141521" y="3791676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1E2E832B-62AD-8C67-EDFE-3202526BDFA4}"/>
              </a:ext>
            </a:extLst>
          </p:cNvPr>
          <p:cNvSpPr/>
          <p:nvPr/>
        </p:nvSpPr>
        <p:spPr>
          <a:xfrm>
            <a:off x="6535863" y="3791676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33AAFDBB-C06D-FA7C-609D-204DD13C03CF}"/>
              </a:ext>
            </a:extLst>
          </p:cNvPr>
          <p:cNvSpPr/>
          <p:nvPr/>
        </p:nvSpPr>
        <p:spPr>
          <a:xfrm>
            <a:off x="7984450" y="3791675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628B153-EE1E-848A-6D1D-FFAF5889D3FF}"/>
              </a:ext>
            </a:extLst>
          </p:cNvPr>
          <p:cNvSpPr/>
          <p:nvPr/>
        </p:nvSpPr>
        <p:spPr>
          <a:xfrm>
            <a:off x="66675" y="1112280"/>
            <a:ext cx="942975" cy="2183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>
                <a:solidFill>
                  <a:schemeClr val="tx1"/>
                </a:solidFill>
              </a:rPr>
              <a:t>Ejemplo</a:t>
            </a:r>
          </a:p>
        </p:txBody>
      </p:sp>
      <p:sp>
        <p:nvSpPr>
          <p:cNvPr id="3" name="Título 3">
            <a:extLst>
              <a:ext uri="{FF2B5EF4-FFF2-40B4-BE49-F238E27FC236}">
                <a16:creationId xmlns:a16="http://schemas.microsoft.com/office/drawing/2014/main" id="{202F7401-ED31-48E2-0F9A-CABF5C4E9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49905"/>
            <a:ext cx="7896000" cy="777875"/>
          </a:xfrm>
        </p:spPr>
        <p:txBody>
          <a:bodyPr/>
          <a:lstStyle/>
          <a:p>
            <a:r>
              <a:rPr lang="es-ES"/>
              <a:t>Principales contribuciones del área</a:t>
            </a:r>
            <a:br>
              <a:rPr lang="es-ES"/>
            </a:br>
            <a:r>
              <a:rPr lang="es-ES">
                <a:highlight>
                  <a:srgbClr val="FFFF00"/>
                </a:highlight>
              </a:rPr>
              <a:t>Plataforma</a:t>
            </a:r>
            <a:endParaRPr lang="es-MX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56374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B80DD89-91A3-35BF-46F8-436A28D7C493}"/>
              </a:ext>
            </a:extLst>
          </p:cNvPr>
          <p:cNvSpPr txBox="1"/>
          <p:nvPr/>
        </p:nvSpPr>
        <p:spPr>
          <a:xfrm>
            <a:off x="942977" y="1313974"/>
            <a:ext cx="9048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Objetivo:</a:t>
            </a:r>
          </a:p>
          <a:p>
            <a:r>
              <a:rPr lang="es-ES" sz="1400" i="1"/>
              <a:t>Entender los procesos </a:t>
            </a:r>
            <a:r>
              <a:rPr lang="es-ES" sz="1400" i="1" err="1"/>
              <a:t>core</a:t>
            </a:r>
            <a:r>
              <a:rPr lang="es-ES" sz="1400" i="1"/>
              <a:t> y que pudieron haber tenido alguna modificación  </a:t>
            </a:r>
            <a:endParaRPr lang="es-MX" sz="1400" i="1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5537519-FC68-3EE9-AA6E-7347B173A5F9}"/>
              </a:ext>
            </a:extLst>
          </p:cNvPr>
          <p:cNvSpPr/>
          <p:nvPr/>
        </p:nvSpPr>
        <p:spPr>
          <a:xfrm>
            <a:off x="6125759" y="2223741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Reposición Diaria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Isolda Hernandez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DF7BD93-7152-5D76-C4BB-ADC289E2F8EA}"/>
              </a:ext>
            </a:extLst>
          </p:cNvPr>
          <p:cNvSpPr/>
          <p:nvPr/>
        </p:nvSpPr>
        <p:spPr>
          <a:xfrm>
            <a:off x="8940904" y="2223506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Abasto Marcas Propias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Gabriela Reyes Garza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5AE0D19-6275-945D-FCC2-FC25B0BF8A0B}"/>
              </a:ext>
            </a:extLst>
          </p:cNvPr>
          <p:cNvSpPr/>
          <p:nvPr/>
        </p:nvSpPr>
        <p:spPr>
          <a:xfrm>
            <a:off x="7505187" y="2223506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Abasto </a:t>
            </a:r>
            <a:r>
              <a:rPr kumimoji="0" lang="es-MX" sz="7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</a:t>
            </a:r>
            <a:r>
              <a:rPr lang="es-MX" sz="7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kumimoji="0" lang="es-MX" sz="7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ervice</a:t>
            </a:r>
            <a:endParaRPr kumimoji="0" lang="es-MX" sz="7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Rosmil</a:t>
            </a: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Gabriela Sanchez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F512CCB-1B7F-51AF-359E-0F1F7BCDB0E9}"/>
              </a:ext>
            </a:extLst>
          </p:cNvPr>
          <p:cNvSpPr/>
          <p:nvPr/>
        </p:nvSpPr>
        <p:spPr>
          <a:xfrm>
            <a:off x="3250264" y="2223624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Impulso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Suzell Denise Silva 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A7DC22D-BA2A-5432-3ED2-74FE3E4BEF0A}"/>
              </a:ext>
            </a:extLst>
          </p:cNvPr>
          <p:cNvSpPr/>
          <p:nvPr/>
        </p:nvSpPr>
        <p:spPr>
          <a:xfrm>
            <a:off x="4680458" y="2223388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Impulso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 Karen de Leon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4B87331-BA78-592E-5E35-056340EF3FB5}"/>
              </a:ext>
            </a:extLst>
          </p:cNvPr>
          <p:cNvSpPr/>
          <p:nvPr/>
        </p:nvSpPr>
        <p:spPr>
          <a:xfrm>
            <a:off x="10383968" y="2223388"/>
            <a:ext cx="1236534" cy="453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Soporte Abasto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CC0F0DE-AFA5-A6C3-F19D-088D02D8A134}"/>
              </a:ext>
            </a:extLst>
          </p:cNvPr>
          <p:cNvSpPr/>
          <p:nvPr/>
        </p:nvSpPr>
        <p:spPr>
          <a:xfrm>
            <a:off x="3253025" y="3045635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>
                <a:solidFill>
                  <a:sysClr val="windowText" lastClr="000000"/>
                </a:solidFill>
              </a:rPr>
              <a:t>- 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A55959C-76D7-F282-E4EB-8710A3C0B335}"/>
              </a:ext>
            </a:extLst>
          </p:cNvPr>
          <p:cNvSpPr/>
          <p:nvPr/>
        </p:nvSpPr>
        <p:spPr>
          <a:xfrm>
            <a:off x="4687764" y="3045634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13819E4-F31F-AF16-15AD-4E04A1DB035D}"/>
              </a:ext>
            </a:extLst>
          </p:cNvPr>
          <p:cNvSpPr/>
          <p:nvPr/>
        </p:nvSpPr>
        <p:spPr>
          <a:xfrm>
            <a:off x="6171927" y="3045634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AA2A9CB-7090-ACB9-4A82-F9D2119C47A2}"/>
              </a:ext>
            </a:extLst>
          </p:cNvPr>
          <p:cNvSpPr/>
          <p:nvPr/>
        </p:nvSpPr>
        <p:spPr>
          <a:xfrm>
            <a:off x="7546562" y="3045634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E1D01FD-584F-0E3B-7A3D-DC5F5668C290}"/>
              </a:ext>
            </a:extLst>
          </p:cNvPr>
          <p:cNvSpPr/>
          <p:nvPr/>
        </p:nvSpPr>
        <p:spPr>
          <a:xfrm>
            <a:off x="8940904" y="3045634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918B9043-5A2A-40A0-B544-35C4CEC6B9A9}"/>
              </a:ext>
            </a:extLst>
          </p:cNvPr>
          <p:cNvSpPr/>
          <p:nvPr/>
        </p:nvSpPr>
        <p:spPr>
          <a:xfrm>
            <a:off x="10389491" y="3045633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A7F6532-A7BD-E20F-DDEA-9BE761F99408}"/>
              </a:ext>
            </a:extLst>
          </p:cNvPr>
          <p:cNvSpPr/>
          <p:nvPr/>
        </p:nvSpPr>
        <p:spPr>
          <a:xfrm>
            <a:off x="66675" y="1112280"/>
            <a:ext cx="942975" cy="2183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>
                <a:solidFill>
                  <a:schemeClr val="tx1"/>
                </a:solidFill>
              </a:rPr>
              <a:t>Ejemplo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35769B02-838B-10EC-DB8D-8A4ED180C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Interacciones entre áreas y procesos clave</a:t>
            </a:r>
            <a:br>
              <a:rPr lang="es-ES"/>
            </a:br>
            <a:r>
              <a:rPr lang="es-ES">
                <a:highlight>
                  <a:srgbClr val="FFFF00"/>
                </a:highlight>
              </a:rPr>
              <a:t>Plataforma</a:t>
            </a:r>
            <a:endParaRPr lang="es-MX">
              <a:highlight>
                <a:srgbClr val="FFFF00"/>
              </a:highlight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ECF3C7D-9F9C-75E8-5E40-7414BCE30AD9}"/>
              </a:ext>
            </a:extLst>
          </p:cNvPr>
          <p:cNvSpPr/>
          <p:nvPr/>
        </p:nvSpPr>
        <p:spPr>
          <a:xfrm>
            <a:off x="538161" y="2223388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Proceso/Actividad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F5DADD0-1B05-51B3-3CA2-5D066DF0CF9A}"/>
              </a:ext>
            </a:extLst>
          </p:cNvPr>
          <p:cNvSpPr/>
          <p:nvPr/>
        </p:nvSpPr>
        <p:spPr>
          <a:xfrm>
            <a:off x="538161" y="3045633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1.-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A8C5DBC-DB50-9649-10E4-2111B3E8CE0A}"/>
              </a:ext>
            </a:extLst>
          </p:cNvPr>
          <p:cNvSpPr txBox="1"/>
          <p:nvPr/>
        </p:nvSpPr>
        <p:spPr>
          <a:xfrm>
            <a:off x="439532" y="2829837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i="1"/>
              <a:t>Enlistar por prioridad e impacto</a:t>
            </a:r>
            <a:endParaRPr lang="es-MX" sz="80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EFEE4DD-31C5-7022-5306-BF095519AA19}"/>
              </a:ext>
            </a:extLst>
          </p:cNvPr>
          <p:cNvSpPr txBox="1"/>
          <p:nvPr/>
        </p:nvSpPr>
        <p:spPr>
          <a:xfrm>
            <a:off x="3211345" y="2829837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i="1"/>
              <a:t>Identificar (</a:t>
            </a:r>
            <a:r>
              <a:rPr lang="es-ES" sz="800" i="1" err="1"/>
              <a:t>Accountable</a:t>
            </a:r>
            <a:r>
              <a:rPr lang="es-ES" sz="800" i="1"/>
              <a:t>) y áreas impactadas</a:t>
            </a:r>
            <a:endParaRPr lang="es-MX" sz="80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56DB0F4-F54B-DF39-E43F-BF3E44DF62C3}"/>
              </a:ext>
            </a:extLst>
          </p:cNvPr>
          <p:cNvSpPr/>
          <p:nvPr/>
        </p:nvSpPr>
        <p:spPr>
          <a:xfrm>
            <a:off x="3250264" y="3045281"/>
            <a:ext cx="837023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0C542EF-81FF-8D4A-E88C-70C85511A91A}"/>
              </a:ext>
            </a:extLst>
          </p:cNvPr>
          <p:cNvSpPr txBox="1"/>
          <p:nvPr/>
        </p:nvSpPr>
        <p:spPr>
          <a:xfrm>
            <a:off x="3796649" y="3140417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1A8952F6-2F5B-8239-E882-6ED79848E8A2}"/>
              </a:ext>
            </a:extLst>
          </p:cNvPr>
          <p:cNvSpPr/>
          <p:nvPr/>
        </p:nvSpPr>
        <p:spPr>
          <a:xfrm>
            <a:off x="538161" y="3577536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7BBFC8E0-35FB-B5A4-F0B4-168B43A815EE}"/>
              </a:ext>
            </a:extLst>
          </p:cNvPr>
          <p:cNvSpPr/>
          <p:nvPr/>
        </p:nvSpPr>
        <p:spPr>
          <a:xfrm>
            <a:off x="3250264" y="3577184"/>
            <a:ext cx="837023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6879978-8430-034C-C550-3A606B237594}"/>
              </a:ext>
            </a:extLst>
          </p:cNvPr>
          <p:cNvSpPr txBox="1"/>
          <p:nvPr/>
        </p:nvSpPr>
        <p:spPr>
          <a:xfrm>
            <a:off x="3796649" y="3672320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9690A9AE-2B8D-37E7-C767-097881075089}"/>
              </a:ext>
            </a:extLst>
          </p:cNvPr>
          <p:cNvSpPr/>
          <p:nvPr/>
        </p:nvSpPr>
        <p:spPr>
          <a:xfrm>
            <a:off x="538161" y="4109087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B3D3B606-C3BB-D04B-D3D2-98061EEACD16}"/>
              </a:ext>
            </a:extLst>
          </p:cNvPr>
          <p:cNvSpPr/>
          <p:nvPr/>
        </p:nvSpPr>
        <p:spPr>
          <a:xfrm>
            <a:off x="3250264" y="4108735"/>
            <a:ext cx="837023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CE645B8E-233E-8121-1523-D16F498EE32E}"/>
              </a:ext>
            </a:extLst>
          </p:cNvPr>
          <p:cNvSpPr txBox="1"/>
          <p:nvPr/>
        </p:nvSpPr>
        <p:spPr>
          <a:xfrm>
            <a:off x="3796649" y="4203871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293DAA71-D951-5914-3576-1662F6F8D1A5}"/>
              </a:ext>
            </a:extLst>
          </p:cNvPr>
          <p:cNvSpPr/>
          <p:nvPr/>
        </p:nvSpPr>
        <p:spPr>
          <a:xfrm>
            <a:off x="538161" y="4657823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42788C3E-D93E-F83F-E668-407404095D83}"/>
              </a:ext>
            </a:extLst>
          </p:cNvPr>
          <p:cNvSpPr/>
          <p:nvPr/>
        </p:nvSpPr>
        <p:spPr>
          <a:xfrm>
            <a:off x="3250264" y="4657471"/>
            <a:ext cx="837023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4DCCC991-E4C3-6D82-7168-6FD63133D816}"/>
              </a:ext>
            </a:extLst>
          </p:cNvPr>
          <p:cNvSpPr txBox="1"/>
          <p:nvPr/>
        </p:nvSpPr>
        <p:spPr>
          <a:xfrm>
            <a:off x="3796649" y="4752607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B9DB0C9F-61C6-F4E4-746F-C58E15200BF0}"/>
              </a:ext>
            </a:extLst>
          </p:cNvPr>
          <p:cNvSpPr/>
          <p:nvPr/>
        </p:nvSpPr>
        <p:spPr>
          <a:xfrm>
            <a:off x="538161" y="5225056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C225143-E6F9-47ED-285E-753917605E9C}"/>
              </a:ext>
            </a:extLst>
          </p:cNvPr>
          <p:cNvSpPr/>
          <p:nvPr/>
        </p:nvSpPr>
        <p:spPr>
          <a:xfrm>
            <a:off x="3250264" y="5224704"/>
            <a:ext cx="837023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B66860F7-8486-22FF-8CBE-550E4C9DE66D}"/>
              </a:ext>
            </a:extLst>
          </p:cNvPr>
          <p:cNvSpPr txBox="1"/>
          <p:nvPr/>
        </p:nvSpPr>
        <p:spPr>
          <a:xfrm>
            <a:off x="3796649" y="5319840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40010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1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1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2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47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7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8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9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7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6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7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9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5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6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8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7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8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9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4"/>
  <p:tag name="BTFPLAYOUTENABLED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3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5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6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aster">
  <a:themeElements>
    <a:clrScheme name="Personalizados 379">
      <a:dk1>
        <a:srgbClr val="000000"/>
      </a:dk1>
      <a:lt1>
        <a:srgbClr val="FFFFFF"/>
      </a:lt1>
      <a:dk2>
        <a:srgbClr val="DCDADF"/>
      </a:dk2>
      <a:lt2>
        <a:srgbClr val="FFFFFF"/>
      </a:lt2>
      <a:accent1>
        <a:srgbClr val="E22726"/>
      </a:accent1>
      <a:accent2>
        <a:srgbClr val="FEAB00"/>
      </a:accent2>
      <a:accent3>
        <a:srgbClr val="6A6277"/>
      </a:accent3>
      <a:accent4>
        <a:srgbClr val="F48753"/>
      </a:accent4>
      <a:accent5>
        <a:srgbClr val="FF575D"/>
      </a:accent5>
      <a:accent6>
        <a:srgbClr val="A61D1C"/>
      </a:accent6>
      <a:hlink>
        <a:srgbClr val="000000"/>
      </a:hlink>
      <a:folHlink>
        <a:srgbClr val="6A6277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 smtClean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ster_oxxo14" id="{217A3DFA-4DD1-D34D-B4D0-386635B2318C}" vid="{FF1A948F-1564-B94D-8638-18859BF45C60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0.xml><?xml version="1.0" encoding="utf-8"?>
<a:theme xmlns:a="http://schemas.openxmlformats.org/drawingml/2006/main" name="Master">
  <a:themeElements>
    <a:clrScheme name="Personalizados 379">
      <a:dk1>
        <a:srgbClr val="000000"/>
      </a:dk1>
      <a:lt1>
        <a:srgbClr val="FFFFFF"/>
      </a:lt1>
      <a:dk2>
        <a:srgbClr val="DCDADF"/>
      </a:dk2>
      <a:lt2>
        <a:srgbClr val="FFFFFF"/>
      </a:lt2>
      <a:accent1>
        <a:srgbClr val="E22726"/>
      </a:accent1>
      <a:accent2>
        <a:srgbClr val="FEAB00"/>
      </a:accent2>
      <a:accent3>
        <a:srgbClr val="6A6277"/>
      </a:accent3>
      <a:accent4>
        <a:srgbClr val="F48753"/>
      </a:accent4>
      <a:accent5>
        <a:srgbClr val="FF575D"/>
      </a:accent5>
      <a:accent6>
        <a:srgbClr val="A61D1C"/>
      </a:accent6>
      <a:hlink>
        <a:srgbClr val="000000"/>
      </a:hlink>
      <a:folHlink>
        <a:srgbClr val="6A6277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 smtClean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ster_oxxo14" id="{217A3DFA-4DD1-D34D-B4D0-386635B2318C}" vid="{FF1A948F-1564-B94D-8638-18859BF45C60}"/>
    </a:ext>
  </a:extLst>
</a:theme>
</file>

<file path=ppt/theme/theme30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2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3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4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5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6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7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8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30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40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60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70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3DD5B74ED9C3D4095461D6E79182C3A" ma:contentTypeVersion="3" ma:contentTypeDescription="Crear nuevo documento." ma:contentTypeScope="" ma:versionID="0ac0bcc232f6a816b2e13b7b82680b11">
  <xsd:schema xmlns:xsd="http://www.w3.org/2001/XMLSchema" xmlns:xs="http://www.w3.org/2001/XMLSchema" xmlns:p="http://schemas.microsoft.com/office/2006/metadata/properties" xmlns:ns2="7ff1139c-9d19-4981-a26c-d6e7dc37fc8a" targetNamespace="http://schemas.microsoft.com/office/2006/metadata/properties" ma:root="true" ma:fieldsID="a929db68a28941f83294eee66c6701c3" ns2:_="">
    <xsd:import namespace="7ff1139c-9d19-4981-a26c-d6e7dc37fc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f1139c-9d19-4981-a26c-d6e7dc37fc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771CB96-E401-4C53-AF04-8539CC36B40B}">
  <ds:schemaRefs>
    <ds:schemaRef ds:uri="7ff1139c-9d19-4981-a26c-d6e7dc37fc8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132C117-599E-4172-BC94-78FAE328A3F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A3827B1-3712-4D8C-A6C0-A6B9F847DDF3}">
  <ds:schemaRefs>
    <ds:schemaRef ds:uri="http://schemas.microsoft.com/office/infopath/2007/PartnerControls"/>
    <ds:schemaRef ds:uri="http://schemas.openxmlformats.org/package/2006/metadata/core-properties"/>
    <ds:schemaRef ds:uri="http://purl.org/dc/terms/"/>
    <ds:schemaRef ds:uri="http://purl.org/dc/dcmitype/"/>
    <ds:schemaRef ds:uri="http://schemas.microsoft.com/office/2006/documentManagement/types"/>
    <ds:schemaRef ds:uri="http://purl.org/dc/elements/1.1/"/>
    <ds:schemaRef ds:uri="7ff1139c-9d19-4981-a26c-d6e7dc37fc8a"/>
    <ds:schemaRef ds:uri="http://schemas.microsoft.com/office/2006/metadata/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2717</TotalTime>
  <Words>2367</Words>
  <Application>Microsoft Office PowerPoint</Application>
  <PresentationFormat>Panorámica</PresentationFormat>
  <Paragraphs>308</Paragraphs>
  <Slides>13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13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Lucida Grande</vt:lpstr>
      <vt:lpstr>Open Sans</vt:lpstr>
      <vt:lpstr>Times New Roman</vt:lpstr>
      <vt:lpstr>Wingdings</vt:lpstr>
      <vt:lpstr>Tema de Office</vt:lpstr>
      <vt:lpstr>Master</vt:lpstr>
      <vt:lpstr>Fit for Purpose 2026 OXXO Cel Etapa de Detalle de actividades e interacciones</vt:lpstr>
      <vt:lpstr>Agenda</vt:lpstr>
      <vt:lpstr>Hemos completado el diseño de nuestra organización, un primer paso crítico en la redefinición de nuestra dirección estratégica</vt:lpstr>
      <vt:lpstr>Proceso Diseño FFP</vt:lpstr>
      <vt:lpstr>Alcance 2026</vt:lpstr>
      <vt:lpstr>Percepción inicial</vt:lpstr>
      <vt:lpstr>Presentación de PowerPoint</vt:lpstr>
      <vt:lpstr>Presentación de PowerPoint</vt:lpstr>
      <vt:lpstr>Principales contribuciones del área Estrategia y Transformación – OXXO Cel</vt:lpstr>
      <vt:lpstr>Interacciones entre áreas y procesos clave Estrategia y Transformación – OXXO Cel</vt:lpstr>
      <vt:lpstr>Preguntas de reflexión</vt:lpstr>
      <vt:lpstr>Siguientes pasos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 for Purpose 2026 Plataforma XXX Etapa de Detalle de actividades e interacciones</dc:title>
  <dc:creator>Rodriguez Barcenas Beatriz Adriana</dc:creator>
  <cp:lastModifiedBy>Rodriguez Barcenas Beatriz Adriana</cp:lastModifiedBy>
  <cp:revision>3</cp:revision>
  <dcterms:created xsi:type="dcterms:W3CDTF">2026-02-23T22:40:37Z</dcterms:created>
  <dcterms:modified xsi:type="dcterms:W3CDTF">2026-04-15T17:53:25Z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de Office:8\Master:3</vt:lpwstr>
  </property>
  <property fmtid="{D5CDD505-2E9C-101B-9397-08002B2CF9AE}" pid="3" name="ClassificationContentMarkingFooterText">
    <vt:lpwstr>OXXO | Uso Interno</vt:lpwstr>
  </property>
  <property fmtid="{D5CDD505-2E9C-101B-9397-08002B2CF9AE}" pid="4" name="ContentTypeId">
    <vt:lpwstr>0x010100A3DD5B74ED9C3D4095461D6E79182C3A</vt:lpwstr>
  </property>
</Properties>
</file>