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ags/tag112.xml" ContentType="application/vnd.openxmlformats-officedocument.presentationml.tags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6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slideLayouts/slideLayout140.xml" ContentType="application/vnd.openxmlformats-officedocument.presentationml.slideLayout+xml"/>
  <Override PartName="/ppt/theme/themeOverride3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  <p:sldMasterId id="2147483667" r:id="rId6"/>
    <p:sldMasterId id="2147483680" r:id="rId7"/>
  </p:sldMasterIdLst>
  <p:notesMasterIdLst>
    <p:notesMasterId r:id="rId25"/>
  </p:notesMasterIdLst>
  <p:sldIdLst>
    <p:sldId id="2147482941" r:id="rId8"/>
    <p:sldId id="2147482950" r:id="rId9"/>
    <p:sldId id="2147482947" r:id="rId10"/>
    <p:sldId id="2147482952" r:id="rId11"/>
    <p:sldId id="2147482943" r:id="rId12"/>
    <p:sldId id="2147482944" r:id="rId13"/>
    <p:sldId id="2147482956" r:id="rId14"/>
    <p:sldId id="270" r:id="rId15"/>
    <p:sldId id="262" r:id="rId16"/>
    <p:sldId id="2147483440" r:id="rId17"/>
    <p:sldId id="2147482948" r:id="rId18"/>
    <p:sldId id="2147482957" r:id="rId19"/>
    <p:sldId id="2147482945" r:id="rId20"/>
    <p:sldId id="2147482955" r:id="rId21"/>
    <p:sldId id="2147482949" r:id="rId22"/>
    <p:sldId id="2147482954" r:id="rId23"/>
    <p:sldId id="2147482951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6"/>
            <p14:sldId id="270"/>
            <p14:sldId id="262"/>
            <p14:sldId id="2147483440"/>
            <p14:sldId id="2147482948"/>
            <p14:sldId id="2147482957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misas" id="{3EFD999F-90C5-43FC-A22A-DF01F54C8B31}">
          <p14:sldIdLst>
            <p14:sldId id="214748295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C0CD3-1718-A226-E83B-684F39D93DDF}" v="5" dt="2026-04-17T21:20:11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94660"/>
  </p:normalViewPr>
  <p:slideViewPr>
    <p:cSldViewPr snapToGrid="0">
      <p:cViewPr varScale="1">
        <p:scale>
          <a:sx n="67" d="100"/>
          <a:sy n="67" d="100"/>
        </p:scale>
        <p:origin x="880" y="44"/>
      </p:cViewPr>
      <p:guideLst>
        <p:guide orient="horz" pos="21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39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758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6071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9149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.xml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.xml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72F30-4D3B-DB28-65D1-EB2C37CA1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C50197-3F4C-9879-3AE5-BFDFBAE4D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AF9A8C-5D22-BF55-403B-F1629267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78CE7-07D3-F6CC-7E61-8BB173A6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F30BEA-938E-FB8A-79FD-6BC3E2B7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7409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E0574-F34D-8FBC-96B8-7BA712EF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F062D-B73C-3139-92CC-6449B6E4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775117-D90D-B72E-FBA5-0CE0EDBE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0F2DC5-8890-2419-FA02-A840C354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4E8A68-E0E3-5CE6-9128-07CE9098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3011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E0969-CA07-FC9D-7F4D-1F77D831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1C357C-8A61-D38C-7EE7-67DAA4AEB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D99D15-A36B-A753-A369-B56EA1C2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BAC2C9-1BDD-ED7B-58E1-B03F5B57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06D0DB-C6DA-65D3-4540-7B3D0C2A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5830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AE22F-56F8-D064-0D75-CDF61B9B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F8258B-BA50-74C8-FC37-40FE09213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59648D-9FB7-40DB-81BB-FB8CF1E62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E04751-BE62-4C7F-FDB4-FCD15D33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523C9F-4D0A-917C-891C-4605737D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E43517-FC9E-35FD-844A-5B527997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9128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82C91-87FE-65E7-788B-54812947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189BB8-34B3-CBFD-17F3-0ABA06387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FF95E3-E449-6233-B50C-F9675802C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E67AD0-5530-9196-D3D3-8C3D6EA80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0F4DA8D-76A4-C09E-19D0-AD81B2F8E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E424B6-1208-8E96-BC26-70EDE4BD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C0599D-21C3-4275-08B7-C4C57B18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7126CC-254B-5152-60E2-47B91F0E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3085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0A2EE-D096-F273-F442-AA633186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418CD7-6E44-0124-0C98-BDB3F53F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FD2FFC-C7B0-F86F-BE28-52478FA45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8EA768-4100-9A93-D985-7CA44229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99476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B19E9B-DB81-BD09-2378-5C75AB27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D55C02-C118-20B8-59A2-DB1107CA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CA37BB-ADC9-09CB-B3E9-CCF760AB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5106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F8DD2-9D6A-ED46-D15D-14C4ADED7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D974B-D980-AF80-257E-353FE9D60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B1D489-741A-DFEE-536B-4FDC43D7D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29E03D-99D8-6472-5062-41A72FD7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00A503-1E12-DB37-C4C4-18BD49A5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C9C49E-94B3-0DC1-5E76-40C12E8B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66126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6186B-7B4C-1273-610A-EB90CFEB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4CDD2A-17C3-02D0-5199-799D68B7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6CC993-E132-C6AB-4E4A-DF41C719E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42CD84-A249-7908-46B8-DBE803D6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815F8F-AAA7-5C68-5A12-2F9022FB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EA10E6-FC8F-55D2-FFD3-D0A8315E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08015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E1732-A11A-7B01-4B67-85227BC1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78681F-59A1-ECEA-EDBA-593D694E7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2064B6-ED81-F6F7-968F-FA70BB91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435C7C-5E04-56DF-D77C-6DB062A0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FC44B-3A08-D989-C5E5-A0E11BBA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2427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BEAEFF-4A60-09FB-2C7A-466CEB9FC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79A883-48AE-B514-4729-39D4B7F29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EFCE0-B594-FBD2-258C-C7A5F6CB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1DF1D9-549A-1B2E-D138-914CF8CA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177B9B-A95D-6E1F-0A9A-047F0311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934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XX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8637A57-79FE-E349-92EE-CC015DEBFE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800" y="717793"/>
            <a:ext cx="8400000" cy="292644"/>
          </a:xfrm>
          <a:prstGeom prst="rect">
            <a:avLst/>
          </a:prstGeom>
        </p:spPr>
        <p:txBody>
          <a:bodyPr vert="horz" wrap="square" lIns="91440" tIns="0" rIns="91440" bIns="0" rtlCol="0" anchor="t" anchorCtr="0">
            <a:spAutoFit/>
          </a:bodyPr>
          <a:lstStyle>
            <a:lvl1pPr marL="0" indent="0" algn="l">
              <a:buNone/>
              <a:defRPr lang="en-US" sz="1867" b="0" i="0" kern="1200" dirty="0">
                <a:solidFill>
                  <a:srgbClr val="231F25"/>
                </a:solidFill>
              </a:defRPr>
            </a:lvl1pPr>
          </a:lstStyle>
          <a:p>
            <a:pPr marL="0" lvl="0" algn="l" defTabSz="1219170" latinLnBrk="0">
              <a:lnSpc>
                <a:spcPts val="2427"/>
              </a:lnSpc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250442"/>
            <a:ext cx="8400000" cy="461665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lang="es-ES_tradnl" sz="2400">
                <a:solidFill>
                  <a:srgbClr val="000000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28" name="Marcador de contenido 27">
            <a:extLst>
              <a:ext uri="{FF2B5EF4-FFF2-40B4-BE49-F238E27FC236}">
                <a16:creationId xmlns:a16="http://schemas.microsoft.com/office/drawing/2014/main" id="{D511B674-EAF8-0446-8928-648D2F0260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3600" y="1420800"/>
            <a:ext cx="11203200" cy="4838400"/>
          </a:xfrm>
          <a:prstGeom prst="rect">
            <a:avLst/>
          </a:prstGeom>
        </p:spPr>
        <p:txBody>
          <a:bodyPr/>
          <a:lstStyle>
            <a:lvl1pPr marL="361942" indent="-349242">
              <a:buClrTx/>
              <a:buSzPct val="100000"/>
              <a:buFont typeface="Arial" panose="020B0604020202020204" pitchFamily="34" charset="0"/>
              <a:buChar char="•"/>
              <a:tabLst/>
              <a:defRPr sz="1867"/>
            </a:lvl1pPr>
            <a:lvl2pPr marL="831830" indent="-349242">
              <a:buClrTx/>
              <a:buFont typeface="Tipo de letra del sistema"/>
              <a:buChar char="−"/>
              <a:tabLst/>
              <a:defRPr sz="1867"/>
            </a:lvl2pPr>
            <a:lvl3pPr marL="1316534" indent="-364058">
              <a:buClrTx/>
              <a:buFont typeface="Wingdings" pitchFamily="2" charset="2"/>
              <a:buChar char="§"/>
              <a:tabLst/>
              <a:defRPr sz="1867"/>
            </a:lvl3pPr>
            <a:lvl4pPr marL="1786422" indent="-361942">
              <a:buClrTx/>
              <a:buFont typeface="Tipo de letra del sistema"/>
              <a:buChar char="›"/>
              <a:tabLst/>
              <a:defRPr sz="1867"/>
            </a:lvl4pPr>
            <a:lvl5pPr marL="2256310" indent="-349242">
              <a:buClrTx/>
              <a:buSzPct val="80000"/>
              <a:buFont typeface="Courier New" panose="02070309020205020404" pitchFamily="49" charset="0"/>
              <a:buChar char="o"/>
              <a:tabLst/>
              <a:defRPr sz="1867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1" y="338503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s-ES_tradnl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84AE76-D888-BCE9-681D-8EB0D3B22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178" y="346107"/>
            <a:ext cx="904057" cy="4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2964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77116A-846D-68CF-711A-F6A1C3083B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44917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4" progId="TCLayout.ActiveDocument.1">
                  <p:embed/>
                </p:oleObj>
              </mc:Choice>
              <mc:Fallback>
                <p:oleObj name="Diapositiva de think-cell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77116A-846D-68CF-711A-F6A1C3083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2">
            <a:extLst>
              <a:ext uri="{FF2B5EF4-FFF2-40B4-BE49-F238E27FC236}">
                <a16:creationId xmlns:a16="http://schemas.microsoft.com/office/drawing/2014/main" id="{C7084494-3E34-3C8B-B687-E67E6AFB31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effectLst/>
        </p:spPr>
        <p:txBody>
          <a:bodyPr vert="horz" wrap="square" tIns="36000" bIns="36000" anchor="ctr" anchorCtr="0">
            <a:normAutofit/>
          </a:bodyPr>
          <a:lstStyle>
            <a:lvl1pPr algn="l" rtl="0">
              <a:lnSpc>
                <a:spcPct val="100000"/>
              </a:lnSpc>
              <a:defRPr sz="3000" b="1" u="none">
                <a:solidFill>
                  <a:srgbClr val="FFFFFF"/>
                </a:solidFill>
                <a:latin typeface="+mj-lt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2F7188-63D1-2A96-5042-59ADA40F6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212" y="703884"/>
            <a:ext cx="1886373" cy="1307253"/>
          </a:xfrm>
          <a:prstGeom prst="rect">
            <a:avLst/>
          </a:prstGeom>
        </p:spPr>
      </p:pic>
      <p:sp>
        <p:nvSpPr>
          <p:cNvPr id="7" name="Draft">
            <a:extLst>
              <a:ext uri="{FF2B5EF4-FFF2-40B4-BE49-F238E27FC236}">
                <a16:creationId xmlns:a16="http://schemas.microsoft.com/office/drawing/2014/main" id="{E31C6898-CFBD-2298-EF73-3100787825A5}"/>
              </a:ext>
            </a:extLst>
          </p:cNvPr>
          <p:cNvSpPr txBox="1"/>
          <p:nvPr userDrawn="1"/>
        </p:nvSpPr>
        <p:spPr>
          <a:xfrm>
            <a:off x="950142" y="6059282"/>
            <a:ext cx="954107" cy="307777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indent="0" algn="l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400" b="1" cap="all" spc="3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4259366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2C7F60F-1384-E208-F76E-145E8A855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942777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4" progId="TCLayout.ActiveDocument.1">
                  <p:embed/>
                </p:oleObj>
              </mc:Choice>
              <mc:Fallback>
                <p:oleObj name="Diapositiva de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7F60F-1384-E208-F76E-145E8A855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50442"/>
            <a:ext cx="11531598" cy="763971"/>
          </a:xfrm>
          <a:prstGeom prst="rect">
            <a:avLst/>
          </a:prstGeom>
        </p:spPr>
        <p:txBody>
          <a:bodyPr vert="horz" wrap="square" anchor="ctr" anchorCtr="0">
            <a:no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1" y="338503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28B56B-997D-E02D-40BD-EFD156A9B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9144" y="6450703"/>
            <a:ext cx="453862" cy="31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7649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0F757584-F523-78BF-64EA-4A496CBFC2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1943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06" imgH="306" progId="TCLayout.ActiveDocument.1">
                  <p:embed/>
                </p:oleObj>
              </mc:Choice>
              <mc:Fallback>
                <p:oleObj name="Diapositiva de think-cell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757584-F523-78BF-64EA-4A496CBFC2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2">
            <a:extLst>
              <a:ext uri="{FF2B5EF4-FFF2-40B4-BE49-F238E27FC236}">
                <a16:creationId xmlns:a16="http://schemas.microsoft.com/office/drawing/2014/main" id="{4660B34E-4228-E348-B5C8-7F5FBF5547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C0617D9-D246-B6DB-8EB6-DABB265CE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60" y="790030"/>
            <a:ext cx="2748213" cy="190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7556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2C7F60F-1384-E208-F76E-145E8A855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1735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4" progId="TCLayout.ActiveDocument.1">
                  <p:embed/>
                </p:oleObj>
              </mc:Choice>
              <mc:Fallback>
                <p:oleObj name="Diapositiva de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7F60F-1384-E208-F76E-145E8A855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1" y="338503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28B56B-997D-E02D-40BD-EFD156A9B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4843" y="276031"/>
            <a:ext cx="891075" cy="615912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8C6A804-61FC-EEBC-F7C4-95B967107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99" y="261719"/>
            <a:ext cx="10286043" cy="461665"/>
          </a:xfrm>
          <a:prstGeom prst="rect">
            <a:avLst/>
          </a:prstGeom>
        </p:spPr>
        <p:txBody>
          <a:bodyPr vert="horz" wrap="square" anchor="ctr" anchorCtr="0">
            <a:sp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98624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lus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47472" y="164591"/>
            <a:ext cx="11521440" cy="109728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826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34963" y="235315"/>
            <a:ext cx="11522075" cy="876687"/>
          </a:xfrm>
        </p:spPr>
        <p:txBody>
          <a:bodyPr anchor="t"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btfpLayoutConfig" hidden="1"/>
          <p:cNvSpPr txBox="1"/>
          <p:nvPr userDrawn="1"/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CA" sz="100">
                <a:solidFill>
                  <a:srgbClr val="FFFFFF">
                    <a:alpha val="0"/>
                  </a:srgbClr>
                </a:solidFill>
              </a:rPr>
              <a:t>overall_0_132143398942582287 columns_1_132143398942582287 </a:t>
            </a:r>
            <a:endParaRPr lang="en-CA" sz="100" dirty="0" err="1">
              <a:solidFill>
                <a:srgbClr val="FFFFFF">
                  <a:alpha val="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023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34963" y="280894"/>
            <a:ext cx="11522075" cy="876687"/>
          </a:xfrm>
        </p:spPr>
        <p:txBody>
          <a:bodyPr anchor="t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tfpLayoutConfig" hidden="1"/>
          <p:cNvSpPr txBox="1"/>
          <p:nvPr userDrawn="1"/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CA" sz="100">
                <a:solidFill>
                  <a:srgbClr val="FFFFFF">
                    <a:alpha val="0"/>
                  </a:srgbClr>
                </a:solidFill>
              </a:rPr>
              <a:t>overall_0_132169379345980627 columns_1_132169379345980627 </a:t>
            </a:r>
          </a:p>
        </p:txBody>
      </p:sp>
    </p:spTree>
    <p:extLst>
      <p:ext uri="{BB962C8B-B14F-4D97-AF65-F5344CB8AC3E}">
        <p14:creationId xmlns:p14="http://schemas.microsoft.com/office/powerpoint/2010/main" val="386206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799" y="309496"/>
            <a:ext cx="11352999" cy="4026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93302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740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6.emf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ags" Target="../tags/tag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34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7.emf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209FEF9-95DD-EF8F-8CBF-5F91F39F48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685480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5" imgW="395" imgH="394" progId="TCLayout.ActiveDocument.1">
                  <p:embed/>
                </p:oleObj>
              </mc:Choice>
              <mc:Fallback>
                <p:oleObj name="Diapositiva de think-cell" r:id="rId15" imgW="395" imgH="39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09FEF9-95DD-EF8F-8CBF-5F91F39F48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9EF545-F9C5-6894-F8DE-746BD422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1839FC-E13A-C3DF-8310-E26012587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225B75-AB73-5408-0D60-EF0B9870C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50592-898F-483E-BC0E-B15AF5E4982A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D7572D-CB34-8B77-B4A1-95661963C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F0752E-D93B-B5FF-81AF-5A11A0D51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66C59-8917-4BD9-8DB0-FEDA6D785F4C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32BDA0-918F-D093-A6FD-04BEA47955C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83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137484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B07CCD4-34A6-BA18-410E-CB7152201B52}"/>
              </a:ext>
            </a:extLst>
          </p:cNvPr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8930449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3" imgW="395" imgH="394" progId="TCLayout.ActiveDocument.1">
                  <p:embed/>
                </p:oleObj>
              </mc:Choice>
              <mc:Fallback>
                <p:oleObj name="Diapositiva de think-cell" r:id="rId13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B07CCD4-34A6-BA18-410E-CB7152201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11457517" y="6400800"/>
            <a:ext cx="3113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0" indent="0" rtl="0">
              <a:buNone/>
              <a:defRPr/>
            </a:pPr>
            <a:fld id="{5032FAC0-139D-A443-A64E-DC6FCCD7CF66}" type="slidenum">
              <a:rPr lang="en-US" sz="800" i="0" smtClean="0">
                <a:solidFill>
                  <a:srgbClr val="53565A"/>
                </a:solidFill>
                <a:latin typeface="+mn-lt"/>
              </a:rPr>
              <a:pPr marL="0" indent="0" rtl="0">
                <a:buNone/>
                <a:defRPr/>
              </a:pPr>
              <a:t>‹#›</a:t>
            </a:fld>
            <a:endParaRPr lang="en-US" sz="800" i="0">
              <a:solidFill>
                <a:srgbClr val="53565A"/>
              </a:solidFill>
              <a:latin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262F4F-B50D-1BC8-A9DB-B0B238F5404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80425" y="6642100"/>
            <a:ext cx="1809750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FEMSA P&amp;H | Internal Use</a:t>
            </a:r>
          </a:p>
        </p:txBody>
      </p:sp>
      <p:sp>
        <p:nvSpPr>
          <p:cNvPr id="9" name="T-Helper data -- do not delete" hidden="1">
            <a:extLst>
              <a:ext uri="{FF2B5EF4-FFF2-40B4-BE49-F238E27FC236}">
                <a16:creationId xmlns:a16="http://schemas.microsoft.com/office/drawing/2014/main" id="{F3B9B364-24D4-02EC-1AD2-3C6BA840E802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/>
            </a:pPr>
            <a:endParaRPr kumimoji="0" 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4" charset="0"/>
            </a:endParaRPr>
          </a:p>
        </p:txBody>
      </p:sp>
      <p:sp>
        <p:nvSpPr>
          <p:cNvPr id="10" name="BtfpConfiguration" hidden="1">
            <a:extLst>
              <a:ext uri="{FF2B5EF4-FFF2-40B4-BE49-F238E27FC236}">
                <a16:creationId xmlns:a16="http://schemas.microsoft.com/office/drawing/2014/main" id="{2D9BD3A8-6C57-94E7-47AB-852D096438B7}"/>
              </a:ext>
            </a:extLst>
          </p:cNvPr>
          <p:cNvSpPr/>
          <p:nvPr userDrawn="1"/>
        </p:nvSpPr>
        <p:spPr bwMode="auto"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/>
            </a:pPr>
            <a:r>
              <a:rPr kumimoji="0" lang="en-US" sz="1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24" charset="0"/>
              </a:rPr>
              <a:t>&lt;BTFP&gt;&lt;!-- BTFPCONFIGURATION:3C627466703E0D0A20203C74656D706C617465207061676553697A653D227769646573637265656E22206E616D653D2259374C465F3136395F4D312220747970653D22756E6272616E646564222076657273696F6E3D22322E34223E0D0A202020203C212D2D434154626F743A09094361736520636F64653A2059374C4609095374796C653A204D61746368696E67090956657273696F6E3A2031090944657369676E6572206F66666963653A204E444809094C61737420757064617465643A20312F32392F3230323520343A31393A343720414D09094E6F7465733A20436C69656E74207573657320637573746F6D20666F6E74732D2D3E0D0A202020203C73657474696E67733E0D0A2020202020203C72756E6E696E674167656E64614261636B436F6C6F724C6566743E3543354335433C2F72756E6E696E674167656E64614261636B436F6C6F724C6566743E0D0A2020202020203C72756E6E696E674167656E64614261636B436F6C6F7252696768743E4234423442343C2F72756E6E696E674167656E64614261636B436F6C6F7252696768743E0D0A2020202020203C72756E6E696E674167656E646154657874436F6C6F724C6566743E4646464646463C2F72756E6E696E674167656E646154657874436F6C6F724C6566743E0D0A2020202020203C72756E6E696E674167656E646154657874436F6C6F7252696768743E4646464646463C2F72756E6E696E674167656E646154657874436F6C6F7252696768743E0D0A2020202020203C636F6C756D6E4865616465724C696E65436F6C6F723E3030303030303C2F636F6C756D6E4865616465724C696E65436F6C6F723E0D0A2020202020203C636F6C756D6E48656164657254657874436F6C6F723E3030303030303C2F636F6C756D6E48656164657254657874436F6C6F723E0D0A2020202020203C726F774865616465724C696E65436F6C6F723E3030303030303C2F726F774865616465724C696E65436F6C6F723E0D0A2020202020203C726F7748656164657254657874436F6C6F723E3030303030303C2F726F7748656164657254657874436F6C6F723E0D0A2020202020203C636F6E636C7573696F6E4172726F774C696E65436F6C6F723E4646374633323C2F636F6E636C7573696F6E4172726F774C696E65436F6C6F723E0D0A2020202020203C636F6E636C7573696F6E4172726F7754657874436F6C6F723E4646374633323C2F636F6E636C7573696F6E4172726F7754657874436F6C6F723E0D0A2020202020203C70657263656E74616765436972636C6546756C6C436972636C65436F6C6F723E4234423442343C2F70657263656E74616765436972636C6546756C6C436972636C65436F6C6F723E0D0A2020202020203C70657263656E74616765436972636C6554657874486967686C69676874436F6C6F723E4646374633323C2F70657263656E74616765436972636C6554657874486967686C69676874436F6C6F723E0D0A2020202020203C737461747573537469636B6572436F6C6F723E3030303030303C2F737461747573537469636B6572436F6C6F723E0D0A2020202020203C63616C6C6F75744261636B436F6C6F723E4646464646463C2F63616C6C6F75744261636B436F6C6F723E0D0A2020202020203C63616C6C6F7574546578744C696E65436F6C6F723E3030303030303C2F63616C6C6F7574546578744C696E65436F6C6F723E0D0A2020202020203C6E756D626572427562626C654261636B436F6C6F723E4646464646463C2F6E756D626572427562626C654261636B436F6C6F723E0D0A2020202020203C6E756D626572427562626C65546578744C696E65436F6C6F723E4646374633323C2F6E756D626572427562626C65546578744C696E65436F6C6F723E0D0A2020202020203C76616C7565436861696E546578744C696E65436F6C6F723E3543354335433C2F76616C7565436861696E546578744C696E65436F6C6F723E0D0A2020202020203C73657175656E63654172726F7746696C6C436F6C6F723E4646374633323C2F73657175656E63654172726F7746696C6C436F6C6F723E0D0A2020202020203C6167656E6461486967686C69676874436F6C6F723E4646374633323C2F6167656E6461486967686C69676874436F6C6F723E0D0A2020202020203C6167656E646154657874436F6C6F723E3030303030303C2F6167656E646154657874436F6C6F723E0D0A2020202020203C6167656E64614974656D466F6E7453697A653E32303C2F6167656E64614974656D466F6E7453697A653E0D0A2020202020203C6167656E64615469746C65466F6E7453697A653E31323C2F6167656E64615469746C65466F6E7453697A653E0D0A2020202020203C7461626C65416363656E744E756D6265723E303C2F7461626C65416363656E744E756D6265723E0D0A2020202020203C6E6F746573466F6E7453697A653E383C2F6E6F746573466F6E7453697A653E0D0A2020202020203C6E6F74657354657874436F6C6F723E3030303030303C2F6E6F74657354657874436F6C6F723E0D0A2020202020203C737461747573537469636B657252756E6E696E674167656E6461466F6E7453697A653E31323C2F737461747573537469636B657252756E6E696E674167656E6461466F6E7453697A653E0D0A2020202020203C636F6C756D6E53706163696E673E34323C2F636F6C756D6E53706163696E673E0D0A202020203C2F73657474696E67733E0D0A202020203C636F6C6F72733E0D0A2020202020203C636F6C6F7220636F6E7472617374696E6754657874436F6C6F723D2223464646464646223E234646374633323C2F636F6C6F723E0D0A2020202020203C636F6C6F7220636F6E7472617374696E6754657874436F6C6F723D2223464646464646223E233836323633333C2F636F6C6F723E0D0A2020202020203C636F6C6F7220636F6E7472617374696E6754657874436F6C6F723D2223464646464646223E234445303233303C2F636F6C6F723E0D0A2020202020203C636F6C6F7220636F6E7472617374696E6754657874436F6C6F723D2223303030303030223E234646353735443C2F636F6C6F723E0D0A2020202020203C636F6C6F7220636F6E7472617374696E6754657874436F6C6F723D2223303030303030223E234243374537443C2F636F6C6F723E0D0A2020202020203C636F6C6F7220636F6E7472617374696E6754657874436F6C6F723D2223464646464646223E233734383642323C2F636F6C6F723E0D0A2020202020203C636F6C6F7220636F6E7472617374696E6754657874436F6C6F723D2223464646464646223E233533353635393C2F636F6C6F723E0D0A2020202020203C636F6C6F7220636F6E7472617374696E6754657874436F6C6F723D2223303030303030223E233935393939423C2F636F6C6F723E0D0A2020202020203C636F6C6F7220636F6E7472617374696E6754657874436F6C6F723D2223303030303030223E234533453345353C2F636F6C6F723E0D0A2020202020203C636F6C6F7220636F6E7472617374696E6754657874436F6C6F723D2223303030303030223E234646433230343C2F636F6C6F723E0D0A2020202020203C636F6C6F7220636F6E7472617374696E6754657874436F6C6F723D2223303030303030223E234636443537333C2F636F6C6F723E0D0A2020202020203C636F6C6F7220636F6E7472617374696E6754657874436F6C6F723D2223303030303030223E234638444539423C2F636F6C6F723E0D0A2020202020203C636F6C6F7220636F6E7472617374696E6754657874436F6C6F723D2223303030303030223E234644463042363C2F636F6C6F723E0D0A2020202020203C636F6C6F7220636F6E7472617374696E6754657874436F6C6F723D2223464646464646223E234146313933383C2F636F6C6F723E0D0A2020202020203C636F6C6F7220636F6E7472617374696E6754657874436F6C6F723D2223464646464646223E234646353735443C2F636F6C6F723E0D0A2020202020203C636F6C6F7220636F6E7472617374696E6754657874436F6C6F723D2223303030303030223E234639443344423C2F636F6C6F723E0D0A2020202020203C636F6C6F7220636F6E7472617374696E6754657874436F6C6F723D2223464646464646223E233836303038363C2F636F6C6F723E0D0A2020202020203C636F6C6F7220636F6E7472617374696E6754657874436F6C6F723D2223303030303030223E234646384246463C2F636F6C6F723E0D0A2020202020203C636F6C6F7220636F6E7472617374696E6754657874436F6C6F723D2223303030303030223E234646423946463C2F636F6C6F723E0D0A2020202020203C636F6C6F7220636F6E7472617374696E6754657874436F6C6F723D2223303030303030223E234645443646453C2F636F6C6F723E0D0A2020202020203C636F6C6F7220636F6E7472617374696E6754657874436F6C6F723D2223464646464646223E233030373243343C2F636F6C6F723E0D0A2020202020203C636F6C6F7220636F6E7472617374696E6754657874436F6C6F723D2223464646464646223E233030383945323C2F636F6C6F723E0D0A2020202020203C636F6C6F7220636F6E7472617374696E6754657874436F6C6F723D2223464646464646223E233030413445453C2F636F6C6F723E0D0A2020202020203C636F6C6F7220636F6E7472617374696E6754657874436F6C6F723D2223303030303030223E234333453546463C2F636F6C6F723E0D0A2020202020203C636F6C6F7220636F6E7472617374696E6754657874436F6C6F723D2223464646464646223E233332324536383C2F636F6C6F723E0D0A2020202020203C636F6C6F7220636F6E7472617374696E6754657874436F6C6F723D2223464646464646223E233432334538443C2F636F6C6F723E0D0A2020202020203C636F6C6F7220636F6E7472617374696E6754657874436F6C6F723D2223464646464646223E233837363344433C2F636F6C6F723E0D0A2020202020203C636F6C6F7220636F6E7472617374696E6754657874436F6C6F723D2223303030303030223E234435443345423C2F636F6C6F723E0D0A2020202020203C636F6C6F7220636F6E7472617374696E6754657874436F6C6F723D2223303030303030223E234336414133443C2F636F6C6F723E0D0A2020202020203C636F6C6F7220636F6E7472617374696E6754657874436F6C6F723D2223303030303030223E234444434338423C2F636F6C6F723E0D0A2020202020203C636F6C6F7220636F6E7472617374696E6754657874436F6C6F723D2223303030303030223E234538444442313C2F636F6C6F723E0D0A2020202020203C636F6C6F7220636F6E7472617374696E6754657874436F6C6F723D2223303030303030223E234634454544383C2F636F6C6F723E0D0A202020203C2F636F6C6F72733E0D0A20203C2F74656D706C6174653E0D0A20203C4775696465733E0D0A202020203C4C656674477569646520786D6C6E733D22323622202F3E0D0A202020203C5269676874477569646520786D6C6E733D2239333422202F3E0D0A202020203C5570706572537469636B6572477569646520786D6C6E733D22383022202F3E0D0A202020203C4C6F776572537469636B6572477569646520786D6C6E733D2231313122202F3E0D0A202020203C426F74746F6D477569646520786D6C6E733D2235303122202F3E0D0A20203C2F4775696465733E0D0A3C2F627466703E --&gt;&lt;/BTFP&gt;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9E9777C4-8F6C-4FAD-6466-C5210CAC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99" y="250442"/>
            <a:ext cx="11352999" cy="46166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84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transition/>
  <p:txStyles>
    <p:titleStyle>
      <a:lvl1pPr algn="l" rtl="0" eaLnBrk="1" fontAlgn="base" hangingPunct="1">
        <a:lnSpc>
          <a:spcPts val="2427"/>
        </a:lnSpc>
        <a:spcBef>
          <a:spcPct val="0"/>
        </a:spcBef>
        <a:spcAft>
          <a:spcPct val="0"/>
        </a:spcAft>
        <a:defRPr lang="en-US" sz="2400" b="1" dirty="0" smtClean="0">
          <a:solidFill>
            <a:srgbClr val="000000"/>
          </a:solidFill>
          <a:latin typeface="+mn-lt"/>
          <a:ea typeface="ＭＳ Ｐゴシック" pitchFamily="9" charset="-128"/>
          <a:cs typeface="ＭＳ Ｐゴシック" pitchFamily="9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  <a:ea typeface="ＭＳ Ｐゴシック" pitchFamily="9" charset="-128"/>
          <a:cs typeface="ＭＳ Ｐゴシック" pitchFamily="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  <a:ea typeface="ＭＳ Ｐゴシック" pitchFamily="9" charset="-128"/>
          <a:cs typeface="ＭＳ Ｐゴシック" pitchFamily="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  <a:ea typeface="ＭＳ Ｐゴシック" pitchFamily="9" charset="-128"/>
          <a:cs typeface="ＭＳ Ｐゴシック" pitchFamily="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  <a:ea typeface="ＭＳ Ｐゴシック" pitchFamily="9" charset="-128"/>
          <a:cs typeface="ＭＳ Ｐゴシック" pitchFamily="9" charset="-128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itchFamily="24" charset="0"/>
        </a:defRPr>
      </a:lvl9pPr>
    </p:titleStyle>
    <p:bodyStyle>
      <a:lvl1pPr marL="474121" indent="-304792" algn="just" rtl="0" eaLnBrk="1" fontAlgn="base" hangingPunct="1">
        <a:spcBef>
          <a:spcPct val="20000"/>
        </a:spcBef>
        <a:spcAft>
          <a:spcPct val="0"/>
        </a:spcAft>
        <a:buClr>
          <a:srgbClr val="840E27"/>
        </a:buClr>
        <a:buSzPct val="65000"/>
        <a:buFont typeface="Wingdings" charset="2"/>
        <a:buChar char=""/>
        <a:defRPr sz="1600">
          <a:solidFill>
            <a:srgbClr val="000000"/>
          </a:solidFill>
          <a:latin typeface="+mn-lt"/>
          <a:ea typeface="ＭＳ Ｐゴシック" pitchFamily="9" charset="-128"/>
          <a:cs typeface="ＭＳ Ｐゴシック" pitchFamily="9" charset="-128"/>
        </a:defRPr>
      </a:lvl1pPr>
      <a:lvl2pPr marL="1320767" indent="-423323" algn="just" rtl="0" eaLnBrk="1" fontAlgn="base" hangingPunct="1">
        <a:spcBef>
          <a:spcPct val="20000"/>
        </a:spcBef>
        <a:spcAft>
          <a:spcPct val="0"/>
        </a:spcAft>
        <a:buClr>
          <a:srgbClr val="840E27"/>
        </a:buClr>
        <a:buFont typeface="Wingdings" charset="2"/>
        <a:buChar char="§"/>
        <a:defRPr sz="1600">
          <a:solidFill>
            <a:srgbClr val="000000"/>
          </a:solidFill>
          <a:latin typeface="+mn-lt"/>
          <a:ea typeface="ＭＳ Ｐゴシック" pitchFamily="24" charset="-128"/>
        </a:defRPr>
      </a:lvl2pPr>
      <a:lvl3pPr marL="1523962" indent="-304792" algn="just" rtl="0" eaLnBrk="1" fontAlgn="base" hangingPunct="1">
        <a:spcBef>
          <a:spcPct val="20000"/>
        </a:spcBef>
        <a:spcAft>
          <a:spcPct val="0"/>
        </a:spcAft>
        <a:buClr>
          <a:srgbClr val="840E27"/>
        </a:buClr>
        <a:buFont typeface="Lucida Grande"/>
        <a:buChar char="−"/>
        <a:defRPr sz="1600">
          <a:solidFill>
            <a:srgbClr val="000000"/>
          </a:solidFill>
          <a:latin typeface="+mn-lt"/>
          <a:ea typeface="ＭＳ Ｐゴシック" pitchFamily="24" charset="-128"/>
        </a:defRPr>
      </a:lvl3pPr>
      <a:lvl4pPr marL="2133547" indent="-304792" algn="just" rtl="0" eaLnBrk="1" fontAlgn="base" hangingPunct="1">
        <a:spcBef>
          <a:spcPct val="20000"/>
        </a:spcBef>
        <a:spcAft>
          <a:spcPct val="0"/>
        </a:spcAft>
        <a:buClr>
          <a:srgbClr val="840E27"/>
        </a:buClr>
        <a:buFont typeface="Arial"/>
        <a:buChar char="•"/>
        <a:defRPr sz="1600">
          <a:solidFill>
            <a:srgbClr val="000000"/>
          </a:solidFill>
          <a:latin typeface="+mn-lt"/>
          <a:ea typeface="ＭＳ Ｐゴシック" pitchFamily="24" charset="-128"/>
        </a:defRPr>
      </a:lvl4pPr>
      <a:lvl5pPr marL="2743131" indent="-304792" algn="just" rtl="0" eaLnBrk="1" fontAlgn="base" hangingPunct="1">
        <a:spcBef>
          <a:spcPct val="20000"/>
        </a:spcBef>
        <a:spcAft>
          <a:spcPct val="0"/>
        </a:spcAft>
        <a:buClr>
          <a:srgbClr val="840E27"/>
        </a:buClr>
        <a:buChar char="»"/>
        <a:defRPr sz="1600">
          <a:solidFill>
            <a:srgbClr val="000000"/>
          </a:solidFill>
          <a:latin typeface="+mn-lt"/>
          <a:ea typeface="ＭＳ Ｐゴシック" pitchFamily="24" charset="-128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ＭＳ Ｐゴシック" pitchFamily="24" charset="-128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ＭＳ Ｐゴシック" pitchFamily="24" charset="-128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ＭＳ Ｐゴシック" pitchFamily="24" charset="-128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ＭＳ Ｐゴシック" pitchFamily="24" charset="-128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</a:defRPr>
      </a:lvl5pPr>
      <a:lvl6pPr marL="1066800" indent="-177800" algn="l" defTabSz="711200" rtl="0" eaLnBrk="1" latinLnBrk="0" hangingPunct="1">
        <a:defRPr sz="1400" kern="1200">
          <a:solidFill>
            <a:schemeClr val="tx1"/>
          </a:solidFill>
        </a:defRPr>
      </a:lvl6pPr>
      <a:lvl7pPr marL="1244600" indent="-177800" algn="l" defTabSz="711200" rtl="0" eaLnBrk="1" latinLnBrk="0" hangingPunct="1">
        <a:defRPr sz="1400" kern="1200">
          <a:solidFill>
            <a:schemeClr val="tx1"/>
          </a:solidFill>
        </a:defRPr>
      </a:lvl7pPr>
      <a:lvl8pPr marL="1422400" indent="-177800" algn="l" defTabSz="711200" rtl="0" eaLnBrk="1" latinLnBrk="0" hangingPunct="1">
        <a:defRPr sz="1400" kern="1200">
          <a:solidFill>
            <a:schemeClr val="tx1"/>
          </a:solidFill>
        </a:defRPr>
      </a:lvl8pPr>
      <a:lvl9pPr marL="1600200" indent="-177800" algn="l" defTabSz="711200" rtl="0" eaLnBrk="1" latinLnBrk="0" hangingPunct="1">
        <a:defRPr sz="1400" kern="1200">
          <a:solidFill>
            <a:schemeClr val="tx1"/>
          </a:solidFill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4">
          <p15:clr>
            <a:srgbClr val="A4A3A4"/>
          </p15:clr>
        </p15:guide>
        <p15:guide id="2" orient="horz" pos="639">
          <p15:clr>
            <a:srgbClr val="A4A3A4"/>
          </p15:clr>
        </p15:guide>
        <p15:guide id="3" orient="horz" pos="4009">
          <p15:clr>
            <a:srgbClr val="A4A3A4"/>
          </p15:clr>
        </p15:guide>
        <p15:guide id="4" pos="208">
          <p15:clr>
            <a:srgbClr val="A4A3A4"/>
          </p15:clr>
        </p15:guide>
        <p15:guide id="5" pos="7472">
          <p15:clr>
            <a:srgbClr val="A4A3A4"/>
          </p15:clr>
        </p15:guide>
      </p15:sldGuideLst>
    </p:ext>
  </p:extLst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tags" Target="../tags/tag61.xml"/><Relationship Id="rId21" Type="http://schemas.openxmlformats.org/officeDocument/2006/relationships/tags" Target="../tags/tag43.xml"/><Relationship Id="rId34" Type="http://schemas.openxmlformats.org/officeDocument/2006/relationships/tags" Target="../tags/tag56.xml"/><Relationship Id="rId42" Type="http://schemas.openxmlformats.org/officeDocument/2006/relationships/tags" Target="../tags/tag64.xml"/><Relationship Id="rId47" Type="http://schemas.openxmlformats.org/officeDocument/2006/relationships/tags" Target="../tags/tag69.xml"/><Relationship Id="rId50" Type="http://schemas.openxmlformats.org/officeDocument/2006/relationships/tags" Target="../tags/tag72.xml"/><Relationship Id="rId55" Type="http://schemas.openxmlformats.org/officeDocument/2006/relationships/tags" Target="../tags/tag77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9" Type="http://schemas.openxmlformats.org/officeDocument/2006/relationships/tags" Target="../tags/tag51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tags" Target="../tags/tag59.xml"/><Relationship Id="rId40" Type="http://schemas.openxmlformats.org/officeDocument/2006/relationships/tags" Target="../tags/tag62.xml"/><Relationship Id="rId45" Type="http://schemas.openxmlformats.org/officeDocument/2006/relationships/tags" Target="../tags/tag67.xml"/><Relationship Id="rId53" Type="http://schemas.openxmlformats.org/officeDocument/2006/relationships/tags" Target="../tags/tag75.xml"/><Relationship Id="rId58" Type="http://schemas.openxmlformats.org/officeDocument/2006/relationships/tags" Target="../tags/tag80.xml"/><Relationship Id="rId5" Type="http://schemas.openxmlformats.org/officeDocument/2006/relationships/tags" Target="../tags/tag27.xml"/><Relationship Id="rId19" Type="http://schemas.openxmlformats.org/officeDocument/2006/relationships/tags" Target="../tags/tag4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43" Type="http://schemas.openxmlformats.org/officeDocument/2006/relationships/tags" Target="../tags/tag65.xml"/><Relationship Id="rId48" Type="http://schemas.openxmlformats.org/officeDocument/2006/relationships/tags" Target="../tags/tag70.xml"/><Relationship Id="rId56" Type="http://schemas.openxmlformats.org/officeDocument/2006/relationships/tags" Target="../tags/tag78.xml"/><Relationship Id="rId8" Type="http://schemas.openxmlformats.org/officeDocument/2006/relationships/tags" Target="../tags/tag30.xml"/><Relationship Id="rId51" Type="http://schemas.openxmlformats.org/officeDocument/2006/relationships/tags" Target="../tags/tag73.xml"/><Relationship Id="rId3" Type="http://schemas.openxmlformats.org/officeDocument/2006/relationships/tags" Target="../tags/tag25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tags" Target="../tags/tag60.xml"/><Relationship Id="rId46" Type="http://schemas.openxmlformats.org/officeDocument/2006/relationships/tags" Target="../tags/tag68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42.xml"/><Relationship Id="rId41" Type="http://schemas.openxmlformats.org/officeDocument/2006/relationships/tags" Target="../tags/tag63.xml"/><Relationship Id="rId54" Type="http://schemas.openxmlformats.org/officeDocument/2006/relationships/tags" Target="../tags/tag76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tags" Target="../tags/tag58.xml"/><Relationship Id="rId49" Type="http://schemas.openxmlformats.org/officeDocument/2006/relationships/tags" Target="../tags/tag71.xml"/><Relationship Id="rId57" Type="http://schemas.openxmlformats.org/officeDocument/2006/relationships/tags" Target="../tags/tag79.xml"/><Relationship Id="rId10" Type="http://schemas.openxmlformats.org/officeDocument/2006/relationships/tags" Target="../tags/tag32.xml"/><Relationship Id="rId31" Type="http://schemas.openxmlformats.org/officeDocument/2006/relationships/tags" Target="../tags/tag53.xml"/><Relationship Id="rId44" Type="http://schemas.openxmlformats.org/officeDocument/2006/relationships/tags" Target="../tags/tag66.xml"/><Relationship Id="rId52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3" Type="http://schemas.openxmlformats.org/officeDocument/2006/relationships/image" Target="../media/image13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4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1.emf"/><Relationship Id="rId3" Type="http://schemas.openxmlformats.org/officeDocument/2006/relationships/tags" Target="../tags/tag83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20.emf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19.emf"/><Relationship Id="rId5" Type="http://schemas.openxmlformats.org/officeDocument/2006/relationships/tags" Target="../tags/tag85.xml"/><Relationship Id="rId10" Type="http://schemas.openxmlformats.org/officeDocument/2006/relationships/image" Target="../media/image18.jpeg"/><Relationship Id="rId4" Type="http://schemas.openxmlformats.org/officeDocument/2006/relationships/tags" Target="../tags/tag84.xml"/><Relationship Id="rId9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tags" Target="../tags/tag104.xml"/><Relationship Id="rId26" Type="http://schemas.openxmlformats.org/officeDocument/2006/relationships/slideLayout" Target="../slideLayouts/slideLayout29.xml"/><Relationship Id="rId3" Type="http://schemas.openxmlformats.org/officeDocument/2006/relationships/tags" Target="../tags/tag89.xml"/><Relationship Id="rId21" Type="http://schemas.openxmlformats.org/officeDocument/2006/relationships/tags" Target="../tags/tag107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5" Type="http://schemas.openxmlformats.org/officeDocument/2006/relationships/tags" Target="../tags/tag111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20" Type="http://schemas.openxmlformats.org/officeDocument/2006/relationships/tags" Target="../tags/tag106.xml"/><Relationship Id="rId29" Type="http://schemas.openxmlformats.org/officeDocument/2006/relationships/image" Target="../media/image22.emf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24" Type="http://schemas.openxmlformats.org/officeDocument/2006/relationships/tags" Target="../tags/tag110.xml"/><Relationship Id="rId32" Type="http://schemas.openxmlformats.org/officeDocument/2006/relationships/image" Target="../media/image25.jpeg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23" Type="http://schemas.openxmlformats.org/officeDocument/2006/relationships/tags" Target="../tags/tag109.xml"/><Relationship Id="rId28" Type="http://schemas.openxmlformats.org/officeDocument/2006/relationships/image" Target="../media/image6.emf"/><Relationship Id="rId10" Type="http://schemas.openxmlformats.org/officeDocument/2006/relationships/tags" Target="../tags/tag96.xml"/><Relationship Id="rId19" Type="http://schemas.openxmlformats.org/officeDocument/2006/relationships/tags" Target="../tags/tag105.xml"/><Relationship Id="rId31" Type="http://schemas.openxmlformats.org/officeDocument/2006/relationships/image" Target="../media/image24.jpeg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Relationship Id="rId22" Type="http://schemas.openxmlformats.org/officeDocument/2006/relationships/tags" Target="../tags/tag108.xml"/><Relationship Id="rId27" Type="http://schemas.openxmlformats.org/officeDocument/2006/relationships/oleObject" Target="../embeddings/oleObject8.bin"/><Relationship Id="rId30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0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 err="1"/>
              <a:t>Value</a:t>
            </a:r>
            <a:r>
              <a:rPr lang="es-ES_tradnl" b="1" dirty="0"/>
              <a:t> </a:t>
            </a:r>
            <a:r>
              <a:rPr lang="es-ES_tradnl" b="1" dirty="0" err="1"/>
              <a:t>Delivery</a:t>
            </a:r>
            <a:br>
              <a:rPr lang="es-ES_tradnl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dirty="0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3286858"/>
                  </p:ext>
                </p:extLst>
              </p:nvPr>
            </p:nvGraphicFramePr>
            <p:xfrm>
              <a:off x="8372565" y="3841450"/>
              <a:ext cx="2929781" cy="1648002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29781" cy="16480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72565" y="3841450"/>
                <a:ext cx="2929781" cy="16480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Delivery</a:t>
            </a:r>
            <a:endParaRPr lang="es-ES" dirty="0"/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2228984"/>
            <a:ext cx="11668125" cy="45858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000" b="1" dirty="0">
                <a:solidFill>
                  <a:prstClr val="black"/>
                </a:solidFill>
              </a:rPr>
              <a:t>Contribuciones: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000" b="1" dirty="0">
                <a:solidFill>
                  <a:prstClr val="black"/>
                </a:solidFill>
                <a:highlight>
                  <a:srgbClr val="C0C0C0"/>
                </a:highlight>
              </a:rPr>
              <a:t>Liderar el Cambio, </a:t>
            </a:r>
            <a:r>
              <a:rPr lang="es-MX" sz="1000" b="1" dirty="0" err="1">
                <a:solidFill>
                  <a:prstClr val="black"/>
                </a:solidFill>
                <a:highlight>
                  <a:srgbClr val="C0C0C0"/>
                </a:highlight>
              </a:rPr>
              <a:t>Co-diseñar</a:t>
            </a:r>
            <a:r>
              <a:rPr lang="es-MX" sz="1000" b="1" dirty="0">
                <a:solidFill>
                  <a:prstClr val="black"/>
                </a:solidFill>
                <a:highlight>
                  <a:srgbClr val="C0C0C0"/>
                </a:highlight>
              </a:rPr>
              <a:t> las prioridades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000" dirty="0">
                <a:solidFill>
                  <a:prstClr val="black"/>
                </a:solidFill>
              </a:rPr>
              <a:t>Asegurar la alineación de los objetivos Corto y Largo plazo del pilar estratégico que asesora con la visión del negocio,  a través de mecanismos para el diálogo y establecimiento de prioridades, asesoría a la generación de portafolio de iniciativas y </a:t>
            </a:r>
            <a:r>
              <a:rPr lang="es-ES" sz="1000" i="1" dirty="0" err="1">
                <a:solidFill>
                  <a:prstClr val="black"/>
                </a:solidFill>
              </a:rPr>
              <a:t>sponsorship</a:t>
            </a:r>
            <a:r>
              <a:rPr lang="es-ES" sz="1000" dirty="0">
                <a:solidFill>
                  <a:prstClr val="black"/>
                </a:solidFill>
              </a:rPr>
              <a:t> transversal para el desarrollo de capacidades. 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000" dirty="0">
                <a:solidFill>
                  <a:prstClr val="black"/>
                </a:solidFill>
              </a:rPr>
              <a:t>Ejecutar en conjunto con los líderes de iniciativas el </a:t>
            </a:r>
            <a:r>
              <a:rPr lang="es-ES" sz="1000" i="1" dirty="0" err="1">
                <a:solidFill>
                  <a:prstClr val="black"/>
                </a:solidFill>
              </a:rPr>
              <a:t>framework</a:t>
            </a:r>
            <a:r>
              <a:rPr lang="es-ES" sz="1000" dirty="0">
                <a:solidFill>
                  <a:prstClr val="black"/>
                </a:solidFill>
              </a:rPr>
              <a:t> de gobernanza – comités, cadencia – para priorizar y aprobar iniciativas transformacionales, manteniendo el </a:t>
            </a:r>
            <a:r>
              <a:rPr lang="es-ES" sz="1000" i="1" dirty="0">
                <a:solidFill>
                  <a:prstClr val="black"/>
                </a:solidFill>
              </a:rPr>
              <a:t>pipeline</a:t>
            </a:r>
            <a:r>
              <a:rPr lang="es-ES" sz="1000" dirty="0">
                <a:solidFill>
                  <a:prstClr val="black"/>
                </a:solidFill>
              </a:rPr>
              <a:t> de proyectos estratégicos y gestionando dependencias </a:t>
            </a:r>
            <a:r>
              <a:rPr lang="es-ES" sz="1000" i="1" dirty="0" err="1">
                <a:solidFill>
                  <a:prstClr val="black"/>
                </a:solidFill>
              </a:rPr>
              <a:t>cross</a:t>
            </a:r>
            <a:r>
              <a:rPr lang="es-ES" sz="1000" i="1" dirty="0">
                <a:solidFill>
                  <a:prstClr val="black"/>
                </a:solidFill>
              </a:rPr>
              <a:t>-plataformas.</a:t>
            </a:r>
          </a:p>
          <a:p>
            <a:pPr defTabSz="342900"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defTabSz="342900">
              <a:defRPr/>
            </a:pPr>
            <a:r>
              <a:rPr lang="es-MX" sz="1000" b="1" dirty="0">
                <a:solidFill>
                  <a:prstClr val="black"/>
                </a:solidFill>
                <a:highlight>
                  <a:srgbClr val="C0C0C0"/>
                </a:highlight>
              </a:rPr>
              <a:t>Amplificar los resultados de las iniciativas</a:t>
            </a:r>
          </a:p>
          <a:p>
            <a:pPr defTabSz="342900"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228600" indent="-228600" defTabSz="342900">
              <a:buAutoNum type="arabicPeriod" startAt="3"/>
              <a:defRPr/>
            </a:pPr>
            <a:r>
              <a:rPr lang="es-ES" sz="1000" dirty="0">
                <a:solidFill>
                  <a:prstClr val="black"/>
                </a:solidFill>
              </a:rPr>
              <a:t>Fungir como </a:t>
            </a:r>
            <a:r>
              <a:rPr lang="es-ES" sz="1000" dirty="0" err="1">
                <a:solidFill>
                  <a:prstClr val="black"/>
                </a:solidFill>
              </a:rPr>
              <a:t>co-responsable</a:t>
            </a:r>
            <a:r>
              <a:rPr lang="es-ES" sz="1000" dirty="0">
                <a:solidFill>
                  <a:prstClr val="black"/>
                </a:solidFill>
              </a:rPr>
              <a:t> de la administración de los casos de negocio y del aseguramiento de su creación de valor, asegurando el plan de entrega de valor y facilitando la participación de las partes interesadas y las acciones de mitigación de riesgos, según sea necesario para garantizar su encomienda.</a:t>
            </a:r>
            <a:endParaRPr lang="es-ES" sz="1000" dirty="0">
              <a:solidFill>
                <a:prstClr val="black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r>
              <a:rPr lang="es-ES" sz="1000" dirty="0">
                <a:solidFill>
                  <a:prstClr val="black"/>
                </a:solidFill>
              </a:rPr>
              <a:t>Definir las métricas de valor a las que se les dará seguimiento, en línea con la metodología definida en conjunto con el área de Finanzas y el Responsable de Procesos y Metodología.</a:t>
            </a: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r>
              <a:rPr lang="es-ES" sz="1000" dirty="0">
                <a:solidFill>
                  <a:prstClr val="black"/>
                </a:solidFill>
              </a:rPr>
              <a:t>Acompañar el diseño y </a:t>
            </a:r>
            <a:r>
              <a:rPr lang="es-ES" sz="1000" dirty="0" err="1">
                <a:solidFill>
                  <a:prstClr val="black"/>
                </a:solidFill>
              </a:rPr>
              <a:t>delivery</a:t>
            </a:r>
            <a:r>
              <a:rPr lang="es-ES" sz="1000" dirty="0">
                <a:solidFill>
                  <a:prstClr val="black"/>
                </a:solidFill>
              </a:rPr>
              <a:t> de las iniciativas poniendo a prueba el caso de negocio de las iniciativas, con el objetivo de potenciar su valor y agilizar los tiempos de entrega.</a:t>
            </a: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r>
              <a:rPr lang="es-ES" sz="1000" dirty="0">
                <a:solidFill>
                  <a:prstClr val="black"/>
                </a:solidFill>
              </a:rPr>
              <a:t>Crear planes en conjunto con los Líderes de iniciativas para acortar los gaps que puedan existir en el desarrollo de capacidades que permitan que los cambios y mejoras seas sostenibles. </a:t>
            </a: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 startAt="3"/>
              <a:defRPr/>
            </a:pPr>
            <a:r>
              <a:rPr lang="es-ES" sz="1000" dirty="0">
                <a:solidFill>
                  <a:prstClr val="black"/>
                </a:solidFill>
              </a:rPr>
              <a:t>Proyectar las implicaciones del estado actual y anticipar el futuro; identificando si el valor proyectado de la iniciativa tiende a ser inferior a las expectativas y/o identificando posibles incumplimientos de los plazos de ésta.</a:t>
            </a:r>
          </a:p>
          <a:p>
            <a:pPr defTabSz="342900">
              <a:defRPr/>
            </a:pPr>
            <a:endParaRPr lang="es-MX" sz="1000" b="1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342900">
              <a:defRPr/>
            </a:pPr>
            <a:r>
              <a:rPr lang="es-MX" sz="1000" b="1" dirty="0">
                <a:solidFill>
                  <a:prstClr val="black"/>
                </a:solidFill>
                <a:highlight>
                  <a:srgbClr val="C0C0C0"/>
                </a:highlight>
              </a:rPr>
              <a:t>Orquestar y ser </a:t>
            </a:r>
            <a:r>
              <a:rPr lang="es-MX" sz="1000" b="1" dirty="0" err="1">
                <a:solidFill>
                  <a:prstClr val="black"/>
                </a:solidFill>
                <a:highlight>
                  <a:srgbClr val="C0C0C0"/>
                </a:highlight>
              </a:rPr>
              <a:t>guardian</a:t>
            </a:r>
            <a:r>
              <a:rPr lang="es-MX" sz="1000" b="1" dirty="0">
                <a:solidFill>
                  <a:prstClr val="black"/>
                </a:solidFill>
                <a:highlight>
                  <a:srgbClr val="C0C0C0"/>
                </a:highlight>
              </a:rPr>
              <a:t> del Programa de Iniciativas</a:t>
            </a:r>
          </a:p>
          <a:p>
            <a:pPr defTabSz="342900"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228600" indent="-228600" defTabSz="342900">
              <a:buFont typeface="+mj-lt"/>
              <a:buAutoNum type="arabicPeriod" startAt="8"/>
              <a:defRPr/>
            </a:pPr>
            <a:r>
              <a:rPr lang="es-ES" sz="1000" dirty="0">
                <a:solidFill>
                  <a:prstClr val="black"/>
                </a:solidFill>
              </a:rPr>
              <a:t>Habilitar la trazabilidad de beneficios, la anticipación de riesgos y la retroalimentación continua para la toma de decisiones (iniciar, detener, reorientar) dentro del programa de iniciativas.</a:t>
            </a: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r>
              <a:rPr lang="es-ES" sz="1000" dirty="0">
                <a:solidFill>
                  <a:prstClr val="black"/>
                </a:solidFill>
              </a:rPr>
              <a:t>Implementar metodologías ágiles para asegurar hitos y calidad de los entregables (en colaboración con el Responsable de Procesos y Metodología)</a:t>
            </a: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endParaRPr lang="es-ES" sz="10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r>
              <a:rPr lang="es-ES" sz="1000" dirty="0">
                <a:solidFill>
                  <a:prstClr val="black"/>
                </a:solidFill>
              </a:rPr>
              <a:t>Apoyar a los líderes de las iniciativas en conectar transversalmente el portafolio para asegurar que el programa están </a:t>
            </a:r>
            <a:r>
              <a:rPr lang="es-ES" sz="1000" dirty="0" err="1">
                <a:solidFill>
                  <a:prstClr val="black"/>
                </a:solidFill>
              </a:rPr>
              <a:t>on-track</a:t>
            </a:r>
            <a:r>
              <a:rPr lang="es-ES" sz="1000" dirty="0">
                <a:solidFill>
                  <a:prstClr val="black"/>
                </a:solidFill>
              </a:rPr>
              <a:t> y pueda alcanzar el Full </a:t>
            </a:r>
            <a:r>
              <a:rPr lang="es-ES" sz="1000" dirty="0" err="1">
                <a:solidFill>
                  <a:prstClr val="black"/>
                </a:solidFill>
              </a:rPr>
              <a:t>Potential</a:t>
            </a:r>
            <a:r>
              <a:rPr lang="es-ES" sz="1000" dirty="0">
                <a:solidFill>
                  <a:prstClr val="black"/>
                </a:solidFill>
              </a:rPr>
              <a:t>.</a:t>
            </a:r>
            <a:endParaRPr lang="es-ES" sz="1000" dirty="0">
              <a:solidFill>
                <a:prstClr val="black"/>
              </a:solidFill>
              <a:highlight>
                <a:srgbClr val="FFFF00"/>
              </a:highlight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240929"/>
            <a:ext cx="1166812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/>
              <a:t>Propósito: Orquestar el Programa de Transformación del negocio </a:t>
            </a:r>
            <a:r>
              <a:rPr lang="es-MX" sz="1200" dirty="0"/>
              <a:t>con el objetivo de </a:t>
            </a:r>
            <a:r>
              <a:rPr lang="es-MX" sz="1200" b="1" dirty="0"/>
              <a:t>Maximizar la entrega de valor </a:t>
            </a:r>
            <a:r>
              <a:rPr lang="es-MX" sz="1200" dirty="0"/>
              <a:t>a través de 1) </a:t>
            </a:r>
            <a:r>
              <a:rPr lang="es-MX" sz="1200" b="1" dirty="0"/>
              <a:t>Co diseñar</a:t>
            </a:r>
            <a:r>
              <a:rPr lang="es-MX" sz="1200" dirty="0"/>
              <a:t> en conjunto con los líderes de negocio y </a:t>
            </a:r>
            <a:r>
              <a:rPr lang="es-MX" sz="1200" dirty="0" err="1"/>
              <a:t>stakeholders</a:t>
            </a:r>
            <a:r>
              <a:rPr lang="es-MX" sz="1200" dirty="0"/>
              <a:t> clave las </a:t>
            </a:r>
            <a:r>
              <a:rPr lang="es-MX" sz="1200" b="1" dirty="0"/>
              <a:t>prioridades, ambición y los objetivos alineándolos con la estrategia</a:t>
            </a:r>
            <a:r>
              <a:rPr lang="es-MX" sz="1200" dirty="0"/>
              <a:t>. 2) </a:t>
            </a:r>
            <a:r>
              <a:rPr lang="es-MX" sz="1200" b="1" dirty="0"/>
              <a:t>Amplificar los resultados de las iniciativas </a:t>
            </a:r>
            <a:r>
              <a:rPr lang="es-MX" sz="1200" dirty="0"/>
              <a:t>buscando que entreguen el valor prometido acompañando el desarrollo y </a:t>
            </a:r>
            <a:r>
              <a:rPr lang="es-MX" sz="1200" dirty="0" err="1"/>
              <a:t>delivery</a:t>
            </a:r>
            <a:r>
              <a:rPr lang="es-MX" sz="1200" dirty="0"/>
              <a:t>, el desarrollo de capacidades y midiendo su impacto estratégico, financiero y organizacional. 3) </a:t>
            </a:r>
            <a:r>
              <a:rPr lang="es-MX" sz="1200" b="1" dirty="0"/>
              <a:t>Ser guardianes de los programas de iniciativas </a:t>
            </a:r>
            <a:r>
              <a:rPr lang="es-MX" sz="1200" dirty="0"/>
              <a:t>transversales desarrollando recomendaciones (iniciar, detener y reorientar), anticipando riesgos y empujando la toma de decisiones para el enfoque continuo de entrega de valor. </a:t>
            </a:r>
          </a:p>
        </p:txBody>
      </p:sp>
    </p:spTree>
    <p:extLst>
      <p:ext uri="{BB962C8B-B14F-4D97-AF65-F5344CB8AC3E}">
        <p14:creationId xmlns:p14="http://schemas.microsoft.com/office/powerpoint/2010/main" val="99617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Delivery</a:t>
            </a:r>
            <a:r>
              <a:rPr lang="es-ES" dirty="0"/>
              <a:t> </a:t>
            </a:r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  <a:endParaRPr lang="es-ES" sz="1100" dirty="0">
              <a:solidFill>
                <a:prstClr val="black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Priorizar y aprobar iniciativas transformacionales del negocio (iniciar, detener, reorientar en caso de ser necesario)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Gestionar el portafolio de iniciativas priorizando, según impacto y urgencia, y coordinando la necesidad de recursos internos y externos requeridos.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Asegurar que las iniciativas estratégicas generen valor al  negocio (financiero, propuesta de valor, etc.)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Asegurar que el portafolio de apuestas de compañía sea congruente con la estrategia de negocio a largo plazo brindando sostenibilidad.</a:t>
            </a:r>
          </a:p>
          <a:p>
            <a:pPr defTabSz="457200"/>
            <a:endParaRPr lang="es-ES" sz="11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2772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Revisar y retar casos de negocio – alcance, </a:t>
            </a:r>
            <a:r>
              <a:rPr lang="es-ES" sz="1100" dirty="0" err="1">
                <a:solidFill>
                  <a:prstClr val="black"/>
                </a:solidFill>
              </a:rPr>
              <a:t>roadmap</a:t>
            </a:r>
            <a:r>
              <a:rPr lang="es-ES" sz="1100" dirty="0">
                <a:solidFill>
                  <a:prstClr val="black"/>
                </a:solidFill>
              </a:rPr>
              <a:t> – para maximizar el valor, acelerar time-</a:t>
            </a:r>
            <a:r>
              <a:rPr lang="es-ES" sz="1100" dirty="0" err="1">
                <a:solidFill>
                  <a:prstClr val="black"/>
                </a:solidFill>
              </a:rPr>
              <a:t>to</a:t>
            </a:r>
            <a:r>
              <a:rPr lang="es-ES" sz="1100" dirty="0">
                <a:solidFill>
                  <a:prstClr val="black"/>
                </a:solidFill>
              </a:rPr>
              <a:t>-</a:t>
            </a:r>
            <a:r>
              <a:rPr lang="es-ES" sz="1100" dirty="0" err="1">
                <a:solidFill>
                  <a:prstClr val="black"/>
                </a:solidFill>
              </a:rPr>
              <a:t>market</a:t>
            </a:r>
            <a:r>
              <a:rPr lang="es-ES" sz="1100" dirty="0">
                <a:solidFill>
                  <a:prstClr val="black"/>
                </a:solidFill>
              </a:rPr>
              <a:t> y mitigar riesgos.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Diseñar los medios que permitan asegurar la visibilidad de las iniciativas y su generación de valor (en colaboración con Responsable de Procesos y Metodología).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Asegurar que las iniciativas estratégicas de compañía generen el valor esperado para la integralidad del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Orquestar que los </a:t>
            </a:r>
            <a:r>
              <a:rPr lang="es-ES" sz="1100" dirty="0" err="1">
                <a:solidFill>
                  <a:prstClr val="black"/>
                </a:solidFill>
              </a:rPr>
              <a:t>roadmaps</a:t>
            </a:r>
            <a:r>
              <a:rPr lang="es-ES" sz="1100" dirty="0">
                <a:solidFill>
                  <a:prstClr val="black"/>
                </a:solidFill>
              </a:rPr>
              <a:t> de las iniciativas estratégicas estén alineados y sin traslapes, cumpliendo cada una con el valor esperado, pero uniendo esfuerzos cuando éstos puedan potencializarse.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Tendencia del negocio a generar muchas iniciativas que pueden generar poco valor – empujar a renunciar. 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144BA95B-8C0C-BF08-C457-0B063CF1CB9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440857">
              <a:extLst>
                <a:ext uri="{FF2B5EF4-FFF2-40B4-BE49-F238E27FC236}">
                  <a16:creationId xmlns:a16="http://schemas.microsoft.com/office/drawing/2014/main" id="{34929BEC-8639-31B2-C210-3483C7E3C37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btfpColumnGapBlocker507769">
              <a:extLst>
                <a:ext uri="{FF2B5EF4-FFF2-40B4-BE49-F238E27FC236}">
                  <a16:creationId xmlns:a16="http://schemas.microsoft.com/office/drawing/2014/main" id="{76F8A9FD-34FF-7851-3980-CDD5E07CD3C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4" name="btfpColumnIndicator740591">
              <a:extLst>
                <a:ext uri="{FF2B5EF4-FFF2-40B4-BE49-F238E27FC236}">
                  <a16:creationId xmlns:a16="http://schemas.microsoft.com/office/drawing/2014/main" id="{03DD22EE-E7CC-0A07-CCBF-CBCC44C4F627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875883">
              <a:extLst>
                <a:ext uri="{FF2B5EF4-FFF2-40B4-BE49-F238E27FC236}">
                  <a16:creationId xmlns:a16="http://schemas.microsoft.com/office/drawing/2014/main" id="{FF952BB6-E8D6-7D12-5057-F82D82851DF8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0198328-2BA1-EF04-C2C6-1025C544893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897625">
              <a:extLst>
                <a:ext uri="{FF2B5EF4-FFF2-40B4-BE49-F238E27FC236}">
                  <a16:creationId xmlns:a16="http://schemas.microsoft.com/office/drawing/2014/main" id="{B7543D7E-917A-3D14-C3F4-B62F305EDE9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btfpColumnGapBlocker305626">
              <a:extLst>
                <a:ext uri="{FF2B5EF4-FFF2-40B4-BE49-F238E27FC236}">
                  <a16:creationId xmlns:a16="http://schemas.microsoft.com/office/drawing/2014/main" id="{555529A1-3EA8-E370-BDE0-45CB53609F4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3" name="btfpColumnIndicator604544">
              <a:extLst>
                <a:ext uri="{FF2B5EF4-FFF2-40B4-BE49-F238E27FC236}">
                  <a16:creationId xmlns:a16="http://schemas.microsoft.com/office/drawing/2014/main" id="{268DE4BA-EC75-139A-012E-43C6B831128C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152094">
              <a:extLst>
                <a:ext uri="{FF2B5EF4-FFF2-40B4-BE49-F238E27FC236}">
                  <a16:creationId xmlns:a16="http://schemas.microsoft.com/office/drawing/2014/main" id="{4DEA0286-07F6-75BA-6849-C83159611B7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9" name="think-cell data - do not delete" hidden="1">
            <a:extLst>
              <a:ext uri="{FF2B5EF4-FFF2-40B4-BE49-F238E27FC236}">
                <a16:creationId xmlns:a16="http://schemas.microsoft.com/office/drawing/2014/main" id="{A5EB2ACB-D4AA-CFDA-5AFE-F77F262C49C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8" imgW="347" imgH="348" progId="TCLayout.ActiveDocument.1">
                  <p:embed/>
                </p:oleObj>
              </mc:Choice>
              <mc:Fallback>
                <p:oleObj name="Diapositiva de think-cell" r:id="rId8" imgW="347" imgH="348" progId="TCLayout.ActiveDocument.1">
                  <p:embed/>
                  <p:pic>
                    <p:nvPicPr>
                      <p:cNvPr id="3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EB2ACB-D4AA-CFDA-5AFE-F77F262C4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789893" descr="A group of people jumping on rocks&#10;&#10;Description automatically generated with low confidence">
            <a:extLst>
              <a:ext uri="{FF2B5EF4-FFF2-40B4-BE49-F238E27FC236}">
                <a16:creationId xmlns:a16="http://schemas.microsoft.com/office/drawing/2014/main" id="{178994D8-EBB5-F197-C41D-BA02F1AF029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9" t="743" r="31843" b="38063"/>
          <a:stretch/>
        </p:blipFill>
        <p:spPr>
          <a:xfrm>
            <a:off x="345315" y="4314257"/>
            <a:ext cx="3173722" cy="21812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C27B5F-EEB5-490A-AB65-AD390E7F73BA}"/>
              </a:ext>
            </a:extLst>
          </p:cNvPr>
          <p:cNvSpPr txBox="1"/>
          <p:nvPr/>
        </p:nvSpPr>
        <p:spPr bwMode="gray">
          <a:xfrm>
            <a:off x="8126412" y="5108865"/>
            <a:ext cx="3543971" cy="1519253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Realizes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results, energizes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organization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lasting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muscles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Not just “many projects” but a coherent change in how the company works, aligning with strategy, culture, op model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btfpBulletedList809303">
            <a:extLst>
              <a:ext uri="{FF2B5EF4-FFF2-40B4-BE49-F238E27FC236}">
                <a16:creationId xmlns:a16="http://schemas.microsoft.com/office/drawing/2014/main" id="{48290D44-86BC-A652-4927-2A5AB812A3C6}"/>
              </a:ext>
            </a:extLst>
          </p:cNvPr>
          <p:cNvSpPr txBox="1"/>
          <p:nvPr/>
        </p:nvSpPr>
        <p:spPr bwMode="gray">
          <a:xfrm>
            <a:off x="3771009" y="4387129"/>
            <a:ext cx="4260812" cy="239641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Drives change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Aligned &amp; committed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LT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Business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collaboration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&amp;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sponsorship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Evergreen prioritization and planning, driven by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results and feedback 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Empowerment, coaching, capability building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Multiple initiatives that contribute to a strategic shift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in how the business operates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6" name="btfpIcon871321">
            <a:extLst>
              <a:ext uri="{FF2B5EF4-FFF2-40B4-BE49-F238E27FC236}">
                <a16:creationId xmlns:a16="http://schemas.microsoft.com/office/drawing/2014/main" id="{709E6367-BBFD-DF5E-BD8B-2BA40D557823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8025584" y="4330380"/>
            <a:ext cx="995123" cy="995123"/>
            <a:chOff x="1280086" y="6984112"/>
            <a:chExt cx="995123" cy="995123"/>
          </a:xfrm>
        </p:grpSpPr>
        <p:sp>
          <p:nvSpPr>
            <p:cNvPr id="17" name="btfpIconCircle871321">
              <a:extLst>
                <a:ext uri="{FF2B5EF4-FFF2-40B4-BE49-F238E27FC236}">
                  <a16:creationId xmlns:a16="http://schemas.microsoft.com/office/drawing/2014/main" id="{3536C7DB-27CE-F340-AB93-A69FC5314FBE}"/>
                </a:ext>
              </a:extLst>
            </p:cNvPr>
            <p:cNvSpPr>
              <a:spLocks/>
            </p:cNvSpPr>
            <p:nvPr/>
          </p:nvSpPr>
          <p:spPr bwMode="gray">
            <a:xfrm>
              <a:off x="1280086" y="6984112"/>
              <a:ext cx="995123" cy="995123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8" name="btfpIconLines871321">
              <a:extLst>
                <a:ext uri="{FF2B5EF4-FFF2-40B4-BE49-F238E27FC236}">
                  <a16:creationId xmlns:a16="http://schemas.microsoft.com/office/drawing/2014/main" id="{F918A169-0B17-998C-0500-892FF057F0A5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0086" y="6984112"/>
              <a:ext cx="995123" cy="995123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C1CE0A5-6FBB-BDAF-A245-0501395C5A7A}"/>
              </a:ext>
            </a:extLst>
          </p:cNvPr>
          <p:cNvSpPr txBox="1"/>
          <p:nvPr/>
        </p:nvSpPr>
        <p:spPr bwMode="gray">
          <a:xfrm>
            <a:off x="404784" y="3340484"/>
            <a:ext cx="2843240" cy="65747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top-down approach: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“The sergeant – forcing the march”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37FDD-C63E-7333-CD27-9FB9477099BA}"/>
              </a:ext>
            </a:extLst>
          </p:cNvPr>
          <p:cNvSpPr txBox="1"/>
          <p:nvPr/>
        </p:nvSpPr>
        <p:spPr bwMode="gray">
          <a:xfrm>
            <a:off x="404784" y="2083324"/>
            <a:ext cx="2995641" cy="65747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typical PMO: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“The trail map - tracking the course”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69F75A-E170-9F1D-1662-AB834688D607}"/>
              </a:ext>
            </a:extLst>
          </p:cNvPr>
          <p:cNvSpPr txBox="1"/>
          <p:nvPr/>
        </p:nvSpPr>
        <p:spPr bwMode="gray">
          <a:xfrm>
            <a:off x="8126413" y="2083324"/>
            <a:ext cx="3741738" cy="719034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Necessary, but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 sufficient to deliver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On its own can focus too much on process and neglect value and people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361C37-E3A4-E773-1FF2-E90CD18C6548}"/>
              </a:ext>
            </a:extLst>
          </p:cNvPr>
          <p:cNvSpPr txBox="1"/>
          <p:nvPr/>
        </p:nvSpPr>
        <p:spPr bwMode="gray">
          <a:xfrm>
            <a:off x="8126413" y="3340484"/>
            <a:ext cx="3741738" cy="719034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Gets the job done, but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leaves scar tissue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&amp;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burnout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across the organization, due to lack of engagement</a:t>
            </a:r>
          </a:p>
        </p:txBody>
      </p:sp>
      <p:sp>
        <p:nvSpPr>
          <p:cNvPr id="23" name="btfpBulletedList166655">
            <a:extLst>
              <a:ext uri="{FF2B5EF4-FFF2-40B4-BE49-F238E27FC236}">
                <a16:creationId xmlns:a16="http://schemas.microsoft.com/office/drawing/2014/main" id="{71929BEF-9B5C-ECF5-CB03-850969CCE119}"/>
              </a:ext>
            </a:extLst>
          </p:cNvPr>
          <p:cNvSpPr txBox="1"/>
          <p:nvPr/>
        </p:nvSpPr>
        <p:spPr bwMode="gray">
          <a:xfrm>
            <a:off x="4066283" y="3340484"/>
            <a:ext cx="3741738" cy="87292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Central targets pushed out to the business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Control center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1-way communication</a:t>
            </a:r>
          </a:p>
        </p:txBody>
      </p:sp>
      <p:sp>
        <p:nvSpPr>
          <p:cNvPr id="24" name="btfpBulletedList649727">
            <a:extLst>
              <a:ext uri="{FF2B5EF4-FFF2-40B4-BE49-F238E27FC236}">
                <a16:creationId xmlns:a16="http://schemas.microsoft.com/office/drawing/2014/main" id="{DFC52605-0EFB-3E1C-3E91-A290D0B9F35F}"/>
              </a:ext>
            </a:extLst>
          </p:cNvPr>
          <p:cNvSpPr txBox="1"/>
          <p:nvPr/>
        </p:nvSpPr>
        <p:spPr bwMode="gray">
          <a:xfrm>
            <a:off x="4066283" y="2083324"/>
            <a:ext cx="3741738" cy="116531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Standardized templates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 &amp; planning 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Status &amp; progress reporting</a:t>
            </a:r>
          </a:p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Discrete projects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9B1C3A-65E9-94F4-02AE-D2CDCC858901}"/>
              </a:ext>
            </a:extLst>
          </p:cNvPr>
          <p:cNvSpPr txBox="1"/>
          <p:nvPr/>
        </p:nvSpPr>
        <p:spPr bwMode="gray">
          <a:xfrm>
            <a:off x="4067174" y="1775985"/>
            <a:ext cx="3741738" cy="25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COMMON TRAITS</a:t>
            </a:r>
            <a:endParaRPr kumimoji="0" lang="en-US" sz="1200" b="0" i="0" u="none" strike="noStrike" kern="1200" cap="none" spc="3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9FBD92-F1F5-248F-F6C4-36967D7B0025}"/>
              </a:ext>
            </a:extLst>
          </p:cNvPr>
          <p:cNvSpPr txBox="1"/>
          <p:nvPr/>
        </p:nvSpPr>
        <p:spPr bwMode="gray">
          <a:xfrm>
            <a:off x="8126413" y="1775985"/>
            <a:ext cx="3741738" cy="25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RESULTS</a:t>
            </a:r>
            <a:endParaRPr kumimoji="0" lang="en-US" sz="1200" b="0" i="0" u="none" strike="noStrike" kern="1200" cap="none" spc="30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7B05C6-FCAF-24E8-213F-BC907F6163B2}"/>
              </a:ext>
            </a:extLst>
          </p:cNvPr>
          <p:cNvCxnSpPr/>
          <p:nvPr/>
        </p:nvCxnSpPr>
        <p:spPr bwMode="gray">
          <a:xfrm>
            <a:off x="334963" y="3169914"/>
            <a:ext cx="11522075" cy="0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5C5A7F-F6DA-E536-7D6E-0D2FC8CCE54B}"/>
              </a:ext>
            </a:extLst>
          </p:cNvPr>
          <p:cNvSpPr txBox="1"/>
          <p:nvPr/>
        </p:nvSpPr>
        <p:spPr bwMode="gray">
          <a:xfrm>
            <a:off x="345316" y="6395437"/>
            <a:ext cx="3173724" cy="288147"/>
          </a:xfrm>
          <a:prstGeom prst="rect">
            <a:avLst/>
          </a:prstGeom>
          <a:solidFill>
            <a:schemeClr val="accent3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“The Sherpa – guiding &amp; enabling”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94DDA73-C0DB-09F3-81C1-60C6FE03AF84}"/>
              </a:ext>
            </a:extLst>
          </p:cNvPr>
          <p:cNvCxnSpPr>
            <a:cxnSpLocks/>
          </p:cNvCxnSpPr>
          <p:nvPr/>
        </p:nvCxnSpPr>
        <p:spPr bwMode="gray">
          <a:xfrm>
            <a:off x="4067174" y="2033354"/>
            <a:ext cx="3741738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83B3AA3-75E6-21FA-1202-2A50AD51AD86}"/>
              </a:ext>
            </a:extLst>
          </p:cNvPr>
          <p:cNvCxnSpPr>
            <a:cxnSpLocks/>
          </p:cNvCxnSpPr>
          <p:nvPr/>
        </p:nvCxnSpPr>
        <p:spPr bwMode="gray">
          <a:xfrm>
            <a:off x="8126413" y="2033354"/>
            <a:ext cx="3741738" cy="0"/>
          </a:xfrm>
          <a:prstGeom prst="line">
            <a:avLst/>
          </a:prstGeom>
          <a:ln w="9525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btfpIcon283796">
            <a:extLst>
              <a:ext uri="{FF2B5EF4-FFF2-40B4-BE49-F238E27FC236}">
                <a16:creationId xmlns:a16="http://schemas.microsoft.com/office/drawing/2014/main" id="{87801BE1-3298-5F3D-AD1D-9BD76A6D5E25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3968947" y="1256657"/>
            <a:ext cx="581393" cy="581393"/>
            <a:chOff x="330200" y="6650326"/>
            <a:chExt cx="581393" cy="581393"/>
          </a:xfrm>
        </p:grpSpPr>
        <p:sp>
          <p:nvSpPr>
            <p:cNvPr id="32" name="btfpIconCircle283796">
              <a:extLst>
                <a:ext uri="{FF2B5EF4-FFF2-40B4-BE49-F238E27FC236}">
                  <a16:creationId xmlns:a16="http://schemas.microsoft.com/office/drawing/2014/main" id="{A055960E-DF0C-8DF1-722C-9BD2A0579B54}"/>
                </a:ext>
              </a:extLst>
            </p:cNvPr>
            <p:cNvSpPr>
              <a:spLocks/>
            </p:cNvSpPr>
            <p:nvPr/>
          </p:nvSpPr>
          <p:spPr bwMode="gray">
            <a:xfrm>
              <a:off x="330200" y="6650326"/>
              <a:ext cx="581393" cy="581393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3" name="btfpIconLines283796">
              <a:extLst>
                <a:ext uri="{FF2B5EF4-FFF2-40B4-BE49-F238E27FC236}">
                  <a16:creationId xmlns:a16="http://schemas.microsoft.com/office/drawing/2014/main" id="{9AEB0CF2-8F70-30AF-5350-077A0A2C1838}"/>
                </a:ext>
              </a:extLst>
            </p:cNvPr>
            <p:cNvPicPr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200" y="6650326"/>
              <a:ext cx="581393" cy="581393"/>
            </a:xfrm>
            <a:prstGeom prst="rect">
              <a:avLst/>
            </a:prstGeom>
          </p:spPr>
        </p:pic>
      </p:grpSp>
      <p:grpSp>
        <p:nvGrpSpPr>
          <p:cNvPr id="34" name="btfpIcon720182">
            <a:extLst>
              <a:ext uri="{FF2B5EF4-FFF2-40B4-BE49-F238E27FC236}">
                <a16:creationId xmlns:a16="http://schemas.microsoft.com/office/drawing/2014/main" id="{08C40FE7-5897-B69B-8EFB-3C3E67B23CD3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8025584" y="1241278"/>
            <a:ext cx="581393" cy="581393"/>
            <a:chOff x="330200" y="1269999"/>
            <a:chExt cx="581393" cy="581393"/>
          </a:xfrm>
        </p:grpSpPr>
        <p:sp>
          <p:nvSpPr>
            <p:cNvPr id="35" name="btfpIconCircle720182">
              <a:extLst>
                <a:ext uri="{FF2B5EF4-FFF2-40B4-BE49-F238E27FC236}">
                  <a16:creationId xmlns:a16="http://schemas.microsoft.com/office/drawing/2014/main" id="{057F9DC0-B669-6F9B-56A1-01C8BD13886D}"/>
                </a:ext>
              </a:extLst>
            </p:cNvPr>
            <p:cNvSpPr>
              <a:spLocks/>
            </p:cNvSpPr>
            <p:nvPr/>
          </p:nvSpPr>
          <p:spPr bwMode="gray">
            <a:xfrm>
              <a:off x="330200" y="1269999"/>
              <a:ext cx="581393" cy="581393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6" name="btfpIconLines720182">
              <a:extLst>
                <a:ext uri="{FF2B5EF4-FFF2-40B4-BE49-F238E27FC236}">
                  <a16:creationId xmlns:a16="http://schemas.microsoft.com/office/drawing/2014/main" id="{DD47E62E-B7CA-86E8-9B4A-6D5BC40D80D9}"/>
                </a:ext>
              </a:extLst>
            </p:cNvPr>
            <p:cNvPicPr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200" y="1269999"/>
              <a:ext cx="581393" cy="581393"/>
            </a:xfrm>
            <a:prstGeom prst="rect">
              <a:avLst/>
            </a:prstGeom>
          </p:spPr>
        </p:pic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CFF1864-8F1C-04F4-38D1-8EA09397B379}"/>
              </a:ext>
            </a:extLst>
          </p:cNvPr>
          <p:cNvSpPr/>
          <p:nvPr/>
        </p:nvSpPr>
        <p:spPr bwMode="gray">
          <a:xfrm>
            <a:off x="334963" y="4314256"/>
            <a:ext cx="11522075" cy="2369328"/>
          </a:xfrm>
          <a:prstGeom prst="rect">
            <a:avLst/>
          </a:prstGeom>
          <a:noFill/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59EEAF-ACC4-627C-C9AE-9BD2856239AD}"/>
              </a:ext>
            </a:extLst>
          </p:cNvPr>
          <p:cNvSpPr txBox="1"/>
          <p:nvPr/>
        </p:nvSpPr>
        <p:spPr bwMode="gray">
          <a:xfrm>
            <a:off x="404784" y="4349556"/>
            <a:ext cx="1434310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VMO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D73FA8-4BF6-7352-EC19-D23D94C6DFFA}"/>
              </a:ext>
            </a:extLst>
          </p:cNvPr>
          <p:cNvSpPr txBox="1">
            <a:spLocks/>
          </p:cNvSpPr>
          <p:nvPr/>
        </p:nvSpPr>
        <p:spPr bwMode="gray">
          <a:xfrm>
            <a:off x="224539" y="53625"/>
            <a:ext cx="11728970" cy="834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8360" bIns="0" numCol="1" anchor="ctr" anchorCtr="0" compatLnSpc="1">
            <a:prstTxWarp prst="textNoShape">
              <a:avLst/>
            </a:prstTxWarp>
          </a:bodyPr>
          <a:lstStyle>
            <a:lvl1pPr algn="l" defTabSz="981334" rtl="0" eaLnBrk="1" latinLnBrk="0" hangingPunct="1">
              <a:spcBef>
                <a:spcPct val="0"/>
              </a:spcBef>
              <a:buNone/>
              <a:defRPr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 marR="0" lvl="0" indent="-177800" algn="l" defTabSz="98133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5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Delivering large-scale and complex change requires a VMO to orchestrate an integrated approach to transformation</a:t>
            </a:r>
            <a:endParaRPr kumimoji="0" lang="en-US" sz="2468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763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393F133C-01B5-4B53-8DF0-99E72A4C1A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7" imgW="395" imgH="394" progId="TCLayout.ActiveDocument.1">
                  <p:embed/>
                </p:oleObj>
              </mc:Choice>
              <mc:Fallback>
                <p:oleObj name="Diapositiva de think-cell" r:id="rId27" imgW="395" imgH="394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3F133C-01B5-4B53-8DF0-99E72A4C1A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221B527-00E4-49CB-92A4-049AA85D4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CB4194D-DD78-4A78-819B-430C1464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99" y="-79368"/>
            <a:ext cx="9880107" cy="769441"/>
          </a:xfrm>
        </p:spPr>
        <p:txBody>
          <a:bodyPr vert="horz"/>
          <a:lstStyle/>
          <a:p>
            <a:r>
              <a:rPr lang="en-US" sz="2200" b="1" dirty="0"/>
              <a:t>La VMO </a:t>
            </a:r>
            <a:r>
              <a:rPr lang="en-US" sz="2200" b="1" dirty="0" err="1"/>
              <a:t>brinda</a:t>
            </a:r>
            <a:r>
              <a:rPr lang="en-US" sz="2200" b="1" dirty="0"/>
              <a:t> </a:t>
            </a:r>
            <a:r>
              <a:rPr lang="en-US" sz="2200" b="1" dirty="0" err="1"/>
              <a:t>soporte</a:t>
            </a:r>
            <a:r>
              <a:rPr lang="en-US" sz="2200" b="1" dirty="0"/>
              <a:t> </a:t>
            </a:r>
            <a:r>
              <a:rPr lang="en-US" sz="2200" b="1" dirty="0" err="1"/>
              <a:t>estratégico</a:t>
            </a:r>
            <a:r>
              <a:rPr lang="en-US" sz="2200" b="1" dirty="0"/>
              <a:t> al </a:t>
            </a:r>
            <a:r>
              <a:rPr lang="en-US" sz="2200" b="1" dirty="0" err="1"/>
              <a:t>liderazgo</a:t>
            </a:r>
            <a:r>
              <a:rPr lang="en-US" sz="2200" b="1" dirty="0"/>
              <a:t>; </a:t>
            </a:r>
            <a:r>
              <a:rPr lang="en-US" sz="2200" b="1" dirty="0" err="1"/>
              <a:t>contribuye</a:t>
            </a:r>
            <a:r>
              <a:rPr lang="en-US" sz="2200" b="1" dirty="0"/>
              <a:t> a </a:t>
            </a:r>
            <a:r>
              <a:rPr lang="en-US" sz="2200" b="1" dirty="0" err="1"/>
              <a:t>amplificar</a:t>
            </a:r>
            <a:r>
              <a:rPr lang="en-US" sz="2200" b="1" dirty="0"/>
              <a:t> los </a:t>
            </a:r>
            <a:r>
              <a:rPr lang="en-US" sz="2200" b="1" dirty="0" err="1"/>
              <a:t>resultados</a:t>
            </a:r>
            <a:r>
              <a:rPr lang="en-US" sz="2200" b="1" dirty="0"/>
              <a:t> de las </a:t>
            </a:r>
            <a:r>
              <a:rPr lang="en-US" sz="2200" b="1" dirty="0" err="1"/>
              <a:t>iniciativas</a:t>
            </a:r>
            <a:r>
              <a:rPr lang="en-US" sz="2200" b="1" dirty="0"/>
              <a:t>; y </a:t>
            </a:r>
            <a:r>
              <a:rPr lang="en-US" sz="2200" b="1" dirty="0" err="1"/>
              <a:t>orquesta</a:t>
            </a:r>
            <a:r>
              <a:rPr lang="en-US" sz="2200" b="1" dirty="0"/>
              <a:t> </a:t>
            </a:r>
            <a:r>
              <a:rPr lang="en-US" sz="2200" b="1" dirty="0" err="1"/>
              <a:t>el</a:t>
            </a:r>
            <a:r>
              <a:rPr lang="en-US" sz="2200" b="1" dirty="0"/>
              <a:t> </a:t>
            </a:r>
            <a:r>
              <a:rPr lang="en-US" sz="2200" b="1" dirty="0" err="1"/>
              <a:t>programa</a:t>
            </a:r>
            <a:r>
              <a:rPr lang="en-US" sz="2200" b="1" dirty="0"/>
              <a:t> de </a:t>
            </a:r>
            <a:r>
              <a:rPr lang="en-US" sz="2200" b="1" dirty="0" err="1"/>
              <a:t>transformación</a:t>
            </a:r>
            <a:r>
              <a:rPr lang="en-US" sz="2200" b="1" dirty="0"/>
              <a:t> </a:t>
            </a:r>
            <a:endParaRPr lang="es-MX" sz="2200" b="1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300E3E65-99BF-4036-82C2-C3DC44DC3E78}"/>
              </a:ext>
            </a:extLst>
          </p:cNvPr>
          <p:cNvSpPr/>
          <p:nvPr/>
        </p:nvSpPr>
        <p:spPr bwMode="gray">
          <a:xfrm>
            <a:off x="337350" y="1494965"/>
            <a:ext cx="2520000" cy="4680000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5" name="Group 19">
            <a:extLst>
              <a:ext uri="{FF2B5EF4-FFF2-40B4-BE49-F238E27FC236}">
                <a16:creationId xmlns:a16="http://schemas.microsoft.com/office/drawing/2014/main" id="{065AF0A9-12A9-40FE-A8CB-72A185058E6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47785" y="3056388"/>
            <a:ext cx="3787036" cy="1037899"/>
            <a:chOff x="7461993" y="2020111"/>
            <a:chExt cx="3575988" cy="1037899"/>
          </a:xfrm>
        </p:grpSpPr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583B2AAB-4280-4EAD-A060-F120BFA4137F}"/>
                </a:ext>
              </a:extLst>
            </p:cNvPr>
            <p:cNvSpPr/>
            <p:nvPr/>
          </p:nvSpPr>
          <p:spPr bwMode="gray">
            <a:xfrm>
              <a:off x="7461993" y="2677530"/>
              <a:ext cx="3575988" cy="38048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7" name="Straight Connector 22">
              <a:extLst>
                <a:ext uri="{FF2B5EF4-FFF2-40B4-BE49-F238E27FC236}">
                  <a16:creationId xmlns:a16="http://schemas.microsoft.com/office/drawing/2014/main" id="{9B2E5275-D427-4DD8-B658-79AB5CB20DA6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gray">
            <a:xfrm>
              <a:off x="7461993" y="2569753"/>
              <a:ext cx="1166177" cy="0"/>
            </a:xfrm>
            <a:prstGeom prst="line">
              <a:avLst/>
            </a:prstGeom>
            <a:noFill/>
            <a:ln w="38100" cap="flat" cmpd="sng" algn="ctr">
              <a:solidFill>
                <a:srgbClr val="DE0230"/>
              </a:solidFill>
              <a:prstDash val="solid"/>
              <a:miter lim="800000"/>
              <a:tailEnd type="none" w="med" len="lg"/>
            </a:ln>
            <a:effectLst/>
          </p:spPr>
        </p:cxnSp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7A129FEC-F2F9-4746-A4CD-25CC3E643E54}"/>
                </a:ext>
              </a:extLst>
            </p:cNvPr>
            <p:cNvSpPr/>
            <p:nvPr/>
          </p:nvSpPr>
          <p:spPr bwMode="gray">
            <a:xfrm>
              <a:off x="7461993" y="2020111"/>
              <a:ext cx="3575988" cy="442035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VMO</a:t>
              </a:r>
            </a:p>
          </p:txBody>
        </p:sp>
      </p:grpSp>
      <p:sp>
        <p:nvSpPr>
          <p:cNvPr id="19" name="btfpBulletedList499869">
            <a:extLst>
              <a:ext uri="{FF2B5EF4-FFF2-40B4-BE49-F238E27FC236}">
                <a16:creationId xmlns:a16="http://schemas.microsoft.com/office/drawing/2014/main" id="{7BEE4269-F312-435B-9E17-7D0886BEF6A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476334" y="3838649"/>
            <a:ext cx="2046530" cy="1286071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dedicado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que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orquesta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transformación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del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negocio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brindando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soporte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estratégico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al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liderazgo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 los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equipos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iniciativas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" name="btfpIcon631568">
            <a:extLst>
              <a:ext uri="{FF2B5EF4-FFF2-40B4-BE49-F238E27FC236}">
                <a16:creationId xmlns:a16="http://schemas.microsoft.com/office/drawing/2014/main" id="{61F9D30A-86B1-409D-8D9D-02B8F2480213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88233" y="1948539"/>
            <a:ext cx="1123754" cy="1123754"/>
            <a:chOff x="7880136" y="2292239"/>
            <a:chExt cx="1123754" cy="1123754"/>
          </a:xfrm>
        </p:grpSpPr>
        <p:sp>
          <p:nvSpPr>
            <p:cNvPr id="21" name="btfpIconCircle631568">
              <a:extLst>
                <a:ext uri="{FF2B5EF4-FFF2-40B4-BE49-F238E27FC236}">
                  <a16:creationId xmlns:a16="http://schemas.microsoft.com/office/drawing/2014/main" id="{FDA4A18B-81D1-4C9B-A6F2-D0F9FA7B7B47}"/>
                </a:ext>
              </a:extLst>
            </p:cNvPr>
            <p:cNvSpPr>
              <a:spLocks/>
            </p:cNvSpPr>
            <p:nvPr/>
          </p:nvSpPr>
          <p:spPr bwMode="gray">
            <a:xfrm>
              <a:off x="7880136" y="2292239"/>
              <a:ext cx="1123754" cy="1123754"/>
            </a:xfrm>
            <a:prstGeom prst="ellipse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pic>
          <p:nvPicPr>
            <p:cNvPr id="22" name="btfpIconLines631568">
              <a:extLst>
                <a:ext uri="{FF2B5EF4-FFF2-40B4-BE49-F238E27FC236}">
                  <a16:creationId xmlns:a16="http://schemas.microsoft.com/office/drawing/2014/main" id="{E3CD3BB4-D3D1-41CD-842C-30133ED8A596}"/>
                </a:ext>
              </a:extLst>
            </p:cNvPr>
            <p:cNvPicPr>
              <a:picLocks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136" y="2292239"/>
              <a:ext cx="1123754" cy="1123754"/>
            </a:xfrm>
            <a:prstGeom prst="rect">
              <a:avLst/>
            </a:prstGeom>
          </p:spPr>
        </p:pic>
      </p:grpSp>
      <p:pic>
        <p:nvPicPr>
          <p:cNvPr id="32" name="Picture 12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E15E14A2-D14C-4709-8EB7-01D18EB2500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5" t="25327" r="23385" b="16002"/>
          <a:stretch>
            <a:fillRect/>
          </a:stretch>
        </p:blipFill>
        <p:spPr>
          <a:xfrm>
            <a:off x="3517058" y="4505854"/>
            <a:ext cx="2374920" cy="1520275"/>
          </a:xfrm>
          <a:custGeom>
            <a:avLst/>
            <a:gdLst>
              <a:gd name="connsiteX0" fmla="*/ 0 w 2374920"/>
              <a:gd name="connsiteY0" fmla="*/ 0 h 1457005"/>
              <a:gd name="connsiteX1" fmla="*/ 2374920 w 2374920"/>
              <a:gd name="connsiteY1" fmla="*/ 0 h 1457005"/>
              <a:gd name="connsiteX2" fmla="*/ 2374920 w 2374920"/>
              <a:gd name="connsiteY2" fmla="*/ 1457005 h 1457005"/>
              <a:gd name="connsiteX3" fmla="*/ 0 w 2374920"/>
              <a:gd name="connsiteY3" fmla="*/ 1457005 h 1457005"/>
              <a:gd name="connsiteX4" fmla="*/ 0 w 2374920"/>
              <a:gd name="connsiteY4" fmla="*/ 0 h 1457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4920" h="1457005">
                <a:moveTo>
                  <a:pt x="0" y="0"/>
                </a:moveTo>
                <a:lnTo>
                  <a:pt x="2374920" y="0"/>
                </a:lnTo>
                <a:lnTo>
                  <a:pt x="2374920" y="1457005"/>
                </a:lnTo>
                <a:lnTo>
                  <a:pt x="0" y="145700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3" name="Rectangle 13">
            <a:extLst>
              <a:ext uri="{FF2B5EF4-FFF2-40B4-BE49-F238E27FC236}">
                <a16:creationId xmlns:a16="http://schemas.microsoft.com/office/drawing/2014/main" id="{E3619F94-DC73-4E0D-925C-5B5B734AD6D9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 rot="5400000">
            <a:off x="3944379" y="4078532"/>
            <a:ext cx="1520275" cy="237491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FBE0739B-90AF-4687-9D62-C762F730AC5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5922634" y="2933225"/>
            <a:ext cx="5946073" cy="1538325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5" name="Picture 15" descr="A group of people hiking&#10;&#10;Description automatically generated with medium confidence">
            <a:extLst>
              <a:ext uri="{FF2B5EF4-FFF2-40B4-BE49-F238E27FC236}">
                <a16:creationId xmlns:a16="http://schemas.microsoft.com/office/drawing/2014/main" id="{018995FA-721F-418F-8A75-B980A2DC19F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2" t="29044" r="15841" b="13886"/>
          <a:stretch>
            <a:fillRect/>
          </a:stretch>
        </p:blipFill>
        <p:spPr>
          <a:xfrm>
            <a:off x="3517058" y="1445349"/>
            <a:ext cx="2374918" cy="1457005"/>
          </a:xfrm>
          <a:prstGeom prst="rect">
            <a:avLst/>
          </a:prstGeom>
        </p:spPr>
      </p:pic>
      <p:sp>
        <p:nvSpPr>
          <p:cNvPr id="36" name="Rectangle 16">
            <a:extLst>
              <a:ext uri="{FF2B5EF4-FFF2-40B4-BE49-F238E27FC236}">
                <a16:creationId xmlns:a16="http://schemas.microsoft.com/office/drawing/2014/main" id="{0CBBA47A-E112-4934-8E32-26046A69599D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 rot="5400000">
            <a:off x="3976013" y="986393"/>
            <a:ext cx="1457004" cy="2374917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7" name="Picture 17" descr="A picture containing outdoor, person, mountain&#10;&#10;Description automatically generated">
            <a:extLst>
              <a:ext uri="{FF2B5EF4-FFF2-40B4-BE49-F238E27FC236}">
                <a16:creationId xmlns:a16="http://schemas.microsoft.com/office/drawing/2014/main" id="{621C8D94-23F1-4716-8538-EDD68615A916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6" t="4177" r="677" b="21588"/>
          <a:stretch>
            <a:fillRect/>
          </a:stretch>
        </p:blipFill>
        <p:spPr>
          <a:xfrm flipH="1">
            <a:off x="3517058" y="2933226"/>
            <a:ext cx="2374919" cy="1540461"/>
          </a:xfrm>
          <a:prstGeom prst="rect">
            <a:avLst/>
          </a:prstGeom>
        </p:spPr>
      </p:pic>
      <p:sp>
        <p:nvSpPr>
          <p:cNvPr id="58" name="btfpBulletedList826205">
            <a:extLst>
              <a:ext uri="{FF2B5EF4-FFF2-40B4-BE49-F238E27FC236}">
                <a16:creationId xmlns:a16="http://schemas.microsoft.com/office/drawing/2014/main" id="{E54872A7-3625-4300-BCC5-97E434EF511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108105" y="5267641"/>
            <a:ext cx="55146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711200" rtl="0" eaLnBrk="1" latinLnBrk="0" hangingPunct="1">
              <a:spcBef>
                <a:spcPts val="1200"/>
              </a:spcBef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Integrar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para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anticipar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riesgos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coordinar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decisiones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asegurar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está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on-track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hacia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full potential</a:t>
            </a:r>
          </a:p>
        </p:txBody>
      </p:sp>
      <p:sp>
        <p:nvSpPr>
          <p:cNvPr id="59" name="btfpBulletedList826205">
            <a:extLst>
              <a:ext uri="{FF2B5EF4-FFF2-40B4-BE49-F238E27FC236}">
                <a16:creationId xmlns:a16="http://schemas.microsoft.com/office/drawing/2014/main" id="{560E0A61-7875-4786-8B99-F509BB94334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096001" y="1712158"/>
            <a:ext cx="5526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711200" rtl="0" eaLnBrk="1" latinLnBrk="0" hangingPunct="1">
              <a:spcBef>
                <a:spcPts val="1200"/>
              </a:spcBef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Co-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ambición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prioridades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asegurando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alineación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sponsorship y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compromiso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hacia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los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objetivos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btfpRowHeaderBoxText316015">
            <a:extLst>
              <a:ext uri="{FF2B5EF4-FFF2-40B4-BE49-F238E27FC236}">
                <a16:creationId xmlns:a16="http://schemas.microsoft.com/office/drawing/2014/main" id="{7F3C470B-A266-472D-9772-CCB9EAD72620}"/>
              </a:ext>
            </a:extLst>
          </p:cNvPr>
          <p:cNvSpPr txBox="1"/>
          <p:nvPr>
            <p:custDataLst>
              <p:tags r:id="rId13"/>
            </p:custDataLst>
          </p:nvPr>
        </p:nvSpPr>
        <p:spPr bwMode="gray">
          <a:xfrm>
            <a:off x="3650294" y="1840044"/>
            <a:ext cx="1776913" cy="655458"/>
          </a:xfrm>
          <a:prstGeom prst="rect">
            <a:avLst/>
          </a:prstGeom>
          <a:noFill/>
        </p:spPr>
        <p:txBody>
          <a:bodyPr vert="horz" wrap="square" lIns="91440" tIns="36036" rIns="180181" bIns="36036" rtlCol="0" anchor="ctr"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Brindar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Soporte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Estratégico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al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Liderazgo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Rectangle 41">
            <a:extLst>
              <a:ext uri="{FF2B5EF4-FFF2-40B4-BE49-F238E27FC236}">
                <a16:creationId xmlns:a16="http://schemas.microsoft.com/office/drawing/2014/main" id="{044BD8BB-7506-4804-9A8A-4EFEF8A0EB8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 rot="5400000">
            <a:off x="3944378" y="2526091"/>
            <a:ext cx="1520275" cy="237491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btfpRowHeaderBoxText258757">
            <a:extLst>
              <a:ext uri="{FF2B5EF4-FFF2-40B4-BE49-F238E27FC236}">
                <a16:creationId xmlns:a16="http://schemas.microsoft.com/office/drawing/2014/main" id="{47C00B6E-36BE-4926-B882-CA87B45A4835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3650293" y="3106505"/>
            <a:ext cx="1776913" cy="1193902"/>
          </a:xfrm>
          <a:prstGeom prst="rect">
            <a:avLst/>
          </a:prstGeom>
          <a:noFill/>
        </p:spPr>
        <p:txBody>
          <a:bodyPr vert="horz" wrap="square" lIns="91440" tIns="36036" rIns="180181" bIns="36036" rtlCol="0" anchor="ctr"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Amplificar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Resultados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 las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Iniciativas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btfpRowHeaderBoxText316015">
            <a:extLst>
              <a:ext uri="{FF2B5EF4-FFF2-40B4-BE49-F238E27FC236}">
                <a16:creationId xmlns:a16="http://schemas.microsoft.com/office/drawing/2014/main" id="{CF36F660-6EC0-4169-AF96-8899C72A19E4}"/>
              </a:ext>
            </a:extLst>
          </p:cNvPr>
          <p:cNvSpPr txBox="1"/>
          <p:nvPr>
            <p:custDataLst>
              <p:tags r:id="rId16"/>
            </p:custDataLst>
          </p:nvPr>
        </p:nvSpPr>
        <p:spPr bwMode="gray">
          <a:xfrm>
            <a:off x="3633886" y="4678167"/>
            <a:ext cx="1692720" cy="1112379"/>
          </a:xfrm>
          <a:prstGeom prst="rect">
            <a:avLst/>
          </a:prstGeom>
          <a:noFill/>
        </p:spPr>
        <p:txBody>
          <a:bodyPr vert="horz" wrap="square" lIns="91440" tIns="36036" rIns="180181" bIns="36036" rtlCol="0" anchor="ctr"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Orquestar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Programa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Box 44">
            <a:extLst>
              <a:ext uri="{FF2B5EF4-FFF2-40B4-BE49-F238E27FC236}">
                <a16:creationId xmlns:a16="http://schemas.microsoft.com/office/drawing/2014/main" id="{D0CCF831-22C0-4024-896C-1E55B652CA57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7867384" y="3680513"/>
            <a:ext cx="187539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Acompañar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</a:t>
            </a:r>
          </a:p>
        </p:txBody>
      </p:sp>
      <p:sp>
        <p:nvSpPr>
          <p:cNvPr id="65" name="TextBox 45">
            <a:extLst>
              <a:ext uri="{FF2B5EF4-FFF2-40B4-BE49-F238E27FC236}">
                <a16:creationId xmlns:a16="http://schemas.microsoft.com/office/drawing/2014/main" id="{828527D8-5EB5-4786-B25C-D878FF999BC3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5668821" y="3680513"/>
            <a:ext cx="2446414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Movilizar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talento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equipos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TextBox 47">
            <a:extLst>
              <a:ext uri="{FF2B5EF4-FFF2-40B4-BE49-F238E27FC236}">
                <a16:creationId xmlns:a16="http://schemas.microsoft.com/office/drawing/2014/main" id="{69802710-99B6-4AE7-9D61-C187725F4FBF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9743318" y="3680513"/>
            <a:ext cx="2181672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Desarrollar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capacidades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8" name="Straight Connector 48">
            <a:extLst>
              <a:ext uri="{FF2B5EF4-FFF2-40B4-BE49-F238E27FC236}">
                <a16:creationId xmlns:a16="http://schemas.microsoft.com/office/drawing/2014/main" id="{85BC0CC2-E562-4D1E-9314-8AB269781B45}"/>
              </a:ext>
            </a:extLst>
          </p:cNvPr>
          <p:cNvCxnSpPr/>
          <p:nvPr>
            <p:custDataLst>
              <p:tags r:id="rId20"/>
            </p:custDataLst>
          </p:nvPr>
        </p:nvCxnSpPr>
        <p:spPr bwMode="gray">
          <a:xfrm flipH="1">
            <a:off x="7716169" y="3679795"/>
            <a:ext cx="0" cy="516167"/>
          </a:xfrm>
          <a:prstGeom prst="line">
            <a:avLst/>
          </a:prstGeom>
          <a:ln w="9525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49">
            <a:extLst>
              <a:ext uri="{FF2B5EF4-FFF2-40B4-BE49-F238E27FC236}">
                <a16:creationId xmlns:a16="http://schemas.microsoft.com/office/drawing/2014/main" id="{3B8AE840-4167-44C5-944E-4AFD46E8E0D8}"/>
              </a:ext>
            </a:extLst>
          </p:cNvPr>
          <p:cNvCxnSpPr/>
          <p:nvPr>
            <p:custDataLst>
              <p:tags r:id="rId21"/>
            </p:custDataLst>
          </p:nvPr>
        </p:nvCxnSpPr>
        <p:spPr bwMode="gray">
          <a:xfrm flipH="1">
            <a:off x="9852619" y="3679794"/>
            <a:ext cx="0" cy="516167"/>
          </a:xfrm>
          <a:prstGeom prst="line">
            <a:avLst/>
          </a:prstGeom>
          <a:ln w="9525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50">
            <a:extLst>
              <a:ext uri="{FF2B5EF4-FFF2-40B4-BE49-F238E27FC236}">
                <a16:creationId xmlns:a16="http://schemas.microsoft.com/office/drawing/2014/main" id="{94658CB6-2092-4488-92C7-6E8230382A4B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6108106" y="3049114"/>
            <a:ext cx="55146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Brindar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soporte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los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equipos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para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asegurar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entrega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replicable de valor</a:t>
            </a:r>
          </a:p>
        </p:txBody>
      </p:sp>
      <p:sp>
        <p:nvSpPr>
          <p:cNvPr id="71" name="btfpSequenceArrow894306">
            <a:extLst>
              <a:ext uri="{FF2B5EF4-FFF2-40B4-BE49-F238E27FC236}">
                <a16:creationId xmlns:a16="http://schemas.microsoft.com/office/drawing/2014/main" id="{C31DE064-3F0F-447B-A659-288035BA5010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 rot="16200000" flipV="1">
            <a:off x="8769543" y="4222556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CC0000"/>
          </a:solidFill>
          <a:ln w="9525" cap="flat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9pPr>
          </a:lstStyle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btfpSequenceArrow894306">
            <a:extLst>
              <a:ext uri="{FF2B5EF4-FFF2-40B4-BE49-F238E27FC236}">
                <a16:creationId xmlns:a16="http://schemas.microsoft.com/office/drawing/2014/main" id="{C308861E-EF4A-4D84-9B9B-D358CFE9B9B9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 rot="5400000">
            <a:off x="8769543" y="2196567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CC0000"/>
          </a:solidFill>
          <a:ln w="9525" cap="flat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000000"/>
                </a:solidFill>
                <a:latin typeface="Arial"/>
                <a:ea typeface="+mn-ea"/>
                <a:cs typeface="+mn-cs"/>
              </a:defRPr>
            </a:lvl9pPr>
          </a:lstStyle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91DCDB4-B0B2-40D3-BE5F-97657834B39D}"/>
              </a:ext>
            </a:extLst>
          </p:cNvPr>
          <p:cNvSpPr/>
          <p:nvPr/>
        </p:nvSpPr>
        <p:spPr>
          <a:xfrm>
            <a:off x="3385522" y="1334612"/>
            <a:ext cx="288000" cy="288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DA1628D-99BA-481E-8788-9A065FC17D1C}"/>
              </a:ext>
            </a:extLst>
          </p:cNvPr>
          <p:cNvSpPr/>
          <p:nvPr/>
        </p:nvSpPr>
        <p:spPr>
          <a:xfrm>
            <a:off x="3384327" y="2906316"/>
            <a:ext cx="288000" cy="288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0C5B41F5-1DAF-4699-81AE-E7C9BEE7694A}"/>
              </a:ext>
            </a:extLst>
          </p:cNvPr>
          <p:cNvSpPr/>
          <p:nvPr/>
        </p:nvSpPr>
        <p:spPr>
          <a:xfrm>
            <a:off x="3385522" y="4417502"/>
            <a:ext cx="288000" cy="288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DDDD7615-8CFC-45D7-96DC-48BD864C3353}"/>
              </a:ext>
            </a:extLst>
          </p:cNvPr>
          <p:cNvSpPr/>
          <p:nvPr/>
        </p:nvSpPr>
        <p:spPr>
          <a:xfrm rot="5400000">
            <a:off x="778962" y="3736160"/>
            <a:ext cx="4565423" cy="242671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43864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Delivery</a:t>
            </a:r>
            <a:endParaRPr lang="es-ES" dirty="0"/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2228984"/>
            <a:ext cx="11668125" cy="41549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200" b="1" dirty="0">
                <a:solidFill>
                  <a:prstClr val="black"/>
                </a:solidFill>
              </a:rPr>
              <a:t>Contribuciones: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Diseñar y asegurar el cumplimiento del </a:t>
            </a:r>
            <a:r>
              <a:rPr lang="es-ES" sz="1200" i="1" dirty="0" err="1">
                <a:solidFill>
                  <a:prstClr val="black"/>
                </a:solidFill>
              </a:rPr>
              <a:t>framework</a:t>
            </a:r>
            <a:r>
              <a:rPr lang="es-ES" sz="1200" dirty="0">
                <a:solidFill>
                  <a:prstClr val="black"/>
                </a:solidFill>
              </a:rPr>
              <a:t> de gobernanza – comités, cadencia – para priorizar y aprobar iniciativas transformacionales, manteniendo el </a:t>
            </a:r>
            <a:r>
              <a:rPr lang="es-ES" sz="1200" i="1" dirty="0">
                <a:solidFill>
                  <a:prstClr val="black"/>
                </a:solidFill>
              </a:rPr>
              <a:t>pipeline</a:t>
            </a:r>
            <a:r>
              <a:rPr lang="es-ES" sz="1200" dirty="0">
                <a:solidFill>
                  <a:prstClr val="black"/>
                </a:solidFill>
              </a:rPr>
              <a:t> de proyectos estratégicos y gestionando dependencias </a:t>
            </a:r>
            <a:r>
              <a:rPr lang="es-ES" sz="1200" i="1" dirty="0" err="1">
                <a:solidFill>
                  <a:prstClr val="black"/>
                </a:solidFill>
              </a:rPr>
              <a:t>cross</a:t>
            </a:r>
            <a:r>
              <a:rPr lang="es-ES" sz="1200" i="1" dirty="0">
                <a:solidFill>
                  <a:prstClr val="black"/>
                </a:solidFill>
              </a:rPr>
              <a:t>-plataformas.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i="1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Identificar y validar fuentes de valor (financieras y no financieras) en el negocio.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Brindar soporte en el desarrollo del caso de negocio y su presupuesto, así como ​​en los análisis y la intención de la iniciativa.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Poner a prueba el caso de negocio de las iniciativas, con el objetivo de potenciar su valor y agilizar los tiempos de entrega.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Definir las métricas de valor a las que se les dará seguimiento, en línea con la metodología definida en conjunto con el área de Finanzas y el Responsable de Procesos y Metodología.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Habilitar la trazabilidad de beneficios, la anticipación de riesgos y la retroalimentación continua para la toma de decisiones. 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Garantizar la presentación de informes oportunos y precisos de los datos en relación con las métricas aprobadas (en colaboración con el Responsable de Procesos y Metodología).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Proyectar las implicaciones del estado actual y anticipar el futuro; identificando si el valor proyectado de la iniciativa tiende a ser inferior a las expectativas y/o identificando posibles incumplimientos de los plazos de ésta.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Implementar metodologías ágiles para asegurar hitos y calidad de los entregables (en colaboración con el Responsable de Procesos y Metodología)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</a:rPr>
              <a:t>Resolver dudas de los equipos de iniciativas respecto a la consecución de los objetivos definidos y su alineación y coherencia con la estrategia de negocio.</a:t>
            </a:r>
            <a:endParaRPr lang="es-ES" sz="1200" dirty="0">
              <a:solidFill>
                <a:prstClr val="black"/>
              </a:solidFill>
              <a:highlight>
                <a:srgbClr val="FFFF00"/>
              </a:highlight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240929"/>
            <a:ext cx="1166812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/>
              <a:t>Propósito: </a:t>
            </a:r>
            <a:r>
              <a:rPr lang="es-ES" sz="1200" dirty="0">
                <a:solidFill>
                  <a:prstClr val="black"/>
                </a:solidFill>
              </a:rPr>
              <a:t>Garantizar que las iniciativas del negocio entreguen el valor prometido, midiendo su impacto estratégico, financiero y organizacional en toda la compañía. Fungir como </a:t>
            </a:r>
            <a:r>
              <a:rPr lang="es-ES" sz="1200" dirty="0" err="1">
                <a:solidFill>
                  <a:prstClr val="black"/>
                </a:solidFill>
              </a:rPr>
              <a:t>co-responsable</a:t>
            </a:r>
            <a:r>
              <a:rPr lang="es-ES" sz="1200" dirty="0">
                <a:solidFill>
                  <a:prstClr val="black"/>
                </a:solidFill>
              </a:rPr>
              <a:t> de la administración de los casos de negocio y del aseguramiento de su creación de valor, asegurando el plan de entrega de valor y facilitando la participación de las partes interesadas y las acciones de mitigación de riesgos, según sea necesario para garantizar su encomienda. De igual manera, colaborar con los diferentes </a:t>
            </a:r>
            <a:r>
              <a:rPr lang="es-ES" sz="1200" i="1" dirty="0" err="1">
                <a:solidFill>
                  <a:prstClr val="black"/>
                </a:solidFill>
              </a:rPr>
              <a:t>stakeholders</a:t>
            </a:r>
            <a:r>
              <a:rPr lang="es-ES" sz="1200" dirty="0">
                <a:solidFill>
                  <a:prstClr val="black"/>
                </a:solidFill>
              </a:rPr>
              <a:t> y el equipo de las iniciativas para desarrollar recomendaciones para la cartera de iniciativas (iniciar, detener y reorientar) a fin de garantizar un enfoque continuo en el valor.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87F29F-0243-A6B5-991F-1349A246DE0B}"/>
              </a:ext>
            </a:extLst>
          </p:cNvPr>
          <p:cNvSpPr txBox="1"/>
          <p:nvPr/>
        </p:nvSpPr>
        <p:spPr>
          <a:xfrm rot="1402574">
            <a:off x="9096292" y="3061252"/>
            <a:ext cx="191866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VERSIÓN SESION 1</a:t>
            </a:r>
            <a:endParaRPr lang="es-MX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Delivery</a:t>
            </a:r>
            <a:r>
              <a:rPr lang="es-ES" dirty="0"/>
              <a:t> </a:t>
            </a:r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  <a:endParaRPr lang="es-ES" sz="1100" dirty="0">
              <a:solidFill>
                <a:prstClr val="black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Priorizar y aprobar iniciativas transformacionales del negocio (iniciar, detener, reorientar en caso de ser necesario)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Gestionar el portafolio de iniciativas priorizando, según impacto y urgencia, y coordinando la necesidad de recursos internos y externos requeridos.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Asegurar que las iniciativas estratégicas generen valor al  negocio (financiero, propuesta de valor, etc.)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Asegurar que el portafolio de apuestas de compañía sea congruente con la estrategia de negocio a largo plazo brindando sostenibilidad.</a:t>
            </a:r>
          </a:p>
          <a:p>
            <a:pPr defTabSz="457200"/>
            <a:endParaRPr lang="es-ES" sz="11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Revisar y retar casos de negocio – alcance, </a:t>
            </a:r>
            <a:r>
              <a:rPr lang="es-ES" sz="1100" dirty="0" err="1">
                <a:solidFill>
                  <a:prstClr val="black"/>
                </a:solidFill>
              </a:rPr>
              <a:t>roadmap</a:t>
            </a:r>
            <a:r>
              <a:rPr lang="es-ES" sz="1100" dirty="0">
                <a:solidFill>
                  <a:prstClr val="black"/>
                </a:solidFill>
              </a:rPr>
              <a:t> – para maximizar el valor, acelerar time-</a:t>
            </a:r>
            <a:r>
              <a:rPr lang="es-ES" sz="1100" dirty="0" err="1">
                <a:solidFill>
                  <a:prstClr val="black"/>
                </a:solidFill>
              </a:rPr>
              <a:t>to</a:t>
            </a:r>
            <a:r>
              <a:rPr lang="es-ES" sz="1100" dirty="0">
                <a:solidFill>
                  <a:prstClr val="black"/>
                </a:solidFill>
              </a:rPr>
              <a:t>-</a:t>
            </a:r>
            <a:r>
              <a:rPr lang="es-ES" sz="1100" dirty="0" err="1">
                <a:solidFill>
                  <a:prstClr val="black"/>
                </a:solidFill>
              </a:rPr>
              <a:t>market</a:t>
            </a:r>
            <a:r>
              <a:rPr lang="es-ES" sz="1100" dirty="0">
                <a:solidFill>
                  <a:prstClr val="black"/>
                </a:solidFill>
              </a:rPr>
              <a:t> y mitigar riesgos.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Diseñar los medios que permitan asegurar la visibilidad de las iniciativas y su generación de valor (en colaboración con Responsable de Procesos y Metodología).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Asegurar que las iniciativas estratégicas de compañía generen el valor esperado para la integralidad del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prstClr val="black"/>
                </a:solidFill>
              </a:rPr>
              <a:t>Orquestar que los </a:t>
            </a:r>
            <a:r>
              <a:rPr lang="es-ES" sz="1100" dirty="0" err="1">
                <a:solidFill>
                  <a:prstClr val="black"/>
                </a:solidFill>
              </a:rPr>
              <a:t>roadmaps</a:t>
            </a:r>
            <a:r>
              <a:rPr lang="es-ES" sz="1100" dirty="0">
                <a:solidFill>
                  <a:prstClr val="black"/>
                </a:solidFill>
              </a:rPr>
              <a:t> de las iniciativas estratégicas estén alineados y sin traslapes, cumpliendo cada una con el valor esperado, pero uniendo esfuerzos cuando éstos puedan potencializarse.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C6307E-B864-6184-91B6-F08D39BD3A82}"/>
              </a:ext>
            </a:extLst>
          </p:cNvPr>
          <p:cNvSpPr txBox="1"/>
          <p:nvPr/>
        </p:nvSpPr>
        <p:spPr>
          <a:xfrm rot="1402574">
            <a:off x="9096292" y="3061252"/>
            <a:ext cx="191866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VERSIÓN SESION 1</a:t>
            </a:r>
            <a:endParaRPr lang="es-MX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73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351956" y="1217295"/>
            <a:ext cx="90487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modificación, así como entregables y premisas principales del área.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Estrategia y Transformación – </a:t>
            </a:r>
            <a:r>
              <a:rPr lang="es-ES" b="0" dirty="0" err="1"/>
              <a:t>Value</a:t>
            </a:r>
            <a:r>
              <a:rPr lang="es-ES" b="0" dirty="0"/>
              <a:t> </a:t>
            </a:r>
            <a:r>
              <a:rPr lang="es-ES" b="0" dirty="0" err="1"/>
              <a:t>Delivery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417986" y="2130765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402083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375014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292178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2976610" y="3045281"/>
            <a:ext cx="8928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402083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2976610" y="3577184"/>
            <a:ext cx="8928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402083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2976610" y="4108735"/>
            <a:ext cx="8928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402083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2976610" y="4657471"/>
            <a:ext cx="8928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402083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2976610" y="5224704"/>
            <a:ext cx="8928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CDCF0CD-A707-5DF6-EE04-8030496E281A}"/>
              </a:ext>
            </a:extLst>
          </p:cNvPr>
          <p:cNvSpPr/>
          <p:nvPr/>
        </p:nvSpPr>
        <p:spPr>
          <a:xfrm>
            <a:off x="5857119" y="2130765"/>
            <a:ext cx="1376496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Procesos y Metodología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77D6F8C-3C1D-A0E4-B5A6-DB5819B7BB81}"/>
              </a:ext>
            </a:extLst>
          </p:cNvPr>
          <p:cNvSpPr/>
          <p:nvPr/>
        </p:nvSpPr>
        <p:spPr>
          <a:xfrm>
            <a:off x="4436748" y="2130765"/>
            <a:ext cx="1376496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Gerentes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2944D2-25BE-C162-3145-B127F663B5D5}"/>
              </a:ext>
            </a:extLst>
          </p:cNvPr>
          <p:cNvSpPr/>
          <p:nvPr/>
        </p:nvSpPr>
        <p:spPr>
          <a:xfrm>
            <a:off x="10191831" y="2130765"/>
            <a:ext cx="1704975" cy="4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Entregable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8C4FA6A-4546-8979-32D1-1160E52AFB3E}"/>
              </a:ext>
            </a:extLst>
          </p:cNvPr>
          <p:cNvSpPr/>
          <p:nvPr/>
        </p:nvSpPr>
        <p:spPr>
          <a:xfrm>
            <a:off x="3002148" y="2130765"/>
            <a:ext cx="1376496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Estrategia y Transformación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04B5CF9-2179-9C10-D028-46FA33C4C55F}"/>
              </a:ext>
            </a:extLst>
          </p:cNvPr>
          <p:cNvSpPr/>
          <p:nvPr/>
        </p:nvSpPr>
        <p:spPr>
          <a:xfrm>
            <a:off x="7291315" y="2130765"/>
            <a:ext cx="1376496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Coordinador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791FFE3-BEDA-52E8-8906-C3D30D357762}"/>
              </a:ext>
            </a:extLst>
          </p:cNvPr>
          <p:cNvSpPr/>
          <p:nvPr/>
        </p:nvSpPr>
        <p:spPr>
          <a:xfrm>
            <a:off x="8712458" y="2130765"/>
            <a:ext cx="1376496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Estrategia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F1AB8-364B-E090-C87F-DDE6F032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Premisas Estrategia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C5FD27-CBB3-1083-702A-135AF26002DB}"/>
              </a:ext>
            </a:extLst>
          </p:cNvPr>
          <p:cNvSpPr/>
          <p:nvPr/>
        </p:nvSpPr>
        <p:spPr>
          <a:xfrm>
            <a:off x="418482" y="2198503"/>
            <a:ext cx="11010232" cy="328789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r>
              <a:rPr lang="es-MX" sz="1400" b="1" dirty="0"/>
              <a:t>Premisas del área: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  <a:p>
            <a:endParaRPr lang="es-MX" sz="1400" b="1" dirty="0"/>
          </a:p>
        </p:txBody>
      </p:sp>
      <p:sp>
        <p:nvSpPr>
          <p:cNvPr id="8" name="Bocadillo: rectángulo 7">
            <a:extLst>
              <a:ext uri="{FF2B5EF4-FFF2-40B4-BE49-F238E27FC236}">
                <a16:creationId xmlns:a16="http://schemas.microsoft.com/office/drawing/2014/main" id="{887570CC-EEEB-E4B4-31D9-A87DDA68CFC7}"/>
              </a:ext>
            </a:extLst>
          </p:cNvPr>
          <p:cNvSpPr/>
          <p:nvPr/>
        </p:nvSpPr>
        <p:spPr>
          <a:xfrm>
            <a:off x="4400550" y="1137691"/>
            <a:ext cx="7028164" cy="936987"/>
          </a:xfrm>
          <a:prstGeom prst="wedge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s-MX" sz="1050" dirty="0">
                <a:solidFill>
                  <a:schemeClr val="tx1"/>
                </a:solidFill>
              </a:rPr>
              <a:t>Una </a:t>
            </a:r>
            <a:r>
              <a:rPr lang="es-MX" sz="1050" b="1" dirty="0">
                <a:solidFill>
                  <a:schemeClr val="tx1"/>
                </a:solidFill>
              </a:rPr>
              <a:t>premisa</a:t>
            </a:r>
            <a:r>
              <a:rPr lang="es-MX" sz="1050" dirty="0">
                <a:solidFill>
                  <a:schemeClr val="tx1"/>
                </a:solidFill>
              </a:rPr>
              <a:t> es un principio base que establece las condiciones y lineamientos fundamentales bajo los cuales un área debe operar y tomar decisiones. Funciona como una condición inicial que orienta la manera en que un área opera, define sus responsabilidades y establece los criterios bajo los cuales deben ejecutarse sus actividades.</a:t>
            </a:r>
          </a:p>
          <a:p>
            <a:pPr lvl="0">
              <a:defRPr/>
            </a:pPr>
            <a:r>
              <a:rPr lang="es-MX" sz="1050" i="1" dirty="0">
                <a:solidFill>
                  <a:schemeClr val="tx1"/>
                </a:solidFill>
              </a:rPr>
              <a:t>*Ejemplo de premisa de Organización: Ningún movimiento organizacional puede ejecutarse sin la aprobación formal de Organización.</a:t>
            </a:r>
          </a:p>
        </p:txBody>
      </p:sp>
    </p:spTree>
    <p:extLst>
      <p:ext uri="{BB962C8B-B14F-4D97-AF65-F5344CB8AC3E}">
        <p14:creationId xmlns:p14="http://schemas.microsoft.com/office/powerpoint/2010/main" val="3523475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</a:t>
            </a:r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EXTRADATA" val="PD94bWwgdmVyc2lvbj0iMS4wIiBlbmNvZGluZz0idXRmLTE2Ij8+DQo8TWFzdGVyRGF0YSB4bWxuczp4c2Q9Imh0dHA6Ly93d3cudzMub3JnLzIwMDEvWE1MU2NoZW1hIiB4bWxuczp4c2k9Imh0dHA6Ly93d3cudzMub3JnLzIwMDEvWE1MU2NoZW1hLWluc3RhbmNlIj4NCiAgPENhc2VDb2RlPlk3TEY8L0Nhc2VDb2RlPg0KICA8U3R5bGU+TWF0Y2hpbmc8L1N0eWxlPg0KICA8VmVyc2lvbk51bWJlcj4xPC9WZXJzaW9uTnVtYmVyPg0KICA8RGVzaWduZXJPZmZpY2U+TkRIPC9EZXNpZ25lck9mZmljZT4NCiAgPFNraXBNZWtrb1N1cHBvcnQ+dHJ1ZTwvU2tpcE1la2tvU3VwcG9ydD4NCiAgPFNraXBGb250Q2hlY2s+dHJ1ZTwvU2tpcEZvbnRDaGVjaz4NCiAgPFNraXBNYXN0ZXJGb250UmVmcz50cnVlPC9Ta2lwTWFzdGVyRm9udFJlZnM+DQogIDxJbmNsdWRlR3JheXM+dHJ1ZTwvSW5jbHVkZUdyYXlzPg0KICA8TGFzdFVwZGF0ZWQ+MjAyNS0wMS0yOVQwNDoyMjo0My40MTE1OTMzWjwvTGFzdFVwZGF0ZWQ+DQogIDxTa2lwUHJvZHVjdGlvbk1vZGU+ZmFsc2U8L1NraXBQcm9kdWN0aW9uTW9kZT4NCiAgPEJhY2tncm91bmRDb2xvckhleD5GRkZGRkY8L0JhY2tncm91bmRDb2xvckhleD4NCiAgPFBhbGV0dGVEYXRhIC8+DQogIDxOYW1lc0V4dD4NCiAgICA8U2hvcnROYW1lPkE8L1Nob3J0TmFtZT4NCiAgICA8TG9uZ05hbWUgLz4NCiAgICA8QmFzZUNvbG9ySGV4PkZGN0YzMjwvQmFzZUNvbG9ySGV4Pg0KICAgIDxDb250cmFzdGluZ0NvbG9ySGV4PkZGRkZGRjwvQ29udHJhc3RpbmdDb2xvckhleD4NCiAgICA8SXNIaWdobGlnaHQ+dHJ1ZTwvSXNIaWdobGlnaHQ+DQogICAgPElzVGV4dD5mYWxzZTwvSXNUZXh0Pg0KICA8L05hbWVzRXh0Pg0KICA8TmFtZXNFeHQ+DQogICAgPFNob3J0TmFtZT5CPC9TaG9ydE5hbWU+DQogICAgPExvbmdOYW1lIC8+DQogICAgPEJhc2VDb2xvckhleD44NjI2MzM8L0Jhc2VDb2xvckhleD4NCiAgICA8Q29udHJhc3RpbmdDb2xvckhleD5GRkZGRkY8L0NvbnRyYXN0aW5nQ29sb3JIZXg+DQogICAgPElzSGlnaGxpZ2h0PmZhbHNlPC9Jc0hpZ2hsaWdodD4NCiAgICA8SXNUZXh0PmZhbHNlPC9Jc1RleHQ+DQogIDwvTmFtZXNFeHQ+DQogIDxOYW1lc0V4dD4NCiAgICA8U2hvcnROYW1lPkM8L1Nob3J0TmFtZT4NCiAgICA8TG9uZ05hbWUgLz4NCiAgICA8QmFzZUNvbG9ySGV4PkRFMDIzMDwvQmFzZUNvbG9ySGV4Pg0KICAgIDxDb250cmFzdGluZ0NvbG9ySGV4PkZGRkZGRjwvQ29udHJhc3RpbmdDb2xvckhleD4NCiAgICA8SXNIaWdobGlnaHQ+ZmFsc2U8L0lzSGlnaGxpZ2h0Pg0KICAgIDxJc1RleHQ+ZmFsc2U8L0lzVGV4dD4NCiAgPC9OYW1lc0V4dD4NCiAgPE5hbWVzRXh0Pg0KICAgIDxTaG9ydE5hbWU+RDwvU2hvcnROYW1lPg0KICAgIDxMb25nTmFtZSAvPg0KICAgIDxCYXNlQ29sb3JIZXg+RkY1NzVEPC9CYXNlQ29sb3JIZXg+DQogICAgPENvbnRyYXN0aW5nQ29sb3JIZXg+MDAwMDAwPC9Db250cmFzdGluZ0NvbG9ySGV4Pg0KICAgIDxJc0hpZ2hsaWdodD5mYWxzZTwvSXNIaWdobGlnaHQ+DQogICAgPElzVGV4dD5mYWxzZTwvSXNUZXh0Pg0KICA8L05hbWVzRXh0Pg0KICA8TmFtZXNFeHQ+DQogICAgPFNob3J0TmFtZT5FPC9TaG9ydE5hbWU+DQogICAgPExvbmdOYW1lIC8+DQogICAgPEJhc2VDb2xvckhleD5CQzdFN0Q8L0Jhc2VDb2xvckhleD4NCiAgICA8Q29udHJhc3RpbmdDb2xvckhleD4wMDAwMDA8L0NvbnRyYXN0aW5nQ29sb3JIZXg+DQogICAgPElzSGlnaGxpZ2h0PmZhbHNlPC9Jc0hpZ2hsaWdodD4NCiAgICA8SXNUZXh0PmZhbHNlPC9Jc1RleHQ+DQogIDwvTmFtZXNFeHQ+DQogIDxOYW1lc0V4dD4NCiAgICA8U2hvcnROYW1lPkY8L1Nob3J0TmFtZT4NCiAgICA8TG9uZ05hbWUgLz4NCiAgICA8QmFzZUNvbG9ySGV4Pjc0ODZCMjwvQmFzZUNvbG9ySGV4Pg0KICAgIDxDb250cmFzdGluZ0NvbG9ySGV4PkZGRkZGRjwvQ29udHJhc3RpbmdDb2xvckhleD4NCiAgICA8SXNIaWdobGlnaHQ+ZmFsc2U8L0lzSGlnaGxpZ2h0Pg0KICAgIDxJc1RleHQ+ZmFsc2U8L0lzVGV4dD4NCiAgPC9OYW1lc0V4dD4NCiAgPE5hbWVzRXh0Pg0KICAgIDxTaG9ydE5hbWU+RzwvU2hvcnROYW1lPg0KICAgIDxMb25nTmFtZSAvPg0KICAgIDxCYXNlQ29sb3JIZXg+NTM1NjU5PC9CYXNlQ29sb3JIZXg+DQogICAgPENvbnRyYXN0aW5nQ29sb3JIZXg+RkZGRkZGPC9Db250cmFzdGluZ0NvbG9ySGV4Pg0KICAgIDxJc0hpZ2hsaWdodD5mYWxzZTwvSXNIaWdobGlnaHQ+DQogICAgPElzVGV4dD5mYWxzZTwvSXNUZXh0Pg0KICA8L05hbWVzRXh0Pg0KICA8TmFtZXNFeHQ+DQogICAgPFNob3J0TmFtZT5IPC9TaG9ydE5hbWU+DQogICAgPExvbmdOYW1lIC8+DQogICAgPEJhc2VDb2xvckhleD45NTk5OUI8L0Jhc2VDb2xvckhleD4NCiAgICA8Q29udHJhc3RpbmdDb2xvckhleD4wMDAwMDA8L0NvbnRyYXN0aW5nQ29sb3JIZXg+DQogICAgPElzSGlnaGxpZ2h0PmZhbHNlPC9Jc0hpZ2hsaWdodD4NCiAgICA8SXNUZXh0PmZhbHNlPC9Jc1RleHQ+DQogIDwvTmFtZXNFeHQ+DQogIDxOYW1lc0V4dD4NCiAgICA8U2hvcnROYW1lPkk8L1Nob3J0TmFtZT4NCiAgICA8TG9uZ05hbWUgLz4NCiAgICA8QmFzZUNvbG9ySGV4PkUzRTNFNTwvQmFzZUNvbG9ySGV4Pg0KICAgIDxDb250cmFzdGluZ0NvbG9ySGV4PjAwMDAwMDwvQ29udHJhc3RpbmdDb2xvckhleD4NCiAgICA8SXNIaWdobGlnaHQ+ZmFsc2U8L0lzSGlnaGxpZ2h0Pg0KICAgIDxJc1RleHQ+ZmFsc2U8L0lzVGV4dD4NCiAgPC9OYW1lc0V4dD4NCiAgPE5hbWVzRXh0Pg0KICAgIDxTaG9ydE5hbWU+SjwvU2hvcnROYW1lPg0KICAgIDxMb25nTmFtZSAvPg0KICAgIDxCYXNlQ29sb3JIZXg+RkZDMjA0PC9CYXNlQ29sb3JIZXg+DQogICAgPENvbnRyYXN0aW5nQ29sb3JIZXg+MDAwMDAwPC9Db250cmFzdGluZ0NvbG9ySGV4Pg0KICAgIDxJc0hpZ2hsaWdodD5mYWxzZTwvSXNIaWdobGlnaHQ+DQogICAgPElzVGV4dD5mYWxzZTwvSXNUZXh0Pg0KICA8L05hbWVzRXh0Pg0KICA8TmFtZXNFeHQ+DQogICAgPFNob3J0TmFtZT5LPC9TaG9ydE5hbWU+DQogICAgPExvbmdOYW1lIC8+DQogICAgPEJhc2VDb2xvckhleD5GNkQ1NzM8L0Jhc2VDb2xvckhleD4NCiAgICA8Q29udHJhc3RpbmdDb2xvckhleD4wMDAwMDA8L0NvbnRyYXN0aW5nQ29sb3JIZXg+DQogICAgPElzSGlnaGxpZ2h0PmZhbHNlPC9Jc0hpZ2hsaWdodD4NCiAgICA8SXNUZXh0PmZhbHNlPC9Jc1RleHQ+DQogIDwvTmFtZXNFeHQ+DQogIDxOYW1lc0V4dD4NCiAgICA8U2hvcnROYW1lPkw8L1Nob3J0TmFtZT4NCiAgICA8TG9uZ05hbWUgLz4NCiAgICA8QmFzZUNvbG9ySGV4PkY4REU5QjwvQmFzZUNvbG9ySGV4Pg0KICAgIDxDb250cmFzdGluZ0NvbG9ySGV4PjAwMDAwMDwvQ29udHJhc3RpbmdDb2xvckhleD4NCiAgICA8SXNIaWdobGlnaHQ+ZmFsc2U8L0lzSGlnaGxpZ2h0Pg0KICAgIDxJc1RleHQ+ZmFsc2U8L0lzVGV4dD4NCiAgPC9OYW1lc0V4dD4NCiAgPE5hbWVzRXh0Pg0KICAgIDxTaG9ydE5hbWU+TTwvU2hvcnROYW1lPg0KICAgIDxMb25nTmFtZSAvPg0KICAgIDxCYXNlQ29sb3JIZXg+RkRGMEI2PC9CYXNlQ29sb3JIZXg+DQogICAgPENvbnRyYXN0aW5nQ29sb3JIZXg+MDAwMDAwPC9Db250cmFzdGluZ0NvbG9ySGV4Pg0KICAgIDxJc0hpZ2hsaWdodD5mYWxzZTwvSXNIaWdobGlnaHQ+DQogICAgPElzVGV4dD5mYWxzZTwvSXNUZXh0Pg0KICA8L05hbWVzRXh0Pg0KICA8TmFtZXNFeHQ+DQogICAgPFNob3J0TmFtZT5OPC9TaG9ydE5hbWU+DQogICAgPExvbmdOYW1lIC8+DQogICAgPEJhc2VDb2xvckhleD5BRjE5Mzg8L0Jhc2VDb2xvckhleD4NCiAgICA8Q29udHJhc3RpbmdDb2xvckhleD5GRkZGRkY8L0NvbnRyYXN0aW5nQ29sb3JIZXg+DQogICAgPElzSGlnaGxpZ2h0PmZhbHNlPC9Jc0hpZ2hsaWdodD4NCiAgICA8SXNUZXh0PmZhbHNlPC9Jc1RleHQ+DQogIDwvTmFtZXNFeHQ+DQogIDxOYW1lc0V4dD4NCiAgICA8U2hvcnROYW1lPk88L1Nob3J0TmFtZT4NCiAgICA8TG9uZ05hbWUgLz4NCiAgICA8QmFzZUNvbG9ySGV4PkZGNTc1RDwvQmFzZUNvbG9ySGV4Pg0KICAgIDxDb250cmFzdGluZ0NvbG9ySGV4PkZGRkZGRjwvQ29udHJhc3RpbmdDb2xvckhleD4NCiAgICA8SXNIaWdobGlnaHQ+ZmFsc2U8L0lzSGlnaGxpZ2h0Pg0KICAgIDxJc1RleHQ+ZmFsc2U8L0lzVGV4dD4NCiAgPC9OYW1lc0V4dD4NCiAgPE5hbWVzRXh0Pg0KICAgIDxTaG9ydE5hbWU+UDwvU2hvcnROYW1lPg0KICAgIDxMb25nTmFtZSAvPg0KICAgIDxCYXNlQ29sb3JIZXg+RjlEM0RCPC9CYXNlQ29sb3JIZXg+DQogICAgPENvbnRyYXN0aW5nQ29sb3JIZXg+MDAwMDAwPC9Db250cmFzdGluZ0NvbG9ySGV4Pg0KICAgIDxJc0hpZ2hsaWdodD5mYWxzZTwvSXNIaWdobGlnaHQ+DQogICAgPElzVGV4dD5mYWxzZTwvSXNUZXh0Pg0KICA8L05hbWVzRXh0Pg0KICA8TmFtZXNFeHQ+DQogICAgPFNob3J0TmFtZT5RPC9TaG9ydE5hbWU+DQogICAgPExvbmdOYW1lIC8+DQogICAgPEJhc2VDb2xvckhleD44NjAwODY8L0Jhc2VDb2xvckhleD4NCiAgICA8Q29udHJhc3RpbmdDb2xvckhleD5GRkZGRkY8L0NvbnRyYXN0aW5nQ29sb3JIZXg+DQogICAgPElzSGlnaGxpZ2h0PmZhbHNlPC9Jc0hpZ2hsaWdodD4NCiAgICA8SXNUZXh0PmZhbHNlPC9Jc1RleHQ+DQogIDwvTmFtZXNFeHQ+DQogIDxOYW1lc0V4dD4NCiAgICA8U2hvcnROYW1lPlI8L1Nob3J0TmFtZT4NCiAgICA8TG9uZ05hbWUgLz4NCiAgICA8QmFzZUNvbG9ySGV4PkZGOEJGRjwvQmFzZUNvbG9ySGV4Pg0KICAgIDxDb250cmFzdGluZ0NvbG9ySGV4PjAwMDAwMDwvQ29udHJhc3RpbmdDb2xvckhleD4NCiAgICA8SXNIaWdobGlnaHQ+ZmFsc2U8L0lzSGlnaGxpZ2h0Pg0KICAgIDxJc1RleHQ+ZmFsc2U8L0lzVGV4dD4NCiAgPC9OYW1lc0V4dD4NCiAgPE5hbWVzRXh0Pg0KICAgIDxTaG9ydE5hbWU+UzwvU2hvcnROYW1lPg0KICAgIDxMb25nTmFtZSAvPg0KICAgIDxCYXNlQ29sb3JIZXg+RkZCOUZGPC9CYXNlQ29sb3JIZXg+DQogICAgPENvbnRyYXN0aW5nQ29sb3JIZXg+MDAwMDAwPC9Db250cmFzdGluZ0NvbG9ySGV4Pg0KICAgIDxJc0hpZ2hsaWdodD5mYWxzZTwvSXNIaWdobGlnaHQ+DQogICAgPElzVGV4dD5mYWxzZTwvSXNUZXh0Pg0KICA8L05hbWVzRXh0Pg0KICA8TmFtZXNFeHQ+DQogICAgPFNob3J0TmFtZT5UPC9TaG9ydE5hbWU+DQogICAgPExvbmdOYW1lIC8+DQogICAgPEJhc2VDb2xvckhleD5GRUQ2RkU8L0Jhc2VDb2xvckhleD4NCiAgICA8Q29udHJhc3RpbmdDb2xvckhleD4wMDAwMDA8L0NvbnRyYXN0aW5nQ29sb3JIZXg+DQogICAgPElzSGlnaGxpZ2h0PmZhbHNlPC9Jc0hpZ2hsaWdodD4NCiAgICA8SXNUZXh0PmZhbHNlPC9Jc1RleHQ+DQogIDwvTmFtZXNFeHQ+DQogIDxOYW1lc0V4dD4NCiAgICA8U2hvcnROYW1lPlU8L1Nob3J0TmFtZT4NCiAgICA8TG9uZ05hbWUgLz4NCiAgICA8QmFzZUNvbG9ySGV4PjAwNzJDNDwvQmFzZUNvbG9ySGV4Pg0KICAgIDxDb250cmFzdGluZ0NvbG9ySGV4PkZGRkZGRjwvQ29udHJhc3RpbmdDb2xvckhleD4NCiAgICA8SXNIaWdobGlnaHQ+ZmFsc2U8L0lzSGlnaGxpZ2h0Pg0KICAgIDxJc1RleHQ+ZmFsc2U8L0lzVGV4dD4NCiAgPC9OYW1lc0V4dD4NCiAgPE5hbWVzRXh0Pg0KICAgIDxTaG9ydE5hbWU+VjwvU2hvcnROYW1lPg0KICAgIDxMb25nTmFtZSAvPg0KICAgIDxCYXNlQ29sb3JIZXg+MDA4OUUyPC9CYXNlQ29sb3JIZXg+DQogICAgPENvbnRyYXN0aW5nQ29sb3JIZXg+RkZGRkZGPC9Db250cmFzdGluZ0NvbG9ySGV4Pg0KICAgIDxJc0hpZ2hsaWdodD5mYWxzZTwvSXNIaWdobGlnaHQ+DQogICAgPElzVGV4dD5mYWxzZTwvSXNUZXh0Pg0KICA8L05hbWVzRXh0Pg0KICA8TmFtZXNFeHQ+DQogICAgPFNob3J0TmFtZT5XPC9TaG9ydE5hbWU+DQogICAgPExvbmdOYW1lIC8+DQogICAgPEJhc2VDb2xvckhleD4wMEE0RUU8L0Jhc2VDb2xvckhleD4NCiAgICA8Q29udHJhc3RpbmdDb2xvckhleD5GRkZGRkY8L0NvbnRyYXN0aW5nQ29sb3JIZXg+DQogICAgPElzSGlnaGxpZ2h0PmZhbHNlPC9Jc0hpZ2hsaWdodD4NCiAgICA8SXNUZXh0PmZhbHNlPC9Jc1RleHQ+DQogIDwvTmFtZXNFeHQ+DQogIDxOYW1lc0V4dD4NCiAgICA8U2hvcnROYW1lPlg8L1Nob3J0TmFtZT4NCiAgICA8TG9uZ05hbWUgLz4NCiAgICA8QmFzZUNvbG9ySGV4PkMzRTVGRjwvQmFzZUNvbG9ySGV4Pg0KICAgIDxDb250cmFzdGluZ0NvbG9ySGV4PjAwMDAwMDwvQ29udHJhc3RpbmdDb2xvckhleD4NCiAgICA8SXNIaWdobGlnaHQ+ZmFsc2U8L0lzSGlnaGxpZ2h0Pg0KICAgIDxJc1RleHQ+ZmFsc2U8L0lzVGV4dD4NCiAgPC9OYW1lc0V4dD4NCiAgPE5hbWVzRXh0Pg0KICAgIDxTaG9ydE5hbWU+WTwvU2hvcnROYW1lPg0KICAgIDxMb25nTmFtZSAvPg0KICAgIDxCYXNlQ29sb3JIZXg+MzIyRTY4PC9CYXNlQ29sb3JIZXg+DQogICAgPENvbnRyYXN0aW5nQ29sb3JIZXg+RkZGRkZGPC9Db250cmFzdGluZ0NvbG9ySGV4Pg0KICAgIDxJc0hpZ2hsaWdodD5mYWxzZTwvSXNIaWdobGlnaHQ+DQogICAgPElzVGV4dD5mYWxzZTwvSXNUZXh0Pg0KICA8L05hbWVzRXh0Pg0KICA8TmFtZXNFeHQ+DQogICAgPFNob3J0TmFtZT5aPC9TaG9ydE5hbWU+DQogICAgPExvbmdOYW1lIC8+DQogICAgPEJhc2VDb2xvckhleD40MjNFOEQ8L0Jhc2VDb2xvckhleD4NCiAgICA8Q29udHJhc3RpbmdDb2xvckhleD5GRkZGRkY8L0NvbnRyYXN0aW5nQ29sb3JIZXg+DQogICAgPElzSGlnaGxpZ2h0PmZhbHNlPC9Jc0hpZ2hsaWdodD4NCiAgICA8SXNUZXh0PmZhbHNlPC9Jc1RleHQ+DQogIDwvTmFtZXNFeHQ+DQogIDxOYW1lc0V4dD4NCiAgICA8U2hvcnROYW1lPkFBPC9TaG9ydE5hbWU+DQogICAgPExvbmdOYW1lIC8+DQogICAgPEJhc2VDb2xvckhleD44NzYzREM8L0Jhc2VDb2xvckhleD4NCiAgICA8Q29udHJhc3RpbmdDb2xvckhleD5GRkZGRkY8L0NvbnRyYXN0aW5nQ29sb3JIZXg+DQogICAgPElzSGlnaGxpZ2h0PmZhbHNlPC9Jc0hpZ2hsaWdodD4NCiAgICA8SXNUZXh0PmZhbHNlPC9Jc1RleHQ+DQogIDwvTmFtZXNFeHQ+DQogIDxOYW1lc0V4dD4NCiAgICA8U2hvcnROYW1lPkFCPC9TaG9ydE5hbWU+DQogICAgPExvbmdOYW1lIC8+DQogICAgPEJhc2VDb2xvckhleD5ENUQzRUI8L0Jhc2VDb2xvckhleD4NCiAgICA8Q29udHJhc3RpbmdDb2xvckhleD4wMDAwMDA8L0NvbnRyYXN0aW5nQ29sb3JIZXg+DQogICAgPElzSGlnaGxpZ2h0PmZhbHNlPC9Jc0hpZ2hsaWdodD4NCiAgICA8SXNUZXh0PmZhbHNlPC9Jc1RleHQ+DQogIDwvTmFtZXNFeHQ+DQogIDxOYW1lc0V4dD4NCiAgICA8U2hvcnROYW1lPkFDPC9TaG9ydE5hbWU+DQogICAgPExvbmdOYW1lIC8+DQogICAgPEJhc2VDb2xvckhleD5DNkFBM0Q8L0Jhc2VDb2xvckhleD4NCiAgICA8Q29udHJhc3RpbmdDb2xvckhleD4wMDAwMDA8L0NvbnRyYXN0aW5nQ29sb3JIZXg+DQogICAgPElzSGlnaGxpZ2h0PmZhbHNlPC9Jc0hpZ2hsaWdodD4NCiAgICA8SXNUZXh0PmZhbHNlPC9Jc1RleHQ+DQogIDwvTmFtZXNFeHQ+DQogIDxOYW1lc0V4dD4NCiAgICA8U2hvcnROYW1lPkFEPC9TaG9ydE5hbWU+DQogICAgPExvbmdOYW1lIC8+DQogICAgPEJhc2VDb2xvckhleD5ERENDOEI8L0Jhc2VDb2xvckhleD4NCiAgICA8Q29udHJhc3RpbmdDb2xvckhleD4wMDAwMDA8L0NvbnRyYXN0aW5nQ29sb3JIZXg+DQogICAgPElzSGlnaGxpZ2h0PmZhbHNlPC9Jc0hpZ2hsaWdodD4NCiAgICA8SXNUZXh0PmZhbHNlPC9Jc1RleHQ+DQogIDwvTmFtZXNFeHQ+DQogIDxOYW1lc0V4dD4NCiAgICA8U2hvcnROYW1lPkFFPC9TaG9ydE5hbWU+DQogICAgPExvbmdOYW1lIC8+DQogICAgPEJhc2VDb2xvckhleD5FOEREQjE8L0Jhc2VDb2xvckhleD4NCiAgICA8Q29udHJhc3RpbmdDb2xvckhleD4wMDAwMDA8L0NvbnRyYXN0aW5nQ29sb3JIZXg+DQogICAgPElzSGlnaGxpZ2h0PmZhbHNlPC9Jc0hpZ2hsaWdodD4NCiAgICA8SXNUZXh0PmZhbHNlPC9Jc1RleHQ+DQogIDwvTmFtZXNFeHQ+DQogIDxOYW1lc0V4dD4NCiAgICA8U2hvcnROYW1lPkFGPC9TaG9ydE5hbWU+DQogICAgPExvbmdOYW1lIC8+DQogICAgPEJhc2VDb2xvckhleD5GNEVFRDg8L0Jhc2VDb2xvckhleD4NCiAgICA8Q29udHJhc3RpbmdDb2xvckhleD4wMDAwMDA8L0NvbnRyYXN0aW5nQ29sb3JIZXg+DQogICAgPElzSGlnaGxpZ2h0PmZhbHNlPC9Jc0hpZ2hsaWdodD4NCiAgICA8SXNUZXh0PmZhbHNlPC9Jc1RleHQ+DQogIDwvTmFtZXNFeHQ+DQogIDxOb3Rlcz5DbGllbnQgdXNlcyBjdXN0b20gZm9udHM8L05vdGVzPg0KPC9NYXN0ZXJEYXRhPg=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ANCHORELEFT" val="True"/>
  <p:tag name="BTFPLAYOUTANCHORERIGHT" val="True"/>
  <p:tag name="BTFPLAYOUTANCHORETOP" val="True"/>
  <p:tag name="BTFPLAYOUTANCHOREBOTTOM" val="False"/>
  <p:tag name="BTFPUNCROPPEDHEIGHT" val="355.4588"/>
  <p:tag name="BTFPUNCROPPEDWIDTH" val="533.47"/>
  <p:tag name="BTFPCENTERX" val="40.88889"/>
  <p:tag name="BTFPCENTERY" val="28.66667"/>
  <p:tag name="BTFPHEIGHT" val="355.4588"/>
  <p:tag name="BTFPWIDTH" val="533.4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ANCHORELEFT" val="True"/>
  <p:tag name="BTFPLAYOUTANCHORERIGHT" val="False"/>
  <p:tag name="BTFPLAYOUTANCHORETOP" val="True"/>
  <p:tag name="BTFPLAYOUTANCHOREBOTTOM" val="Fals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1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4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4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49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5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7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8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8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8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8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8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8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Y7LF_169_M1">
  <a:themeElements>
    <a:clrScheme name="Y7LF_169_M1">
      <a:dk1>
        <a:srgbClr val="000000"/>
      </a:dk1>
      <a:lt1>
        <a:srgbClr val="FFFFFF"/>
      </a:lt1>
      <a:dk2>
        <a:srgbClr val="535659"/>
      </a:dk2>
      <a:lt2>
        <a:srgbClr val="E3E3E5"/>
      </a:lt2>
      <a:accent1>
        <a:srgbClr val="862633"/>
      </a:accent1>
      <a:accent2>
        <a:srgbClr val="FF575D"/>
      </a:accent2>
      <a:accent3>
        <a:srgbClr val="DE0230"/>
      </a:accent3>
      <a:accent4>
        <a:srgbClr val="BC7E7D"/>
      </a:accent4>
      <a:accent5>
        <a:srgbClr val="FF7F32"/>
      </a:accent5>
      <a:accent6>
        <a:srgbClr val="7486B2"/>
      </a:accent6>
      <a:hlink>
        <a:srgbClr val="000000"/>
      </a:hlink>
      <a:folHlink>
        <a:srgbClr val="95999B"/>
      </a:folHlink>
    </a:clrScheme>
    <a:fontScheme name="Y7LF_169_M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B284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fontAlgn="base" latinLnBrk="0" hangingPunct="0">
          <a:buClrTx/>
          <a:buSzPct val="100000"/>
          <a:buNone/>
          <a:tabLst/>
          <a:defRPr kumimoji="0" strike="noStrike" cap="none" normalizeH="0" dirty="0" smtClean="0">
            <a:ln>
              <a:noFill/>
            </a:ln>
            <a:solidFill>
              <a:schemeClr val="dk1"/>
            </a:solidFill>
            <a:effectLst/>
            <a:latin typeface="+mn-lt"/>
            <a:ea typeface="+mn-ea"/>
            <a:cs typeface="+mn-cs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dk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vert="horz" lIns="91440" tIns="45720" rIns="91440" bIns="45720" rtlCol="0" anchor="t">
        <a:spAutoFit/>
      </a:bodyPr>
      <a:lstStyle>
        <a:defPPr marL="0" indent="0" algn="l" eaLnBrk="0">
          <a:buNone/>
          <a:defRPr>
            <a:solidFill>
              <a:schemeClr val="dk1"/>
            </a:solidFill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Y7LF_169_M1.potx" id="{014292A6-C601-48B0-974D-A2A61B1BBA46}" vid="{4B7F014D-55EE-4F03-A09D-6555C25ADAB5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7ff1139c-9d19-4981-a26c-d6e7dc37fc8a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2880</Words>
  <Application>Microsoft Office PowerPoint</Application>
  <PresentationFormat>Widescreen</PresentationFormat>
  <Paragraphs>382</Paragraphs>
  <Slides>17</Slides>
  <Notes>8</Notes>
  <HiddenSlides>2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Tema de Office</vt:lpstr>
      <vt:lpstr>Master</vt:lpstr>
      <vt:lpstr>4_Tema de Office</vt:lpstr>
      <vt:lpstr>3_Y7LF_169_M1</vt:lpstr>
      <vt:lpstr>Fit for Purpose 2026 Value Delivery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PowerPoint Presentation</vt:lpstr>
      <vt:lpstr>PowerPoint Presentation</vt:lpstr>
      <vt:lpstr>PowerPoint Presentation</vt:lpstr>
      <vt:lpstr>La VMO brinda soporte estratégico al liderazgo; contribuye a amplificar los resultados de las iniciativas; y orquesta el programa de transformación </vt:lpstr>
      <vt:lpstr>PowerPoint Presentation</vt:lpstr>
      <vt:lpstr>PowerPoint Presentation</vt:lpstr>
      <vt:lpstr>Interacciones entre áreas y procesos clave Estrategia y Transformación – Value Delivery</vt:lpstr>
      <vt:lpstr>Premisas Estrategia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8</cp:revision>
  <dcterms:created xsi:type="dcterms:W3CDTF">2026-02-23T22:40:37Z</dcterms:created>
  <dcterms:modified xsi:type="dcterms:W3CDTF">2026-04-17T21:25:34Z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