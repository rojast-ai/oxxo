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binary" PartName="/ppt/metadata"/>
  <Override ContentType="application/vnd.openxmlformats-officedocument.presentationml.notesMaster+xml" PartName="/ppt/notesMasters/notesMaster1.xml"/>
  <Override ContentType="application/vnd.openxmlformats-officedocument.presentationml.presProps+xml" PartName="/ppt/presProps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  <p:sldMasterId id="2147483661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y="6858000" cx="12192000"/>
  <p:notesSz cx="6858000" cy="9144000"/>
  <p:embeddedFontLst>
    <p:embeddedFont>
      <p:font typeface="Play"/>
      <p:regular r:id="rId22"/>
      <p:bold r:id="rId23"/>
    </p:embeddedFont>
    <p:embeddedFont>
      <p:font typeface="Open Sans"/>
      <p:regular r:id="rId24"/>
      <p:bold r:id="rId25"/>
      <p:italic r:id="rId26"/>
      <p:boldItalic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72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GoogleSlidesCustomDataVersion2">
      <go:slidesCustomData xmlns:go="http://customooxmlschemas.google.com/" r:id="rId28" roundtripDataSignature="AMtx7miA42rD8a42CFgFyVBuEcEf0snM9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01E5AF45-4145-4DA2-A73C-3DA950761145}">
  <a:tblStyle styleId="{01E5AF45-4145-4DA2-A73C-3DA950761145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72" orient="horz"/>
        <p:guide pos="384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3.xml"/><Relationship Id="rId22" Type="http://schemas.openxmlformats.org/officeDocument/2006/relationships/font" Target="fonts/Play-regular.fntdata"/><Relationship Id="rId21" Type="http://schemas.openxmlformats.org/officeDocument/2006/relationships/slide" Target="slides/slide14.xml"/><Relationship Id="rId24" Type="http://schemas.openxmlformats.org/officeDocument/2006/relationships/font" Target="fonts/OpenSans-regular.fntdata"/><Relationship Id="rId23" Type="http://schemas.openxmlformats.org/officeDocument/2006/relationships/font" Target="fonts/Play-bold.fntdata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26" Type="http://schemas.openxmlformats.org/officeDocument/2006/relationships/font" Target="fonts/OpenSans-italic.fntdata"/><Relationship Id="rId25" Type="http://schemas.openxmlformats.org/officeDocument/2006/relationships/font" Target="fonts/OpenSans-bold.fntdata"/><Relationship Id="rId28" Type="http://customschemas.google.com/relationships/presentationmetadata" Target="metadata"/><Relationship Id="rId27" Type="http://schemas.openxmlformats.org/officeDocument/2006/relationships/font" Target="fonts/OpenSans-boldItalic.fntdata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11" Type="http://schemas.openxmlformats.org/officeDocument/2006/relationships/slide" Target="slides/slide4.xml"/><Relationship Id="rId10" Type="http://schemas.openxmlformats.org/officeDocument/2006/relationships/slide" Target="slides/slide3.xml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s-E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" name="Google Shape;302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3" name="Google Shape;343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524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lay"/>
              <a:buNone/>
            </a:pPr>
            <a:r>
              <a:t/>
            </a:r>
            <a:endParaRPr/>
          </a:p>
        </p:txBody>
      </p:sp>
      <p:sp>
        <p:nvSpPr>
          <p:cNvPr id="344" name="Google Shape;344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s-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2" name="Google Shape;352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Modificada </a:t>
            </a:r>
            <a:endParaRPr/>
          </a:p>
        </p:txBody>
      </p:sp>
      <p:sp>
        <p:nvSpPr>
          <p:cNvPr id="353" name="Google Shape;353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s-E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0" name="Google Shape;360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1" name="Google Shape;361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s-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8" name="Google Shape;378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9" name="Google Shape;379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8" name="Google Shape;418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9" name="Google Shape;419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7" name="Google Shape;427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¿Tu Descripción de Puesto y el funciograma de tu área reflejan con precisión las actividades y responsabilidades que realmente realizas en el día a día (TO BE)?</a:t>
            </a:r>
            <a:endParaRPr b="0" i="0"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¿Tienes alguna duda específica sobre el funcionamiento de tu área o sobre la estructura de la organización?</a:t>
            </a:r>
            <a:endParaRPr b="0" i="0"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¿Existe algún proceso que consideres necesario rediseñar para mejorar las interacciones, la eficiencia o el funcionamiento general de tu área?</a:t>
            </a:r>
            <a:endParaRPr b="0" i="0"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¿Qué rituales, prácticas o espacios de trabajo consideras esenciales para asegurar un funcionamiento adecuado y sostenido en tu área?</a:t>
            </a:r>
            <a:endParaRPr b="0" i="0"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Si recientemente asumiste nuevas responsabilidades, ¿ya se realizó de manera efectiva la transferencia de actividades dentro de tu equipo?</a:t>
            </a:r>
            <a:endParaRPr b="0" i="0"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8" name="Google Shape;428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5" name="Google Shape;435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6" name="Google Shape;436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s-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9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1" name="Google Shape;471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Relationship Id="rId3" Type="http://schemas.openxmlformats.org/officeDocument/2006/relationships/image" Target="../media/image2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png"/><Relationship Id="rId3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seño personalizado" showMasterSp="0">
  <p:cSld name="Diseño personalizado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Google Shape;17;p1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Google Shape;18;p16"/>
          <p:cNvSpPr txBox="1"/>
          <p:nvPr>
            <p:ph type="title"/>
          </p:nvPr>
        </p:nvSpPr>
        <p:spPr>
          <a:xfrm>
            <a:off x="4610421" y="2677459"/>
            <a:ext cx="6983932" cy="1503083"/>
          </a:xfrm>
          <a:prstGeom prst="rect">
            <a:avLst/>
          </a:prstGeom>
          <a:noFill/>
          <a:ln>
            <a:noFill/>
          </a:ln>
        </p:spPr>
        <p:txBody>
          <a:bodyPr anchorCtr="0" anchor="ctr" bIns="36000" lIns="108000" spcFirstLastPara="1" rIns="108000" wrap="square" tIns="360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67"/>
              <a:buFont typeface="Play"/>
              <a:buNone/>
              <a:defRPr sz="2667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9" name="Google Shape;19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02915" y="325689"/>
            <a:ext cx="810085" cy="4263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type="title">
  <p:cSld name="TITLE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1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21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3" name="Google Shape;23;p2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2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2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2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9" name="Google Shape;29;p2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2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type="secHead">
  <p:cSld name="SECTION_HEADER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23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23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/>
        </p:txBody>
      </p:sp>
      <p:sp>
        <p:nvSpPr>
          <p:cNvPr id="35" name="Google Shape;35;p2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2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2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type="twoObj">
  <p:cSld name="TWO_OBJECTS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2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24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1" name="Google Shape;41;p24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2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2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2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type="twoTxTwoObj">
  <p:cSld name="TWO_OBJECTS_WITH_TEXT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5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5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8" name="Google Shape;48;p25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9" name="Google Shape;49;p25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0" name="Google Shape;50;p25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1" name="Google Shape;51;p2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lo el título" type="titleOnly">
  <p:cSld name="TITLE_ONLY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2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2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type="blank">
  <p:cSld name="BLANK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2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2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2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type="objTx">
  <p:cSld name="OBJECT_WITH_CAPTION_TEXT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28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28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6" name="Google Shape;66;p28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7" name="Google Shape;67;p2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2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2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type="picTx">
  <p:cSld name="PICTURE_WITH_CAPTION_TEXT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29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9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73" name="Google Shape;73;p29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74" name="Google Shape;74;p2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2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type="vertTx">
  <p:cSld name="VERTICAL_TEXT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3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30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0" name="Google Shape;80;p3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3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3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type="vertTitleAndTx">
  <p:cSld name="VERTICAL_TITLE_AND_VERTICAL_TEXT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31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31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6" name="Google Shape;86;p3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3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3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" type="obj">
  <p:cSld name="OBJECT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8"/>
          <p:cNvSpPr txBox="1"/>
          <p:nvPr>
            <p:ph type="title"/>
          </p:nvPr>
        </p:nvSpPr>
        <p:spPr>
          <a:xfrm>
            <a:off x="609600" y="149905"/>
            <a:ext cx="7896000" cy="777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18"/>
          <p:cNvSpPr txBox="1"/>
          <p:nvPr>
            <p:ph idx="1" type="body"/>
          </p:nvPr>
        </p:nvSpPr>
        <p:spPr>
          <a:xfrm>
            <a:off x="609600" y="1338943"/>
            <a:ext cx="10972800" cy="48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just">
              <a:spcBef>
                <a:spcPts val="448"/>
              </a:spcBef>
              <a:spcAft>
                <a:spcPts val="0"/>
              </a:spcAft>
              <a:buSzPts val="1800"/>
              <a:buChar char="▪"/>
              <a:defRPr/>
            </a:lvl1pPr>
            <a:lvl2pPr indent="-342900" lvl="1" marL="914400" algn="just">
              <a:spcBef>
                <a:spcPts val="448"/>
              </a:spcBef>
              <a:spcAft>
                <a:spcPts val="0"/>
              </a:spcAft>
              <a:buSzPts val="1800"/>
              <a:buChar char="–"/>
              <a:defRPr/>
            </a:lvl2pPr>
            <a:lvl3pPr indent="-342900" lvl="2" marL="1371600" algn="just">
              <a:spcBef>
                <a:spcPts val="448"/>
              </a:spcBef>
              <a:spcAft>
                <a:spcPts val="0"/>
              </a:spcAft>
              <a:buSzPts val="1800"/>
              <a:buChar char="•"/>
              <a:defRPr/>
            </a:lvl3pPr>
            <a:lvl4pPr indent="-331470" lvl="3" marL="1828800" algn="just">
              <a:spcBef>
                <a:spcPts val="448"/>
              </a:spcBef>
              <a:spcAft>
                <a:spcPts val="0"/>
              </a:spcAft>
              <a:buSzPts val="1620"/>
              <a:buChar char="&gt;"/>
              <a:defRPr/>
            </a:lvl4pPr>
            <a:lvl5pPr indent="-297180" lvl="4" marL="2286000" algn="just">
              <a:spcBef>
                <a:spcPts val="448"/>
              </a:spcBef>
              <a:spcAft>
                <a:spcPts val="0"/>
              </a:spcAft>
              <a:buSzPts val="1080"/>
              <a:buChar char="◆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9" name="Google Shape;99;p18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b="0" i="0" sz="933" u="none" cap="none" strike="noStrike">
                <a:solidFill>
                  <a:srgbClr val="53565A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b="0" i="0" sz="933" u="none" cap="none" strike="noStrike">
                <a:solidFill>
                  <a:srgbClr val="53565A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b="0" i="0" sz="933" u="none" cap="none" strike="noStrike">
                <a:solidFill>
                  <a:srgbClr val="53565A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b="0" i="0" sz="933" u="none" cap="none" strike="noStrike">
                <a:solidFill>
                  <a:srgbClr val="53565A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b="0" i="0" sz="933" u="none" cap="none" strike="noStrike">
                <a:solidFill>
                  <a:srgbClr val="53565A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b="0" i="0" sz="933" u="none" cap="none" strike="noStrike">
                <a:solidFill>
                  <a:srgbClr val="53565A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b="0" i="0" sz="933" u="none" cap="none" strike="noStrike">
                <a:solidFill>
                  <a:srgbClr val="53565A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b="0" i="0" sz="933" u="none" cap="none" strike="noStrike">
                <a:solidFill>
                  <a:srgbClr val="53565A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b="0" i="0" sz="933" u="none" cap="none" strike="noStrike">
                <a:solidFill>
                  <a:srgbClr val="53565A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9"/>
          <p:cNvSpPr txBox="1"/>
          <p:nvPr>
            <p:ph idx="10" type="dt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2" name="Google Shape;102;p19"/>
          <p:cNvSpPr txBox="1"/>
          <p:nvPr>
            <p:ph idx="11" type="ftr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3" name="Google Shape;103;p19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seño personalizado" showMasterSp="0">
  <p:cSld name="Diseño personalizado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2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20"/>
          <p:cNvSpPr txBox="1"/>
          <p:nvPr>
            <p:ph type="title"/>
          </p:nvPr>
        </p:nvSpPr>
        <p:spPr>
          <a:xfrm>
            <a:off x="4610421" y="2677459"/>
            <a:ext cx="6983932" cy="1503083"/>
          </a:xfrm>
          <a:prstGeom prst="rect">
            <a:avLst/>
          </a:prstGeom>
          <a:noFill/>
          <a:ln>
            <a:noFill/>
          </a:ln>
        </p:spPr>
        <p:txBody>
          <a:bodyPr anchorCtr="0" anchor="ctr" bIns="36000" lIns="108000" spcFirstLastPara="1" rIns="108000" wrap="square" tIns="360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2667"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07" name="Google Shape;107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02915" y="325689"/>
            <a:ext cx="810085" cy="426307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" name="Google Shape;108;p2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02915" y="325689"/>
            <a:ext cx="810085" cy="4263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ulo" showMasterSp="0">
  <p:cSld name="Titulo">
    <p:bg>
      <p:bgPr>
        <a:solidFill>
          <a:schemeClr val="lt1"/>
        </a:solidFill>
      </p:bgPr>
    </p:bg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" name="Google Shape;111;p3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32"/>
          <p:cNvSpPr txBox="1"/>
          <p:nvPr>
            <p:ph type="title"/>
          </p:nvPr>
        </p:nvSpPr>
        <p:spPr>
          <a:xfrm>
            <a:off x="957944" y="3007020"/>
            <a:ext cx="8713693" cy="1874901"/>
          </a:xfrm>
          <a:prstGeom prst="rect">
            <a:avLst/>
          </a:prstGeom>
          <a:noFill/>
          <a:ln>
            <a:noFill/>
          </a:ln>
        </p:spPr>
        <p:txBody>
          <a:bodyPr anchorCtr="0" anchor="ctr" bIns="36000" lIns="108000" spcFirstLastPara="1" rIns="108000" wrap="square" tIns="360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933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13" name="Google Shape;113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75064" y="745642"/>
            <a:ext cx="2111248" cy="111104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inal" showMasterSp="0">
  <p:cSld name="Final">
    <p:bg>
      <p:bgPr>
        <a:solidFill>
          <a:schemeClr val="lt1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" name="Google Shape;115;p3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75063" y="2789908"/>
            <a:ext cx="2428855" cy="12781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4.xml"/><Relationship Id="rId5" Type="http://schemas.openxmlformats.org/officeDocument/2006/relationships/slideLayout" Target="../slideLayouts/slideLayout15.xml"/><Relationship Id="rId6" Type="http://schemas.openxmlformats.org/officeDocument/2006/relationships/slideLayout" Target="../slideLayouts/slideLayout16.xml"/><Relationship Id="rId7" Type="http://schemas.openxmlformats.org/officeDocument/2006/relationships/slideLayout" Target="../slideLayouts/slideLayout17.xml"/><Relationship Id="rId8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  <a:defRPr b="0" i="0" sz="4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  <p:sp>
        <p:nvSpPr>
          <p:cNvPr id="15" name="Google Shape;15;p15"/>
          <p:cNvSpPr txBox="1"/>
          <p:nvPr/>
        </p:nvSpPr>
        <p:spPr>
          <a:xfrm>
            <a:off x="5571300" y="6642100"/>
            <a:ext cx="1074737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OXXO | Uso Interno</a:t>
            </a:r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17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7"/>
          <p:cNvSpPr txBox="1"/>
          <p:nvPr>
            <p:ph type="title"/>
          </p:nvPr>
        </p:nvSpPr>
        <p:spPr>
          <a:xfrm>
            <a:off x="609601" y="149905"/>
            <a:ext cx="7898103" cy="777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13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667" u="none" cap="none" strike="noStrike">
                <a:solidFill>
                  <a:srgbClr val="40404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667" u="none" cap="none" strike="noStrike">
                <a:solidFill>
                  <a:srgbClr val="40404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667" u="none" cap="none" strike="noStrike">
                <a:solidFill>
                  <a:srgbClr val="40404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667" u="none" cap="none" strike="noStrike">
                <a:solidFill>
                  <a:srgbClr val="40404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933" u="none" cap="none" strike="noStrike">
                <a:solidFill>
                  <a:srgbClr val="840E27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933" u="none" cap="none" strike="noStrike">
                <a:solidFill>
                  <a:srgbClr val="840E27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933" u="none" cap="none" strike="noStrike">
                <a:solidFill>
                  <a:srgbClr val="840E27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933" u="none" cap="none" strike="noStrike">
                <a:solidFill>
                  <a:srgbClr val="840E27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2" name="Google Shape;92;p17"/>
          <p:cNvSpPr txBox="1"/>
          <p:nvPr>
            <p:ph idx="1" type="body"/>
          </p:nvPr>
        </p:nvSpPr>
        <p:spPr>
          <a:xfrm>
            <a:off x="609600" y="1338943"/>
            <a:ext cx="10972800" cy="48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7155" lvl="0" marL="457200" marR="0" rtl="0" algn="just">
              <a:spcBef>
                <a:spcPts val="448"/>
              </a:spcBef>
              <a:spcAft>
                <a:spcPts val="0"/>
              </a:spcAft>
              <a:buClr>
                <a:srgbClr val="E22726"/>
              </a:buClr>
              <a:buSzPts val="1867"/>
              <a:buFont typeface="Noto Sans Symbols"/>
              <a:buChar char="▪"/>
              <a:defRPr b="0" i="0" sz="18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7155" lvl="1" marL="914400" marR="0" rtl="0" algn="just">
              <a:spcBef>
                <a:spcPts val="448"/>
              </a:spcBef>
              <a:spcAft>
                <a:spcPts val="0"/>
              </a:spcAft>
              <a:buClr>
                <a:srgbClr val="E22726"/>
              </a:buClr>
              <a:buSzPts val="1867"/>
              <a:buFont typeface="Arial"/>
              <a:buChar char="–"/>
              <a:defRPr b="0" i="0" sz="18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7155" lvl="2" marL="1371600" marR="0" rtl="0" algn="just">
              <a:spcBef>
                <a:spcPts val="448"/>
              </a:spcBef>
              <a:spcAft>
                <a:spcPts val="0"/>
              </a:spcAft>
              <a:buClr>
                <a:srgbClr val="E22726"/>
              </a:buClr>
              <a:buSzPts val="1867"/>
              <a:buFont typeface="Arial"/>
              <a:buChar char="•"/>
              <a:defRPr b="0" i="0" sz="18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35299" lvl="3" marL="1828800" marR="0" rtl="0" algn="just">
              <a:spcBef>
                <a:spcPts val="448"/>
              </a:spcBef>
              <a:spcAft>
                <a:spcPts val="0"/>
              </a:spcAft>
              <a:buClr>
                <a:srgbClr val="E22726"/>
              </a:buClr>
              <a:buSzPts val="1680"/>
              <a:buFont typeface="Merriweather Sans"/>
              <a:buChar char="&gt;"/>
              <a:defRPr b="0" i="0" sz="18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99733" lvl="4" marL="2286000" marR="0" rtl="0" algn="just">
              <a:spcBef>
                <a:spcPts val="448"/>
              </a:spcBef>
              <a:spcAft>
                <a:spcPts val="0"/>
              </a:spcAft>
              <a:buClr>
                <a:srgbClr val="E22726"/>
              </a:buClr>
              <a:buSzPts val="1120"/>
              <a:buFont typeface="Noto Sans Symbols"/>
              <a:buChar char="◆"/>
              <a:defRPr b="0" i="0" sz="18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97955" lvl="5" marL="2743200" marR="0" rtl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97955" lvl="6" marL="3200400" marR="0" rtl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97954" lvl="7" marL="3657600" marR="0" rtl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97954" lvl="8" marL="4114800" marR="0" rtl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spcAft>
                <a:spcPts val="0"/>
              </a:spcAft>
              <a:buNone/>
              <a:defRPr b="0" i="0" sz="933" u="none" cap="none" strike="noStrike">
                <a:solidFill>
                  <a:srgbClr val="53565A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spcAft>
                <a:spcPts val="0"/>
              </a:spcAft>
              <a:buNone/>
              <a:defRPr b="0" i="0" sz="933" u="none" cap="none" strike="noStrike">
                <a:solidFill>
                  <a:srgbClr val="53565A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spcAft>
                <a:spcPts val="0"/>
              </a:spcAft>
              <a:buNone/>
              <a:defRPr b="0" i="0" sz="933" u="none" cap="none" strike="noStrike">
                <a:solidFill>
                  <a:srgbClr val="53565A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spcAft>
                <a:spcPts val="0"/>
              </a:spcAft>
              <a:buNone/>
              <a:defRPr b="0" i="0" sz="933" u="none" cap="none" strike="noStrike">
                <a:solidFill>
                  <a:srgbClr val="53565A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spcAft>
                <a:spcPts val="0"/>
              </a:spcAft>
              <a:buNone/>
              <a:defRPr b="0" i="0" sz="933" u="none" cap="none" strike="noStrike">
                <a:solidFill>
                  <a:srgbClr val="53565A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spcAft>
                <a:spcPts val="0"/>
              </a:spcAft>
              <a:buNone/>
              <a:defRPr b="0" i="0" sz="933" u="none" cap="none" strike="noStrike">
                <a:solidFill>
                  <a:srgbClr val="53565A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spcAft>
                <a:spcPts val="0"/>
              </a:spcAft>
              <a:buNone/>
              <a:defRPr b="0" i="0" sz="933" u="none" cap="none" strike="noStrike">
                <a:solidFill>
                  <a:srgbClr val="53565A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spcAft>
                <a:spcPts val="0"/>
              </a:spcAft>
              <a:buNone/>
              <a:defRPr b="0" i="0" sz="933" u="none" cap="none" strike="noStrike">
                <a:solidFill>
                  <a:srgbClr val="53565A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spcAft>
                <a:spcPts val="0"/>
              </a:spcAft>
              <a:buNone/>
              <a:defRPr b="0" i="0" sz="933" u="none" cap="none" strike="noStrike">
                <a:solidFill>
                  <a:srgbClr val="53565A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  <p:pic>
        <p:nvPicPr>
          <p:cNvPr id="94" name="Google Shape;94;p1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439339" y="325689"/>
            <a:ext cx="810085" cy="426307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7"/>
          <p:cNvSpPr txBox="1"/>
          <p:nvPr/>
        </p:nvSpPr>
        <p:spPr>
          <a:xfrm>
            <a:off x="5571300" y="6642100"/>
            <a:ext cx="1074737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OXXO | Uso Interno</a:t>
            </a:r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2" r:id="rId3"/>
    <p:sldLayoutId id="2147483663" r:id="rId4"/>
    <p:sldLayoutId id="2147483664" r:id="rId5"/>
    <p:sldLayoutId id="2147483665" r:id="rId6"/>
    <p:sldLayoutId id="2147483666" r:id="rId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0" Type="http://schemas.openxmlformats.org/officeDocument/2006/relationships/image" Target="../media/image9.png"/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.xml"/><Relationship Id="rId3" Type="http://schemas.openxmlformats.org/officeDocument/2006/relationships/hyperlink" Target="http://ppt/slides/slide70.xml" TargetMode="External"/><Relationship Id="rId4" Type="http://schemas.openxmlformats.org/officeDocument/2006/relationships/image" Target="../media/image10.png"/><Relationship Id="rId9" Type="http://schemas.openxmlformats.org/officeDocument/2006/relationships/hyperlink" Target="http://ppt/slides/slide100.xml" TargetMode="External"/><Relationship Id="rId5" Type="http://schemas.openxmlformats.org/officeDocument/2006/relationships/hyperlink" Target="http://ppt/slides/slide90.xml" TargetMode="External"/><Relationship Id="rId6" Type="http://schemas.openxmlformats.org/officeDocument/2006/relationships/image" Target="../media/image4.png"/><Relationship Id="rId7" Type="http://schemas.openxmlformats.org/officeDocument/2006/relationships/hyperlink" Target="http://ppt/slides/slide60.xml" TargetMode="External"/><Relationship Id="rId8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9.xml"/><Relationship Id="rId3" Type="http://schemas.openxmlformats.org/officeDocument/2006/relationships/slide" Target="/ppt/slides/slide2.xml"/><Relationship Id="rId4" Type="http://schemas.openxmlformats.org/officeDocument/2006/relationships/image" Target="../media/image1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"/>
          <p:cNvSpPr txBox="1"/>
          <p:nvPr>
            <p:ph type="title"/>
          </p:nvPr>
        </p:nvSpPr>
        <p:spPr>
          <a:xfrm>
            <a:off x="4610421" y="2677459"/>
            <a:ext cx="6983932" cy="1503083"/>
          </a:xfrm>
          <a:prstGeom prst="rect">
            <a:avLst/>
          </a:prstGeom>
          <a:noFill/>
          <a:ln>
            <a:noFill/>
          </a:ln>
        </p:spPr>
        <p:txBody>
          <a:bodyPr anchorCtr="0" anchor="ctr" bIns="36000" lIns="108000" spcFirstLastPara="1" rIns="108000" wrap="square" tIns="360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Play"/>
              <a:buNone/>
            </a:pPr>
            <a:r>
              <a:rPr lang="es-ES"/>
              <a:t>Fit for Purpose 2026</a:t>
            </a:r>
            <a:br>
              <a:rPr lang="es-ES"/>
            </a:br>
            <a:r>
              <a:rPr b="1" lang="es-ES"/>
              <a:t>Estrategia</a:t>
            </a:r>
            <a:br>
              <a:rPr b="1" lang="es-ES"/>
            </a:br>
            <a:r>
              <a:rPr b="0" i="1" lang="es-ES" sz="2400"/>
              <a:t>Etapa de Detalle de actividades e interacciones</a:t>
            </a:r>
            <a:endParaRPr/>
          </a:p>
        </p:txBody>
      </p:sp>
      <p:sp>
        <p:nvSpPr>
          <p:cNvPr id="122" name="Google Shape;122;p1"/>
          <p:cNvSpPr txBox="1"/>
          <p:nvPr/>
        </p:nvSpPr>
        <p:spPr>
          <a:xfrm>
            <a:off x="10553700" y="6324600"/>
            <a:ext cx="180022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Febrero 2026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"/>
          <p:cNvSpPr txBox="1"/>
          <p:nvPr>
            <p:ph type="title"/>
          </p:nvPr>
        </p:nvSpPr>
        <p:spPr>
          <a:xfrm>
            <a:off x="609600" y="149905"/>
            <a:ext cx="7896000" cy="777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Agenda</a:t>
            </a:r>
            <a:endParaRPr/>
          </a:p>
        </p:txBody>
      </p:sp>
      <p:graphicFrame>
        <p:nvGraphicFramePr>
          <p:cNvPr id="128" name="Google Shape;128;p2"/>
          <p:cNvGraphicFramePr/>
          <p:nvPr/>
        </p:nvGraphicFramePr>
        <p:xfrm>
          <a:off x="844325" y="14017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{01E5AF45-4145-4DA2-A73C-3DA950761145}</a:tableStyleId>
              </a:tblPr>
              <a:tblGrid>
                <a:gridCol w="4663000"/>
                <a:gridCol w="2998275"/>
              </a:tblGrid>
              <a:tr h="3619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7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Calibri"/>
                        <a:buNone/>
                      </a:pPr>
                      <a:r>
                        <a:rPr b="1" i="0" lang="es-ES" sz="2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TEMA</a:t>
                      </a:r>
                      <a:endParaRPr b="1" i="0" sz="32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725">
                      <a:solidFill>
                        <a:srgbClr val="B79C8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97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Calibri"/>
                        <a:buNone/>
                      </a:pPr>
                      <a:r>
                        <a:rPr b="1" i="0" lang="es-ES" sz="2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TIEMPO (MIN)</a:t>
                      </a:r>
                      <a:r>
                        <a:rPr b="1" i="0" lang="es-ES" sz="20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​</a:t>
                      </a:r>
                      <a:endParaRPr b="1" i="0" sz="32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725">
                      <a:solidFill>
                        <a:srgbClr val="B79C8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7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843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Calibri"/>
                        <a:buNone/>
                      </a:pPr>
                      <a:r>
                        <a:rPr b="1" i="0" lang="es-ES" sz="16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Racional Fit for Purpose</a:t>
                      </a:r>
                      <a:r>
                        <a:rPr b="0" i="0" lang="es-ES" sz="16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​</a:t>
                      </a:r>
                      <a:endParaRPr b="0" i="0" sz="32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725">
                      <a:solidFill>
                        <a:srgbClr val="B79C8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9843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Calibri"/>
                        <a:buNone/>
                      </a:pPr>
                      <a:r>
                        <a:rPr b="0" i="0" lang="es-ES" sz="16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5​</a:t>
                      </a:r>
                      <a:endParaRPr b="0" i="0" sz="32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725">
                      <a:solidFill>
                        <a:srgbClr val="B79C8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843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Calibri"/>
                        <a:buNone/>
                      </a:pPr>
                      <a:r>
                        <a:rPr b="1" i="0" lang="es-ES" sz="16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Alcance 2026</a:t>
                      </a:r>
                      <a:r>
                        <a:rPr b="0" i="0" lang="es-ES" sz="16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​</a:t>
                      </a:r>
                      <a:endParaRPr b="0" i="0" sz="32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9843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Calibri"/>
                        <a:buNone/>
                      </a:pPr>
                      <a:r>
                        <a:rPr b="0" i="0" lang="es-ES" sz="16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5​</a:t>
                      </a:r>
                      <a:endParaRPr b="0" i="0" sz="32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843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Calibri"/>
                        <a:buNone/>
                      </a:pPr>
                      <a:r>
                        <a:rPr b="1" i="0" lang="es-ES" sz="16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Percepción inicial</a:t>
                      </a:r>
                      <a:r>
                        <a:rPr b="0" i="0" lang="es-ES" sz="16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​</a:t>
                      </a:r>
                      <a:endParaRPr b="0" i="0" sz="32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9843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Calibri"/>
                        <a:buNone/>
                      </a:pPr>
                      <a:r>
                        <a:rPr b="0" i="0" lang="es-ES" sz="16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5​</a:t>
                      </a:r>
                      <a:endParaRPr b="0" i="0" sz="32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843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Calibri"/>
                        <a:buNone/>
                      </a:pPr>
                      <a:r>
                        <a:rPr b="1" i="0" lang="es-ES" sz="16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Descripción de puesto L2</a:t>
                      </a:r>
                      <a:r>
                        <a:rPr b="0" i="0" lang="es-ES" sz="16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​</a:t>
                      </a:r>
                      <a:endParaRPr b="0" i="0" sz="32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9843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Calibri"/>
                        <a:buNone/>
                      </a:pPr>
                      <a:r>
                        <a:rPr b="0" i="0" lang="es-ES" sz="16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30​</a:t>
                      </a:r>
                      <a:endParaRPr b="0" i="0" sz="32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843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Calibri"/>
                        <a:buNone/>
                      </a:pPr>
                      <a:r>
                        <a:rPr b="1" i="0" lang="es-ES" sz="16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Principales contribuciones del área</a:t>
                      </a:r>
                      <a:r>
                        <a:rPr b="0" i="0" lang="es-ES" sz="16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​</a:t>
                      </a:r>
                      <a:endParaRPr b="0" i="0" sz="32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9843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Calibri"/>
                        <a:buNone/>
                      </a:pPr>
                      <a:r>
                        <a:rPr b="0" i="0" lang="es-ES" sz="16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15​</a:t>
                      </a:r>
                      <a:endParaRPr b="0" i="0" sz="32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843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Calibri"/>
                        <a:buNone/>
                      </a:pPr>
                      <a:r>
                        <a:rPr b="1" i="0" lang="es-ES" sz="16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Interacciones entre áreas y procesos clave</a:t>
                      </a:r>
                      <a:r>
                        <a:rPr b="0" i="0" lang="es-ES" sz="16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​</a:t>
                      </a:r>
                      <a:endParaRPr b="0" i="0" sz="32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9843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Calibri"/>
                        <a:buNone/>
                      </a:pPr>
                      <a:r>
                        <a:rPr b="0" i="0" lang="es-ES" sz="16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15​</a:t>
                      </a:r>
                      <a:endParaRPr b="0" i="0" sz="32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843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Calibri"/>
                        <a:buNone/>
                      </a:pPr>
                      <a:r>
                        <a:rPr b="1" i="0" lang="es-ES" sz="16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Siguientes pasos</a:t>
                      </a:r>
                      <a:r>
                        <a:rPr b="0" i="0" lang="es-ES" sz="16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​</a:t>
                      </a:r>
                      <a:endParaRPr b="0" i="0" sz="32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9843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Calibri"/>
                        <a:buNone/>
                      </a:pPr>
                      <a:r>
                        <a:rPr b="0" i="0" lang="es-ES" sz="16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5​</a:t>
                      </a:r>
                      <a:endParaRPr b="0" i="0" sz="32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29" name="Google Shape;129;p2"/>
          <p:cNvSpPr/>
          <p:nvPr/>
        </p:nvSpPr>
        <p:spPr>
          <a:xfrm>
            <a:off x="3378200" y="2401888"/>
            <a:ext cx="12192000" cy="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</a:pPr>
            <a:r>
              <a:rPr b="0" i="0" lang="es-ES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2"/>
          <p:cNvSpPr/>
          <p:nvPr/>
        </p:nvSpPr>
        <p:spPr>
          <a:xfrm>
            <a:off x="844325" y="2875872"/>
            <a:ext cx="7661275" cy="952498"/>
          </a:xfrm>
          <a:prstGeom prst="rect">
            <a:avLst/>
          </a:prstGeom>
          <a:noFill/>
          <a:ln cap="flat" cmpd="sng" w="254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3"/>
          <p:cNvSpPr/>
          <p:nvPr/>
        </p:nvSpPr>
        <p:spPr>
          <a:xfrm>
            <a:off x="2529841" y="585778"/>
            <a:ext cx="5160263" cy="353620"/>
          </a:xfrm>
          <a:prstGeom prst="rect">
            <a:avLst/>
          </a:prstGeom>
          <a:solidFill>
            <a:srgbClr val="FF7F32"/>
          </a:solidFill>
          <a:ln>
            <a:noFill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t/>
            </a:r>
            <a:endParaRPr b="0" i="0" sz="1600" u="none" cap="none" strike="noStrike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6" name="Google Shape;136;p3"/>
          <p:cNvSpPr/>
          <p:nvPr/>
        </p:nvSpPr>
        <p:spPr>
          <a:xfrm>
            <a:off x="1414275" y="222452"/>
            <a:ext cx="5297421" cy="353620"/>
          </a:xfrm>
          <a:prstGeom prst="rect">
            <a:avLst/>
          </a:prstGeom>
          <a:solidFill>
            <a:srgbClr val="FF7F32"/>
          </a:solidFill>
          <a:ln>
            <a:noFill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t/>
            </a:r>
            <a:endParaRPr b="0" i="0" sz="1600" u="none" cap="none" strike="noStrike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7" name="Google Shape;137;p3"/>
          <p:cNvSpPr txBox="1"/>
          <p:nvPr>
            <p:ph type="title"/>
          </p:nvPr>
        </p:nvSpPr>
        <p:spPr>
          <a:xfrm>
            <a:off x="508760" y="170280"/>
            <a:ext cx="7931152" cy="83099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Hemos </a:t>
            </a:r>
            <a:r>
              <a:rPr lang="es-ES">
                <a:solidFill>
                  <a:schemeClr val="lt1"/>
                </a:solidFill>
              </a:rPr>
              <a:t>completado el diseño de nuestra organización, </a:t>
            </a:r>
            <a:r>
              <a:rPr lang="es-ES"/>
              <a:t>un primer paso crítico en la </a:t>
            </a:r>
            <a:r>
              <a:rPr lang="es-ES">
                <a:solidFill>
                  <a:schemeClr val="lt1"/>
                </a:solidFill>
              </a:rPr>
              <a:t>redefinición de nuestra dirección estratégica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38" name="Google Shape;138;p3"/>
          <p:cNvSpPr/>
          <p:nvPr/>
        </p:nvSpPr>
        <p:spPr>
          <a:xfrm>
            <a:off x="330242" y="1430015"/>
            <a:ext cx="11531558" cy="93515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-177800" lvl="0" marL="177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⮚"/>
            </a:pPr>
            <a:r>
              <a:rPr b="1" i="0" lang="es-ES" sz="18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La nueva organización que estamos construyendo está adaptada a nuestro propósito y lista para cumplir con nuestra dirección estratégica redefinida.</a:t>
            </a:r>
            <a:endParaRPr/>
          </a:p>
          <a:p>
            <a:pPr indent="-177800" lvl="0" marL="1778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⮚"/>
            </a:pPr>
            <a:r>
              <a:rPr b="1" i="0" lang="es-ES" sz="18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El diseño del modelo operativo contempla 5 cambios principales:</a:t>
            </a:r>
            <a:endParaRPr b="1" i="0" sz="18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9" name="Google Shape;139;p3"/>
          <p:cNvSpPr/>
          <p:nvPr/>
        </p:nvSpPr>
        <p:spPr>
          <a:xfrm>
            <a:off x="1170517" y="2834940"/>
            <a:ext cx="9611444" cy="4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Open Sans"/>
              <a:buNone/>
            </a:pPr>
            <a:r>
              <a:rPr b="0" i="0" lang="es-ES" sz="16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Coloca al </a:t>
            </a:r>
            <a:r>
              <a:rPr b="1" i="0" lang="es-ES" sz="1600" u="none" cap="none" strike="noStrike">
                <a:solidFill>
                  <a:srgbClr val="FF7F32"/>
                </a:solidFill>
                <a:latin typeface="Open Sans"/>
                <a:ea typeface="Open Sans"/>
                <a:cs typeface="Open Sans"/>
                <a:sym typeface="Open Sans"/>
              </a:rPr>
              <a:t>Cliente en el centro</a:t>
            </a:r>
            <a:r>
              <a:rPr b="0" i="0" lang="es-ES" sz="16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, anclando la propuesta de valor en nuestras tiendas y asegurando que el cliente sea el eje de todos nuestros procesos. Fortalecer la </a:t>
            </a:r>
            <a:r>
              <a:rPr b="1" i="0" lang="es-ES" sz="1600" u="none" cap="none" strike="noStrike">
                <a:solidFill>
                  <a:srgbClr val="FF7F32"/>
                </a:solidFill>
                <a:latin typeface="Open Sans"/>
                <a:ea typeface="Open Sans"/>
                <a:cs typeface="Open Sans"/>
                <a:sym typeface="Open Sans"/>
              </a:rPr>
              <a:t>Voz del Cliente </a:t>
            </a:r>
            <a:r>
              <a:rPr b="0" i="0" lang="es-ES" sz="16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para asegurar el valor a largo plazo.</a:t>
            </a:r>
            <a:endParaRPr/>
          </a:p>
        </p:txBody>
      </p:sp>
      <p:sp>
        <p:nvSpPr>
          <p:cNvPr id="140" name="Google Shape;140;p3"/>
          <p:cNvSpPr/>
          <p:nvPr/>
        </p:nvSpPr>
        <p:spPr>
          <a:xfrm>
            <a:off x="1170517" y="3521201"/>
            <a:ext cx="9611444" cy="4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Open Sans"/>
              <a:buNone/>
            </a:pPr>
            <a:r>
              <a:rPr b="0" i="0" lang="es-ES" sz="16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Enfoque al </a:t>
            </a:r>
            <a:r>
              <a:rPr b="1" i="0" lang="es-ES" sz="1600" u="none" cap="none" strike="noStrike">
                <a:solidFill>
                  <a:srgbClr val="FF7F32"/>
                </a:solidFill>
                <a:latin typeface="Open Sans"/>
                <a:ea typeface="Open Sans"/>
                <a:cs typeface="Open Sans"/>
                <a:sym typeface="Open Sans"/>
              </a:rPr>
              <a:t>crecimiento principal del negocio</a:t>
            </a:r>
            <a:r>
              <a:rPr b="0" i="0" lang="es-ES" sz="16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, construyendo alrededor de las tres misiones estratégicas (impulso, reposición diaria y foodvenience), reenfocando nuestra estrategia comercial.</a:t>
            </a:r>
            <a:endParaRPr b="0" i="0" sz="16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41" name="Google Shape;141;p3"/>
          <p:cNvSpPr/>
          <p:nvPr/>
        </p:nvSpPr>
        <p:spPr>
          <a:xfrm>
            <a:off x="1170517" y="4156662"/>
            <a:ext cx="9611444" cy="4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7F32"/>
              </a:buClr>
              <a:buSzPts val="1600"/>
              <a:buFont typeface="Open Sans"/>
              <a:buNone/>
            </a:pPr>
            <a:r>
              <a:rPr b="1" i="0" lang="es-ES" sz="1600" u="none" cap="none" strike="noStrike">
                <a:solidFill>
                  <a:srgbClr val="FF7F32"/>
                </a:solidFill>
                <a:latin typeface="Open Sans"/>
                <a:ea typeface="Open Sans"/>
                <a:cs typeface="Open Sans"/>
                <a:sym typeface="Open Sans"/>
              </a:rPr>
              <a:t>Establece a Servicios Comerciales como un motor de crecimiento </a:t>
            </a:r>
            <a:r>
              <a:rPr b="0" i="0" lang="es-ES" sz="16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independiente, con enfoque y recursos dedicados.</a:t>
            </a:r>
            <a:endParaRPr b="0" i="0" sz="16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42" name="Google Shape;142;p3"/>
          <p:cNvSpPr/>
          <p:nvPr/>
        </p:nvSpPr>
        <p:spPr>
          <a:xfrm>
            <a:off x="1170517" y="4792123"/>
            <a:ext cx="9611444" cy="4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7F32"/>
              </a:buClr>
              <a:buSzPts val="1600"/>
              <a:buFont typeface="Open Sans"/>
              <a:buNone/>
            </a:pPr>
            <a:r>
              <a:rPr b="1" i="0" lang="es-ES" sz="1600" u="none" cap="none" strike="noStrike">
                <a:solidFill>
                  <a:srgbClr val="FF7F32"/>
                </a:solidFill>
                <a:latin typeface="Open Sans"/>
                <a:ea typeface="Open Sans"/>
                <a:cs typeface="Open Sans"/>
                <a:sym typeface="Open Sans"/>
              </a:rPr>
              <a:t>Incorpora excelencia operativa en los procesos end-to-end</a:t>
            </a:r>
            <a:r>
              <a:rPr b="0" i="0" lang="es-ES" sz="16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, para ofrecer una ejecución eficiente en tienda y brindar a los clientes una experiencia best-in-class.</a:t>
            </a:r>
            <a:endParaRPr b="0" i="0" sz="16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43" name="Google Shape;143;p3"/>
          <p:cNvSpPr/>
          <p:nvPr/>
        </p:nvSpPr>
        <p:spPr>
          <a:xfrm>
            <a:off x="1170517" y="5528946"/>
            <a:ext cx="9611444" cy="4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7F32"/>
              </a:buClr>
              <a:buSzPts val="1600"/>
              <a:buFont typeface="Open Sans"/>
              <a:buNone/>
            </a:pPr>
            <a:r>
              <a:rPr b="1" i="0" lang="es-ES" sz="1600" u="none" cap="none" strike="noStrike">
                <a:solidFill>
                  <a:srgbClr val="FF7F32"/>
                </a:solidFill>
                <a:latin typeface="Open Sans"/>
                <a:ea typeface="Open Sans"/>
                <a:cs typeface="Open Sans"/>
                <a:sym typeface="Open Sans"/>
              </a:rPr>
              <a:t>Fortalece Estrategia y Transformación </a:t>
            </a:r>
            <a:r>
              <a:rPr b="0" i="0" lang="es-ES" sz="16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como el orquestador del cambio y asegurador de la generación de valor en nuestras iniciativas de negocio a largo plazo.</a:t>
            </a:r>
            <a:endParaRPr b="0" i="0" sz="16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44" name="Google Shape;144;p3"/>
          <p:cNvSpPr/>
          <p:nvPr/>
        </p:nvSpPr>
        <p:spPr>
          <a:xfrm>
            <a:off x="791399" y="2764299"/>
            <a:ext cx="317500" cy="317500"/>
          </a:xfrm>
          <a:prstGeom prst="ellipse">
            <a:avLst/>
          </a:prstGeom>
          <a:solidFill>
            <a:srgbClr val="FF7F32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Open Sans"/>
              <a:buNone/>
            </a:pPr>
            <a:r>
              <a:rPr b="1" i="0" lang="es-ES" sz="18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1</a:t>
            </a:r>
            <a:endParaRPr/>
          </a:p>
        </p:txBody>
      </p:sp>
      <p:sp>
        <p:nvSpPr>
          <p:cNvPr id="145" name="Google Shape;145;p3"/>
          <p:cNvSpPr/>
          <p:nvPr/>
        </p:nvSpPr>
        <p:spPr>
          <a:xfrm>
            <a:off x="791399" y="3583848"/>
            <a:ext cx="317500" cy="317500"/>
          </a:xfrm>
          <a:prstGeom prst="ellipse">
            <a:avLst/>
          </a:prstGeom>
          <a:solidFill>
            <a:srgbClr val="FF7F32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Open Sans"/>
              <a:buNone/>
            </a:pPr>
            <a:r>
              <a:rPr b="1" i="0" lang="es-ES" sz="18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2</a:t>
            </a:r>
            <a:endParaRPr/>
          </a:p>
        </p:txBody>
      </p:sp>
      <p:sp>
        <p:nvSpPr>
          <p:cNvPr id="146" name="Google Shape;146;p3"/>
          <p:cNvSpPr/>
          <p:nvPr/>
        </p:nvSpPr>
        <p:spPr>
          <a:xfrm>
            <a:off x="791399" y="4191559"/>
            <a:ext cx="317500" cy="317500"/>
          </a:xfrm>
          <a:prstGeom prst="ellipse">
            <a:avLst/>
          </a:prstGeom>
          <a:solidFill>
            <a:srgbClr val="FF7F32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Open Sans"/>
              <a:buNone/>
            </a:pPr>
            <a:r>
              <a:rPr b="1" i="0" lang="es-ES" sz="18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3</a:t>
            </a:r>
            <a:endParaRPr/>
          </a:p>
        </p:txBody>
      </p:sp>
      <p:sp>
        <p:nvSpPr>
          <p:cNvPr id="147" name="Google Shape;147;p3"/>
          <p:cNvSpPr/>
          <p:nvPr/>
        </p:nvSpPr>
        <p:spPr>
          <a:xfrm>
            <a:off x="791399" y="4822589"/>
            <a:ext cx="317500" cy="317500"/>
          </a:xfrm>
          <a:prstGeom prst="ellipse">
            <a:avLst/>
          </a:prstGeom>
          <a:solidFill>
            <a:srgbClr val="FF7F32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Open Sans"/>
              <a:buNone/>
            </a:pPr>
            <a:r>
              <a:rPr b="1" i="0" lang="es-ES" sz="18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4</a:t>
            </a:r>
            <a:endParaRPr/>
          </a:p>
        </p:txBody>
      </p:sp>
      <p:sp>
        <p:nvSpPr>
          <p:cNvPr id="148" name="Google Shape;148;p3"/>
          <p:cNvSpPr/>
          <p:nvPr/>
        </p:nvSpPr>
        <p:spPr>
          <a:xfrm>
            <a:off x="791399" y="5573800"/>
            <a:ext cx="317500" cy="317500"/>
          </a:xfrm>
          <a:prstGeom prst="ellipse">
            <a:avLst/>
          </a:prstGeom>
          <a:solidFill>
            <a:srgbClr val="FF7F32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Open Sans"/>
              <a:buNone/>
            </a:pPr>
            <a:r>
              <a:rPr b="1" i="0" lang="es-ES" sz="18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5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4"/>
          <p:cNvSpPr txBox="1"/>
          <p:nvPr>
            <p:ph type="title"/>
          </p:nvPr>
        </p:nvSpPr>
        <p:spPr>
          <a:xfrm>
            <a:off x="609600" y="149905"/>
            <a:ext cx="7896000" cy="777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>
                <a:latin typeface="Calibri"/>
                <a:ea typeface="Calibri"/>
                <a:cs typeface="Calibri"/>
                <a:sym typeface="Calibri"/>
              </a:rPr>
              <a:t>Proceso Diseño FFP</a:t>
            </a:r>
            <a:endParaRPr/>
          </a:p>
        </p:txBody>
      </p:sp>
      <p:sp>
        <p:nvSpPr>
          <p:cNvPr id="154" name="Google Shape;154;p4"/>
          <p:cNvSpPr/>
          <p:nvPr/>
        </p:nvSpPr>
        <p:spPr>
          <a:xfrm>
            <a:off x="333729" y="1094890"/>
            <a:ext cx="11528071" cy="380157"/>
          </a:xfrm>
          <a:prstGeom prst="rect">
            <a:avLst/>
          </a:prstGeom>
          <a:solidFill>
            <a:srgbClr val="F6C7C7"/>
          </a:solidFill>
          <a:ln>
            <a:noFill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E608D"/>
              </a:buClr>
              <a:buSzPts val="1600"/>
              <a:buFont typeface="Open Sans"/>
              <a:buNone/>
            </a:pPr>
            <a:r>
              <a:rPr b="1" i="0" lang="es-ES" sz="1600" u="none" cap="none" strike="noStrike">
                <a:solidFill>
                  <a:srgbClr val="4E608D"/>
                </a:solidFill>
                <a:latin typeface="Open Sans"/>
                <a:ea typeface="Open Sans"/>
                <a:cs typeface="Open Sans"/>
                <a:sym typeface="Open Sans"/>
              </a:rPr>
              <a:t>ESTRATEGIA OXXO 2030</a:t>
            </a:r>
            <a:endParaRPr/>
          </a:p>
        </p:txBody>
      </p:sp>
      <p:sp>
        <p:nvSpPr>
          <p:cNvPr id="155" name="Google Shape;155;p4"/>
          <p:cNvSpPr/>
          <p:nvPr/>
        </p:nvSpPr>
        <p:spPr>
          <a:xfrm rot="5400000">
            <a:off x="5969873" y="1073320"/>
            <a:ext cx="252255" cy="972980"/>
          </a:xfrm>
          <a:custGeom>
            <a:rect b="b" l="l" r="r" t="t"/>
            <a:pathLst>
              <a:path extrusionOk="0" h="972980" w="252255">
                <a:moveTo>
                  <a:pt x="38100" y="0"/>
                </a:moveTo>
                <a:lnTo>
                  <a:pt x="252254" y="486489"/>
                </a:lnTo>
                <a:lnTo>
                  <a:pt x="38100" y="972979"/>
                </a:lnTo>
                <a:lnTo>
                  <a:pt x="0" y="972979"/>
                </a:lnTo>
                <a:lnTo>
                  <a:pt x="214154" y="486489"/>
                </a:lnTo>
                <a:lnTo>
                  <a:pt x="0" y="0"/>
                </a:lnTo>
              </a:path>
            </a:pathLst>
          </a:custGeom>
          <a:solidFill>
            <a:srgbClr val="D6D6D6"/>
          </a:solidFill>
          <a:ln cap="flat" cmpd="sng" w="9525">
            <a:solidFill>
              <a:srgbClr val="D6D6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76200" lvl="0" marL="177800" marR="0" rtl="0" algn="ctr">
              <a:lnSpc>
                <a:spcPct val="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grpSp>
        <p:nvGrpSpPr>
          <p:cNvPr id="156" name="Google Shape;156;p4"/>
          <p:cNvGrpSpPr/>
          <p:nvPr/>
        </p:nvGrpSpPr>
        <p:grpSpPr>
          <a:xfrm>
            <a:off x="0" y="6743700"/>
            <a:ext cx="12192000" cy="137160"/>
            <a:chOff x="0" y="6926580"/>
            <a:chExt cx="12192000" cy="137160"/>
          </a:xfrm>
        </p:grpSpPr>
        <p:sp>
          <p:nvSpPr>
            <p:cNvPr id="157" name="Google Shape;157;p4"/>
            <p:cNvSpPr/>
            <p:nvPr/>
          </p:nvSpPr>
          <p:spPr>
            <a:xfrm>
              <a:off x="11861800" y="6926580"/>
              <a:ext cx="330200" cy="137160"/>
            </a:xfrm>
            <a:prstGeom prst="rect">
              <a:avLst/>
            </a:prstGeom>
            <a:solidFill>
              <a:srgbClr val="FFFFFF">
                <a:alpha val="25098"/>
              </a:srgbClr>
            </a:solidFill>
            <a:ln>
              <a:noFill/>
            </a:ln>
          </p:spPr>
          <p:txBody>
            <a:bodyPr anchorCtr="0" anchor="ctr" bIns="36000" lIns="36000" spcFirstLastPara="1" rIns="36000" wrap="square" tIns="36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58" name="Google Shape;158;p4"/>
            <p:cNvSpPr/>
            <p:nvPr/>
          </p:nvSpPr>
          <p:spPr>
            <a:xfrm>
              <a:off x="8845550" y="6926580"/>
              <a:ext cx="533400" cy="137160"/>
            </a:xfrm>
            <a:prstGeom prst="rect">
              <a:avLst/>
            </a:prstGeom>
            <a:solidFill>
              <a:srgbClr val="FFFFFF">
                <a:alpha val="25098"/>
              </a:srgbClr>
            </a:solidFill>
            <a:ln>
              <a:noFill/>
            </a:ln>
          </p:spPr>
          <p:txBody>
            <a:bodyPr anchorCtr="0" anchor="ctr" bIns="36000" lIns="36000" spcFirstLastPara="1" rIns="36000" wrap="square" tIns="36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cxnSp>
          <p:nvCxnSpPr>
            <p:cNvPr id="159" name="Google Shape;159;p4"/>
            <p:cNvCxnSpPr/>
            <p:nvPr/>
          </p:nvCxnSpPr>
          <p:spPr>
            <a:xfrm rot="10800000">
              <a:off x="11861800" y="6926580"/>
              <a:ext cx="0" cy="137160"/>
            </a:xfrm>
            <a:prstGeom prst="straightConnector1">
              <a:avLst/>
            </a:prstGeom>
            <a:solidFill>
              <a:schemeClr val="accent1"/>
            </a:solidFill>
            <a:ln cap="flat" cmpd="sng" w="9525">
              <a:solidFill>
                <a:srgbClr val="B4B4B4">
                  <a:alpha val="25098"/>
                </a:srgbClr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60" name="Google Shape;160;p4"/>
            <p:cNvCxnSpPr/>
            <p:nvPr/>
          </p:nvCxnSpPr>
          <p:spPr>
            <a:xfrm rot="10800000">
              <a:off x="9378950" y="6926580"/>
              <a:ext cx="0" cy="137160"/>
            </a:xfrm>
            <a:prstGeom prst="straightConnector1">
              <a:avLst/>
            </a:prstGeom>
            <a:solidFill>
              <a:schemeClr val="accent1"/>
            </a:solidFill>
            <a:ln cap="flat" cmpd="sng" w="9525">
              <a:solidFill>
                <a:srgbClr val="B4B4B4">
                  <a:alpha val="25098"/>
                </a:srgbClr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61" name="Google Shape;161;p4"/>
            <p:cNvSpPr/>
            <p:nvPr/>
          </p:nvSpPr>
          <p:spPr>
            <a:xfrm>
              <a:off x="5829300" y="6926580"/>
              <a:ext cx="533400" cy="137160"/>
            </a:xfrm>
            <a:prstGeom prst="rect">
              <a:avLst/>
            </a:prstGeom>
            <a:solidFill>
              <a:srgbClr val="FFFFFF">
                <a:alpha val="25098"/>
              </a:srgbClr>
            </a:solidFill>
            <a:ln>
              <a:noFill/>
            </a:ln>
          </p:spPr>
          <p:txBody>
            <a:bodyPr anchorCtr="0" anchor="ctr" bIns="36000" lIns="36000" spcFirstLastPara="1" rIns="36000" wrap="square" tIns="36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cxnSp>
          <p:nvCxnSpPr>
            <p:cNvPr id="162" name="Google Shape;162;p4"/>
            <p:cNvCxnSpPr/>
            <p:nvPr/>
          </p:nvCxnSpPr>
          <p:spPr>
            <a:xfrm rot="10800000">
              <a:off x="8845550" y="6926580"/>
              <a:ext cx="0" cy="137160"/>
            </a:xfrm>
            <a:prstGeom prst="straightConnector1">
              <a:avLst/>
            </a:prstGeom>
            <a:solidFill>
              <a:schemeClr val="accent1"/>
            </a:solidFill>
            <a:ln cap="flat" cmpd="sng" w="9525">
              <a:solidFill>
                <a:srgbClr val="B4B4B4">
                  <a:alpha val="25098"/>
                </a:srgbClr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63" name="Google Shape;163;p4"/>
            <p:cNvCxnSpPr/>
            <p:nvPr/>
          </p:nvCxnSpPr>
          <p:spPr>
            <a:xfrm rot="10800000">
              <a:off x="6362700" y="6926580"/>
              <a:ext cx="0" cy="137160"/>
            </a:xfrm>
            <a:prstGeom prst="straightConnector1">
              <a:avLst/>
            </a:prstGeom>
            <a:solidFill>
              <a:schemeClr val="accent1"/>
            </a:solidFill>
            <a:ln cap="flat" cmpd="sng" w="9525">
              <a:solidFill>
                <a:srgbClr val="B4B4B4">
                  <a:alpha val="25098"/>
                </a:srgbClr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64" name="Google Shape;164;p4"/>
            <p:cNvSpPr/>
            <p:nvPr/>
          </p:nvSpPr>
          <p:spPr>
            <a:xfrm>
              <a:off x="2813050" y="6926580"/>
              <a:ext cx="533400" cy="137160"/>
            </a:xfrm>
            <a:prstGeom prst="rect">
              <a:avLst/>
            </a:prstGeom>
            <a:solidFill>
              <a:srgbClr val="FFFFFF">
                <a:alpha val="25098"/>
              </a:srgbClr>
            </a:solidFill>
            <a:ln>
              <a:noFill/>
            </a:ln>
          </p:spPr>
          <p:txBody>
            <a:bodyPr anchorCtr="0" anchor="ctr" bIns="36000" lIns="36000" spcFirstLastPara="1" rIns="36000" wrap="square" tIns="36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cxnSp>
          <p:nvCxnSpPr>
            <p:cNvPr id="165" name="Google Shape;165;p4"/>
            <p:cNvCxnSpPr/>
            <p:nvPr/>
          </p:nvCxnSpPr>
          <p:spPr>
            <a:xfrm rot="10800000">
              <a:off x="5829300" y="6926580"/>
              <a:ext cx="0" cy="137160"/>
            </a:xfrm>
            <a:prstGeom prst="straightConnector1">
              <a:avLst/>
            </a:prstGeom>
            <a:solidFill>
              <a:schemeClr val="accent1"/>
            </a:solidFill>
            <a:ln cap="flat" cmpd="sng" w="9525">
              <a:solidFill>
                <a:srgbClr val="B4B4B4">
                  <a:alpha val="25098"/>
                </a:srgbClr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66" name="Google Shape;166;p4"/>
            <p:cNvCxnSpPr/>
            <p:nvPr/>
          </p:nvCxnSpPr>
          <p:spPr>
            <a:xfrm rot="10800000">
              <a:off x="3346450" y="6926580"/>
              <a:ext cx="0" cy="137160"/>
            </a:xfrm>
            <a:prstGeom prst="straightConnector1">
              <a:avLst/>
            </a:prstGeom>
            <a:solidFill>
              <a:schemeClr val="accent1"/>
            </a:solidFill>
            <a:ln cap="flat" cmpd="sng" w="9525">
              <a:solidFill>
                <a:srgbClr val="B4B4B4">
                  <a:alpha val="25098"/>
                </a:srgbClr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67" name="Google Shape;167;p4"/>
            <p:cNvSpPr/>
            <p:nvPr/>
          </p:nvSpPr>
          <p:spPr>
            <a:xfrm>
              <a:off x="0" y="6926580"/>
              <a:ext cx="330200" cy="137160"/>
            </a:xfrm>
            <a:prstGeom prst="rect">
              <a:avLst/>
            </a:prstGeom>
            <a:solidFill>
              <a:srgbClr val="FFFFFF">
                <a:alpha val="25098"/>
              </a:srgbClr>
            </a:solidFill>
            <a:ln>
              <a:noFill/>
            </a:ln>
          </p:spPr>
          <p:txBody>
            <a:bodyPr anchorCtr="0" anchor="ctr" bIns="36000" lIns="36000" spcFirstLastPara="1" rIns="36000" wrap="square" tIns="36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cxnSp>
          <p:nvCxnSpPr>
            <p:cNvPr id="168" name="Google Shape;168;p4"/>
            <p:cNvCxnSpPr/>
            <p:nvPr/>
          </p:nvCxnSpPr>
          <p:spPr>
            <a:xfrm rot="10800000">
              <a:off x="2813050" y="6926580"/>
              <a:ext cx="0" cy="137160"/>
            </a:xfrm>
            <a:prstGeom prst="straightConnector1">
              <a:avLst/>
            </a:prstGeom>
            <a:solidFill>
              <a:schemeClr val="accent1"/>
            </a:solidFill>
            <a:ln cap="flat" cmpd="sng" w="9525">
              <a:solidFill>
                <a:srgbClr val="B4B4B4">
                  <a:alpha val="25098"/>
                </a:srgbClr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69" name="Google Shape;169;p4"/>
            <p:cNvCxnSpPr/>
            <p:nvPr/>
          </p:nvCxnSpPr>
          <p:spPr>
            <a:xfrm rot="10800000">
              <a:off x="330200" y="6926580"/>
              <a:ext cx="0" cy="137160"/>
            </a:xfrm>
            <a:prstGeom prst="straightConnector1">
              <a:avLst/>
            </a:prstGeom>
            <a:solidFill>
              <a:schemeClr val="accent1"/>
            </a:solidFill>
            <a:ln cap="flat" cmpd="sng" w="9525">
              <a:solidFill>
                <a:srgbClr val="B4B4B4">
                  <a:alpha val="25098"/>
                </a:srgbClr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170" name="Google Shape;170;p4"/>
          <p:cNvSpPr/>
          <p:nvPr/>
        </p:nvSpPr>
        <p:spPr>
          <a:xfrm>
            <a:off x="330200" y="3544746"/>
            <a:ext cx="11531600" cy="2472982"/>
          </a:xfrm>
          <a:prstGeom prst="rect">
            <a:avLst/>
          </a:prstGeom>
          <a:noFill/>
          <a:ln cap="flat" cmpd="sng" w="19050">
            <a:solidFill>
              <a:srgbClr val="B4B4B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71" name="Google Shape;171;p4"/>
          <p:cNvSpPr/>
          <p:nvPr/>
        </p:nvSpPr>
        <p:spPr>
          <a:xfrm>
            <a:off x="476601" y="3429087"/>
            <a:ext cx="4032000" cy="231318"/>
          </a:xfrm>
          <a:prstGeom prst="rect">
            <a:avLst/>
          </a:prstGeom>
          <a:solidFill>
            <a:srgbClr val="D6D6D6"/>
          </a:solidFill>
          <a:ln>
            <a:noFill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C5C5C"/>
              </a:buClr>
              <a:buSzPts val="1600"/>
              <a:buFont typeface="Open Sans"/>
              <a:buNone/>
            </a:pPr>
            <a:r>
              <a:rPr b="1" i="0" lang="es-ES" sz="1600" u="none" cap="none" strike="noStrike">
                <a:solidFill>
                  <a:srgbClr val="5C5C5C"/>
                </a:solidFill>
                <a:latin typeface="Open Sans"/>
                <a:ea typeface="Open Sans"/>
                <a:cs typeface="Open Sans"/>
                <a:sym typeface="Open Sans"/>
              </a:rPr>
              <a:t>Diseño del modelo operativo</a:t>
            </a:r>
            <a:endParaRPr b="1" i="0" sz="1600" u="none" cap="none" strike="noStrike">
              <a:solidFill>
                <a:srgbClr val="5C5C5C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72" name="Google Shape;172;p4"/>
          <p:cNvSpPr/>
          <p:nvPr/>
        </p:nvSpPr>
        <p:spPr>
          <a:xfrm>
            <a:off x="590550" y="3763095"/>
            <a:ext cx="2489200" cy="2142271"/>
          </a:xfrm>
          <a:prstGeom prst="rect">
            <a:avLst/>
          </a:prstGeom>
          <a:solidFill>
            <a:srgbClr val="D6D6D6">
              <a:alpha val="25098"/>
            </a:srgbClr>
          </a:solidFill>
          <a:ln cap="flat" cmpd="sng" w="19050">
            <a:solidFill>
              <a:srgbClr val="B4B4B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73" name="Google Shape;173;p4"/>
          <p:cNvSpPr/>
          <p:nvPr/>
        </p:nvSpPr>
        <p:spPr>
          <a:xfrm>
            <a:off x="3431116" y="3765159"/>
            <a:ext cx="2489200" cy="2142271"/>
          </a:xfrm>
          <a:prstGeom prst="rect">
            <a:avLst/>
          </a:prstGeom>
          <a:solidFill>
            <a:srgbClr val="D6D6D6">
              <a:alpha val="25098"/>
            </a:srgbClr>
          </a:solidFill>
          <a:ln cap="flat" cmpd="sng" w="19050">
            <a:solidFill>
              <a:srgbClr val="B4B4B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74" name="Google Shape;174;p4"/>
          <p:cNvSpPr/>
          <p:nvPr/>
        </p:nvSpPr>
        <p:spPr>
          <a:xfrm>
            <a:off x="6271682" y="3765159"/>
            <a:ext cx="2489200" cy="2142271"/>
          </a:xfrm>
          <a:prstGeom prst="rect">
            <a:avLst/>
          </a:prstGeom>
          <a:solidFill>
            <a:srgbClr val="D6D6D6">
              <a:alpha val="25098"/>
            </a:srgbClr>
          </a:solidFill>
          <a:ln cap="flat" cmpd="sng" w="19050">
            <a:solidFill>
              <a:srgbClr val="B4B4B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75" name="Google Shape;175;p4"/>
          <p:cNvSpPr/>
          <p:nvPr/>
        </p:nvSpPr>
        <p:spPr>
          <a:xfrm>
            <a:off x="9112250" y="3765159"/>
            <a:ext cx="2489200" cy="2142271"/>
          </a:xfrm>
          <a:prstGeom prst="rect">
            <a:avLst/>
          </a:prstGeom>
          <a:solidFill>
            <a:srgbClr val="D6D6D6">
              <a:alpha val="25098"/>
            </a:srgbClr>
          </a:solidFill>
          <a:ln cap="flat" cmpd="sng" w="19050">
            <a:solidFill>
              <a:srgbClr val="B4B4B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76" name="Google Shape;176;p4"/>
          <p:cNvSpPr/>
          <p:nvPr/>
        </p:nvSpPr>
        <p:spPr>
          <a:xfrm>
            <a:off x="710931" y="4438315"/>
            <a:ext cx="2255074" cy="280076"/>
          </a:xfrm>
          <a:prstGeom prst="rect">
            <a:avLst/>
          </a:prstGeom>
          <a:noFill/>
          <a:ln>
            <a:noFill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C5C5C"/>
              </a:buClr>
              <a:buSzPts val="1400"/>
              <a:buFont typeface="Open Sans"/>
              <a:buNone/>
            </a:pPr>
            <a:r>
              <a:rPr b="1" i="0" lang="es-ES" sz="1400" u="none" cap="none" strike="noStrike">
                <a:solidFill>
                  <a:srgbClr val="5C5C5C"/>
                </a:solidFill>
                <a:latin typeface="Open Sans"/>
                <a:ea typeface="Open Sans"/>
                <a:cs typeface="Open Sans"/>
                <a:sym typeface="Open Sans"/>
              </a:rPr>
              <a:t>LAYER ORGANIZACIONAL</a:t>
            </a:r>
            <a:endParaRPr/>
          </a:p>
        </p:txBody>
      </p:sp>
      <p:grpSp>
        <p:nvGrpSpPr>
          <p:cNvPr id="177" name="Google Shape;177;p4"/>
          <p:cNvGrpSpPr/>
          <p:nvPr/>
        </p:nvGrpSpPr>
        <p:grpSpPr>
          <a:xfrm>
            <a:off x="1575115" y="3854608"/>
            <a:ext cx="520071" cy="454799"/>
            <a:chOff x="715162" y="1890572"/>
            <a:chExt cx="776740" cy="710983"/>
          </a:xfrm>
        </p:grpSpPr>
        <p:cxnSp>
          <p:nvCxnSpPr>
            <p:cNvPr id="178" name="Google Shape;178;p4"/>
            <p:cNvCxnSpPr/>
            <p:nvPr/>
          </p:nvCxnSpPr>
          <p:spPr>
            <a:xfrm flipH="1">
              <a:off x="1219395" y="2079324"/>
              <a:ext cx="59629" cy="53477"/>
            </a:xfrm>
            <a:prstGeom prst="straightConnector1">
              <a:avLst/>
            </a:prstGeom>
            <a:noFill/>
            <a:ln cap="flat" cmpd="sng" w="19050">
              <a:solidFill>
                <a:srgbClr val="5C5C5C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79" name="Google Shape;179;p4"/>
            <p:cNvCxnSpPr/>
            <p:nvPr/>
          </p:nvCxnSpPr>
          <p:spPr>
            <a:xfrm rot="10800000">
              <a:off x="1219395" y="2365737"/>
              <a:ext cx="59629" cy="53477"/>
            </a:xfrm>
            <a:prstGeom prst="straightConnector1">
              <a:avLst/>
            </a:prstGeom>
            <a:noFill/>
            <a:ln cap="flat" cmpd="sng" w="19050">
              <a:solidFill>
                <a:srgbClr val="5C5C5C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80" name="Google Shape;180;p4"/>
            <p:cNvCxnSpPr/>
            <p:nvPr/>
          </p:nvCxnSpPr>
          <p:spPr>
            <a:xfrm>
              <a:off x="914079" y="2079324"/>
              <a:ext cx="59629" cy="53477"/>
            </a:xfrm>
            <a:prstGeom prst="straightConnector1">
              <a:avLst/>
            </a:prstGeom>
            <a:noFill/>
            <a:ln cap="flat" cmpd="sng" w="19050">
              <a:solidFill>
                <a:srgbClr val="5C5C5C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81" name="Google Shape;181;p4"/>
            <p:cNvCxnSpPr/>
            <p:nvPr/>
          </p:nvCxnSpPr>
          <p:spPr>
            <a:xfrm flipH="1" rot="10800000">
              <a:off x="914079" y="2365737"/>
              <a:ext cx="59629" cy="53477"/>
            </a:xfrm>
            <a:prstGeom prst="straightConnector1">
              <a:avLst/>
            </a:prstGeom>
            <a:noFill/>
            <a:ln cap="flat" cmpd="sng" w="19050">
              <a:solidFill>
                <a:srgbClr val="5C5C5C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182" name="Google Shape;182;p4"/>
            <p:cNvSpPr/>
            <p:nvPr/>
          </p:nvSpPr>
          <p:spPr>
            <a:xfrm>
              <a:off x="715162" y="1890572"/>
              <a:ext cx="259422" cy="274959"/>
            </a:xfrm>
            <a:prstGeom prst="ellipse">
              <a:avLst/>
            </a:prstGeom>
            <a:solidFill>
              <a:srgbClr val="858585"/>
            </a:solidFill>
            <a:ln cap="flat" cmpd="sng" w="19050">
              <a:solidFill>
                <a:srgbClr val="5C5C5C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36000" lIns="36000" spcFirstLastPara="1" rIns="36000" wrap="square" tIns="36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600"/>
                <a:buFont typeface="Arial"/>
                <a:buNone/>
              </a:pPr>
              <a:r>
                <a:t/>
              </a:r>
              <a:endParaRPr b="0" i="0" sz="16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83" name="Google Shape;183;p4"/>
            <p:cNvSpPr/>
            <p:nvPr/>
          </p:nvSpPr>
          <p:spPr>
            <a:xfrm>
              <a:off x="715162" y="2326596"/>
              <a:ext cx="259422" cy="274959"/>
            </a:xfrm>
            <a:prstGeom prst="ellipse">
              <a:avLst/>
            </a:prstGeom>
            <a:solidFill>
              <a:srgbClr val="858585"/>
            </a:solidFill>
            <a:ln cap="flat" cmpd="sng" w="19050">
              <a:solidFill>
                <a:srgbClr val="5C5C5C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36000" lIns="36000" spcFirstLastPara="1" rIns="36000" wrap="square" tIns="36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600"/>
                <a:buFont typeface="Arial"/>
                <a:buNone/>
              </a:pPr>
              <a:r>
                <a:t/>
              </a:r>
              <a:endParaRPr b="0" i="0" sz="16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84" name="Google Shape;184;p4"/>
            <p:cNvSpPr/>
            <p:nvPr/>
          </p:nvSpPr>
          <p:spPr>
            <a:xfrm>
              <a:off x="1232480" y="2326596"/>
              <a:ext cx="259422" cy="274959"/>
            </a:xfrm>
            <a:prstGeom prst="ellipse">
              <a:avLst/>
            </a:prstGeom>
            <a:solidFill>
              <a:srgbClr val="858585"/>
            </a:solidFill>
            <a:ln cap="flat" cmpd="sng" w="19050">
              <a:solidFill>
                <a:srgbClr val="5C5C5C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36000" lIns="36000" spcFirstLastPara="1" rIns="36000" wrap="square" tIns="36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600"/>
                <a:buFont typeface="Arial"/>
                <a:buNone/>
              </a:pPr>
              <a:r>
                <a:t/>
              </a:r>
              <a:endParaRPr b="0" i="0" sz="16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85" name="Google Shape;185;p4"/>
            <p:cNvSpPr/>
            <p:nvPr/>
          </p:nvSpPr>
          <p:spPr>
            <a:xfrm>
              <a:off x="1232480" y="1890572"/>
              <a:ext cx="259422" cy="274959"/>
            </a:xfrm>
            <a:prstGeom prst="ellipse">
              <a:avLst/>
            </a:prstGeom>
            <a:solidFill>
              <a:srgbClr val="858585"/>
            </a:solidFill>
            <a:ln cap="flat" cmpd="sng" w="19050">
              <a:solidFill>
                <a:srgbClr val="5C5C5C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36000" lIns="36000" spcFirstLastPara="1" rIns="36000" wrap="square" tIns="36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600"/>
                <a:buFont typeface="Arial"/>
                <a:buNone/>
              </a:pPr>
              <a:r>
                <a:t/>
              </a:r>
              <a:endParaRPr b="0" i="0" sz="16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86" name="Google Shape;186;p4"/>
            <p:cNvSpPr/>
            <p:nvPr/>
          </p:nvSpPr>
          <p:spPr>
            <a:xfrm>
              <a:off x="931977" y="2069601"/>
              <a:ext cx="159171" cy="169193"/>
            </a:xfrm>
            <a:custGeom>
              <a:rect b="b" l="l" r="r" t="t"/>
              <a:pathLst>
                <a:path extrusionOk="0" h="566" w="566">
                  <a:moveTo>
                    <a:pt x="566" y="64"/>
                  </a:moveTo>
                  <a:cubicBezTo>
                    <a:pt x="566" y="0"/>
                    <a:pt x="566" y="0"/>
                    <a:pt x="566" y="0"/>
                  </a:cubicBezTo>
                  <a:cubicBezTo>
                    <a:pt x="261" y="14"/>
                    <a:pt x="15" y="260"/>
                    <a:pt x="0" y="566"/>
                  </a:cubicBezTo>
                  <a:cubicBezTo>
                    <a:pt x="64" y="566"/>
                    <a:pt x="64" y="566"/>
                    <a:pt x="64" y="566"/>
                  </a:cubicBezTo>
                  <a:cubicBezTo>
                    <a:pt x="78" y="296"/>
                    <a:pt x="296" y="78"/>
                    <a:pt x="566" y="64"/>
                  </a:cubicBezTo>
                  <a:close/>
                </a:path>
              </a:pathLst>
            </a:custGeom>
            <a:solidFill>
              <a:srgbClr val="5C5C5C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-76200" lvl="0" marL="17780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87" name="Google Shape;187;p4"/>
            <p:cNvSpPr/>
            <p:nvPr/>
          </p:nvSpPr>
          <p:spPr>
            <a:xfrm>
              <a:off x="931977" y="2255933"/>
              <a:ext cx="159171" cy="169193"/>
            </a:xfrm>
            <a:custGeom>
              <a:rect b="b" l="l" r="r" t="t"/>
              <a:pathLst>
                <a:path extrusionOk="0" h="566" w="566">
                  <a:moveTo>
                    <a:pt x="64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15" y="306"/>
                    <a:pt x="261" y="552"/>
                    <a:pt x="566" y="566"/>
                  </a:cubicBezTo>
                  <a:cubicBezTo>
                    <a:pt x="566" y="502"/>
                    <a:pt x="566" y="502"/>
                    <a:pt x="566" y="502"/>
                  </a:cubicBezTo>
                  <a:cubicBezTo>
                    <a:pt x="296" y="488"/>
                    <a:pt x="78" y="271"/>
                    <a:pt x="64" y="0"/>
                  </a:cubicBezTo>
                  <a:close/>
                </a:path>
              </a:pathLst>
            </a:custGeom>
            <a:solidFill>
              <a:srgbClr val="5C5C5C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-76200" lvl="0" marL="17780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88" name="Google Shape;188;p4"/>
            <p:cNvSpPr/>
            <p:nvPr/>
          </p:nvSpPr>
          <p:spPr>
            <a:xfrm>
              <a:off x="1107088" y="2255933"/>
              <a:ext cx="159171" cy="169193"/>
            </a:xfrm>
            <a:custGeom>
              <a:rect b="b" l="l" r="r" t="t"/>
              <a:pathLst>
                <a:path extrusionOk="0" h="566" w="566">
                  <a:moveTo>
                    <a:pt x="0" y="502"/>
                  </a:moveTo>
                  <a:cubicBezTo>
                    <a:pt x="0" y="566"/>
                    <a:pt x="0" y="566"/>
                    <a:pt x="0" y="566"/>
                  </a:cubicBezTo>
                  <a:cubicBezTo>
                    <a:pt x="306" y="552"/>
                    <a:pt x="552" y="306"/>
                    <a:pt x="566" y="0"/>
                  </a:cubicBezTo>
                  <a:cubicBezTo>
                    <a:pt x="503" y="0"/>
                    <a:pt x="503" y="0"/>
                    <a:pt x="503" y="0"/>
                  </a:cubicBezTo>
                  <a:cubicBezTo>
                    <a:pt x="488" y="271"/>
                    <a:pt x="271" y="488"/>
                    <a:pt x="0" y="502"/>
                  </a:cubicBezTo>
                  <a:close/>
                </a:path>
              </a:pathLst>
            </a:custGeom>
            <a:solidFill>
              <a:srgbClr val="5C5C5C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-76200" lvl="0" marL="17780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89" name="Google Shape;189;p4"/>
            <p:cNvSpPr/>
            <p:nvPr/>
          </p:nvSpPr>
          <p:spPr>
            <a:xfrm>
              <a:off x="1107088" y="2069601"/>
              <a:ext cx="159171" cy="169193"/>
            </a:xfrm>
            <a:custGeom>
              <a:rect b="b" l="l" r="r" t="t"/>
              <a:pathLst>
                <a:path extrusionOk="0" h="566" w="566">
                  <a:moveTo>
                    <a:pt x="503" y="566"/>
                  </a:moveTo>
                  <a:cubicBezTo>
                    <a:pt x="566" y="566"/>
                    <a:pt x="566" y="566"/>
                    <a:pt x="566" y="566"/>
                  </a:cubicBezTo>
                  <a:cubicBezTo>
                    <a:pt x="552" y="260"/>
                    <a:pt x="306" y="14"/>
                    <a:pt x="0" y="0"/>
                  </a:cubicBezTo>
                  <a:cubicBezTo>
                    <a:pt x="0" y="64"/>
                    <a:pt x="0" y="64"/>
                    <a:pt x="0" y="64"/>
                  </a:cubicBezTo>
                  <a:cubicBezTo>
                    <a:pt x="271" y="78"/>
                    <a:pt x="488" y="296"/>
                    <a:pt x="503" y="566"/>
                  </a:cubicBezTo>
                  <a:close/>
                </a:path>
              </a:pathLst>
            </a:custGeom>
            <a:solidFill>
              <a:srgbClr val="5C5C5C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-76200" lvl="0" marL="17780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90" name="Google Shape;190;p4"/>
            <p:cNvSpPr/>
            <p:nvPr/>
          </p:nvSpPr>
          <p:spPr>
            <a:xfrm>
              <a:off x="981145" y="2126026"/>
              <a:ext cx="235946" cy="250076"/>
            </a:xfrm>
            <a:prstGeom prst="ellipse">
              <a:avLst/>
            </a:prstGeom>
            <a:solidFill>
              <a:srgbClr val="7891AA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1" i="0" sz="18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grpSp>
        <p:nvGrpSpPr>
          <p:cNvPr id="191" name="Google Shape;191;p4"/>
          <p:cNvGrpSpPr/>
          <p:nvPr/>
        </p:nvGrpSpPr>
        <p:grpSpPr>
          <a:xfrm>
            <a:off x="4470740" y="4143221"/>
            <a:ext cx="518437" cy="381834"/>
            <a:chOff x="341981" y="3553252"/>
            <a:chExt cx="1222443" cy="923842"/>
          </a:xfrm>
        </p:grpSpPr>
        <p:sp>
          <p:nvSpPr>
            <p:cNvPr id="192" name="Google Shape;192;p4"/>
            <p:cNvSpPr/>
            <p:nvPr/>
          </p:nvSpPr>
          <p:spPr>
            <a:xfrm>
              <a:off x="705794" y="3553252"/>
              <a:ext cx="507611" cy="273496"/>
            </a:xfrm>
            <a:prstGeom prst="rect">
              <a:avLst/>
            </a:prstGeom>
            <a:solidFill>
              <a:srgbClr val="7891AA"/>
            </a:solidFill>
            <a:ln>
              <a:noFill/>
            </a:ln>
          </p:spPr>
          <p:txBody>
            <a:bodyPr anchorCtr="0" anchor="t" bIns="36000" lIns="36000" spcFirstLastPara="1" rIns="36000" wrap="square" tIns="36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93" name="Google Shape;193;p4"/>
            <p:cNvSpPr/>
            <p:nvPr/>
          </p:nvSpPr>
          <p:spPr>
            <a:xfrm>
              <a:off x="341981" y="4065416"/>
              <a:ext cx="300421" cy="273496"/>
            </a:xfrm>
            <a:prstGeom prst="rect">
              <a:avLst/>
            </a:prstGeom>
            <a:solidFill>
              <a:srgbClr val="858585"/>
            </a:solidFill>
            <a:ln cap="flat" cmpd="sng" w="19050">
              <a:solidFill>
                <a:srgbClr val="5C5C5C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36000" lIns="36000" spcFirstLastPara="1" rIns="36000" wrap="square" tIns="36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94" name="Google Shape;194;p4"/>
            <p:cNvSpPr/>
            <p:nvPr/>
          </p:nvSpPr>
          <p:spPr>
            <a:xfrm>
              <a:off x="809389" y="4065416"/>
              <a:ext cx="300421" cy="273496"/>
            </a:xfrm>
            <a:prstGeom prst="rect">
              <a:avLst/>
            </a:prstGeom>
            <a:solidFill>
              <a:srgbClr val="858585"/>
            </a:solidFill>
            <a:ln cap="flat" cmpd="sng" w="19050">
              <a:solidFill>
                <a:srgbClr val="5C5C5C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36000" lIns="36000" spcFirstLastPara="1" rIns="36000" wrap="square" tIns="36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95" name="Google Shape;195;p4"/>
            <p:cNvSpPr/>
            <p:nvPr/>
          </p:nvSpPr>
          <p:spPr>
            <a:xfrm>
              <a:off x="1264003" y="4065416"/>
              <a:ext cx="300421" cy="273496"/>
            </a:xfrm>
            <a:prstGeom prst="rect">
              <a:avLst/>
            </a:prstGeom>
            <a:solidFill>
              <a:srgbClr val="858585"/>
            </a:solidFill>
            <a:ln cap="flat" cmpd="sng" w="19050">
              <a:solidFill>
                <a:srgbClr val="5C5C5C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36000" lIns="36000" spcFirstLastPara="1" rIns="36000" wrap="square" tIns="36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cxnSp>
          <p:nvCxnSpPr>
            <p:cNvPr id="196" name="Google Shape;196;p4"/>
            <p:cNvCxnSpPr>
              <a:stCxn id="192" idx="2"/>
              <a:endCxn id="193" idx="0"/>
            </p:cNvCxnSpPr>
            <p:nvPr/>
          </p:nvCxnSpPr>
          <p:spPr>
            <a:xfrm rot="5400000">
              <a:off x="606500" y="3712448"/>
              <a:ext cx="238800" cy="467400"/>
            </a:xfrm>
            <a:prstGeom prst="bentConnector3">
              <a:avLst>
                <a:gd fmla="val -314441" name="adj1"/>
              </a:avLst>
            </a:prstGeom>
            <a:noFill/>
            <a:ln cap="flat" cmpd="sng" w="19050">
              <a:solidFill>
                <a:srgbClr val="5C5C5C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97" name="Google Shape;197;p4"/>
            <p:cNvCxnSpPr>
              <a:stCxn id="192" idx="2"/>
              <a:endCxn id="195" idx="0"/>
            </p:cNvCxnSpPr>
            <p:nvPr/>
          </p:nvCxnSpPr>
          <p:spPr>
            <a:xfrm flipH="1" rot="-5400000">
              <a:off x="1067450" y="3718898"/>
              <a:ext cx="238800" cy="454500"/>
            </a:xfrm>
            <a:prstGeom prst="bentConnector3">
              <a:avLst>
                <a:gd fmla="val -314441" name="adj1"/>
              </a:avLst>
            </a:prstGeom>
            <a:noFill/>
            <a:ln cap="flat" cmpd="sng" w="19050">
              <a:solidFill>
                <a:srgbClr val="5C5C5C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98" name="Google Shape;198;p4"/>
            <p:cNvCxnSpPr>
              <a:stCxn id="192" idx="2"/>
              <a:endCxn id="194" idx="0"/>
            </p:cNvCxnSpPr>
            <p:nvPr/>
          </p:nvCxnSpPr>
          <p:spPr>
            <a:xfrm>
              <a:off x="959600" y="3826748"/>
              <a:ext cx="0" cy="238800"/>
            </a:xfrm>
            <a:prstGeom prst="straightConnector1">
              <a:avLst/>
            </a:prstGeom>
            <a:noFill/>
            <a:ln cap="flat" cmpd="sng" w="19050">
              <a:solidFill>
                <a:srgbClr val="5C5C5C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99" name="Google Shape;199;p4"/>
            <p:cNvCxnSpPr/>
            <p:nvPr/>
          </p:nvCxnSpPr>
          <p:spPr>
            <a:xfrm rot="10800000">
              <a:off x="368103" y="4477094"/>
              <a:ext cx="1185137" cy="0"/>
            </a:xfrm>
            <a:prstGeom prst="straightConnector1">
              <a:avLst/>
            </a:prstGeom>
            <a:noFill/>
            <a:ln cap="flat" cmpd="sng" w="19050">
              <a:solidFill>
                <a:srgbClr val="5C5C5C"/>
              </a:solidFill>
              <a:prstDash val="solid"/>
              <a:miter lim="800000"/>
              <a:headEnd len="med" w="med" type="stealth"/>
              <a:tailEnd len="med" w="med" type="stealth"/>
            </a:ln>
          </p:spPr>
        </p:cxnSp>
      </p:grpSp>
      <p:sp>
        <p:nvSpPr>
          <p:cNvPr id="200" name="Google Shape;200;p4"/>
          <p:cNvSpPr/>
          <p:nvPr/>
        </p:nvSpPr>
        <p:spPr>
          <a:xfrm>
            <a:off x="3566999" y="4726011"/>
            <a:ext cx="2325921" cy="551005"/>
          </a:xfrm>
          <a:prstGeom prst="rect">
            <a:avLst/>
          </a:prstGeom>
          <a:noFill/>
          <a:ln>
            <a:noFill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C5C5C"/>
              </a:buClr>
              <a:buSzPts val="1200"/>
              <a:buFont typeface="Open Sans"/>
              <a:buNone/>
            </a:pPr>
            <a:r>
              <a:rPr b="1" i="0" lang="es-ES" sz="1200" u="none" cap="none" strike="noStrike">
                <a:solidFill>
                  <a:srgbClr val="5C5C5C"/>
                </a:solidFill>
                <a:latin typeface="Open Sans"/>
                <a:ea typeface="Open Sans"/>
                <a:cs typeface="Open Sans"/>
                <a:sym typeface="Open Sans"/>
              </a:rPr>
              <a:t>MACROESTRUCTURA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5C5C5C"/>
              </a:buClr>
              <a:buSzPts val="1200"/>
              <a:buFont typeface="Open Sans"/>
              <a:buNone/>
            </a:pPr>
            <a:r>
              <a:rPr b="1" i="0" lang="es-ES" sz="1200" u="none" cap="none" strike="noStrike">
                <a:solidFill>
                  <a:srgbClr val="5C5C5C"/>
                </a:solidFill>
                <a:latin typeface="Open Sans"/>
                <a:ea typeface="Open Sans"/>
                <a:cs typeface="Open Sans"/>
                <a:sym typeface="Open Sans"/>
              </a:rPr>
              <a:t>EQUIPO DIRECTIVO</a:t>
            </a:r>
            <a:endParaRPr/>
          </a:p>
        </p:txBody>
      </p:sp>
      <p:grpSp>
        <p:nvGrpSpPr>
          <p:cNvPr id="201" name="Google Shape;201;p4"/>
          <p:cNvGrpSpPr/>
          <p:nvPr/>
        </p:nvGrpSpPr>
        <p:grpSpPr>
          <a:xfrm>
            <a:off x="7256053" y="3876025"/>
            <a:ext cx="518434" cy="381836"/>
            <a:chOff x="185132" y="5037891"/>
            <a:chExt cx="1452667" cy="1169234"/>
          </a:xfrm>
        </p:grpSpPr>
        <p:sp>
          <p:nvSpPr>
            <p:cNvPr id="202" name="Google Shape;202;p4"/>
            <p:cNvSpPr/>
            <p:nvPr/>
          </p:nvSpPr>
          <p:spPr>
            <a:xfrm>
              <a:off x="303745" y="5412068"/>
              <a:ext cx="402049" cy="795057"/>
            </a:xfrm>
            <a:prstGeom prst="rect">
              <a:avLst/>
            </a:prstGeom>
            <a:solidFill>
              <a:schemeClr val="lt1"/>
            </a:solidFill>
            <a:ln cap="flat" cmpd="sng" w="16500">
              <a:solidFill>
                <a:srgbClr val="5C5C5C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36000" lIns="36000" spcFirstLastPara="1" rIns="36000" wrap="square" tIns="36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FF0036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03" name="Google Shape;203;p4"/>
            <p:cNvSpPr/>
            <p:nvPr/>
          </p:nvSpPr>
          <p:spPr>
            <a:xfrm>
              <a:off x="769748" y="5412068"/>
              <a:ext cx="402049" cy="795057"/>
            </a:xfrm>
            <a:prstGeom prst="rect">
              <a:avLst/>
            </a:prstGeom>
            <a:solidFill>
              <a:schemeClr val="lt1"/>
            </a:solidFill>
            <a:ln cap="flat" cmpd="sng" w="16500">
              <a:solidFill>
                <a:srgbClr val="5C5C5C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36000" lIns="36000" spcFirstLastPara="1" rIns="36000" wrap="square" tIns="36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FF0036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04" name="Google Shape;204;p4"/>
            <p:cNvSpPr/>
            <p:nvPr/>
          </p:nvSpPr>
          <p:spPr>
            <a:xfrm>
              <a:off x="1235750" y="5412068"/>
              <a:ext cx="402049" cy="795057"/>
            </a:xfrm>
            <a:prstGeom prst="rect">
              <a:avLst/>
            </a:prstGeom>
            <a:solidFill>
              <a:schemeClr val="lt1"/>
            </a:solidFill>
            <a:ln cap="flat" cmpd="sng" w="16500">
              <a:solidFill>
                <a:srgbClr val="5C5C5C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36000" lIns="36000" spcFirstLastPara="1" rIns="36000" wrap="square" tIns="36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FF0036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05" name="Google Shape;205;p4"/>
            <p:cNvSpPr/>
            <p:nvPr/>
          </p:nvSpPr>
          <p:spPr>
            <a:xfrm>
              <a:off x="700493" y="5037891"/>
              <a:ext cx="534956" cy="240237"/>
            </a:xfrm>
            <a:prstGeom prst="rect">
              <a:avLst/>
            </a:prstGeom>
            <a:solidFill>
              <a:srgbClr val="7891AA"/>
            </a:solidFill>
            <a:ln>
              <a:noFill/>
            </a:ln>
          </p:spPr>
          <p:txBody>
            <a:bodyPr anchorCtr="0" anchor="t" bIns="36000" lIns="36000" spcFirstLastPara="1" rIns="36000" wrap="square" tIns="36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06" name="Google Shape;206;p4"/>
            <p:cNvSpPr/>
            <p:nvPr/>
          </p:nvSpPr>
          <p:spPr>
            <a:xfrm>
              <a:off x="353601" y="5460836"/>
              <a:ext cx="301969" cy="149168"/>
            </a:xfrm>
            <a:prstGeom prst="rect">
              <a:avLst/>
            </a:prstGeom>
            <a:solidFill>
              <a:srgbClr val="7891AA"/>
            </a:solidFill>
            <a:ln>
              <a:noFill/>
            </a:ln>
          </p:spPr>
          <p:txBody>
            <a:bodyPr anchorCtr="0" anchor="t" bIns="36000" lIns="36000" spcFirstLastPara="1" rIns="36000" wrap="square" tIns="36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07" name="Google Shape;207;p4"/>
            <p:cNvSpPr/>
            <p:nvPr/>
          </p:nvSpPr>
          <p:spPr>
            <a:xfrm>
              <a:off x="816987" y="5460836"/>
              <a:ext cx="301969" cy="149168"/>
            </a:xfrm>
            <a:prstGeom prst="rect">
              <a:avLst/>
            </a:prstGeom>
            <a:solidFill>
              <a:srgbClr val="7891AA"/>
            </a:solidFill>
            <a:ln>
              <a:noFill/>
            </a:ln>
          </p:spPr>
          <p:txBody>
            <a:bodyPr anchorCtr="0" anchor="t" bIns="36000" lIns="36000" spcFirstLastPara="1" rIns="36000" wrap="square" tIns="36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08" name="Google Shape;208;p4"/>
            <p:cNvSpPr/>
            <p:nvPr/>
          </p:nvSpPr>
          <p:spPr>
            <a:xfrm>
              <a:off x="1280373" y="5460836"/>
              <a:ext cx="301969" cy="149168"/>
            </a:xfrm>
            <a:prstGeom prst="rect">
              <a:avLst/>
            </a:prstGeom>
            <a:solidFill>
              <a:srgbClr val="7891AA"/>
            </a:solidFill>
            <a:ln>
              <a:noFill/>
            </a:ln>
          </p:spPr>
          <p:txBody>
            <a:bodyPr anchorCtr="0" anchor="t" bIns="36000" lIns="36000" spcFirstLastPara="1" rIns="36000" wrap="square" tIns="36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09" name="Google Shape;209;p4"/>
            <p:cNvSpPr/>
            <p:nvPr/>
          </p:nvSpPr>
          <p:spPr>
            <a:xfrm>
              <a:off x="353601" y="5670908"/>
              <a:ext cx="301969" cy="66423"/>
            </a:xfrm>
            <a:prstGeom prst="rect">
              <a:avLst/>
            </a:prstGeom>
            <a:solidFill>
              <a:srgbClr val="858585"/>
            </a:solidFill>
            <a:ln cap="flat" cmpd="sng" w="9525">
              <a:solidFill>
                <a:srgbClr val="5C5C5C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36000" lIns="36000" spcFirstLastPara="1" rIns="36000" wrap="square" tIns="36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10" name="Google Shape;210;p4"/>
            <p:cNvSpPr/>
            <p:nvPr/>
          </p:nvSpPr>
          <p:spPr>
            <a:xfrm>
              <a:off x="353601" y="5776487"/>
              <a:ext cx="301969" cy="66423"/>
            </a:xfrm>
            <a:prstGeom prst="rect">
              <a:avLst/>
            </a:prstGeom>
            <a:solidFill>
              <a:srgbClr val="858585"/>
            </a:solidFill>
            <a:ln cap="flat" cmpd="sng" w="9525">
              <a:solidFill>
                <a:srgbClr val="5C5C5C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36000" lIns="36000" spcFirstLastPara="1" rIns="36000" wrap="square" tIns="36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11" name="Google Shape;211;p4"/>
            <p:cNvSpPr/>
            <p:nvPr/>
          </p:nvSpPr>
          <p:spPr>
            <a:xfrm>
              <a:off x="353601" y="5882067"/>
              <a:ext cx="301969" cy="66423"/>
            </a:xfrm>
            <a:prstGeom prst="rect">
              <a:avLst/>
            </a:prstGeom>
            <a:solidFill>
              <a:srgbClr val="858585"/>
            </a:solidFill>
            <a:ln cap="flat" cmpd="sng" w="9525">
              <a:solidFill>
                <a:srgbClr val="5C5C5C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36000" lIns="36000" spcFirstLastPara="1" rIns="36000" wrap="square" tIns="36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12" name="Google Shape;212;p4"/>
            <p:cNvSpPr/>
            <p:nvPr/>
          </p:nvSpPr>
          <p:spPr>
            <a:xfrm>
              <a:off x="353601" y="5987646"/>
              <a:ext cx="301969" cy="66423"/>
            </a:xfrm>
            <a:prstGeom prst="rect">
              <a:avLst/>
            </a:prstGeom>
            <a:solidFill>
              <a:srgbClr val="858585"/>
            </a:solidFill>
            <a:ln cap="flat" cmpd="sng" w="9525">
              <a:solidFill>
                <a:srgbClr val="5C5C5C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36000" lIns="36000" spcFirstLastPara="1" rIns="36000" wrap="square" tIns="36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13" name="Google Shape;213;p4"/>
            <p:cNvSpPr/>
            <p:nvPr/>
          </p:nvSpPr>
          <p:spPr>
            <a:xfrm>
              <a:off x="353601" y="6093226"/>
              <a:ext cx="301969" cy="66423"/>
            </a:xfrm>
            <a:prstGeom prst="rect">
              <a:avLst/>
            </a:prstGeom>
            <a:solidFill>
              <a:srgbClr val="858585"/>
            </a:solidFill>
            <a:ln cap="flat" cmpd="sng" w="9525">
              <a:solidFill>
                <a:srgbClr val="5C5C5C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36000" lIns="36000" spcFirstLastPara="1" rIns="36000" wrap="square" tIns="36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14" name="Google Shape;214;p4"/>
            <p:cNvSpPr/>
            <p:nvPr/>
          </p:nvSpPr>
          <p:spPr>
            <a:xfrm>
              <a:off x="816987" y="5670908"/>
              <a:ext cx="301969" cy="66423"/>
            </a:xfrm>
            <a:prstGeom prst="rect">
              <a:avLst/>
            </a:prstGeom>
            <a:solidFill>
              <a:srgbClr val="858585"/>
            </a:solidFill>
            <a:ln cap="flat" cmpd="sng" w="9525">
              <a:solidFill>
                <a:srgbClr val="5C5C5C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36000" lIns="36000" spcFirstLastPara="1" rIns="36000" wrap="square" tIns="36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15" name="Google Shape;215;p4"/>
            <p:cNvSpPr/>
            <p:nvPr/>
          </p:nvSpPr>
          <p:spPr>
            <a:xfrm>
              <a:off x="816987" y="5776487"/>
              <a:ext cx="301969" cy="66423"/>
            </a:xfrm>
            <a:prstGeom prst="rect">
              <a:avLst/>
            </a:prstGeom>
            <a:solidFill>
              <a:srgbClr val="858585"/>
            </a:solidFill>
            <a:ln cap="flat" cmpd="sng" w="9525">
              <a:solidFill>
                <a:srgbClr val="5C5C5C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36000" lIns="36000" spcFirstLastPara="1" rIns="36000" wrap="square" tIns="36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16" name="Google Shape;216;p4"/>
            <p:cNvSpPr/>
            <p:nvPr/>
          </p:nvSpPr>
          <p:spPr>
            <a:xfrm>
              <a:off x="816987" y="5882067"/>
              <a:ext cx="301969" cy="66423"/>
            </a:xfrm>
            <a:prstGeom prst="rect">
              <a:avLst/>
            </a:prstGeom>
            <a:solidFill>
              <a:srgbClr val="858585"/>
            </a:solidFill>
            <a:ln cap="flat" cmpd="sng" w="9525">
              <a:solidFill>
                <a:srgbClr val="5C5C5C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36000" lIns="36000" spcFirstLastPara="1" rIns="36000" wrap="square" tIns="36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17" name="Google Shape;217;p4"/>
            <p:cNvSpPr/>
            <p:nvPr/>
          </p:nvSpPr>
          <p:spPr>
            <a:xfrm>
              <a:off x="1280373" y="5670908"/>
              <a:ext cx="301969" cy="66423"/>
            </a:xfrm>
            <a:prstGeom prst="rect">
              <a:avLst/>
            </a:prstGeom>
            <a:solidFill>
              <a:srgbClr val="858585"/>
            </a:solidFill>
            <a:ln cap="flat" cmpd="sng" w="9525">
              <a:solidFill>
                <a:srgbClr val="5C5C5C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36000" lIns="36000" spcFirstLastPara="1" rIns="36000" wrap="square" tIns="36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18" name="Google Shape;218;p4"/>
            <p:cNvSpPr/>
            <p:nvPr/>
          </p:nvSpPr>
          <p:spPr>
            <a:xfrm>
              <a:off x="1280373" y="5776487"/>
              <a:ext cx="301969" cy="66423"/>
            </a:xfrm>
            <a:prstGeom prst="rect">
              <a:avLst/>
            </a:prstGeom>
            <a:solidFill>
              <a:srgbClr val="858585"/>
            </a:solidFill>
            <a:ln cap="flat" cmpd="sng" w="9525">
              <a:solidFill>
                <a:srgbClr val="5C5C5C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36000" lIns="36000" spcFirstLastPara="1" rIns="36000" wrap="square" tIns="36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19" name="Google Shape;219;p4"/>
            <p:cNvSpPr/>
            <p:nvPr/>
          </p:nvSpPr>
          <p:spPr>
            <a:xfrm>
              <a:off x="1280373" y="5882067"/>
              <a:ext cx="301969" cy="66423"/>
            </a:xfrm>
            <a:prstGeom prst="rect">
              <a:avLst/>
            </a:prstGeom>
            <a:solidFill>
              <a:srgbClr val="858585"/>
            </a:solidFill>
            <a:ln cap="flat" cmpd="sng" w="9525">
              <a:solidFill>
                <a:srgbClr val="5C5C5C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36000" lIns="36000" spcFirstLastPara="1" rIns="36000" wrap="square" tIns="36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20" name="Google Shape;220;p4"/>
            <p:cNvSpPr/>
            <p:nvPr/>
          </p:nvSpPr>
          <p:spPr>
            <a:xfrm>
              <a:off x="1280373" y="5987646"/>
              <a:ext cx="301969" cy="66423"/>
            </a:xfrm>
            <a:prstGeom prst="rect">
              <a:avLst/>
            </a:prstGeom>
            <a:solidFill>
              <a:srgbClr val="858585"/>
            </a:solidFill>
            <a:ln cap="flat" cmpd="sng" w="9525">
              <a:solidFill>
                <a:srgbClr val="5C5C5C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36000" lIns="36000" spcFirstLastPara="1" rIns="36000" wrap="square" tIns="36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cxnSp>
          <p:nvCxnSpPr>
            <p:cNvPr id="221" name="Google Shape;221;p4"/>
            <p:cNvCxnSpPr/>
            <p:nvPr/>
          </p:nvCxnSpPr>
          <p:spPr>
            <a:xfrm>
              <a:off x="185132" y="5370991"/>
              <a:ext cx="0" cy="836134"/>
            </a:xfrm>
            <a:prstGeom prst="straightConnector1">
              <a:avLst/>
            </a:prstGeom>
            <a:noFill/>
            <a:ln cap="flat" cmpd="sng" w="16500">
              <a:solidFill>
                <a:srgbClr val="5C5C5C"/>
              </a:solidFill>
              <a:prstDash val="solid"/>
              <a:miter lim="800000"/>
              <a:headEnd len="med" w="med" type="stealth"/>
              <a:tailEnd len="med" w="med" type="stealth"/>
            </a:ln>
          </p:spPr>
        </p:cxnSp>
        <p:cxnSp>
          <p:nvCxnSpPr>
            <p:cNvPr id="222" name="Google Shape;222;p4"/>
            <p:cNvCxnSpPr>
              <a:stCxn id="205" idx="2"/>
              <a:endCxn id="206" idx="0"/>
            </p:cNvCxnSpPr>
            <p:nvPr/>
          </p:nvCxnSpPr>
          <p:spPr>
            <a:xfrm rot="5400000">
              <a:off x="644871" y="5137728"/>
              <a:ext cx="182700" cy="463500"/>
            </a:xfrm>
            <a:prstGeom prst="bentConnector3">
              <a:avLst>
                <a:gd fmla="val 50000" name="adj1"/>
              </a:avLst>
            </a:prstGeom>
            <a:solidFill>
              <a:schemeClr val="accent1"/>
            </a:solidFill>
            <a:ln cap="flat" cmpd="sng" w="16500">
              <a:solidFill>
                <a:srgbClr val="5C5C5C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23" name="Google Shape;223;p4"/>
            <p:cNvCxnSpPr>
              <a:stCxn id="205" idx="2"/>
              <a:endCxn id="208" idx="0"/>
            </p:cNvCxnSpPr>
            <p:nvPr/>
          </p:nvCxnSpPr>
          <p:spPr>
            <a:xfrm flipH="1" rot="-5400000">
              <a:off x="1108371" y="5137728"/>
              <a:ext cx="182700" cy="463500"/>
            </a:xfrm>
            <a:prstGeom prst="bentConnector3">
              <a:avLst>
                <a:gd fmla="val 2371506" name="adj1"/>
              </a:avLst>
            </a:prstGeom>
            <a:solidFill>
              <a:schemeClr val="accent1"/>
            </a:solidFill>
            <a:ln cap="flat" cmpd="sng" w="16500">
              <a:solidFill>
                <a:srgbClr val="5C5C5C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24" name="Google Shape;224;p4"/>
            <p:cNvCxnSpPr>
              <a:stCxn id="205" idx="2"/>
              <a:endCxn id="203" idx="0"/>
            </p:cNvCxnSpPr>
            <p:nvPr/>
          </p:nvCxnSpPr>
          <p:spPr>
            <a:xfrm>
              <a:off x="967971" y="5278128"/>
              <a:ext cx="2700" cy="133800"/>
            </a:xfrm>
            <a:prstGeom prst="straightConnector1">
              <a:avLst/>
            </a:prstGeom>
            <a:solidFill>
              <a:schemeClr val="accent1"/>
            </a:solidFill>
            <a:ln cap="flat" cmpd="sng" w="16500">
              <a:solidFill>
                <a:srgbClr val="5C5C5C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225" name="Google Shape;225;p4"/>
          <p:cNvSpPr/>
          <p:nvPr/>
        </p:nvSpPr>
        <p:spPr>
          <a:xfrm>
            <a:off x="6407564" y="4446266"/>
            <a:ext cx="2325921" cy="280076"/>
          </a:xfrm>
          <a:prstGeom prst="rect">
            <a:avLst/>
          </a:prstGeom>
          <a:noFill/>
          <a:ln>
            <a:noFill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C5C5C"/>
              </a:buClr>
              <a:buSzPts val="1200"/>
              <a:buFont typeface="Open Sans"/>
              <a:buNone/>
            </a:pPr>
            <a:r>
              <a:rPr b="1" i="0" lang="es-ES" sz="1200" u="none" cap="none" strike="noStrike">
                <a:solidFill>
                  <a:srgbClr val="5C5C5C"/>
                </a:solidFill>
                <a:latin typeface="Open Sans"/>
                <a:ea typeface="Open Sans"/>
                <a:cs typeface="Open Sans"/>
                <a:sym typeface="Open Sans"/>
              </a:rPr>
              <a:t>DISEÑO DETALLADO POR FUNCIÓN</a:t>
            </a:r>
            <a:endParaRPr/>
          </a:p>
        </p:txBody>
      </p:sp>
      <p:sp>
        <p:nvSpPr>
          <p:cNvPr id="226" name="Google Shape;226;p4"/>
          <p:cNvSpPr/>
          <p:nvPr/>
        </p:nvSpPr>
        <p:spPr>
          <a:xfrm>
            <a:off x="9190979" y="4446266"/>
            <a:ext cx="2325921" cy="280076"/>
          </a:xfrm>
          <a:prstGeom prst="rect">
            <a:avLst/>
          </a:prstGeom>
          <a:noFill/>
          <a:ln>
            <a:noFill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C5C5C"/>
              </a:buClr>
              <a:buSzPts val="1400"/>
              <a:buFont typeface="Open Sans"/>
              <a:buNone/>
            </a:pPr>
            <a:r>
              <a:rPr b="1" i="0" lang="es-ES" sz="1400" u="none" cap="none" strike="noStrike">
                <a:solidFill>
                  <a:srgbClr val="5C5C5C"/>
                </a:solidFill>
                <a:latin typeface="Open Sans"/>
                <a:ea typeface="Open Sans"/>
                <a:cs typeface="Open Sans"/>
                <a:sym typeface="Open Sans"/>
              </a:rPr>
              <a:t>SISTEMA DE GESTIÓN</a:t>
            </a:r>
            <a:endParaRPr/>
          </a:p>
        </p:txBody>
      </p:sp>
      <p:grpSp>
        <p:nvGrpSpPr>
          <p:cNvPr id="227" name="Google Shape;227;p4"/>
          <p:cNvGrpSpPr/>
          <p:nvPr/>
        </p:nvGrpSpPr>
        <p:grpSpPr>
          <a:xfrm>
            <a:off x="10095702" y="3869532"/>
            <a:ext cx="522286" cy="373220"/>
            <a:chOff x="5048251" y="1223645"/>
            <a:chExt cx="993775" cy="728663"/>
          </a:xfrm>
        </p:grpSpPr>
        <p:sp>
          <p:nvSpPr>
            <p:cNvPr id="228" name="Google Shape;228;p4"/>
            <p:cNvSpPr/>
            <p:nvPr/>
          </p:nvSpPr>
          <p:spPr>
            <a:xfrm>
              <a:off x="5307013" y="1223645"/>
              <a:ext cx="735013" cy="442913"/>
            </a:xfrm>
            <a:custGeom>
              <a:rect b="b" l="l" r="r" t="t"/>
              <a:pathLst>
                <a:path extrusionOk="0" h="196" w="326">
                  <a:moveTo>
                    <a:pt x="226" y="34"/>
                  </a:moveTo>
                  <a:cubicBezTo>
                    <a:pt x="225" y="33"/>
                    <a:pt x="225" y="33"/>
                    <a:pt x="225" y="33"/>
                  </a:cubicBezTo>
                  <a:cubicBezTo>
                    <a:pt x="194" y="20"/>
                    <a:pt x="141" y="0"/>
                    <a:pt x="132" y="0"/>
                  </a:cubicBezTo>
                  <a:cubicBezTo>
                    <a:pt x="124" y="0"/>
                    <a:pt x="67" y="21"/>
                    <a:pt x="33" y="35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0" y="84"/>
                    <a:pt x="0" y="84"/>
                    <a:pt x="0" y="84"/>
                  </a:cubicBezTo>
                  <a:cubicBezTo>
                    <a:pt x="9" y="94"/>
                    <a:pt x="9" y="94"/>
                    <a:pt x="9" y="94"/>
                  </a:cubicBezTo>
                  <a:cubicBezTo>
                    <a:pt x="38" y="101"/>
                    <a:pt x="38" y="101"/>
                    <a:pt x="38" y="101"/>
                  </a:cubicBezTo>
                  <a:cubicBezTo>
                    <a:pt x="47" y="96"/>
                    <a:pt x="47" y="96"/>
                    <a:pt x="47" y="96"/>
                  </a:cubicBezTo>
                  <a:cubicBezTo>
                    <a:pt x="91" y="70"/>
                    <a:pt x="91" y="70"/>
                    <a:pt x="91" y="70"/>
                  </a:cubicBezTo>
                  <a:cubicBezTo>
                    <a:pt x="100" y="65"/>
                    <a:pt x="100" y="65"/>
                    <a:pt x="100" y="65"/>
                  </a:cubicBezTo>
                  <a:cubicBezTo>
                    <a:pt x="155" y="64"/>
                    <a:pt x="155" y="64"/>
                    <a:pt x="155" y="64"/>
                  </a:cubicBezTo>
                  <a:cubicBezTo>
                    <a:pt x="155" y="64"/>
                    <a:pt x="155" y="64"/>
                    <a:pt x="155" y="64"/>
                  </a:cubicBezTo>
                  <a:cubicBezTo>
                    <a:pt x="156" y="64"/>
                    <a:pt x="156" y="64"/>
                    <a:pt x="156" y="64"/>
                  </a:cubicBezTo>
                  <a:cubicBezTo>
                    <a:pt x="287" y="196"/>
                    <a:pt x="287" y="196"/>
                    <a:pt x="287" y="196"/>
                  </a:cubicBezTo>
                  <a:cubicBezTo>
                    <a:pt x="293" y="196"/>
                    <a:pt x="315" y="193"/>
                    <a:pt x="326" y="191"/>
                  </a:cubicBezTo>
                  <a:cubicBezTo>
                    <a:pt x="289" y="17"/>
                    <a:pt x="289" y="17"/>
                    <a:pt x="289" y="17"/>
                  </a:cubicBezTo>
                  <a:cubicBezTo>
                    <a:pt x="289" y="17"/>
                    <a:pt x="289" y="17"/>
                    <a:pt x="289" y="17"/>
                  </a:cubicBezTo>
                  <a:cubicBezTo>
                    <a:pt x="290" y="22"/>
                    <a:pt x="290" y="22"/>
                    <a:pt x="290" y="22"/>
                  </a:cubicBezTo>
                  <a:lnTo>
                    <a:pt x="226" y="34"/>
                  </a:lnTo>
                  <a:close/>
                </a:path>
              </a:pathLst>
            </a:custGeom>
            <a:solidFill>
              <a:srgbClr val="858585"/>
            </a:solidFill>
            <a:ln>
              <a:noFill/>
            </a:ln>
          </p:spPr>
          <p:txBody>
            <a:bodyPr anchorCtr="0" anchor="t" bIns="35000" lIns="70025" spcFirstLastPara="1" rIns="70025" wrap="square" tIns="35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55"/>
                <a:buFont typeface="Calibri"/>
                <a:buNone/>
              </a:pPr>
              <a:r>
                <a:t/>
              </a:r>
              <a:endParaRPr b="0" i="0" sz="1455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29" name="Google Shape;229;p4"/>
            <p:cNvSpPr/>
            <p:nvPr/>
          </p:nvSpPr>
          <p:spPr>
            <a:xfrm>
              <a:off x="5048251" y="1303020"/>
              <a:ext cx="904875" cy="631825"/>
            </a:xfrm>
            <a:custGeom>
              <a:rect b="b" l="l" r="r" t="t"/>
              <a:pathLst>
                <a:path extrusionOk="0" h="280" w="401">
                  <a:moveTo>
                    <a:pt x="31" y="157"/>
                  </a:moveTo>
                  <a:cubicBezTo>
                    <a:pt x="31" y="157"/>
                    <a:pt x="31" y="157"/>
                    <a:pt x="31" y="157"/>
                  </a:cubicBezTo>
                  <a:cubicBezTo>
                    <a:pt x="31" y="157"/>
                    <a:pt x="31" y="157"/>
                    <a:pt x="31" y="157"/>
                  </a:cubicBezTo>
                  <a:cubicBezTo>
                    <a:pt x="31" y="156"/>
                    <a:pt x="31" y="156"/>
                    <a:pt x="31" y="156"/>
                  </a:cubicBezTo>
                  <a:cubicBezTo>
                    <a:pt x="65" y="122"/>
                    <a:pt x="65" y="122"/>
                    <a:pt x="65" y="122"/>
                  </a:cubicBezTo>
                  <a:cubicBezTo>
                    <a:pt x="72" y="115"/>
                    <a:pt x="82" y="111"/>
                    <a:pt x="91" y="111"/>
                  </a:cubicBezTo>
                  <a:cubicBezTo>
                    <a:pt x="101" y="111"/>
                    <a:pt x="110" y="115"/>
                    <a:pt x="117" y="122"/>
                  </a:cubicBezTo>
                  <a:cubicBezTo>
                    <a:pt x="122" y="127"/>
                    <a:pt x="126" y="134"/>
                    <a:pt x="127" y="141"/>
                  </a:cubicBezTo>
                  <a:cubicBezTo>
                    <a:pt x="129" y="141"/>
                    <a:pt x="130" y="140"/>
                    <a:pt x="132" y="140"/>
                  </a:cubicBezTo>
                  <a:cubicBezTo>
                    <a:pt x="141" y="140"/>
                    <a:pt x="151" y="144"/>
                    <a:pt x="158" y="151"/>
                  </a:cubicBezTo>
                  <a:cubicBezTo>
                    <a:pt x="163" y="157"/>
                    <a:pt x="167" y="164"/>
                    <a:pt x="168" y="172"/>
                  </a:cubicBezTo>
                  <a:cubicBezTo>
                    <a:pt x="169" y="172"/>
                    <a:pt x="169" y="172"/>
                    <a:pt x="170" y="172"/>
                  </a:cubicBezTo>
                  <a:cubicBezTo>
                    <a:pt x="179" y="172"/>
                    <a:pt x="188" y="175"/>
                    <a:pt x="195" y="182"/>
                  </a:cubicBezTo>
                  <a:cubicBezTo>
                    <a:pt x="200" y="187"/>
                    <a:pt x="203" y="193"/>
                    <a:pt x="204" y="200"/>
                  </a:cubicBezTo>
                  <a:cubicBezTo>
                    <a:pt x="206" y="199"/>
                    <a:pt x="208" y="199"/>
                    <a:pt x="211" y="199"/>
                  </a:cubicBezTo>
                  <a:cubicBezTo>
                    <a:pt x="220" y="199"/>
                    <a:pt x="228" y="202"/>
                    <a:pt x="234" y="209"/>
                  </a:cubicBezTo>
                  <a:cubicBezTo>
                    <a:pt x="241" y="215"/>
                    <a:pt x="244" y="224"/>
                    <a:pt x="244" y="233"/>
                  </a:cubicBezTo>
                  <a:cubicBezTo>
                    <a:pt x="244" y="242"/>
                    <a:pt x="241" y="250"/>
                    <a:pt x="234" y="257"/>
                  </a:cubicBezTo>
                  <a:cubicBezTo>
                    <a:pt x="232" y="259"/>
                    <a:pt x="232" y="259"/>
                    <a:pt x="232" y="259"/>
                  </a:cubicBezTo>
                  <a:cubicBezTo>
                    <a:pt x="248" y="276"/>
                    <a:pt x="248" y="276"/>
                    <a:pt x="248" y="276"/>
                  </a:cubicBezTo>
                  <a:cubicBezTo>
                    <a:pt x="251" y="279"/>
                    <a:pt x="255" y="280"/>
                    <a:pt x="259" y="280"/>
                  </a:cubicBezTo>
                  <a:cubicBezTo>
                    <a:pt x="264" y="280"/>
                    <a:pt x="268" y="278"/>
                    <a:pt x="271" y="276"/>
                  </a:cubicBezTo>
                  <a:cubicBezTo>
                    <a:pt x="279" y="268"/>
                    <a:pt x="270" y="252"/>
                    <a:pt x="270" y="252"/>
                  </a:cubicBezTo>
                  <a:cubicBezTo>
                    <a:pt x="242" y="207"/>
                    <a:pt x="242" y="207"/>
                    <a:pt x="242" y="207"/>
                  </a:cubicBezTo>
                  <a:cubicBezTo>
                    <a:pt x="248" y="202"/>
                    <a:pt x="248" y="202"/>
                    <a:pt x="248" y="202"/>
                  </a:cubicBezTo>
                  <a:cubicBezTo>
                    <a:pt x="289" y="245"/>
                    <a:pt x="289" y="245"/>
                    <a:pt x="289" y="245"/>
                  </a:cubicBezTo>
                  <a:cubicBezTo>
                    <a:pt x="291" y="248"/>
                    <a:pt x="295" y="250"/>
                    <a:pt x="300" y="250"/>
                  </a:cubicBezTo>
                  <a:cubicBezTo>
                    <a:pt x="304" y="250"/>
                    <a:pt x="308" y="248"/>
                    <a:pt x="311" y="245"/>
                  </a:cubicBezTo>
                  <a:cubicBezTo>
                    <a:pt x="315" y="241"/>
                    <a:pt x="318" y="235"/>
                    <a:pt x="310" y="222"/>
                  </a:cubicBezTo>
                  <a:cubicBezTo>
                    <a:pt x="310" y="222"/>
                    <a:pt x="310" y="222"/>
                    <a:pt x="310" y="222"/>
                  </a:cubicBezTo>
                  <a:cubicBezTo>
                    <a:pt x="275" y="170"/>
                    <a:pt x="275" y="170"/>
                    <a:pt x="275" y="170"/>
                  </a:cubicBezTo>
                  <a:cubicBezTo>
                    <a:pt x="282" y="164"/>
                    <a:pt x="282" y="164"/>
                    <a:pt x="282" y="164"/>
                  </a:cubicBezTo>
                  <a:cubicBezTo>
                    <a:pt x="329" y="215"/>
                    <a:pt x="329" y="215"/>
                    <a:pt x="329" y="215"/>
                  </a:cubicBezTo>
                  <a:cubicBezTo>
                    <a:pt x="332" y="218"/>
                    <a:pt x="336" y="219"/>
                    <a:pt x="340" y="219"/>
                  </a:cubicBezTo>
                  <a:cubicBezTo>
                    <a:pt x="344" y="219"/>
                    <a:pt x="348" y="218"/>
                    <a:pt x="351" y="215"/>
                  </a:cubicBezTo>
                  <a:cubicBezTo>
                    <a:pt x="357" y="209"/>
                    <a:pt x="357" y="200"/>
                    <a:pt x="351" y="192"/>
                  </a:cubicBezTo>
                  <a:cubicBezTo>
                    <a:pt x="309" y="138"/>
                    <a:pt x="309" y="138"/>
                    <a:pt x="309" y="138"/>
                  </a:cubicBezTo>
                  <a:cubicBezTo>
                    <a:pt x="316" y="133"/>
                    <a:pt x="316" y="133"/>
                    <a:pt x="316" y="133"/>
                  </a:cubicBezTo>
                  <a:cubicBezTo>
                    <a:pt x="316" y="133"/>
                    <a:pt x="319" y="136"/>
                    <a:pt x="322" y="139"/>
                  </a:cubicBezTo>
                  <a:cubicBezTo>
                    <a:pt x="329" y="145"/>
                    <a:pt x="338" y="155"/>
                    <a:pt x="340" y="156"/>
                  </a:cubicBezTo>
                  <a:cubicBezTo>
                    <a:pt x="374" y="190"/>
                    <a:pt x="374" y="190"/>
                    <a:pt x="374" y="190"/>
                  </a:cubicBezTo>
                  <a:cubicBezTo>
                    <a:pt x="377" y="193"/>
                    <a:pt x="381" y="195"/>
                    <a:pt x="385" y="195"/>
                  </a:cubicBezTo>
                  <a:cubicBezTo>
                    <a:pt x="389" y="195"/>
                    <a:pt x="393" y="193"/>
                    <a:pt x="396" y="190"/>
                  </a:cubicBezTo>
                  <a:cubicBezTo>
                    <a:pt x="399" y="187"/>
                    <a:pt x="401" y="183"/>
                    <a:pt x="401" y="179"/>
                  </a:cubicBezTo>
                  <a:cubicBezTo>
                    <a:pt x="401" y="175"/>
                    <a:pt x="399" y="171"/>
                    <a:pt x="396" y="168"/>
                  </a:cubicBezTo>
                  <a:cubicBezTo>
                    <a:pt x="357" y="128"/>
                    <a:pt x="357" y="128"/>
                    <a:pt x="357" y="128"/>
                  </a:cubicBezTo>
                  <a:cubicBezTo>
                    <a:pt x="266" y="38"/>
                    <a:pt x="266" y="38"/>
                    <a:pt x="266" y="38"/>
                  </a:cubicBezTo>
                  <a:cubicBezTo>
                    <a:pt x="217" y="39"/>
                    <a:pt x="217" y="39"/>
                    <a:pt x="217" y="39"/>
                  </a:cubicBezTo>
                  <a:cubicBezTo>
                    <a:pt x="209" y="42"/>
                    <a:pt x="209" y="42"/>
                    <a:pt x="209" y="42"/>
                  </a:cubicBezTo>
                  <a:cubicBezTo>
                    <a:pt x="166" y="69"/>
                    <a:pt x="166" y="69"/>
                    <a:pt x="166" y="69"/>
                  </a:cubicBezTo>
                  <a:cubicBezTo>
                    <a:pt x="153" y="75"/>
                    <a:pt x="153" y="75"/>
                    <a:pt x="153" y="75"/>
                  </a:cubicBezTo>
                  <a:cubicBezTo>
                    <a:pt x="119" y="67"/>
                    <a:pt x="119" y="67"/>
                    <a:pt x="119" y="67"/>
                  </a:cubicBezTo>
                  <a:cubicBezTo>
                    <a:pt x="103" y="51"/>
                    <a:pt x="103" y="51"/>
                    <a:pt x="103" y="51"/>
                  </a:cubicBezTo>
                  <a:cubicBezTo>
                    <a:pt x="130" y="8"/>
                    <a:pt x="130" y="8"/>
                    <a:pt x="130" y="8"/>
                  </a:cubicBezTo>
                  <a:cubicBezTo>
                    <a:pt x="37" y="5"/>
                    <a:pt x="37" y="5"/>
                    <a:pt x="37" y="5"/>
                  </a:cubicBezTo>
                  <a:cubicBezTo>
                    <a:pt x="37" y="0"/>
                    <a:pt x="37" y="0"/>
                    <a:pt x="37" y="0"/>
                  </a:cubicBezTo>
                  <a:cubicBezTo>
                    <a:pt x="37" y="0"/>
                    <a:pt x="37" y="0"/>
                    <a:pt x="37" y="0"/>
                  </a:cubicBezTo>
                  <a:cubicBezTo>
                    <a:pt x="0" y="149"/>
                    <a:pt x="0" y="149"/>
                    <a:pt x="0" y="149"/>
                  </a:cubicBezTo>
                  <a:cubicBezTo>
                    <a:pt x="0" y="149"/>
                    <a:pt x="0" y="149"/>
                    <a:pt x="0" y="149"/>
                  </a:cubicBezTo>
                  <a:cubicBezTo>
                    <a:pt x="2" y="145"/>
                    <a:pt x="2" y="145"/>
                    <a:pt x="2" y="145"/>
                  </a:cubicBezTo>
                  <a:lnTo>
                    <a:pt x="31" y="157"/>
                  </a:lnTo>
                  <a:close/>
                </a:path>
              </a:pathLst>
            </a:custGeom>
            <a:solidFill>
              <a:srgbClr val="7891AA"/>
            </a:solidFill>
            <a:ln>
              <a:noFill/>
            </a:ln>
          </p:spPr>
          <p:txBody>
            <a:bodyPr anchorCtr="0" anchor="t" bIns="35000" lIns="70025" spcFirstLastPara="1" rIns="70025" wrap="square" tIns="35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55"/>
                <a:buFont typeface="Calibri"/>
                <a:buNone/>
              </a:pPr>
              <a:r>
                <a:t/>
              </a:r>
              <a:endParaRPr b="0" i="0" sz="1455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30" name="Google Shape;230;p4"/>
            <p:cNvSpPr/>
            <p:nvPr/>
          </p:nvSpPr>
          <p:spPr>
            <a:xfrm>
              <a:off x="5110163" y="1574483"/>
              <a:ext cx="471488" cy="377825"/>
            </a:xfrm>
            <a:custGeom>
              <a:rect b="b" l="l" r="r" t="t"/>
              <a:pathLst>
                <a:path extrusionOk="0" h="168" w="209">
                  <a:moveTo>
                    <a:pt x="209" y="113"/>
                  </a:moveTo>
                  <a:cubicBezTo>
                    <a:pt x="209" y="106"/>
                    <a:pt x="206" y="100"/>
                    <a:pt x="201" y="95"/>
                  </a:cubicBezTo>
                  <a:cubicBezTo>
                    <a:pt x="197" y="90"/>
                    <a:pt x="190" y="87"/>
                    <a:pt x="184" y="87"/>
                  </a:cubicBezTo>
                  <a:cubicBezTo>
                    <a:pt x="178" y="87"/>
                    <a:pt x="173" y="89"/>
                    <a:pt x="168" y="92"/>
                  </a:cubicBezTo>
                  <a:cubicBezTo>
                    <a:pt x="169" y="90"/>
                    <a:pt x="169" y="88"/>
                    <a:pt x="169" y="86"/>
                  </a:cubicBezTo>
                  <a:cubicBezTo>
                    <a:pt x="169" y="79"/>
                    <a:pt x="166" y="73"/>
                    <a:pt x="162" y="68"/>
                  </a:cubicBezTo>
                  <a:cubicBezTo>
                    <a:pt x="157" y="63"/>
                    <a:pt x="150" y="60"/>
                    <a:pt x="143" y="60"/>
                  </a:cubicBezTo>
                  <a:cubicBezTo>
                    <a:pt x="139" y="60"/>
                    <a:pt x="136" y="61"/>
                    <a:pt x="132" y="63"/>
                  </a:cubicBezTo>
                  <a:cubicBezTo>
                    <a:pt x="133" y="61"/>
                    <a:pt x="133" y="59"/>
                    <a:pt x="133" y="57"/>
                  </a:cubicBezTo>
                  <a:cubicBezTo>
                    <a:pt x="133" y="50"/>
                    <a:pt x="130" y="43"/>
                    <a:pt x="125" y="37"/>
                  </a:cubicBezTo>
                  <a:cubicBezTo>
                    <a:pt x="119" y="32"/>
                    <a:pt x="112" y="29"/>
                    <a:pt x="105" y="29"/>
                  </a:cubicBezTo>
                  <a:cubicBezTo>
                    <a:pt x="100" y="29"/>
                    <a:pt x="96" y="30"/>
                    <a:pt x="92" y="32"/>
                  </a:cubicBezTo>
                  <a:cubicBezTo>
                    <a:pt x="92" y="31"/>
                    <a:pt x="93" y="29"/>
                    <a:pt x="93" y="28"/>
                  </a:cubicBezTo>
                  <a:cubicBezTo>
                    <a:pt x="93" y="21"/>
                    <a:pt x="90" y="14"/>
                    <a:pt x="84" y="8"/>
                  </a:cubicBezTo>
                  <a:cubicBezTo>
                    <a:pt x="79" y="3"/>
                    <a:pt x="72" y="0"/>
                    <a:pt x="64" y="0"/>
                  </a:cubicBezTo>
                  <a:cubicBezTo>
                    <a:pt x="57" y="0"/>
                    <a:pt x="50" y="3"/>
                    <a:pt x="44" y="8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10" y="43"/>
                    <a:pt x="9" y="43"/>
                    <a:pt x="9" y="44"/>
                  </a:cubicBezTo>
                  <a:cubicBezTo>
                    <a:pt x="4" y="51"/>
                    <a:pt x="4" y="51"/>
                    <a:pt x="4" y="51"/>
                  </a:cubicBezTo>
                  <a:cubicBezTo>
                    <a:pt x="0" y="61"/>
                    <a:pt x="2" y="74"/>
                    <a:pt x="10" y="82"/>
                  </a:cubicBezTo>
                  <a:cubicBezTo>
                    <a:pt x="16" y="88"/>
                    <a:pt x="23" y="91"/>
                    <a:pt x="30" y="91"/>
                  </a:cubicBezTo>
                  <a:cubicBezTo>
                    <a:pt x="34" y="91"/>
                    <a:pt x="39" y="90"/>
                    <a:pt x="42" y="88"/>
                  </a:cubicBezTo>
                  <a:cubicBezTo>
                    <a:pt x="41" y="96"/>
                    <a:pt x="44" y="105"/>
                    <a:pt x="50" y="111"/>
                  </a:cubicBezTo>
                  <a:cubicBezTo>
                    <a:pt x="56" y="117"/>
                    <a:pt x="63" y="120"/>
                    <a:pt x="70" y="120"/>
                  </a:cubicBezTo>
                  <a:cubicBezTo>
                    <a:pt x="76" y="120"/>
                    <a:pt x="82" y="118"/>
                    <a:pt x="87" y="114"/>
                  </a:cubicBezTo>
                  <a:cubicBezTo>
                    <a:pt x="86" y="122"/>
                    <a:pt x="88" y="130"/>
                    <a:pt x="94" y="135"/>
                  </a:cubicBezTo>
                  <a:cubicBezTo>
                    <a:pt x="99" y="140"/>
                    <a:pt x="105" y="143"/>
                    <a:pt x="112" y="143"/>
                  </a:cubicBezTo>
                  <a:cubicBezTo>
                    <a:pt x="118" y="143"/>
                    <a:pt x="124" y="141"/>
                    <a:pt x="129" y="137"/>
                  </a:cubicBezTo>
                  <a:cubicBezTo>
                    <a:pt x="128" y="139"/>
                    <a:pt x="128" y="141"/>
                    <a:pt x="128" y="143"/>
                  </a:cubicBezTo>
                  <a:cubicBezTo>
                    <a:pt x="128" y="150"/>
                    <a:pt x="131" y="156"/>
                    <a:pt x="135" y="161"/>
                  </a:cubicBezTo>
                  <a:cubicBezTo>
                    <a:pt x="140" y="166"/>
                    <a:pt x="147" y="168"/>
                    <a:pt x="153" y="168"/>
                  </a:cubicBezTo>
                  <a:cubicBezTo>
                    <a:pt x="160" y="168"/>
                    <a:pt x="167" y="166"/>
                    <a:pt x="171" y="161"/>
                  </a:cubicBezTo>
                  <a:cubicBezTo>
                    <a:pt x="190" y="142"/>
                    <a:pt x="190" y="142"/>
                    <a:pt x="190" y="142"/>
                  </a:cubicBezTo>
                  <a:cubicBezTo>
                    <a:pt x="196" y="137"/>
                    <a:pt x="196" y="137"/>
                    <a:pt x="196" y="137"/>
                  </a:cubicBezTo>
                  <a:cubicBezTo>
                    <a:pt x="201" y="131"/>
                    <a:pt x="201" y="131"/>
                    <a:pt x="201" y="131"/>
                  </a:cubicBezTo>
                  <a:cubicBezTo>
                    <a:pt x="206" y="126"/>
                    <a:pt x="209" y="120"/>
                    <a:pt x="209" y="113"/>
                  </a:cubicBezTo>
                  <a:close/>
                </a:path>
              </a:pathLst>
            </a:custGeom>
            <a:solidFill>
              <a:srgbClr val="858585"/>
            </a:solidFill>
            <a:ln>
              <a:noFill/>
            </a:ln>
          </p:spPr>
          <p:txBody>
            <a:bodyPr anchorCtr="0" anchor="t" bIns="35000" lIns="70025" spcFirstLastPara="1" rIns="70025" wrap="square" tIns="35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55"/>
                <a:buFont typeface="Calibri"/>
                <a:buNone/>
              </a:pPr>
              <a:r>
                <a:t/>
              </a:r>
              <a:endParaRPr b="0" i="0" sz="1455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sp>
        <p:nvSpPr>
          <p:cNvPr id="231" name="Google Shape;231;p4"/>
          <p:cNvSpPr/>
          <p:nvPr/>
        </p:nvSpPr>
        <p:spPr>
          <a:xfrm>
            <a:off x="6721601" y="4834482"/>
            <a:ext cx="1627667" cy="176868"/>
          </a:xfrm>
          <a:prstGeom prst="rect">
            <a:avLst/>
          </a:prstGeom>
          <a:solidFill>
            <a:srgbClr val="D6D6D6"/>
          </a:solidFill>
          <a:ln cap="flat" cmpd="sng" w="9525">
            <a:solidFill>
              <a:srgbClr val="B4B4B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C5C5C"/>
              </a:buClr>
              <a:buSzPts val="800"/>
              <a:buFont typeface="Open Sans"/>
              <a:buNone/>
            </a:pPr>
            <a:r>
              <a:rPr b="1" i="0" lang="es-ES" sz="800" u="none" cap="none" strike="noStrike">
                <a:solidFill>
                  <a:srgbClr val="5C5C5C"/>
                </a:solidFill>
                <a:latin typeface="Open Sans"/>
                <a:ea typeface="Open Sans"/>
                <a:cs typeface="Open Sans"/>
                <a:sym typeface="Open Sans"/>
              </a:rPr>
              <a:t>COMERCIAL</a:t>
            </a:r>
            <a:endParaRPr/>
          </a:p>
        </p:txBody>
      </p:sp>
      <p:sp>
        <p:nvSpPr>
          <p:cNvPr id="232" name="Google Shape;232;p4"/>
          <p:cNvSpPr/>
          <p:nvPr/>
        </p:nvSpPr>
        <p:spPr>
          <a:xfrm>
            <a:off x="6721601" y="5449098"/>
            <a:ext cx="1627667" cy="176868"/>
          </a:xfrm>
          <a:prstGeom prst="rect">
            <a:avLst/>
          </a:prstGeom>
          <a:solidFill>
            <a:srgbClr val="D6D6D6"/>
          </a:solidFill>
          <a:ln cap="flat" cmpd="sng" w="9525">
            <a:solidFill>
              <a:srgbClr val="B4B4B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C5C5C"/>
              </a:buClr>
              <a:buSzPts val="800"/>
              <a:buFont typeface="Open Sans"/>
              <a:buNone/>
            </a:pPr>
            <a:r>
              <a:rPr b="1" i="0" lang="es-ES" sz="800" u="none" cap="none" strike="noStrike">
                <a:solidFill>
                  <a:srgbClr val="5C5C5C"/>
                </a:solidFill>
                <a:latin typeface="Open Sans"/>
                <a:ea typeface="Open Sans"/>
                <a:cs typeface="Open Sans"/>
                <a:sym typeface="Open Sans"/>
              </a:rPr>
              <a:t>RH</a:t>
            </a:r>
            <a:endParaRPr/>
          </a:p>
        </p:txBody>
      </p:sp>
      <p:sp>
        <p:nvSpPr>
          <p:cNvPr id="233" name="Google Shape;233;p4"/>
          <p:cNvSpPr/>
          <p:nvPr/>
        </p:nvSpPr>
        <p:spPr>
          <a:xfrm>
            <a:off x="6721601" y="5653971"/>
            <a:ext cx="1627667" cy="176868"/>
          </a:xfrm>
          <a:prstGeom prst="rect">
            <a:avLst/>
          </a:prstGeom>
          <a:solidFill>
            <a:srgbClr val="D6D6D6"/>
          </a:solidFill>
          <a:ln cap="flat" cmpd="sng" w="9525">
            <a:solidFill>
              <a:srgbClr val="B4B4B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C5C5C"/>
              </a:buClr>
              <a:buSzPts val="800"/>
              <a:buFont typeface="Open Sans"/>
              <a:buNone/>
            </a:pPr>
            <a:r>
              <a:rPr b="1" i="0" lang="es-ES" sz="800" u="none" cap="none" strike="noStrike">
                <a:solidFill>
                  <a:srgbClr val="5C5C5C"/>
                </a:solidFill>
                <a:latin typeface="Open Sans"/>
                <a:ea typeface="Open Sans"/>
                <a:cs typeface="Open Sans"/>
                <a:sym typeface="Open Sans"/>
              </a:rPr>
              <a:t>TI</a:t>
            </a:r>
            <a:endParaRPr/>
          </a:p>
        </p:txBody>
      </p:sp>
      <p:sp>
        <p:nvSpPr>
          <p:cNvPr id="234" name="Google Shape;234;p4"/>
          <p:cNvSpPr/>
          <p:nvPr/>
        </p:nvSpPr>
        <p:spPr>
          <a:xfrm>
            <a:off x="6721601" y="5039354"/>
            <a:ext cx="1627667" cy="176868"/>
          </a:xfrm>
          <a:prstGeom prst="rect">
            <a:avLst/>
          </a:prstGeom>
          <a:solidFill>
            <a:srgbClr val="D6D6D6"/>
          </a:solidFill>
          <a:ln cap="flat" cmpd="sng" w="9525">
            <a:solidFill>
              <a:srgbClr val="B4B4B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C5C5C"/>
              </a:buClr>
              <a:buSzPts val="800"/>
              <a:buFont typeface="Open Sans"/>
              <a:buNone/>
            </a:pPr>
            <a:r>
              <a:rPr b="1" i="0" lang="es-ES" sz="800" u="none" cap="none" strike="noStrike">
                <a:solidFill>
                  <a:srgbClr val="5C5C5C"/>
                </a:solidFill>
                <a:latin typeface="Open Sans"/>
                <a:ea typeface="Open Sans"/>
                <a:cs typeface="Open Sans"/>
                <a:sym typeface="Open Sans"/>
              </a:rPr>
              <a:t>FUNCIONES CORE</a:t>
            </a:r>
            <a:endParaRPr/>
          </a:p>
        </p:txBody>
      </p:sp>
      <p:sp>
        <p:nvSpPr>
          <p:cNvPr id="235" name="Google Shape;235;p4"/>
          <p:cNvSpPr/>
          <p:nvPr/>
        </p:nvSpPr>
        <p:spPr>
          <a:xfrm>
            <a:off x="6721601" y="5244226"/>
            <a:ext cx="1627667" cy="176868"/>
          </a:xfrm>
          <a:prstGeom prst="rect">
            <a:avLst/>
          </a:prstGeom>
          <a:solidFill>
            <a:srgbClr val="D6D6D6"/>
          </a:solidFill>
          <a:ln cap="flat" cmpd="sng" w="9525">
            <a:solidFill>
              <a:srgbClr val="B4B4B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C5C5C"/>
              </a:buClr>
              <a:buSzPts val="800"/>
              <a:buFont typeface="Open Sans"/>
              <a:buNone/>
            </a:pPr>
            <a:r>
              <a:rPr b="1" i="0" lang="es-ES" sz="800" u="none" cap="none" strike="noStrike">
                <a:solidFill>
                  <a:srgbClr val="5C5C5C"/>
                </a:solidFill>
                <a:latin typeface="Open Sans"/>
                <a:ea typeface="Open Sans"/>
                <a:cs typeface="Open Sans"/>
                <a:sym typeface="Open Sans"/>
              </a:rPr>
              <a:t>FINANZAS</a:t>
            </a:r>
            <a:endParaRPr/>
          </a:p>
        </p:txBody>
      </p:sp>
      <p:sp>
        <p:nvSpPr>
          <p:cNvPr id="236" name="Google Shape;236;p4"/>
          <p:cNvSpPr/>
          <p:nvPr/>
        </p:nvSpPr>
        <p:spPr>
          <a:xfrm>
            <a:off x="330200" y="1729084"/>
            <a:ext cx="11531600" cy="1550529"/>
          </a:xfrm>
          <a:prstGeom prst="rect">
            <a:avLst/>
          </a:prstGeom>
          <a:noFill/>
          <a:ln cap="flat" cmpd="sng" w="19050">
            <a:solidFill>
              <a:srgbClr val="FF7F32">
                <a:alpha val="2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37" name="Google Shape;237;p4"/>
          <p:cNvSpPr/>
          <p:nvPr/>
        </p:nvSpPr>
        <p:spPr>
          <a:xfrm>
            <a:off x="476602" y="1484557"/>
            <a:ext cx="3090397" cy="231318"/>
          </a:xfrm>
          <a:prstGeom prst="rect">
            <a:avLst/>
          </a:prstGeom>
          <a:solidFill>
            <a:srgbClr val="FF7F32"/>
          </a:solidFill>
          <a:ln>
            <a:noFill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Open Sans"/>
              <a:buNone/>
            </a:pPr>
            <a:r>
              <a:rPr b="1" i="0" lang="es-ES" sz="16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Principios de diseño</a:t>
            </a:r>
            <a:endParaRPr b="1" i="0" sz="1600" u="none" cap="none" strike="noStrike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38" name="Google Shape;238;p4"/>
          <p:cNvSpPr/>
          <p:nvPr/>
        </p:nvSpPr>
        <p:spPr>
          <a:xfrm>
            <a:off x="590550" y="1990853"/>
            <a:ext cx="2489200" cy="1108497"/>
          </a:xfrm>
          <a:prstGeom prst="rect">
            <a:avLst/>
          </a:prstGeom>
          <a:solidFill>
            <a:srgbClr val="FFBBBD">
              <a:alpha val="25098"/>
            </a:srgbClr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7F32"/>
              </a:buClr>
              <a:buSzPts val="1400"/>
              <a:buFont typeface="Open Sans"/>
              <a:buNone/>
            </a:pPr>
            <a:r>
              <a:rPr b="1" i="0" lang="es-ES" sz="1400" u="none" cap="none" strike="noStrike">
                <a:solidFill>
                  <a:srgbClr val="FF7F32"/>
                </a:solidFill>
                <a:latin typeface="Open Sans"/>
                <a:ea typeface="Open Sans"/>
                <a:cs typeface="Open Sans"/>
                <a:sym typeface="Open Sans"/>
              </a:rPr>
              <a:t>Organizarnos para escalar nuestro </a:t>
            </a:r>
            <a:r>
              <a:rPr b="1" i="1" lang="es-ES" sz="1400" u="none" cap="none" strike="noStrike">
                <a:solidFill>
                  <a:srgbClr val="FF7F32"/>
                </a:solidFill>
                <a:latin typeface="Open Sans"/>
                <a:ea typeface="Open Sans"/>
                <a:cs typeface="Open Sans"/>
                <a:sym typeface="Open Sans"/>
              </a:rPr>
              <a:t>core</a:t>
            </a:r>
            <a:r>
              <a:rPr b="1" i="0" lang="es-ES" sz="1400" u="none" cap="none" strike="noStrike">
                <a:solidFill>
                  <a:srgbClr val="FF7F32"/>
                </a:solidFill>
                <a:latin typeface="Open Sans"/>
                <a:ea typeface="Open Sans"/>
                <a:cs typeface="Open Sans"/>
                <a:sym typeface="Open Sans"/>
              </a:rPr>
              <a:t> y crear el futuro</a:t>
            </a:r>
            <a:endParaRPr/>
          </a:p>
        </p:txBody>
      </p:sp>
      <p:sp>
        <p:nvSpPr>
          <p:cNvPr id="239" name="Google Shape;239;p4"/>
          <p:cNvSpPr/>
          <p:nvPr/>
        </p:nvSpPr>
        <p:spPr>
          <a:xfrm>
            <a:off x="3431116" y="1992917"/>
            <a:ext cx="2489200" cy="1108497"/>
          </a:xfrm>
          <a:prstGeom prst="rect">
            <a:avLst/>
          </a:prstGeom>
          <a:solidFill>
            <a:srgbClr val="FFBBBD">
              <a:alpha val="25098"/>
            </a:srgbClr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7F32"/>
              </a:buClr>
              <a:buSzPts val="1400"/>
              <a:buFont typeface="Open Sans"/>
              <a:buNone/>
            </a:pPr>
            <a:r>
              <a:rPr b="1" i="0" lang="es-ES" sz="1400" u="none" cap="none" strike="noStrike">
                <a:solidFill>
                  <a:srgbClr val="FF7F32"/>
                </a:solidFill>
                <a:latin typeface="Open Sans"/>
                <a:ea typeface="Open Sans"/>
                <a:cs typeface="Open Sans"/>
                <a:sym typeface="Open Sans"/>
              </a:rPr>
              <a:t>Liderar centralmente y empoderar la ejecución local</a:t>
            </a:r>
            <a:endParaRPr/>
          </a:p>
        </p:txBody>
      </p:sp>
      <p:sp>
        <p:nvSpPr>
          <p:cNvPr id="240" name="Google Shape;240;p4"/>
          <p:cNvSpPr/>
          <p:nvPr/>
        </p:nvSpPr>
        <p:spPr>
          <a:xfrm>
            <a:off x="6271682" y="1992917"/>
            <a:ext cx="2489200" cy="1108497"/>
          </a:xfrm>
          <a:prstGeom prst="rect">
            <a:avLst/>
          </a:prstGeom>
          <a:solidFill>
            <a:srgbClr val="FFBBBD">
              <a:alpha val="25098"/>
            </a:srgbClr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7F32"/>
              </a:buClr>
              <a:buSzPts val="1400"/>
              <a:buFont typeface="Open Sans"/>
              <a:buNone/>
            </a:pPr>
            <a:r>
              <a:rPr b="1" i="0" lang="es-ES" sz="1400" u="none" cap="none" strike="noStrike">
                <a:solidFill>
                  <a:srgbClr val="FF7F32"/>
                </a:solidFill>
                <a:latin typeface="Open Sans"/>
                <a:ea typeface="Open Sans"/>
                <a:cs typeface="Open Sans"/>
                <a:sym typeface="Open Sans"/>
              </a:rPr>
              <a:t>Operar con excelencia y orientado al cliente</a:t>
            </a:r>
            <a:endParaRPr/>
          </a:p>
        </p:txBody>
      </p:sp>
      <p:sp>
        <p:nvSpPr>
          <p:cNvPr id="241" name="Google Shape;241;p4"/>
          <p:cNvSpPr/>
          <p:nvPr/>
        </p:nvSpPr>
        <p:spPr>
          <a:xfrm>
            <a:off x="9112250" y="1992917"/>
            <a:ext cx="2489200" cy="1108497"/>
          </a:xfrm>
          <a:prstGeom prst="rect">
            <a:avLst/>
          </a:prstGeom>
          <a:solidFill>
            <a:srgbClr val="FFBBBD">
              <a:alpha val="25098"/>
            </a:srgbClr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7F32"/>
              </a:buClr>
              <a:buSzPts val="1400"/>
              <a:buFont typeface="Open Sans"/>
              <a:buNone/>
            </a:pPr>
            <a:r>
              <a:rPr b="1" i="0" lang="es-ES" sz="1400" u="none" cap="none" strike="noStrike">
                <a:solidFill>
                  <a:srgbClr val="FF7F32"/>
                </a:solidFill>
                <a:latin typeface="Open Sans"/>
                <a:ea typeface="Open Sans"/>
                <a:cs typeface="Open Sans"/>
                <a:sym typeface="Open Sans"/>
              </a:rPr>
              <a:t>Simplificar para un crecimiento rentable</a:t>
            </a:r>
            <a:endParaRPr/>
          </a:p>
        </p:txBody>
      </p:sp>
      <p:sp>
        <p:nvSpPr>
          <p:cNvPr id="242" name="Google Shape;242;p4"/>
          <p:cNvSpPr/>
          <p:nvPr/>
        </p:nvSpPr>
        <p:spPr>
          <a:xfrm>
            <a:off x="3293112" y="1881509"/>
            <a:ext cx="276008" cy="276008"/>
          </a:xfrm>
          <a:prstGeom prst="ellipse">
            <a:avLst/>
          </a:prstGeom>
          <a:solidFill>
            <a:srgbClr val="FF7F32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pen Sans"/>
              <a:buNone/>
            </a:pPr>
            <a:r>
              <a:rPr b="1" i="0" lang="es-ES" sz="12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2</a:t>
            </a:r>
            <a:endParaRPr/>
          </a:p>
        </p:txBody>
      </p:sp>
      <p:sp>
        <p:nvSpPr>
          <p:cNvPr id="243" name="Google Shape;243;p4"/>
          <p:cNvSpPr/>
          <p:nvPr/>
        </p:nvSpPr>
        <p:spPr>
          <a:xfrm>
            <a:off x="8974246" y="1881509"/>
            <a:ext cx="276008" cy="276008"/>
          </a:xfrm>
          <a:prstGeom prst="ellipse">
            <a:avLst/>
          </a:prstGeom>
          <a:solidFill>
            <a:srgbClr val="FF7F32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pen Sans"/>
              <a:buNone/>
            </a:pPr>
            <a:r>
              <a:rPr b="1" i="0" lang="es-ES" sz="12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4</a:t>
            </a:r>
            <a:endParaRPr/>
          </a:p>
        </p:txBody>
      </p:sp>
      <p:sp>
        <p:nvSpPr>
          <p:cNvPr id="244" name="Google Shape;244;p4"/>
          <p:cNvSpPr/>
          <p:nvPr/>
        </p:nvSpPr>
        <p:spPr>
          <a:xfrm>
            <a:off x="6133678" y="1881509"/>
            <a:ext cx="276008" cy="276008"/>
          </a:xfrm>
          <a:prstGeom prst="ellipse">
            <a:avLst/>
          </a:prstGeom>
          <a:solidFill>
            <a:srgbClr val="FF7F32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pen Sans"/>
              <a:buNone/>
            </a:pPr>
            <a:r>
              <a:rPr b="1" i="0" lang="es-ES" sz="12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3</a:t>
            </a:r>
            <a:endParaRPr/>
          </a:p>
        </p:txBody>
      </p:sp>
      <p:sp>
        <p:nvSpPr>
          <p:cNvPr id="245" name="Google Shape;245;p4"/>
          <p:cNvSpPr/>
          <p:nvPr/>
        </p:nvSpPr>
        <p:spPr>
          <a:xfrm>
            <a:off x="452546" y="1881509"/>
            <a:ext cx="276008" cy="276008"/>
          </a:xfrm>
          <a:prstGeom prst="ellipse">
            <a:avLst/>
          </a:prstGeom>
          <a:solidFill>
            <a:srgbClr val="FF7F32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pen Sans"/>
              <a:buNone/>
            </a:pPr>
            <a:r>
              <a:rPr b="1" i="0" lang="es-ES" sz="12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1</a:t>
            </a:r>
            <a:endParaRPr/>
          </a:p>
        </p:txBody>
      </p:sp>
      <p:sp>
        <p:nvSpPr>
          <p:cNvPr id="246" name="Google Shape;246;p4"/>
          <p:cNvSpPr/>
          <p:nvPr/>
        </p:nvSpPr>
        <p:spPr>
          <a:xfrm rot="5400000">
            <a:off x="5969873" y="2930480"/>
            <a:ext cx="252255" cy="972980"/>
          </a:xfrm>
          <a:custGeom>
            <a:rect b="b" l="l" r="r" t="t"/>
            <a:pathLst>
              <a:path extrusionOk="0" h="972980" w="252255">
                <a:moveTo>
                  <a:pt x="38100" y="0"/>
                </a:moveTo>
                <a:lnTo>
                  <a:pt x="252254" y="486489"/>
                </a:lnTo>
                <a:lnTo>
                  <a:pt x="38100" y="972979"/>
                </a:lnTo>
                <a:lnTo>
                  <a:pt x="0" y="972979"/>
                </a:lnTo>
                <a:lnTo>
                  <a:pt x="214154" y="486489"/>
                </a:lnTo>
                <a:lnTo>
                  <a:pt x="0" y="0"/>
                </a:lnTo>
              </a:path>
            </a:pathLst>
          </a:custGeom>
          <a:solidFill>
            <a:srgbClr val="D6D6D6"/>
          </a:solidFill>
          <a:ln cap="flat" cmpd="sng" w="9525">
            <a:solidFill>
              <a:srgbClr val="D6D6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76200" lvl="0" marL="177800" marR="0" rtl="0" algn="ctr">
              <a:lnSpc>
                <a:spcPct val="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47" name="Google Shape;247;p4"/>
          <p:cNvSpPr/>
          <p:nvPr/>
        </p:nvSpPr>
        <p:spPr>
          <a:xfrm>
            <a:off x="333729" y="6102591"/>
            <a:ext cx="11528071" cy="380157"/>
          </a:xfrm>
          <a:prstGeom prst="rect">
            <a:avLst/>
          </a:prstGeom>
          <a:solidFill>
            <a:srgbClr val="DCE2D6"/>
          </a:solidFill>
          <a:ln>
            <a:noFill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07867"/>
              </a:buClr>
              <a:buSzPts val="1600"/>
              <a:buFont typeface="Open Sans"/>
              <a:buNone/>
            </a:pPr>
            <a:r>
              <a:rPr b="1" i="0" lang="es-ES" sz="1600" u="none" cap="none" strike="noStrike">
                <a:solidFill>
                  <a:srgbClr val="507867"/>
                </a:solidFill>
                <a:latin typeface="Open Sans"/>
                <a:ea typeface="Open Sans"/>
                <a:cs typeface="Open Sans"/>
                <a:sym typeface="Open Sans"/>
              </a:rPr>
              <a:t>GESTIÓN DEL CAMBIO</a:t>
            </a:r>
            <a:endParaRPr/>
          </a:p>
        </p:txBody>
      </p:sp>
      <p:sp>
        <p:nvSpPr>
          <p:cNvPr id="248" name="Google Shape;248;p4"/>
          <p:cNvSpPr/>
          <p:nvPr/>
        </p:nvSpPr>
        <p:spPr>
          <a:xfrm>
            <a:off x="9519383" y="4946755"/>
            <a:ext cx="1810917" cy="176868"/>
          </a:xfrm>
          <a:prstGeom prst="rect">
            <a:avLst/>
          </a:prstGeom>
          <a:solidFill>
            <a:srgbClr val="D6D6D6"/>
          </a:solidFill>
          <a:ln cap="flat" cmpd="sng" w="9525">
            <a:solidFill>
              <a:srgbClr val="B4B4B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C5C5C"/>
              </a:buClr>
              <a:buSzPts val="700"/>
              <a:buFont typeface="Open Sans"/>
              <a:buNone/>
            </a:pPr>
            <a:r>
              <a:rPr b="1" i="0" lang="es-ES" sz="700" u="none" cap="none" strike="noStrike">
                <a:solidFill>
                  <a:srgbClr val="5C5C5C"/>
                </a:solidFill>
                <a:latin typeface="Open Sans"/>
                <a:ea typeface="Open Sans"/>
                <a:cs typeface="Open Sans"/>
                <a:sym typeface="Open Sans"/>
              </a:rPr>
              <a:t>FOROS /CONECIONES</a:t>
            </a:r>
            <a:endParaRPr/>
          </a:p>
        </p:txBody>
      </p:sp>
      <p:sp>
        <p:nvSpPr>
          <p:cNvPr id="249" name="Google Shape;249;p4"/>
          <p:cNvSpPr/>
          <p:nvPr/>
        </p:nvSpPr>
        <p:spPr>
          <a:xfrm>
            <a:off x="9519383" y="5154728"/>
            <a:ext cx="1810917" cy="176868"/>
          </a:xfrm>
          <a:prstGeom prst="rect">
            <a:avLst/>
          </a:prstGeom>
          <a:solidFill>
            <a:srgbClr val="D6D6D6"/>
          </a:solidFill>
          <a:ln cap="flat" cmpd="sng" w="9525">
            <a:solidFill>
              <a:srgbClr val="B4B4B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C5C5C"/>
              </a:buClr>
              <a:buSzPts val="800"/>
              <a:buFont typeface="Open Sans"/>
              <a:buNone/>
            </a:pPr>
            <a:r>
              <a:rPr b="1" i="0" lang="es-ES" sz="800" u="none" cap="none" strike="noStrike">
                <a:solidFill>
                  <a:srgbClr val="5C5C5C"/>
                </a:solidFill>
                <a:latin typeface="Open Sans"/>
                <a:ea typeface="Open Sans"/>
                <a:cs typeface="Open Sans"/>
                <a:sym typeface="Open Sans"/>
              </a:rPr>
              <a:t>DECISIONES CLAVE</a:t>
            </a:r>
            <a:endParaRPr/>
          </a:p>
        </p:txBody>
      </p:sp>
      <p:sp>
        <p:nvSpPr>
          <p:cNvPr id="250" name="Google Shape;250;p4"/>
          <p:cNvSpPr/>
          <p:nvPr/>
        </p:nvSpPr>
        <p:spPr>
          <a:xfrm>
            <a:off x="9519383" y="5362701"/>
            <a:ext cx="1810917" cy="176868"/>
          </a:xfrm>
          <a:prstGeom prst="rect">
            <a:avLst/>
          </a:prstGeom>
          <a:solidFill>
            <a:srgbClr val="D6D6D6"/>
          </a:solidFill>
          <a:ln cap="flat" cmpd="sng" w="9525">
            <a:solidFill>
              <a:srgbClr val="B4B4B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C5C5C"/>
              </a:buClr>
              <a:buSzPts val="700"/>
              <a:buFont typeface="Open Sans"/>
              <a:buNone/>
            </a:pPr>
            <a:r>
              <a:rPr b="1" i="0" lang="es-ES" sz="700" u="none" cap="none" strike="noStrike">
                <a:solidFill>
                  <a:srgbClr val="5C5C5C"/>
                </a:solidFill>
                <a:latin typeface="Open Sans"/>
                <a:ea typeface="Open Sans"/>
                <a:cs typeface="Open Sans"/>
                <a:sym typeface="Open Sans"/>
              </a:rPr>
              <a:t>RESPONSABILIDADES</a:t>
            </a:r>
            <a:endParaRPr/>
          </a:p>
        </p:txBody>
      </p:sp>
      <p:sp>
        <p:nvSpPr>
          <p:cNvPr id="251" name="Google Shape;251;p4"/>
          <p:cNvSpPr/>
          <p:nvPr/>
        </p:nvSpPr>
        <p:spPr>
          <a:xfrm>
            <a:off x="9519383" y="5570673"/>
            <a:ext cx="1810917" cy="176868"/>
          </a:xfrm>
          <a:prstGeom prst="rect">
            <a:avLst/>
          </a:prstGeom>
          <a:solidFill>
            <a:srgbClr val="D6D6D6"/>
          </a:solidFill>
          <a:ln cap="flat" cmpd="sng" w="9525">
            <a:solidFill>
              <a:srgbClr val="B4B4B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C5C5C"/>
              </a:buClr>
              <a:buSzPts val="800"/>
              <a:buFont typeface="Open Sans"/>
              <a:buNone/>
            </a:pPr>
            <a:r>
              <a:rPr b="1" i="0" lang="es-ES" sz="800" u="none" cap="none" strike="noStrike">
                <a:solidFill>
                  <a:srgbClr val="5C5C5C"/>
                </a:solidFill>
                <a:latin typeface="Open Sans"/>
                <a:ea typeface="Open Sans"/>
                <a:cs typeface="Open Sans"/>
                <a:sym typeface="Open Sans"/>
              </a:rPr>
              <a:t>INTERACCIONES</a:t>
            </a:r>
            <a:endParaRPr/>
          </a:p>
        </p:txBody>
      </p:sp>
      <p:sp>
        <p:nvSpPr>
          <p:cNvPr id="252" name="Google Shape;252;p4"/>
          <p:cNvSpPr/>
          <p:nvPr/>
        </p:nvSpPr>
        <p:spPr>
          <a:xfrm>
            <a:off x="936520" y="5051939"/>
            <a:ext cx="1795959" cy="176868"/>
          </a:xfrm>
          <a:prstGeom prst="rect">
            <a:avLst/>
          </a:prstGeom>
          <a:solidFill>
            <a:srgbClr val="D6D6D6"/>
          </a:solidFill>
          <a:ln cap="flat" cmpd="sng" w="9525">
            <a:solidFill>
              <a:srgbClr val="B4B4B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C5C5C"/>
              </a:buClr>
              <a:buSzPts val="800"/>
              <a:buFont typeface="Open Sans"/>
              <a:buNone/>
            </a:pPr>
            <a:r>
              <a:rPr b="1" i="0" lang="es-ES" sz="800" u="none" cap="none" strike="noStrike">
                <a:solidFill>
                  <a:srgbClr val="5C5C5C"/>
                </a:solidFill>
                <a:latin typeface="Open Sans"/>
                <a:ea typeface="Open Sans"/>
                <a:cs typeface="Open Sans"/>
                <a:sym typeface="Open Sans"/>
              </a:rPr>
              <a:t>CORPORATIVO OXXO</a:t>
            </a:r>
            <a:endParaRPr/>
          </a:p>
        </p:txBody>
      </p:sp>
      <p:sp>
        <p:nvSpPr>
          <p:cNvPr id="253" name="Google Shape;253;p4"/>
          <p:cNvSpPr/>
          <p:nvPr/>
        </p:nvSpPr>
        <p:spPr>
          <a:xfrm>
            <a:off x="936520" y="4834482"/>
            <a:ext cx="1795959" cy="176868"/>
          </a:xfrm>
          <a:prstGeom prst="rect">
            <a:avLst/>
          </a:prstGeom>
          <a:solidFill>
            <a:srgbClr val="D6D6D6"/>
          </a:solidFill>
          <a:ln cap="flat" cmpd="sng" w="9525">
            <a:solidFill>
              <a:srgbClr val="B4B4B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C5C5C"/>
              </a:buClr>
              <a:buSzPts val="800"/>
              <a:buFont typeface="Open Sans"/>
              <a:buNone/>
            </a:pPr>
            <a:r>
              <a:rPr b="1" i="0" lang="es-ES" sz="800" u="none" cap="none" strike="noStrike">
                <a:solidFill>
                  <a:srgbClr val="5C5C5C"/>
                </a:solidFill>
                <a:latin typeface="Open Sans"/>
                <a:ea typeface="Open Sans"/>
                <a:cs typeface="Open Sans"/>
                <a:sym typeface="Open Sans"/>
              </a:rPr>
              <a:t>FEMSA / P&amp;H</a:t>
            </a:r>
            <a:endParaRPr/>
          </a:p>
        </p:txBody>
      </p:sp>
      <p:sp>
        <p:nvSpPr>
          <p:cNvPr id="254" name="Google Shape;254;p4"/>
          <p:cNvSpPr/>
          <p:nvPr/>
        </p:nvSpPr>
        <p:spPr>
          <a:xfrm>
            <a:off x="936520" y="5269396"/>
            <a:ext cx="1795959" cy="151699"/>
          </a:xfrm>
          <a:prstGeom prst="rect">
            <a:avLst/>
          </a:prstGeom>
          <a:solidFill>
            <a:srgbClr val="D6D6D6"/>
          </a:solidFill>
          <a:ln cap="flat" cmpd="sng" w="9525">
            <a:solidFill>
              <a:srgbClr val="B4B4B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C5C5C"/>
              </a:buClr>
              <a:buSzPts val="800"/>
              <a:buFont typeface="Open Sans"/>
              <a:buNone/>
            </a:pPr>
            <a:r>
              <a:rPr b="1" i="0" lang="es-ES" sz="800" u="none" cap="none" strike="noStrike">
                <a:solidFill>
                  <a:srgbClr val="5C5C5C"/>
                </a:solidFill>
                <a:latin typeface="Open Sans"/>
                <a:ea typeface="Open Sans"/>
                <a:cs typeface="Open Sans"/>
                <a:sym typeface="Open Sans"/>
              </a:rPr>
              <a:t>ZONA / CLUSTER</a:t>
            </a:r>
            <a:endParaRPr/>
          </a:p>
        </p:txBody>
      </p:sp>
      <p:sp>
        <p:nvSpPr>
          <p:cNvPr id="255" name="Google Shape;255;p4"/>
          <p:cNvSpPr/>
          <p:nvPr/>
        </p:nvSpPr>
        <p:spPr>
          <a:xfrm>
            <a:off x="936520" y="5653971"/>
            <a:ext cx="878916" cy="151699"/>
          </a:xfrm>
          <a:prstGeom prst="rect">
            <a:avLst/>
          </a:prstGeom>
          <a:solidFill>
            <a:srgbClr val="D6D6D6"/>
          </a:solidFill>
          <a:ln cap="flat" cmpd="sng" w="9525">
            <a:solidFill>
              <a:srgbClr val="B4B4B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C5C5C"/>
              </a:buClr>
              <a:buSzPts val="800"/>
              <a:buFont typeface="Open Sans"/>
              <a:buNone/>
            </a:pPr>
            <a:r>
              <a:rPr b="1" i="0" lang="es-ES" sz="800" u="none" cap="none" strike="noStrike">
                <a:solidFill>
                  <a:srgbClr val="5C5C5C"/>
                </a:solidFill>
                <a:latin typeface="Open Sans"/>
                <a:ea typeface="Open Sans"/>
                <a:cs typeface="Open Sans"/>
                <a:sym typeface="Open Sans"/>
              </a:rPr>
              <a:t>PLAZA</a:t>
            </a:r>
            <a:endParaRPr/>
          </a:p>
        </p:txBody>
      </p:sp>
      <p:sp>
        <p:nvSpPr>
          <p:cNvPr id="256" name="Google Shape;256;p4"/>
          <p:cNvSpPr/>
          <p:nvPr/>
        </p:nvSpPr>
        <p:spPr>
          <a:xfrm>
            <a:off x="936520" y="5461684"/>
            <a:ext cx="878916" cy="151699"/>
          </a:xfrm>
          <a:prstGeom prst="rect">
            <a:avLst/>
          </a:prstGeom>
          <a:solidFill>
            <a:srgbClr val="D6D6D6"/>
          </a:solidFill>
          <a:ln cap="flat" cmpd="sng" w="9525">
            <a:solidFill>
              <a:srgbClr val="B4B4B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C5C5C"/>
              </a:buClr>
              <a:buSzPts val="800"/>
              <a:buFont typeface="Open Sans"/>
              <a:buNone/>
            </a:pPr>
            <a:r>
              <a:rPr b="1" i="0" lang="es-ES" sz="800" u="none" cap="none" strike="noStrike">
                <a:solidFill>
                  <a:srgbClr val="5C5C5C"/>
                </a:solidFill>
                <a:latin typeface="Open Sans"/>
                <a:ea typeface="Open Sans"/>
                <a:cs typeface="Open Sans"/>
                <a:sym typeface="Open Sans"/>
              </a:rPr>
              <a:t>REGION</a:t>
            </a:r>
            <a:endParaRPr/>
          </a:p>
        </p:txBody>
      </p:sp>
      <p:sp>
        <p:nvSpPr>
          <p:cNvPr id="257" name="Google Shape;257;p4"/>
          <p:cNvSpPr/>
          <p:nvPr/>
        </p:nvSpPr>
        <p:spPr>
          <a:xfrm>
            <a:off x="1853563" y="5461684"/>
            <a:ext cx="878916" cy="343986"/>
          </a:xfrm>
          <a:prstGeom prst="rect">
            <a:avLst/>
          </a:prstGeom>
          <a:solidFill>
            <a:srgbClr val="D6D6D6"/>
          </a:solidFill>
          <a:ln cap="flat" cmpd="sng" w="9525">
            <a:solidFill>
              <a:srgbClr val="B4B4B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C5C5C"/>
              </a:buClr>
              <a:buSzPts val="800"/>
              <a:buFont typeface="Open Sans"/>
              <a:buNone/>
            </a:pPr>
            <a:r>
              <a:rPr b="1" i="0" lang="es-ES" sz="800" u="none" cap="none" strike="noStrike">
                <a:solidFill>
                  <a:srgbClr val="5C5C5C"/>
                </a:solidFill>
                <a:latin typeface="Open Sans"/>
                <a:ea typeface="Open Sans"/>
                <a:cs typeface="Open Sans"/>
                <a:sym typeface="Open Sans"/>
              </a:rPr>
              <a:t>CEDIS / CT</a:t>
            </a:r>
            <a:endParaRPr/>
          </a:p>
        </p:txBody>
      </p:sp>
      <p:sp>
        <p:nvSpPr>
          <p:cNvPr id="258" name="Google Shape;258;p4"/>
          <p:cNvSpPr/>
          <p:nvPr/>
        </p:nvSpPr>
        <p:spPr>
          <a:xfrm>
            <a:off x="0" y="1065224"/>
            <a:ext cx="12192000" cy="5815636"/>
          </a:xfrm>
          <a:prstGeom prst="rect">
            <a:avLst/>
          </a:prstGeom>
          <a:solidFill>
            <a:schemeClr val="lt1">
              <a:alpha val="60000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59" name="Google Shape;259;p4"/>
          <p:cNvGrpSpPr/>
          <p:nvPr/>
        </p:nvGrpSpPr>
        <p:grpSpPr>
          <a:xfrm>
            <a:off x="0" y="2388115"/>
            <a:ext cx="12192000" cy="3166296"/>
            <a:chOff x="0" y="2388115"/>
            <a:chExt cx="12192000" cy="3166296"/>
          </a:xfrm>
        </p:grpSpPr>
        <p:grpSp>
          <p:nvGrpSpPr>
            <p:cNvPr id="260" name="Google Shape;260;p4"/>
            <p:cNvGrpSpPr/>
            <p:nvPr/>
          </p:nvGrpSpPr>
          <p:grpSpPr>
            <a:xfrm>
              <a:off x="0" y="5417251"/>
              <a:ext cx="12192000" cy="137160"/>
              <a:chOff x="0" y="6926580"/>
              <a:chExt cx="12192000" cy="137160"/>
            </a:xfrm>
          </p:grpSpPr>
          <p:sp>
            <p:nvSpPr>
              <p:cNvPr id="261" name="Google Shape;261;p4"/>
              <p:cNvSpPr/>
              <p:nvPr/>
            </p:nvSpPr>
            <p:spPr>
              <a:xfrm>
                <a:off x="11861800" y="6926580"/>
                <a:ext cx="330200" cy="137160"/>
              </a:xfrm>
              <a:prstGeom prst="rect">
                <a:avLst/>
              </a:prstGeom>
              <a:solidFill>
                <a:srgbClr val="FFFFFF">
                  <a:alpha val="25098"/>
                </a:srgbClr>
              </a:solidFill>
              <a:ln>
                <a:noFill/>
              </a:ln>
            </p:spPr>
            <p:txBody>
              <a:bodyPr anchorCtr="0" anchor="ctr" bIns="36000" lIns="36000" spcFirstLastPara="1" rIns="36000" wrap="square" tIns="360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262" name="Google Shape;262;p4"/>
              <p:cNvSpPr/>
              <p:nvPr/>
            </p:nvSpPr>
            <p:spPr>
              <a:xfrm>
                <a:off x="5829300" y="6926580"/>
                <a:ext cx="533400" cy="137160"/>
              </a:xfrm>
              <a:prstGeom prst="rect">
                <a:avLst/>
              </a:prstGeom>
              <a:solidFill>
                <a:srgbClr val="FFFFFF">
                  <a:alpha val="25098"/>
                </a:srgbClr>
              </a:solidFill>
              <a:ln>
                <a:noFill/>
              </a:ln>
            </p:spPr>
            <p:txBody>
              <a:bodyPr anchorCtr="0" anchor="ctr" bIns="36000" lIns="36000" spcFirstLastPara="1" rIns="36000" wrap="square" tIns="360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cxnSp>
            <p:nvCxnSpPr>
              <p:cNvPr id="263" name="Google Shape;263;p4"/>
              <p:cNvCxnSpPr/>
              <p:nvPr/>
            </p:nvCxnSpPr>
            <p:spPr>
              <a:xfrm rot="10800000">
                <a:off x="11861800" y="6926580"/>
                <a:ext cx="0" cy="137160"/>
              </a:xfrm>
              <a:prstGeom prst="straightConnector1">
                <a:avLst/>
              </a:prstGeom>
              <a:solidFill>
                <a:schemeClr val="accent1"/>
              </a:solidFill>
              <a:ln cap="flat" cmpd="sng" w="9525">
                <a:solidFill>
                  <a:srgbClr val="B4B4B4">
                    <a:alpha val="25098"/>
                  </a:srgbClr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64" name="Google Shape;264;p4"/>
              <p:cNvCxnSpPr/>
              <p:nvPr/>
            </p:nvCxnSpPr>
            <p:spPr>
              <a:xfrm rot="10800000">
                <a:off x="6362700" y="6926580"/>
                <a:ext cx="0" cy="137160"/>
              </a:xfrm>
              <a:prstGeom prst="straightConnector1">
                <a:avLst/>
              </a:prstGeom>
              <a:solidFill>
                <a:schemeClr val="accent1"/>
              </a:solidFill>
              <a:ln cap="flat" cmpd="sng" w="9525">
                <a:solidFill>
                  <a:srgbClr val="B4B4B4">
                    <a:alpha val="25098"/>
                  </a:srgbClr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sp>
            <p:nvSpPr>
              <p:cNvPr id="265" name="Google Shape;265;p4"/>
              <p:cNvSpPr/>
              <p:nvPr/>
            </p:nvSpPr>
            <p:spPr>
              <a:xfrm>
                <a:off x="0" y="6926580"/>
                <a:ext cx="330200" cy="137160"/>
              </a:xfrm>
              <a:prstGeom prst="rect">
                <a:avLst/>
              </a:prstGeom>
              <a:solidFill>
                <a:srgbClr val="FFFFFF">
                  <a:alpha val="25098"/>
                </a:srgbClr>
              </a:solidFill>
              <a:ln>
                <a:noFill/>
              </a:ln>
            </p:spPr>
            <p:txBody>
              <a:bodyPr anchorCtr="0" anchor="ctr" bIns="36000" lIns="36000" spcFirstLastPara="1" rIns="36000" wrap="square" tIns="360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cxnSp>
            <p:nvCxnSpPr>
              <p:cNvPr id="266" name="Google Shape;266;p4"/>
              <p:cNvCxnSpPr/>
              <p:nvPr/>
            </p:nvCxnSpPr>
            <p:spPr>
              <a:xfrm rot="10800000">
                <a:off x="5829300" y="6926580"/>
                <a:ext cx="0" cy="137160"/>
              </a:xfrm>
              <a:prstGeom prst="straightConnector1">
                <a:avLst/>
              </a:prstGeom>
              <a:solidFill>
                <a:schemeClr val="accent1"/>
              </a:solidFill>
              <a:ln cap="flat" cmpd="sng" w="9525">
                <a:solidFill>
                  <a:srgbClr val="B4B4B4">
                    <a:alpha val="25098"/>
                  </a:srgbClr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67" name="Google Shape;267;p4"/>
              <p:cNvCxnSpPr/>
              <p:nvPr/>
            </p:nvCxnSpPr>
            <p:spPr>
              <a:xfrm rot="10800000">
                <a:off x="330200" y="6926580"/>
                <a:ext cx="0" cy="137160"/>
              </a:xfrm>
              <a:prstGeom prst="straightConnector1">
                <a:avLst/>
              </a:prstGeom>
              <a:solidFill>
                <a:schemeClr val="accent1"/>
              </a:solidFill>
              <a:ln cap="flat" cmpd="sng" w="9525">
                <a:solidFill>
                  <a:srgbClr val="B4B4B4">
                    <a:alpha val="25098"/>
                  </a:srgbClr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sp>
          <p:nvSpPr>
            <p:cNvPr id="268" name="Google Shape;268;p4"/>
            <p:cNvSpPr/>
            <p:nvPr/>
          </p:nvSpPr>
          <p:spPr>
            <a:xfrm>
              <a:off x="0" y="2388115"/>
              <a:ext cx="12192000" cy="2968508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</p:spPr>
          <p:txBody>
            <a:bodyPr anchorCtr="0" anchor="ctr" bIns="36000" lIns="36000" spcFirstLastPara="1" rIns="36000" wrap="square" tIns="36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69" name="Google Shape;269;p4"/>
            <p:cNvSpPr/>
            <p:nvPr/>
          </p:nvSpPr>
          <p:spPr>
            <a:xfrm>
              <a:off x="482138" y="2987407"/>
              <a:ext cx="11582862" cy="221942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18275" spcFirstLastPara="1" rIns="0" wrap="square" tIns="27425">
              <a:noAutofit/>
            </a:bodyPr>
            <a:lstStyle/>
            <a:p>
              <a:pPr indent="-177800" lvl="0" marL="17780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Open Sans"/>
                <a:buChar char="•"/>
              </a:pPr>
              <a:r>
                <a:rPr b="1" i="0" lang="es-ES" sz="1200" u="sng" cap="none" strike="noStrike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Cambio organizacional con enfoque al crecimiento </a:t>
              </a:r>
              <a:r>
                <a:rPr b="1" i="1" lang="es-ES" sz="1200" u="sng" cap="none" strike="noStrike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core </a:t>
              </a:r>
              <a:r>
                <a:rPr b="1" i="0" lang="es-ES" sz="1200" u="sng" cap="none" strike="noStrike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de negocio,</a:t>
              </a:r>
              <a:r>
                <a:rPr b="1" i="0" lang="es-ES" sz="1200" u="none" cap="none" strike="noStrike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 mediante tres misiones estratégicas: Impulso, Reposición Diaria y Foodvenience, reenfocando nuestra estrategia comercial. </a:t>
              </a:r>
              <a:endParaRPr b="1" i="0" sz="1200" u="sng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endParaRPr>
            </a:p>
            <a:p>
              <a:pPr indent="-177800" lvl="0" marL="177800" marR="0" rtl="0" algn="l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Open Sans"/>
                <a:buChar char="•"/>
              </a:pPr>
              <a:r>
                <a:rPr b="1" i="0" lang="es-ES" sz="1200" u="sng" cap="none" strike="noStrike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Evolución de la plataforma de Customer &amp; Mkt</a:t>
              </a:r>
              <a:r>
                <a:rPr b="1" i="0" lang="es-ES" sz="1200" u="none" cap="none" strike="noStrike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 con autonomía en la definición del Customer Value Proposition e integración del área de Marketing.</a:t>
              </a:r>
              <a:endParaRPr/>
            </a:p>
            <a:p>
              <a:pPr indent="-177800" lvl="0" marL="177800" marR="0" rtl="0" algn="l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Open Sans"/>
                <a:buChar char="•"/>
              </a:pPr>
              <a:r>
                <a:rPr b="1" i="0" lang="es-ES" sz="1200" u="sng" cap="none" strike="noStrike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Integración de Expansión</a:t>
              </a:r>
              <a:r>
                <a:rPr b="1" i="0" lang="es-ES" sz="1200" u="none" cap="none" strike="noStrike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 dentro de la plataforma de Operaciones.</a:t>
              </a:r>
              <a:endParaRPr b="1" i="0" sz="12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endParaRPr>
            </a:p>
            <a:p>
              <a:pPr indent="-177800" lvl="0" marL="177800" marR="0" rtl="0" algn="l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Open Sans"/>
                <a:buChar char="•"/>
              </a:pPr>
              <a:r>
                <a:rPr b="1" i="0" lang="es-ES" sz="1200" u="sng" cap="none" strike="noStrike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Creación de un área independiente de Excelencia Operativa</a:t>
              </a:r>
              <a:r>
                <a:rPr b="1" i="0" lang="es-ES" sz="1200" u="none" cap="none" strike="noStrike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, responsable del modelo de madurez de procesos </a:t>
              </a:r>
              <a:r>
                <a:rPr b="1" i="1" lang="es-ES" sz="1200" u="none" cap="none" strike="noStrike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end-to-end</a:t>
              </a:r>
              <a:r>
                <a:rPr b="1" i="0" lang="es-ES" sz="1200" u="none" cap="none" strike="noStrike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 y del mapeo y diseño de procesos de operación en tienda.</a:t>
              </a:r>
              <a:endParaRPr b="1" i="0" sz="12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endParaRPr>
            </a:p>
            <a:p>
              <a:pPr indent="-177800" lvl="0" marL="177800" marR="0" rtl="0" algn="l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Open Sans"/>
                <a:buChar char="•"/>
              </a:pPr>
              <a:r>
                <a:rPr b="1" i="0" lang="es-ES" sz="1200" u="sng" cap="none" strike="noStrike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Evolución de Estrategia y Transformación,</a:t>
              </a:r>
              <a:r>
                <a:rPr b="1" i="0" lang="es-ES" sz="1200" u="none" cap="none" strike="noStrike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 para orquestar y monitorear la implementación de los cambios estratégicos en la organización y asegurar que las iniciativas prioritarias alcancen su potencial mediante la gestión de la </a:t>
              </a:r>
              <a:r>
                <a:rPr b="1" i="1" lang="es-ES" sz="1200" u="none" cap="none" strike="noStrike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Value Management Office</a:t>
              </a:r>
              <a:r>
                <a:rPr b="1" i="0" lang="es-ES" sz="1200" u="none" cap="none" strike="noStrike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.</a:t>
              </a:r>
              <a:endParaRPr/>
            </a:p>
            <a:p>
              <a:pPr indent="-177800" lvl="0" marL="177800" marR="0" rtl="0" algn="l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Open Sans"/>
                <a:buChar char="•"/>
              </a:pPr>
              <a:r>
                <a:rPr b="1" i="0" lang="es-ES" sz="1200" u="sng" cap="none" strike="noStrike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Despriorización de Entrega Directa</a:t>
              </a:r>
              <a:r>
                <a:rPr b="1" i="0" lang="es-ES" sz="1200" u="none" cap="none" strike="noStrike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, integrando las operaciones restantes al BAU de Comercial.</a:t>
              </a:r>
              <a:endParaRPr b="0" i="0" sz="12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70" name="Google Shape;270;p4"/>
            <p:cNvSpPr txBox="1"/>
            <p:nvPr/>
          </p:nvSpPr>
          <p:spPr>
            <a:xfrm>
              <a:off x="299223" y="2478954"/>
              <a:ext cx="3722445" cy="3385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600"/>
                <a:buFont typeface="Open Sans"/>
                <a:buNone/>
              </a:pPr>
              <a:r>
                <a:rPr b="1" i="0" lang="es-ES" sz="1600" u="none" cap="none" strike="noStrike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PRINCIPALES CAMBIOS</a:t>
              </a:r>
              <a:endParaRPr/>
            </a:p>
          </p:txBody>
        </p:sp>
        <p:sp>
          <p:nvSpPr>
            <p:cNvPr id="271" name="Google Shape;271;p4"/>
            <p:cNvSpPr/>
            <p:nvPr/>
          </p:nvSpPr>
          <p:spPr>
            <a:xfrm>
              <a:off x="429515" y="3013094"/>
              <a:ext cx="178616" cy="178616"/>
            </a:xfrm>
            <a:prstGeom prst="ellipse">
              <a:avLst/>
            </a:prstGeom>
            <a:solidFill>
              <a:srgbClr val="DE0230"/>
            </a:solidFill>
            <a:ln cap="flat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000"/>
                <a:buFont typeface="Open Sans"/>
                <a:buNone/>
              </a:pPr>
              <a:r>
                <a:rPr b="1" i="0" lang="es-ES" sz="1000" u="none" cap="none" strike="noStrike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1</a:t>
              </a:r>
              <a:endParaRPr/>
            </a:p>
          </p:txBody>
        </p:sp>
        <p:sp>
          <p:nvSpPr>
            <p:cNvPr id="272" name="Google Shape;272;p4"/>
            <p:cNvSpPr/>
            <p:nvPr/>
          </p:nvSpPr>
          <p:spPr>
            <a:xfrm>
              <a:off x="429515" y="3463584"/>
              <a:ext cx="178616" cy="178616"/>
            </a:xfrm>
            <a:prstGeom prst="ellipse">
              <a:avLst/>
            </a:prstGeom>
            <a:solidFill>
              <a:srgbClr val="DE0230"/>
            </a:solidFill>
            <a:ln cap="flat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000"/>
                <a:buFont typeface="Open Sans"/>
                <a:buNone/>
              </a:pPr>
              <a:r>
                <a:rPr b="1" i="0" lang="es-ES" sz="1000" u="none" cap="none" strike="noStrike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2</a:t>
              </a:r>
              <a:endParaRPr/>
            </a:p>
          </p:txBody>
        </p:sp>
        <p:sp>
          <p:nvSpPr>
            <p:cNvPr id="273" name="Google Shape;273;p4"/>
            <p:cNvSpPr/>
            <p:nvPr/>
          </p:nvSpPr>
          <p:spPr>
            <a:xfrm>
              <a:off x="429515" y="3708983"/>
              <a:ext cx="178616" cy="178616"/>
            </a:xfrm>
            <a:prstGeom prst="ellipse">
              <a:avLst/>
            </a:prstGeom>
            <a:solidFill>
              <a:srgbClr val="DE0230"/>
            </a:solidFill>
            <a:ln cap="flat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000"/>
                <a:buFont typeface="Open Sans"/>
                <a:buNone/>
              </a:pPr>
              <a:r>
                <a:rPr b="1" i="0" lang="es-ES" sz="1000" u="none" cap="none" strike="noStrike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3</a:t>
              </a:r>
              <a:endParaRPr/>
            </a:p>
          </p:txBody>
        </p:sp>
        <p:sp>
          <p:nvSpPr>
            <p:cNvPr id="274" name="Google Shape;274;p4"/>
            <p:cNvSpPr/>
            <p:nvPr/>
          </p:nvSpPr>
          <p:spPr>
            <a:xfrm>
              <a:off x="429515" y="3990490"/>
              <a:ext cx="178616" cy="178616"/>
            </a:xfrm>
            <a:prstGeom prst="ellipse">
              <a:avLst/>
            </a:prstGeom>
            <a:solidFill>
              <a:srgbClr val="DE0230"/>
            </a:solidFill>
            <a:ln cap="flat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000"/>
                <a:buFont typeface="Open Sans"/>
                <a:buNone/>
              </a:pPr>
              <a:r>
                <a:rPr b="1" i="0" lang="es-ES" sz="1000" u="none" cap="none" strike="noStrike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4</a:t>
              </a:r>
              <a:endParaRPr/>
            </a:p>
          </p:txBody>
        </p:sp>
        <p:sp>
          <p:nvSpPr>
            <p:cNvPr id="275" name="Google Shape;275;p4"/>
            <p:cNvSpPr/>
            <p:nvPr/>
          </p:nvSpPr>
          <p:spPr>
            <a:xfrm>
              <a:off x="429515" y="4415994"/>
              <a:ext cx="178616" cy="178616"/>
            </a:xfrm>
            <a:prstGeom prst="ellipse">
              <a:avLst/>
            </a:prstGeom>
            <a:solidFill>
              <a:srgbClr val="DE0230"/>
            </a:solidFill>
            <a:ln cap="flat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000"/>
                <a:buFont typeface="Open Sans"/>
                <a:buNone/>
              </a:pPr>
              <a:r>
                <a:rPr b="1" i="0" lang="es-ES" sz="1000" u="none" cap="none" strike="noStrike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5</a:t>
              </a:r>
              <a:endParaRPr/>
            </a:p>
          </p:txBody>
        </p:sp>
        <p:sp>
          <p:nvSpPr>
            <p:cNvPr id="276" name="Google Shape;276;p4"/>
            <p:cNvSpPr/>
            <p:nvPr/>
          </p:nvSpPr>
          <p:spPr>
            <a:xfrm>
              <a:off x="429515" y="4855017"/>
              <a:ext cx="178616" cy="178616"/>
            </a:xfrm>
            <a:prstGeom prst="ellipse">
              <a:avLst/>
            </a:prstGeom>
            <a:solidFill>
              <a:srgbClr val="DE0230"/>
            </a:solidFill>
            <a:ln cap="flat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000"/>
                <a:buFont typeface="Open Sans"/>
                <a:buNone/>
              </a:pPr>
              <a:r>
                <a:rPr b="1" i="0" lang="es-ES" sz="1000" u="none" cap="none" strike="noStrike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6</a:t>
              </a:r>
              <a:endParaRPr/>
            </a:p>
          </p:txBody>
        </p:sp>
        <p:sp>
          <p:nvSpPr>
            <p:cNvPr id="277" name="Google Shape;277;p4"/>
            <p:cNvSpPr/>
            <p:nvPr/>
          </p:nvSpPr>
          <p:spPr>
            <a:xfrm>
              <a:off x="368455" y="2822059"/>
              <a:ext cx="1141197" cy="50556"/>
            </a:xfrm>
            <a:prstGeom prst="rect">
              <a:avLst/>
            </a:prstGeom>
            <a:gradFill>
              <a:gsLst>
                <a:gs pos="0">
                  <a:schemeClr val="accent3"/>
                </a:gs>
                <a:gs pos="100000">
                  <a:schemeClr val="accent6"/>
                </a:gs>
              </a:gsLst>
              <a:lin ang="3600000" scaled="0"/>
            </a:gradFill>
            <a:ln>
              <a:noFill/>
            </a:ln>
          </p:spPr>
          <p:txBody>
            <a:bodyPr anchorCtr="0" anchor="ctr" bIns="36000" lIns="396000" spcFirstLastPara="1" rIns="36000" wrap="square" tIns="36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200"/>
                <a:buFont typeface="Calibri"/>
                <a:buNone/>
              </a:pPr>
              <a:r>
                <a:t/>
              </a:r>
              <a:endPara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5"/>
          <p:cNvSpPr/>
          <p:nvPr/>
        </p:nvSpPr>
        <p:spPr>
          <a:xfrm>
            <a:off x="8096889" y="3114675"/>
            <a:ext cx="3485512" cy="2743200"/>
          </a:xfrm>
          <a:prstGeom prst="rect">
            <a:avLst/>
          </a:prstGeom>
          <a:solidFill>
            <a:srgbClr val="F2F2F2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5"/>
          <p:cNvSpPr/>
          <p:nvPr/>
        </p:nvSpPr>
        <p:spPr>
          <a:xfrm>
            <a:off x="4429966" y="3114675"/>
            <a:ext cx="3549131" cy="2743200"/>
          </a:xfrm>
          <a:prstGeom prst="rect">
            <a:avLst/>
          </a:prstGeom>
          <a:solidFill>
            <a:srgbClr val="F2F2F2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5"/>
          <p:cNvSpPr/>
          <p:nvPr/>
        </p:nvSpPr>
        <p:spPr>
          <a:xfrm>
            <a:off x="609600" y="3114675"/>
            <a:ext cx="3700071" cy="2743200"/>
          </a:xfrm>
          <a:prstGeom prst="rect">
            <a:avLst/>
          </a:prstGeom>
          <a:solidFill>
            <a:srgbClr val="F2F2F2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5"/>
          <p:cNvSpPr/>
          <p:nvPr/>
        </p:nvSpPr>
        <p:spPr>
          <a:xfrm>
            <a:off x="1009650" y="2039750"/>
            <a:ext cx="10334625" cy="529397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5"/>
          <p:cNvSpPr/>
          <p:nvPr/>
        </p:nvSpPr>
        <p:spPr>
          <a:xfrm>
            <a:off x="1530285" y="1885702"/>
            <a:ext cx="2147110" cy="894316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es-E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Higiénicos Organizacionales 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b="0" i="0" lang="es-ES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Documentación de Roles</a:t>
            </a:r>
            <a:endParaRPr/>
          </a:p>
        </p:txBody>
      </p:sp>
      <p:sp>
        <p:nvSpPr>
          <p:cNvPr id="287" name="Google Shape;287;p5"/>
          <p:cNvSpPr/>
          <p:nvPr/>
        </p:nvSpPr>
        <p:spPr>
          <a:xfrm>
            <a:off x="3939365" y="1885703"/>
            <a:ext cx="2147110" cy="894316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es-E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Interacciones Críticas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b="0" i="0" lang="es-ES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Workshops Cross-plataformas</a:t>
            </a:r>
            <a:endParaRPr/>
          </a:p>
        </p:txBody>
      </p:sp>
      <p:sp>
        <p:nvSpPr>
          <p:cNvPr id="288" name="Google Shape;288;p5"/>
          <p:cNvSpPr/>
          <p:nvPr/>
        </p:nvSpPr>
        <p:spPr>
          <a:xfrm>
            <a:off x="6288055" y="1885702"/>
            <a:ext cx="2147110" cy="894316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es-E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RASCI por Función de Procesos Clave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b="0" i="0" lang="es-ES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Workshops Internos x Área</a:t>
            </a:r>
            <a:endParaRPr/>
          </a:p>
        </p:txBody>
      </p:sp>
      <p:sp>
        <p:nvSpPr>
          <p:cNvPr id="289" name="Google Shape;289;p5"/>
          <p:cNvSpPr/>
          <p:nvPr/>
        </p:nvSpPr>
        <p:spPr>
          <a:xfrm>
            <a:off x="8636745" y="1885701"/>
            <a:ext cx="2147110" cy="894315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s-E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Integración al Sistema de Gestión </a:t>
            </a:r>
            <a:r>
              <a:rPr b="0" i="0" lang="es-ES" sz="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Consolidación y Seguimiento</a:t>
            </a:r>
            <a:endParaRPr/>
          </a:p>
        </p:txBody>
      </p:sp>
      <p:sp>
        <p:nvSpPr>
          <p:cNvPr id="290" name="Google Shape;290;p5"/>
          <p:cNvSpPr/>
          <p:nvPr/>
        </p:nvSpPr>
        <p:spPr>
          <a:xfrm rot="10800000">
            <a:off x="2270465" y="1573986"/>
            <a:ext cx="666750" cy="209550"/>
          </a:xfrm>
          <a:prstGeom prst="triangle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91" name="Google Shape;291;p5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670020" y="3832102"/>
            <a:ext cx="3048000" cy="1714500"/>
          </a:xfrm>
          <a:prstGeom prst="rect">
            <a:avLst/>
          </a:prstGeom>
          <a:noFill/>
          <a:ln cap="flat" cmpd="sng" w="9525">
            <a:solidFill>
              <a:srgbClr val="D3D3D3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292" name="Google Shape;292;p5">
            <a:hlinkClick r:id="rId5"/>
          </p:cNvPr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283257" y="3911036"/>
            <a:ext cx="1974321" cy="1227807"/>
          </a:xfrm>
          <a:prstGeom prst="rect">
            <a:avLst/>
          </a:prstGeom>
          <a:noFill/>
          <a:ln cap="flat" cmpd="sng" w="9525">
            <a:solidFill>
              <a:srgbClr val="D3D3D3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293" name="Google Shape;293;p5">
            <a:hlinkClick r:id="rId7"/>
          </p:cNvPr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18229" y="3832102"/>
            <a:ext cx="3048000" cy="1714500"/>
          </a:xfrm>
          <a:prstGeom prst="rect">
            <a:avLst/>
          </a:prstGeom>
          <a:noFill/>
          <a:ln cap="flat" cmpd="sng" w="9525">
            <a:solidFill>
              <a:srgbClr val="D3D3D3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94" name="Google Shape;294;p5"/>
          <p:cNvSpPr txBox="1"/>
          <p:nvPr/>
        </p:nvSpPr>
        <p:spPr>
          <a:xfrm>
            <a:off x="960484" y="3232606"/>
            <a:ext cx="3048000" cy="6001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Percepción inicial (retos, dudas, apoyos requeridos organización para clarificar la función)</a:t>
            </a:r>
            <a:endParaRPr/>
          </a:p>
        </p:txBody>
      </p:sp>
      <p:sp>
        <p:nvSpPr>
          <p:cNvPr id="295" name="Google Shape;295;p5"/>
          <p:cNvSpPr txBox="1"/>
          <p:nvPr/>
        </p:nvSpPr>
        <p:spPr>
          <a:xfrm>
            <a:off x="4620742" y="3257532"/>
            <a:ext cx="3146555" cy="261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Feedback DP rol </a:t>
            </a:r>
            <a:endParaRPr/>
          </a:p>
        </p:txBody>
      </p:sp>
      <p:sp>
        <p:nvSpPr>
          <p:cNvPr id="296" name="Google Shape;296;p5"/>
          <p:cNvSpPr txBox="1"/>
          <p:nvPr/>
        </p:nvSpPr>
        <p:spPr>
          <a:xfrm>
            <a:off x="8283257" y="3232606"/>
            <a:ext cx="3146555" cy="6001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Actividades core de reportes (L3)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+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Interacciones macro / procesos</a:t>
            </a:r>
            <a:endParaRPr/>
          </a:p>
        </p:txBody>
      </p:sp>
      <p:sp>
        <p:nvSpPr>
          <p:cNvPr id="297" name="Google Shape;297;p5"/>
          <p:cNvSpPr/>
          <p:nvPr/>
        </p:nvSpPr>
        <p:spPr>
          <a:xfrm rot="10800000">
            <a:off x="4679545" y="1573986"/>
            <a:ext cx="666750" cy="209550"/>
          </a:xfrm>
          <a:prstGeom prst="triangle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5"/>
          <p:cNvSpPr txBox="1"/>
          <p:nvPr>
            <p:ph type="title"/>
          </p:nvPr>
        </p:nvSpPr>
        <p:spPr>
          <a:xfrm>
            <a:off x="609600" y="149905"/>
            <a:ext cx="7896000" cy="777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Alcance 2026</a:t>
            </a:r>
            <a:endParaRPr/>
          </a:p>
        </p:txBody>
      </p:sp>
      <p:pic>
        <p:nvPicPr>
          <p:cNvPr id="299" name="Google Shape;299;p5">
            <a:hlinkClick r:id="rId9"/>
          </p:cNvPr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9426820" y="4565208"/>
            <a:ext cx="1974320" cy="1110555"/>
          </a:xfrm>
          <a:prstGeom prst="rect">
            <a:avLst/>
          </a:prstGeom>
          <a:noFill/>
          <a:ln cap="flat" cmpd="sng" w="9525">
            <a:solidFill>
              <a:srgbClr val="D3D3D3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bg>
      <p:bgPr>
        <a:solidFill>
          <a:schemeClr val="lt1"/>
        </a:solidFill>
      </p:bgPr>
    </p:bg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6"/>
          <p:cNvSpPr/>
          <p:nvPr/>
        </p:nvSpPr>
        <p:spPr>
          <a:xfrm>
            <a:off x="1113306" y="2848249"/>
            <a:ext cx="5629275" cy="447675"/>
          </a:xfrm>
          <a:prstGeom prst="rect">
            <a:avLst/>
          </a:prstGeom>
          <a:solidFill>
            <a:srgbClr val="FFEEC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Tengo claridad de la misión del área</a:t>
            </a:r>
            <a:endParaRPr sz="12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6"/>
          <p:cNvSpPr/>
          <p:nvPr/>
        </p:nvSpPr>
        <p:spPr>
          <a:xfrm>
            <a:off x="1113302" y="3937432"/>
            <a:ext cx="5629275" cy="447675"/>
          </a:xfrm>
          <a:prstGeom prst="rect">
            <a:avLst/>
          </a:prstGeom>
          <a:solidFill>
            <a:srgbClr val="FFEEC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Me resultan claras las actividades de las posiciones de la plataforma</a:t>
            </a:r>
            <a:endParaRPr sz="12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6"/>
          <p:cNvSpPr/>
          <p:nvPr/>
        </p:nvSpPr>
        <p:spPr>
          <a:xfrm>
            <a:off x="1113301" y="4499420"/>
            <a:ext cx="5629275" cy="447675"/>
          </a:xfrm>
          <a:prstGeom prst="rect">
            <a:avLst/>
          </a:prstGeom>
          <a:solidFill>
            <a:srgbClr val="FFEEC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Percibo claridad de cada ocupante sobre la función de su puesto e impacto en los objetivos del área</a:t>
            </a:r>
            <a:endParaRPr sz="12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6"/>
          <p:cNvSpPr/>
          <p:nvPr/>
        </p:nvSpPr>
        <p:spPr>
          <a:xfrm>
            <a:off x="7009282" y="2848249"/>
            <a:ext cx="514350" cy="447675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6"/>
          <p:cNvSpPr/>
          <p:nvPr/>
        </p:nvSpPr>
        <p:spPr>
          <a:xfrm>
            <a:off x="7676032" y="2848249"/>
            <a:ext cx="514350" cy="447675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6"/>
          <p:cNvSpPr/>
          <p:nvPr/>
        </p:nvSpPr>
        <p:spPr>
          <a:xfrm>
            <a:off x="8342782" y="2848249"/>
            <a:ext cx="514350" cy="447675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6"/>
          <p:cNvSpPr/>
          <p:nvPr/>
        </p:nvSpPr>
        <p:spPr>
          <a:xfrm>
            <a:off x="9009532" y="2848249"/>
            <a:ext cx="514350" cy="447675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6"/>
          <p:cNvSpPr/>
          <p:nvPr/>
        </p:nvSpPr>
        <p:spPr>
          <a:xfrm>
            <a:off x="9676283" y="2848249"/>
            <a:ext cx="514350" cy="44767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6"/>
          <p:cNvSpPr txBox="1"/>
          <p:nvPr/>
        </p:nvSpPr>
        <p:spPr>
          <a:xfrm>
            <a:off x="1141883" y="1591212"/>
            <a:ext cx="9131670" cy="7386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Objetivo: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s-E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Tener percepción y estatus actual de claridad de las funciones del área y entender necesidades a nivel plataforma de apoyos requeridos por organización</a:t>
            </a:r>
            <a:endParaRPr i="1"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6"/>
          <p:cNvSpPr txBox="1"/>
          <p:nvPr/>
        </p:nvSpPr>
        <p:spPr>
          <a:xfrm>
            <a:off x="6619346" y="2617745"/>
            <a:ext cx="1333500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T. Desacuerdo 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6"/>
          <p:cNvSpPr txBox="1"/>
          <p:nvPr/>
        </p:nvSpPr>
        <p:spPr>
          <a:xfrm>
            <a:off x="9219082" y="2617745"/>
            <a:ext cx="1333500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T. De acuerdo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6"/>
          <p:cNvSpPr/>
          <p:nvPr/>
        </p:nvSpPr>
        <p:spPr>
          <a:xfrm>
            <a:off x="1118071" y="3400699"/>
            <a:ext cx="5629275" cy="447675"/>
          </a:xfrm>
          <a:prstGeom prst="rect">
            <a:avLst/>
          </a:prstGeom>
          <a:solidFill>
            <a:srgbClr val="FFEEC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Entiendo el racional de los cambios</a:t>
            </a:r>
            <a:endParaRPr sz="12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6"/>
          <p:cNvSpPr/>
          <p:nvPr/>
        </p:nvSpPr>
        <p:spPr>
          <a:xfrm>
            <a:off x="1113301" y="5085684"/>
            <a:ext cx="5629275" cy="447675"/>
          </a:xfrm>
          <a:prstGeom prst="rect">
            <a:avLst/>
          </a:prstGeom>
          <a:solidFill>
            <a:srgbClr val="FFEEC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Hay suficiente información para realizar adecuadamente las funciones y establecer objetivos clave del año</a:t>
            </a:r>
            <a:endParaRPr sz="12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6"/>
          <p:cNvSpPr/>
          <p:nvPr/>
        </p:nvSpPr>
        <p:spPr>
          <a:xfrm>
            <a:off x="7009282" y="3400699"/>
            <a:ext cx="514350" cy="447675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6"/>
          <p:cNvSpPr/>
          <p:nvPr/>
        </p:nvSpPr>
        <p:spPr>
          <a:xfrm>
            <a:off x="7676032" y="3400699"/>
            <a:ext cx="514350" cy="447675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6"/>
          <p:cNvSpPr/>
          <p:nvPr/>
        </p:nvSpPr>
        <p:spPr>
          <a:xfrm>
            <a:off x="8342782" y="3400699"/>
            <a:ext cx="514350" cy="447675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6"/>
          <p:cNvSpPr/>
          <p:nvPr/>
        </p:nvSpPr>
        <p:spPr>
          <a:xfrm>
            <a:off x="9009532" y="3400699"/>
            <a:ext cx="514350" cy="447675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6"/>
          <p:cNvSpPr/>
          <p:nvPr/>
        </p:nvSpPr>
        <p:spPr>
          <a:xfrm>
            <a:off x="9676283" y="3400699"/>
            <a:ext cx="514350" cy="44767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6"/>
          <p:cNvSpPr/>
          <p:nvPr/>
        </p:nvSpPr>
        <p:spPr>
          <a:xfrm>
            <a:off x="7009282" y="3937432"/>
            <a:ext cx="514350" cy="447675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6"/>
          <p:cNvSpPr/>
          <p:nvPr/>
        </p:nvSpPr>
        <p:spPr>
          <a:xfrm>
            <a:off x="7676032" y="3937432"/>
            <a:ext cx="514350" cy="447675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6"/>
          <p:cNvSpPr/>
          <p:nvPr/>
        </p:nvSpPr>
        <p:spPr>
          <a:xfrm>
            <a:off x="8342782" y="3937432"/>
            <a:ext cx="514350" cy="447675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6"/>
          <p:cNvSpPr/>
          <p:nvPr/>
        </p:nvSpPr>
        <p:spPr>
          <a:xfrm>
            <a:off x="9009532" y="3937432"/>
            <a:ext cx="514350" cy="447675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6"/>
          <p:cNvSpPr/>
          <p:nvPr/>
        </p:nvSpPr>
        <p:spPr>
          <a:xfrm>
            <a:off x="9676283" y="3937432"/>
            <a:ext cx="514350" cy="44767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6"/>
          <p:cNvSpPr/>
          <p:nvPr/>
        </p:nvSpPr>
        <p:spPr>
          <a:xfrm>
            <a:off x="7009278" y="4499420"/>
            <a:ext cx="514350" cy="447675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6"/>
          <p:cNvSpPr/>
          <p:nvPr/>
        </p:nvSpPr>
        <p:spPr>
          <a:xfrm>
            <a:off x="7676028" y="4499420"/>
            <a:ext cx="514350" cy="447675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6"/>
          <p:cNvSpPr/>
          <p:nvPr/>
        </p:nvSpPr>
        <p:spPr>
          <a:xfrm>
            <a:off x="8342778" y="4499420"/>
            <a:ext cx="514350" cy="447675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6"/>
          <p:cNvSpPr/>
          <p:nvPr/>
        </p:nvSpPr>
        <p:spPr>
          <a:xfrm>
            <a:off x="9009528" y="4499420"/>
            <a:ext cx="514350" cy="447675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6"/>
          <p:cNvSpPr/>
          <p:nvPr/>
        </p:nvSpPr>
        <p:spPr>
          <a:xfrm>
            <a:off x="9676279" y="4499420"/>
            <a:ext cx="514350" cy="44767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6"/>
          <p:cNvSpPr/>
          <p:nvPr/>
        </p:nvSpPr>
        <p:spPr>
          <a:xfrm>
            <a:off x="7009282" y="5090447"/>
            <a:ext cx="514350" cy="447675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6"/>
          <p:cNvSpPr/>
          <p:nvPr/>
        </p:nvSpPr>
        <p:spPr>
          <a:xfrm>
            <a:off x="7676032" y="5090447"/>
            <a:ext cx="514350" cy="447675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6"/>
          <p:cNvSpPr/>
          <p:nvPr/>
        </p:nvSpPr>
        <p:spPr>
          <a:xfrm>
            <a:off x="8342782" y="5090447"/>
            <a:ext cx="514350" cy="447675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6"/>
          <p:cNvSpPr/>
          <p:nvPr/>
        </p:nvSpPr>
        <p:spPr>
          <a:xfrm>
            <a:off x="9009532" y="5090447"/>
            <a:ext cx="514350" cy="447675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6"/>
          <p:cNvSpPr/>
          <p:nvPr/>
        </p:nvSpPr>
        <p:spPr>
          <a:xfrm>
            <a:off x="9676283" y="5090447"/>
            <a:ext cx="514350" cy="44767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6"/>
          <p:cNvSpPr txBox="1"/>
          <p:nvPr>
            <p:ph type="title"/>
          </p:nvPr>
        </p:nvSpPr>
        <p:spPr>
          <a:xfrm>
            <a:off x="609600" y="149905"/>
            <a:ext cx="7896000" cy="777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Percepción inicial</a:t>
            </a:r>
            <a:endParaRPr/>
          </a:p>
        </p:txBody>
      </p:sp>
      <p:pic>
        <p:nvPicPr>
          <p:cNvPr descr="Dibujo de una mesa de billar&#10;&#10;El contenido generado por IA puede ser incorrecto." id="338" name="Google Shape;338;p6"/>
          <p:cNvPicPr preferRelativeResize="0"/>
          <p:nvPr/>
        </p:nvPicPr>
        <p:blipFill rotWithShape="1">
          <a:blip r:embed="rId3">
            <a:alphaModFix/>
          </a:blip>
          <a:srcRect b="37793" l="1" r="73823" t="33913"/>
          <a:stretch/>
        </p:blipFill>
        <p:spPr>
          <a:xfrm>
            <a:off x="10257742" y="1138561"/>
            <a:ext cx="499639" cy="54007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Dibujo de una mesa de billar&#10;&#10;El contenido generado por IA puede ser incorrecto." id="339" name="Google Shape;339;p6"/>
          <p:cNvPicPr preferRelativeResize="0"/>
          <p:nvPr/>
        </p:nvPicPr>
        <p:blipFill rotWithShape="1">
          <a:blip r:embed="rId3">
            <a:alphaModFix/>
          </a:blip>
          <a:srcRect b="37600" l="35165" r="37291" t="34124"/>
          <a:stretch/>
        </p:blipFill>
        <p:spPr>
          <a:xfrm>
            <a:off x="10795481" y="1148086"/>
            <a:ext cx="526080" cy="54007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Dibujo de una mesa de billar&#10;&#10;El contenido generado por IA puede ser incorrecto." id="340" name="Google Shape;340;p6"/>
          <p:cNvPicPr preferRelativeResize="0"/>
          <p:nvPr/>
        </p:nvPicPr>
        <p:blipFill rotWithShape="1">
          <a:blip r:embed="rId3">
            <a:alphaModFix/>
          </a:blip>
          <a:srcRect b="36667" l="73050" r="0" t="35171"/>
          <a:stretch/>
        </p:blipFill>
        <p:spPr>
          <a:xfrm>
            <a:off x="11359661" y="1169319"/>
            <a:ext cx="514747" cy="53788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7"/>
          <p:cNvSpPr/>
          <p:nvPr/>
        </p:nvSpPr>
        <p:spPr>
          <a:xfrm>
            <a:off x="5555311" y="6647290"/>
            <a:ext cx="1081378" cy="17261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7"/>
          <p:cNvSpPr txBox="1"/>
          <p:nvPr/>
        </p:nvSpPr>
        <p:spPr>
          <a:xfrm>
            <a:off x="190500" y="121330"/>
            <a:ext cx="7896000" cy="777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133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Descripción de Puesto | Gerente Sr. Estrategia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s-ES" sz="2133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Propósito y Contribuciones</a:t>
            </a:r>
            <a:endParaRPr b="0" i="1" sz="2133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7"/>
          <p:cNvSpPr txBox="1"/>
          <p:nvPr/>
        </p:nvSpPr>
        <p:spPr>
          <a:xfrm>
            <a:off x="266700" y="1740542"/>
            <a:ext cx="11668125" cy="5170646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Contribuciones:</a:t>
            </a:r>
            <a:endParaRPr/>
          </a:p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AutoNum type="arabicPeriod"/>
            </a:pPr>
            <a:r>
              <a:rPr b="1" lang="es-ES" sz="1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Desarrollo de la Estrategia</a:t>
            </a:r>
            <a:r>
              <a:rPr lang="es-ES" sz="1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: Brindar soporte a la Dirección de Estrategia y Transformación en la definición de las estrategias corporativas y de negocio de OXXO México.</a:t>
            </a:r>
            <a:endParaRPr/>
          </a:p>
          <a:p>
            <a:pPr indent="-1079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t/>
            </a:r>
            <a:endParaRPr sz="10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AutoNum type="arabicPeriod"/>
            </a:pPr>
            <a:r>
              <a:rPr b="1" lang="es-ES" sz="1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Desarrollo de Capacidades Organizacionales: </a:t>
            </a:r>
            <a:r>
              <a:rPr lang="es-ES" sz="1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Orquestar el desarrollo de capacidades organizacionales con las áreas involucradas de acuerdo con la planeación estratégica de negocio, buscando el desarrollo de ventajas competitivas al corto-mediano-largo plazo y la sostenibilidad de estas.</a:t>
            </a:r>
            <a:endParaRPr/>
          </a:p>
          <a:p>
            <a:pPr indent="-1079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t/>
            </a:r>
            <a:endParaRPr b="1" sz="10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AutoNum type="arabicPeriod"/>
            </a:pPr>
            <a:r>
              <a:rPr b="1" lang="es-ES" sz="1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Proceso de Planeación</a:t>
            </a:r>
            <a:r>
              <a:rPr lang="es-ES" sz="1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: Liderar el ciclo de planeación estratégica end to end; alineando tiempos y resultados, facilitando los debates sobre priorización y alineación; así como garantizando la responsabilidad organizacional en el proceso.</a:t>
            </a:r>
            <a:endParaRPr/>
          </a:p>
          <a:p>
            <a:pPr indent="-1079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t/>
            </a:r>
            <a:endParaRPr sz="10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AutoNum type="arabicPeriod"/>
            </a:pPr>
            <a:r>
              <a:rPr b="1" lang="es-ES" sz="1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Alineación funcional</a:t>
            </a:r>
            <a:r>
              <a:rPr lang="es-ES" sz="1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: Asociarse con las diferentes plataformas / funciones de negocio para convertir la estrategia en roadmaps procesables y mensurables; garantizando vínculos claros entre las prioridades estratégicas y los planes funcionales.</a:t>
            </a:r>
            <a:endParaRPr/>
          </a:p>
          <a:p>
            <a:pPr indent="-1079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t/>
            </a:r>
            <a:endParaRPr sz="10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AutoNum type="arabicPeriod"/>
            </a:pPr>
            <a:r>
              <a:rPr b="1" lang="es-ES" sz="1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Iniciativas estratégicas</a:t>
            </a:r>
            <a:r>
              <a:rPr lang="es-ES" sz="1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: Brindar apoyo práctico, según sea necesario, a los equipos de negocios para definir iniciativas de alto impacto (propuesta de valor, justificación, necesidades de recursos); garantizando que cada iniciativa respalde a la Estrategia OXXO Mx.</a:t>
            </a:r>
            <a:endParaRPr/>
          </a:p>
          <a:p>
            <a:pPr indent="-1079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t/>
            </a:r>
            <a:endParaRPr sz="10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AutoNum type="arabicPeriod"/>
            </a:pPr>
            <a:r>
              <a:rPr b="1" lang="es-ES" sz="1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Comunicación Estratégica</a:t>
            </a:r>
            <a:r>
              <a:rPr lang="es-ES" sz="1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: Preparar narrativas estratégicas y materiales a nivel Dirección para apoyar al CEO y al equipo de liderazgo en la articulación de la visión oficial de la estrategia, el progreso y las opciones críticas; creación de materiales para foros clave (por ejemplo, reuniones de EDi, reuniones estratégicas fuera de la oficina, etc.), así como la creación, diseño y orquestación de los Foros Anuales de Comunicación OXXO para asegurar la alineación estratégica transversal, incluyendo el diseño integral de la reunión y la coordinación inter-áreas.</a:t>
            </a:r>
            <a:endParaRPr/>
          </a:p>
          <a:p>
            <a:pPr indent="-1079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t/>
            </a:r>
            <a:endParaRPr sz="10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AutoNum type="arabicPeriod"/>
            </a:pPr>
            <a:r>
              <a:rPr b="1" lang="es-ES" sz="1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Gobierno Estratégico y Sistema de Gestión: </a:t>
            </a:r>
            <a:r>
              <a:rPr lang="es-ES" sz="1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Definir y asegurar la alineación de los objetivos del negocio con las prioridades estratégicas; fungir como dueños del sistema de gestión para el cumplimiento de la estrategia, siendo responsables del diseño de rutinas, contenidos y mecanismos de seguimiento, así como de la alineación organizacional necesaria para garantizar una ejecución disciplinada y consistente.</a:t>
            </a:r>
            <a:endParaRPr/>
          </a:p>
          <a:p>
            <a:pPr indent="-1079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t/>
            </a:r>
            <a:endParaRPr sz="10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alibri"/>
              <a:buAutoNum type="arabicPeriod"/>
            </a:pPr>
            <a:r>
              <a:rPr b="1" lang="es-ES" sz="1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Insights de Mercado y de la Competencia</a:t>
            </a:r>
            <a:r>
              <a:rPr lang="es-ES" sz="1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r>
              <a:rPr lang="es-ES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Incorporar de manera sistemática información de mercado y del entorno a través de foros, fuentes externas y análisis especializados, con el fin de proveer insights relevantes que fundamenten la toma de decisiones estratégicas. Esto incluye identificar tendencias macro, evaluar comparativamente a competidores, explorar adyacencias y nuevas oportunidades de negocio, así como traducir estos hallazgos en implicaciones claras y acciones para la organización.</a:t>
            </a:r>
            <a:endParaRPr/>
          </a:p>
          <a:p>
            <a:pPr indent="-1079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t/>
            </a:r>
            <a:endParaRPr sz="1000">
              <a:solidFill>
                <a:srgbClr val="000000"/>
              </a:solidFill>
              <a:highlight>
                <a:srgbClr val="FFFF00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AutoNum type="arabicPeriod"/>
            </a:pPr>
            <a:r>
              <a:rPr lang="es-ES" sz="1000">
                <a:solidFill>
                  <a:srgbClr val="000000"/>
                </a:solidFill>
                <a:highlight>
                  <a:srgbClr val="FFFF00"/>
                </a:highlight>
                <a:latin typeface="Calibri"/>
                <a:ea typeface="Calibri"/>
                <a:cs typeface="Calibri"/>
                <a:sym typeface="Calibri"/>
              </a:rPr>
              <a:t>Asegurar la alineación de la estrategia ante prioridades y portafolio de iniciativas de organización - Conexión con la Metodología y procesos -**Validar con DV.</a:t>
            </a:r>
            <a:endParaRPr sz="1000">
              <a:solidFill>
                <a:srgbClr val="000000"/>
              </a:solidFill>
              <a:highlight>
                <a:srgbClr val="FFFF00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-1079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t/>
            </a:r>
            <a:endParaRPr sz="1000">
              <a:solidFill>
                <a:srgbClr val="000000"/>
              </a:solidFill>
              <a:highlight>
                <a:srgbClr val="FFFF00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AutoNum type="arabicPeriod"/>
            </a:pPr>
            <a:r>
              <a:rPr b="1" lang="es-ES" sz="1000">
                <a:solidFill>
                  <a:srgbClr val="000000"/>
                </a:solidFill>
                <a:highlight>
                  <a:srgbClr val="FFFF00"/>
                </a:highlight>
                <a:latin typeface="Calibri"/>
                <a:ea typeface="Calibri"/>
                <a:cs typeface="Calibri"/>
                <a:sym typeface="Calibri"/>
              </a:rPr>
              <a:t>Insights de cartera de iniciativas estratégicas (non-owner): P</a:t>
            </a:r>
            <a:r>
              <a:rPr lang="es-ES" sz="1000">
                <a:solidFill>
                  <a:srgbClr val="000000"/>
                </a:solidFill>
                <a:highlight>
                  <a:srgbClr val="FFFF00"/>
                </a:highlight>
                <a:latin typeface="Calibri"/>
                <a:ea typeface="Calibri"/>
                <a:cs typeface="Calibri"/>
                <a:sym typeface="Calibri"/>
              </a:rPr>
              <a:t>roporcionar aportes estratégicos para los debates de priorización de iniciativas/proyectos propuestos en función de los objetivos corporativos y el posicionamiento a largo plazo. – Validar Contribución (Sandra), ya la ajusté de la original.</a:t>
            </a:r>
            <a:endParaRPr/>
          </a:p>
          <a:p>
            <a:pPr indent="-1079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t/>
            </a:r>
            <a:endParaRPr sz="1000">
              <a:solidFill>
                <a:srgbClr val="000000"/>
              </a:solidFill>
              <a:highlight>
                <a:srgbClr val="FFFF00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AutoNum type="arabicPeriod"/>
            </a:pPr>
            <a:r>
              <a:rPr b="1" lang="es-ES" sz="1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Desarrollo de Alianzas Estratégicas Externas: </a:t>
            </a:r>
            <a:r>
              <a:rPr lang="es-ES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Desarrollar y fortalecer relaciones estratégicas con instituciones académicas, empresariales y del ecosistema, con el objetivo de impulsar la generación de capacidades organizacionales, atraer y desarrollar talento para el negocio y promover iniciativas que eleven la sostenibilidad y competitividad de OXXO.</a:t>
            </a:r>
            <a:endParaRPr/>
          </a:p>
        </p:txBody>
      </p:sp>
      <p:sp>
        <p:nvSpPr>
          <p:cNvPr id="349" name="Google Shape;349;p7"/>
          <p:cNvSpPr txBox="1"/>
          <p:nvPr/>
        </p:nvSpPr>
        <p:spPr>
          <a:xfrm>
            <a:off x="266700" y="1176921"/>
            <a:ext cx="11668125" cy="553998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Propósito: </a:t>
            </a:r>
            <a:r>
              <a:rPr lang="es-ES" sz="1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Orquestar la ambición estratégica de OXXO Mx, corto-mediano-largo plazo, habilitando una planeación y alineación estratégica efectiva en toda la organización y apoyando la definición de la estrategia de negocio, asegurando el proceso de planeación estratégica anual, traduciendo la estrategia en roadmaps funcionales, asegurando un performance del negocio con Sistema de Getsión y apoyando las comunicaciones del CEO y el equipo directivo.</a:t>
            </a:r>
            <a:endParaRPr sz="1000">
              <a:solidFill>
                <a:schemeClr val="dk1"/>
              </a:solidFill>
              <a:highlight>
                <a:srgbClr val="FFFF00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8"/>
          <p:cNvSpPr txBox="1"/>
          <p:nvPr/>
        </p:nvSpPr>
        <p:spPr>
          <a:xfrm>
            <a:off x="190500" y="121330"/>
            <a:ext cx="7896000" cy="777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133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Descripción de Puesto | Gerente Sr. Estrategia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s-ES" sz="2133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Decisiones y Retos</a:t>
            </a:r>
            <a:endParaRPr b="0" i="1" sz="2133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8"/>
          <p:cNvSpPr txBox="1"/>
          <p:nvPr/>
        </p:nvSpPr>
        <p:spPr>
          <a:xfrm>
            <a:off x="819150" y="1366897"/>
            <a:ext cx="10563225" cy="1277273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100"/>
              <a:buFont typeface="Arial"/>
              <a:buNone/>
            </a:pPr>
            <a:r>
              <a:rPr b="1" i="0" lang="es-ES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Decisiones Relevantes del Puesto </a:t>
            </a:r>
            <a:endParaRPr sz="11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•"/>
            </a:pPr>
            <a:r>
              <a:rPr lang="es-ES" sz="11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Definir el rumbo estratégico del negocio, en un corto, mediano y largo plazo.</a:t>
            </a:r>
            <a:endParaRPr/>
          </a:p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•"/>
            </a:pPr>
            <a:r>
              <a:rPr lang="es-ES" sz="11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Definir objetivos clave para la organización que asegure la estrategia de negocio.</a:t>
            </a:r>
            <a:endParaRPr/>
          </a:p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•"/>
            </a:pPr>
            <a:r>
              <a:rPr lang="es-ES" sz="11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Priorizar las iniciativas estratégicas de acuerdo a prioridades y necesidades de negocio.</a:t>
            </a:r>
            <a:endParaRPr/>
          </a:p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•"/>
            </a:pPr>
            <a:r>
              <a:rPr lang="es-ES" sz="11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Alinear iniciativas con base en la definición estratégica del negocio.</a:t>
            </a:r>
            <a:endParaRPr/>
          </a:p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•"/>
            </a:pPr>
            <a:r>
              <a:rPr lang="es-ES" sz="11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Definir los foros o espacios de comunicación adecuados para </a:t>
            </a:r>
            <a:r>
              <a:rPr i="1" lang="es-ES" sz="11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cascadeo</a:t>
            </a:r>
            <a:r>
              <a:rPr lang="es-ES" sz="11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de estrategia de negocio.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8"/>
          <p:cNvSpPr txBox="1"/>
          <p:nvPr/>
        </p:nvSpPr>
        <p:spPr>
          <a:xfrm>
            <a:off x="819150" y="3505200"/>
            <a:ext cx="10563225" cy="938719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100"/>
              <a:buFont typeface="Arial"/>
              <a:buNone/>
            </a:pPr>
            <a:r>
              <a:rPr b="1" i="0" lang="es-ES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Principales Retos del Puesto </a:t>
            </a:r>
            <a:endParaRPr/>
          </a:p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•"/>
            </a:pPr>
            <a:r>
              <a:rPr lang="es-ES" sz="11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Definir y gestionar el sistema de gestión OXXO, cross-plataformas que permita la correcta definición y ejecución de la estrategia.</a:t>
            </a:r>
            <a:endParaRPr/>
          </a:p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•"/>
            </a:pPr>
            <a:r>
              <a:rPr lang="es-ES" sz="11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Poner sobre la mesa </a:t>
            </a:r>
            <a:r>
              <a:rPr i="1" lang="es-ES" sz="11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insights</a:t>
            </a:r>
            <a:r>
              <a:rPr lang="es-ES" sz="11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de mercado relevantes para la toma de decisiones estratégicas.</a:t>
            </a:r>
            <a:endParaRPr/>
          </a:p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•"/>
            </a:pPr>
            <a:r>
              <a:rPr lang="es-ES" sz="11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Decir y priorizar las capacidades organizacionales a desarrollar con base a la estrategia de negocio.</a:t>
            </a:r>
            <a:endParaRPr/>
          </a:p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•"/>
            </a:pPr>
            <a:r>
              <a:rPr lang="es-ES" sz="11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Construir un roadmap de iniciativas a desarrollar según las necesidades y estrategias de negocio y asegurar contar con las capacidades organizacionales para ello.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9"/>
          <p:cNvSpPr/>
          <p:nvPr/>
        </p:nvSpPr>
        <p:spPr>
          <a:xfrm>
            <a:off x="1349751" y="5634726"/>
            <a:ext cx="9641482" cy="956575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Char char="•"/>
            </a:pPr>
            <a:r>
              <a:rPr b="1" lang="es-ES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Alineación funcional</a:t>
            </a:r>
            <a:r>
              <a:rPr lang="es-ES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: Asociarse con las diferentes plataformas / funciones de negocio para convertir la estrategia en roadmaps procesables y mensurables; garantizando vínculos claros entre las prioridades estratégicas y los planes funcionales </a:t>
            </a:r>
            <a:endParaRPr/>
          </a:p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Char char="•"/>
            </a:pPr>
            <a:r>
              <a:rPr b="1" lang="es-ES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Comunicación Estratégica</a:t>
            </a:r>
            <a:r>
              <a:rPr lang="es-ES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: Preparar narrativas estratégicas y materiales a nivel Dirección para apoyar al CEO y al equipo de liderazgo en la articulación de la visión oficial de la estrategia, el progreso y las opciones críticas; creación de materiales para foros clave (por ejemplo, reuniones de EDi, reuniones estratégicas fuera de la oficina, etc.), así como la creación, diseño y orquestación de los Foros Anuales de Comunicación OXXO para asegurar la alineación estratégica transversal, incluyendo el diseño integral de la reunión y la coordinación inter-áreas.</a:t>
            </a:r>
            <a:endParaRPr/>
          </a:p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Char char="•"/>
            </a:pPr>
            <a:r>
              <a:rPr b="1" lang="es-ES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Gobierno Estratégico y Sistema de Gestión: </a:t>
            </a:r>
            <a:r>
              <a:rPr lang="es-ES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Definir y asegurar la alineación de los objetivos del negocio con las prioridades estratégicas; fungir como dueños del sistema de gestión para el cumplimiento de la estrategia, siendo responsables del diseño de rutinas, contenidos y mecanismos de seguimiento, así como de la alineación organizacional necesaria para garantizar una ejecución disciplinada y consistente.</a:t>
            </a:r>
            <a:endParaRPr/>
          </a:p>
        </p:txBody>
      </p:sp>
      <p:sp>
        <p:nvSpPr>
          <p:cNvPr id="364" name="Google Shape;364;p9"/>
          <p:cNvSpPr/>
          <p:nvPr/>
        </p:nvSpPr>
        <p:spPr>
          <a:xfrm>
            <a:off x="5236910" y="1594109"/>
            <a:ext cx="1718177" cy="4536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Director Estrategia y Transformación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s-ES" sz="1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Diego Velarde</a:t>
            </a:r>
            <a:endParaRPr/>
          </a:p>
        </p:txBody>
      </p:sp>
      <p:cxnSp>
        <p:nvCxnSpPr>
          <p:cNvPr id="365" name="Google Shape;365;p9"/>
          <p:cNvCxnSpPr>
            <a:stCxn id="364" idx="2"/>
          </p:cNvCxnSpPr>
          <p:nvPr/>
        </p:nvCxnSpPr>
        <p:spPr>
          <a:xfrm>
            <a:off x="6095999" y="2047709"/>
            <a:ext cx="0" cy="164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pic>
        <p:nvPicPr>
          <p:cNvPr id="366" name="Google Shape;366;p9">
            <a:hlinkClick action="ppaction://hlinksldjump"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653328" y="96838"/>
            <a:ext cx="314834" cy="314834"/>
          </a:xfrm>
          <a:prstGeom prst="rect">
            <a:avLst/>
          </a:prstGeom>
          <a:noFill/>
          <a:ln>
            <a:noFill/>
          </a:ln>
        </p:spPr>
      </p:pic>
      <p:sp>
        <p:nvSpPr>
          <p:cNvPr id="367" name="Google Shape;367;p9"/>
          <p:cNvSpPr txBox="1"/>
          <p:nvPr/>
        </p:nvSpPr>
        <p:spPr>
          <a:xfrm>
            <a:off x="192212" y="1167055"/>
            <a:ext cx="4798888" cy="10310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Propósito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Orquestar la ambición estratégica de OXXO Mx, corto-mediano-largo plazo, habilitando una planeación y alineación estratégica efectiva en toda la organización y apoyando la definición de la estrategia de negocio, asegurando el proceso de planeación estratégica anual, traduciendo la estrategia en roadmaps funcionales y apoyando las comunicaciones del CEO y el equipo directivo.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9"/>
          <p:cNvSpPr/>
          <p:nvPr/>
        </p:nvSpPr>
        <p:spPr>
          <a:xfrm>
            <a:off x="1367921" y="3340933"/>
            <a:ext cx="4727462" cy="219040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Char char="•"/>
            </a:pPr>
            <a:r>
              <a:rPr b="1" lang="es-ES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Desarrollo de la Estrategia</a:t>
            </a:r>
            <a:r>
              <a:rPr lang="es-ES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: Brindar soporte a la Dirección de Estrategia y Transformación en la definición de las estrategias corporativas y de negocio de OXXO México.</a:t>
            </a:r>
            <a:endParaRPr/>
          </a:p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Char char="•"/>
            </a:pPr>
            <a:r>
              <a:rPr b="1" lang="es-ES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Iniciativas estratégicas</a:t>
            </a:r>
            <a:r>
              <a:rPr lang="es-ES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: Brindar apoyo práctico, según sea necesario, a los equipos de negocios para definir iniciativas de alto impacto (propuesta de valor, justificación, necesidades de recursos); garantizando que cada iniciativa respalde a la Estrategia OXXO Mx.</a:t>
            </a:r>
            <a:endParaRPr b="1" sz="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Char char="•"/>
            </a:pPr>
            <a:r>
              <a:rPr b="1" lang="es-ES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Insights de Mercado y de la Competencia</a:t>
            </a:r>
            <a:r>
              <a:rPr lang="es-ES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r>
              <a:rPr lang="es-ES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Incorporar de manera sistemática información de mercado y del entorno a través de foros, fuentes externas y análisis especializados, con el fin de proveer insights relevantes que fundamenten la toma de decisiones estratégicas. Esto incluye identificar tendencias macro, evaluar comparativamente a competidores, explorar adyacencias y nuevas oportunidades de negocio, así como traducir estos hallazgos en implicaciones claras y acciones para la organización.</a:t>
            </a:r>
            <a:endParaRPr/>
          </a:p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Char char="•"/>
            </a:pPr>
            <a:r>
              <a:rPr b="1" lang="es-ES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Insights de cartera de iniciativas estratégicas (non-owner): P</a:t>
            </a:r>
            <a:r>
              <a:rPr lang="es-ES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roporcionar aportes estratégicos para los debates de priorización de iniciativas/proyectos propuestos en función de los objetivos corporativos y el posicionamiento a largo plazo. – Validar Contribución (Sandra), ya la ajusté de la original.</a:t>
            </a:r>
            <a:endParaRPr/>
          </a:p>
        </p:txBody>
      </p:sp>
      <p:sp>
        <p:nvSpPr>
          <p:cNvPr id="369" name="Google Shape;369;p9"/>
          <p:cNvSpPr txBox="1"/>
          <p:nvPr>
            <p:ph type="title"/>
          </p:nvPr>
        </p:nvSpPr>
        <p:spPr>
          <a:xfrm>
            <a:off x="82927" y="161576"/>
            <a:ext cx="7896000" cy="777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Principales contribuciones del área</a:t>
            </a:r>
            <a:br>
              <a:rPr lang="es-ES"/>
            </a:br>
            <a:r>
              <a:rPr b="0" lang="es-ES"/>
              <a:t>Estrategia y Transformación – Estrategia</a:t>
            </a:r>
            <a:endParaRPr b="0"/>
          </a:p>
        </p:txBody>
      </p:sp>
      <p:sp>
        <p:nvSpPr>
          <p:cNvPr id="370" name="Google Shape;370;p9"/>
          <p:cNvSpPr/>
          <p:nvPr/>
        </p:nvSpPr>
        <p:spPr>
          <a:xfrm>
            <a:off x="5290963" y="2151104"/>
            <a:ext cx="1608840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Gerente Sr Estrategia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s-ES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Sandra Martínez</a:t>
            </a:r>
            <a:endParaRPr/>
          </a:p>
        </p:txBody>
      </p:sp>
      <p:sp>
        <p:nvSpPr>
          <p:cNvPr id="371" name="Google Shape;371;p9"/>
          <p:cNvSpPr/>
          <p:nvPr/>
        </p:nvSpPr>
        <p:spPr>
          <a:xfrm>
            <a:off x="7889502" y="2783940"/>
            <a:ext cx="1476000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Responsable Planeación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s-ES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Esmeralda González</a:t>
            </a:r>
            <a:endParaRPr/>
          </a:p>
        </p:txBody>
      </p:sp>
      <p:sp>
        <p:nvSpPr>
          <p:cNvPr id="372" name="Google Shape;372;p9"/>
          <p:cNvSpPr/>
          <p:nvPr/>
        </p:nvSpPr>
        <p:spPr>
          <a:xfrm>
            <a:off x="2993652" y="2783940"/>
            <a:ext cx="1476000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Responsable Estrategia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s-ES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Marcelo Sáenz</a:t>
            </a:r>
            <a:endParaRPr i="1"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73" name="Google Shape;373;p9"/>
          <p:cNvCxnSpPr>
            <a:stCxn id="370" idx="2"/>
            <a:endCxn id="372" idx="0"/>
          </p:cNvCxnSpPr>
          <p:nvPr/>
        </p:nvCxnSpPr>
        <p:spPr>
          <a:xfrm rot="5400000">
            <a:off x="4823983" y="1512404"/>
            <a:ext cx="179100" cy="2363700"/>
          </a:xfrm>
          <a:prstGeom prst="bentConnector3">
            <a:avLst>
              <a:gd fmla="val 50038" name="adj1"/>
            </a:avLst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74" name="Google Shape;374;p9"/>
          <p:cNvCxnSpPr>
            <a:stCxn id="370" idx="2"/>
            <a:endCxn id="371" idx="0"/>
          </p:cNvCxnSpPr>
          <p:nvPr/>
        </p:nvCxnSpPr>
        <p:spPr>
          <a:xfrm flipH="1" rot="-5400000">
            <a:off x="7271833" y="1428254"/>
            <a:ext cx="179100" cy="2532000"/>
          </a:xfrm>
          <a:prstGeom prst="bentConnector3">
            <a:avLst>
              <a:gd fmla="val 50038" name="adj1"/>
            </a:avLst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75" name="Google Shape;375;p9"/>
          <p:cNvSpPr/>
          <p:nvPr/>
        </p:nvSpPr>
        <p:spPr>
          <a:xfrm>
            <a:off x="6263771" y="3340932"/>
            <a:ext cx="4727462" cy="219040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Char char="•"/>
            </a:pPr>
            <a:r>
              <a:rPr b="1" lang="es-ES" sz="9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Desarrollo de Capacidades Organizacionales: </a:t>
            </a:r>
            <a:r>
              <a:rPr lang="es-ES" sz="9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Orquestar el desarrollo de capacidades organizacionales con las áreas involucradas de acuerdo con la planeación estratégica de negocio, buscando el desarrollo de ventajas competitivas al corto-mediano-largo plazo y la sostenibilidad de estas </a:t>
            </a:r>
            <a:endParaRPr/>
          </a:p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Char char="•"/>
            </a:pPr>
            <a:r>
              <a:rPr b="1" lang="es-ES" sz="9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Proceso de Planeación</a:t>
            </a:r>
            <a:r>
              <a:rPr lang="es-ES" sz="9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: Liderar el ciclo de planeación estratégica end to end; alineando tiempos y resultados, facilitando los debates sobre priorización y alineación; así como garantizando la responsabilidad organizacional en el proceso.</a:t>
            </a:r>
            <a:endParaRPr/>
          </a:p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Char char="•"/>
            </a:pPr>
            <a:r>
              <a:rPr b="1" lang="es-ES" sz="9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Desarrollo de Alianzas Estratégicas Externas: </a:t>
            </a:r>
            <a:r>
              <a:rPr lang="es-ES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Desarrollar y fortalecer relaciones estratégicas con instituciones académicas, empresariales y del ecosistema, con el objetivo de impulsar la generación de capacidades organizacionales, atraer y desarrollar talento para el negocio y promover iniciativas que eleven la sostenibilidad y competitividad de OXXO.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10"/>
          <p:cNvSpPr txBox="1"/>
          <p:nvPr/>
        </p:nvSpPr>
        <p:spPr>
          <a:xfrm>
            <a:off x="942977" y="1313974"/>
            <a:ext cx="9048750" cy="7386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Objetivo: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s-E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Entender los procesos core y que pudieron haber tenido alguna modificación, así como entregables y premisas principales del área.  </a:t>
            </a:r>
            <a:endParaRPr i="1"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10"/>
          <p:cNvSpPr txBox="1"/>
          <p:nvPr>
            <p:ph type="title"/>
          </p:nvPr>
        </p:nvSpPr>
        <p:spPr>
          <a:xfrm>
            <a:off x="172499" y="141131"/>
            <a:ext cx="7896000" cy="777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Interacciones entre áreas y procesos clave</a:t>
            </a:r>
            <a:br>
              <a:rPr lang="es-ES"/>
            </a:br>
            <a:r>
              <a:rPr b="0" lang="es-ES"/>
              <a:t>Estrategia y Transformación – Estrategia</a:t>
            </a:r>
            <a:endParaRPr/>
          </a:p>
        </p:txBody>
      </p:sp>
      <p:sp>
        <p:nvSpPr>
          <p:cNvPr id="383" name="Google Shape;383;p10"/>
          <p:cNvSpPr/>
          <p:nvPr/>
        </p:nvSpPr>
        <p:spPr>
          <a:xfrm>
            <a:off x="704232" y="2143441"/>
            <a:ext cx="2512919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Calibri"/>
              <a:buNone/>
            </a:pPr>
            <a:r>
              <a:rPr b="1" i="0" lang="es-ES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Proceso/Actividad</a:t>
            </a:r>
            <a:endParaRPr b="0" i="1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10"/>
          <p:cNvSpPr/>
          <p:nvPr/>
        </p:nvSpPr>
        <p:spPr>
          <a:xfrm>
            <a:off x="704232" y="3045633"/>
            <a:ext cx="2512919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alibri"/>
              <a:buNone/>
            </a:pPr>
            <a:r>
              <a:rPr b="1" i="0" lang="es-ES" sz="1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1.- Proce</a:t>
            </a:r>
            <a:r>
              <a:rPr b="1" lang="es-ES" sz="1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so de estrategia y planeación anual</a:t>
            </a:r>
            <a:endParaRPr b="0" i="1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10"/>
          <p:cNvSpPr txBox="1"/>
          <p:nvPr/>
        </p:nvSpPr>
        <p:spPr>
          <a:xfrm>
            <a:off x="605603" y="2829837"/>
            <a:ext cx="6096000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s-ES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Enlistar por prioridad e impacto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10"/>
          <p:cNvSpPr txBox="1"/>
          <p:nvPr/>
        </p:nvSpPr>
        <p:spPr>
          <a:xfrm>
            <a:off x="3287545" y="2829837"/>
            <a:ext cx="6096000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s-ES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Identificar (Accountable) y áreas impactadas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10"/>
          <p:cNvSpPr/>
          <p:nvPr/>
        </p:nvSpPr>
        <p:spPr>
          <a:xfrm>
            <a:off x="3326464" y="3045281"/>
            <a:ext cx="8388000" cy="4536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p10"/>
          <p:cNvSpPr/>
          <p:nvPr/>
        </p:nvSpPr>
        <p:spPr>
          <a:xfrm>
            <a:off x="704232" y="3577536"/>
            <a:ext cx="2512919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alibri"/>
              <a:buNone/>
            </a:pPr>
            <a:r>
              <a:rPr b="1" lang="es-ES" sz="1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b="1" i="0" lang="es-ES" sz="1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.- Sistema de gestión  </a:t>
            </a:r>
            <a:endParaRPr b="0" i="1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10"/>
          <p:cNvSpPr/>
          <p:nvPr/>
        </p:nvSpPr>
        <p:spPr>
          <a:xfrm>
            <a:off x="3326464" y="3577184"/>
            <a:ext cx="8388000" cy="4536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10"/>
          <p:cNvSpPr/>
          <p:nvPr/>
        </p:nvSpPr>
        <p:spPr>
          <a:xfrm>
            <a:off x="704232" y="4109087"/>
            <a:ext cx="2512919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alibri"/>
              <a:buNone/>
            </a:pPr>
            <a:r>
              <a:rPr b="1" lang="es-ES" sz="1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r>
              <a:rPr b="1" i="0" lang="es-ES" sz="1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.- Comunicación estratégica </a:t>
            </a:r>
            <a:endParaRPr b="0" i="1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p10"/>
          <p:cNvSpPr/>
          <p:nvPr/>
        </p:nvSpPr>
        <p:spPr>
          <a:xfrm>
            <a:off x="3326464" y="4108735"/>
            <a:ext cx="8388000" cy="4536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p10"/>
          <p:cNvSpPr/>
          <p:nvPr/>
        </p:nvSpPr>
        <p:spPr>
          <a:xfrm>
            <a:off x="704232" y="4657823"/>
            <a:ext cx="2512919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alibri"/>
              <a:buNone/>
            </a:pPr>
            <a:r>
              <a:rPr b="1" lang="es-ES" sz="1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r>
              <a:rPr b="1" i="0" lang="es-ES" sz="1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.- Iniciativas estratégicas </a:t>
            </a:r>
            <a:endParaRPr b="0" i="1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p10"/>
          <p:cNvSpPr/>
          <p:nvPr/>
        </p:nvSpPr>
        <p:spPr>
          <a:xfrm>
            <a:off x="3326464" y="4657471"/>
            <a:ext cx="8388000" cy="4536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10"/>
          <p:cNvSpPr/>
          <p:nvPr/>
        </p:nvSpPr>
        <p:spPr>
          <a:xfrm>
            <a:off x="704232" y="5225056"/>
            <a:ext cx="2512919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alibri"/>
              <a:buNone/>
            </a:pPr>
            <a:r>
              <a:rPr b="1" lang="es-ES" sz="1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r>
              <a:rPr b="1" i="0" lang="es-ES" sz="1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.- Capacidades organizacionales</a:t>
            </a:r>
            <a:endParaRPr b="0" i="1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10"/>
          <p:cNvSpPr/>
          <p:nvPr/>
        </p:nvSpPr>
        <p:spPr>
          <a:xfrm>
            <a:off x="3326464" y="5224704"/>
            <a:ext cx="8388000" cy="4536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" name="Google Shape;396;p10"/>
          <p:cNvSpPr/>
          <p:nvPr/>
        </p:nvSpPr>
        <p:spPr>
          <a:xfrm>
            <a:off x="7520464" y="2143441"/>
            <a:ext cx="1827077" cy="4536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Responsable Planeación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s-ES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Esmeralda González</a:t>
            </a:r>
            <a:endParaRPr/>
          </a:p>
        </p:txBody>
      </p:sp>
      <p:sp>
        <p:nvSpPr>
          <p:cNvPr id="397" name="Google Shape;397;p10"/>
          <p:cNvSpPr/>
          <p:nvPr/>
        </p:nvSpPr>
        <p:spPr>
          <a:xfrm>
            <a:off x="5467352" y="2143441"/>
            <a:ext cx="1831333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Responsable Estrategia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s-ES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Marcelo Sáenz</a:t>
            </a:r>
            <a:endParaRPr i="1"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p10"/>
          <p:cNvSpPr/>
          <p:nvPr/>
        </p:nvSpPr>
        <p:spPr>
          <a:xfrm>
            <a:off x="9548886" y="2143441"/>
            <a:ext cx="2165578" cy="453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Entregable</a:t>
            </a:r>
            <a:endParaRPr/>
          </a:p>
        </p:txBody>
      </p:sp>
      <p:sp>
        <p:nvSpPr>
          <p:cNvPr id="399" name="Google Shape;399;p10"/>
          <p:cNvSpPr txBox="1"/>
          <p:nvPr/>
        </p:nvSpPr>
        <p:spPr>
          <a:xfrm>
            <a:off x="9395474" y="3119781"/>
            <a:ext cx="2200332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Ejercicio de estrategia anual – prioridades definidas</a:t>
            </a:r>
            <a:endParaRPr/>
          </a:p>
        </p:txBody>
      </p:sp>
      <p:sp>
        <p:nvSpPr>
          <p:cNvPr id="400" name="Google Shape;400;p10"/>
          <p:cNvSpPr txBox="1"/>
          <p:nvPr/>
        </p:nvSpPr>
        <p:spPr>
          <a:xfrm>
            <a:off x="9362520" y="3568069"/>
            <a:ext cx="2320141" cy="5078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Rutinas de gestión, definición de objetivos, digital stack </a:t>
            </a:r>
            <a:r>
              <a:rPr lang="es-ES" sz="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(herramienta para toma de decisiones)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Google Shape;401;p10"/>
          <p:cNvSpPr txBox="1"/>
          <p:nvPr/>
        </p:nvSpPr>
        <p:spPr>
          <a:xfrm>
            <a:off x="9239972" y="4084547"/>
            <a:ext cx="2783405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al"/>
              <a:buChar char="•"/>
            </a:pPr>
            <a:r>
              <a:rPr lang="es-ES" sz="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Materiales CEO</a:t>
            </a:r>
            <a:endParaRPr/>
          </a:p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al"/>
              <a:buChar char="•"/>
            </a:pPr>
            <a:r>
              <a:rPr lang="es-ES" sz="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Guías de materiales para EDI </a:t>
            </a:r>
            <a:endParaRPr/>
          </a:p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al"/>
              <a:buChar char="•"/>
            </a:pPr>
            <a:r>
              <a:rPr lang="es-ES" sz="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Materiales oficiales internos y externos de la organización</a:t>
            </a:r>
            <a:endParaRPr/>
          </a:p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al"/>
              <a:buChar char="•"/>
            </a:pPr>
            <a:r>
              <a:rPr lang="es-ES" sz="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Creación de diseño de foros particulares.</a:t>
            </a:r>
            <a:endParaRPr/>
          </a:p>
        </p:txBody>
      </p:sp>
      <p:sp>
        <p:nvSpPr>
          <p:cNvPr id="402" name="Google Shape;402;p10"/>
          <p:cNvSpPr txBox="1"/>
          <p:nvPr/>
        </p:nvSpPr>
        <p:spPr>
          <a:xfrm>
            <a:off x="4017972" y="3130843"/>
            <a:ext cx="713676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/>
          </a:p>
        </p:txBody>
      </p:sp>
      <p:sp>
        <p:nvSpPr>
          <p:cNvPr id="403" name="Google Shape;403;p10"/>
          <p:cNvSpPr txBox="1"/>
          <p:nvPr/>
        </p:nvSpPr>
        <p:spPr>
          <a:xfrm>
            <a:off x="9322234" y="5266838"/>
            <a:ext cx="286976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Definición de capacidades prioritarias para las sostenibilidad del negocio en el largo plazo</a:t>
            </a:r>
            <a:endParaRPr/>
          </a:p>
        </p:txBody>
      </p:sp>
      <p:sp>
        <p:nvSpPr>
          <p:cNvPr id="404" name="Google Shape;404;p10"/>
          <p:cNvSpPr txBox="1"/>
          <p:nvPr/>
        </p:nvSpPr>
        <p:spPr>
          <a:xfrm>
            <a:off x="8335545" y="5279866"/>
            <a:ext cx="783486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</a:t>
            </a:r>
            <a:endParaRPr/>
          </a:p>
        </p:txBody>
      </p:sp>
      <p:sp>
        <p:nvSpPr>
          <p:cNvPr id="405" name="Google Shape;405;p10"/>
          <p:cNvSpPr txBox="1"/>
          <p:nvPr/>
        </p:nvSpPr>
        <p:spPr>
          <a:xfrm>
            <a:off x="9395474" y="4772058"/>
            <a:ext cx="2224273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Road map de priorización de iniciativas</a:t>
            </a:r>
            <a:endParaRPr/>
          </a:p>
        </p:txBody>
      </p:sp>
      <p:sp>
        <p:nvSpPr>
          <p:cNvPr id="406" name="Google Shape;406;p10"/>
          <p:cNvSpPr/>
          <p:nvPr/>
        </p:nvSpPr>
        <p:spPr>
          <a:xfrm>
            <a:off x="3391364" y="2143441"/>
            <a:ext cx="1831333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Responsable Estrategia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s-ES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Marcelo Sáenz</a:t>
            </a:r>
            <a:endParaRPr i="1"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10"/>
          <p:cNvSpPr txBox="1"/>
          <p:nvPr/>
        </p:nvSpPr>
        <p:spPr>
          <a:xfrm>
            <a:off x="6220272" y="4745771"/>
            <a:ext cx="2898759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</a:t>
            </a:r>
            <a:endParaRPr/>
          </a:p>
        </p:txBody>
      </p:sp>
      <p:sp>
        <p:nvSpPr>
          <p:cNvPr id="408" name="Google Shape;408;p10"/>
          <p:cNvSpPr txBox="1"/>
          <p:nvPr/>
        </p:nvSpPr>
        <p:spPr>
          <a:xfrm>
            <a:off x="6220272" y="3130843"/>
            <a:ext cx="713676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</a:t>
            </a:r>
            <a:endParaRPr/>
          </a:p>
        </p:txBody>
      </p:sp>
      <p:sp>
        <p:nvSpPr>
          <p:cNvPr id="409" name="Google Shape;409;p10"/>
          <p:cNvSpPr txBox="1"/>
          <p:nvPr/>
        </p:nvSpPr>
        <p:spPr>
          <a:xfrm>
            <a:off x="8335428" y="3130843"/>
            <a:ext cx="713676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</a:t>
            </a:r>
            <a:endParaRPr/>
          </a:p>
        </p:txBody>
      </p:sp>
      <p:sp>
        <p:nvSpPr>
          <p:cNvPr id="410" name="Google Shape;410;p10"/>
          <p:cNvSpPr txBox="1"/>
          <p:nvPr/>
        </p:nvSpPr>
        <p:spPr>
          <a:xfrm>
            <a:off x="4023660" y="3704160"/>
            <a:ext cx="713676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/>
          </a:p>
        </p:txBody>
      </p:sp>
      <p:sp>
        <p:nvSpPr>
          <p:cNvPr id="411" name="Google Shape;411;p10"/>
          <p:cNvSpPr txBox="1"/>
          <p:nvPr/>
        </p:nvSpPr>
        <p:spPr>
          <a:xfrm>
            <a:off x="6225960" y="3704160"/>
            <a:ext cx="713676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</a:t>
            </a:r>
            <a:endParaRPr/>
          </a:p>
        </p:txBody>
      </p:sp>
      <p:sp>
        <p:nvSpPr>
          <p:cNvPr id="412" name="Google Shape;412;p10"/>
          <p:cNvSpPr txBox="1"/>
          <p:nvPr/>
        </p:nvSpPr>
        <p:spPr>
          <a:xfrm>
            <a:off x="8341116" y="3704160"/>
            <a:ext cx="713676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</a:t>
            </a:r>
            <a:endParaRPr/>
          </a:p>
        </p:txBody>
      </p:sp>
      <p:sp>
        <p:nvSpPr>
          <p:cNvPr id="413" name="Google Shape;413;p10"/>
          <p:cNvSpPr txBox="1"/>
          <p:nvPr/>
        </p:nvSpPr>
        <p:spPr>
          <a:xfrm>
            <a:off x="4017972" y="4206192"/>
            <a:ext cx="713676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/>
          </a:p>
        </p:txBody>
      </p:sp>
      <p:sp>
        <p:nvSpPr>
          <p:cNvPr id="414" name="Google Shape;414;p10"/>
          <p:cNvSpPr txBox="1"/>
          <p:nvPr/>
        </p:nvSpPr>
        <p:spPr>
          <a:xfrm>
            <a:off x="6220272" y="4206192"/>
            <a:ext cx="713676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</a:t>
            </a:r>
            <a:endParaRPr/>
          </a:p>
        </p:txBody>
      </p:sp>
      <p:sp>
        <p:nvSpPr>
          <p:cNvPr id="415" name="Google Shape;415;p10"/>
          <p:cNvSpPr txBox="1"/>
          <p:nvPr/>
        </p:nvSpPr>
        <p:spPr>
          <a:xfrm>
            <a:off x="8335428" y="4206192"/>
            <a:ext cx="713676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11"/>
          <p:cNvSpPr txBox="1"/>
          <p:nvPr>
            <p:ph type="title"/>
          </p:nvPr>
        </p:nvSpPr>
        <p:spPr>
          <a:xfrm>
            <a:off x="609600" y="149905"/>
            <a:ext cx="7896000" cy="777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Premisas Estrategia</a:t>
            </a:r>
            <a:endParaRPr/>
          </a:p>
        </p:txBody>
      </p:sp>
      <p:sp>
        <p:nvSpPr>
          <p:cNvPr id="422" name="Google Shape;422;p11"/>
          <p:cNvSpPr/>
          <p:nvPr/>
        </p:nvSpPr>
        <p:spPr>
          <a:xfrm>
            <a:off x="418482" y="2198503"/>
            <a:ext cx="11010232" cy="3287897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Premisas del área: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es-ES" sz="1400">
                <a:solidFill>
                  <a:schemeClr val="dk1"/>
                </a:solidFill>
                <a:highlight>
                  <a:srgbClr val="FFFF00"/>
                </a:highlight>
                <a:latin typeface="Calibri"/>
                <a:ea typeface="Calibri"/>
                <a:cs typeface="Calibri"/>
                <a:sym typeface="Calibri"/>
              </a:rPr>
              <a:t>Validación de comunicación de información estratégica a entidades externas (proveedores, instituciones, académicos, etc.)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es-ES" sz="1400">
                <a:solidFill>
                  <a:schemeClr val="dk1"/>
                </a:solidFill>
                <a:highlight>
                  <a:srgbClr val="FFFF00"/>
                </a:highlight>
                <a:latin typeface="Calibri"/>
                <a:ea typeface="Calibri"/>
                <a:cs typeface="Calibri"/>
                <a:sym typeface="Calibri"/>
              </a:rPr>
              <a:t>Sistema de gestión…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es-ES" sz="1400">
                <a:solidFill>
                  <a:schemeClr val="dk1"/>
                </a:solidFill>
                <a:highlight>
                  <a:srgbClr val="FFFF00"/>
                </a:highlight>
                <a:latin typeface="Calibri"/>
                <a:ea typeface="Calibri"/>
                <a:cs typeface="Calibri"/>
                <a:sym typeface="Calibri"/>
              </a:rPr>
              <a:t>Estrategia…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es-ES" sz="1400">
                <a:solidFill>
                  <a:schemeClr val="dk1"/>
                </a:solidFill>
                <a:highlight>
                  <a:srgbClr val="FFFF00"/>
                </a:highlight>
                <a:latin typeface="Calibri"/>
                <a:ea typeface="Calibri"/>
                <a:cs typeface="Calibri"/>
                <a:sym typeface="Calibri"/>
              </a:rPr>
              <a:t>Como asegurar que cada iniciativa definida tenga relación con objetivos del año…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es-ES" sz="1400">
                <a:solidFill>
                  <a:schemeClr val="dk1"/>
                </a:solidFill>
                <a:highlight>
                  <a:srgbClr val="FFFF00"/>
                </a:highlight>
                <a:latin typeface="Calibri"/>
                <a:ea typeface="Calibri"/>
                <a:cs typeface="Calibri"/>
                <a:sym typeface="Calibri"/>
              </a:rPr>
              <a:t>Vinculación se tengan documentos firmados… etc.</a:t>
            </a:r>
            <a:endParaRPr/>
          </a:p>
          <a:p>
            <a:pPr indent="-1968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b="1"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968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b="1"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968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b="1"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968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b="1"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968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b="1"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968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b="1"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" name="Google Shape;423;p11"/>
          <p:cNvSpPr/>
          <p:nvPr/>
        </p:nvSpPr>
        <p:spPr>
          <a:xfrm>
            <a:off x="4400550" y="1137691"/>
            <a:ext cx="7028164" cy="936987"/>
          </a:xfrm>
          <a:prstGeom prst="wedgeRectCallout">
            <a:avLst>
              <a:gd fmla="val -20833" name="adj1"/>
              <a:gd fmla="val 62500" name="adj2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Una </a:t>
            </a:r>
            <a:r>
              <a:rPr b="1" lang="es-ES"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premisa</a:t>
            </a:r>
            <a:r>
              <a:rPr lang="es-ES"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es un principio base que establece las condiciones y lineamientos fundamentales bajo los cuales un área debe operar y tomar decisiones. Funciona como una condición inicial que orienta la manera en que un área opera, define sus responsabilidades y establece los criterios bajo los cuales deben ejecutarse sus actividades.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s-ES"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*Ejemplo de premisa de Organización: Ningún movimiento organizacional puede ejecutarse sin la aprobación formal de Organización.</a:t>
            </a:r>
            <a:endParaRPr/>
          </a:p>
        </p:txBody>
      </p:sp>
      <p:sp>
        <p:nvSpPr>
          <p:cNvPr id="424" name="Google Shape;424;p11"/>
          <p:cNvSpPr/>
          <p:nvPr/>
        </p:nvSpPr>
        <p:spPr>
          <a:xfrm>
            <a:off x="609600" y="1527048"/>
            <a:ext cx="1347216" cy="35661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Pendiente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p12"/>
          <p:cNvSpPr txBox="1"/>
          <p:nvPr>
            <p:ph type="title"/>
          </p:nvPr>
        </p:nvSpPr>
        <p:spPr>
          <a:xfrm>
            <a:off x="609600" y="149905"/>
            <a:ext cx="7896000" cy="777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Preguntas de reflexión</a:t>
            </a:r>
            <a:endParaRPr/>
          </a:p>
        </p:txBody>
      </p:sp>
      <p:sp>
        <p:nvSpPr>
          <p:cNvPr id="431" name="Google Shape;431;p12"/>
          <p:cNvSpPr txBox="1"/>
          <p:nvPr>
            <p:ph idx="1" type="body"/>
          </p:nvPr>
        </p:nvSpPr>
        <p:spPr>
          <a:xfrm>
            <a:off x="609600" y="1338943"/>
            <a:ext cx="10972800" cy="48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57200" lvl="0" marL="457200" rtl="0" algn="just">
              <a:spcBef>
                <a:spcPts val="0"/>
              </a:spcBef>
              <a:spcAft>
                <a:spcPts val="0"/>
              </a:spcAft>
              <a:buSzPts val="1800"/>
              <a:buFont typeface="Calibri"/>
              <a:buAutoNum type="arabicPeriod"/>
            </a:pPr>
            <a:r>
              <a:rPr i="1" lang="es-ES" sz="1800"/>
              <a:t>¿Tu Descripción de Puesto y el funciograma de tu área reflejan con precisión las actividades y responsabilidades que realmente realizas en el día a día (TO BE)?</a:t>
            </a:r>
            <a:endParaRPr/>
          </a:p>
          <a:p>
            <a:pPr indent="-342900" lvl="0" marL="457200" rtl="0" algn="just">
              <a:spcBef>
                <a:spcPts val="448"/>
              </a:spcBef>
              <a:spcAft>
                <a:spcPts val="0"/>
              </a:spcAft>
              <a:buSzPts val="1800"/>
              <a:buFont typeface="Calibri"/>
              <a:buNone/>
            </a:pPr>
            <a:r>
              <a:t/>
            </a:r>
            <a:endParaRPr i="1" sz="1800"/>
          </a:p>
          <a:p>
            <a:pPr indent="-457200" lvl="0" marL="457200" rtl="0" algn="just">
              <a:spcBef>
                <a:spcPts val="448"/>
              </a:spcBef>
              <a:spcAft>
                <a:spcPts val="0"/>
              </a:spcAft>
              <a:buSzPts val="1800"/>
              <a:buFont typeface="Calibri"/>
              <a:buAutoNum type="arabicPeriod"/>
            </a:pPr>
            <a:r>
              <a:rPr i="1" lang="es-ES" sz="1800"/>
              <a:t>¿Tienes alguna duda específica sobre el funcionamiento de tu área o sobre la estructura de la organización?</a:t>
            </a:r>
            <a:endParaRPr/>
          </a:p>
          <a:p>
            <a:pPr indent="-342900" lvl="0" marL="457200" rtl="0" algn="just">
              <a:spcBef>
                <a:spcPts val="448"/>
              </a:spcBef>
              <a:spcAft>
                <a:spcPts val="0"/>
              </a:spcAft>
              <a:buSzPts val="1800"/>
              <a:buFont typeface="Calibri"/>
              <a:buNone/>
            </a:pPr>
            <a:r>
              <a:t/>
            </a:r>
            <a:endParaRPr i="1" sz="1800"/>
          </a:p>
          <a:p>
            <a:pPr indent="-457200" lvl="0" marL="457200" rtl="0" algn="just">
              <a:spcBef>
                <a:spcPts val="448"/>
              </a:spcBef>
              <a:spcAft>
                <a:spcPts val="0"/>
              </a:spcAft>
              <a:buSzPts val="1800"/>
              <a:buFont typeface="Calibri"/>
              <a:buAutoNum type="arabicPeriod"/>
            </a:pPr>
            <a:r>
              <a:rPr i="1" lang="es-ES" sz="1800"/>
              <a:t>¿Existe algún proceso que consideres necesario rediseñar para mejorar las interacciones, la eficiencia o el funcionamiento general de tu área?</a:t>
            </a:r>
            <a:endParaRPr/>
          </a:p>
          <a:p>
            <a:pPr indent="0" lvl="0" marL="0" rtl="0" algn="just">
              <a:spcBef>
                <a:spcPts val="448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i="1" sz="1800"/>
          </a:p>
          <a:p>
            <a:pPr indent="-457200" lvl="0" marL="457200" rtl="0" algn="just">
              <a:spcBef>
                <a:spcPts val="448"/>
              </a:spcBef>
              <a:spcAft>
                <a:spcPts val="0"/>
              </a:spcAft>
              <a:buSzPts val="1800"/>
              <a:buFont typeface="Calibri"/>
              <a:buAutoNum type="arabicPeriod"/>
            </a:pPr>
            <a:r>
              <a:rPr i="1" lang="es-ES" sz="1800"/>
              <a:t>Si recientemente asumiste nuevas responsabilidades, ¿ya se realizó de manera efectiva la transferencia de actividades dentro de tu equipo?</a:t>
            </a:r>
            <a:endParaRPr/>
          </a:p>
          <a:p>
            <a:pPr indent="-342900" lvl="0" marL="457200" rtl="0" algn="just">
              <a:spcBef>
                <a:spcPts val="448"/>
              </a:spcBef>
              <a:spcAft>
                <a:spcPts val="0"/>
              </a:spcAft>
              <a:buSzPts val="1800"/>
              <a:buFont typeface="Calibri"/>
              <a:buNone/>
            </a:pPr>
            <a:r>
              <a:t/>
            </a:r>
            <a:endParaRPr i="1" sz="1800"/>
          </a:p>
          <a:p>
            <a:pPr indent="-457200" lvl="0" marL="457200" rtl="0" algn="just">
              <a:spcBef>
                <a:spcPts val="448"/>
              </a:spcBef>
              <a:spcAft>
                <a:spcPts val="0"/>
              </a:spcAft>
              <a:buSzPts val="1800"/>
              <a:buFont typeface="Calibri"/>
              <a:buAutoNum type="arabicPeriod"/>
            </a:pPr>
            <a:r>
              <a:rPr i="1" lang="es-ES" sz="1800"/>
              <a:t>¿Qué rituales, prácticas o espacios de trabajo consideras esenciales para asegurar un funcionamiento adecuado y sostenido en tu área?</a:t>
            </a:r>
            <a:endParaRPr/>
          </a:p>
          <a:p>
            <a:pPr indent="-342900" lvl="0" marL="457200" rtl="0" algn="just">
              <a:spcBef>
                <a:spcPts val="448"/>
              </a:spcBef>
              <a:spcAft>
                <a:spcPts val="0"/>
              </a:spcAft>
              <a:buSzPts val="1800"/>
              <a:buFont typeface="Calibri"/>
              <a:buNone/>
            </a:pPr>
            <a:r>
              <a:t/>
            </a:r>
            <a:endParaRPr i="1" sz="1800"/>
          </a:p>
        </p:txBody>
      </p:sp>
      <p:sp>
        <p:nvSpPr>
          <p:cNvPr id="432" name="Google Shape;432;p12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p13"/>
          <p:cNvSpPr txBox="1"/>
          <p:nvPr>
            <p:ph type="title"/>
          </p:nvPr>
        </p:nvSpPr>
        <p:spPr>
          <a:xfrm>
            <a:off x="609600" y="149905"/>
            <a:ext cx="7896000" cy="777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Siguientes pasos</a:t>
            </a:r>
            <a:endParaRPr/>
          </a:p>
        </p:txBody>
      </p:sp>
      <p:graphicFrame>
        <p:nvGraphicFramePr>
          <p:cNvPr id="439" name="Google Shape;439;p13"/>
          <p:cNvGraphicFramePr/>
          <p:nvPr/>
        </p:nvGraphicFramePr>
        <p:xfrm>
          <a:off x="2767155" y="1103442"/>
          <a:ext cx="3000000" cy="3000000"/>
        </p:xfrm>
        <a:graphic>
          <a:graphicData uri="http://schemas.openxmlformats.org/drawingml/2006/table">
            <a:tbl>
              <a:tblPr firstCol="1" firstRow="1">
                <a:noFill/>
                <a:tableStyleId>{01E5AF45-4145-4DA2-A73C-3DA950761145}</a:tableStyleId>
              </a:tblPr>
              <a:tblGrid>
                <a:gridCol w="395375"/>
                <a:gridCol w="388850"/>
                <a:gridCol w="388850"/>
                <a:gridCol w="456025"/>
                <a:gridCol w="415200"/>
                <a:gridCol w="462825"/>
                <a:gridCol w="396300"/>
                <a:gridCol w="396300"/>
                <a:gridCol w="396300"/>
                <a:gridCol w="396300"/>
                <a:gridCol w="396300"/>
                <a:gridCol w="396300"/>
                <a:gridCol w="396300"/>
                <a:gridCol w="396300"/>
                <a:gridCol w="396300"/>
                <a:gridCol w="396300"/>
                <a:gridCol w="396300"/>
                <a:gridCol w="396300"/>
                <a:gridCol w="396300"/>
                <a:gridCol w="396300"/>
                <a:gridCol w="396300"/>
                <a:gridCol w="396300"/>
              </a:tblGrid>
              <a:tr h="200350">
                <a:tc gridSpan="3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800"/>
                        <a:buFont typeface="Arial"/>
                        <a:buNone/>
                      </a:pPr>
                      <a:r>
                        <a:rPr b="1" lang="es-ES" sz="800" u="none" cap="none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Noviembre</a:t>
                      </a:r>
                      <a:endParaRPr b="1" sz="800" u="none" cap="none" strike="noStrike">
                        <a:solidFill>
                          <a:srgbClr val="333333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72000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 hMerge="1"/>
                <a:tc hMerge="1"/>
                <a:tc gridSpan="3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800"/>
                        <a:buFont typeface="Arial"/>
                        <a:buNone/>
                      </a:pPr>
                      <a:r>
                        <a:rPr b="1" lang="es-ES" sz="800" u="none" cap="none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Diciembre</a:t>
                      </a:r>
                      <a:endParaRPr b="1" sz="800" u="none" cap="none" strike="noStrike">
                        <a:solidFill>
                          <a:srgbClr val="333333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72000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 hMerge="1"/>
                <a:tc hMerge="1"/>
                <a:tc gridSpan="4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800"/>
                        <a:buFont typeface="Arial"/>
                        <a:buNone/>
                      </a:pPr>
                      <a:r>
                        <a:rPr b="1" lang="es-ES" sz="800" u="none" cap="none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Enero</a:t>
                      </a:r>
                      <a:endParaRPr b="1" sz="800" u="none" cap="none" strike="noStrike">
                        <a:solidFill>
                          <a:srgbClr val="333333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 hMerge="1"/>
                <a:tc hMerge="1"/>
                <a:tc hMerge="1"/>
                <a:tc gridSpan="4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800"/>
                        <a:buFont typeface="Arial"/>
                        <a:buNone/>
                      </a:pPr>
                      <a:r>
                        <a:rPr b="1" lang="es-ES" sz="800" u="none" cap="none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Febrero</a:t>
                      </a:r>
                      <a:endParaRPr/>
                    </a:p>
                  </a:txBody>
                  <a:tcPr marT="0" marB="0" marR="0" marL="72000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 hMerge="1"/>
                <a:tc hMerge="1"/>
                <a:tc hMerge="1"/>
                <a:tc gridSpan="4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800"/>
                        <a:buFont typeface="Arial"/>
                        <a:buNone/>
                      </a:pPr>
                      <a:r>
                        <a:rPr b="1" lang="es-ES" sz="800" u="none" cap="none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Marzo</a:t>
                      </a:r>
                      <a:endParaRPr b="1" sz="800" u="none" cap="none" strike="noStrike">
                        <a:solidFill>
                          <a:srgbClr val="333333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72000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 hMerge="1"/>
                <a:tc hMerge="1"/>
                <a:tc hMerge="1"/>
                <a:tc gridSpan="4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800"/>
                        <a:buFont typeface="Arial"/>
                        <a:buNone/>
                      </a:pPr>
                      <a:r>
                        <a:rPr b="1" lang="es-ES" sz="800" u="none" cap="none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Abril</a:t>
                      </a:r>
                      <a:endParaRPr b="1" sz="800" u="none" cap="none" strike="noStrike">
                        <a:solidFill>
                          <a:srgbClr val="333333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72000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 hMerge="1"/>
                <a:tc hMerge="1"/>
                <a:tc hMerge="1"/>
              </a:tr>
              <a:tr h="209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800"/>
                        <a:buFont typeface="Arial"/>
                        <a:buNone/>
                      </a:pPr>
                      <a:r>
                        <a:rPr b="1" lang="es-ES" sz="800" u="none" cap="none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10-14</a:t>
                      </a:r>
                      <a:endParaRPr/>
                    </a:p>
                  </a:txBody>
                  <a:tcPr marT="0" marB="0" marR="0" marL="72000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800"/>
                        <a:buFont typeface="Arial"/>
                        <a:buNone/>
                      </a:pPr>
                      <a:r>
                        <a:rPr b="1" lang="es-ES" sz="800" u="none" cap="none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17-21</a:t>
                      </a:r>
                      <a:endParaRPr/>
                    </a:p>
                  </a:txBody>
                  <a:tcPr marT="0" marB="0" marR="0" marL="72000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800"/>
                        <a:buFont typeface="Arial"/>
                        <a:buNone/>
                      </a:pPr>
                      <a:r>
                        <a:rPr b="1" lang="es-ES" sz="800" u="none" cap="none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24-28</a:t>
                      </a:r>
                      <a:endParaRPr/>
                    </a:p>
                  </a:txBody>
                  <a:tcPr marT="0" marB="0" marR="0" marL="72000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800"/>
                        <a:buFont typeface="Arial"/>
                        <a:buNone/>
                      </a:pPr>
                      <a:r>
                        <a:rPr b="1" lang="es-ES" sz="800" u="none" cap="none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01-05</a:t>
                      </a:r>
                      <a:endParaRPr b="1" baseline="30000" sz="800" u="none" cap="none" strike="noStrike">
                        <a:solidFill>
                          <a:srgbClr val="333333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72000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800"/>
                        <a:buFont typeface="Arial"/>
                        <a:buNone/>
                      </a:pPr>
                      <a:r>
                        <a:rPr b="1" lang="es-ES" sz="800" u="none" cap="none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08-12</a:t>
                      </a:r>
                      <a:endParaRPr/>
                    </a:p>
                  </a:txBody>
                  <a:tcPr marT="0" marB="0" marR="0" marL="72000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800"/>
                        <a:buFont typeface="Arial"/>
                        <a:buNone/>
                      </a:pPr>
                      <a:r>
                        <a:rPr b="1" lang="es-ES" sz="800" u="none" cap="none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 week freeze</a:t>
                      </a:r>
                      <a:endParaRPr/>
                    </a:p>
                  </a:txBody>
                  <a:tcPr marT="0" marB="0" marR="0" marL="72000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800"/>
                        <a:buFont typeface="Arial"/>
                        <a:buNone/>
                      </a:pPr>
                      <a:r>
                        <a:rPr b="1" lang="es-ES" sz="800" u="none" cap="none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05-09</a:t>
                      </a:r>
                      <a:endParaRPr/>
                    </a:p>
                  </a:txBody>
                  <a:tcPr marT="0" marB="0" marR="0" marL="72000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800"/>
                        <a:buFont typeface="Arial"/>
                        <a:buNone/>
                      </a:pPr>
                      <a:r>
                        <a:rPr b="1" lang="es-ES" sz="800" u="none" cap="none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12-16</a:t>
                      </a:r>
                      <a:endParaRPr/>
                    </a:p>
                  </a:txBody>
                  <a:tcPr marT="0" marB="0" marR="0" marL="72000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800"/>
                        <a:buFont typeface="Arial"/>
                        <a:buNone/>
                      </a:pPr>
                      <a:r>
                        <a:rPr b="1" lang="es-ES" sz="800" u="none" cap="none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19-23</a:t>
                      </a:r>
                      <a:endParaRPr/>
                    </a:p>
                  </a:txBody>
                  <a:tcPr marT="0" marB="0" marR="0" marL="72000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800"/>
                        <a:buFont typeface="Arial"/>
                        <a:buNone/>
                      </a:pPr>
                      <a:r>
                        <a:rPr b="1" lang="es-ES" sz="800" u="none" cap="none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26-30</a:t>
                      </a:r>
                      <a:endParaRPr/>
                    </a:p>
                  </a:txBody>
                  <a:tcPr marT="0" marB="0" marR="0" marL="72000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800"/>
                        <a:buFont typeface="Arial"/>
                        <a:buNone/>
                      </a:pPr>
                      <a:r>
                        <a:rPr b="1" lang="es-ES" sz="800" u="none" cap="none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02-06</a:t>
                      </a:r>
                      <a:endParaRPr/>
                    </a:p>
                  </a:txBody>
                  <a:tcPr marT="0" marB="0" marR="0" marL="72000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800"/>
                        <a:buFont typeface="Arial"/>
                        <a:buNone/>
                      </a:pPr>
                      <a:r>
                        <a:rPr b="1" lang="es-ES" sz="800" u="none" cap="none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09-13</a:t>
                      </a:r>
                      <a:endParaRPr/>
                    </a:p>
                  </a:txBody>
                  <a:tcPr marT="0" marB="0" marR="0" marL="72000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800"/>
                        <a:buFont typeface="Arial"/>
                        <a:buNone/>
                      </a:pPr>
                      <a:r>
                        <a:rPr b="1" lang="es-ES" sz="800" u="none" cap="none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16-20</a:t>
                      </a:r>
                      <a:endParaRPr/>
                    </a:p>
                  </a:txBody>
                  <a:tcPr marT="0" marB="0" marR="0" marL="72000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800"/>
                        <a:buFont typeface="Arial"/>
                        <a:buNone/>
                      </a:pPr>
                      <a:r>
                        <a:rPr b="1" lang="es-ES" sz="800" u="none" cap="none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23-27</a:t>
                      </a:r>
                      <a:endParaRPr/>
                    </a:p>
                  </a:txBody>
                  <a:tcPr marT="0" marB="0" marR="0" marL="72000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800"/>
                        <a:buFont typeface="Arial"/>
                        <a:buNone/>
                      </a:pPr>
                      <a:r>
                        <a:rPr b="1" lang="es-ES" sz="800" u="none" cap="none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02-06</a:t>
                      </a:r>
                      <a:endParaRPr/>
                    </a:p>
                  </a:txBody>
                  <a:tcPr marT="0" marB="0" marR="0" marL="72000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800"/>
                        <a:buFont typeface="Arial"/>
                        <a:buNone/>
                      </a:pPr>
                      <a:r>
                        <a:rPr b="1" lang="es-ES" sz="800" u="none" cap="none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09-13</a:t>
                      </a:r>
                      <a:endParaRPr/>
                    </a:p>
                  </a:txBody>
                  <a:tcPr marT="0" marB="0" marR="0" marL="72000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800"/>
                        <a:buFont typeface="Arial"/>
                        <a:buNone/>
                      </a:pPr>
                      <a:r>
                        <a:rPr b="1" lang="es-ES" sz="800" u="none" cap="none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16-20</a:t>
                      </a:r>
                      <a:endParaRPr/>
                    </a:p>
                  </a:txBody>
                  <a:tcPr marT="0" marB="0" marR="0" marL="72000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800"/>
                        <a:buFont typeface="Arial"/>
                        <a:buNone/>
                      </a:pPr>
                      <a:r>
                        <a:rPr b="1" lang="es-ES" sz="800" u="none" cap="none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23-27</a:t>
                      </a:r>
                      <a:endParaRPr/>
                    </a:p>
                  </a:txBody>
                  <a:tcPr marT="0" marB="0" marR="0" marL="72000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800"/>
                        <a:buFont typeface="Arial"/>
                        <a:buNone/>
                      </a:pPr>
                      <a:r>
                        <a:rPr b="1" lang="es-ES" sz="800" u="none" cap="none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30-03</a:t>
                      </a:r>
                      <a:endParaRPr/>
                    </a:p>
                  </a:txBody>
                  <a:tcPr marT="0" marB="0" marR="0" marL="72000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800"/>
                        <a:buFont typeface="Arial"/>
                        <a:buNone/>
                      </a:pPr>
                      <a:r>
                        <a:rPr b="1" lang="es-ES" sz="800" u="none" cap="none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06-10</a:t>
                      </a:r>
                      <a:endParaRPr/>
                    </a:p>
                  </a:txBody>
                  <a:tcPr marT="0" marB="0" marR="0" marL="72000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800"/>
                        <a:buFont typeface="Arial"/>
                        <a:buNone/>
                      </a:pPr>
                      <a:r>
                        <a:rPr b="1" lang="es-ES" sz="800" u="none" cap="none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13-17</a:t>
                      </a:r>
                      <a:endParaRPr/>
                    </a:p>
                  </a:txBody>
                  <a:tcPr marT="0" marB="0" marR="0" marL="72000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800"/>
                        <a:buFont typeface="Arial"/>
                        <a:buNone/>
                      </a:pPr>
                      <a:r>
                        <a:rPr b="1" lang="es-ES" sz="800" u="none" cap="none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20-24</a:t>
                      </a:r>
                      <a:endParaRPr/>
                    </a:p>
                  </a:txBody>
                  <a:tcPr marT="0" marB="0" marR="0" marL="72000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</a:tr>
              <a:tr h="9370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t/>
                      </a:r>
                      <a:endParaRPr b="0"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72000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t/>
                      </a:r>
                      <a:endParaRPr b="0"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72000">
                    <a:lnL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t/>
                      </a:r>
                      <a:endParaRPr b="0"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72000">
                    <a:lnL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t/>
                      </a:r>
                      <a:endParaRPr b="0"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72000">
                    <a:lnL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t/>
                      </a:r>
                      <a:endParaRPr b="0"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72000">
                    <a:lnL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t/>
                      </a:r>
                      <a:endParaRPr b="0"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72000">
                    <a:lnL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t/>
                      </a:r>
                      <a:endParaRPr b="0"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72000">
                    <a:lnL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t/>
                      </a:r>
                      <a:endParaRPr b="0"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72000">
                    <a:lnL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t/>
                      </a:r>
                      <a:endParaRPr b="0"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72000">
                    <a:lnL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t/>
                      </a:r>
                      <a:endParaRPr b="0"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72000">
                    <a:lnL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t/>
                      </a:r>
                      <a:endParaRPr b="0"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72000">
                    <a:lnL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t/>
                      </a:r>
                      <a:endParaRPr b="0"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72000">
                    <a:lnL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t/>
                      </a:r>
                      <a:endParaRPr b="0"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72000">
                    <a:lnL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t/>
                      </a:r>
                      <a:endParaRPr b="0"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72000">
                    <a:lnL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t/>
                      </a:r>
                      <a:endParaRPr b="0"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72000">
                    <a:lnL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t/>
                      </a:r>
                      <a:endParaRPr b="0"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72000">
                    <a:lnL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t/>
                      </a:r>
                      <a:endParaRPr b="0"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72000">
                    <a:lnL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t/>
                      </a:r>
                      <a:endParaRPr b="0"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72000">
                    <a:lnL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t/>
                      </a:r>
                      <a:endParaRPr b="0"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72000">
                    <a:lnL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t/>
                      </a:r>
                      <a:endParaRPr b="0"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72000">
                    <a:lnL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t/>
                      </a:r>
                      <a:endParaRPr b="0"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72000">
                    <a:lnL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t/>
                      </a:r>
                      <a:endParaRPr b="0"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72000">
                    <a:lnL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6D6D6">
                          <a:alpha val="25098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40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t/>
                      </a:r>
                      <a:endParaRPr b="0"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72000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t/>
                      </a:r>
                      <a:endParaRPr b="0"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72000">
                    <a:lnL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t/>
                      </a:r>
                      <a:endParaRPr b="0"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72000">
                    <a:lnL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t/>
                      </a:r>
                      <a:endParaRPr b="0"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72000">
                    <a:lnL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t/>
                      </a:r>
                      <a:endParaRPr b="0"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72000">
                    <a:lnL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t/>
                      </a:r>
                      <a:endParaRPr b="0"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72000">
                    <a:lnL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t/>
                      </a:r>
                      <a:endParaRPr b="0"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72000">
                    <a:lnL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t/>
                      </a:r>
                      <a:endParaRPr b="0"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72000">
                    <a:lnL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t/>
                      </a:r>
                      <a:endParaRPr b="0"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72000">
                    <a:lnL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t/>
                      </a:r>
                      <a:endParaRPr b="0"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72000">
                    <a:lnL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t/>
                      </a:r>
                      <a:endParaRPr b="0"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72000">
                    <a:lnL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t/>
                      </a:r>
                      <a:endParaRPr b="0"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72000">
                    <a:lnL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t/>
                      </a:r>
                      <a:endParaRPr b="0"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72000">
                    <a:lnL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t/>
                      </a:r>
                      <a:endParaRPr b="0"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72000">
                    <a:lnL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t/>
                      </a:r>
                      <a:endParaRPr b="0"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72000">
                    <a:lnL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t/>
                      </a:r>
                      <a:endParaRPr b="0"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72000">
                    <a:lnL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t/>
                      </a:r>
                      <a:endParaRPr b="0"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72000">
                    <a:lnL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t/>
                      </a:r>
                      <a:endParaRPr b="0"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72000">
                    <a:lnL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t/>
                      </a:r>
                      <a:endParaRPr b="0"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72000">
                    <a:lnL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t/>
                      </a:r>
                      <a:endParaRPr b="0"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72000">
                    <a:lnL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t/>
                      </a:r>
                      <a:endParaRPr b="0"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72000">
                    <a:lnL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t/>
                      </a:r>
                      <a:endParaRPr b="0"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72000">
                    <a:lnL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6D6D6">
                          <a:alpha val="25098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46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t/>
                      </a:r>
                      <a:endParaRPr b="0"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72000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t/>
                      </a:r>
                      <a:endParaRPr b="0"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72000">
                    <a:lnL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t/>
                      </a:r>
                      <a:endParaRPr b="0"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72000">
                    <a:lnL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t/>
                      </a:r>
                      <a:endParaRPr b="0"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72000">
                    <a:lnL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t/>
                      </a:r>
                      <a:endParaRPr b="0"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72000">
                    <a:lnL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t/>
                      </a:r>
                      <a:endParaRPr b="0"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72000">
                    <a:lnL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t/>
                      </a:r>
                      <a:endParaRPr b="0"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72000">
                    <a:lnL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t/>
                      </a:r>
                      <a:endParaRPr b="0"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72000">
                    <a:lnL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t/>
                      </a:r>
                      <a:endParaRPr b="0"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72000">
                    <a:lnL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t/>
                      </a:r>
                      <a:endParaRPr b="0"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72000">
                    <a:lnL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t/>
                      </a:r>
                      <a:endParaRPr b="0"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72000">
                    <a:lnL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t/>
                      </a:r>
                      <a:endParaRPr b="0"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72000">
                    <a:lnL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t/>
                      </a:r>
                      <a:endParaRPr b="0"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72000">
                    <a:lnL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t/>
                      </a:r>
                      <a:endParaRPr b="0"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72000">
                    <a:lnL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t/>
                      </a:r>
                      <a:endParaRPr b="0"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72000">
                    <a:lnL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t/>
                      </a:r>
                      <a:endParaRPr b="0"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72000">
                    <a:lnL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t/>
                      </a:r>
                      <a:endParaRPr b="0"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72000">
                    <a:lnL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t/>
                      </a:r>
                      <a:endParaRPr b="0"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72000">
                    <a:lnL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t/>
                      </a:r>
                      <a:endParaRPr b="0"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72000">
                    <a:lnL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t/>
                      </a:r>
                      <a:endParaRPr b="0"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72000">
                    <a:lnL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t/>
                      </a:r>
                      <a:endParaRPr b="0"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72000">
                    <a:lnL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t/>
                      </a:r>
                      <a:endParaRPr b="0"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72000">
                    <a:lnL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6D6D6">
                          <a:alpha val="25098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185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t/>
                      </a:r>
                      <a:endParaRPr b="0"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72000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t/>
                      </a:r>
                      <a:endParaRPr b="0"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72000">
                    <a:lnL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t/>
                      </a:r>
                      <a:endParaRPr b="0"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72000">
                    <a:lnL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t/>
                      </a:r>
                      <a:endParaRPr b="0"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72000">
                    <a:lnL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t/>
                      </a:r>
                      <a:endParaRPr b="0"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72000">
                    <a:lnL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t/>
                      </a:r>
                      <a:endParaRPr b="0"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72000">
                    <a:lnL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t/>
                      </a:r>
                      <a:endParaRPr b="0"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72000">
                    <a:lnL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t/>
                      </a:r>
                      <a:endParaRPr b="0"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72000">
                    <a:lnL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t/>
                      </a:r>
                      <a:endParaRPr b="0"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72000">
                    <a:lnL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t/>
                      </a:r>
                      <a:endParaRPr b="0"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72000">
                    <a:lnL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t/>
                      </a:r>
                      <a:endParaRPr b="0"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72000">
                    <a:lnL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t/>
                      </a:r>
                      <a:endParaRPr b="0"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72000">
                    <a:lnL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t/>
                      </a:r>
                      <a:endParaRPr b="0"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72000">
                    <a:lnL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t/>
                      </a:r>
                      <a:endParaRPr b="0"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72000">
                    <a:lnL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t/>
                      </a:r>
                      <a:endParaRPr b="0"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72000">
                    <a:lnL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t/>
                      </a:r>
                      <a:endParaRPr b="0"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72000">
                    <a:lnL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t/>
                      </a:r>
                      <a:endParaRPr b="0"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72000">
                    <a:lnL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t/>
                      </a:r>
                      <a:endParaRPr b="0"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72000">
                    <a:lnL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t/>
                      </a:r>
                      <a:endParaRPr b="0"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72000">
                    <a:lnL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t/>
                      </a:r>
                      <a:endParaRPr b="0"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72000">
                    <a:lnL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t/>
                      </a:r>
                      <a:endParaRPr b="0"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72000">
                    <a:lnL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t/>
                      </a:r>
                      <a:endParaRPr b="0"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72000">
                    <a:lnL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6D6D6">
                          <a:alpha val="25098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440" name="Google Shape;440;p13"/>
          <p:cNvSpPr/>
          <p:nvPr/>
        </p:nvSpPr>
        <p:spPr>
          <a:xfrm rot="-5400000">
            <a:off x="-158365" y="1846635"/>
            <a:ext cx="904387" cy="384457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Arial"/>
              <a:buNone/>
            </a:pPr>
            <a:r>
              <a:rPr b="1" i="0" lang="es-ES" sz="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Higiénicos</a:t>
            </a:r>
            <a:endParaRPr/>
          </a:p>
        </p:txBody>
      </p:sp>
      <p:graphicFrame>
        <p:nvGraphicFramePr>
          <p:cNvPr id="441" name="Google Shape;441;p13"/>
          <p:cNvGraphicFramePr/>
          <p:nvPr/>
        </p:nvGraphicFramePr>
        <p:xfrm>
          <a:off x="486057" y="1586671"/>
          <a:ext cx="3000000" cy="3000000"/>
        </p:xfrm>
        <a:graphic>
          <a:graphicData uri="http://schemas.openxmlformats.org/drawingml/2006/table">
            <a:tbl>
              <a:tblPr>
                <a:solidFill>
                  <a:srgbClr val="F2F2F2"/>
                </a:solidFill>
                <a:tableStyleId>{01E5AF45-4145-4DA2-A73C-3DA950761145}</a:tableStyleId>
              </a:tblPr>
              <a:tblGrid>
                <a:gridCol w="2289575"/>
              </a:tblGrid>
              <a:tr h="2261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b="0" i="0" lang="es-ES" sz="7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Documentación áreas, propósitos y responsabilidades</a:t>
                      </a:r>
                      <a:endParaRPr/>
                    </a:p>
                  </a:txBody>
                  <a:tcPr marT="69875" marB="11300" marR="22625" marL="22625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EAEA"/>
                    </a:solidFill>
                  </a:tcPr>
                </a:tc>
              </a:tr>
              <a:tr h="2261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b="0" i="0" lang="es-ES" sz="7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Descripciones de Puesto L1 y L2</a:t>
                      </a:r>
                      <a:endParaRPr/>
                    </a:p>
                  </a:txBody>
                  <a:tcPr marT="69875" marB="11300" marR="22625" marL="22625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EAEA"/>
                    </a:solidFill>
                  </a:tcPr>
                </a:tc>
              </a:tr>
              <a:tr h="2261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b="0" i="0" lang="es-ES" sz="7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Descripciones de Puesto resto de organización</a:t>
                      </a:r>
                      <a:endParaRPr/>
                    </a:p>
                  </a:txBody>
                  <a:tcPr marT="69875" marB="11300" marR="22625" marL="22625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EAEA"/>
                    </a:solidFill>
                  </a:tcPr>
                </a:tc>
              </a:tr>
              <a:tr h="2261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b="0" i="0" lang="es-ES" sz="7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Matriz RASCI (Metodología y ejercicio central)</a:t>
                      </a:r>
                      <a:endParaRPr/>
                    </a:p>
                  </a:txBody>
                  <a:tcPr marT="69875" marB="11300" marR="22625" marL="22625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EAEA"/>
                    </a:solidFill>
                  </a:tcPr>
                </a:tc>
              </a:tr>
            </a:tbl>
          </a:graphicData>
        </a:graphic>
      </p:graphicFrame>
      <p:sp>
        <p:nvSpPr>
          <p:cNvPr id="442" name="Google Shape;442;p13"/>
          <p:cNvSpPr/>
          <p:nvPr/>
        </p:nvSpPr>
        <p:spPr>
          <a:xfrm>
            <a:off x="-1" y="1461321"/>
            <a:ext cx="250694" cy="250694"/>
          </a:xfrm>
          <a:prstGeom prst="ellipse">
            <a:avLst/>
          </a:prstGeom>
          <a:solidFill>
            <a:srgbClr val="DE0230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Open Sans"/>
              <a:buNone/>
            </a:pPr>
            <a:r>
              <a:rPr b="1" i="0" lang="es-ES" sz="14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1</a:t>
            </a:r>
            <a:endParaRPr/>
          </a:p>
        </p:txBody>
      </p:sp>
      <p:sp>
        <p:nvSpPr>
          <p:cNvPr id="443" name="Google Shape;443;p13"/>
          <p:cNvSpPr/>
          <p:nvPr/>
        </p:nvSpPr>
        <p:spPr>
          <a:xfrm>
            <a:off x="2767155" y="1624965"/>
            <a:ext cx="360000" cy="174099"/>
          </a:xfrm>
          <a:prstGeom prst="rect">
            <a:avLst/>
          </a:prstGeom>
          <a:solidFill>
            <a:srgbClr val="E45C5A"/>
          </a:solidFill>
          <a:ln>
            <a:noFill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44" name="Google Shape;444;p13"/>
          <p:cNvSpPr/>
          <p:nvPr/>
        </p:nvSpPr>
        <p:spPr>
          <a:xfrm>
            <a:off x="3188434" y="1799064"/>
            <a:ext cx="360000" cy="174099"/>
          </a:xfrm>
          <a:prstGeom prst="rect">
            <a:avLst/>
          </a:prstGeom>
          <a:solidFill>
            <a:srgbClr val="E45C5A"/>
          </a:solidFill>
          <a:ln>
            <a:noFill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45" name="Google Shape;445;p13"/>
          <p:cNvSpPr/>
          <p:nvPr/>
        </p:nvSpPr>
        <p:spPr>
          <a:xfrm>
            <a:off x="3548434" y="1998315"/>
            <a:ext cx="8064000" cy="174099"/>
          </a:xfrm>
          <a:prstGeom prst="rect">
            <a:avLst/>
          </a:prstGeom>
          <a:solidFill>
            <a:srgbClr val="E45C5A"/>
          </a:solidFill>
          <a:ln>
            <a:noFill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46" name="Google Shape;446;p13"/>
          <p:cNvSpPr/>
          <p:nvPr/>
        </p:nvSpPr>
        <p:spPr>
          <a:xfrm>
            <a:off x="3548434" y="2261026"/>
            <a:ext cx="8064000" cy="174099"/>
          </a:xfrm>
          <a:prstGeom prst="rect">
            <a:avLst/>
          </a:prstGeom>
          <a:solidFill>
            <a:srgbClr val="E45C5A"/>
          </a:solidFill>
          <a:ln>
            <a:noFill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47" name="Google Shape;447;p13"/>
          <p:cNvSpPr/>
          <p:nvPr/>
        </p:nvSpPr>
        <p:spPr>
          <a:xfrm rot="-5400000">
            <a:off x="-847834" y="3498448"/>
            <a:ext cx="2260971" cy="384457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Arial"/>
              <a:buNone/>
            </a:pPr>
            <a:r>
              <a:rPr b="1" i="0" lang="es-ES" sz="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Procesos clave por Función</a:t>
            </a:r>
            <a:endParaRPr/>
          </a:p>
        </p:txBody>
      </p:sp>
      <p:graphicFrame>
        <p:nvGraphicFramePr>
          <p:cNvPr id="448" name="Google Shape;448;p13"/>
          <p:cNvGraphicFramePr/>
          <p:nvPr/>
        </p:nvGraphicFramePr>
        <p:xfrm>
          <a:off x="474878" y="2560194"/>
          <a:ext cx="3000000" cy="3000000"/>
        </p:xfrm>
        <a:graphic>
          <a:graphicData uri="http://schemas.openxmlformats.org/drawingml/2006/table">
            <a:tbl>
              <a:tblPr>
                <a:solidFill>
                  <a:srgbClr val="F2F2F2"/>
                </a:solidFill>
                <a:tableStyleId>{01E5AF45-4145-4DA2-A73C-3DA950761145}</a:tableStyleId>
              </a:tblPr>
              <a:tblGrid>
                <a:gridCol w="2289575"/>
              </a:tblGrid>
              <a:tr h="2482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rPr b="0" lang="es-ES" sz="800" u="none" cap="none" strike="noStrike"/>
                        <a:t>Diagnóstico HRBP – Post FFP</a:t>
                      </a:r>
                      <a:endParaRPr/>
                    </a:p>
                  </a:txBody>
                  <a:tcPr marT="69875" marB="11300" marR="22625" marL="22625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EAEA"/>
                    </a:solidFill>
                  </a:tcPr>
                </a:tc>
              </a:tr>
              <a:tr h="2482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b="0" i="0" lang="es-ES" sz="7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Diagnóstico Change Management - L1 </a:t>
                      </a:r>
                      <a:endParaRPr/>
                    </a:p>
                  </a:txBody>
                  <a:tcPr marT="69875" marB="11300" marR="22625" marL="22625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EAEA"/>
                    </a:solidFill>
                  </a:tcPr>
                </a:tc>
              </a:tr>
              <a:tr h="2482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b="0" i="0" lang="es-ES" sz="7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Diagnóstico Change Management – L2</a:t>
                      </a:r>
                      <a:endParaRPr/>
                    </a:p>
                  </a:txBody>
                  <a:tcPr marT="69875" marB="11300" marR="22625" marL="22625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EAEA"/>
                    </a:solidFill>
                  </a:tcPr>
                </a:tc>
              </a:tr>
              <a:tr h="2482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b="0" i="0" lang="es-ES" sz="7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Estrategia CM por plataforma y transversal</a:t>
                      </a:r>
                      <a:endParaRPr/>
                    </a:p>
                  </a:txBody>
                  <a:tcPr marT="69875" marB="11300" marR="22625" marL="22625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EAEA"/>
                    </a:solidFill>
                  </a:tcPr>
                </a:tc>
              </a:tr>
              <a:tr h="2482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b="0" i="0" lang="es-ES" sz="7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Diálogos 1:1 L2 – Racional y alcance FFP 2026</a:t>
                      </a:r>
                      <a:endParaRPr/>
                    </a:p>
                  </a:txBody>
                  <a:tcPr marT="69875" marB="11300" marR="22625" marL="22625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EAEA"/>
                    </a:solidFill>
                  </a:tcPr>
                </a:tc>
              </a:tr>
              <a:tr h="2482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b="0" i="0" lang="es-ES" sz="7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Validación de DP L2</a:t>
                      </a:r>
                      <a:endParaRPr/>
                    </a:p>
                  </a:txBody>
                  <a:tcPr marT="69875" marB="11300" marR="22625" marL="22625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EAEA"/>
                    </a:solidFill>
                  </a:tcPr>
                </a:tc>
              </a:tr>
              <a:tr h="2482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b="0" i="0" lang="es-ES" sz="7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Revisión de principales contribuciones por c/área</a:t>
                      </a:r>
                      <a:endParaRPr/>
                    </a:p>
                  </a:txBody>
                  <a:tcPr marT="69875" marB="11300" marR="22625" marL="22625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EAEA"/>
                    </a:solidFill>
                  </a:tcPr>
                </a:tc>
              </a:tr>
              <a:tr h="2482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b="0" i="0" lang="es-ES" sz="7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Mapeo de procesos clave e interacciones críticas</a:t>
                      </a:r>
                      <a:endParaRPr/>
                    </a:p>
                  </a:txBody>
                  <a:tcPr marT="69875" marB="11300" marR="22625" marL="22625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EAEA"/>
                    </a:solidFill>
                  </a:tcPr>
                </a:tc>
              </a:tr>
              <a:tr h="2482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b="0" i="0" lang="es-ES" sz="7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Workshop +2 áreas para detallar interacciones</a:t>
                      </a:r>
                      <a:endParaRPr/>
                    </a:p>
                  </a:txBody>
                  <a:tcPr marT="69875" marB="11300" marR="22625" marL="22625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EAEA"/>
                    </a:solidFill>
                  </a:tcPr>
                </a:tc>
              </a:tr>
            </a:tbl>
          </a:graphicData>
        </a:graphic>
      </p:graphicFrame>
      <p:sp>
        <p:nvSpPr>
          <p:cNvPr id="449" name="Google Shape;449;p13"/>
          <p:cNvSpPr/>
          <p:nvPr/>
        </p:nvSpPr>
        <p:spPr>
          <a:xfrm>
            <a:off x="-11180" y="2434844"/>
            <a:ext cx="250694" cy="250694"/>
          </a:xfrm>
          <a:prstGeom prst="ellipse">
            <a:avLst/>
          </a:prstGeom>
          <a:solidFill>
            <a:srgbClr val="DE0230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Open Sans"/>
              <a:buNone/>
            </a:pPr>
            <a:r>
              <a:rPr b="1" i="0" lang="es-ES" sz="14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2</a:t>
            </a:r>
            <a:endParaRPr b="1" i="0" sz="1400" u="none" cap="none" strike="noStrike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50" name="Google Shape;450;p13"/>
          <p:cNvSpPr/>
          <p:nvPr/>
        </p:nvSpPr>
        <p:spPr>
          <a:xfrm>
            <a:off x="4876719" y="1573967"/>
            <a:ext cx="360000" cy="4245361"/>
          </a:xfrm>
          <a:prstGeom prst="rect">
            <a:avLst/>
          </a:prstGeom>
          <a:solidFill>
            <a:schemeClr val="dk2">
              <a:alpha val="70196"/>
            </a:schemeClr>
          </a:solidFill>
          <a:ln>
            <a:noFill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51" name="Google Shape;451;p13"/>
          <p:cNvSpPr/>
          <p:nvPr/>
        </p:nvSpPr>
        <p:spPr>
          <a:xfrm>
            <a:off x="8098153" y="3409351"/>
            <a:ext cx="1836000" cy="310903"/>
          </a:xfrm>
          <a:prstGeom prst="rect">
            <a:avLst/>
          </a:prstGeom>
          <a:solidFill>
            <a:srgbClr val="E45C5A"/>
          </a:solidFill>
          <a:ln>
            <a:noFill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Arial"/>
              <a:buNone/>
            </a:pPr>
            <a:r>
              <a:rPr b="0" i="0" lang="es-ES" sz="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Plataformas core (Comercial, CdS, Operaciones)</a:t>
            </a:r>
            <a:endParaRPr b="0" i="0" sz="7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2" name="Google Shape;452;p13"/>
          <p:cNvSpPr/>
          <p:nvPr/>
        </p:nvSpPr>
        <p:spPr>
          <a:xfrm>
            <a:off x="8319814" y="3758531"/>
            <a:ext cx="1620000" cy="309600"/>
          </a:xfrm>
          <a:prstGeom prst="rect">
            <a:avLst/>
          </a:prstGeom>
          <a:solidFill>
            <a:srgbClr val="E45C5A"/>
          </a:solidFill>
          <a:ln>
            <a:noFill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Arial"/>
              <a:buNone/>
            </a:pPr>
            <a:r>
              <a:rPr b="0" i="0" lang="es-ES" sz="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Plataformas con alta evolución (Commercial Finance, VMO, C&amp;M)</a:t>
            </a:r>
            <a:endParaRPr b="0" i="0" sz="7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3" name="Google Shape;453;p13"/>
          <p:cNvSpPr/>
          <p:nvPr/>
        </p:nvSpPr>
        <p:spPr>
          <a:xfrm>
            <a:off x="8613125" y="4102060"/>
            <a:ext cx="1332000" cy="309600"/>
          </a:xfrm>
          <a:prstGeom prst="rect">
            <a:avLst/>
          </a:prstGeom>
          <a:solidFill>
            <a:srgbClr val="E45C5A"/>
          </a:solidFill>
          <a:ln>
            <a:noFill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Arial"/>
              <a:buNone/>
            </a:pPr>
            <a:r>
              <a:rPr b="0" i="0" lang="es-ES" sz="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Plataformas de soporte (TI, RH, Exc. Operativa)</a:t>
            </a:r>
            <a:endParaRPr b="0" i="0" sz="7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4" name="Google Shape;454;p13"/>
          <p:cNvSpPr/>
          <p:nvPr/>
        </p:nvSpPr>
        <p:spPr>
          <a:xfrm>
            <a:off x="7191152" y="2562061"/>
            <a:ext cx="562030" cy="174099"/>
          </a:xfrm>
          <a:prstGeom prst="rect">
            <a:avLst/>
          </a:prstGeom>
          <a:solidFill>
            <a:srgbClr val="E45C5A"/>
          </a:solidFill>
          <a:ln>
            <a:noFill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Calibri"/>
              <a:buNone/>
            </a:pPr>
            <a:r>
              <a:t/>
            </a:r>
            <a:endParaRPr b="0" i="0" sz="7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5" name="Google Shape;455;p13"/>
          <p:cNvSpPr/>
          <p:nvPr/>
        </p:nvSpPr>
        <p:spPr>
          <a:xfrm>
            <a:off x="10128035" y="3409351"/>
            <a:ext cx="1441897" cy="1002309"/>
          </a:xfrm>
          <a:prstGeom prst="rect">
            <a:avLst/>
          </a:prstGeom>
          <a:solidFill>
            <a:srgbClr val="E45C5A"/>
          </a:solidFill>
          <a:ln>
            <a:noFill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Arial"/>
              <a:buNone/>
            </a:pPr>
            <a:r>
              <a:rPr b="0" i="0" lang="es-ES" sz="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Presentación y comunicación en TOPS Marzo / Abril</a:t>
            </a:r>
            <a:endParaRPr/>
          </a:p>
        </p:txBody>
      </p:sp>
      <p:sp>
        <p:nvSpPr>
          <p:cNvPr id="456" name="Google Shape;456;p13"/>
          <p:cNvSpPr/>
          <p:nvPr/>
        </p:nvSpPr>
        <p:spPr>
          <a:xfrm rot="-5400000">
            <a:off x="-169543" y="5216642"/>
            <a:ext cx="904388" cy="384457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Arial"/>
              <a:buNone/>
            </a:pPr>
            <a:r>
              <a:rPr b="1" i="0" lang="es-ES" sz="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Modelo de gestión</a:t>
            </a:r>
            <a:endParaRPr/>
          </a:p>
        </p:txBody>
      </p:sp>
      <p:graphicFrame>
        <p:nvGraphicFramePr>
          <p:cNvPr id="457" name="Google Shape;457;p13"/>
          <p:cNvGraphicFramePr/>
          <p:nvPr/>
        </p:nvGraphicFramePr>
        <p:xfrm>
          <a:off x="474878" y="4956679"/>
          <a:ext cx="3000000" cy="3000000"/>
        </p:xfrm>
        <a:graphic>
          <a:graphicData uri="http://schemas.openxmlformats.org/drawingml/2006/table">
            <a:tbl>
              <a:tblPr>
                <a:solidFill>
                  <a:srgbClr val="F2F2F2"/>
                </a:solidFill>
                <a:tableStyleId>{01E5AF45-4145-4DA2-A73C-3DA950761145}</a:tableStyleId>
              </a:tblPr>
              <a:tblGrid>
                <a:gridCol w="2289575"/>
              </a:tblGrid>
              <a:tr h="2712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b="0" i="0" lang="es-ES" sz="7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Integración de inputs interacciones a Sistema Gestión</a:t>
                      </a:r>
                      <a:endParaRPr/>
                    </a:p>
                  </a:txBody>
                  <a:tcPr marT="69875" marB="11300" marR="22625" marL="22625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EAEA"/>
                    </a:solidFill>
                  </a:tcPr>
                </a:tc>
              </a:tr>
              <a:tr h="2712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t/>
                      </a:r>
                      <a:endParaRPr b="0" i="0" sz="7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9875" marB="11300" marR="22625" marL="22625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712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Arial"/>
                        <a:buNone/>
                      </a:pPr>
                      <a:r>
                        <a:rPr b="0" i="0" lang="es-ES" sz="7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Medición de adopción</a:t>
                      </a:r>
                      <a:endParaRPr b="0" i="0" sz="7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9875" marB="11300" marR="22625" marL="22625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EAEA"/>
                    </a:solidFill>
                  </a:tcPr>
                </a:tc>
              </a:tr>
            </a:tbl>
          </a:graphicData>
        </a:graphic>
      </p:graphicFrame>
      <p:sp>
        <p:nvSpPr>
          <p:cNvPr id="458" name="Google Shape;458;p13"/>
          <p:cNvSpPr/>
          <p:nvPr/>
        </p:nvSpPr>
        <p:spPr>
          <a:xfrm>
            <a:off x="-11180" y="4831329"/>
            <a:ext cx="250694" cy="250694"/>
          </a:xfrm>
          <a:prstGeom prst="ellipse">
            <a:avLst/>
          </a:prstGeom>
          <a:solidFill>
            <a:srgbClr val="DE0230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Open Sans"/>
              <a:buNone/>
            </a:pPr>
            <a:r>
              <a:rPr b="1" i="0" lang="es-ES" sz="14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3</a:t>
            </a:r>
            <a:endParaRPr b="1" i="0" sz="1400" u="none" cap="none" strike="noStrike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59" name="Google Shape;459;p13"/>
          <p:cNvSpPr/>
          <p:nvPr/>
        </p:nvSpPr>
        <p:spPr>
          <a:xfrm>
            <a:off x="10125261" y="4961611"/>
            <a:ext cx="1444671" cy="172800"/>
          </a:xfrm>
          <a:prstGeom prst="rect">
            <a:avLst/>
          </a:prstGeom>
          <a:solidFill>
            <a:srgbClr val="E45C5A"/>
          </a:solidFill>
          <a:ln>
            <a:noFill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Calibri"/>
              <a:buNone/>
            </a:pPr>
            <a:r>
              <a:t/>
            </a:r>
            <a:endParaRPr b="0" i="0" sz="7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0" name="Google Shape;460;p13"/>
          <p:cNvSpPr/>
          <p:nvPr/>
        </p:nvSpPr>
        <p:spPr>
          <a:xfrm rot="-5400000">
            <a:off x="56555" y="5931584"/>
            <a:ext cx="452193" cy="384457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Arial"/>
              <a:buNone/>
            </a:pPr>
            <a:r>
              <a:rPr b="1" i="0" lang="es-ES" sz="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Estabilización</a:t>
            </a:r>
            <a:endParaRPr/>
          </a:p>
        </p:txBody>
      </p:sp>
      <p:graphicFrame>
        <p:nvGraphicFramePr>
          <p:cNvPr id="461" name="Google Shape;461;p13"/>
          <p:cNvGraphicFramePr/>
          <p:nvPr/>
        </p:nvGraphicFramePr>
        <p:xfrm>
          <a:off x="474878" y="5897718"/>
          <a:ext cx="3000000" cy="3000000"/>
        </p:xfrm>
        <a:graphic>
          <a:graphicData uri="http://schemas.openxmlformats.org/drawingml/2006/table">
            <a:tbl>
              <a:tblPr>
                <a:solidFill>
                  <a:srgbClr val="F2F2F2"/>
                </a:solidFill>
                <a:tableStyleId>{01E5AF45-4145-4DA2-A73C-3DA950761145}</a:tableStyleId>
              </a:tblPr>
              <a:tblGrid>
                <a:gridCol w="2289575"/>
              </a:tblGrid>
              <a:tr h="2261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b="0" i="0" lang="es-ES" sz="7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Diseño de metodología diagnóstico del modelo operativo</a:t>
                      </a:r>
                      <a:endParaRPr/>
                    </a:p>
                  </a:txBody>
                  <a:tcPr marT="69875" marB="11300" marR="22625" marL="22625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EAEA"/>
                    </a:solidFill>
                  </a:tcPr>
                </a:tc>
              </a:tr>
              <a:tr h="2261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b="0" i="0" lang="es-ES" sz="7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Diagnóstico org. desempeño modelo operativo</a:t>
                      </a:r>
                      <a:endParaRPr b="0" i="0" sz="7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9875" marB="11300" marR="22625" marL="22625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EAEA"/>
                    </a:solidFill>
                  </a:tcPr>
                </a:tc>
              </a:tr>
            </a:tbl>
          </a:graphicData>
        </a:graphic>
      </p:graphicFrame>
      <p:sp>
        <p:nvSpPr>
          <p:cNvPr id="462" name="Google Shape;462;p13"/>
          <p:cNvSpPr/>
          <p:nvPr/>
        </p:nvSpPr>
        <p:spPr>
          <a:xfrm>
            <a:off x="-11180" y="5772368"/>
            <a:ext cx="250694" cy="250694"/>
          </a:xfrm>
          <a:prstGeom prst="ellipse">
            <a:avLst/>
          </a:prstGeom>
          <a:solidFill>
            <a:srgbClr val="DE0230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Open Sans"/>
              <a:buNone/>
            </a:pPr>
            <a:r>
              <a:rPr b="1" i="0" lang="es-ES" sz="14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4</a:t>
            </a:r>
            <a:endParaRPr b="1" i="0" sz="1400" u="none" cap="none" strike="noStrike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63" name="Google Shape;463;p13"/>
          <p:cNvSpPr/>
          <p:nvPr/>
        </p:nvSpPr>
        <p:spPr>
          <a:xfrm>
            <a:off x="10167763" y="5408870"/>
            <a:ext cx="1444671" cy="172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s-ES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TBC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4" name="Google Shape;464;p13"/>
          <p:cNvSpPr/>
          <p:nvPr/>
        </p:nvSpPr>
        <p:spPr>
          <a:xfrm>
            <a:off x="10167763" y="5597552"/>
            <a:ext cx="1444671" cy="172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s-ES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TBC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5" name="Google Shape;465;p13"/>
          <p:cNvSpPr/>
          <p:nvPr/>
        </p:nvSpPr>
        <p:spPr>
          <a:xfrm>
            <a:off x="10167763" y="5910628"/>
            <a:ext cx="1444671" cy="172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s-ES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TBC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6" name="Google Shape;466;p13"/>
          <p:cNvSpPr/>
          <p:nvPr/>
        </p:nvSpPr>
        <p:spPr>
          <a:xfrm>
            <a:off x="10167763" y="6099310"/>
            <a:ext cx="1444671" cy="172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s-ES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TBC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7" name="Google Shape;467;p13"/>
          <p:cNvSpPr/>
          <p:nvPr/>
        </p:nvSpPr>
        <p:spPr>
          <a:xfrm>
            <a:off x="7191150" y="2777358"/>
            <a:ext cx="907003" cy="174099"/>
          </a:xfrm>
          <a:prstGeom prst="rect">
            <a:avLst/>
          </a:prstGeom>
          <a:solidFill>
            <a:srgbClr val="E45C5A"/>
          </a:solidFill>
          <a:ln>
            <a:noFill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Calibri"/>
              <a:buNone/>
            </a:pPr>
            <a:r>
              <a:t/>
            </a:r>
            <a:endParaRPr b="0" i="0" sz="7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8" name="Google Shape;468;p13"/>
          <p:cNvSpPr/>
          <p:nvPr/>
        </p:nvSpPr>
        <p:spPr>
          <a:xfrm>
            <a:off x="7191150" y="2988426"/>
            <a:ext cx="2122184" cy="198498"/>
          </a:xfrm>
          <a:prstGeom prst="rect">
            <a:avLst/>
          </a:prstGeom>
          <a:solidFill>
            <a:srgbClr val="E45C5A"/>
          </a:solidFill>
          <a:ln>
            <a:noFill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Calibri"/>
              <a:buNone/>
            </a:pPr>
            <a:r>
              <a:t/>
            </a:r>
            <a:endParaRPr b="0" i="0" sz="7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2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p14"/>
          <p:cNvSpPr txBox="1"/>
          <p:nvPr>
            <p:ph type="title"/>
          </p:nvPr>
        </p:nvSpPr>
        <p:spPr>
          <a:xfrm>
            <a:off x="4610421" y="2677459"/>
            <a:ext cx="6983932" cy="1503083"/>
          </a:xfrm>
          <a:prstGeom prst="rect">
            <a:avLst/>
          </a:prstGeom>
          <a:noFill/>
          <a:ln>
            <a:noFill/>
          </a:ln>
        </p:spPr>
        <p:txBody>
          <a:bodyPr anchorCtr="0" anchor="ctr" bIns="36000" lIns="108000" spcFirstLastPara="1" rIns="108000" wrap="square" tIns="360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s-ES" sz="2400"/>
              <a:t>Gracias</a:t>
            </a:r>
            <a:endParaRPr/>
          </a:p>
        </p:txBody>
      </p:sp>
      <p:sp>
        <p:nvSpPr>
          <p:cNvPr id="474" name="Google Shape;474;p14"/>
          <p:cNvSpPr txBox="1"/>
          <p:nvPr/>
        </p:nvSpPr>
        <p:spPr>
          <a:xfrm>
            <a:off x="10553700" y="6324600"/>
            <a:ext cx="180022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Febrero 2026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Master">
  <a:themeElements>
    <a:clrScheme name="Personalizados 379">
      <a:dk1>
        <a:srgbClr val="000000"/>
      </a:dk1>
      <a:lt1>
        <a:srgbClr val="FFFFFF"/>
      </a:lt1>
      <a:dk2>
        <a:srgbClr val="DCDADF"/>
      </a:dk2>
      <a:lt2>
        <a:srgbClr val="FFFFFF"/>
      </a:lt2>
      <a:accent1>
        <a:srgbClr val="E22726"/>
      </a:accent1>
      <a:accent2>
        <a:srgbClr val="FEAB00"/>
      </a:accent2>
      <a:accent3>
        <a:srgbClr val="6A6277"/>
      </a:accent3>
      <a:accent4>
        <a:srgbClr val="F48753"/>
      </a:accent4>
      <a:accent5>
        <a:srgbClr val="FF575D"/>
      </a:accent5>
      <a:accent6>
        <a:srgbClr val="A61D1C"/>
      </a:accent6>
      <a:hlink>
        <a:srgbClr val="000000"/>
      </a:hlink>
      <a:folHlink>
        <a:srgbClr val="6A627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2026-02-23T22:40:37Z</dcterms:created>
  <dc:creator>Rodriguez Barcenas Beatriz Adriana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ContentMarkingFooterLocations">
    <vt:lpwstr>Tema de Office:8\Master:3</vt:lpwstr>
  </property>
  <property fmtid="{D5CDD505-2E9C-101B-9397-08002B2CF9AE}" pid="3" name="ClassificationContentMarkingFooterText">
    <vt:lpwstr>OXXO | Uso Interno</vt:lpwstr>
  </property>
  <property fmtid="{D5CDD505-2E9C-101B-9397-08002B2CF9AE}" pid="4" name="ContentTypeId">
    <vt:lpwstr>0x010100A3DD5B74ED9C3D4095461D6E79182C3A</vt:lpwstr>
  </property>
</Properties>
</file>