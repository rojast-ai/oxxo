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29" r:id="rId63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561" r:id="rId7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54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6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55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Estrategia y Transformación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/>
              <a:t>1. Macroestructura OXXO MX</a:t>
            </a:r>
          </a:p>
          <a:p>
            <a:r>
              <a:rPr sz="2400"/>
              <a:t>2. Mapa Interacciones Estrategia y Transformación</a:t>
            </a:r>
          </a:p>
          <a:p>
            <a:r>
              <a:rPr sz="2400"/>
              <a:t>3. Estructura Organizacional Estrategia y Transformación</a:t>
            </a:r>
          </a:p>
          <a:p>
            <a:r>
              <a:rPr sz="2400"/>
              <a:t>4. Matriz RASCI (Metodología)</a:t>
            </a:r>
          </a:p>
          <a:p>
            <a:r>
              <a:rPr sz="2400"/>
              <a:t>5. Detalle de la Matriz RASCI por Responsabilidad</a:t>
            </a:r>
          </a:p>
          <a:p>
            <a:r>
              <a:rPr sz="2400"/>
              <a:t>6. Estructura Organizacional OXXO Cel</a:t>
            </a:r>
          </a:p>
          <a:p>
            <a:r>
              <a:rPr sz="2400"/>
              <a:t>7. Estructura Organizacional Comercial Servicios Financieros</a:t>
            </a:r>
          </a:p>
          <a:p>
            <a:r>
              <a:rPr sz="2400"/>
              <a:t>8. Estructura Organizacional Estrategia</a:t>
            </a:r>
          </a:p>
          <a:p>
            <a:r>
              <a:rPr sz="2400"/>
              <a:t>9. Estructura Organizacional Fullfilment</a:t>
            </a:r>
          </a:p>
          <a:p>
            <a:r>
              <a:rPr sz="2400"/>
              <a:t>10. Estructura Organizacional Value Delivery</a:t>
            </a:r>
          </a:p>
          <a:p>
            <a:r>
              <a:rPr sz="2400"/>
              <a:t>11.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Propósito Estrategia y Transformación</a:t>
            </a:r>
          </a:p>
          <a:p/>
          <a:p>
            <a:r>
              <a:rPr b="0"/>
              <a:t>Diseñar y ejecutar la estrategia de largo plazo de OXXO México, asegurando la transformación organizacional, la entrega de valor en las iniciativas estratégicas y el desarrollo de servicios financieros y digitales que amplíen la propuesta de valor para los clientes y el negocio.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Estrategia y Transformación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Estrategia y Transformación</a:t>
            </a:r>
          </a:p>
        </p:txBody>
      </p:sp>
      <p:sp>
        <p:nvSpPr>
          <p:cNvPr id="102" name="L1Box"/>
          <p:cNvSpPr txBox="1"/>
          <p:nvPr/>
        </p:nvSpPr>
        <p:spPr>
          <a:xfrm>
            <a:off x="4396000" y="930000"/>
            <a:ext cx="3400000" cy="50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Director Estrategia y</a:t>
            </a:r>
          </a:p>
          <a:p>
            <a:pPr algn="ctr">
              <a:spcBef>
                <a:spcPts val="200"/>
              </a:spcBef>
            </a:pPr>
            <a:r>
              <a:rPr sz="1100" b="1" i="0">
                <a:solidFill>
                  <a:srgbClr val="FFFFFF"/>
                </a:solidFill>
              </a:rPr>
              <a:t>Transformación OXXO Mx</a:t>
            </a:r>
          </a:p>
        </p:txBody>
      </p:sp>
      <p:sp>
        <p:nvSpPr>
          <p:cNvPr id="103" name="Line1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4" name="Line10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5" name="Line10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6" name="Line10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7" name="Line10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8" name="Line10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9" name="Line10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0" name="L2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Estrategia</a:t>
            </a:r>
          </a:p>
        </p:txBody>
      </p:sp>
      <p:sp>
        <p:nvSpPr>
          <p:cNvPr id="111" name="L2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Planeación estratégica de largo plazo y evaluación de oportunidades de negocio.</a:t>
            </a:r>
          </a:p>
        </p:txBody>
      </p:sp>
      <p:sp>
        <p:nvSpPr>
          <p:cNvPr id="112" name="L2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Servicios Financieros</a:t>
            </a:r>
          </a:p>
        </p:txBody>
      </p:sp>
      <p:sp>
        <p:nvSpPr>
          <p:cNvPr id="113" name="L2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Gestión comercial de corresponsalías, dispersión de efectivo y productos financieros.</a:t>
            </a:r>
          </a:p>
        </p:txBody>
      </p:sp>
      <p:sp>
        <p:nvSpPr>
          <p:cNvPr id="114" name="L2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Value Delivery</a:t>
            </a:r>
          </a:p>
        </p:txBody>
      </p:sp>
      <p:sp>
        <p:nvSpPr>
          <p:cNvPr id="115" name="L2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Entrega de valor en iniciativas estratégicas bajo marcos ágiles.</a:t>
            </a:r>
          </a:p>
        </p:txBody>
      </p:sp>
      <p:sp>
        <p:nvSpPr>
          <p:cNvPr id="116" name="L2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Fullfilment</a:t>
            </a:r>
          </a:p>
        </p:txBody>
      </p:sp>
      <p:sp>
        <p:nvSpPr>
          <p:cNvPr id="117" name="L2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Operación y gestión del modelo de fulfillment y adquisición de clientes.</a:t>
            </a:r>
          </a:p>
        </p:txBody>
      </p:sp>
      <p:sp>
        <p:nvSpPr>
          <p:cNvPr id="118" name="L2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OXXO Cel</a:t>
            </a:r>
          </a:p>
        </p:txBody>
      </p:sp>
      <p:sp>
        <p:nvSpPr>
          <p:cNvPr id="119" name="L2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Estrategia y operación comercial de telefonía y chips en red de tiendas.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la visión y hoja de ruta estratégica de OXXO Mx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la dirección estratégica de la organización, definiendo prioridades y la hoja de ruta de transformación.</a:t>
            </a:r>
          </a:p>
        </p:txBody>
      </p:sp>
      <p:sp>
        <p:nvSpPr>
          <p:cNvPr id="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lidera y rinde cuentas de la visión estratégica (A/R). El Gte. Sr. Estrategia apoya (S) con análisis e insumos.</a:t>
            </a:r>
          </a:p>
        </p:txBody>
      </p:sp>
      <p:sp>
        <p:nvSpPr>
          <p:cNvPr id="6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6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Alinear prioridades estratégicas con los objetivos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que las iniciativas estratégicas estén alineadas con los objetivos corporativos y las necesidades del negocio.</a:t>
            </a:r>
          </a:p>
        </p:txBody>
      </p:sp>
      <p:sp>
        <p:nvSpPr>
          <p:cNvPr id="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rinde cuentas de la alineación (A/R). El Gte. Sr. Estrategia apoya (S); Value Delivery y Com. Servicios consultan (C).</a:t>
            </a:r>
          </a:p>
        </p:txBody>
      </p:sp>
      <p:sp>
        <p:nvSpPr>
          <p:cNvPr id="9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9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9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Aporta perspectiva experta como consultor.</a:t>
            </a:r>
          </a:p>
        </p:txBody>
      </p:sp>
      <p:sp>
        <p:nvSpPr>
          <p:cNvPr id="9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Aporta perspectiva experta como consultor.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Evaluar y validar nuevas oportunidades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Analiza y valida oportunidades de nuevos negocios, mercados o modelos que incrementen el valor de la empresa.</a:t>
            </a:r>
          </a:p>
        </p:txBody>
      </p:sp>
      <p:sp>
        <p:nvSpPr>
          <p:cNvPr id="1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ejecuta el análisis (R). El Director aprueba (A). Value Delivery y Com. Servicios aportan perspectiva (C).</a:t>
            </a:r>
          </a:p>
        </p:txBody>
      </p:sp>
      <p:sp>
        <p:nvSpPr>
          <p:cNvPr id="12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12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  <p:sp>
        <p:nvSpPr>
          <p:cNvPr id="12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Aporta perspectiva experta como consultor.</a:t>
            </a:r>
          </a:p>
        </p:txBody>
      </p:sp>
      <p:sp>
        <p:nvSpPr>
          <p:cNvPr id="12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Aporta perspectiva experta como consultor.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plan de largo plazo y escenarios estratégicos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plan estratégico de largo plazo y construye escenarios para la toma de decisiones.</a:t>
            </a:r>
          </a:p>
        </p:txBody>
      </p:sp>
      <p:sp>
        <p:nvSpPr>
          <p:cNvPr id="1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ejecuta la planificación (R). El Director aprueba y valida los escenarios (A).</a:t>
            </a:r>
          </a:p>
        </p:txBody>
      </p:sp>
      <p:sp>
        <p:nvSpPr>
          <p:cNvPr id="15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5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15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Comunicar la estrategia a los diferentes niveles de la organización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que la estrategia sea comprendida y adoptada en todos los niveles de la organización.</a:t>
            </a:r>
          </a:p>
        </p:txBody>
      </p:sp>
      <p:sp>
        <p:nvSpPr>
          <p:cNvPr id="1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lidera la comunicación estratégica (A/R). Gte. Estrategia, Value Delivery y Com. Servicios apoyan (S) en la cascada.</a:t>
            </a:r>
          </a:p>
        </p:txBody>
      </p:sp>
      <p:sp>
        <p:nvSpPr>
          <p:cNvPr id="18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8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18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18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18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Brinda apoyo y soporte activo.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Monitorear indicadores clave de desempeño estratégico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Supervisa los KPIs estratégicos para asegurar el avance hacia los objetivos definidos.</a:t>
            </a:r>
          </a:p>
        </p:txBody>
      </p:sp>
      <p:sp>
        <p:nvSpPr>
          <p:cNvPr id="2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reporta los indicadores (R). El Director valida y actúa sobre las brechas (A). Value Delivery apoya (S).</a:t>
            </a:r>
          </a:p>
        </p:txBody>
      </p:sp>
      <p:sp>
        <p:nvSpPr>
          <p:cNvPr id="21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21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  <p:sp>
        <p:nvSpPr>
          <p:cNvPr id="21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y ejecutar el modelo de entrega de valor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el modelo operativo para garantizar que las iniciativas estratégicas generen valor medible.</a:t>
            </a:r>
          </a:p>
        </p:txBody>
      </p:sp>
      <p:sp>
        <p:nvSpPr>
          <p:cNvPr id="2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ejecuta el modelo (R). El Director aprueba (A). Metodología apoya en procesos (S). Estrategia consulta (C).</a:t>
            </a:r>
          </a:p>
        </p:txBody>
      </p:sp>
      <p:sp>
        <p:nvSpPr>
          <p:cNvPr id="2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2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2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2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Identificar y eliminar barreras al valor en iniciativas en curso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Detecta obstáculos que impiden la generación de valor en proyectos activos y los resuelve.</a:t>
            </a:r>
          </a:p>
        </p:txBody>
      </p:sp>
      <p:sp>
        <p:nvSpPr>
          <p:cNvPr id="2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lidera la remoción de obstáculos (R). Metodología apoya (S) con frameworks. Estrategia asesora (C).</a:t>
            </a:r>
          </a:p>
        </p:txBody>
      </p:sp>
      <p:sp>
        <p:nvSpPr>
          <p:cNvPr id="27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7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27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7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27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Asegurar la entrega ágil y orientada a resultados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Implementa prácticas ágiles y mecanismos de seguimiento para garantizar la entrega oportuna de resultados.</a:t>
            </a:r>
          </a:p>
        </p:txBody>
      </p:sp>
      <p:sp>
        <p:nvSpPr>
          <p:cNvPr id="2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dirige la ejecución ágil (R). Procesos y Metodología rinde cuentas de los marcos de trabajo (A/R).</a:t>
            </a:r>
          </a:p>
        </p:txBody>
      </p:sp>
      <p:sp>
        <p:nvSpPr>
          <p:cNvPr id="30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0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0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0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rinde cuentas del resultado final.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portafolio de iniciativas estratégicas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portafolio de proyectos estratégicos, priorizando recursos y asegurando avance.</a:t>
            </a:r>
          </a:p>
        </p:txBody>
      </p:sp>
      <p:sp>
        <p:nvSpPr>
          <p:cNvPr id="3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gestiona el portafolio (R). El Director aprueba prioridades (A). Estrategia y Metodología apoyan (S).</a:t>
            </a:r>
          </a:p>
        </p:txBody>
      </p:sp>
      <p:sp>
        <p:nvSpPr>
          <p:cNvPr id="33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3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33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33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3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3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4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Medir y reportar el impacto de las iniciativas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métricas de impacto y reporta el valor generado por las iniciativas estratégicas.</a:t>
            </a:r>
          </a:p>
        </p:txBody>
      </p:sp>
      <p:sp>
        <p:nvSpPr>
          <p:cNvPr id="3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reporta el impacto (R). El Director valida y aprueba los resultados (A). Estrategia apoya (S).</a:t>
            </a:r>
          </a:p>
        </p:txBody>
      </p:sp>
      <p:sp>
        <p:nvSpPr>
          <p:cNvPr id="36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6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36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6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36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6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Facilitar la toma de decisiones basada en datos de valor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Provee análisis y datos de impacto para apoyar la toma de decisiones de los líderes.</a:t>
            </a:r>
          </a:p>
        </p:txBody>
      </p:sp>
      <p:sp>
        <p:nvSpPr>
          <p:cNvPr id="3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facilita los análisis de decisión (R). Metodología apoya (S) con estructuras. Estrategia consulta (C).</a:t>
            </a:r>
          </a:p>
        </p:txBody>
      </p:sp>
      <p:sp>
        <p:nvSpPr>
          <p:cNvPr id="39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9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39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9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9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Diseñar y estandarizar metodologías de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Desarrolla y estandariza los marcos de gestión de proyectos para toda la organización.</a:t>
            </a:r>
          </a:p>
        </p:txBody>
      </p:sp>
      <p:sp>
        <p:nvSpPr>
          <p:cNvPr id="4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diseña las metodologías (R). Value Delivery apoya (S) validando uso. Estrategia asesora (C).</a:t>
            </a:r>
          </a:p>
        </p:txBody>
      </p:sp>
      <p:sp>
        <p:nvSpPr>
          <p:cNvPr id="42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2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42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42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2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Documentar y mantener procesos organizacionales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Mapea, documenta y actualiza los procesos clave de la organización para garantizar su claridad y vigencia.</a:t>
            </a:r>
          </a:p>
        </p:txBody>
      </p:sp>
      <p:sp>
        <p:nvSpPr>
          <p:cNvPr id="4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es el único responsable de la documentación y gestión de procesos (R).</a:t>
            </a:r>
          </a:p>
        </p:txBody>
      </p:sp>
      <p:sp>
        <p:nvSpPr>
          <p:cNvPr id="453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54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Auditar el cumplimiento de procesos y metodologías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Verifica que las áreas cumplan con los procesos y metodologías definidos.</a:t>
            </a:r>
          </a:p>
        </p:txBody>
      </p:sp>
      <p:sp>
        <p:nvSpPr>
          <p:cNvPr id="4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ejecuta las auditorías (R). Value Delivery apoya (S) en la revisión de iniciativas.</a:t>
            </a:r>
          </a:p>
        </p:txBody>
      </p:sp>
      <p:sp>
        <p:nvSpPr>
          <p:cNvPr id="48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8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48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8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Capacitar a los equipos en metodologías y herramientas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Diseña e imparte programas de capacitación en metodologías de gestión y mejora continua.</a:t>
            </a:r>
          </a:p>
        </p:txBody>
      </p:sp>
      <p:sp>
        <p:nvSpPr>
          <p:cNvPr id="5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lidera la capacitación (R). Value Delivery apoya (S) identificando brechas en los equipos.</a:t>
            </a:r>
          </a:p>
        </p:txBody>
      </p:sp>
      <p:sp>
        <p:nvSpPr>
          <p:cNvPr id="51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1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1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1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Proponer mejoras al modelo operativo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Identifica oportunidades de mejora en el modelo operativo y propone cambios para incrementar la eficiencia.</a:t>
            </a:r>
          </a:p>
        </p:txBody>
      </p:sp>
      <p:sp>
        <p:nvSpPr>
          <p:cNvPr id="5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propone mejoras (R). El Director aprueba (A). Estrategia y Value Delivery apoyan (S).</a:t>
            </a:r>
          </a:p>
        </p:txBody>
      </p:sp>
      <p:sp>
        <p:nvSpPr>
          <p:cNvPr id="5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5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5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cambio organizacional asociado a nuevos procesos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Lidera la gestión del cambio para asegurar la adopción de nuevos procesos en la organización.</a:t>
            </a:r>
          </a:p>
        </p:txBody>
      </p:sp>
      <p:sp>
        <p:nvSpPr>
          <p:cNvPr id="5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conduce la gestión del cambio (R). El Director aprueba (A). Estrategia y Value Delivery apoyan (S).</a:t>
            </a:r>
          </a:p>
        </p:txBody>
      </p:sp>
      <p:sp>
        <p:nvSpPr>
          <p:cNvPr id="57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7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57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7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57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7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7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8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la estrategia comercial de servicios financieros y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la estrategia comercial para los servicios financieros y digitales de la red de tiendas.</a:t>
            </a:r>
          </a:p>
        </p:txBody>
      </p:sp>
      <p:sp>
        <p:nvSpPr>
          <p:cNvPr id="5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lidera la estrategia comercial (R). El Director ET aprueba la alineación estratégica (A).</a:t>
            </a:r>
          </a:p>
        </p:txBody>
      </p:sp>
      <p:sp>
        <p:nvSpPr>
          <p:cNvPr id="60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0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605" name="RBadge_4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06" name="RDesc_4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las relaciones con socios y alianzas comerciales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las relaciones con socios comerciales, proveedores y alianzas para potenciar la oferta de servicios.</a:t>
            </a:r>
          </a:p>
        </p:txBody>
      </p:sp>
      <p:sp>
        <p:nvSpPr>
          <p:cNvPr id="6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gestiona directamente las alianzas y socios (R).</a:t>
            </a:r>
          </a:p>
        </p:txBody>
      </p:sp>
      <p:sp>
        <p:nvSpPr>
          <p:cNvPr id="63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3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Supervisar la operación de corresponsalías y dispersión de efectivo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la correcta operación de corresponsalías, dispersión de efectivo y servicios financieros en tienda.</a:t>
            </a:r>
          </a:p>
        </p:txBody>
      </p:sp>
      <p:sp>
        <p:nvSpPr>
          <p:cNvPr id="6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rinde cuentas de la operación comercial (R).</a:t>
            </a:r>
          </a:p>
        </p:txBody>
      </p:sp>
      <p:sp>
        <p:nvSpPr>
          <p:cNvPr id="66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Impulsar la adquisición y fidelización de clientes de servicios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Diseña y ejecuta estrategias para captar nuevos clientes de servicios y retener a los existentes.</a:t>
            </a:r>
          </a:p>
        </p:txBody>
      </p:sp>
      <p:sp>
        <p:nvSpPr>
          <p:cNvPr id="6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ejecuta la estrategia de adquisición (R). Value Delivery apoya (S). Estrategia asesora (C).</a:t>
            </a:r>
          </a:p>
        </p:txBody>
      </p:sp>
      <p:sp>
        <p:nvSpPr>
          <p:cNvPr id="69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9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69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697" name="RBadge_4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98" name="RDesc_4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el portafolio de productos y servicios de la red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Determina el portafolio de productos y servicios ofrecidos a través de la red de tiendas.</a:t>
            </a:r>
          </a:p>
        </p:txBody>
      </p:sp>
      <p:sp>
        <p:nvSpPr>
          <p:cNvPr id="7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define el portafolio (R). El Director ET aprueba (A). Estrategia asesora (C).</a:t>
            </a:r>
          </a:p>
        </p:txBody>
      </p:sp>
      <p:sp>
        <p:nvSpPr>
          <p:cNvPr id="72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2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72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2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727" name="RBadge_4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28" name="RDesc_4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Monitorear KPIs comerciales y de servicios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Supervisa los indicadores de desempeño comercial y de servicios para asegurar el cumplimiento de metas.</a:t>
            </a:r>
          </a:p>
        </p:txBody>
      </p:sp>
      <p:sp>
        <p:nvSpPr>
          <p:cNvPr id="7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es el responsable directo del desempeño comercial (R).</a:t>
            </a:r>
          </a:p>
        </p:txBody>
      </p:sp>
      <p:sp>
        <p:nvSpPr>
          <p:cNvPr id="75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 agenda de transformación organizacional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Coordina y da seguimiento a los proyectos de transformación que impactan a toda la organización.</a:t>
            </a:r>
          </a:p>
        </p:txBody>
      </p:sp>
      <p:sp>
        <p:nvSpPr>
          <p:cNvPr id="7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es el dueño de la agenda de transformación (A/R). Estrategia, Value Delivery y Metodología apoyan (S).</a:t>
            </a:r>
          </a:p>
        </p:txBody>
      </p:sp>
      <p:sp>
        <p:nvSpPr>
          <p:cNvPr id="78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8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78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78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78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9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Alinear iniciativas de transformación con la dirección corporativa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que los proyectos de transformación estén alineados con las directrices corporativas.</a:t>
            </a:r>
          </a:p>
        </p:txBody>
      </p:sp>
      <p:sp>
        <p:nvSpPr>
          <p:cNvPr id="8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alinea la transformación con el corporativo (A/R). El Gte. Sr. Estrategia apoya (S) con análisis.</a:t>
            </a:r>
          </a:p>
        </p:txBody>
      </p:sp>
      <p:sp>
        <p:nvSpPr>
          <p:cNvPr id="81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1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81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1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Desarrollar capacidades organizacionales estratégicas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Impulsa el desarrollo de las capacidades y talento necesarios para ejecutar la estrategia de largo plazo.</a:t>
            </a:r>
          </a:p>
        </p:txBody>
      </p:sp>
      <p:sp>
        <p:nvSpPr>
          <p:cNvPr id="8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lidera el desarrollo de capacidades (A/R). Todos los gerentes apoyan (S) en sus respectivos ámbitos.</a:t>
            </a:r>
          </a:p>
        </p:txBody>
      </p:sp>
      <p:sp>
        <p:nvSpPr>
          <p:cNvPr id="8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8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8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8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 comunicación e imagen institucional del área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la comunicación interna y externa del área de Estrategia y Transformación.</a:t>
            </a:r>
          </a:p>
        </p:txBody>
      </p:sp>
      <p:sp>
        <p:nvSpPr>
          <p:cNvPr id="8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gestiona la imagen y comunicación institucional (R). El Gte. Sr. Estrategia apoya (S).</a:t>
            </a:r>
          </a:p>
        </p:txBody>
      </p:sp>
      <p:sp>
        <p:nvSpPr>
          <p:cNvPr id="87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7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lidera esta responsabilidad.</a:t>
            </a:r>
          </a:p>
        </p:txBody>
      </p:sp>
      <p:sp>
        <p:nvSpPr>
          <p:cNvPr id="87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7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Fomentar la cultura de innovación y mejora continua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Promueve una cultura organizacional orientada a la innovación, el aprendizaje y la mejora continua.</a:t>
            </a:r>
          </a:p>
        </p:txBody>
      </p:sp>
      <p:sp>
        <p:nvSpPr>
          <p:cNvPr id="8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lidera la cultura de innovación (A/R). Todos los gerentes apoyan (S) en su ámbito.</a:t>
            </a:r>
          </a:p>
        </p:txBody>
      </p:sp>
      <p:sp>
        <p:nvSpPr>
          <p:cNvPr id="90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0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90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90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90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  <p:sp>
        <p:nvSpPr>
          <p:cNvPr id="911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2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Brinda apoyo y soporte activo.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9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Garantizar el uso eficiente de recursos del área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presupuesto y recursos del área para maximizar el impacto de las iniciativas estratégicas.</a:t>
            </a:r>
          </a:p>
        </p:txBody>
      </p:sp>
      <p:sp>
        <p:nvSpPr>
          <p:cNvPr id="9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9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9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9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9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rinde cuentas del uso de recursos del área (A/R).</a:t>
            </a:r>
          </a:p>
        </p:txBody>
      </p:sp>
      <p:sp>
        <p:nvSpPr>
          <p:cNvPr id="93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3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OXXO Cel</a:t>
            </a:r>
          </a:p>
        </p:txBody>
      </p:sp>
      <p:sp>
        <p:nvSpPr>
          <p:cNvPr id="2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OXXO Cel</a:t>
            </a:r>
          </a:p>
        </p:txBody>
      </p:sp>
      <p:sp>
        <p:nvSpPr>
          <p:cNvPr id="203" name="Line2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4" name="Line20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5" name="Line20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6" name="Line20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7" name="Line20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8" name="Line20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9" name="Line20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1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Analista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Datos</a:t>
            </a:r>
          </a:p>
        </p:txBody>
      </p:sp>
      <p:sp>
        <p:nvSpPr>
          <p:cNvPr id="21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Analizar datos de ventas y comportamiento de clientes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Construir reportes y dashboards de desempeño de OXXO Cel.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tendencias y oportunidades en el mercado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Apoyar la toma de decisiones con análisis cuantitativos.</a:t>
            </a:r>
          </a:p>
        </p:txBody>
      </p:sp>
      <p:sp>
        <p:nvSpPr>
          <p:cNvPr id="21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Analista Operación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Teléfonos y Chips</a:t>
            </a:r>
          </a:p>
        </p:txBody>
      </p:sp>
      <p:sp>
        <p:nvSpPr>
          <p:cNvPr id="21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diaria de venta de teléfonos y chips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inventarios y asegurar disponibilidad de productos.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proveedores la reposición y activación de chips.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Documentar y mejorar los procesos operativos de OXXO Cel.</a:t>
            </a:r>
          </a:p>
        </p:txBody>
      </p:sp>
      <p:sp>
        <p:nvSpPr>
          <p:cNvPr id="21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Fidelización Clientes</a:t>
            </a:r>
          </a:p>
        </p:txBody>
      </p:sp>
      <p:sp>
        <p:nvSpPr>
          <p:cNvPr id="21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programas de fidelización para clientes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de retención y upgrades de planes.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churn y desarrollar acciones para reducirlo.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marketing las activaciones y promociones de telefonía.</a:t>
            </a:r>
          </a:p>
        </p:txBody>
      </p:sp>
      <p:sp>
        <p:nvSpPr>
          <p:cNvPr id="21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Product Owner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CX</a:t>
            </a:r>
          </a:p>
        </p:txBody>
      </p:sp>
      <p:sp>
        <p:nvSpPr>
          <p:cNvPr id="21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el backlog del producto de experiencia de cliente OXXO Cel.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Priorizar funcionalidades y mejoras con base en necesidades del cliente.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y operaciones para implementar mejoras de CX.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Validar y aceptar entregables de desarrollos de producto.</a:t>
            </a:r>
          </a:p>
        </p:txBody>
      </p:sp>
      <p:sp>
        <p:nvSpPr>
          <p:cNvPr id="21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Adquisición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Cliente</a:t>
            </a:r>
          </a:p>
        </p:txBody>
      </p:sp>
      <p:sp>
        <p:nvSpPr>
          <p:cNvPr id="21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Definir y ejecutar la estrategia de adquisición de nuevos clientes.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de activación y alta de nuevos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desempeño de canales de adquisición.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el equipo comercial las metas de nuevas altas.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Comercial Servicios Financieros</a:t>
            </a:r>
          </a:p>
        </p:txBody>
      </p:sp>
      <p:sp>
        <p:nvSpPr>
          <p:cNvPr id="25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 Comercial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Servicios Financieros</a:t>
            </a:r>
          </a:p>
        </p:txBody>
      </p:sp>
      <p:sp>
        <p:nvSpPr>
          <p:cNvPr id="253" name="Line25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4" name="Line25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5" name="Line25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6" name="Line25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7" name="Line25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8" name="Line25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9" name="Line25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6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Corresponsalías</a:t>
            </a:r>
          </a:p>
        </p:txBody>
      </p:sp>
      <p:sp>
        <p:nvSpPr>
          <p:cNvPr id="26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las relaciones comerciales con bancos y entidades corresponsales.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de transacciones de corresponsalía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nuevas alianzas comerciales para ampliar la oferta de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Asegurar el cumplimiento regulatorio de los servicios de corresponsalía.</a:t>
            </a:r>
          </a:p>
        </p:txBody>
      </p:sp>
      <p:sp>
        <p:nvSpPr>
          <p:cNvPr id="26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Dispersión Efectivo</a:t>
            </a:r>
          </a:p>
        </p:txBody>
      </p:sp>
      <p:sp>
        <p:nvSpPr>
          <p:cNvPr id="26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y crecimiento del negocio de dispersión de efectivo.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relaciones con clientes empresariales de dispersión.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indicadores de volumen y calidad de la operación.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nuevas oportunidades de negocio en dispersión.</a:t>
            </a:r>
          </a:p>
        </p:txBody>
      </p:sp>
      <p:sp>
        <p:nvSpPr>
          <p:cNvPr id="26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Operaciones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iCash</a:t>
            </a:r>
          </a:p>
        </p:txBody>
      </p:sp>
      <p:sp>
        <p:nvSpPr>
          <p:cNvPr id="26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Supervisar la operación técnica y comercial de la plataforma iCash.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Asegurar la disponibilidad y correcto funcionamiento del sistema.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incidencias y mejoras de la plataforma.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el desarrollo de nuevas funcionalidades.</a:t>
            </a:r>
          </a:p>
        </p:txBody>
      </p:sp>
      <p:sp>
        <p:nvSpPr>
          <p:cNvPr id="26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Producto</a:t>
            </a:r>
          </a:p>
        </p:txBody>
      </p:sp>
      <p:sp>
        <p:nvSpPr>
          <p:cNvPr id="26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Definir la estrategia de producto de servicios financieros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el ciclo de vida de productos financieros (lanzamiento, crecimiento, retiro).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mercado y la competencia para identificar oportunidades.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regulación y cumplimiento el lanzamiento de nuevos productos.</a:t>
            </a:r>
          </a:p>
        </p:txBody>
      </p:sp>
      <p:sp>
        <p:nvSpPr>
          <p:cNvPr id="26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Medios de Pago</a:t>
            </a:r>
          </a:p>
        </p:txBody>
      </p:sp>
      <p:sp>
        <p:nvSpPr>
          <p:cNvPr id="26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las relaciones con operadores de medios de pago digitales.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de transacciones de medios de pago en red.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estrategias para incrementar la adopción de pagos digitales.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habilitación técnica de nuevos medios de pago en POS.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Estrategia</a:t>
            </a:r>
          </a:p>
        </p:txBody>
      </p:sp>
      <p:sp>
        <p:nvSpPr>
          <p:cNvPr id="3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Estrategia</a:t>
            </a:r>
          </a:p>
        </p:txBody>
      </p:sp>
      <p:sp>
        <p:nvSpPr>
          <p:cNvPr id="303" name="Line3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4" name="Line304"/>
          <p:cNvSpPr txBox="1"/>
          <p:nvPr/>
        </p:nvSpPr>
        <p:spPr>
          <a:xfrm>
            <a:off x="3187900" y="1623650"/>
            <a:ext cx="58162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5" name="Line305"/>
          <p:cNvSpPr txBox="1"/>
          <p:nvPr/>
        </p:nvSpPr>
        <p:spPr>
          <a:xfrm>
            <a:off x="31815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6" name="Line306"/>
          <p:cNvSpPr txBox="1"/>
          <p:nvPr/>
        </p:nvSpPr>
        <p:spPr>
          <a:xfrm>
            <a:off x="89977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7" name="L3_0"/>
          <p:cNvSpPr txBox="1"/>
          <p:nvPr/>
        </p:nvSpPr>
        <p:spPr>
          <a:xfrm>
            <a:off x="304800" y="1730000"/>
            <a:ext cx="57662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Estrategia</a:t>
            </a:r>
          </a:p>
        </p:txBody>
      </p:sp>
      <p:sp>
        <p:nvSpPr>
          <p:cNvPr id="308" name="Desc_0"/>
          <p:cNvSpPr txBox="1"/>
          <p:nvPr/>
        </p:nvSpPr>
        <p:spPr>
          <a:xfrm>
            <a:off x="304800" y="2340000"/>
            <a:ext cx="57662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Realizar análisis estratégicos y estudios de mercado para la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Apoyar la elaboración del plan estratégico de largo plazo.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Documentar y comunicar los resultados de los proyectos estratégicos.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tendencias del sector retail y servicios.</a:t>
            </a:r>
          </a:p>
        </p:txBody>
      </p:sp>
      <p:sp>
        <p:nvSpPr>
          <p:cNvPr id="309" name="L3_1"/>
          <p:cNvSpPr txBox="1"/>
          <p:nvPr/>
        </p:nvSpPr>
        <p:spPr>
          <a:xfrm>
            <a:off x="6121000" y="1730000"/>
            <a:ext cx="57662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Planeación</a:t>
            </a:r>
          </a:p>
        </p:txBody>
      </p:sp>
      <p:sp>
        <p:nvSpPr>
          <p:cNvPr id="310" name="Desc_1"/>
          <p:cNvSpPr txBox="1"/>
          <p:nvPr/>
        </p:nvSpPr>
        <p:spPr>
          <a:xfrm>
            <a:off x="6121000" y="2340000"/>
            <a:ext cx="57662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Coordinar el proceso de planeación anual y multianual del área.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Consolidar y dar seguimiento a los planes e iniciativas estratégicas.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de avance estratégico para la alta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el calendario y la agenda estratégica del área.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Fullfilment</a:t>
            </a:r>
          </a:p>
        </p:txBody>
      </p:sp>
      <p:sp>
        <p:nvSpPr>
          <p:cNvPr id="35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Fullfilment</a:t>
            </a:r>
          </a:p>
        </p:txBody>
      </p:sp>
      <p:sp>
        <p:nvSpPr>
          <p:cNvPr id="353" name="Line35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4" name="Line35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5" name="Line35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6" name="Line35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7" name="Line35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8" name="Line35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9" name="Line35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6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Op.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operación diaria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indicadores operativos y de calidad del servicio.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incidencias y asegurar la continuidad operativa.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Documentar y optimizar los procesos de fulfillment.</a:t>
            </a:r>
          </a:p>
        </p:txBody>
      </p:sp>
      <p:sp>
        <p:nvSpPr>
          <p:cNvPr id="36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Product Owner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Servicios</a:t>
            </a:r>
          </a:p>
        </p:txBody>
      </p:sp>
      <p:sp>
        <p:nvSpPr>
          <p:cNvPr id="36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el backlog del producto de servicios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Priorizar funcionalidades con base en necesidades del cliente y del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y operaciones la implementación de mejoras.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Validar y aceptar entregables de desarrollos de producto.</a:t>
            </a:r>
          </a:p>
        </p:txBody>
      </p:sp>
      <p:sp>
        <p:nvSpPr>
          <p:cNvPr id="36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Desarrollar y gestionar las relaciones comerciales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nuevos clientes y oportunidades de expansión.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propuestas de valor y condiciones comerciales.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comercial e indicadores clave.</a:t>
            </a:r>
          </a:p>
        </p:txBody>
      </p:sp>
      <p:sp>
        <p:nvSpPr>
          <p:cNvPr id="36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MKT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Adquisición Cliente</a:t>
            </a:r>
          </a:p>
        </p:txBody>
      </p:sp>
      <p:sp>
        <p:nvSpPr>
          <p:cNvPr id="36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estrategias de marketing para adquisición de clientes.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digitales y de medios para 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Medir el ROI de las acciones de marketing y optimizar inversión.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el equipo comercial las activaciones y promociones.</a:t>
            </a:r>
          </a:p>
        </p:txBody>
      </p:sp>
      <p:sp>
        <p:nvSpPr>
          <p:cNvPr id="36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Op. Dis.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de distribución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proveedores logísticos la entrega de pedidos.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los tiempos de entrega y calidad del servicio.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Optimizar rutas y procesos de distribución para reducir costos.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Value Delivery</a:t>
            </a:r>
          </a:p>
        </p:txBody>
      </p:sp>
      <p:sp>
        <p:nvSpPr>
          <p:cNvPr id="4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Value Delivery</a:t>
            </a:r>
          </a:p>
        </p:txBody>
      </p:sp>
      <p:sp>
        <p:nvSpPr>
          <p:cNvPr id="403" name="Line4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4" name="Line404"/>
          <p:cNvSpPr txBox="1"/>
          <p:nvPr/>
        </p:nvSpPr>
        <p:spPr>
          <a:xfrm>
            <a:off x="2218533" y="1623650"/>
            <a:ext cx="7754932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5" name="Line405"/>
          <p:cNvSpPr txBox="1"/>
          <p:nvPr/>
        </p:nvSpPr>
        <p:spPr>
          <a:xfrm>
            <a:off x="2212183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6" name="Line406"/>
          <p:cNvSpPr txBox="1"/>
          <p:nvPr/>
        </p:nvSpPr>
        <p:spPr>
          <a:xfrm>
            <a:off x="6089649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7" name="Line407"/>
          <p:cNvSpPr txBox="1"/>
          <p:nvPr/>
        </p:nvSpPr>
        <p:spPr>
          <a:xfrm>
            <a:off x="9967115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8" name="L3_0"/>
          <p:cNvSpPr txBox="1"/>
          <p:nvPr/>
        </p:nvSpPr>
        <p:spPr>
          <a:xfrm>
            <a:off x="304800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Coord.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Value Delivery</a:t>
            </a:r>
          </a:p>
        </p:txBody>
      </p:sp>
      <p:sp>
        <p:nvSpPr>
          <p:cNvPr id="409" name="Desc_0"/>
          <p:cNvSpPr txBox="1"/>
          <p:nvPr/>
        </p:nvSpPr>
        <p:spPr>
          <a:xfrm>
            <a:off x="304800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Coordinar el seguimiento de iniciativas estratégicas en el portafolio.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la comunicación entre equipos de proyecto y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Actualizar tableros de seguimiento y reportes de avance.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riesgos y escalar obstáculos para resolución oportuna.</a:t>
            </a:r>
          </a:p>
        </p:txBody>
      </p:sp>
      <p:sp>
        <p:nvSpPr>
          <p:cNvPr id="410" name="L3_1"/>
          <p:cNvSpPr txBox="1"/>
          <p:nvPr/>
        </p:nvSpPr>
        <p:spPr>
          <a:xfrm>
            <a:off x="4182266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Gte Área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Value Delivery</a:t>
            </a:r>
          </a:p>
        </p:txBody>
      </p:sp>
      <p:sp>
        <p:nvSpPr>
          <p:cNvPr id="411" name="Desc_1"/>
          <p:cNvSpPr txBox="1"/>
          <p:nvPr/>
        </p:nvSpPr>
        <p:spPr>
          <a:xfrm>
            <a:off x="4182266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Gestionar iniciativas de alto impacto del portafolio estratégico.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Liderar equipos multidisciplinarios en la entrega de valor.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la alineación de objetivos de proyecto con la estrategia.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Reportar el impacto y valor generado a la dirección.</a:t>
            </a:r>
          </a:p>
        </p:txBody>
      </p:sp>
      <p:sp>
        <p:nvSpPr>
          <p:cNvPr id="412" name="L3_2"/>
          <p:cNvSpPr txBox="1"/>
          <p:nvPr/>
        </p:nvSpPr>
        <p:spPr>
          <a:xfrm>
            <a:off x="8059732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Procesos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Metodología</a:t>
            </a:r>
          </a:p>
        </p:txBody>
      </p:sp>
      <p:sp>
        <p:nvSpPr>
          <p:cNvPr id="413" name="Desc_2"/>
          <p:cNvSpPr txBox="1"/>
          <p:nvPr/>
        </p:nvSpPr>
        <p:spPr>
          <a:xfrm>
            <a:off x="8059732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y estandarizar metodologías de gestión de proyectos del área.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Documentar y mantener los procesos organizacionales del área ET.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Capacitar a los equipos en metodologías y herramientas de gestión.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Auditar el cumplimiento de procesos y metodologías definidos.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Anexos
Descripciones de Puesto</a:t>
            </a:r>
          </a:p>
        </p:txBody>
      </p:sp>
      <p:sp>
        <p:nvSpPr>
          <p:cNvPr id="51" name="Anexos"/>
          <p:cNvSpPr txBox="1"/>
          <p:nvPr/>
        </p:nvSpPr>
        <p:spPr>
          <a:xfrm>
            <a:off x="365760" y="750000"/>
            <a:ext cx="11460480" cy="5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• Director Estrategia y Transformación OXXO Mx: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OXXO Cel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Analista Datos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Analista Operación Teléfonos y Chips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Comercial Fidelización Clientes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Product Owner CX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Adquisición Cliente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Comercial Servicios Financieros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Corresponsalías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Dispersión Efectivo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Operaciones iCash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Producto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Comercial Medios de Pago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Estrategia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Estrategia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Planeación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Fullfilment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Op. Fullfilment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Product Owner Servicios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Fullfilment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MKT Adquisición Cliente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Op. Dis. Fullfilment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Value Delivery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Value Delivery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Value Delivery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Procesos y Metodología (ET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