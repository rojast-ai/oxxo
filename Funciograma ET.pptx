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0" r:id="rId2"/>
    <p:sldId id="2147483562" r:id="rId3"/>
    <p:sldId id="2147483561" r:id="rId4"/>
    <p:sldId id="294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9BB41-92C1-43D0-8C65-D860411129D9}" v="35" dt="2026-05-05T18:43:13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74" autoAdjust="0"/>
    <p:restoredTop sz="94404" autoAdjust="0"/>
  </p:normalViewPr>
  <p:slideViewPr>
    <p:cSldViewPr snapToGrid="0">
      <p:cViewPr>
        <p:scale>
          <a:sx n="80" d="100"/>
          <a:sy n="80" d="100"/>
        </p:scale>
        <p:origin x="396" y="-2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atriz Adriana Rodríguez Barcenas" userId="9d0e2705-d1ec-45d6-a10d-58461a4a334f" providerId="ADAL" clId="{812CDC9A-941A-4B28-B06D-1FCB72D96FFB}"/>
    <pc:docChg chg="undo custSel addSld delSld modSld sldOrd">
      <pc:chgData name="Beatriz Adriana Rodríguez Barcenas" userId="9d0e2705-d1ec-45d6-a10d-58461a4a334f" providerId="ADAL" clId="{812CDC9A-941A-4B28-B06D-1FCB72D96FFB}" dt="2026-05-05T18:44:42.980" v="1609" actId="20577"/>
      <pc:docMkLst>
        <pc:docMk/>
      </pc:docMkLst>
      <pc:sldChg chg="modSp mod">
        <pc:chgData name="Beatriz Adriana Rodríguez Barcenas" userId="9d0e2705-d1ec-45d6-a10d-58461a4a334f" providerId="ADAL" clId="{812CDC9A-941A-4B28-B06D-1FCB72D96FFB}" dt="2026-05-05T14:34:27.996" v="47" actId="20577"/>
        <pc:sldMkLst>
          <pc:docMk/>
          <pc:sldMk cId="1818067301" sldId="290"/>
        </pc:sldMkLst>
        <pc:spChg chg="mod">
          <ac:chgData name="Beatriz Adriana Rodríguez Barcenas" userId="9d0e2705-d1ec-45d6-a10d-58461a4a334f" providerId="ADAL" clId="{812CDC9A-941A-4B28-B06D-1FCB72D96FFB}" dt="2026-05-05T14:34:22.543" v="39" actId="20577"/>
          <ac:spMkLst>
            <pc:docMk/>
            <pc:sldMk cId="1818067301" sldId="290"/>
            <ac:spMk id="2" creationId="{2D2DB536-0158-7D88-59E5-64EBC42464C7}"/>
          </ac:spMkLst>
        </pc:spChg>
        <pc:spChg chg="mod">
          <ac:chgData name="Beatriz Adriana Rodríguez Barcenas" userId="9d0e2705-d1ec-45d6-a10d-58461a4a334f" providerId="ADAL" clId="{812CDC9A-941A-4B28-B06D-1FCB72D96FFB}" dt="2026-05-05T14:34:27.996" v="47" actId="20577"/>
          <ac:spMkLst>
            <pc:docMk/>
            <pc:sldMk cId="1818067301" sldId="290"/>
            <ac:spMk id="15" creationId="{23C9A2BB-5610-84DE-3431-CD47620A0E8C}"/>
          </ac:spMkLst>
        </pc:spChg>
      </pc:sldChg>
      <pc:sldChg chg="delSp modSp del mod">
        <pc:chgData name="Beatriz Adriana Rodríguez Barcenas" userId="9d0e2705-d1ec-45d6-a10d-58461a4a334f" providerId="ADAL" clId="{812CDC9A-941A-4B28-B06D-1FCB72D96FFB}" dt="2026-05-05T14:35:18.251" v="50" actId="47"/>
        <pc:sldMkLst>
          <pc:docMk/>
          <pc:sldMk cId="2808999750" sldId="291"/>
        </pc:sldMkLst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31" creationId="{7E6B7471-9D4E-E01B-2727-D193C94644B2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33" creationId="{A56522E7-4816-2A3F-C86C-5B3E29BDE99A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35" creationId="{C9DCE5AB-6A45-E212-A065-7BBB797D69F9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38" creationId="{44AF58BF-2498-CEAD-228B-A1A3ADB7D622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42" creationId="{CF74DE9D-E10B-8B9E-0D58-1C4E1F59F8E3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44" creationId="{C864720F-1DBB-B5D3-B627-CE27D020F563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45" creationId="{B1B67CED-4FC9-7E86-41F3-571D77D7EF6A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47" creationId="{F200F3EF-6871-37F2-2525-970E4B0F5AF9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48" creationId="{C0DB272D-07AA-596F-7E07-F19A48BFF161}"/>
          </ac:spMkLst>
        </pc:spChg>
        <pc:spChg chg="del">
          <ac:chgData name="Beatriz Adriana Rodríguez Barcenas" userId="9d0e2705-d1ec-45d6-a10d-58461a4a334f" providerId="ADAL" clId="{812CDC9A-941A-4B28-B06D-1FCB72D96FFB}" dt="2026-05-05T14:34:37.535" v="48" actId="478"/>
          <ac:spMkLst>
            <pc:docMk/>
            <pc:sldMk cId="2808999750" sldId="291"/>
            <ac:spMk id="54" creationId="{66BD514D-2A19-5468-AAD9-D72572D6C415}"/>
          </ac:spMkLst>
        </pc:spChg>
      </pc:sldChg>
      <pc:sldChg chg="del">
        <pc:chgData name="Beatriz Adriana Rodríguez Barcenas" userId="9d0e2705-d1ec-45d6-a10d-58461a4a334f" providerId="ADAL" clId="{812CDC9A-941A-4B28-B06D-1FCB72D96FFB}" dt="2026-05-05T14:35:21.910" v="52" actId="47"/>
        <pc:sldMkLst>
          <pc:docMk/>
          <pc:sldMk cId="984652125" sldId="292"/>
        </pc:sldMkLst>
      </pc:sldChg>
      <pc:sldChg chg="del">
        <pc:chgData name="Beatriz Adriana Rodríguez Barcenas" userId="9d0e2705-d1ec-45d6-a10d-58461a4a334f" providerId="ADAL" clId="{812CDC9A-941A-4B28-B06D-1FCB72D96FFB}" dt="2026-05-05T14:35:19.941" v="51" actId="47"/>
        <pc:sldMkLst>
          <pc:docMk/>
          <pc:sldMk cId="1099925079" sldId="293"/>
        </pc:sldMkLst>
      </pc:sldChg>
      <pc:sldChg chg="modSp mod">
        <pc:chgData name="Beatriz Adriana Rodríguez Barcenas" userId="9d0e2705-d1ec-45d6-a10d-58461a4a334f" providerId="ADAL" clId="{812CDC9A-941A-4B28-B06D-1FCB72D96FFB}" dt="2026-05-05T18:44:42.980" v="1609" actId="20577"/>
        <pc:sldMkLst>
          <pc:docMk/>
          <pc:sldMk cId="3972078523" sldId="294"/>
        </pc:sldMkLst>
        <pc:spChg chg="mod">
          <ac:chgData name="Beatriz Adriana Rodríguez Barcenas" userId="9d0e2705-d1ec-45d6-a10d-58461a4a334f" providerId="ADAL" clId="{812CDC9A-941A-4B28-B06D-1FCB72D96FFB}" dt="2026-05-05T18:44:42.980" v="1609" actId="20577"/>
          <ac:spMkLst>
            <pc:docMk/>
            <pc:sldMk cId="3972078523" sldId="294"/>
            <ac:spMk id="3" creationId="{4C15F316-1B50-4C15-2ED5-F612FDA46A89}"/>
          </ac:spMkLst>
        </pc:spChg>
      </pc:sldChg>
      <pc:sldChg chg="addSp delSp modSp add mod ord">
        <pc:chgData name="Beatriz Adriana Rodríguez Barcenas" userId="9d0e2705-d1ec-45d6-a10d-58461a4a334f" providerId="ADAL" clId="{812CDC9A-941A-4B28-B06D-1FCB72D96FFB}" dt="2026-05-05T18:44:03.019" v="1605" actId="255"/>
        <pc:sldMkLst>
          <pc:docMk/>
          <pc:sldMk cId="653304511" sldId="2147483561"/>
        </pc:sldMkLst>
        <pc:spChg chg="mod">
          <ac:chgData name="Beatriz Adriana Rodríguez Barcenas" userId="9d0e2705-d1ec-45d6-a10d-58461a4a334f" providerId="ADAL" clId="{812CDC9A-941A-4B28-B06D-1FCB72D96FFB}" dt="2026-05-05T14:56:09.967" v="882" actId="404"/>
          <ac:spMkLst>
            <pc:docMk/>
            <pc:sldMk cId="653304511" sldId="2147483561"/>
            <ac:spMk id="2" creationId="{E7AB118C-6CA5-1B54-07D6-48F8BD3EA435}"/>
          </ac:spMkLst>
        </pc:spChg>
        <pc:spChg chg="mod">
          <ac:chgData name="Beatriz Adriana Rodríguez Barcenas" userId="9d0e2705-d1ec-45d6-a10d-58461a4a334f" providerId="ADAL" clId="{812CDC9A-941A-4B28-B06D-1FCB72D96FFB}" dt="2026-05-05T18:39:41.895" v="1541" actId="1037"/>
          <ac:spMkLst>
            <pc:docMk/>
            <pc:sldMk cId="653304511" sldId="2147483561"/>
            <ac:spMk id="3" creationId="{5F85CB5B-C03F-687B-6ABA-8C7AFBAF12AE}"/>
          </ac:spMkLst>
        </pc:spChg>
        <pc:spChg chg="del mod">
          <ac:chgData name="Beatriz Adriana Rodríguez Barcenas" userId="9d0e2705-d1ec-45d6-a10d-58461a4a334f" providerId="ADAL" clId="{812CDC9A-941A-4B28-B06D-1FCB72D96FFB}" dt="2026-05-05T18:36:00.433" v="1406" actId="478"/>
          <ac:spMkLst>
            <pc:docMk/>
            <pc:sldMk cId="653304511" sldId="2147483561"/>
            <ac:spMk id="4" creationId="{A7B3EB24-5596-E06D-8E91-554D9D72B522}"/>
          </ac:spMkLst>
        </pc:spChg>
        <pc:spChg chg="mod">
          <ac:chgData name="Beatriz Adriana Rodríguez Barcenas" userId="9d0e2705-d1ec-45d6-a10d-58461a4a334f" providerId="ADAL" clId="{812CDC9A-941A-4B28-B06D-1FCB72D96FFB}" dt="2026-05-05T18:42:34.701" v="1597" actId="20577"/>
          <ac:spMkLst>
            <pc:docMk/>
            <pc:sldMk cId="653304511" sldId="2147483561"/>
            <ac:spMk id="5" creationId="{3FD9448C-7C19-98EE-3B97-A787D36212DB}"/>
          </ac:spMkLst>
        </pc:spChg>
        <pc:spChg chg="del">
          <ac:chgData name="Beatriz Adriana Rodríguez Barcenas" userId="9d0e2705-d1ec-45d6-a10d-58461a4a334f" providerId="ADAL" clId="{812CDC9A-941A-4B28-B06D-1FCB72D96FFB}" dt="2026-05-05T14:45:33.342" v="667" actId="478"/>
          <ac:spMkLst>
            <pc:docMk/>
            <pc:sldMk cId="653304511" sldId="2147483561"/>
            <ac:spMk id="6" creationId="{A7AA9EA8-5263-1C6B-7576-72F0E387DE82}"/>
          </ac:spMkLst>
        </pc:spChg>
        <pc:spChg chg="del">
          <ac:chgData name="Beatriz Adriana Rodríguez Barcenas" userId="9d0e2705-d1ec-45d6-a10d-58461a4a334f" providerId="ADAL" clId="{812CDC9A-941A-4B28-B06D-1FCB72D96FFB}" dt="2026-05-05T14:45:31.974" v="666" actId="478"/>
          <ac:spMkLst>
            <pc:docMk/>
            <pc:sldMk cId="653304511" sldId="2147483561"/>
            <ac:spMk id="7" creationId="{D590EA1D-D7F1-999E-6188-F56314093357}"/>
          </ac:spMkLst>
        </pc:spChg>
        <pc:spChg chg="del mod">
          <ac:chgData name="Beatriz Adriana Rodríguez Barcenas" userId="9d0e2705-d1ec-45d6-a10d-58461a4a334f" providerId="ADAL" clId="{812CDC9A-941A-4B28-B06D-1FCB72D96FFB}" dt="2026-05-05T14:45:46.880" v="671" actId="478"/>
          <ac:spMkLst>
            <pc:docMk/>
            <pc:sldMk cId="653304511" sldId="2147483561"/>
            <ac:spMk id="8" creationId="{7955F80F-ED93-1949-13EC-34D302B8468C}"/>
          </ac:spMkLst>
        </pc:spChg>
        <pc:spChg chg="del">
          <ac:chgData name="Beatriz Adriana Rodríguez Barcenas" userId="9d0e2705-d1ec-45d6-a10d-58461a4a334f" providerId="ADAL" clId="{812CDC9A-941A-4B28-B06D-1FCB72D96FFB}" dt="2026-05-05T14:45:20.603" v="601" actId="478"/>
          <ac:spMkLst>
            <pc:docMk/>
            <pc:sldMk cId="653304511" sldId="2147483561"/>
            <ac:spMk id="9" creationId="{93395769-FAA1-61F6-698F-9408956EF903}"/>
          </ac:spMkLst>
        </pc:spChg>
        <pc:spChg chg="del">
          <ac:chgData name="Beatriz Adriana Rodríguez Barcenas" userId="9d0e2705-d1ec-45d6-a10d-58461a4a334f" providerId="ADAL" clId="{812CDC9A-941A-4B28-B06D-1FCB72D96FFB}" dt="2026-05-05T14:45:19.126" v="600" actId="478"/>
          <ac:spMkLst>
            <pc:docMk/>
            <pc:sldMk cId="653304511" sldId="2147483561"/>
            <ac:spMk id="10" creationId="{9DE7296A-ADBD-EF59-994E-027E8F184311}"/>
          </ac:spMkLst>
        </pc:spChg>
        <pc:spChg chg="mod">
          <ac:chgData name="Beatriz Adriana Rodríguez Barcenas" userId="9d0e2705-d1ec-45d6-a10d-58461a4a334f" providerId="ADAL" clId="{812CDC9A-941A-4B28-B06D-1FCB72D96FFB}" dt="2026-05-05T18:35:37.093" v="1397" actId="554"/>
          <ac:spMkLst>
            <pc:docMk/>
            <pc:sldMk cId="653304511" sldId="2147483561"/>
            <ac:spMk id="11" creationId="{EB211319-9784-FBBF-AC2A-83259698B9D3}"/>
          </ac:spMkLst>
        </pc:spChg>
        <pc:spChg chg="mod">
          <ac:chgData name="Beatriz Adriana Rodríguez Barcenas" userId="9d0e2705-d1ec-45d6-a10d-58461a4a334f" providerId="ADAL" clId="{812CDC9A-941A-4B28-B06D-1FCB72D96FFB}" dt="2026-05-05T18:39:48.251" v="1562" actId="1037"/>
          <ac:spMkLst>
            <pc:docMk/>
            <pc:sldMk cId="653304511" sldId="2147483561"/>
            <ac:spMk id="12" creationId="{ECD4DB9F-602F-8931-1CC4-0708F2F2BC23}"/>
          </ac:spMkLst>
        </pc:spChg>
        <pc:spChg chg="del mod">
          <ac:chgData name="Beatriz Adriana Rodríguez Barcenas" userId="9d0e2705-d1ec-45d6-a10d-58461a4a334f" providerId="ADAL" clId="{812CDC9A-941A-4B28-B06D-1FCB72D96FFB}" dt="2026-05-05T18:34:40.798" v="1216" actId="478"/>
          <ac:spMkLst>
            <pc:docMk/>
            <pc:sldMk cId="653304511" sldId="2147483561"/>
            <ac:spMk id="13" creationId="{DDBEDDCD-BC1D-C5EA-1D93-E48FBCC14C98}"/>
          </ac:spMkLst>
        </pc:spChg>
        <pc:spChg chg="del mod">
          <ac:chgData name="Beatriz Adriana Rodríguez Barcenas" userId="9d0e2705-d1ec-45d6-a10d-58461a4a334f" providerId="ADAL" clId="{812CDC9A-941A-4B28-B06D-1FCB72D96FFB}" dt="2026-05-05T18:34:40.798" v="1216" actId="478"/>
          <ac:spMkLst>
            <pc:docMk/>
            <pc:sldMk cId="653304511" sldId="2147483561"/>
            <ac:spMk id="14" creationId="{4F98EE81-C216-BAE1-A20E-1CA08CC986A4}"/>
          </ac:spMkLst>
        </pc:spChg>
        <pc:spChg chg="del mod">
          <ac:chgData name="Beatriz Adriana Rodríguez Barcenas" userId="9d0e2705-d1ec-45d6-a10d-58461a4a334f" providerId="ADAL" clId="{812CDC9A-941A-4B28-B06D-1FCB72D96FFB}" dt="2026-05-05T18:34:40.798" v="1216" actId="478"/>
          <ac:spMkLst>
            <pc:docMk/>
            <pc:sldMk cId="653304511" sldId="2147483561"/>
            <ac:spMk id="15" creationId="{46DA4B99-A445-8958-2766-B396CA6A0E42}"/>
          </ac:spMkLst>
        </pc:spChg>
        <pc:spChg chg="del">
          <ac:chgData name="Beatriz Adriana Rodríguez Barcenas" userId="9d0e2705-d1ec-45d6-a10d-58461a4a334f" providerId="ADAL" clId="{812CDC9A-941A-4B28-B06D-1FCB72D96FFB}" dt="2026-05-05T14:43:54.039" v="386" actId="478"/>
          <ac:spMkLst>
            <pc:docMk/>
            <pc:sldMk cId="653304511" sldId="2147483561"/>
            <ac:spMk id="23" creationId="{14731BC5-1121-6D10-3EAF-7614E75F13CA}"/>
          </ac:spMkLst>
        </pc:spChg>
        <pc:spChg chg="mod">
          <ac:chgData name="Beatriz Adriana Rodríguez Barcenas" userId="9d0e2705-d1ec-45d6-a10d-58461a4a334f" providerId="ADAL" clId="{812CDC9A-941A-4B28-B06D-1FCB72D96FFB}" dt="2026-05-05T18:44:03.019" v="1605" actId="255"/>
          <ac:spMkLst>
            <pc:docMk/>
            <pc:sldMk cId="653304511" sldId="2147483561"/>
            <ac:spMk id="25" creationId="{E81BCE00-44CF-6687-FDBE-3DCF81914D81}"/>
          </ac:spMkLst>
        </pc:spChg>
        <pc:spChg chg="add del mod">
          <ac:chgData name="Beatriz Adriana Rodríguez Barcenas" userId="9d0e2705-d1ec-45d6-a10d-58461a4a334f" providerId="ADAL" clId="{812CDC9A-941A-4B28-B06D-1FCB72D96FFB}" dt="2026-05-05T18:36:02.243" v="1407" actId="478"/>
          <ac:spMkLst>
            <pc:docMk/>
            <pc:sldMk cId="653304511" sldId="2147483561"/>
            <ac:spMk id="26" creationId="{0C7F405C-78C6-D6B6-5B5F-C64F2B20F1DA}"/>
          </ac:spMkLst>
        </pc:spChg>
        <pc:spChg chg="mod">
          <ac:chgData name="Beatriz Adriana Rodríguez Barcenas" userId="9d0e2705-d1ec-45d6-a10d-58461a4a334f" providerId="ADAL" clId="{812CDC9A-941A-4B28-B06D-1FCB72D96FFB}" dt="2026-05-05T14:57:22.836" v="942" actId="1035"/>
          <ac:spMkLst>
            <pc:docMk/>
            <pc:sldMk cId="653304511" sldId="2147483561"/>
            <ac:spMk id="27" creationId="{273C83BC-CCA6-6DEA-27DA-30EB9A52AA8B}"/>
          </ac:spMkLst>
        </pc:spChg>
        <pc:spChg chg="add del mod">
          <ac:chgData name="Beatriz Adriana Rodríguez Barcenas" userId="9d0e2705-d1ec-45d6-a10d-58461a4a334f" providerId="ADAL" clId="{812CDC9A-941A-4B28-B06D-1FCB72D96FFB}" dt="2026-05-05T18:34:42.238" v="1217" actId="478"/>
          <ac:spMkLst>
            <pc:docMk/>
            <pc:sldMk cId="653304511" sldId="2147483561"/>
            <ac:spMk id="28" creationId="{71A3A9C2-6CD9-441D-7B28-C1994DBF1C44}"/>
          </ac:spMkLst>
        </pc:spChg>
        <pc:spChg chg="add del mod">
          <ac:chgData name="Beatriz Adriana Rodríguez Barcenas" userId="9d0e2705-d1ec-45d6-a10d-58461a4a334f" providerId="ADAL" clId="{812CDC9A-941A-4B28-B06D-1FCB72D96FFB}" dt="2026-05-05T18:34:44.615" v="1218" actId="478"/>
          <ac:spMkLst>
            <pc:docMk/>
            <pc:sldMk cId="653304511" sldId="2147483561"/>
            <ac:spMk id="29" creationId="{58A3552E-D7B3-1B2A-F8AA-B68DD4DDC81B}"/>
          </ac:spMkLst>
        </pc:spChg>
        <pc:spChg chg="add mod">
          <ac:chgData name="Beatriz Adriana Rodríguez Barcenas" userId="9d0e2705-d1ec-45d6-a10d-58461a4a334f" providerId="ADAL" clId="{812CDC9A-941A-4B28-B06D-1FCB72D96FFB}" dt="2026-05-05T18:42:14.826" v="1578" actId="179"/>
          <ac:spMkLst>
            <pc:docMk/>
            <pc:sldMk cId="653304511" sldId="2147483561"/>
            <ac:spMk id="30" creationId="{12D9CA39-7D89-0E5D-938F-F5A5CF24E78F}"/>
          </ac:spMkLst>
        </pc:spChg>
        <pc:spChg chg="add mod">
          <ac:chgData name="Beatriz Adriana Rodríguez Barcenas" userId="9d0e2705-d1ec-45d6-a10d-58461a4a334f" providerId="ADAL" clId="{812CDC9A-941A-4B28-B06D-1FCB72D96FFB}" dt="2026-05-05T18:43:37.797" v="1603" actId="5793"/>
          <ac:spMkLst>
            <pc:docMk/>
            <pc:sldMk cId="653304511" sldId="2147483561"/>
            <ac:spMk id="31" creationId="{AD7A1A0B-01B8-584A-B9E8-4BB1A95066F1}"/>
          </ac:spMkLst>
        </pc:spChg>
        <pc:spChg chg="mod">
          <ac:chgData name="Beatriz Adriana Rodríguez Barcenas" userId="9d0e2705-d1ec-45d6-a10d-58461a4a334f" providerId="ADAL" clId="{812CDC9A-941A-4B28-B06D-1FCB72D96FFB}" dt="2026-05-05T16:51:02.970" v="1065" actId="20577"/>
          <ac:spMkLst>
            <pc:docMk/>
            <pc:sldMk cId="653304511" sldId="2147483561"/>
            <ac:spMk id="206" creationId="{4719C2B9-BF31-13A4-B08B-45D581100A29}"/>
          </ac:spMkLst>
        </pc:spChg>
        <pc:cxnChg chg="mod">
          <ac:chgData name="Beatriz Adriana Rodríguez Barcenas" userId="9d0e2705-d1ec-45d6-a10d-58461a4a334f" providerId="ADAL" clId="{812CDC9A-941A-4B28-B06D-1FCB72D96FFB}" dt="2026-05-05T18:39:41.895" v="1541" actId="1037"/>
          <ac:cxnSpMkLst>
            <pc:docMk/>
            <pc:sldMk cId="653304511" sldId="2147483561"/>
            <ac:cxnSpMk id="16" creationId="{35EDF1A9-090E-1732-4B57-FBD847CAC798}"/>
          </ac:cxnSpMkLst>
        </pc:cxnChg>
        <pc:cxnChg chg="mod">
          <ac:chgData name="Beatriz Adriana Rodríguez Barcenas" userId="9d0e2705-d1ec-45d6-a10d-58461a4a334f" providerId="ADAL" clId="{812CDC9A-941A-4B28-B06D-1FCB72D96FFB}" dt="2026-05-05T18:35:37.093" v="1397" actId="554"/>
          <ac:cxnSpMkLst>
            <pc:docMk/>
            <pc:sldMk cId="653304511" sldId="2147483561"/>
            <ac:cxnSpMk id="17" creationId="{CF032FC6-7B89-712A-1E5D-09FA83F5C6FA}"/>
          </ac:cxnSpMkLst>
        </pc:cxnChg>
        <pc:cxnChg chg="mod">
          <ac:chgData name="Beatriz Adriana Rodríguez Barcenas" userId="9d0e2705-d1ec-45d6-a10d-58461a4a334f" providerId="ADAL" clId="{812CDC9A-941A-4B28-B06D-1FCB72D96FFB}" dt="2026-05-05T18:39:48.251" v="1562" actId="1037"/>
          <ac:cxnSpMkLst>
            <pc:docMk/>
            <pc:sldMk cId="653304511" sldId="2147483561"/>
            <ac:cxnSpMk id="18" creationId="{EECDA9C8-A4A2-DF14-9FDE-723B89AB62A6}"/>
          </ac:cxnSpMkLst>
        </pc:cxnChg>
        <pc:cxnChg chg="del mod">
          <ac:chgData name="Beatriz Adriana Rodríguez Barcenas" userId="9d0e2705-d1ec-45d6-a10d-58461a4a334f" providerId="ADAL" clId="{812CDC9A-941A-4B28-B06D-1FCB72D96FFB}" dt="2026-05-05T18:35:12.452" v="1347" actId="478"/>
          <ac:cxnSpMkLst>
            <pc:docMk/>
            <pc:sldMk cId="653304511" sldId="2147483561"/>
            <ac:cxnSpMk id="19" creationId="{CB580C6B-D445-D363-80C5-01DE530BDD20}"/>
          </ac:cxnSpMkLst>
        </pc:cxnChg>
        <pc:cxnChg chg="del mod">
          <ac:chgData name="Beatriz Adriana Rodríguez Barcenas" userId="9d0e2705-d1ec-45d6-a10d-58461a4a334f" providerId="ADAL" clId="{812CDC9A-941A-4B28-B06D-1FCB72D96FFB}" dt="2026-05-05T18:35:29.208" v="1385" actId="478"/>
          <ac:cxnSpMkLst>
            <pc:docMk/>
            <pc:sldMk cId="653304511" sldId="2147483561"/>
            <ac:cxnSpMk id="20" creationId="{88AC3D5D-CD1B-BFD9-241B-FD9CDA2F365E}"/>
          </ac:cxnSpMkLst>
        </pc:cxnChg>
        <pc:cxnChg chg="del mod">
          <ac:chgData name="Beatriz Adriana Rodríguez Barcenas" userId="9d0e2705-d1ec-45d6-a10d-58461a4a334f" providerId="ADAL" clId="{812CDC9A-941A-4B28-B06D-1FCB72D96FFB}" dt="2026-05-05T18:35:14.533" v="1348" actId="478"/>
          <ac:cxnSpMkLst>
            <pc:docMk/>
            <pc:sldMk cId="653304511" sldId="2147483561"/>
            <ac:cxnSpMk id="22" creationId="{BE03AB3B-9AE0-0E91-25FD-FDD8B4CF55FA}"/>
          </ac:cxnSpMkLst>
        </pc:cxnChg>
        <pc:cxnChg chg="del mod">
          <ac:chgData name="Beatriz Adriana Rodríguez Barcenas" userId="9d0e2705-d1ec-45d6-a10d-58461a4a334f" providerId="ADAL" clId="{812CDC9A-941A-4B28-B06D-1FCB72D96FFB}" dt="2026-05-05T14:43:55.771" v="387" actId="478"/>
          <ac:cxnSpMkLst>
            <pc:docMk/>
            <pc:sldMk cId="653304511" sldId="2147483561"/>
            <ac:cxnSpMk id="24" creationId="{87FE5085-3A98-62FC-D0E8-671BEAF23F33}"/>
          </ac:cxnSpMkLst>
        </pc:cxnChg>
      </pc:sldChg>
      <pc:sldChg chg="modSp add mod">
        <pc:chgData name="Beatriz Adriana Rodríguez Barcenas" userId="9d0e2705-d1ec-45d6-a10d-58461a4a334f" providerId="ADAL" clId="{812CDC9A-941A-4B28-B06D-1FCB72D96FFB}" dt="2026-05-05T18:43:52.848" v="1604" actId="255"/>
        <pc:sldMkLst>
          <pc:docMk/>
          <pc:sldMk cId="1036177409" sldId="2147483562"/>
        </pc:sldMkLst>
        <pc:spChg chg="mod">
          <ac:chgData name="Beatriz Adriana Rodríguez Barcenas" userId="9d0e2705-d1ec-45d6-a10d-58461a4a334f" providerId="ADAL" clId="{812CDC9A-941A-4B28-B06D-1FCB72D96FFB}" dt="2026-05-05T16:51:10.433" v="1075" actId="20577"/>
          <ac:spMkLst>
            <pc:docMk/>
            <pc:sldMk cId="1036177409" sldId="2147483562"/>
            <ac:spMk id="3" creationId="{A4A58C60-72A6-C116-28CB-FD772B853EAE}"/>
          </ac:spMkLst>
        </pc:spChg>
        <pc:spChg chg="mod">
          <ac:chgData name="Beatriz Adriana Rodríguez Barcenas" userId="9d0e2705-d1ec-45d6-a10d-58461a4a334f" providerId="ADAL" clId="{812CDC9A-941A-4B28-B06D-1FCB72D96FFB}" dt="2026-05-05T18:43:52.848" v="1604" actId="255"/>
          <ac:spMkLst>
            <pc:docMk/>
            <pc:sldMk cId="1036177409" sldId="2147483562"/>
            <ac:spMk id="25" creationId="{FE6998E8-FE11-ED91-E47E-272495F6251C}"/>
          </ac:spMkLst>
        </pc:spChg>
        <pc:spChg chg="mod">
          <ac:chgData name="Beatriz Adriana Rodríguez Barcenas" userId="9d0e2705-d1ec-45d6-a10d-58461a4a334f" providerId="ADAL" clId="{812CDC9A-941A-4B28-B06D-1FCB72D96FFB}" dt="2026-05-05T16:50:56.349" v="1056" actId="20577"/>
          <ac:spMkLst>
            <pc:docMk/>
            <pc:sldMk cId="1036177409" sldId="2147483562"/>
            <ac:spMk id="206" creationId="{ED3B8EEF-919C-839E-6174-3097D2268DB1}"/>
          </ac:spMkLst>
        </pc:spChg>
      </pc:sldChg>
      <pc:sldMasterChg chg="delSldLayout">
        <pc:chgData name="Beatriz Adriana Rodríguez Barcenas" userId="9d0e2705-d1ec-45d6-a10d-58461a4a334f" providerId="ADAL" clId="{812CDC9A-941A-4B28-B06D-1FCB72D96FFB}" dt="2026-05-05T14:35:21.910" v="52" actId="47"/>
        <pc:sldMasterMkLst>
          <pc:docMk/>
          <pc:sldMasterMk cId="2261912043" sldId="2147483648"/>
        </pc:sldMasterMkLst>
        <pc:sldLayoutChg chg="del">
          <pc:chgData name="Beatriz Adriana Rodríguez Barcenas" userId="9d0e2705-d1ec-45d6-a10d-58461a4a334f" providerId="ADAL" clId="{812CDC9A-941A-4B28-B06D-1FCB72D96FFB}" dt="2026-05-05T14:35:21.910" v="52" actId="47"/>
          <pc:sldLayoutMkLst>
            <pc:docMk/>
            <pc:sldMasterMk cId="2261912043" sldId="2147483648"/>
            <pc:sldLayoutMk cId="1736745270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D1CA2-D180-4918-80E3-4C14284EE244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B2726-C8C4-4E6F-85EE-0CEE8785CC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1063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177800" marR="0" lvl="0" indent="-17780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fld id="{4F120488-5265-48D4-86C6-1260C6695F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177800" marR="0" lvl="0" indent="-17780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942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3C8D-3469-6A9D-EFB6-68336EEB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8766C7-3F58-396B-03EB-EF7C492AF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C6162B-6F4A-B0D0-0892-79443B138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72A778-1EE9-0C9D-3611-F196701AE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8256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79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C5FC8-16B1-6CCB-A89C-CED4F2609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B9041D-2002-9031-9A7E-19365B24C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94C39-9D54-D92F-50A0-385EC8FC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06A991-8A99-AE21-30D4-C28CDD76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8FA70-A149-B20B-9012-59E82686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712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18716-3F9E-0A7B-C162-6FB78CE2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55D845-5382-5B93-C062-389365164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5EEBE4-DE3B-2EA5-143B-B423F18E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984A8-4E4C-CC41-76D8-8200210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B61B7B-AC19-02F0-CE11-F35E7FE8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496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75751-CA1B-62C6-51C9-6059D085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6CA555-23FD-8997-C798-EB28A7507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E7CF2D-21A2-3731-53EB-7B87BD45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589A90-BFF0-2766-2E15-45FB3EDC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0C72E5-6C6C-0237-3EF8-144DA159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730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56A0B-C30B-E250-B47E-C11093F8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FAAD17-4AE9-6C6B-44C2-D6195A921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4C478B-D376-05BA-46C8-C33628983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C2A0D-FEA8-5FE0-E45F-ABE359C1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26DE03-0BCB-BE4C-C1DA-51F70A2F3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C2F0A4-D9EF-FB22-C3DB-59181C25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583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AD610-B4B2-EE9B-1C3F-5E457B4EE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C4609F-09E9-C9F8-5BB1-473A8C971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E55BDE-282A-64F2-DF2E-BFC7B2F52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33DADD-4770-B6F1-3A4E-8D096E01F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B7BFF8-7DC3-097D-0A28-1581D0B88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1C3B97-DA6F-4E1B-447F-D4D955A3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BFC547-0311-F070-8D4F-944AEC08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E373C5-64F8-B002-EF6B-0ACCE112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327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6F1B-8D5B-2381-F068-DBC4B308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99820D-CBAD-7AE1-483C-BB418100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F57469-FB5E-968E-9ADE-EC817484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6C00B5-A792-835C-B19B-BF94FEA6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416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2E5260-A23F-C401-CAD8-6893B2D0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BD2F91A-F9BB-3E2F-6335-43F26D0A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F9C263-796C-C440-A889-58EDE9E3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227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C1155-69E8-EE3D-9915-9BB1DB66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EF4B81-5690-E54E-50E9-7D0221D6F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84A763-9F4D-DCC1-1807-025D80474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ACCD83-2176-F3EA-B985-8F2579D6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8853FC-527C-E2C5-8B2C-4C17C3D7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C36574-B8D5-6054-2315-0FB5F58D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251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67050-2127-C207-4667-3AE9CE914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D1CE2A-A37C-FAA5-3133-A58FB9207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F855AA-95DD-101E-DD29-8DFBE0E39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CFC67B-B384-EA0D-2195-851429D0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93E56C-83E0-4918-DFC8-642ACCE7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1B40AC-E311-4107-947C-E9CC8C5F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49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26094-589B-050E-664D-F8759E6D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CEE2F7-948D-17E9-A4A8-44A57BF62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F8679C-A9CE-AEB9-4FF1-0D3FF7819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7A509-5153-BF04-E831-A37A3861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0A8D4A-0EB0-9AB1-B980-D1EA73B9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239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C70961-9E53-4405-C62B-86C4311F7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AB4312-A676-58DC-F9E3-218DA3065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5D5EE6-FDCC-23F8-D025-40CD235A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4D960C-2FB0-D082-5570-871AFC30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08C3EB-0100-40DD-6F23-A7CC4823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348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77116A-846D-68CF-711A-F6A1C3083B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44917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77116A-846D-68CF-711A-F6A1C3083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2">
            <a:extLst>
              <a:ext uri="{FF2B5EF4-FFF2-40B4-BE49-F238E27FC236}">
                <a16:creationId xmlns:a16="http://schemas.microsoft.com/office/drawing/2014/main" id="{C7084494-3E34-3C8B-B687-E67E6AFB31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effectLst/>
        </p:spPr>
        <p:txBody>
          <a:bodyPr vert="horz" wrap="square" tIns="36000" bIns="36000" anchor="ctr" anchorCtr="0">
            <a:normAutofit/>
          </a:bodyPr>
          <a:lstStyle>
            <a:lvl1pPr algn="l" rtl="0">
              <a:lnSpc>
                <a:spcPct val="100000"/>
              </a:lnSpc>
              <a:defRPr sz="3000" b="1" u="none">
                <a:solidFill>
                  <a:srgbClr val="FFFFFF"/>
                </a:solidFill>
                <a:latin typeface="+mj-lt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2F7188-63D1-2A96-5042-59ADA40F6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212" y="703884"/>
            <a:ext cx="1886373" cy="130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43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69323D6-2E70-47B0-663E-CD69FDBD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B532BA-8773-F992-210B-024890D29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0B5BDC-33A0-CFB7-90F8-B9142EAC4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3F367-CA12-41F5-B809-034CB152423F}" type="datetimeFigureOut">
              <a:rPr lang="es-MX" smtClean="0"/>
              <a:t>05/05/2026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58045E-F11D-2C46-31A6-BF4A83DFE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C80FFF-B496-69C3-9B6B-9D3C54F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1488-32A4-4FF5-AD83-615BD231AB9B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C0801-2D64-DEB9-D4F6-A457757B063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261912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72C0F2C-5B59-A13F-0794-D2B7C160304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2C0F2C-5B59-A13F-0794-D2B7C16030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0B526CD7-913A-AE08-2A00-6592D27BE48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307491">
              <a:extLst>
                <a:ext uri="{FF2B5EF4-FFF2-40B4-BE49-F238E27FC236}">
                  <a16:creationId xmlns:a16="http://schemas.microsoft.com/office/drawing/2014/main" id="{F26B55D7-9064-A7BD-8A94-2A8606F8A02E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8" name="btfpColumnGapBlocker463731">
              <a:extLst>
                <a:ext uri="{FF2B5EF4-FFF2-40B4-BE49-F238E27FC236}">
                  <a16:creationId xmlns:a16="http://schemas.microsoft.com/office/drawing/2014/main" id="{24E017AD-3402-8ED3-B79D-C49971894EE8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cxnSp>
          <p:nvCxnSpPr>
            <p:cNvPr id="6" name="btfpColumnIndicator139697">
              <a:extLst>
                <a:ext uri="{FF2B5EF4-FFF2-40B4-BE49-F238E27FC236}">
                  <a16:creationId xmlns:a16="http://schemas.microsoft.com/office/drawing/2014/main" id="{00FC3736-F6A7-954E-5207-9638EF64BC9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btfpColumnIndicator968881">
              <a:extLst>
                <a:ext uri="{FF2B5EF4-FFF2-40B4-BE49-F238E27FC236}">
                  <a16:creationId xmlns:a16="http://schemas.microsoft.com/office/drawing/2014/main" id="{8CE9B0C1-D50E-7C34-06F3-40D319448CE7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52E7A885-A9E3-A548-AE28-4B01424E28E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265826">
              <a:extLst>
                <a:ext uri="{FF2B5EF4-FFF2-40B4-BE49-F238E27FC236}">
                  <a16:creationId xmlns:a16="http://schemas.microsoft.com/office/drawing/2014/main" id="{99AF0748-43AF-3882-ED74-96E18DE7552D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7" name="btfpColumnGapBlocker490478">
              <a:extLst>
                <a:ext uri="{FF2B5EF4-FFF2-40B4-BE49-F238E27FC236}">
                  <a16:creationId xmlns:a16="http://schemas.microsoft.com/office/drawing/2014/main" id="{FEB2E549-4565-819F-C2BA-729DE6F54B35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cxnSp>
          <p:nvCxnSpPr>
            <p:cNvPr id="5" name="btfpColumnIndicator870472">
              <a:extLst>
                <a:ext uri="{FF2B5EF4-FFF2-40B4-BE49-F238E27FC236}">
                  <a16:creationId xmlns:a16="http://schemas.microsoft.com/office/drawing/2014/main" id="{99194B5E-11DF-2552-750C-D3A83276DD52}"/>
                </a:ext>
              </a:extLst>
            </p:cNvPr>
            <p:cNvCxnSpPr/>
            <p:nvPr/>
          </p:nvCxnSpPr>
          <p:spPr bwMode="auto">
            <a:xfrm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btfpColumnIndicator919825">
              <a:extLst>
                <a:ext uri="{FF2B5EF4-FFF2-40B4-BE49-F238E27FC236}">
                  <a16:creationId xmlns:a16="http://schemas.microsoft.com/office/drawing/2014/main" id="{2C04B546-F555-F9A3-0CC9-885CAFBDC8B1}"/>
                </a:ext>
              </a:extLst>
            </p:cNvPr>
            <p:cNvCxnSpPr/>
            <p:nvPr/>
          </p:nvCxnSpPr>
          <p:spPr bwMode="auto">
            <a:xfrm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2DB536-0158-7D88-59E5-64EBC424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42" y="2720529"/>
            <a:ext cx="10698933" cy="1065540"/>
          </a:xfrm>
        </p:spPr>
        <p:txBody>
          <a:bodyPr vert="horz">
            <a:normAutofit/>
          </a:bodyPr>
          <a:lstStyle/>
          <a:p>
            <a:r>
              <a:rPr lang="en-US" sz="2800" dirty="0" err="1"/>
              <a:t>Funciograma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Estrategia</a:t>
            </a:r>
            <a:r>
              <a:rPr lang="en-US" sz="2800" dirty="0"/>
              <a:t> y </a:t>
            </a:r>
            <a:r>
              <a:rPr lang="en-US" sz="2800" dirty="0" err="1"/>
              <a:t>Transformación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9A2BB-5610-84DE-3431-CD47620A0E8C}"/>
              </a:ext>
            </a:extLst>
          </p:cNvPr>
          <p:cNvSpPr txBox="1"/>
          <p:nvPr/>
        </p:nvSpPr>
        <p:spPr>
          <a:xfrm>
            <a:off x="1016817" y="3838575"/>
            <a:ext cx="1233030" cy="338554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marR="0" lvl="0" indent="0" algn="l" defTabSz="711200" rtl="0" eaLnBrk="0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Mayo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806730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3FFE-ABE0-5F77-8E00-FF641540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ED3B8EEF-919C-839E-6174-3097D2268DB1}"/>
              </a:ext>
            </a:extLst>
          </p:cNvPr>
          <p:cNvSpPr txBox="1">
            <a:spLocks/>
          </p:cNvSpPr>
          <p:nvPr/>
        </p:nvSpPr>
        <p:spPr>
          <a:xfrm>
            <a:off x="444843" y="19328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Estructura Organizacional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Dirección Estrategia y Transformación – 1era parte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1625CF-F2A3-DE68-6C99-4B70A88A22FB}"/>
              </a:ext>
            </a:extLst>
          </p:cNvPr>
          <p:cNvSpPr/>
          <p:nvPr/>
        </p:nvSpPr>
        <p:spPr>
          <a:xfrm>
            <a:off x="181367" y="3107288"/>
            <a:ext cx="1905849" cy="3557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endParaRPr lang="es-ES" sz="750" b="1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endParaRPr lang="es-ES" sz="750" b="1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Desarrollo de la Estrategia</a:t>
            </a:r>
            <a:r>
              <a:rPr lang="es-ES" sz="750" dirty="0">
                <a:solidFill>
                  <a:prstClr val="black"/>
                </a:solidFill>
              </a:rPr>
              <a:t>: Brindar soporte a la Dirección de Estrategia y Transformación en la definición de las estrategias corporativas y de negocio de OXXO México.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Desarrollo de Capacidades Organizacionales: </a:t>
            </a:r>
            <a:r>
              <a:rPr lang="es-ES" sz="750" dirty="0">
                <a:solidFill>
                  <a:prstClr val="black"/>
                </a:solidFill>
              </a:rPr>
              <a:t>Orquestar el desarrollo de capacidades organizacionales con las áreas involucradas de acuerdo con la planeación estratégica de negocio, buscando el desarrollo de ventajas competitivas al corto-mediano-largo plazo y la sostenibilidad de estas.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Proceso de Planeación</a:t>
            </a:r>
            <a:r>
              <a:rPr lang="es-ES" sz="750" dirty="0">
                <a:solidFill>
                  <a:prstClr val="black"/>
                </a:solidFill>
              </a:rPr>
              <a:t>: Liderar el ciclo de planeación estratégica </a:t>
            </a:r>
            <a:r>
              <a:rPr lang="es-ES" sz="750" dirty="0" err="1">
                <a:solidFill>
                  <a:prstClr val="black"/>
                </a:solidFill>
              </a:rPr>
              <a:t>end</a:t>
            </a:r>
            <a:r>
              <a:rPr lang="es-ES" sz="750" dirty="0">
                <a:solidFill>
                  <a:prstClr val="black"/>
                </a:solidFill>
              </a:rPr>
              <a:t> </a:t>
            </a:r>
            <a:r>
              <a:rPr lang="es-ES" sz="750" dirty="0" err="1">
                <a:solidFill>
                  <a:prstClr val="black"/>
                </a:solidFill>
              </a:rPr>
              <a:t>to</a:t>
            </a:r>
            <a:r>
              <a:rPr lang="es-ES" sz="750" dirty="0">
                <a:solidFill>
                  <a:prstClr val="black"/>
                </a:solidFill>
              </a:rPr>
              <a:t> </a:t>
            </a:r>
            <a:r>
              <a:rPr lang="es-ES" sz="750" dirty="0" err="1">
                <a:solidFill>
                  <a:prstClr val="black"/>
                </a:solidFill>
              </a:rPr>
              <a:t>end</a:t>
            </a:r>
            <a:r>
              <a:rPr lang="es-ES" sz="750" dirty="0">
                <a:solidFill>
                  <a:prstClr val="black"/>
                </a:solidFill>
              </a:rPr>
              <a:t>; </a:t>
            </a:r>
            <a:r>
              <a:rPr lang="es-ES" sz="750" b="1" dirty="0">
                <a:solidFill>
                  <a:prstClr val="black"/>
                </a:solidFill>
              </a:rPr>
              <a:t>Iniciativas estratégicas</a:t>
            </a:r>
            <a:r>
              <a:rPr lang="es-ES" sz="750" dirty="0">
                <a:solidFill>
                  <a:prstClr val="black"/>
                </a:solidFill>
              </a:rPr>
              <a:t>: Brindar apoyo práctico, según sea necesario, a los equipos de negocios para definir iniciativas de alto impacto (propuesta de valor, justificación, necesidades de recursos); garantizando que cada iniciativa respalde a la Estrategia OXXO Mx.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Gobierno Estratégico y Sistema de Gestión: </a:t>
            </a:r>
            <a:r>
              <a:rPr lang="es-ES" sz="750" dirty="0">
                <a:solidFill>
                  <a:prstClr val="black"/>
                </a:solidFill>
              </a:rPr>
              <a:t>Definir y asegurar la alineación de los objetivos del negocio con las prioridades estratégicas; 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750" dirty="0">
              <a:solidFill>
                <a:prstClr val="black"/>
              </a:solidFill>
            </a:endParaRP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endParaRPr lang="es-ES" sz="750" dirty="0">
              <a:solidFill>
                <a:prstClr val="black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F5DD93-13EB-8F68-5570-E3498DC92CA4}"/>
              </a:ext>
            </a:extLst>
          </p:cNvPr>
          <p:cNvSpPr/>
          <p:nvPr/>
        </p:nvSpPr>
        <p:spPr>
          <a:xfrm>
            <a:off x="2156791" y="3107288"/>
            <a:ext cx="7861852" cy="3557430"/>
          </a:xfrm>
          <a:prstGeom prst="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defRPr/>
            </a:pPr>
            <a:r>
              <a:rPr lang="es-MX" sz="750" b="1" dirty="0">
                <a:solidFill>
                  <a:prstClr val="black"/>
                </a:solidFill>
              </a:rPr>
              <a:t>Liderar el Cambio, </a:t>
            </a:r>
            <a:r>
              <a:rPr lang="es-MX" sz="750" b="1" dirty="0" err="1">
                <a:solidFill>
                  <a:prstClr val="black"/>
                </a:solidFill>
              </a:rPr>
              <a:t>Co-diseñar</a:t>
            </a:r>
            <a:r>
              <a:rPr lang="es-MX" sz="750" b="1" dirty="0">
                <a:solidFill>
                  <a:prstClr val="black"/>
                </a:solidFill>
              </a:rPr>
              <a:t> las prioridades</a:t>
            </a:r>
          </a:p>
          <a:p>
            <a:pPr marL="171450" indent="-171450" defTabSz="342900">
              <a:buFont typeface="Arial" charset="0"/>
              <a:buAutoNum type="arabicPeriod"/>
              <a:defRPr/>
            </a:pPr>
            <a:endParaRPr lang="es-ES" sz="750" dirty="0">
              <a:solidFill>
                <a:prstClr val="black"/>
              </a:solidFill>
            </a:endParaRPr>
          </a:p>
          <a:p>
            <a:pPr marL="120650" indent="-14922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Asegurar la alineación </a:t>
            </a:r>
            <a:r>
              <a:rPr lang="es-MX" sz="750" dirty="0">
                <a:solidFill>
                  <a:prstClr val="black"/>
                </a:solidFill>
              </a:rPr>
              <a:t>de las plataformas involucradas de </a:t>
            </a:r>
            <a:r>
              <a:rPr lang="es-ES" sz="750" dirty="0">
                <a:solidFill>
                  <a:prstClr val="black"/>
                </a:solidFill>
              </a:rPr>
              <a:t>los objetivos Corto y Largo plazo del pilar estratégico que asesora con la visión del negocio,  a través de mecanismos para el diálogo y establecimiento de prioridades, asesoría a la generación de portafolio de iniciativas y </a:t>
            </a:r>
            <a:r>
              <a:rPr lang="es-ES" sz="750" i="1" dirty="0" err="1">
                <a:solidFill>
                  <a:prstClr val="black"/>
                </a:solidFill>
              </a:rPr>
              <a:t>sponsorship</a:t>
            </a:r>
            <a:r>
              <a:rPr lang="es-ES" sz="750" dirty="0">
                <a:solidFill>
                  <a:prstClr val="black"/>
                </a:solidFill>
              </a:rPr>
              <a:t> transversal para el desarrollo de capacidades. </a:t>
            </a:r>
          </a:p>
          <a:p>
            <a:pPr marL="120650" indent="-14922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Establecer una gobernanza fortaleciendo los criterios de decisión en conjunto con los líderes de iniciativas el </a:t>
            </a:r>
            <a:r>
              <a:rPr lang="es-ES" sz="750" i="1" dirty="0" err="1">
                <a:solidFill>
                  <a:prstClr val="black"/>
                </a:solidFill>
              </a:rPr>
              <a:t>framework</a:t>
            </a:r>
            <a:r>
              <a:rPr lang="es-ES" sz="750" dirty="0">
                <a:solidFill>
                  <a:prstClr val="black"/>
                </a:solidFill>
              </a:rPr>
              <a:t> de gobernanza – comités, cadencia – para priorizar y aprobar el portafolio de iniciativas al servicio de los objetivos y prioridades de la vertical, manteniendo el </a:t>
            </a:r>
            <a:r>
              <a:rPr lang="es-ES" sz="750" i="1" dirty="0">
                <a:solidFill>
                  <a:prstClr val="black"/>
                </a:solidFill>
              </a:rPr>
              <a:t>pipeline</a:t>
            </a:r>
            <a:r>
              <a:rPr lang="es-ES" sz="750" dirty="0">
                <a:solidFill>
                  <a:prstClr val="black"/>
                </a:solidFill>
              </a:rPr>
              <a:t> y gestionando dependencias </a:t>
            </a:r>
            <a:r>
              <a:rPr lang="es-ES" sz="750" i="1" dirty="0" err="1">
                <a:solidFill>
                  <a:prstClr val="black"/>
                </a:solidFill>
              </a:rPr>
              <a:t>cross</a:t>
            </a:r>
            <a:r>
              <a:rPr lang="es-ES" sz="750" i="1" dirty="0">
                <a:solidFill>
                  <a:prstClr val="black"/>
                </a:solidFill>
              </a:rPr>
              <a:t>-plataformas.</a:t>
            </a:r>
          </a:p>
          <a:p>
            <a:pPr marL="120650" indent="-149225" defTabSz="342900">
              <a:buFont typeface="Arial" panose="020B0604020202020204" pitchFamily="34" charset="0"/>
              <a:buChar char="•"/>
              <a:defRPr/>
            </a:pPr>
            <a:r>
              <a:rPr lang="es-MX" sz="750" dirty="0">
                <a:solidFill>
                  <a:prstClr val="black"/>
                </a:solidFill>
              </a:rPr>
              <a:t>Asegurar la habilitación brindada por las áreas de soporte para la correcta ejecución y seguimiento de los objetivos</a:t>
            </a:r>
            <a:endParaRPr lang="es-ES" sz="750" dirty="0">
              <a:solidFill>
                <a:prstClr val="black"/>
              </a:solidFill>
            </a:endParaRPr>
          </a:p>
          <a:p>
            <a:pPr defTabSz="342900">
              <a:defRPr/>
            </a:pPr>
            <a:endParaRPr lang="es-ES" sz="750" dirty="0">
              <a:solidFill>
                <a:prstClr val="black"/>
              </a:solidFill>
            </a:endParaRPr>
          </a:p>
          <a:p>
            <a:pPr defTabSz="342900">
              <a:defRPr/>
            </a:pPr>
            <a:r>
              <a:rPr lang="es-MX" sz="750" b="1" dirty="0">
                <a:solidFill>
                  <a:prstClr val="black"/>
                </a:solidFill>
              </a:rPr>
              <a:t>Amplificar los resultados de las iniciativas</a:t>
            </a:r>
          </a:p>
          <a:p>
            <a:pPr defTabSz="342900">
              <a:defRPr/>
            </a:pPr>
            <a:endParaRPr lang="es-ES" sz="750" dirty="0">
              <a:solidFill>
                <a:prstClr val="black"/>
              </a:solidFill>
            </a:endParaRP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Fungir como </a:t>
            </a:r>
            <a:r>
              <a:rPr lang="es-ES" sz="750" dirty="0" err="1">
                <a:solidFill>
                  <a:prstClr val="black"/>
                </a:solidFill>
              </a:rPr>
              <a:t>co-responsable</a:t>
            </a:r>
            <a:r>
              <a:rPr lang="es-ES" sz="750" dirty="0">
                <a:solidFill>
                  <a:prstClr val="black"/>
                </a:solidFill>
              </a:rPr>
              <a:t> de la administración de los casos de negocio y del aseguramiento de su creación de valor, asegurando el plan de entrega de valor y facilitando la participación de las partes interesadas y las acciones de mitigación de riesgos, según sea necesario para garantizar su encomienda.</a:t>
            </a: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Definir las métricas de valor a las que se les dará seguimiento, en línea con la metodología definida en conjunto con el área de Finanzas y el Responsable de Procesos y Metodología.</a:t>
            </a: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Acompañar el diseño y </a:t>
            </a:r>
            <a:r>
              <a:rPr lang="es-ES" sz="750" dirty="0" err="1">
                <a:solidFill>
                  <a:prstClr val="black"/>
                </a:solidFill>
              </a:rPr>
              <a:t>delivery</a:t>
            </a:r>
            <a:r>
              <a:rPr lang="es-ES" sz="750" dirty="0">
                <a:solidFill>
                  <a:prstClr val="black"/>
                </a:solidFill>
              </a:rPr>
              <a:t> de las iniciativas poniendo a prueba el caso de negocio de las iniciativas, con el objetivo de potenciar su valor y agilizar los tiempos de entrega.</a:t>
            </a: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Crear planes en conjunto con los Líderes de iniciativas para acortar los gaps que puedan existir en el desarrollo de capacidades que permitan que los cambios y mejoras seas sostenibles. </a:t>
            </a: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Proyectar las implicaciones del estado actual y anticipar el futuro; identificando si el valor proyectado de la iniciativa tiende a ser inferior a las expectativas y/o identificando posibles incumplimientos de los plazos de ésta.</a:t>
            </a:r>
          </a:p>
          <a:p>
            <a:pPr defTabSz="342900">
              <a:defRPr/>
            </a:pPr>
            <a:endParaRPr lang="es-MX" sz="750" b="1" dirty="0">
              <a:solidFill>
                <a:prstClr val="black"/>
              </a:solidFill>
            </a:endParaRPr>
          </a:p>
          <a:p>
            <a:pPr defTabSz="342900">
              <a:defRPr/>
            </a:pPr>
            <a:r>
              <a:rPr lang="es-MX" sz="750" b="1" dirty="0">
                <a:solidFill>
                  <a:prstClr val="black"/>
                </a:solidFill>
              </a:rPr>
              <a:t>Orquestar y ser </a:t>
            </a:r>
            <a:r>
              <a:rPr lang="es-MX" sz="750" b="1" dirty="0" err="1">
                <a:solidFill>
                  <a:prstClr val="black"/>
                </a:solidFill>
              </a:rPr>
              <a:t>guardian</a:t>
            </a:r>
            <a:r>
              <a:rPr lang="es-MX" sz="750" b="1" dirty="0">
                <a:solidFill>
                  <a:prstClr val="black"/>
                </a:solidFill>
              </a:rPr>
              <a:t> del Programa de Iniciativas</a:t>
            </a:r>
          </a:p>
          <a:p>
            <a:pPr defTabSz="342900">
              <a:defRPr/>
            </a:pPr>
            <a:endParaRPr lang="es-ES" sz="750" dirty="0">
              <a:solidFill>
                <a:prstClr val="black"/>
              </a:solidFill>
            </a:endParaRP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Habilitar la trazabilidad de beneficios, la anticipación de riesgos y la retroalimentación continua para la toma de decisiones (iniciar, detener, reorientar) dentro del programa de iniciativas.</a:t>
            </a: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Implementar metodologías ágiles para asegurar hitos y orientación a resultados (en colaboración con el Responsable de Procesos y Metodología)</a:t>
            </a:r>
          </a:p>
          <a:p>
            <a:pPr marL="92075" indent="-92075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Apoyar a los líderes de las iniciativas en conectar transversalmente el portafolio para asegurar que el programa están </a:t>
            </a:r>
            <a:r>
              <a:rPr lang="es-ES" sz="750" dirty="0" err="1">
                <a:solidFill>
                  <a:prstClr val="black"/>
                </a:solidFill>
              </a:rPr>
              <a:t>on-track</a:t>
            </a:r>
            <a:r>
              <a:rPr lang="es-ES" sz="750" dirty="0">
                <a:solidFill>
                  <a:prstClr val="black"/>
                </a:solidFill>
              </a:rPr>
              <a:t> y pueda alcanzar el Full </a:t>
            </a:r>
            <a:r>
              <a:rPr lang="es-ES" sz="750" dirty="0" err="1">
                <a:solidFill>
                  <a:prstClr val="black"/>
                </a:solidFill>
              </a:rPr>
              <a:t>Potential</a:t>
            </a:r>
            <a:r>
              <a:rPr lang="es-ES" sz="750" dirty="0">
                <a:solidFill>
                  <a:prstClr val="black"/>
                </a:solidFill>
              </a:rPr>
              <a:t>.</a:t>
            </a:r>
          </a:p>
          <a:p>
            <a:pPr marL="174625" indent="-17462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85725" algn="l"/>
              </a:tabLst>
              <a:defRPr/>
            </a:pPr>
            <a:endParaRPr lang="es-MX" sz="75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F05D0D3-51CC-27DC-1F80-AB2A7B262945}"/>
              </a:ext>
            </a:extLst>
          </p:cNvPr>
          <p:cNvSpPr/>
          <p:nvPr/>
        </p:nvSpPr>
        <p:spPr>
          <a:xfrm>
            <a:off x="5205685" y="1662386"/>
            <a:ext cx="1717200" cy="453600"/>
          </a:xfrm>
          <a:prstGeom prst="rect">
            <a:avLst/>
          </a:prstGeom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Estrategia y Transformación</a:t>
            </a:r>
          </a:p>
          <a:p>
            <a:pPr lvl="0" algn="ctr">
              <a:defRPr/>
            </a:pPr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Diego Velarde</a:t>
            </a:r>
            <a:endParaRPr kumimoji="0" lang="es-MX" sz="9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A58C60-72A6-C116-28CB-FD772B853EAE}"/>
              </a:ext>
            </a:extLst>
          </p:cNvPr>
          <p:cNvSpPr/>
          <p:nvPr/>
        </p:nvSpPr>
        <p:spPr>
          <a:xfrm>
            <a:off x="374798" y="2400600"/>
            <a:ext cx="1609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Sr. Estrategia</a:t>
            </a:r>
          </a:p>
          <a:p>
            <a:pPr lvl="0" algn="ctr">
              <a:defRPr/>
            </a:pPr>
            <a:r>
              <a:rPr kumimoji="0" lang="es-MX" sz="9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Sandra Martinez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79AB5C-5FF9-1694-2345-409B4B77BFDA}"/>
              </a:ext>
            </a:extLst>
          </p:cNvPr>
          <p:cNvSpPr/>
          <p:nvPr/>
        </p:nvSpPr>
        <p:spPr>
          <a:xfrm>
            <a:off x="2314354" y="2400600"/>
            <a:ext cx="1609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Value Delivery</a:t>
            </a:r>
          </a:p>
          <a:p>
            <a:pPr lvl="0" algn="ctr">
              <a:defRPr/>
            </a:pPr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Manuel Astaburuaga</a:t>
            </a:r>
            <a:endParaRPr lang="es-MX" sz="900" i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180BB5-BD67-ABFB-E519-081552E6C838}"/>
              </a:ext>
            </a:extLst>
          </p:cNvPr>
          <p:cNvSpPr/>
          <p:nvPr/>
        </p:nvSpPr>
        <p:spPr>
          <a:xfrm>
            <a:off x="4262552" y="2400600"/>
            <a:ext cx="1609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Gerente Value Delivery</a:t>
            </a:r>
          </a:p>
          <a:p>
            <a:pPr algn="ctr"/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Marco Villarreal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4239C43-EBFF-3547-0810-EAC63BF5DA2C}"/>
              </a:ext>
            </a:extLst>
          </p:cNvPr>
          <p:cNvSpPr/>
          <p:nvPr/>
        </p:nvSpPr>
        <p:spPr>
          <a:xfrm>
            <a:off x="6293767" y="2400600"/>
            <a:ext cx="1609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Value Delivery</a:t>
            </a:r>
          </a:p>
          <a:p>
            <a:pPr algn="ctr"/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Mariana Dávila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6DC0D19-303D-D241-5B68-3983AF8F82C9}"/>
              </a:ext>
            </a:extLst>
          </p:cNvPr>
          <p:cNvSpPr/>
          <p:nvPr/>
        </p:nvSpPr>
        <p:spPr>
          <a:xfrm>
            <a:off x="8255408" y="2400600"/>
            <a:ext cx="1609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</a:t>
            </a:r>
            <a:r>
              <a:rPr kumimoji="0" lang="es-MX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MX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  <a:endParaRPr kumimoji="0" lang="es-MX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Daniela Becerra</a:t>
            </a:r>
            <a:endParaRPr kumimoji="0" lang="es-MX" sz="9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314E52-A44C-757C-6F19-FB9B2FDCD3CA}"/>
              </a:ext>
            </a:extLst>
          </p:cNvPr>
          <p:cNvSpPr/>
          <p:nvPr/>
        </p:nvSpPr>
        <p:spPr>
          <a:xfrm>
            <a:off x="10207109" y="2400600"/>
            <a:ext cx="1609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Responsable Procesos y Metodología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kern="0" dirty="0">
                <a:solidFill>
                  <a:srgbClr val="000000"/>
                </a:solidFill>
                <a:latin typeface="Calibri" panose="020F0502020204030204"/>
                <a:cs typeface="Arial" panose="020B0604020202020204" pitchFamily="34" charset="0"/>
              </a:rPr>
              <a:t>Mónica Cantú</a:t>
            </a:r>
            <a:endParaRPr kumimoji="0" lang="es-MX" sz="9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9048E400-AC43-F0C5-5F92-32B557FF9210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5400000">
            <a:off x="3479535" y="-184150"/>
            <a:ext cx="284614" cy="4884887"/>
          </a:xfrm>
          <a:prstGeom prst="bentConnector3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8981F57C-184B-0144-08CF-0D91B271DF4E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rot="5400000">
            <a:off x="4449313" y="785628"/>
            <a:ext cx="284614" cy="2945331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3698B93B-B5C4-8CE9-C6DE-3A0851C97082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5400000">
            <a:off x="5423412" y="1759727"/>
            <a:ext cx="284614" cy="99713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5747DB19-DAD9-A71A-23B4-FF747F36E95D}"/>
              </a:ext>
            </a:extLst>
          </p:cNvPr>
          <p:cNvCxnSpPr>
            <a:cxnSpLocks/>
            <a:stCxn id="2" idx="2"/>
            <a:endCxn id="15" idx="0"/>
          </p:cNvCxnSpPr>
          <p:nvPr/>
        </p:nvCxnSpPr>
        <p:spPr>
          <a:xfrm rot="16200000" flipH="1">
            <a:off x="8395690" y="-215419"/>
            <a:ext cx="284614" cy="494742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4A48AF39-4DBF-D58B-E273-8D30EC22B577}"/>
              </a:ext>
            </a:extLst>
          </p:cNvPr>
          <p:cNvCxnSpPr>
            <a:cxnSpLocks/>
            <a:stCxn id="2" idx="2"/>
            <a:endCxn id="14" idx="0"/>
          </p:cNvCxnSpPr>
          <p:nvPr/>
        </p:nvCxnSpPr>
        <p:spPr>
          <a:xfrm rot="16200000" flipH="1">
            <a:off x="7419839" y="760431"/>
            <a:ext cx="284614" cy="299572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DDD75255-AFB1-EE5D-0540-905973F34157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 rot="16200000" flipH="1">
            <a:off x="6439019" y="1741252"/>
            <a:ext cx="284614" cy="103408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E6998E8-FE11-ED91-E47E-272495F6251C}"/>
              </a:ext>
            </a:extLst>
          </p:cNvPr>
          <p:cNvSpPr/>
          <p:nvPr/>
        </p:nvSpPr>
        <p:spPr>
          <a:xfrm>
            <a:off x="7166884" y="143587"/>
            <a:ext cx="4905288" cy="2026630"/>
          </a:xfrm>
          <a:prstGeom prst="rect">
            <a:avLst/>
          </a:prstGeom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Desarrollo de la Estrategia</a:t>
            </a:r>
            <a:r>
              <a:rPr lang="es-ES" sz="750" dirty="0">
                <a:solidFill>
                  <a:prstClr val="black"/>
                </a:solidFill>
              </a:rPr>
              <a:t>: Brindar soporte a al negocio para la definición de la estrategia corporativa y de negocio de OXXO México a corto, mediano y largo plazo.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Gobernanza y priorización</a:t>
            </a:r>
            <a:r>
              <a:rPr lang="es-MX" sz="750" dirty="0">
                <a:solidFill>
                  <a:prstClr val="black"/>
                </a:solidFill>
              </a:rPr>
              <a:t>: Diseñar y asegurar el cumplimiento del </a:t>
            </a:r>
            <a:r>
              <a:rPr lang="es-MX" sz="750" dirty="0" err="1">
                <a:solidFill>
                  <a:prstClr val="black"/>
                </a:solidFill>
              </a:rPr>
              <a:t>framework</a:t>
            </a:r>
            <a:r>
              <a:rPr lang="es-MX" sz="750" dirty="0">
                <a:solidFill>
                  <a:prstClr val="black"/>
                </a:solidFill>
              </a:rPr>
              <a:t> de gobernanza – comités, cadencia – para priorizar y aprobar iniciativas transformacionales, manteniendo el pipeline de proyectos estratégicos y gestionando dependencias </a:t>
            </a:r>
            <a:r>
              <a:rPr lang="es-MX" sz="750" dirty="0" err="1">
                <a:solidFill>
                  <a:prstClr val="black"/>
                </a:solidFill>
              </a:rPr>
              <a:t>cross</a:t>
            </a:r>
            <a:r>
              <a:rPr lang="es-MX" sz="750" dirty="0">
                <a:solidFill>
                  <a:prstClr val="black"/>
                </a:solidFill>
              </a:rPr>
              <a:t>-plataformas.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Aseguramiento de valor</a:t>
            </a:r>
            <a:r>
              <a:rPr lang="es-MX" sz="750" dirty="0">
                <a:solidFill>
                  <a:prstClr val="black"/>
                </a:solidFill>
              </a:rPr>
              <a:t>: Revisar y retar casos de negocio – alcance, </a:t>
            </a:r>
            <a:r>
              <a:rPr lang="es-MX" sz="750" dirty="0" err="1">
                <a:solidFill>
                  <a:prstClr val="black"/>
                </a:solidFill>
              </a:rPr>
              <a:t>roadmap</a:t>
            </a:r>
            <a:r>
              <a:rPr lang="es-MX" sz="750" dirty="0">
                <a:solidFill>
                  <a:prstClr val="black"/>
                </a:solidFill>
              </a:rPr>
              <a:t> – para maximizar el valor, acelerar time-</a:t>
            </a:r>
            <a:r>
              <a:rPr lang="es-MX" sz="750" dirty="0" err="1">
                <a:solidFill>
                  <a:prstClr val="black"/>
                </a:solidFill>
              </a:rPr>
              <a:t>to</a:t>
            </a:r>
            <a:r>
              <a:rPr lang="es-MX" sz="750" dirty="0">
                <a:solidFill>
                  <a:prstClr val="black"/>
                </a:solidFill>
              </a:rPr>
              <a:t>-</a:t>
            </a:r>
            <a:r>
              <a:rPr lang="es-MX" sz="750" dirty="0" err="1">
                <a:solidFill>
                  <a:prstClr val="black"/>
                </a:solidFill>
              </a:rPr>
              <a:t>market</a:t>
            </a:r>
            <a:r>
              <a:rPr lang="es-MX" sz="750" dirty="0">
                <a:solidFill>
                  <a:prstClr val="black"/>
                </a:solidFill>
              </a:rPr>
              <a:t> y mitigar riesgos; así como implementar metodologías ágiles para asegurar hitos y calidad de los entregables.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Medición y trazabilidad de valor</a:t>
            </a:r>
            <a:r>
              <a:rPr lang="es-MX" sz="750" dirty="0">
                <a:solidFill>
                  <a:prstClr val="black"/>
                </a:solidFill>
              </a:rPr>
              <a:t>: Definir y aplicar metodologías para cuantificar beneficio esperado y real – VPN, </a:t>
            </a:r>
            <a:r>
              <a:rPr lang="es-MX" sz="750" dirty="0" err="1">
                <a:solidFill>
                  <a:prstClr val="black"/>
                </a:solidFill>
              </a:rPr>
              <a:t>payback</a:t>
            </a:r>
            <a:r>
              <a:rPr lang="es-MX" sz="750" dirty="0">
                <a:solidFill>
                  <a:prstClr val="black"/>
                </a:solidFill>
              </a:rPr>
              <a:t>, ahorros – así como realizar seguimiento continuo del proyecto y gestionar planes de recuperación cuando los proyectos presenten desviación.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Portafolio de proyectos</a:t>
            </a:r>
            <a:r>
              <a:rPr lang="es-MX" sz="750" dirty="0">
                <a:solidFill>
                  <a:prstClr val="black"/>
                </a:solidFill>
              </a:rPr>
              <a:t>: Gestionar el portafolio de iniciativas, priorizando según impacto y urgencia, coordinando la necesidad de recursos internos y externos requeridos.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 err="1">
                <a:solidFill>
                  <a:prstClr val="black"/>
                </a:solidFill>
              </a:rPr>
              <a:t>Stakeholder</a:t>
            </a:r>
            <a:r>
              <a:rPr lang="es-MX" sz="750" b="1" dirty="0">
                <a:solidFill>
                  <a:prstClr val="black"/>
                </a:solidFill>
              </a:rPr>
              <a:t> </a:t>
            </a:r>
            <a:r>
              <a:rPr lang="es-MX" sz="750" b="1" dirty="0" err="1">
                <a:solidFill>
                  <a:prstClr val="black"/>
                </a:solidFill>
              </a:rPr>
              <a:t>management</a:t>
            </a:r>
            <a:r>
              <a:rPr lang="es-MX" sz="750" dirty="0">
                <a:solidFill>
                  <a:prstClr val="black"/>
                </a:solidFill>
              </a:rPr>
              <a:t>: Alinear expectativas y recursos con CEO, comité ejecutivo y dueños de proyecto, facilitando la toma de decisiones basada en datos; así como coordinar con resto de plataformas, necesidades para el desarrollo de las iniciativas estratégicas.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7368858-D3D4-D114-CB08-5FD7EF1C5082}"/>
              </a:ext>
            </a:extLst>
          </p:cNvPr>
          <p:cNvSpPr txBox="1"/>
          <p:nvPr/>
        </p:nvSpPr>
        <p:spPr>
          <a:xfrm>
            <a:off x="220514" y="1101541"/>
            <a:ext cx="4637236" cy="106182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Propósito</a:t>
            </a:r>
          </a:p>
          <a:p>
            <a:pPr>
              <a:defRPr/>
            </a:pPr>
            <a:r>
              <a:rPr lang="es-ES" sz="900" dirty="0">
                <a:solidFill>
                  <a:prstClr val="black"/>
                </a:solidFill>
                <a:latin typeface="Calibri" panose="020F0502020204030204"/>
              </a:rPr>
              <a:t>Conducir la agenda transformacional y estratégica del negocio, gobernando el portafolio de iniciativas con criterios rigurosos de priorización, valor y riesgo. Desafiar el diseño y la ejecución para asegurar generación de valor, velocidad de entrega y cumplimiento de hitos. Definir y monitorear indicadores clave, medir el impacto operativo y financiero en conjunto con Finanzas, </a:t>
            </a:r>
            <a:r>
              <a:rPr lang="es-ES" sz="900" dirty="0" err="1">
                <a:solidFill>
                  <a:prstClr val="black"/>
                </a:solidFill>
                <a:latin typeface="Calibri" panose="020F0502020204030204"/>
              </a:rPr>
              <a:t>Commercial</a:t>
            </a:r>
            <a:r>
              <a:rPr lang="es-ES" sz="9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s-ES" sz="900" dirty="0" err="1">
                <a:solidFill>
                  <a:prstClr val="black"/>
                </a:solidFill>
                <a:latin typeface="Calibri" panose="020F0502020204030204"/>
              </a:rPr>
              <a:t>Finance</a:t>
            </a:r>
            <a:r>
              <a:rPr lang="es-ES" sz="900" dirty="0">
                <a:solidFill>
                  <a:prstClr val="black"/>
                </a:solidFill>
                <a:latin typeface="Calibri" panose="020F0502020204030204"/>
              </a:rPr>
              <a:t>, así como corregir el rumbo cuando sea necesario, garantizando coherencia, rendición de cuentas y resultados sostenibles para la organización.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B9AB010-8F51-A9EF-FE1C-88858683EB5F}"/>
              </a:ext>
            </a:extLst>
          </p:cNvPr>
          <p:cNvSpPr/>
          <p:nvPr/>
        </p:nvSpPr>
        <p:spPr>
          <a:xfrm>
            <a:off x="10157792" y="3107288"/>
            <a:ext cx="1905849" cy="3557430"/>
          </a:xfrm>
          <a:prstGeom prst="rect">
            <a:avLst/>
          </a:prstGeom>
          <a:solidFill>
            <a:schemeClr val="accent5">
              <a:lumMod val="20000"/>
              <a:lumOff val="8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Asegurar la visibilidad integrada de las diferentes iniciativas estratégicas del negocio</a:t>
            </a:r>
            <a:r>
              <a:rPr lang="es-ES" sz="750" dirty="0">
                <a:solidFill>
                  <a:prstClr val="black"/>
                </a:solidFill>
              </a:rPr>
              <a:t>; fungiendo como responsable ante el equipo de </a:t>
            </a:r>
            <a:r>
              <a:rPr lang="es-ES" sz="750" dirty="0" err="1">
                <a:solidFill>
                  <a:prstClr val="black"/>
                </a:solidFill>
              </a:rPr>
              <a:t>Value</a:t>
            </a:r>
            <a:r>
              <a:rPr lang="es-ES" sz="750" dirty="0">
                <a:solidFill>
                  <a:prstClr val="black"/>
                </a:solidFill>
              </a:rPr>
              <a:t> </a:t>
            </a:r>
            <a:r>
              <a:rPr lang="es-ES" sz="750" dirty="0" err="1">
                <a:solidFill>
                  <a:prstClr val="black"/>
                </a:solidFill>
              </a:rPr>
              <a:t>Delivery</a:t>
            </a:r>
            <a:r>
              <a:rPr lang="es-ES" sz="750" dirty="0">
                <a:solidFill>
                  <a:prstClr val="black"/>
                </a:solidFill>
              </a:rPr>
              <a:t> (VMO Leads) y el equipo directivo de mantener una visión general del portafolio de iniciativas y sus hitos, propiciando así la toma de decisiones de alta calidad.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Mantener una visión única para el backlog general de cada iniciativa</a:t>
            </a:r>
            <a:r>
              <a:rPr lang="es-ES" sz="750" dirty="0">
                <a:solidFill>
                  <a:prstClr val="black"/>
                </a:solidFill>
              </a:rPr>
              <a:t>, la planificación de sus recursos, los riesgos y el seguimiento.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dirty="0">
                <a:solidFill>
                  <a:prstClr val="black"/>
                </a:solidFill>
              </a:rPr>
              <a:t>Colaborar con los líderes de iniciativas para realizar el </a:t>
            </a:r>
            <a:r>
              <a:rPr lang="es-ES" sz="750" b="1" dirty="0">
                <a:solidFill>
                  <a:prstClr val="black"/>
                </a:solidFill>
              </a:rPr>
              <a:t>seguimiento y la gestión de las interdependencias de los proyectos</a:t>
            </a:r>
            <a:r>
              <a:rPr lang="es-ES" sz="750" dirty="0">
                <a:solidFill>
                  <a:prstClr val="black"/>
                </a:solidFill>
              </a:rPr>
              <a:t>, Informar sobre los progresos de las iniciativas, así como escalar la toma de decisiones y la visibilidad de potenciales riesgos.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Coordinar el desarrollo de recomendaciones para la mitigación de riesgos.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Garantizar la comunicación </a:t>
            </a:r>
            <a:r>
              <a:rPr lang="es-ES" sz="750" dirty="0">
                <a:solidFill>
                  <a:prstClr val="black"/>
                </a:solidFill>
              </a:rPr>
              <a:t>entre iniciativas y la ejecución integrada.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C2F3519-19F5-411E-4300-6EAB7A96B961}"/>
              </a:ext>
            </a:extLst>
          </p:cNvPr>
          <p:cNvSpPr/>
          <p:nvPr/>
        </p:nvSpPr>
        <p:spPr>
          <a:xfrm>
            <a:off x="2176054" y="2322391"/>
            <a:ext cx="9864000" cy="730665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3416C00-7D3F-38BC-5EC2-25CC458808E3}"/>
              </a:ext>
            </a:extLst>
          </p:cNvPr>
          <p:cNvSpPr txBox="1"/>
          <p:nvPr/>
        </p:nvSpPr>
        <p:spPr>
          <a:xfrm>
            <a:off x="10599227" y="2830518"/>
            <a:ext cx="1609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 b="1" i="1" dirty="0" err="1">
                <a:solidFill>
                  <a:schemeClr val="accent5"/>
                </a:solidFill>
              </a:rPr>
              <a:t>Value</a:t>
            </a:r>
            <a:r>
              <a:rPr lang="es-MX" sz="900" b="1" i="1" dirty="0">
                <a:solidFill>
                  <a:schemeClr val="accent5"/>
                </a:solidFill>
              </a:rPr>
              <a:t> </a:t>
            </a:r>
            <a:r>
              <a:rPr lang="es-MX" sz="900" b="1" i="1" dirty="0" err="1">
                <a:solidFill>
                  <a:schemeClr val="accent5"/>
                </a:solidFill>
              </a:rPr>
              <a:t>Managment</a:t>
            </a:r>
            <a:r>
              <a:rPr lang="es-MX" sz="900" b="1" i="1" dirty="0">
                <a:solidFill>
                  <a:schemeClr val="accent5"/>
                </a:solidFill>
              </a:rPr>
              <a:t> Office</a:t>
            </a:r>
          </a:p>
        </p:txBody>
      </p:sp>
    </p:spTree>
    <p:extLst>
      <p:ext uri="{BB962C8B-B14F-4D97-AF65-F5344CB8AC3E}">
        <p14:creationId xmlns:p14="http://schemas.microsoft.com/office/powerpoint/2010/main" val="103617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4719C2B9-BF31-13A4-B08B-45D581100A29}"/>
              </a:ext>
            </a:extLst>
          </p:cNvPr>
          <p:cNvSpPr txBox="1">
            <a:spLocks/>
          </p:cNvSpPr>
          <p:nvPr/>
        </p:nvSpPr>
        <p:spPr>
          <a:xfrm>
            <a:off x="444843" y="19328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Estructura Organizacional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Dirección Estrategia y Transformación – 2da parte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D9448C-7C19-98EE-3B97-A787D36212DB}"/>
              </a:ext>
            </a:extLst>
          </p:cNvPr>
          <p:cNvSpPr/>
          <p:nvPr/>
        </p:nvSpPr>
        <p:spPr>
          <a:xfrm>
            <a:off x="4121182" y="3006704"/>
            <a:ext cx="3960000" cy="35574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Definir y liderar la estrategia integral del negocio OXXO Cel</a:t>
            </a:r>
            <a:r>
              <a:rPr lang="es-MX" sz="750" dirty="0">
                <a:solidFill>
                  <a:schemeClr val="tx1"/>
                </a:solidFill>
              </a:rPr>
              <a:t>, asegurando crecimiento rentable, propuesta de valor competitiva, posicionamiento en el mercado de telefonía y alineación con la estrategia del ecosistema OXXO.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Impulsar el crecimiento de la base de clientes y los ingresos</a:t>
            </a:r>
            <a:r>
              <a:rPr lang="es-MX" sz="750" dirty="0">
                <a:solidFill>
                  <a:schemeClr val="tx1"/>
                </a:solidFill>
              </a:rPr>
              <a:t>, mediante el diseño y ejecución de estrategias comerciales </a:t>
            </a:r>
            <a:r>
              <a:rPr lang="es-MX" sz="750" dirty="0" err="1">
                <a:solidFill>
                  <a:schemeClr val="tx1"/>
                </a:solidFill>
              </a:rPr>
              <a:t>end‑to‑end</a:t>
            </a:r>
            <a:r>
              <a:rPr lang="es-MX" sz="750" dirty="0">
                <a:solidFill>
                  <a:schemeClr val="tx1"/>
                </a:solidFill>
              </a:rPr>
              <a:t> que integren adquisición, </a:t>
            </a:r>
            <a:r>
              <a:rPr lang="es-MX" sz="750" dirty="0" err="1">
                <a:solidFill>
                  <a:schemeClr val="tx1"/>
                </a:solidFill>
              </a:rPr>
              <a:t>pricing</a:t>
            </a:r>
            <a:r>
              <a:rPr lang="es-MX" sz="750" dirty="0">
                <a:solidFill>
                  <a:schemeClr val="tx1"/>
                </a:solidFill>
              </a:rPr>
              <a:t>, promociones, incentivos, campañas, activaciones en tienda y expansión de dispositivos y servicios.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Liderar la evolución del portafolio de productos y servicios OXXO Cel</a:t>
            </a:r>
            <a:r>
              <a:rPr lang="es-MX" sz="750" dirty="0">
                <a:solidFill>
                  <a:schemeClr val="tx1"/>
                </a:solidFill>
              </a:rPr>
              <a:t>, incluyendo telefonía, </a:t>
            </a:r>
            <a:r>
              <a:rPr lang="es-MX" sz="750" dirty="0" err="1">
                <a:solidFill>
                  <a:schemeClr val="tx1"/>
                </a:solidFill>
              </a:rPr>
              <a:t>eSIM</a:t>
            </a:r>
            <a:r>
              <a:rPr lang="es-MX" sz="750" dirty="0">
                <a:solidFill>
                  <a:schemeClr val="tx1"/>
                </a:solidFill>
              </a:rPr>
              <a:t>, </a:t>
            </a:r>
            <a:r>
              <a:rPr lang="es-MX" sz="750" dirty="0" err="1">
                <a:solidFill>
                  <a:schemeClr val="tx1"/>
                </a:solidFill>
              </a:rPr>
              <a:t>bundles</a:t>
            </a:r>
            <a:r>
              <a:rPr lang="es-MX" sz="750" dirty="0">
                <a:solidFill>
                  <a:schemeClr val="tx1"/>
                </a:solidFill>
              </a:rPr>
              <a:t>, servicios digitales y nuevas propuestas, alineadas a las necesidades del cliente y a las tendencias del mercado.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Asegurar una experiencia de cliente consistente y diferenciada</a:t>
            </a:r>
            <a:r>
              <a:rPr lang="es-MX" sz="750" dirty="0">
                <a:solidFill>
                  <a:schemeClr val="tx1"/>
                </a:solidFill>
              </a:rPr>
              <a:t>, integrando estrategias de CX, comunicación, fidelización y retención que incrementen la permanencia, reduzcan </a:t>
            </a:r>
            <a:r>
              <a:rPr lang="es-MX" sz="750" dirty="0" err="1">
                <a:solidFill>
                  <a:schemeClr val="tx1"/>
                </a:solidFill>
              </a:rPr>
              <a:t>churn</a:t>
            </a:r>
            <a:r>
              <a:rPr lang="es-MX" sz="750" dirty="0">
                <a:solidFill>
                  <a:schemeClr val="tx1"/>
                </a:solidFill>
              </a:rPr>
              <a:t> y maximicen el valor del cliente.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Garantizar la correcta operación integral del negocio</a:t>
            </a:r>
            <a:r>
              <a:rPr lang="es-MX" sz="750" dirty="0">
                <a:solidFill>
                  <a:schemeClr val="tx1"/>
                </a:solidFill>
              </a:rPr>
              <a:t>, asegurando la continuidad del servicio de líneas, chips, dispositivos y usuarios activos, así como la ejecución eficiente de procesos operativos en tienda y canales digitales.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Dirigir la operación y ejecución comercial en tienda</a:t>
            </a:r>
            <a:r>
              <a:rPr lang="es-MX" sz="750" dirty="0">
                <a:solidFill>
                  <a:schemeClr val="tx1"/>
                </a:solidFill>
              </a:rPr>
              <a:t>, asegurando capacitación, habilitación, </a:t>
            </a:r>
            <a:r>
              <a:rPr lang="es-MX" sz="750" dirty="0" err="1">
                <a:solidFill>
                  <a:schemeClr val="tx1"/>
                </a:solidFill>
              </a:rPr>
              <a:t>onboarding</a:t>
            </a:r>
            <a:r>
              <a:rPr lang="es-MX" sz="750" dirty="0">
                <a:solidFill>
                  <a:schemeClr val="tx1"/>
                </a:solidFill>
              </a:rPr>
              <a:t>, herramientas e incentivos que maximicen el desempeño del personal y la productividad del punto de venta.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Asegurar la operación tecnológica de OXXO Cel</a:t>
            </a:r>
            <a:r>
              <a:rPr lang="es-MX" sz="750" dirty="0">
                <a:solidFill>
                  <a:schemeClr val="tx1"/>
                </a:solidFill>
              </a:rPr>
              <a:t>, incluyendo plataformas, soporte, procesos digitales, </a:t>
            </a:r>
            <a:r>
              <a:rPr lang="es-MX" sz="750" dirty="0" err="1">
                <a:solidFill>
                  <a:schemeClr val="tx1"/>
                </a:solidFill>
              </a:rPr>
              <a:t>call</a:t>
            </a:r>
            <a:r>
              <a:rPr lang="es-MX" sz="750" dirty="0">
                <a:solidFill>
                  <a:schemeClr val="tx1"/>
                </a:solidFill>
              </a:rPr>
              <a:t> center, medios de pago e infraestructura, impulsando la mejora continua y la eficiencia operativa.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Gestionar estratégicamente la relación con proveedores y socios clave</a:t>
            </a:r>
            <a:r>
              <a:rPr lang="es-MX" sz="750" dirty="0">
                <a:solidFill>
                  <a:schemeClr val="tx1"/>
                </a:solidFill>
              </a:rPr>
              <a:t>, garantizando condiciones comerciales óptimas, continuidad de la cadena de suministro y soporte al crecimiento del negocio.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Impulsar un modelo de gestión y toma de decisiones basado en datos</a:t>
            </a:r>
            <a:r>
              <a:rPr lang="es-MX" sz="750" dirty="0">
                <a:solidFill>
                  <a:schemeClr val="tx1"/>
                </a:solidFill>
              </a:rPr>
              <a:t>, asegurando el uso efectivo de analítica, </a:t>
            </a:r>
            <a:r>
              <a:rPr lang="es-MX" sz="750" dirty="0" err="1">
                <a:solidFill>
                  <a:schemeClr val="tx1"/>
                </a:solidFill>
              </a:rPr>
              <a:t>KPIs</a:t>
            </a:r>
            <a:r>
              <a:rPr lang="es-MX" sz="750" dirty="0">
                <a:solidFill>
                  <a:schemeClr val="tx1"/>
                </a:solidFill>
              </a:rPr>
              <a:t> y </a:t>
            </a:r>
            <a:r>
              <a:rPr lang="es-MX" sz="750" dirty="0" err="1">
                <a:solidFill>
                  <a:schemeClr val="tx1"/>
                </a:solidFill>
              </a:rPr>
              <a:t>dashboards</a:t>
            </a:r>
            <a:r>
              <a:rPr lang="es-MX" sz="750" dirty="0">
                <a:solidFill>
                  <a:schemeClr val="tx1"/>
                </a:solidFill>
              </a:rPr>
              <a:t> para optimizar desempeño comercial, operativo, financiero y de experiencia del cliente.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Coordinar y alinear equipos multidisciplinarios y </a:t>
            </a:r>
            <a:r>
              <a:rPr lang="es-MX" sz="750" b="1" dirty="0" err="1">
                <a:solidFill>
                  <a:schemeClr val="tx1"/>
                </a:solidFill>
              </a:rPr>
              <a:t>stakeholders</a:t>
            </a:r>
            <a:r>
              <a:rPr lang="es-MX" sz="750" b="1" dirty="0">
                <a:solidFill>
                  <a:schemeClr val="tx1"/>
                </a:solidFill>
              </a:rPr>
              <a:t> internos</a:t>
            </a:r>
            <a:r>
              <a:rPr lang="es-MX" sz="750" dirty="0">
                <a:solidFill>
                  <a:schemeClr val="tx1"/>
                </a:solidFill>
              </a:rPr>
              <a:t>, asegurando claridad de objetivos, ejecución integrada, cumplimiento de indicadores clave y representación efectiva del negocio en foros estratégicos.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7AB118C-6CA5-1B54-07D6-48F8BD3EA435}"/>
              </a:ext>
            </a:extLst>
          </p:cNvPr>
          <p:cNvSpPr/>
          <p:nvPr/>
        </p:nvSpPr>
        <p:spPr>
          <a:xfrm>
            <a:off x="5205685" y="1662386"/>
            <a:ext cx="1717200" cy="453600"/>
          </a:xfrm>
          <a:prstGeom prst="rect">
            <a:avLst/>
          </a:prstGeom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Estrategia y Transformación</a:t>
            </a:r>
          </a:p>
          <a:p>
            <a:pPr lvl="0" algn="ctr">
              <a:defRPr/>
            </a:pPr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Diego Velarde</a:t>
            </a:r>
            <a:endParaRPr kumimoji="0" lang="es-MX" sz="9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85CB5B-C03F-687B-6ABA-8C7AFBAF12AE}"/>
              </a:ext>
            </a:extLst>
          </p:cNvPr>
          <p:cNvSpPr/>
          <p:nvPr/>
        </p:nvSpPr>
        <p:spPr>
          <a:xfrm>
            <a:off x="1252622" y="2400600"/>
            <a:ext cx="1717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Sr. Comercial Servicios Financieros</a:t>
            </a:r>
          </a:p>
          <a:p>
            <a:pPr lvl="0" algn="ctr">
              <a:defRPr/>
            </a:pPr>
            <a:r>
              <a:rPr kumimoji="0" lang="es-MX" sz="9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Sergio Caraveo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B211319-9784-FBBF-AC2A-83259698B9D3}"/>
              </a:ext>
            </a:extLst>
          </p:cNvPr>
          <p:cNvSpPr/>
          <p:nvPr/>
        </p:nvSpPr>
        <p:spPr>
          <a:xfrm>
            <a:off x="5213002" y="2400600"/>
            <a:ext cx="1717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OXXO Cel</a:t>
            </a:r>
          </a:p>
          <a:p>
            <a:pPr lvl="0" algn="ctr">
              <a:defRPr/>
            </a:pPr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Marco Rodriguez</a:t>
            </a:r>
            <a:endParaRPr lang="es-MX" sz="9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D4DB9F-602F-8931-1CC4-0708F2F2BC23}"/>
              </a:ext>
            </a:extLst>
          </p:cNvPr>
          <p:cNvSpPr/>
          <p:nvPr/>
        </p:nvSpPr>
        <p:spPr>
          <a:xfrm>
            <a:off x="9209456" y="2400600"/>
            <a:ext cx="17172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Gerente Sr. </a:t>
            </a:r>
            <a:r>
              <a:rPr lang="es-MX" sz="9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Fullfilment</a:t>
            </a:r>
            <a:endParaRPr lang="es-MX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MX" sz="9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Rincón</a:t>
            </a: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35EDF1A9-090E-1732-4B57-FBD847CAC798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rot="5400000">
            <a:off x="3945447" y="281762"/>
            <a:ext cx="284614" cy="3953063"/>
          </a:xfrm>
          <a:prstGeom prst="bentConnector3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CF032FC6-7B89-712A-1E5D-09FA83F5C6F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rot="16200000" flipH="1">
            <a:off x="5925636" y="2254634"/>
            <a:ext cx="284614" cy="7317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EECDA9C8-A4A2-DF14-9FDE-723B89AB62A6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16200000" flipH="1">
            <a:off x="7923863" y="256407"/>
            <a:ext cx="284614" cy="4003771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81BCE00-44CF-6687-FDBE-3DCF81914D81}"/>
              </a:ext>
            </a:extLst>
          </p:cNvPr>
          <p:cNvSpPr/>
          <p:nvPr/>
        </p:nvSpPr>
        <p:spPr>
          <a:xfrm>
            <a:off x="7166884" y="143587"/>
            <a:ext cx="4905288" cy="2026630"/>
          </a:xfrm>
          <a:prstGeom prst="rect">
            <a:avLst/>
          </a:prstGeom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ES" sz="750" b="1" dirty="0">
                <a:solidFill>
                  <a:prstClr val="black"/>
                </a:solidFill>
              </a:rPr>
              <a:t>Desarrollo de la Estrategia</a:t>
            </a:r>
            <a:r>
              <a:rPr lang="es-ES" sz="750" dirty="0">
                <a:solidFill>
                  <a:prstClr val="black"/>
                </a:solidFill>
              </a:rPr>
              <a:t>: Brindar soporte a al negocio para la definición de la estrategia corporativa y de negocio de OXXO México a corto, mediano y largo plazo.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Gobernanza y priorización</a:t>
            </a:r>
            <a:r>
              <a:rPr lang="es-MX" sz="750" dirty="0">
                <a:solidFill>
                  <a:prstClr val="black"/>
                </a:solidFill>
              </a:rPr>
              <a:t>: Diseñar y asegurar el cumplimiento del </a:t>
            </a:r>
            <a:r>
              <a:rPr lang="es-MX" sz="750" dirty="0" err="1">
                <a:solidFill>
                  <a:prstClr val="black"/>
                </a:solidFill>
              </a:rPr>
              <a:t>framework</a:t>
            </a:r>
            <a:r>
              <a:rPr lang="es-MX" sz="750" dirty="0">
                <a:solidFill>
                  <a:prstClr val="black"/>
                </a:solidFill>
              </a:rPr>
              <a:t> de gobernanza – comités, cadencia – para priorizar y aprobar iniciativas transformacionales, manteniendo el pipeline de proyectos estratégicos y gestionando dependencias </a:t>
            </a:r>
            <a:r>
              <a:rPr lang="es-MX" sz="750" dirty="0" err="1">
                <a:solidFill>
                  <a:prstClr val="black"/>
                </a:solidFill>
              </a:rPr>
              <a:t>cross</a:t>
            </a:r>
            <a:r>
              <a:rPr lang="es-MX" sz="750" dirty="0">
                <a:solidFill>
                  <a:prstClr val="black"/>
                </a:solidFill>
              </a:rPr>
              <a:t>-plataformas.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Aseguramiento de valor</a:t>
            </a:r>
            <a:r>
              <a:rPr lang="es-MX" sz="750" dirty="0">
                <a:solidFill>
                  <a:prstClr val="black"/>
                </a:solidFill>
              </a:rPr>
              <a:t>: Revisar y retar casos de negocio – alcance, </a:t>
            </a:r>
            <a:r>
              <a:rPr lang="es-MX" sz="750" dirty="0" err="1">
                <a:solidFill>
                  <a:prstClr val="black"/>
                </a:solidFill>
              </a:rPr>
              <a:t>roadmap</a:t>
            </a:r>
            <a:r>
              <a:rPr lang="es-MX" sz="750" dirty="0">
                <a:solidFill>
                  <a:prstClr val="black"/>
                </a:solidFill>
              </a:rPr>
              <a:t> – para maximizar el valor, acelerar time-</a:t>
            </a:r>
            <a:r>
              <a:rPr lang="es-MX" sz="750" dirty="0" err="1">
                <a:solidFill>
                  <a:prstClr val="black"/>
                </a:solidFill>
              </a:rPr>
              <a:t>to</a:t>
            </a:r>
            <a:r>
              <a:rPr lang="es-MX" sz="750" dirty="0">
                <a:solidFill>
                  <a:prstClr val="black"/>
                </a:solidFill>
              </a:rPr>
              <a:t>-</a:t>
            </a:r>
            <a:r>
              <a:rPr lang="es-MX" sz="750" dirty="0" err="1">
                <a:solidFill>
                  <a:prstClr val="black"/>
                </a:solidFill>
              </a:rPr>
              <a:t>market</a:t>
            </a:r>
            <a:r>
              <a:rPr lang="es-MX" sz="750" dirty="0">
                <a:solidFill>
                  <a:prstClr val="black"/>
                </a:solidFill>
              </a:rPr>
              <a:t> y mitigar riesgos; así como implementar metodologías ágiles para asegurar hitos y calidad de los entregables.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Medición y trazabilidad de valor</a:t>
            </a:r>
            <a:r>
              <a:rPr lang="es-MX" sz="750" dirty="0">
                <a:solidFill>
                  <a:prstClr val="black"/>
                </a:solidFill>
              </a:rPr>
              <a:t>: Definir y aplicar metodologías para cuantificar beneficio esperado y real – VPN, </a:t>
            </a:r>
            <a:r>
              <a:rPr lang="es-MX" sz="750" dirty="0" err="1">
                <a:solidFill>
                  <a:prstClr val="black"/>
                </a:solidFill>
              </a:rPr>
              <a:t>payback</a:t>
            </a:r>
            <a:r>
              <a:rPr lang="es-MX" sz="750" dirty="0">
                <a:solidFill>
                  <a:prstClr val="black"/>
                </a:solidFill>
              </a:rPr>
              <a:t>, ahorros – así como realizar seguimiento continuo del proyecto y gestionar planes de recuperación cuando los proyectos presenten desviación.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>
                <a:solidFill>
                  <a:prstClr val="black"/>
                </a:solidFill>
              </a:rPr>
              <a:t>Portafolio de proyectos</a:t>
            </a:r>
            <a:r>
              <a:rPr lang="es-MX" sz="750" dirty="0">
                <a:solidFill>
                  <a:prstClr val="black"/>
                </a:solidFill>
              </a:rPr>
              <a:t>: Gestionar el portafolio de iniciativas, priorizando según impacto y urgencia, coordinando la necesidad de recursos internos y externos requeridos.</a:t>
            </a:r>
          </a:p>
          <a:p>
            <a:pPr marL="171450" indent="-171450" defTabSz="342900">
              <a:buFont typeface="Arial" panose="020B0604020202020204" pitchFamily="34" charset="0"/>
              <a:buChar char="•"/>
              <a:defRPr/>
            </a:pPr>
            <a:r>
              <a:rPr lang="es-MX" sz="750" b="1" dirty="0" err="1">
                <a:solidFill>
                  <a:prstClr val="black"/>
                </a:solidFill>
              </a:rPr>
              <a:t>Stakeholder</a:t>
            </a:r>
            <a:r>
              <a:rPr lang="es-MX" sz="750" b="1" dirty="0">
                <a:solidFill>
                  <a:prstClr val="black"/>
                </a:solidFill>
              </a:rPr>
              <a:t> </a:t>
            </a:r>
            <a:r>
              <a:rPr lang="es-MX" sz="750" b="1" dirty="0" err="1">
                <a:solidFill>
                  <a:prstClr val="black"/>
                </a:solidFill>
              </a:rPr>
              <a:t>management</a:t>
            </a:r>
            <a:r>
              <a:rPr lang="es-MX" sz="750" dirty="0">
                <a:solidFill>
                  <a:prstClr val="black"/>
                </a:solidFill>
              </a:rPr>
              <a:t>: Alinear expectativas y recursos con CEO, comité ejecutivo y dueños de proyecto, facilitando la toma de decisiones basada en datos; así como coordinar con resto de plataformas, necesidades para el desarrollo de las iniciativas estratégicas.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73C83BC-CCA6-6DEA-27DA-30EB9A52AA8B}"/>
              </a:ext>
            </a:extLst>
          </p:cNvPr>
          <p:cNvSpPr txBox="1"/>
          <p:nvPr/>
        </p:nvSpPr>
        <p:spPr>
          <a:xfrm>
            <a:off x="220514" y="1101541"/>
            <a:ext cx="4637236" cy="106182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Propósito</a:t>
            </a:r>
          </a:p>
          <a:p>
            <a:pPr>
              <a:defRPr/>
            </a:pPr>
            <a:r>
              <a:rPr lang="es-ES" sz="900" dirty="0">
                <a:solidFill>
                  <a:prstClr val="black"/>
                </a:solidFill>
                <a:latin typeface="Calibri" panose="020F0502020204030204"/>
              </a:rPr>
              <a:t>Conducir la agenda transformacional y estratégica del negocio, gobernando el portafolio de iniciativas con criterios rigurosos de priorización, valor y riesgo. Desafiar el diseño y la ejecución para asegurar generación de valor, velocidad de entrega y cumplimiento de hitos. Definir y monitorear indicadores clave, medir el impacto operativo y financiero en conjunto con Finanzas, </a:t>
            </a:r>
            <a:r>
              <a:rPr lang="es-ES" sz="900" dirty="0" err="1">
                <a:solidFill>
                  <a:prstClr val="black"/>
                </a:solidFill>
                <a:latin typeface="Calibri" panose="020F0502020204030204"/>
              </a:rPr>
              <a:t>Commercial</a:t>
            </a:r>
            <a:r>
              <a:rPr lang="es-ES" sz="9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s-ES" sz="900" dirty="0" err="1">
                <a:solidFill>
                  <a:prstClr val="black"/>
                </a:solidFill>
                <a:latin typeface="Calibri" panose="020F0502020204030204"/>
              </a:rPr>
              <a:t>Finance</a:t>
            </a:r>
            <a:r>
              <a:rPr lang="es-ES" sz="900" dirty="0">
                <a:solidFill>
                  <a:prstClr val="black"/>
                </a:solidFill>
                <a:latin typeface="Calibri" panose="020F0502020204030204"/>
              </a:rPr>
              <a:t>, así como corregir el rumbo cuando sea necesario, garantizando coherencia, rendición de cuentas y resultados sostenibles para la organización.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2D9CA39-7D89-0E5D-938F-F5A5CF24E78F}"/>
              </a:ext>
            </a:extLst>
          </p:cNvPr>
          <p:cNvSpPr/>
          <p:nvPr/>
        </p:nvSpPr>
        <p:spPr>
          <a:xfrm>
            <a:off x="92499" y="3006704"/>
            <a:ext cx="3960000" cy="35574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b="1" dirty="0">
                <a:solidFill>
                  <a:schemeClr val="tx1"/>
                </a:solidFill>
              </a:rPr>
              <a:t>Definir la estrategia integral de servicios financieros </a:t>
            </a:r>
            <a:r>
              <a:rPr lang="es-MX" sz="750" dirty="0">
                <a:solidFill>
                  <a:schemeClr val="tx1"/>
                </a:solidFill>
              </a:rPr>
              <a:t>para maximizar el crecimiento rentable y la contribución al margen del negocio, mediante la priorización de iniciativas, alineación con objetivos corporativos y seguimiento a indicadores estratégicos.</a:t>
            </a:r>
          </a:p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b="1" dirty="0">
                <a:solidFill>
                  <a:schemeClr val="tx1"/>
                </a:solidFill>
              </a:rPr>
              <a:t>Gestionar la rentabilidad del portafolio de servicios financieros actuales y nuevos </a:t>
            </a:r>
            <a:r>
              <a:rPr lang="es-MX" sz="750" dirty="0">
                <a:solidFill>
                  <a:schemeClr val="tx1"/>
                </a:solidFill>
              </a:rPr>
              <a:t>para incrementar el margen anual, a través de modelos de negocio, esquemas tarifarios y optimización de costos operativos.</a:t>
            </a:r>
          </a:p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dirty="0">
                <a:solidFill>
                  <a:schemeClr val="tx1"/>
                </a:solidFill>
              </a:rPr>
              <a:t>Impulsar el </a:t>
            </a:r>
            <a:r>
              <a:rPr lang="es-MX" sz="750" b="1" dirty="0">
                <a:solidFill>
                  <a:schemeClr val="tx1"/>
                </a:solidFill>
              </a:rPr>
              <a:t>diseño, lanzamiento y escalamiento de nuevos productos financieros </a:t>
            </a:r>
            <a:r>
              <a:rPr lang="es-MX" sz="750" dirty="0">
                <a:solidFill>
                  <a:schemeClr val="tx1"/>
                </a:solidFill>
              </a:rPr>
              <a:t>para diversificar fuentes de ingreso y fortalecer la propuesta de valor al cliente, mediante la gestión </a:t>
            </a:r>
            <a:r>
              <a:rPr lang="es-MX" sz="750" dirty="0" err="1">
                <a:solidFill>
                  <a:schemeClr val="tx1"/>
                </a:solidFill>
              </a:rPr>
              <a:t>end‑to‑end</a:t>
            </a:r>
            <a:r>
              <a:rPr lang="es-MX" sz="750" dirty="0">
                <a:solidFill>
                  <a:schemeClr val="tx1"/>
                </a:solidFill>
              </a:rPr>
              <a:t> del ciclo de producto y la evaluación de </a:t>
            </a:r>
            <a:r>
              <a:rPr lang="es-MX" sz="750" dirty="0" err="1">
                <a:solidFill>
                  <a:schemeClr val="tx1"/>
                </a:solidFill>
              </a:rPr>
              <a:t>business</a:t>
            </a:r>
            <a:r>
              <a:rPr lang="es-MX" sz="750" dirty="0">
                <a:solidFill>
                  <a:schemeClr val="tx1"/>
                </a:solidFill>
              </a:rPr>
              <a:t> cases</a:t>
            </a:r>
          </a:p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dirty="0">
                <a:solidFill>
                  <a:schemeClr val="tx1"/>
                </a:solidFill>
              </a:rPr>
              <a:t>Liderar la </a:t>
            </a:r>
            <a:r>
              <a:rPr lang="es-MX" sz="750" b="1" dirty="0">
                <a:solidFill>
                  <a:schemeClr val="tx1"/>
                </a:solidFill>
              </a:rPr>
              <a:t>gestión comercial y negociación con socios financieros estratégicos </a:t>
            </a:r>
            <a:r>
              <a:rPr lang="es-MX" sz="750" dirty="0">
                <a:solidFill>
                  <a:schemeClr val="tx1"/>
                </a:solidFill>
              </a:rPr>
              <a:t>para asegurar condiciones competitivas y modelos de colaboración sostenibles, mediante acuerdos comerciales, administración de contratos y evaluación de desempeño de aliados.</a:t>
            </a:r>
          </a:p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b="1" dirty="0">
                <a:solidFill>
                  <a:schemeClr val="tx1"/>
                </a:solidFill>
              </a:rPr>
              <a:t>Asegurar la correcta ejecución operativa de los servicios financieros en tiendas </a:t>
            </a:r>
            <a:r>
              <a:rPr lang="es-MX" sz="750" dirty="0">
                <a:solidFill>
                  <a:schemeClr val="tx1"/>
                </a:solidFill>
              </a:rPr>
              <a:t>para garantizar continuidad operativa y una experiencia confiable al cliente, a través de modelos de habilitación, seguimiento a </a:t>
            </a:r>
            <a:r>
              <a:rPr lang="es-MX" sz="750" dirty="0" err="1">
                <a:solidFill>
                  <a:schemeClr val="tx1"/>
                </a:solidFill>
              </a:rPr>
              <a:t>KPIs</a:t>
            </a:r>
            <a:r>
              <a:rPr lang="es-MX" sz="750" dirty="0">
                <a:solidFill>
                  <a:schemeClr val="tx1"/>
                </a:solidFill>
              </a:rPr>
              <a:t> operativos y estandarización de procesos.</a:t>
            </a:r>
          </a:p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b="1" dirty="0">
                <a:solidFill>
                  <a:schemeClr val="tx1"/>
                </a:solidFill>
              </a:rPr>
              <a:t>Implementar iniciativas de mejora continua en la operación de servicios financieros </a:t>
            </a:r>
            <a:r>
              <a:rPr lang="es-MX" sz="750" dirty="0">
                <a:solidFill>
                  <a:schemeClr val="tx1"/>
                </a:solidFill>
              </a:rPr>
              <a:t>para reducir fricción, errores y costos, mediante análisis de procesos, automatización y coordinación con las áreas de Operaciones y Tecnología.</a:t>
            </a:r>
          </a:p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b="1" dirty="0">
                <a:solidFill>
                  <a:schemeClr val="tx1"/>
                </a:solidFill>
              </a:rPr>
              <a:t>Garantizar el cumplimiento regulatorio y la adecuada gestión de riesgos asociados a los servicios financieros</a:t>
            </a:r>
            <a:r>
              <a:rPr lang="es-MX" sz="750" dirty="0">
                <a:solidFill>
                  <a:schemeClr val="tx1"/>
                </a:solidFill>
              </a:rPr>
              <a:t> para proteger la operación y la reputación de la compañía, mediante la coordinación con áreas de </a:t>
            </a:r>
            <a:r>
              <a:rPr lang="es-MX" sz="750" dirty="0" err="1">
                <a:solidFill>
                  <a:schemeClr val="tx1"/>
                </a:solidFill>
              </a:rPr>
              <a:t>Compliance</a:t>
            </a:r>
            <a:r>
              <a:rPr lang="es-MX" sz="750" dirty="0">
                <a:solidFill>
                  <a:schemeClr val="tx1"/>
                </a:solidFill>
              </a:rPr>
              <a:t>, Legal, Asuntos corporativos y atención a auditorías.</a:t>
            </a:r>
          </a:p>
          <a:p>
            <a:pPr marL="92075" indent="-92075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tabLst>
                <a:tab pos="92075" algn="l"/>
              </a:tabLst>
              <a:defRPr/>
            </a:pPr>
            <a:r>
              <a:rPr lang="es-MX" sz="750" b="1" dirty="0">
                <a:solidFill>
                  <a:schemeClr val="tx1"/>
                </a:solidFill>
              </a:rPr>
              <a:t>Coordinar a las áreas comerciales, de producto, operaciones, tecnología y corporativas para asegurar la ejecución alineada de la estrategia de servicios financieros</a:t>
            </a:r>
            <a:r>
              <a:rPr lang="es-MX" sz="750" dirty="0">
                <a:solidFill>
                  <a:schemeClr val="tx1"/>
                </a:solidFill>
              </a:rPr>
              <a:t>, a través de gobiernos de proyecto, comités y gestión transversal de </a:t>
            </a:r>
            <a:r>
              <a:rPr lang="es-MX" sz="750" dirty="0" err="1">
                <a:solidFill>
                  <a:schemeClr val="tx1"/>
                </a:solidFill>
              </a:rPr>
              <a:t>stakeholders</a:t>
            </a:r>
            <a:r>
              <a:rPr lang="es-MX" sz="750" dirty="0">
                <a:solidFill>
                  <a:schemeClr val="tx1"/>
                </a:solidFill>
              </a:rPr>
              <a:t>.</a:t>
            </a:r>
            <a:endParaRPr lang="es-MX" sz="75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D7A1A0B-01B8-584A-B9E8-4BB1A95066F1}"/>
              </a:ext>
            </a:extLst>
          </p:cNvPr>
          <p:cNvSpPr/>
          <p:nvPr/>
        </p:nvSpPr>
        <p:spPr>
          <a:xfrm>
            <a:off x="8178070" y="3006704"/>
            <a:ext cx="3960000" cy="35574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Definir y liderar la estrategia integral de </a:t>
            </a:r>
            <a:r>
              <a:rPr lang="es-MX" sz="750" b="1" dirty="0" err="1">
                <a:solidFill>
                  <a:schemeClr val="tx1"/>
                </a:solidFill>
              </a:rPr>
              <a:t>Fulfillment</a:t>
            </a:r>
            <a:r>
              <a:rPr lang="es-MX" sz="750" dirty="0">
                <a:solidFill>
                  <a:schemeClr val="tx1"/>
                </a:solidFill>
              </a:rPr>
              <a:t>, incluyendo los servicios digitales, e‑</a:t>
            </a:r>
            <a:r>
              <a:rPr lang="es-MX" sz="750" dirty="0" err="1">
                <a:solidFill>
                  <a:schemeClr val="tx1"/>
                </a:solidFill>
              </a:rPr>
              <a:t>commerce</a:t>
            </a:r>
            <a:r>
              <a:rPr lang="es-MX" sz="750" dirty="0">
                <a:solidFill>
                  <a:schemeClr val="tx1"/>
                </a:solidFill>
              </a:rPr>
              <a:t> y pagos, asegurando su alineación con los objetivos del negocio, el modelo comercial y la experiencia del cliente.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endParaRPr lang="es-MX" sz="750" dirty="0">
              <a:solidFill>
                <a:schemeClr val="tx1"/>
              </a:solidFill>
            </a:endParaRP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Gobernar el portafolio de servicios de </a:t>
            </a:r>
            <a:r>
              <a:rPr lang="es-MX" sz="750" b="1" dirty="0" err="1">
                <a:solidFill>
                  <a:schemeClr val="tx1"/>
                </a:solidFill>
              </a:rPr>
              <a:t>Fulfillment</a:t>
            </a:r>
            <a:r>
              <a:rPr lang="es-MX" sz="750" dirty="0">
                <a:solidFill>
                  <a:schemeClr val="tx1"/>
                </a:solidFill>
              </a:rPr>
              <a:t>, priorizando iniciativas, </a:t>
            </a:r>
            <a:r>
              <a:rPr lang="es-MX" sz="750" dirty="0" err="1">
                <a:solidFill>
                  <a:schemeClr val="tx1"/>
                </a:solidFill>
              </a:rPr>
              <a:t>roadmaps</a:t>
            </a:r>
            <a:r>
              <a:rPr lang="es-MX" sz="750" dirty="0">
                <a:solidFill>
                  <a:schemeClr val="tx1"/>
                </a:solidFill>
              </a:rPr>
              <a:t>, productos digitales y </a:t>
            </a:r>
            <a:r>
              <a:rPr lang="es-MX" sz="750" dirty="0" err="1">
                <a:solidFill>
                  <a:schemeClr val="tx1"/>
                </a:solidFill>
              </a:rPr>
              <a:t>MVPs</a:t>
            </a:r>
            <a:r>
              <a:rPr lang="es-MX" sz="750" dirty="0">
                <a:solidFill>
                  <a:schemeClr val="tx1"/>
                </a:solidFill>
              </a:rPr>
              <a:t> que maximicen valor, margen, escalabilidad y adopción.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endParaRPr lang="es-MX" sz="750" dirty="0">
              <a:solidFill>
                <a:schemeClr val="tx1"/>
              </a:solidFill>
            </a:endParaRP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Orquestar la ejecución </a:t>
            </a:r>
            <a:r>
              <a:rPr lang="es-MX" sz="750" b="1" dirty="0" err="1">
                <a:solidFill>
                  <a:schemeClr val="tx1"/>
                </a:solidFill>
              </a:rPr>
              <a:t>end‑to‑end</a:t>
            </a:r>
            <a:r>
              <a:rPr lang="es-MX" sz="750" b="1" dirty="0">
                <a:solidFill>
                  <a:schemeClr val="tx1"/>
                </a:solidFill>
              </a:rPr>
              <a:t> del modelo de </a:t>
            </a:r>
            <a:r>
              <a:rPr lang="es-MX" sz="750" b="1" dirty="0" err="1">
                <a:solidFill>
                  <a:schemeClr val="tx1"/>
                </a:solidFill>
              </a:rPr>
              <a:t>Fulfillment</a:t>
            </a:r>
            <a:r>
              <a:rPr lang="es-MX" sz="750" dirty="0">
                <a:solidFill>
                  <a:schemeClr val="tx1"/>
                </a:solidFill>
              </a:rPr>
              <a:t>, asegurando la integración efectiva entre áreas comerciales, marketing, operaciones, TI, producto y diseño organizacional.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endParaRPr lang="es-MX" sz="750" dirty="0">
              <a:solidFill>
                <a:schemeClr val="tx1"/>
              </a:solidFill>
            </a:endParaRP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Impulsar el desarrollo y gestión de socios estratégicos</a:t>
            </a:r>
            <a:r>
              <a:rPr lang="es-MX" sz="750" dirty="0">
                <a:solidFill>
                  <a:schemeClr val="tx1"/>
                </a:solidFill>
              </a:rPr>
              <a:t> (</a:t>
            </a:r>
            <a:r>
              <a:rPr lang="es-MX" sz="750" dirty="0" err="1">
                <a:solidFill>
                  <a:schemeClr val="tx1"/>
                </a:solidFill>
              </a:rPr>
              <a:t>marketplaces</a:t>
            </a:r>
            <a:r>
              <a:rPr lang="es-MX" sz="750" dirty="0">
                <a:solidFill>
                  <a:schemeClr val="tx1"/>
                </a:solidFill>
              </a:rPr>
              <a:t>, </a:t>
            </a:r>
            <a:r>
              <a:rPr lang="es-MX" sz="750" dirty="0" err="1">
                <a:solidFill>
                  <a:schemeClr val="tx1"/>
                </a:solidFill>
              </a:rPr>
              <a:t>fintechs</a:t>
            </a:r>
            <a:r>
              <a:rPr lang="es-MX" sz="750" dirty="0">
                <a:solidFill>
                  <a:schemeClr val="tx1"/>
                </a:solidFill>
              </a:rPr>
              <a:t>, aliados tecnológicos y operativos), habilitando nuevos modelos de negocio y capacidades del ecosistema </a:t>
            </a:r>
            <a:r>
              <a:rPr lang="es-MX" sz="750" dirty="0" err="1">
                <a:solidFill>
                  <a:schemeClr val="tx1"/>
                </a:solidFill>
              </a:rPr>
              <a:t>Fulfillment</a:t>
            </a:r>
            <a:r>
              <a:rPr lang="es-MX" sz="750" dirty="0">
                <a:solidFill>
                  <a:schemeClr val="tx1"/>
                </a:solidFill>
              </a:rPr>
              <a:t>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endParaRPr lang="es-MX" sz="750" dirty="0">
              <a:solidFill>
                <a:schemeClr val="tx1"/>
              </a:solidFill>
            </a:endParaRP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Asegurar la correcta operación y despliegue de los servicios en tienda</a:t>
            </a:r>
            <a:r>
              <a:rPr lang="es-MX" sz="750" dirty="0">
                <a:solidFill>
                  <a:schemeClr val="tx1"/>
                </a:solidFill>
              </a:rPr>
              <a:t>, manteniendo estándares de calidad, conectividad al punto de venta y mejores prácticas operativas.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endParaRPr lang="es-MX" sz="750" dirty="0">
              <a:solidFill>
                <a:schemeClr val="tx1"/>
              </a:solidFill>
            </a:endParaRP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Liderar el análisis de información y desempeño del negocio</a:t>
            </a:r>
            <a:r>
              <a:rPr lang="es-MX" sz="750" dirty="0">
                <a:solidFill>
                  <a:schemeClr val="tx1"/>
                </a:solidFill>
              </a:rPr>
              <a:t>, definiendo y monitoreando </a:t>
            </a:r>
            <a:r>
              <a:rPr lang="es-MX" sz="750" dirty="0" err="1">
                <a:solidFill>
                  <a:schemeClr val="tx1"/>
                </a:solidFill>
              </a:rPr>
              <a:t>KPIs</a:t>
            </a:r>
            <a:r>
              <a:rPr lang="es-MX" sz="750" dirty="0">
                <a:solidFill>
                  <a:schemeClr val="tx1"/>
                </a:solidFill>
              </a:rPr>
              <a:t> clave de crecimiento, margen, conversión, volumen, eficiencia operativa y experiencia del cliente.</a:t>
            </a:r>
          </a:p>
          <a:p>
            <a:pPr marL="92075" indent="-92075" fontAlgn="t">
              <a:buFont typeface="Arial" panose="020B0604020202020204" pitchFamily="34" charset="0"/>
              <a:buChar char="•"/>
            </a:pPr>
            <a:endParaRPr lang="es-MX" sz="750" dirty="0">
              <a:solidFill>
                <a:schemeClr val="tx1"/>
              </a:solidFill>
            </a:endParaRPr>
          </a:p>
          <a:p>
            <a:pPr marL="92075" indent="-92075" fontAlgn="t">
              <a:buFont typeface="Arial" panose="020B0604020202020204" pitchFamily="34" charset="0"/>
              <a:buChar char="•"/>
            </a:pPr>
            <a:r>
              <a:rPr lang="es-MX" sz="750" b="1" dirty="0">
                <a:solidFill>
                  <a:schemeClr val="tx1"/>
                </a:solidFill>
              </a:rPr>
              <a:t>Diseñar y evolucionar los procesos de experiencia digital y operativa</a:t>
            </a:r>
            <a:r>
              <a:rPr lang="es-MX" sz="750" dirty="0">
                <a:solidFill>
                  <a:schemeClr val="tx1"/>
                </a:solidFill>
              </a:rPr>
              <a:t>, garantizando interacciones integradas de extremo a extremo y habilitando servicios de valor agregado.</a:t>
            </a:r>
          </a:p>
          <a:p>
            <a:pPr fontAlgn="t"/>
            <a:endParaRPr lang="es-MX" sz="7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30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95A3C-993D-CA35-A6C1-C7F9944E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15F316-1B50-4C15-2ED5-F612FDA46A89}"/>
              </a:ext>
            </a:extLst>
          </p:cNvPr>
          <p:cNvSpPr txBox="1"/>
          <p:nvPr/>
        </p:nvSpPr>
        <p:spPr>
          <a:xfrm>
            <a:off x="10430789" y="6345198"/>
            <a:ext cx="1397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Mayo 2026</a:t>
            </a:r>
          </a:p>
        </p:txBody>
      </p:sp>
    </p:spTree>
    <p:extLst>
      <p:ext uri="{BB962C8B-B14F-4D97-AF65-F5344CB8AC3E}">
        <p14:creationId xmlns:p14="http://schemas.microsoft.com/office/powerpoint/2010/main" val="397207852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2267</Words>
  <Application>Microsoft Office PowerPoint</Application>
  <PresentationFormat>Panorámica</PresentationFormat>
  <Paragraphs>108</Paragraphs>
  <Slides>4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Open Sans</vt:lpstr>
      <vt:lpstr>Wingdings</vt:lpstr>
      <vt:lpstr>Tema de Office</vt:lpstr>
      <vt:lpstr>think-cell Slide</vt:lpstr>
      <vt:lpstr>Funciograma  Estrategia y Transformación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Beatriz Adriana Rodríguez Barcenas</dc:creator>
  <cp:lastModifiedBy>Beatriz Adriana Rodríguez Barcenas</cp:lastModifiedBy>
  <cp:revision>1</cp:revision>
  <dcterms:created xsi:type="dcterms:W3CDTF">2026-04-30T17:23:13Z</dcterms:created>
  <dcterms:modified xsi:type="dcterms:W3CDTF">2026-05-05T18:44:45Z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</vt:lpwstr>
  </property>
  <property fmtid="{D5CDD505-2E9C-101B-9397-08002B2CF9AE}" pid="3" name="ClassificationContentMarkingFooterText">
    <vt:lpwstr>OXXO | Uso Interno</vt:lpwstr>
  </property>
</Properties>
</file>