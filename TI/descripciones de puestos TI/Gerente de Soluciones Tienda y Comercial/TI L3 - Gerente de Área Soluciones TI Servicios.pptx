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2.xml"/>
  <Override ContentType="application/vnd.openxmlformats-officedocument.custom-properties+xml" PartName="/docProps/custom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custom-properties" Target="docProps/custom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8" r:id="rId4"/>
  </p:sldMasterIdLst>
  <p:notesMasterIdLst>
    <p:notesMasterId r:id="rId5"/>
  </p:notesMasterIdLst>
  <p:sldIdLst>
    <p:sldId id="256" r:id="rId6"/>
    <p:sldId id="257" r:id="rId7"/>
  </p:sldIdLst>
  <p:sldSz cy="68580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r:id="rId8" roundtripDataSignature="AMtx7mit9HepQ+cdrV27QCslbiMK0kVcbg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7CD829E2-8CF0-486F-9E0B-19665281C3B0}">
  <a:tblStyle styleId="{7CD829E2-8CF0-486F-9E0B-19665281C3B0}" styleName="Table_0">
    <a:wholeTbl>
      <a:tcTxStyle b="off" i="off">
        <a:font>
          <a:latin typeface="Calibri"/>
          <a:ea typeface="Calibri"/>
          <a:cs typeface="Calibri"/>
        </a:font>
        <a:schemeClr val="dk1"/>
      </a:tcTxStyle>
      <a:tcStyle>
        <a:tcBdr>
          <a:left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insideV>
        </a:tcBdr>
        <a:fill>
          <a:solidFill>
            <a:srgbClr val="E8EBF5"/>
          </a:solidFill>
        </a:fill>
      </a:tcStyle>
    </a:wholeTbl>
    <a:band1H>
      <a:tcTxStyle b="off" i="off"/>
      <a:tcStyle>
        <a:fill>
          <a:solidFill>
            <a:srgbClr val="CDD4EA"/>
          </a:solidFill>
        </a:fill>
      </a:tcStyle>
    </a:band1H>
    <a:band2H>
      <a:tcTxStyle b="off" i="off"/>
    </a:band2H>
    <a:band1V>
      <a:tcTxStyle b="off" i="off"/>
      <a:tcStyle>
        <a:fill>
          <a:solidFill>
            <a:srgbClr val="CDD4EA"/>
          </a:solidFill>
        </a:fill>
      </a:tcStyle>
    </a:band1V>
    <a:band2V>
      <a:tcTxStyle b="off" i="off"/>
    </a:band2V>
    <a:lastCol>
      <a:tcTxStyle b="on" i="off">
        <a:font>
          <a:latin typeface="Calibri"/>
          <a:ea typeface="Calibri"/>
          <a:cs typeface="Calibri"/>
        </a:font>
        <a:schemeClr val="lt1"/>
      </a:tcTxStyle>
      <a:tcStyle>
        <a:fill>
          <a:solidFill>
            <a:schemeClr val="accent1"/>
          </a:solidFill>
        </a:fill>
      </a:tcStyle>
    </a:lastCol>
    <a:firstCol>
      <a:tcTxStyle b="on" i="off">
        <a:font>
          <a:latin typeface="Calibri"/>
          <a:ea typeface="Calibri"/>
          <a:cs typeface="Calibri"/>
        </a:font>
        <a:schemeClr val="lt1"/>
      </a:tcTxStyle>
      <a:tcStyle>
        <a:fill>
          <a:solidFill>
            <a:schemeClr val="accent1"/>
          </a:solidFill>
        </a:fill>
      </a:tcStyle>
    </a:firstCol>
    <a:la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top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top>
        </a:tcBdr>
        <a:fill>
          <a:solidFill>
            <a:schemeClr val="accent1"/>
          </a:solidFill>
        </a:fill>
      </a:tcStyle>
    </a:lastRow>
    <a:seCell>
      <a:tcTxStyle b="off" i="off"/>
    </a:seCell>
    <a:swCell>
      <a:tcTxStyle b="off" i="off"/>
    </a:swCell>
    <a:fir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bottom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bottom>
        </a:tcBdr>
        <a:fill>
          <a:solidFill>
            <a:schemeClr val="accent1"/>
          </a:solidFill>
        </a:fill>
      </a:tcStyle>
    </a:firstRow>
    <a:neCell>
      <a:tcTxStyle b="off" i="off"/>
    </a:neCell>
    <a:nwCell>
      <a:tcTxStyle b="off" i="off"/>
    </a:nwCell>
  </a:tblStyle>
  <a:tblStyle styleId="{DCBF44A1-EF82-45DB-8386-DD68FB878DEC}" styleName="Table_1">
    <a:wholeTbl>
      <a:tcTxStyle b="off" i="off">
        <a:font>
          <a:latin typeface="Arial"/>
          <a:ea typeface="Arial"/>
          <a:cs typeface="Arial"/>
        </a:font>
        <a:srgbClr val="000000"/>
      </a:tcTxStyle>
    </a:wholeTbl>
    <a:band1H>
      <a:tcTxStyle b="off" i="off"/>
    </a:band1H>
    <a:band2H>
      <a:tcTxStyle b="off" i="off"/>
    </a:band2H>
    <a:band1V>
      <a:tcTxStyle b="off" i="off"/>
    </a:band1V>
    <a:band2V>
      <a:tcTxStyle b="off" i="off"/>
    </a:band2V>
    <a:lastCol>
      <a:tcTxStyle b="off" i="off"/>
    </a:lastCol>
    <a:firstCol>
      <a:tcTxStyle b="off" i="off"/>
    </a:firstCol>
    <a:lastRow>
      <a:tcTxStyle b="off" i="off"/>
    </a:lastRow>
    <a:seCell>
      <a:tcTxStyle b="off" i="off"/>
    </a:seCell>
    <a:swCell>
      <a:tcTxStyle b="off" i="off"/>
    </a:swCell>
    <a:firstRow>
      <a:tcTxStyle b="off" i="off"/>
    </a:firstRow>
    <a:neCell>
      <a:tcTxStyle b="off" i="off"/>
    </a:neCell>
    <a:nwCell>
      <a:tcTxStyle b="off" i="off"/>
    </a:nwCell>
  </a:tblStyle>
</a:tblStyleLst>
</file>

<file path=ppt/_rels/presentation.xml.rels><?xml version="1.0" encoding="UTF-8" standalone="yes"?>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customschemas.google.com/relationships/presentationmetadata" Target="metadata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1371600" y="1143000"/>
            <a:ext cx="41148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b="0" i="0" lang="es-MX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1:notes"/>
          <p:cNvSpPr/>
          <p:nvPr>
            <p:ph idx="2" type="sldImg"/>
          </p:nvPr>
        </p:nvSpPr>
        <p:spPr>
          <a:xfrm>
            <a:off x="1371600" y="1143000"/>
            <a:ext cx="41148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7" name="Google Shape;87;p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152400" lvl="0" marL="228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lay"/>
              <a:buNone/>
            </a:pPr>
            <a:r>
              <a:t/>
            </a:r>
            <a:endParaRPr/>
          </a:p>
        </p:txBody>
      </p:sp>
      <p:sp>
        <p:nvSpPr>
          <p:cNvPr id="88" name="Google Shape;88;p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b="0" i="0" lang="es-MX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5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p2:notes"/>
          <p:cNvSpPr/>
          <p:nvPr>
            <p:ph idx="2" type="sldImg"/>
          </p:nvPr>
        </p:nvSpPr>
        <p:spPr>
          <a:xfrm>
            <a:off x="1371600" y="1143000"/>
            <a:ext cx="41148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47" name="Google Shape;147;p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s-MX"/>
              <a:t>Modificada </a:t>
            </a:r>
            <a:endParaRPr/>
          </a:p>
        </p:txBody>
      </p:sp>
      <p:sp>
        <p:nvSpPr>
          <p:cNvPr id="148" name="Google Shape;148;p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</a:pPr>
            <a:fld id="{00000000-1234-1234-1234-123412341234}" type="slidenum">
              <a:rPr b="0" i="0" lang="es-MX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idx="10" type="dt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1" type="ftr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MX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ctrTitle"/>
          </p:nvPr>
        </p:nvSpPr>
        <p:spPr>
          <a:xfrm>
            <a:off x="685800" y="1122363"/>
            <a:ext cx="7772400" cy="2387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subTitle"/>
          </p:nvPr>
        </p:nvSpPr>
        <p:spPr>
          <a:xfrm>
            <a:off x="1143000" y="3602038"/>
            <a:ext cx="6858000" cy="16557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/>
        </p:txBody>
      </p:sp>
      <p:sp>
        <p:nvSpPr>
          <p:cNvPr id="23" name="Google Shape;23;p5"/>
          <p:cNvSpPr txBox="1"/>
          <p:nvPr>
            <p:ph idx="10" type="dt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4" name="Google Shape;24;p5"/>
          <p:cNvSpPr txBox="1"/>
          <p:nvPr>
            <p:ph idx="11" type="ftr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5"/>
          <p:cNvSpPr txBox="1"/>
          <p:nvPr>
            <p:ph idx="12" type="sldNum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MX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6" name="Shape 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Google Shape;27;p6"/>
          <p:cNvSpPr txBox="1"/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8" name="Google Shape;28;p6"/>
          <p:cNvSpPr txBox="1"/>
          <p:nvPr>
            <p:ph idx="1" type="body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9" name="Google Shape;29;p6"/>
          <p:cNvSpPr txBox="1"/>
          <p:nvPr>
            <p:ph idx="10" type="dt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0" name="Google Shape;30;p6"/>
          <p:cNvSpPr txBox="1"/>
          <p:nvPr>
            <p:ph idx="11" type="ftr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6"/>
          <p:cNvSpPr txBox="1"/>
          <p:nvPr>
            <p:ph idx="12" type="sldNum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MX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7"/>
          <p:cNvSpPr txBox="1"/>
          <p:nvPr>
            <p:ph type="title"/>
          </p:nvPr>
        </p:nvSpPr>
        <p:spPr>
          <a:xfrm>
            <a:off x="623888" y="1709739"/>
            <a:ext cx="7886700" cy="285273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4" name="Google Shape;34;p7"/>
          <p:cNvSpPr txBox="1"/>
          <p:nvPr>
            <p:ph idx="1" type="body"/>
          </p:nvPr>
        </p:nvSpPr>
        <p:spPr>
          <a:xfrm>
            <a:off x="623888" y="4589464"/>
            <a:ext cx="78867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>
                <a:solidFill>
                  <a:schemeClr val="dk1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5" name="Google Shape;35;p7"/>
          <p:cNvSpPr txBox="1"/>
          <p:nvPr>
            <p:ph idx="10" type="dt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6" name="Google Shape;36;p7"/>
          <p:cNvSpPr txBox="1"/>
          <p:nvPr>
            <p:ph idx="11" type="ftr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7" name="Google Shape;37;p7"/>
          <p:cNvSpPr txBox="1"/>
          <p:nvPr>
            <p:ph idx="12" type="sldNum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MX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8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8"/>
          <p:cNvSpPr txBox="1"/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0" name="Google Shape;40;p8"/>
          <p:cNvSpPr txBox="1"/>
          <p:nvPr>
            <p:ph idx="1" type="body"/>
          </p:nvPr>
        </p:nvSpPr>
        <p:spPr>
          <a:xfrm>
            <a:off x="628650" y="1825625"/>
            <a:ext cx="38862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1" name="Google Shape;41;p8"/>
          <p:cNvSpPr txBox="1"/>
          <p:nvPr>
            <p:ph idx="2" type="body"/>
          </p:nvPr>
        </p:nvSpPr>
        <p:spPr>
          <a:xfrm>
            <a:off x="4629150" y="1825625"/>
            <a:ext cx="38862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2" name="Google Shape;42;p8"/>
          <p:cNvSpPr txBox="1"/>
          <p:nvPr>
            <p:ph idx="10" type="dt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3" name="Google Shape;43;p8"/>
          <p:cNvSpPr txBox="1"/>
          <p:nvPr>
            <p:ph idx="11" type="ftr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4" name="Google Shape;44;p8"/>
          <p:cNvSpPr txBox="1"/>
          <p:nvPr>
            <p:ph idx="12" type="sldNum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MX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9"/>
          <p:cNvSpPr txBox="1"/>
          <p:nvPr>
            <p:ph type="title"/>
          </p:nvPr>
        </p:nvSpPr>
        <p:spPr>
          <a:xfrm>
            <a:off x="629841" y="365126"/>
            <a:ext cx="78867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9"/>
          <p:cNvSpPr txBox="1"/>
          <p:nvPr>
            <p:ph idx="1" type="body"/>
          </p:nvPr>
        </p:nvSpPr>
        <p:spPr>
          <a:xfrm>
            <a:off x="629842" y="1681163"/>
            <a:ext cx="3868340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8" name="Google Shape;48;p9"/>
          <p:cNvSpPr txBox="1"/>
          <p:nvPr>
            <p:ph idx="2" type="body"/>
          </p:nvPr>
        </p:nvSpPr>
        <p:spPr>
          <a:xfrm>
            <a:off x="629842" y="2505075"/>
            <a:ext cx="3868340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9" name="Google Shape;49;p9"/>
          <p:cNvSpPr txBox="1"/>
          <p:nvPr>
            <p:ph idx="3" type="body"/>
          </p:nvPr>
        </p:nvSpPr>
        <p:spPr>
          <a:xfrm>
            <a:off x="4629150" y="1681163"/>
            <a:ext cx="3887391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50" name="Google Shape;50;p9"/>
          <p:cNvSpPr txBox="1"/>
          <p:nvPr>
            <p:ph idx="4" type="body"/>
          </p:nvPr>
        </p:nvSpPr>
        <p:spPr>
          <a:xfrm>
            <a:off x="4629150" y="2505075"/>
            <a:ext cx="3887391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51" name="Google Shape;51;p9"/>
          <p:cNvSpPr txBox="1"/>
          <p:nvPr>
            <p:ph idx="10" type="dt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9"/>
          <p:cNvSpPr txBox="1"/>
          <p:nvPr>
            <p:ph idx="11" type="ftr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9"/>
          <p:cNvSpPr txBox="1"/>
          <p:nvPr>
            <p:ph idx="12" type="sldNum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MX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10"/>
          <p:cNvSpPr txBox="1"/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10"/>
          <p:cNvSpPr txBox="1"/>
          <p:nvPr>
            <p:ph idx="10" type="dt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7" name="Google Shape;57;p10"/>
          <p:cNvSpPr txBox="1"/>
          <p:nvPr>
            <p:ph idx="11" type="ftr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8" name="Google Shape;58;p10"/>
          <p:cNvSpPr txBox="1"/>
          <p:nvPr>
            <p:ph idx="12" type="sldNum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MX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11"/>
          <p:cNvSpPr txBox="1"/>
          <p:nvPr>
            <p:ph type="title"/>
          </p:nvPr>
        </p:nvSpPr>
        <p:spPr>
          <a:xfrm>
            <a:off x="629841" y="457200"/>
            <a:ext cx="2949178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1" name="Google Shape;61;p11"/>
          <p:cNvSpPr txBox="1"/>
          <p:nvPr>
            <p:ph idx="1" type="body"/>
          </p:nvPr>
        </p:nvSpPr>
        <p:spPr>
          <a:xfrm>
            <a:off x="3887391" y="987426"/>
            <a:ext cx="4629150" cy="48736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indent="-3810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indent="-355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indent="-355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62" name="Google Shape;62;p11"/>
          <p:cNvSpPr txBox="1"/>
          <p:nvPr>
            <p:ph idx="2" type="body"/>
          </p:nvPr>
        </p:nvSpPr>
        <p:spPr>
          <a:xfrm>
            <a:off x="629841" y="2057400"/>
            <a:ext cx="2949178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63" name="Google Shape;63;p11"/>
          <p:cNvSpPr txBox="1"/>
          <p:nvPr>
            <p:ph idx="10" type="dt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4" name="Google Shape;64;p11"/>
          <p:cNvSpPr txBox="1"/>
          <p:nvPr>
            <p:ph idx="11" type="ftr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5" name="Google Shape;65;p11"/>
          <p:cNvSpPr txBox="1"/>
          <p:nvPr>
            <p:ph idx="12" type="sldNum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MX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12"/>
          <p:cNvSpPr txBox="1"/>
          <p:nvPr>
            <p:ph type="title"/>
          </p:nvPr>
        </p:nvSpPr>
        <p:spPr>
          <a:xfrm>
            <a:off x="629841" y="457200"/>
            <a:ext cx="2949178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8" name="Google Shape;68;p12"/>
          <p:cNvSpPr/>
          <p:nvPr>
            <p:ph idx="2" type="pic"/>
          </p:nvPr>
        </p:nvSpPr>
        <p:spPr>
          <a:xfrm>
            <a:off x="3887391" y="987426"/>
            <a:ext cx="4629150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69" name="Google Shape;69;p12"/>
          <p:cNvSpPr txBox="1"/>
          <p:nvPr>
            <p:ph idx="1" type="body"/>
          </p:nvPr>
        </p:nvSpPr>
        <p:spPr>
          <a:xfrm>
            <a:off x="629841" y="2057400"/>
            <a:ext cx="2949178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70" name="Google Shape;70;p12"/>
          <p:cNvSpPr txBox="1"/>
          <p:nvPr>
            <p:ph idx="10" type="dt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1" name="Google Shape;71;p12"/>
          <p:cNvSpPr txBox="1"/>
          <p:nvPr>
            <p:ph idx="11" type="ftr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12"/>
          <p:cNvSpPr txBox="1"/>
          <p:nvPr>
            <p:ph idx="12" type="sldNum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MX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p13"/>
          <p:cNvSpPr txBox="1"/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5" name="Google Shape;75;p13"/>
          <p:cNvSpPr txBox="1"/>
          <p:nvPr>
            <p:ph idx="1" type="body"/>
          </p:nvPr>
        </p:nvSpPr>
        <p:spPr>
          <a:xfrm rot="5400000">
            <a:off x="2396331" y="57944"/>
            <a:ext cx="4351338" cy="7886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6" name="Google Shape;76;p13"/>
          <p:cNvSpPr txBox="1"/>
          <p:nvPr>
            <p:ph idx="10" type="dt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7" name="Google Shape;77;p13"/>
          <p:cNvSpPr txBox="1"/>
          <p:nvPr>
            <p:ph idx="11" type="ftr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13"/>
          <p:cNvSpPr txBox="1"/>
          <p:nvPr>
            <p:ph idx="12" type="sldNum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MX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9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p14"/>
          <p:cNvSpPr txBox="1"/>
          <p:nvPr>
            <p:ph type="title"/>
          </p:nvPr>
        </p:nvSpPr>
        <p:spPr>
          <a:xfrm rot="5400000">
            <a:off x="4623594" y="2285207"/>
            <a:ext cx="5811838" cy="197167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1" name="Google Shape;81;p14"/>
          <p:cNvSpPr txBox="1"/>
          <p:nvPr>
            <p:ph idx="1" type="body"/>
          </p:nvPr>
        </p:nvSpPr>
        <p:spPr>
          <a:xfrm rot="5400000">
            <a:off x="623094" y="370681"/>
            <a:ext cx="5811838" cy="58007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82" name="Google Shape;82;p14"/>
          <p:cNvSpPr txBox="1"/>
          <p:nvPr>
            <p:ph idx="10" type="dt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3" name="Google Shape;83;p14"/>
          <p:cNvSpPr txBox="1"/>
          <p:nvPr>
            <p:ph idx="11" type="ftr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4" name="Google Shape;84;p14"/>
          <p:cNvSpPr txBox="1"/>
          <p:nvPr>
            <p:ph idx="12" type="sldNum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MX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3"/>
          <p:cNvSpPr txBox="1"/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1" name="Google Shape;11;p3"/>
          <p:cNvSpPr txBox="1"/>
          <p:nvPr>
            <p:ph idx="1" type="body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2" name="Google Shape;12;p3"/>
          <p:cNvSpPr txBox="1"/>
          <p:nvPr>
            <p:ph idx="10" type="dt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3" name="Google Shape;13;p3"/>
          <p:cNvSpPr txBox="1"/>
          <p:nvPr>
            <p:ph idx="11" type="ftr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4" name="Google Shape;14;p3"/>
          <p:cNvSpPr txBox="1"/>
          <p:nvPr>
            <p:ph idx="12" type="sldNum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MX"/>
              <a:t>‹#›</a:t>
            </a:fld>
            <a:endParaRPr/>
          </a:p>
        </p:txBody>
      </p:sp>
      <p:sp>
        <p:nvSpPr>
          <p:cNvPr id="15" name="Google Shape;15;p3"/>
          <p:cNvSpPr txBox="1"/>
          <p:nvPr/>
        </p:nvSpPr>
        <p:spPr>
          <a:xfrm>
            <a:off x="4059238" y="6642100"/>
            <a:ext cx="1054100" cy="152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es-MX" sz="10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OXXO | Uso Interno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Relationship Id="rId4" Type="http://schemas.openxmlformats.org/officeDocument/2006/relationships/image" Target="../media/image4.png"/><Relationship Id="rId5" Type="http://schemas.openxmlformats.org/officeDocument/2006/relationships/image" Target="../media/image3.png"/><Relationship Id="rId6" Type="http://schemas.openxmlformats.org/officeDocument/2006/relationships/image" Target="../media/image2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1"/>
          <p:cNvSpPr txBox="1"/>
          <p:nvPr/>
        </p:nvSpPr>
        <p:spPr>
          <a:xfrm>
            <a:off x="4619672" y="5272810"/>
            <a:ext cx="4428000" cy="1547090"/>
          </a:xfrm>
          <a:prstGeom prst="rect">
            <a:avLst/>
          </a:prstGeom>
          <a:noFill/>
          <a:ln cap="flat" cmpd="sng" w="9525">
            <a:solidFill>
              <a:srgbClr val="99002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40E27"/>
              </a:buClr>
              <a:buSzPts val="1300"/>
              <a:buFont typeface="Arial"/>
              <a:buNone/>
            </a:pPr>
            <a:r>
              <a:rPr b="1" i="0" lang="es-MX" sz="13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Principales Retos del Puesto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61925" lvl="0" marL="174625" marR="0" rtl="0" algn="just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rgbClr val="840E27"/>
              </a:buClr>
              <a:buSzPts val="1200"/>
              <a:buFont typeface="Noto Sans Symbols"/>
              <a:buChar char="▪"/>
            </a:pPr>
            <a:r>
              <a:rPr lang="es-MX" sz="1200">
                <a:latin typeface="Calibri"/>
                <a:ea typeface="Calibri"/>
                <a:cs typeface="Calibri"/>
                <a:sym typeface="Calibri"/>
              </a:rPr>
              <a:t>Garantizar la seguridad transaccional y alta disponibilidad de servicios que dependen de conexiones externas con múltiples aliados y corresponsales.</a:t>
            </a:r>
            <a:endParaRPr sz="1200">
              <a:latin typeface="Calibri"/>
              <a:ea typeface="Calibri"/>
              <a:cs typeface="Calibri"/>
              <a:sym typeface="Calibri"/>
            </a:endParaRPr>
          </a:p>
          <a:p>
            <a:pPr indent="-161925" lvl="0" marL="174625" marR="0" rtl="0" algn="just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rgbClr val="840E27"/>
              </a:buClr>
              <a:buSzPts val="1200"/>
              <a:buFont typeface="Noto Sans Symbols"/>
              <a:buChar char="▪"/>
            </a:pPr>
            <a:r>
              <a:rPr lang="es-MX" sz="1200">
                <a:latin typeface="Calibri"/>
                <a:ea typeface="Calibri"/>
                <a:cs typeface="Calibri"/>
                <a:sym typeface="Calibri"/>
              </a:rPr>
              <a:t>Mantener el cumplimiento normativo de los procesos transaccionales en un entorno regulatorio en constante evolución, sin afectar la continuidad operativa en tienda.</a:t>
            </a:r>
            <a:endParaRPr sz="1200">
              <a:latin typeface="Calibri"/>
              <a:ea typeface="Calibri"/>
              <a:cs typeface="Calibri"/>
              <a:sym typeface="Calibri"/>
            </a:endParaRPr>
          </a:p>
          <a:p>
            <a:pPr indent="-111125" lvl="0" marL="174625" marR="0" rtl="0" algn="just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rgbClr val="840E27"/>
              </a:buClr>
              <a:buSzPts val="1000"/>
              <a:buFont typeface="Noto Sans Symbols"/>
              <a:buNone/>
            </a:pPr>
            <a:r>
              <a:t/>
            </a:r>
            <a:endParaRPr b="0" i="0" sz="1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11125" lvl="1" marL="574675" marR="0" rtl="0" algn="just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rgbClr val="840E27"/>
              </a:buClr>
              <a:buSzPts val="1000"/>
              <a:buFont typeface="Noto Sans Symbols"/>
              <a:buNone/>
            </a:pPr>
            <a:r>
              <a:t/>
            </a:r>
            <a:endParaRPr b="0" i="0" sz="1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11125" lvl="0" marL="174625" marR="0" rtl="0" algn="just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rgbClr val="840E27"/>
              </a:buClr>
              <a:buSzPts val="1000"/>
              <a:buFont typeface="Noto Sans Symbols"/>
              <a:buNone/>
            </a:pPr>
            <a:r>
              <a:t/>
            </a:r>
            <a:endParaRPr b="0" i="0" sz="10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1" name="Google Shape;91;p1"/>
          <p:cNvSpPr txBox="1"/>
          <p:nvPr/>
        </p:nvSpPr>
        <p:spPr>
          <a:xfrm>
            <a:off x="74103" y="5272810"/>
            <a:ext cx="4440700" cy="1547090"/>
          </a:xfrm>
          <a:prstGeom prst="rect">
            <a:avLst/>
          </a:prstGeom>
          <a:noFill/>
          <a:ln cap="flat" cmpd="sng" w="9525">
            <a:solidFill>
              <a:srgbClr val="99002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40E27"/>
              </a:buClr>
              <a:buSzPts val="1300"/>
              <a:buFont typeface="Arial"/>
              <a:buNone/>
            </a:pPr>
            <a:r>
              <a:rPr b="1" i="0" lang="es-MX" sz="13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Decisiones Relevantes del Puesto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55575" lvl="0" marL="174625" marR="0" rtl="0" algn="just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rgbClr val="840E27"/>
              </a:buClr>
              <a:buSzPts val="1100"/>
              <a:buFont typeface="Noto Sans Symbols"/>
              <a:buChar char="▪"/>
            </a:pPr>
            <a:r>
              <a:rPr lang="es-MX" sz="1100">
                <a:latin typeface="Calibri"/>
                <a:ea typeface="Calibri"/>
                <a:cs typeface="Calibri"/>
                <a:sym typeface="Calibri"/>
              </a:rPr>
              <a:t>Autorización técnica de la activación de nuevos convenios de servicios, evaluando la estabilidad de la conexión con el aliado y el cumplimiento de los protocolos de seguridad requeridos.</a:t>
            </a:r>
            <a:endParaRPr sz="1100">
              <a:latin typeface="Calibri"/>
              <a:ea typeface="Calibri"/>
              <a:cs typeface="Calibri"/>
              <a:sym typeface="Calibri"/>
            </a:endParaRPr>
          </a:p>
          <a:p>
            <a:pPr indent="-155575" lvl="0" marL="174625" marR="0" rtl="0" algn="just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rgbClr val="840E27"/>
              </a:buClr>
              <a:buSzPts val="1100"/>
              <a:buFont typeface="Noto Sans Symbols"/>
              <a:buChar char="▪"/>
            </a:pPr>
            <a:r>
              <a:rPr lang="es-MX" sz="1100">
                <a:latin typeface="Calibri"/>
                <a:ea typeface="Calibri"/>
                <a:cs typeface="Calibri"/>
                <a:sym typeface="Calibri"/>
              </a:rPr>
              <a:t>Validación de protocolos de seguridad y cumplimiento normativo en el flujo de servicios financieros en tienda, determinando si una solución cumple los estándares para operar en producción.</a:t>
            </a:r>
            <a:endParaRPr sz="11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2" name="Google Shape;92;p1"/>
          <p:cNvSpPr txBox="1"/>
          <p:nvPr/>
        </p:nvSpPr>
        <p:spPr>
          <a:xfrm>
            <a:off x="74102" y="1823416"/>
            <a:ext cx="7191449" cy="3418854"/>
          </a:xfrm>
          <a:prstGeom prst="rect">
            <a:avLst/>
          </a:prstGeom>
          <a:noFill/>
          <a:ln cap="flat" cmpd="sng" w="9525">
            <a:solidFill>
              <a:srgbClr val="99002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b="1" lang="es-MX" sz="11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Responsabilidades </a:t>
            </a:r>
            <a:endParaRPr b="1" sz="900">
              <a:latin typeface="Calibri"/>
              <a:ea typeface="Calibri"/>
              <a:cs typeface="Calibri"/>
              <a:sym typeface="Calibri"/>
            </a:endParaRPr>
          </a:p>
          <a:p>
            <a:pPr indent="-174625" lvl="0" marL="174625" marR="0" rtl="0" algn="just">
              <a:lnSpc>
                <a:spcPct val="100000"/>
              </a:lnSpc>
              <a:spcBef>
                <a:spcPts val="160"/>
              </a:spcBef>
              <a:spcAft>
                <a:spcPts val="0"/>
              </a:spcAft>
              <a:buClr>
                <a:srgbClr val="840E27"/>
              </a:buClr>
              <a:buSzPts val="900"/>
              <a:buFont typeface="Calibri"/>
              <a:buAutoNum type="arabicPeriod"/>
            </a:pPr>
            <a:r>
              <a:rPr b="1" lang="es-MX" sz="900">
                <a:latin typeface="Calibri"/>
                <a:ea typeface="Calibri"/>
                <a:cs typeface="Calibri"/>
                <a:sym typeface="Calibri"/>
              </a:rPr>
              <a:t>Documentar y mantener actualizado el backlog de iniciativas y requerimientos del dominio Servicios: priorizando en conjunto con las áreas de Servicios Financieros y el Gerente de Soluciones Tienda y Comercial, para asegurar que el portafolio de evolución responda a las necesidades operativas y comerciales del negocio.</a:t>
            </a:r>
            <a:endParaRPr b="1" sz="900">
              <a:latin typeface="Calibri"/>
              <a:ea typeface="Calibri"/>
              <a:cs typeface="Calibri"/>
              <a:sym typeface="Calibri"/>
            </a:endParaRPr>
          </a:p>
          <a:p>
            <a:pPr indent="-174625" lvl="0" marL="174625" marR="0" rtl="0" algn="just">
              <a:lnSpc>
                <a:spcPct val="100000"/>
              </a:lnSpc>
              <a:spcBef>
                <a:spcPts val="160"/>
              </a:spcBef>
              <a:spcAft>
                <a:spcPts val="0"/>
              </a:spcAft>
              <a:buClr>
                <a:srgbClr val="840E27"/>
              </a:buClr>
              <a:buSzPts val="900"/>
              <a:buFont typeface="Calibri"/>
              <a:buAutoNum type="arabicPeriod"/>
            </a:pPr>
            <a:r>
              <a:rPr b="1" lang="es-MX" sz="900">
                <a:latin typeface="Calibri"/>
                <a:ea typeface="Calibri"/>
                <a:cs typeface="Calibri"/>
                <a:sym typeface="Calibri"/>
              </a:rPr>
              <a:t>Identificar y consolidar las necesidades tecnológicas de las áreas de Servicios Financieros y corresponsales: mediante sesiones de trabajo y análisis de procesos transaccionales, para traducirlas en requerimientos funcionales claros dirigidos a los equipos técnicos y proveedores.</a:t>
            </a:r>
            <a:endParaRPr b="1" sz="900">
              <a:latin typeface="Calibri"/>
              <a:ea typeface="Calibri"/>
              <a:cs typeface="Calibri"/>
              <a:sym typeface="Calibri"/>
            </a:endParaRPr>
          </a:p>
          <a:p>
            <a:pPr indent="-174625" lvl="0" marL="174625" marR="0" rtl="0" algn="just">
              <a:lnSpc>
                <a:spcPct val="100000"/>
              </a:lnSpc>
              <a:spcBef>
                <a:spcPts val="160"/>
              </a:spcBef>
              <a:spcAft>
                <a:spcPts val="0"/>
              </a:spcAft>
              <a:buClr>
                <a:srgbClr val="840E27"/>
              </a:buClr>
              <a:buSzPts val="900"/>
              <a:buFont typeface="Calibri"/>
              <a:buAutoNum type="arabicPeriod"/>
            </a:pPr>
            <a:r>
              <a:rPr b="1" lang="es-MX" sz="900">
                <a:latin typeface="Calibri"/>
                <a:ea typeface="Calibri"/>
                <a:cs typeface="Calibri"/>
                <a:sym typeface="Calibri"/>
              </a:rPr>
              <a:t>Ejecutar el seguimiento del ciclo de vida de las soluciones de servicios financieros en tienda: desde la definición de requerimientos hasta la puesta en producción, alineando con Desarrollo de Soluciones, Arquitectura TI y Operaciones TI para garantizar entregas de calidad con alta disponibilidad.</a:t>
            </a:r>
            <a:endParaRPr b="1" sz="900">
              <a:latin typeface="Calibri"/>
              <a:ea typeface="Calibri"/>
              <a:cs typeface="Calibri"/>
              <a:sym typeface="Calibri"/>
            </a:endParaRPr>
          </a:p>
          <a:p>
            <a:pPr indent="-174625" lvl="0" marL="174625" marR="0" rtl="0" algn="just">
              <a:lnSpc>
                <a:spcPct val="100000"/>
              </a:lnSpc>
              <a:spcBef>
                <a:spcPts val="160"/>
              </a:spcBef>
              <a:spcAft>
                <a:spcPts val="0"/>
              </a:spcAft>
              <a:buClr>
                <a:srgbClr val="840E27"/>
              </a:buClr>
              <a:buSzPts val="900"/>
              <a:buFont typeface="Calibri"/>
              <a:buAutoNum type="arabicPeriod"/>
            </a:pPr>
            <a:r>
              <a:rPr b="1" lang="es-MX" sz="900">
                <a:latin typeface="Calibri"/>
                <a:ea typeface="Calibri"/>
                <a:cs typeface="Calibri"/>
                <a:sym typeface="Calibri"/>
              </a:rPr>
              <a:t>Diseñar y optimizar los flujos de registro y pago de servicios en el POS: simplificando los pasos operativos y reduciendo tiempos de transacción, para que el colaborador pueda ejecutar cobros y envíos de dinero de forma rápida y sin errores.</a:t>
            </a:r>
            <a:endParaRPr b="1" sz="900">
              <a:latin typeface="Calibri"/>
              <a:ea typeface="Calibri"/>
              <a:cs typeface="Calibri"/>
              <a:sym typeface="Calibri"/>
            </a:endParaRPr>
          </a:p>
          <a:p>
            <a:pPr indent="-174625" lvl="0" marL="174625" marR="0" rtl="0" algn="just">
              <a:lnSpc>
                <a:spcPct val="100000"/>
              </a:lnSpc>
              <a:spcBef>
                <a:spcPts val="160"/>
              </a:spcBef>
              <a:spcAft>
                <a:spcPts val="0"/>
              </a:spcAft>
              <a:buClr>
                <a:srgbClr val="840E27"/>
              </a:buClr>
              <a:buSzPts val="900"/>
              <a:buFont typeface="Calibri"/>
              <a:buAutoNum type="arabicPeriod"/>
            </a:pPr>
            <a:r>
              <a:rPr b="1" lang="es-MX" sz="900">
                <a:latin typeface="Calibri"/>
                <a:ea typeface="Calibri"/>
                <a:cs typeface="Calibri"/>
                <a:sym typeface="Calibri"/>
              </a:rPr>
              <a:t>Elaborar la evaluación y validación de soluciones propuestas para el dominio Servicios: verificando protocolos de seguridad, cumplimiento normativo e impacto en la disponibilidad de la plataforma, para apoyar las decisiones del Gerente de Soluciones Tienda y Comercial.</a:t>
            </a:r>
            <a:endParaRPr b="1" sz="900">
              <a:latin typeface="Calibri"/>
              <a:ea typeface="Calibri"/>
              <a:cs typeface="Calibri"/>
              <a:sym typeface="Calibri"/>
            </a:endParaRPr>
          </a:p>
          <a:p>
            <a:pPr indent="-174625" lvl="0" marL="174625" marR="0" rtl="0" algn="just">
              <a:lnSpc>
                <a:spcPct val="100000"/>
              </a:lnSpc>
              <a:spcBef>
                <a:spcPts val="160"/>
              </a:spcBef>
              <a:spcAft>
                <a:spcPts val="0"/>
              </a:spcAft>
              <a:buClr>
                <a:srgbClr val="840E27"/>
              </a:buClr>
              <a:buSzPts val="900"/>
              <a:buFont typeface="Calibri"/>
              <a:buAutoNum type="arabicPeriod"/>
            </a:pPr>
            <a:r>
              <a:rPr b="1" lang="es-MX" sz="900">
                <a:latin typeface="Calibri"/>
                <a:ea typeface="Calibri"/>
                <a:cs typeface="Calibri"/>
                <a:sym typeface="Calibri"/>
              </a:rPr>
              <a:t>Reportar periódicamente los indicadores de desempeño y SLAs de la plataforma de servicios: documentando disponibilidad, incidencias y rechazos transaccionales, para garantizar la continuidad operativa y activar planes de contingencia oportunamente.</a:t>
            </a:r>
            <a:endParaRPr b="1" sz="900">
              <a:latin typeface="Calibri"/>
              <a:ea typeface="Calibri"/>
              <a:cs typeface="Calibri"/>
              <a:sym typeface="Calibri"/>
            </a:endParaRPr>
          </a:p>
          <a:p>
            <a:pPr indent="-174625" lvl="0" marL="174625" marR="0" rtl="0" algn="just">
              <a:lnSpc>
                <a:spcPct val="100000"/>
              </a:lnSpc>
              <a:spcBef>
                <a:spcPts val="160"/>
              </a:spcBef>
              <a:spcAft>
                <a:spcPts val="0"/>
              </a:spcAft>
              <a:buClr>
                <a:srgbClr val="840E27"/>
              </a:buClr>
              <a:buSzPts val="900"/>
              <a:buFont typeface="Calibri"/>
              <a:buAutoNum type="arabicPeriod"/>
            </a:pPr>
            <a:r>
              <a:rPr b="1" lang="es-MX" sz="900">
                <a:latin typeface="Calibri"/>
                <a:ea typeface="Calibri"/>
                <a:cs typeface="Calibri"/>
                <a:sym typeface="Calibri"/>
              </a:rPr>
              <a:t>Implementar junto con aliados y corresponsales los estándares técnicos de conectividad y protocolos de seguridad, verificando el cumplimiento de los acuerdos contractuales y las normativas aplicables en coordinación con Legal y Compliance.</a:t>
            </a:r>
            <a:endParaRPr b="1" sz="900">
              <a:latin typeface="Calibri"/>
              <a:ea typeface="Calibri"/>
              <a:cs typeface="Calibri"/>
              <a:sym typeface="Calibri"/>
            </a:endParaRPr>
          </a:p>
          <a:p>
            <a:pPr indent="-174625" lvl="0" marL="174625" marR="0" rtl="0" algn="just">
              <a:lnSpc>
                <a:spcPct val="100000"/>
              </a:lnSpc>
              <a:spcBef>
                <a:spcPts val="160"/>
              </a:spcBef>
              <a:spcAft>
                <a:spcPts val="0"/>
              </a:spcAft>
              <a:buClr>
                <a:srgbClr val="840E27"/>
              </a:buClr>
              <a:buSzPts val="900"/>
              <a:buFont typeface="Calibri"/>
              <a:buAutoNum type="arabicPeriod"/>
            </a:pPr>
            <a:r>
              <a:rPr b="1" lang="es-MX" sz="900">
                <a:latin typeface="Calibri"/>
                <a:ea typeface="Calibri"/>
                <a:cs typeface="Calibri"/>
                <a:sym typeface="Calibri"/>
              </a:rPr>
              <a:t>Alinear con Arquitectura TI los protocolos de integración y seguridad para la conectividad con terceros, asegurando que las soluciones del dominio sean consistentes con los estándares tecnológicos del ecosistema de OXXO México.</a:t>
            </a:r>
            <a:endParaRPr b="1" sz="900">
              <a:latin typeface="Calibri"/>
              <a:ea typeface="Calibri"/>
              <a:cs typeface="Calibri"/>
              <a:sym typeface="Calibri"/>
            </a:endParaRPr>
          </a:p>
          <a:p>
            <a:pPr indent="-174625" lvl="0" marL="174625" marR="0" rtl="0" algn="just">
              <a:lnSpc>
                <a:spcPct val="100000"/>
              </a:lnSpc>
              <a:spcBef>
                <a:spcPts val="160"/>
              </a:spcBef>
              <a:spcAft>
                <a:spcPts val="0"/>
              </a:spcAft>
              <a:buClr>
                <a:srgbClr val="840E27"/>
              </a:buClr>
              <a:buSzPts val="900"/>
              <a:buFont typeface="Calibri"/>
              <a:buAutoNum type="arabicPeriod"/>
            </a:pPr>
            <a:r>
              <a:rPr b="1" lang="es-MX" sz="900">
                <a:latin typeface="Calibri"/>
                <a:ea typeface="Calibri"/>
                <a:cs typeface="Calibri"/>
                <a:sym typeface="Calibri"/>
              </a:rPr>
              <a:t>Cumplir y promover la aplicación de los procesos y rituales cultura de la Compañía.</a:t>
            </a:r>
            <a:endParaRPr b="1" sz="9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3" name="Google Shape;93;p1"/>
          <p:cNvSpPr txBox="1"/>
          <p:nvPr/>
        </p:nvSpPr>
        <p:spPr>
          <a:xfrm>
            <a:off x="74103" y="969028"/>
            <a:ext cx="7186069" cy="804013"/>
          </a:xfrm>
          <a:prstGeom prst="rect">
            <a:avLst/>
          </a:prstGeom>
          <a:noFill/>
          <a:ln cap="flat" cmpd="sng" w="9525">
            <a:solidFill>
              <a:srgbClr val="99002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1" i="0" lang="es-MX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Propósito del Puesto </a:t>
            </a:r>
            <a:endParaRPr b="0" i="0" sz="12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s-MX" sz="1000">
                <a:latin typeface="Calibri"/>
                <a:ea typeface="Calibri"/>
                <a:cs typeface="Calibri"/>
                <a:sym typeface="Calibri"/>
              </a:rPr>
              <a:t>Gestionar la plataforma tecnológica de servicios financieros y corresponsalías en tienda, siendo el puente entre las áreas de Servicios Financieros, Legal y TI, para asegurar que la tecnología permita una ejecución rápida, segura y de alta disponibilidad de cobros de servicios, envíos de dinero y corresponsalías en la red de tiendas OXXO.</a:t>
            </a:r>
            <a:endParaRPr b="0" i="0" sz="10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4" name="Google Shape;94;p1"/>
          <p:cNvSpPr/>
          <p:nvPr/>
        </p:nvSpPr>
        <p:spPr>
          <a:xfrm>
            <a:off x="4031311" y="6647290"/>
            <a:ext cx="1081378" cy="172610"/>
          </a:xfrm>
          <a:prstGeom prst="rect">
            <a:avLst/>
          </a:prstGeom>
          <a:solidFill>
            <a:schemeClr val="lt1"/>
          </a:solidFill>
          <a:ln cap="flat" cmpd="sng" w="12700">
            <a:solidFill>
              <a:schemeClr val="lt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5" name="Google Shape;95;p1"/>
          <p:cNvSpPr/>
          <p:nvPr/>
        </p:nvSpPr>
        <p:spPr>
          <a:xfrm>
            <a:off x="1" y="0"/>
            <a:ext cx="7223196" cy="850015"/>
          </a:xfrm>
          <a:prstGeom prst="homePlate">
            <a:avLst>
              <a:gd fmla="val 50000" name="adj"/>
            </a:avLst>
          </a:prstGeom>
          <a:solidFill>
            <a:srgbClr val="990021"/>
          </a:solidFill>
          <a:ln cap="flat" cmpd="sng" w="12700">
            <a:solidFill>
              <a:srgbClr val="99002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6" name="Google Shape;96;p1"/>
          <p:cNvSpPr txBox="1"/>
          <p:nvPr/>
        </p:nvSpPr>
        <p:spPr>
          <a:xfrm>
            <a:off x="-25355" y="1"/>
            <a:ext cx="7128791" cy="107981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libri"/>
              <a:buNone/>
            </a:pPr>
            <a:r>
              <a:rPr b="1" i="0" lang="es-MX" sz="1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DESCRIPCIÓN DE PUESTO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1" i="0" lang="es-MX" sz="13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Nombre Puesto: </a:t>
            </a:r>
            <a:r>
              <a:rPr b="1" lang="es-MX" sz="13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Gerente de Área Soluciones TI Servicios</a:t>
            </a:r>
            <a:endParaRPr b="1" i="0" sz="13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1" i="0" lang="es-MX" sz="13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Nombre Puesto Jefe Directo: </a:t>
            </a:r>
            <a:r>
              <a:rPr b="1" i="0" lang="es-MX" sz="13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Gerente de Soluciones Tienda y Comercial</a:t>
            </a:r>
            <a:endParaRPr b="1" i="0" sz="13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1" i="0" lang="es-MX" sz="13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Área Funcional: TI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97" name="Google Shape;97;p1"/>
          <p:cNvGrpSpPr/>
          <p:nvPr/>
        </p:nvGrpSpPr>
        <p:grpSpPr>
          <a:xfrm>
            <a:off x="7332180" y="969028"/>
            <a:ext cx="1728192" cy="1717735"/>
            <a:chOff x="7319480" y="969028"/>
            <a:chExt cx="1728192" cy="1717735"/>
          </a:xfrm>
        </p:grpSpPr>
        <p:sp>
          <p:nvSpPr>
            <p:cNvPr id="98" name="Google Shape;98;p1"/>
            <p:cNvSpPr/>
            <p:nvPr/>
          </p:nvSpPr>
          <p:spPr>
            <a:xfrm>
              <a:off x="7319480" y="969028"/>
              <a:ext cx="1728192" cy="1717735"/>
            </a:xfrm>
            <a:prstGeom prst="rect">
              <a:avLst/>
            </a:prstGeom>
            <a:noFill/>
            <a:ln cap="flat" cmpd="sng" w="9525">
              <a:solidFill>
                <a:srgbClr val="99002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9" name="Google Shape;99;p1"/>
            <p:cNvSpPr txBox="1"/>
            <p:nvPr/>
          </p:nvSpPr>
          <p:spPr>
            <a:xfrm>
              <a:off x="7319480" y="969028"/>
              <a:ext cx="1728192" cy="276999"/>
            </a:xfrm>
            <a:prstGeom prst="rect">
              <a:avLst/>
            </a:prstGeom>
            <a:noFill/>
            <a:ln cap="flat" cmpd="sng" w="9525">
              <a:solidFill>
                <a:srgbClr val="99002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Calibri"/>
                <a:buNone/>
              </a:pPr>
              <a:r>
                <a:rPr b="1" i="0" lang="es-MX" sz="12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Herramientas Puesto: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pic>
        <p:nvPicPr>
          <p:cNvPr descr="https://d30y9cdsu7xlg0.cloudfront.net/png/1999-200.png" id="100" name="Google Shape;100;p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806892" y="1248360"/>
            <a:ext cx="245644" cy="245644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https://d30y9cdsu7xlg0.cloudfront.net/png/41085-200.png" id="101" name="Google Shape;101;p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812360" y="1993705"/>
            <a:ext cx="175626" cy="17562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https://d30y9cdsu7xlg0.cloudfront.net/png/1335-200.png" id="102" name="Google Shape;102;p1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7812360" y="1729358"/>
            <a:ext cx="262955" cy="26295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https://d30y9cdsu7xlg0.cloudfront.net/png/131938-200.png" id="103" name="Google Shape;103;p1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7812360" y="1483752"/>
            <a:ext cx="235520" cy="235520"/>
          </a:xfrm>
          <a:prstGeom prst="rect">
            <a:avLst/>
          </a:prstGeom>
          <a:noFill/>
          <a:ln>
            <a:noFill/>
          </a:ln>
        </p:spPr>
      </p:pic>
      <p:sp>
        <p:nvSpPr>
          <p:cNvPr id="104" name="Google Shape;104;p1"/>
          <p:cNvSpPr/>
          <p:nvPr/>
        </p:nvSpPr>
        <p:spPr>
          <a:xfrm>
            <a:off x="7459294" y="1300701"/>
            <a:ext cx="281058" cy="140962"/>
          </a:xfrm>
          <a:prstGeom prst="rect">
            <a:avLst/>
          </a:prstGeom>
          <a:noFill/>
          <a:ln cap="flat" cmpd="sng" w="12700">
            <a:solidFill>
              <a:srgbClr val="99002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5" name="Google Shape;105;p1"/>
          <p:cNvSpPr txBox="1"/>
          <p:nvPr/>
        </p:nvSpPr>
        <p:spPr>
          <a:xfrm>
            <a:off x="8065788" y="1248072"/>
            <a:ext cx="754684" cy="24622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Calibri"/>
              <a:buNone/>
            </a:pPr>
            <a:r>
              <a:rPr b="0" i="1" lang="es-MX" sz="10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Laptop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6" name="Google Shape;106;p1"/>
          <p:cNvSpPr txBox="1"/>
          <p:nvPr/>
        </p:nvSpPr>
        <p:spPr>
          <a:xfrm>
            <a:off x="8065788" y="1478402"/>
            <a:ext cx="754684" cy="24622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Calibri"/>
              <a:buNone/>
            </a:pPr>
            <a:r>
              <a:rPr b="0" i="1" lang="es-MX" sz="10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Escritorio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7" name="Google Shape;107;p1"/>
          <p:cNvSpPr txBox="1"/>
          <p:nvPr/>
        </p:nvSpPr>
        <p:spPr>
          <a:xfrm>
            <a:off x="8065788" y="1737725"/>
            <a:ext cx="788195" cy="24622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Calibri"/>
              <a:buNone/>
            </a:pPr>
            <a:r>
              <a:rPr b="0" i="1" lang="es-MX" sz="10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Auto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8" name="Google Shape;108;p1"/>
          <p:cNvSpPr txBox="1"/>
          <p:nvPr/>
        </p:nvSpPr>
        <p:spPr>
          <a:xfrm>
            <a:off x="8065788" y="1958408"/>
            <a:ext cx="788195" cy="24622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Calibri"/>
              <a:buNone/>
            </a:pPr>
            <a:r>
              <a:rPr b="0" i="1" lang="es-MX" sz="10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Celular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9" name="Google Shape;109;p1"/>
          <p:cNvSpPr/>
          <p:nvPr/>
        </p:nvSpPr>
        <p:spPr>
          <a:xfrm>
            <a:off x="7422041" y="3118872"/>
            <a:ext cx="246303" cy="97921"/>
          </a:xfrm>
          <a:prstGeom prst="rect">
            <a:avLst/>
          </a:prstGeom>
          <a:noFill/>
          <a:ln cap="flat" cmpd="sng" w="12700">
            <a:solidFill>
              <a:srgbClr val="99002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0" name="Google Shape;110;p1"/>
          <p:cNvSpPr txBox="1"/>
          <p:nvPr/>
        </p:nvSpPr>
        <p:spPr>
          <a:xfrm>
            <a:off x="7622365" y="3060110"/>
            <a:ext cx="456850" cy="21544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Calibri"/>
              <a:buNone/>
            </a:pPr>
            <a:r>
              <a:rPr b="0" i="1" lang="es-MX" sz="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VPN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1" name="Google Shape;111;p1"/>
          <p:cNvSpPr txBox="1"/>
          <p:nvPr/>
        </p:nvSpPr>
        <p:spPr>
          <a:xfrm>
            <a:off x="8388424" y="3060110"/>
            <a:ext cx="754684" cy="21544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Calibri"/>
              <a:buNone/>
            </a:pPr>
            <a:r>
              <a:rPr b="0" i="1" lang="es-MX" sz="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Internet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2" name="Google Shape;112;p1"/>
          <p:cNvSpPr/>
          <p:nvPr/>
        </p:nvSpPr>
        <p:spPr>
          <a:xfrm>
            <a:off x="7422705" y="3360358"/>
            <a:ext cx="244974" cy="97921"/>
          </a:xfrm>
          <a:prstGeom prst="rect">
            <a:avLst/>
          </a:prstGeom>
          <a:noFill/>
          <a:ln cap="flat" cmpd="sng" w="12700">
            <a:solidFill>
              <a:srgbClr val="99002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3" name="Google Shape;113;p1"/>
          <p:cNvSpPr txBox="1"/>
          <p:nvPr/>
        </p:nvSpPr>
        <p:spPr>
          <a:xfrm>
            <a:off x="7622365" y="3301596"/>
            <a:ext cx="456850" cy="21544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Calibri"/>
              <a:buNone/>
            </a:pPr>
            <a:r>
              <a:rPr b="0" i="1" lang="es-MX" sz="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BI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4" name="Google Shape;114;p1"/>
          <p:cNvSpPr txBox="1"/>
          <p:nvPr/>
        </p:nvSpPr>
        <p:spPr>
          <a:xfrm>
            <a:off x="8388424" y="3305090"/>
            <a:ext cx="754684" cy="21544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Calibri"/>
              <a:buNone/>
            </a:pPr>
            <a:r>
              <a:rPr b="0" i="1" lang="es-MX" sz="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SAP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5" name="Google Shape;115;p1"/>
          <p:cNvSpPr/>
          <p:nvPr/>
        </p:nvSpPr>
        <p:spPr>
          <a:xfrm>
            <a:off x="7422705" y="3627593"/>
            <a:ext cx="244974" cy="97921"/>
          </a:xfrm>
          <a:prstGeom prst="rect">
            <a:avLst/>
          </a:prstGeom>
          <a:noFill/>
          <a:ln cap="flat" cmpd="sng" w="12700">
            <a:solidFill>
              <a:srgbClr val="99002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6" name="Google Shape;116;p1"/>
          <p:cNvSpPr txBox="1"/>
          <p:nvPr/>
        </p:nvSpPr>
        <p:spPr>
          <a:xfrm>
            <a:off x="7622365" y="3568831"/>
            <a:ext cx="475106" cy="21544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Calibri"/>
              <a:buNone/>
            </a:pPr>
            <a:r>
              <a:rPr b="0" i="1" lang="es-MX" sz="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Retek</a:t>
            </a:r>
            <a:endParaRPr b="0" i="1" sz="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7" name="Google Shape;117;p1"/>
          <p:cNvSpPr txBox="1"/>
          <p:nvPr/>
        </p:nvSpPr>
        <p:spPr>
          <a:xfrm>
            <a:off x="8388424" y="3545582"/>
            <a:ext cx="754684" cy="21544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Calibri"/>
              <a:buNone/>
            </a:pPr>
            <a:r>
              <a:rPr b="0" i="1" lang="es-MX" sz="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Oracle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8" name="Google Shape;118;p1"/>
          <p:cNvSpPr/>
          <p:nvPr/>
        </p:nvSpPr>
        <p:spPr>
          <a:xfrm>
            <a:off x="7422705" y="3852614"/>
            <a:ext cx="244974" cy="97921"/>
          </a:xfrm>
          <a:prstGeom prst="rect">
            <a:avLst/>
          </a:prstGeom>
          <a:noFill/>
          <a:ln cap="flat" cmpd="sng" w="12700">
            <a:solidFill>
              <a:srgbClr val="99002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9" name="Google Shape;119;p1"/>
          <p:cNvSpPr txBox="1"/>
          <p:nvPr/>
        </p:nvSpPr>
        <p:spPr>
          <a:xfrm>
            <a:off x="7622365" y="3793852"/>
            <a:ext cx="469555" cy="21544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Calibri"/>
              <a:buNone/>
            </a:pPr>
            <a:r>
              <a:rPr b="0" i="1" lang="es-MX" sz="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SIV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0" name="Google Shape;120;p1"/>
          <p:cNvSpPr/>
          <p:nvPr/>
        </p:nvSpPr>
        <p:spPr>
          <a:xfrm>
            <a:off x="8180361" y="3118872"/>
            <a:ext cx="246303" cy="97921"/>
          </a:xfrm>
          <a:prstGeom prst="rect">
            <a:avLst/>
          </a:prstGeom>
          <a:noFill/>
          <a:ln cap="flat" cmpd="sng" w="12700">
            <a:solidFill>
              <a:srgbClr val="99002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1" name="Google Shape;121;p1"/>
          <p:cNvSpPr/>
          <p:nvPr/>
        </p:nvSpPr>
        <p:spPr>
          <a:xfrm>
            <a:off x="8181025" y="3359639"/>
            <a:ext cx="244974" cy="97921"/>
          </a:xfrm>
          <a:prstGeom prst="rect">
            <a:avLst/>
          </a:prstGeom>
          <a:noFill/>
          <a:ln cap="flat" cmpd="sng" w="12700">
            <a:solidFill>
              <a:srgbClr val="99002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2" name="Google Shape;122;p1"/>
          <p:cNvSpPr/>
          <p:nvPr/>
        </p:nvSpPr>
        <p:spPr>
          <a:xfrm>
            <a:off x="8181025" y="3600406"/>
            <a:ext cx="244974" cy="97921"/>
          </a:xfrm>
          <a:prstGeom prst="rect">
            <a:avLst/>
          </a:prstGeom>
          <a:noFill/>
          <a:ln cap="flat" cmpd="sng" w="12700">
            <a:solidFill>
              <a:srgbClr val="99002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123" name="Google Shape;123;p1"/>
          <p:cNvGrpSpPr/>
          <p:nvPr/>
        </p:nvGrpSpPr>
        <p:grpSpPr>
          <a:xfrm>
            <a:off x="7332180" y="2769544"/>
            <a:ext cx="1728192" cy="1547090"/>
            <a:chOff x="7319480" y="2769544"/>
            <a:chExt cx="1728192" cy="2268000"/>
          </a:xfrm>
        </p:grpSpPr>
        <p:sp>
          <p:nvSpPr>
            <p:cNvPr id="124" name="Google Shape;124;p1"/>
            <p:cNvSpPr txBox="1"/>
            <p:nvPr/>
          </p:nvSpPr>
          <p:spPr>
            <a:xfrm>
              <a:off x="7322014" y="2769544"/>
              <a:ext cx="1723124" cy="276999"/>
            </a:xfrm>
            <a:prstGeom prst="rect">
              <a:avLst/>
            </a:prstGeom>
            <a:noFill/>
            <a:ln cap="flat" cmpd="sng" w="9525">
              <a:solidFill>
                <a:srgbClr val="99002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Calibri"/>
                <a:buNone/>
              </a:pPr>
              <a:r>
                <a:rPr b="1" i="0" lang="es-MX" sz="12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Sistemas / Software: 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5" name="Google Shape;125;p1"/>
            <p:cNvSpPr/>
            <p:nvPr/>
          </p:nvSpPr>
          <p:spPr>
            <a:xfrm>
              <a:off x="7319480" y="2769544"/>
              <a:ext cx="1728192" cy="2268000"/>
            </a:xfrm>
            <a:prstGeom prst="rect">
              <a:avLst/>
            </a:prstGeom>
            <a:noFill/>
            <a:ln cap="flat" cmpd="sng" w="9525">
              <a:solidFill>
                <a:srgbClr val="99002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26" name="Google Shape;126;p1"/>
          <p:cNvSpPr txBox="1"/>
          <p:nvPr/>
        </p:nvSpPr>
        <p:spPr>
          <a:xfrm>
            <a:off x="8388424" y="3784461"/>
            <a:ext cx="754684" cy="21544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Calibri"/>
              <a:buNone/>
            </a:pPr>
            <a:r>
              <a:rPr b="0" i="1" lang="es-MX" sz="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Autocad</a:t>
            </a:r>
            <a:endParaRPr b="0" i="1" sz="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7" name="Google Shape;127;p1"/>
          <p:cNvSpPr/>
          <p:nvPr/>
        </p:nvSpPr>
        <p:spPr>
          <a:xfrm>
            <a:off x="8181025" y="3841173"/>
            <a:ext cx="244974" cy="97921"/>
          </a:xfrm>
          <a:prstGeom prst="rect">
            <a:avLst/>
          </a:prstGeom>
          <a:noFill/>
          <a:ln cap="flat" cmpd="sng" w="12700">
            <a:solidFill>
              <a:srgbClr val="99002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8" name="Google Shape;128;p1"/>
          <p:cNvSpPr/>
          <p:nvPr/>
        </p:nvSpPr>
        <p:spPr>
          <a:xfrm>
            <a:off x="7422705" y="4082520"/>
            <a:ext cx="244974" cy="97921"/>
          </a:xfrm>
          <a:prstGeom prst="rect">
            <a:avLst/>
          </a:prstGeom>
          <a:noFill/>
          <a:ln cap="flat" cmpd="sng" w="12700">
            <a:solidFill>
              <a:srgbClr val="99002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29" name="Google Shape;129;p1"/>
          <p:cNvCxnSpPr/>
          <p:nvPr/>
        </p:nvCxnSpPr>
        <p:spPr>
          <a:xfrm flipH="1" rot="10800000">
            <a:off x="7705019" y="4210996"/>
            <a:ext cx="441701" cy="1"/>
          </a:xfrm>
          <a:prstGeom prst="straightConnector1">
            <a:avLst/>
          </a:prstGeom>
          <a:noFill/>
          <a:ln cap="flat" cmpd="sng" w="9525">
            <a:solidFill>
              <a:srgbClr val="990021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130" name="Google Shape;130;p1"/>
          <p:cNvSpPr/>
          <p:nvPr/>
        </p:nvSpPr>
        <p:spPr>
          <a:xfrm>
            <a:off x="8181025" y="4081940"/>
            <a:ext cx="244974" cy="97921"/>
          </a:xfrm>
          <a:prstGeom prst="rect">
            <a:avLst/>
          </a:prstGeom>
          <a:noFill/>
          <a:ln cap="flat" cmpd="sng" w="12700">
            <a:solidFill>
              <a:srgbClr val="99002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31" name="Google Shape;131;p1"/>
          <p:cNvCxnSpPr/>
          <p:nvPr/>
        </p:nvCxnSpPr>
        <p:spPr>
          <a:xfrm flipH="1" rot="10800000">
            <a:off x="8462182" y="4210996"/>
            <a:ext cx="441701" cy="1"/>
          </a:xfrm>
          <a:prstGeom prst="straightConnector1">
            <a:avLst/>
          </a:prstGeom>
          <a:noFill/>
          <a:ln cap="flat" cmpd="sng" w="9525">
            <a:solidFill>
              <a:srgbClr val="990021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132" name="Google Shape;132;p1"/>
          <p:cNvSpPr/>
          <p:nvPr/>
        </p:nvSpPr>
        <p:spPr>
          <a:xfrm>
            <a:off x="7459294" y="1536672"/>
            <a:ext cx="281058" cy="140962"/>
          </a:xfrm>
          <a:prstGeom prst="rect">
            <a:avLst/>
          </a:prstGeom>
          <a:solidFill>
            <a:schemeClr val="lt1"/>
          </a:solidFill>
          <a:ln cap="flat" cmpd="sng" w="12700">
            <a:solidFill>
              <a:srgbClr val="99002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3" name="Google Shape;133;p1"/>
          <p:cNvSpPr/>
          <p:nvPr/>
        </p:nvSpPr>
        <p:spPr>
          <a:xfrm>
            <a:off x="7459294" y="1773041"/>
            <a:ext cx="281058" cy="140962"/>
          </a:xfrm>
          <a:prstGeom prst="rect">
            <a:avLst/>
          </a:prstGeom>
          <a:solidFill>
            <a:schemeClr val="lt1"/>
          </a:solidFill>
          <a:ln cap="flat" cmpd="sng" w="12700">
            <a:solidFill>
              <a:srgbClr val="99002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4" name="Google Shape;134;p1"/>
          <p:cNvSpPr/>
          <p:nvPr/>
        </p:nvSpPr>
        <p:spPr>
          <a:xfrm>
            <a:off x="7459294" y="2009410"/>
            <a:ext cx="281058" cy="140962"/>
          </a:xfrm>
          <a:prstGeom prst="rect">
            <a:avLst/>
          </a:prstGeom>
          <a:noFill/>
          <a:ln cap="flat" cmpd="sng" w="12700">
            <a:solidFill>
              <a:srgbClr val="99002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5" name="Google Shape;135;p1"/>
          <p:cNvSpPr/>
          <p:nvPr/>
        </p:nvSpPr>
        <p:spPr>
          <a:xfrm>
            <a:off x="7459294" y="2245779"/>
            <a:ext cx="281058" cy="140962"/>
          </a:xfrm>
          <a:prstGeom prst="rect">
            <a:avLst/>
          </a:prstGeom>
          <a:noFill/>
          <a:ln cap="flat" cmpd="sng" w="12700">
            <a:solidFill>
              <a:srgbClr val="99002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6" name="Google Shape;136;p1"/>
          <p:cNvSpPr/>
          <p:nvPr/>
        </p:nvSpPr>
        <p:spPr>
          <a:xfrm>
            <a:off x="7459294" y="2482149"/>
            <a:ext cx="281058" cy="140962"/>
          </a:xfrm>
          <a:prstGeom prst="rect">
            <a:avLst/>
          </a:prstGeom>
          <a:noFill/>
          <a:ln cap="flat" cmpd="sng" w="12700">
            <a:solidFill>
              <a:srgbClr val="99002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37" name="Google Shape;137;p1"/>
          <p:cNvCxnSpPr/>
          <p:nvPr/>
        </p:nvCxnSpPr>
        <p:spPr>
          <a:xfrm flipH="1" rot="10800000">
            <a:off x="7806891" y="2431240"/>
            <a:ext cx="1152000" cy="1"/>
          </a:xfrm>
          <a:prstGeom prst="straightConnector1">
            <a:avLst/>
          </a:prstGeom>
          <a:noFill/>
          <a:ln cap="flat" cmpd="sng" w="9525">
            <a:solidFill>
              <a:srgbClr val="99002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138" name="Google Shape;138;p1"/>
          <p:cNvCxnSpPr/>
          <p:nvPr/>
        </p:nvCxnSpPr>
        <p:spPr>
          <a:xfrm flipH="1" rot="10800000">
            <a:off x="7806891" y="2650334"/>
            <a:ext cx="1152000" cy="1"/>
          </a:xfrm>
          <a:prstGeom prst="straightConnector1">
            <a:avLst/>
          </a:prstGeom>
          <a:noFill/>
          <a:ln cap="flat" cmpd="sng" w="9525">
            <a:solidFill>
              <a:srgbClr val="990021"/>
            </a:solidFill>
            <a:prstDash val="solid"/>
            <a:miter lim="800000"/>
            <a:headEnd len="sm" w="sm" type="none"/>
            <a:tailEnd len="sm" w="sm" type="none"/>
          </a:ln>
        </p:spPr>
      </p:cxnSp>
      <p:graphicFrame>
        <p:nvGraphicFramePr>
          <p:cNvPr id="139" name="Google Shape;139;p1"/>
          <p:cNvGraphicFramePr/>
          <p:nvPr/>
        </p:nvGraphicFramePr>
        <p:xfrm>
          <a:off x="7332179" y="4418248"/>
          <a:ext cx="3000000" cy="3000000"/>
        </p:xfrm>
        <a:graphic>
          <a:graphicData uri="http://schemas.openxmlformats.org/drawingml/2006/table">
            <a:tbl>
              <a:tblPr>
                <a:noFill/>
                <a:tableStyleId>{7CD829E2-8CF0-486F-9E0B-19665281C3B0}</a:tableStyleId>
              </a:tblPr>
              <a:tblGrid>
                <a:gridCol w="1732525"/>
              </a:tblGrid>
              <a:tr h="7909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b="1" lang="es-MX" sz="1100" u="none" cap="none" strike="noStrike"/>
                        <a:t>NOTA IMPORTANTE</a:t>
                      </a:r>
                      <a:r>
                        <a:rPr lang="es-MX" sz="1100" u="none" cap="none" strike="noStrike"/>
                        <a:t>: Toda herramienta o software que impacte en gasto, estará sujeta a autorización.</a:t>
                      </a:r>
                      <a:endParaRPr b="1" i="0" sz="1100" u="none" cap="none" strike="noStrik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0" marL="0" anchor="ctr">
                    <a:solidFill>
                      <a:srgbClr val="F2F2F2"/>
                    </a:solidFill>
                  </a:tcPr>
                </a:tc>
              </a:tr>
            </a:tbl>
          </a:graphicData>
        </a:graphic>
      </p:graphicFrame>
      <p:sp>
        <p:nvSpPr>
          <p:cNvPr id="140" name="Google Shape;140;p1"/>
          <p:cNvSpPr txBox="1"/>
          <p:nvPr/>
        </p:nvSpPr>
        <p:spPr>
          <a:xfrm>
            <a:off x="7369146" y="1230169"/>
            <a:ext cx="506437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</a:pPr>
            <a:r>
              <a:rPr b="0" i="0" lang="es-MX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X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1" name="Google Shape;141;p1"/>
          <p:cNvSpPr txBox="1"/>
          <p:nvPr/>
        </p:nvSpPr>
        <p:spPr>
          <a:xfrm>
            <a:off x="8050302" y="3005125"/>
            <a:ext cx="506400" cy="276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</a:pPr>
            <a:r>
              <a:rPr b="0" i="0" lang="es-MX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X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2" name="Google Shape;142;p1"/>
          <p:cNvSpPr txBox="1"/>
          <p:nvPr/>
        </p:nvSpPr>
        <p:spPr>
          <a:xfrm>
            <a:off x="8050317" y="3283730"/>
            <a:ext cx="506400" cy="276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</a:pPr>
            <a:r>
              <a:rPr b="0" i="0" lang="es-MX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X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3" name="Google Shape;143;p1"/>
          <p:cNvSpPr txBox="1"/>
          <p:nvPr/>
        </p:nvSpPr>
        <p:spPr>
          <a:xfrm>
            <a:off x="7459294" y="151075"/>
            <a:ext cx="1499597" cy="64633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s-MX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Colocar logo de ProxyLogis</a:t>
            </a:r>
            <a:endParaRPr b="1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4" name="Google Shape;144;p1"/>
          <p:cNvSpPr txBox="1"/>
          <p:nvPr/>
        </p:nvSpPr>
        <p:spPr>
          <a:xfrm>
            <a:off x="7291990" y="3283725"/>
            <a:ext cx="506400" cy="276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</a:pPr>
            <a:r>
              <a:rPr b="0" i="0" lang="es-MX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X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9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p2"/>
          <p:cNvSpPr txBox="1"/>
          <p:nvPr/>
        </p:nvSpPr>
        <p:spPr>
          <a:xfrm>
            <a:off x="4620903" y="3704137"/>
            <a:ext cx="4392000" cy="1056303"/>
          </a:xfrm>
          <a:prstGeom prst="rect">
            <a:avLst/>
          </a:prstGeom>
          <a:noFill/>
          <a:ln cap="flat" cmpd="sng" w="9525">
            <a:solidFill>
              <a:srgbClr val="99002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40E27"/>
              </a:buClr>
              <a:buSzPts val="1200"/>
              <a:buFont typeface="Arial"/>
              <a:buNone/>
            </a:pPr>
            <a:r>
              <a:rPr b="1" i="0" lang="es-MX" sz="1200" u="sng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Estructura Organizacional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54600" lvl="0" marL="342900" marR="0" rtl="0" algn="just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rgbClr val="840E27"/>
              </a:buClr>
              <a:buSzPts val="800"/>
              <a:buFont typeface="Arial"/>
              <a:buChar char="•"/>
            </a:pPr>
            <a:r>
              <a:rPr b="1" i="0" lang="es-MX" sz="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Reportes Directos: </a:t>
            </a:r>
            <a:endParaRPr b="0" i="0" sz="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54600" lvl="0" marL="342900" marR="0" rtl="0" algn="just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rgbClr val="840E27"/>
              </a:buClr>
              <a:buSzPts val="800"/>
              <a:buFont typeface="Arial"/>
              <a:buChar char="•"/>
            </a:pPr>
            <a:r>
              <a:rPr b="1" i="0" lang="es-MX" sz="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Pares: </a:t>
            </a:r>
            <a:r>
              <a:rPr lang="es-MX" sz="800">
                <a:latin typeface="Calibri"/>
                <a:ea typeface="Calibri"/>
                <a:cs typeface="Calibri"/>
                <a:sym typeface="Calibri"/>
              </a:rPr>
              <a:t>Gerente de Área Soluciones TI Mercaderías, Gerente de Área Soluciones TI POS, Responsable Soluciones Operaciones, Responsable Soluciones Precios y Promociones</a:t>
            </a:r>
            <a:endParaRPr b="0" i="0" sz="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just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rgbClr val="840E27"/>
              </a:buClr>
              <a:buSzPts val="1200"/>
              <a:buFont typeface="Arial"/>
              <a:buNone/>
            </a:pPr>
            <a:r>
              <a:rPr b="1" i="0" lang="es-MX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 b="0" i="0" sz="105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151" name="Google Shape;151;p2"/>
          <p:cNvGraphicFramePr/>
          <p:nvPr/>
        </p:nvGraphicFramePr>
        <p:xfrm>
          <a:off x="59500" y="1064578"/>
          <a:ext cx="3000000" cy="3000000"/>
        </p:xfrm>
        <a:graphic>
          <a:graphicData uri="http://schemas.openxmlformats.org/drawingml/2006/table">
            <a:tbl>
              <a:tblPr>
                <a:noFill/>
                <a:tableStyleId>{DCBF44A1-EF82-45DB-8386-DD68FB878DEC}</a:tableStyleId>
              </a:tblPr>
              <a:tblGrid>
                <a:gridCol w="156200"/>
                <a:gridCol w="3028425"/>
                <a:gridCol w="4270850"/>
                <a:gridCol w="1320075"/>
              </a:tblGrid>
              <a:tr h="4122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b="0" i="0" lang="es-MX" sz="9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 a</a:t>
                      </a:r>
                      <a:endParaRPr sz="1400" u="none" cap="none" strike="noStrike"/>
                    </a:p>
                  </a:txBody>
                  <a:tcPr marT="9525" marB="0" marR="9525" marL="9525" anchor="b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b="1" i="0" lang="es-MX" sz="1000" u="none" cap="none" strike="noStrike">
                          <a:solidFill>
                            <a:srgbClr val="000000"/>
                          </a:solidFill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Puesto/ Área</a:t>
                      </a:r>
                      <a:endParaRPr b="1" i="0" sz="1000" u="none" cap="none" strike="noStrike">
                        <a:solidFill>
                          <a:srgbClr val="000000"/>
                        </a:solidFill>
                        <a:latin typeface="Verdana"/>
                        <a:ea typeface="Verdana"/>
                        <a:cs typeface="Verdana"/>
                        <a:sym typeface="Verdana"/>
                      </a:endParaRPr>
                    </a:p>
                  </a:txBody>
                  <a:tcPr marT="9525" marB="0" marR="9525" marL="9525" anchor="ctr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BFBFB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b="1" i="0" lang="es-MX" sz="1000" u="none" cap="none" strike="noStrike">
                          <a:solidFill>
                            <a:srgbClr val="000000"/>
                          </a:solidFill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Objetivo Relación: </a:t>
                      </a:r>
                      <a:endParaRPr b="1" i="0" sz="1000" u="none" cap="none" strike="noStrike">
                        <a:solidFill>
                          <a:srgbClr val="000000"/>
                        </a:solidFill>
                        <a:latin typeface="Verdana"/>
                        <a:ea typeface="Verdana"/>
                        <a:cs typeface="Verdana"/>
                        <a:sym typeface="Verdana"/>
                      </a:endParaRPr>
                    </a:p>
                  </a:txBody>
                  <a:tcPr marT="9525" marB="0" marR="9525" marL="9525" anchor="ctr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BFBFB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b="1" i="0" lang="es-MX" sz="1000" u="none" cap="none" strike="noStrike">
                          <a:solidFill>
                            <a:srgbClr val="000000"/>
                          </a:solidFill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Frecuencia:</a:t>
                      </a:r>
                      <a:endParaRPr sz="1400" u="none" cap="none" strike="noStrike"/>
                    </a:p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600"/>
                        <a:buFont typeface="Arial"/>
                        <a:buNone/>
                      </a:pPr>
                      <a:r>
                        <a:rPr b="0" i="0" lang="es-MX" sz="600" u="none" cap="none" strike="noStrike">
                          <a:solidFill>
                            <a:srgbClr val="000000"/>
                          </a:solidFill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(Diario, Semanal, Mes, Anual)</a:t>
                      </a:r>
                      <a:endParaRPr b="0" i="0" sz="600" u="none" cap="none" strike="noStrike">
                        <a:solidFill>
                          <a:srgbClr val="000000"/>
                        </a:solidFill>
                        <a:latin typeface="Verdana"/>
                        <a:ea typeface="Verdana"/>
                        <a:cs typeface="Verdana"/>
                        <a:sym typeface="Verdana"/>
                      </a:endParaRPr>
                    </a:p>
                  </a:txBody>
                  <a:tcPr marT="9525" marB="0" marR="9525" marL="9525" anchor="ctr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BFBFBF"/>
                    </a:solidFill>
                  </a:tcPr>
                </a:tc>
              </a:tr>
              <a:tr h="204200">
                <a:tc rowSpan="7"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b="1" i="0" lang="es-MX" sz="900" u="none" cap="none" strike="noStrike">
                          <a:solidFill>
                            <a:srgbClr val="FFFFFF"/>
                          </a:solidFill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INTERNAS</a:t>
                      </a:r>
                      <a:endParaRPr sz="1400" u="none" cap="none" strike="noStrike"/>
                    </a:p>
                  </a:txBody>
                  <a:tcPr marT="9525" marB="0" marR="9525" marL="9525" anchor="ctr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80000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lang="es-MX" sz="9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Gerente de Soluciones Tienda y Comercial</a:t>
                      </a:r>
                      <a:endParaRPr sz="1400" u="none" cap="none" strike="noStrike"/>
                    </a:p>
                  </a:txBody>
                  <a:tcPr marT="0" marB="0" marR="68575" marL="6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s-MX" sz="900" u="none" cap="none" strike="noStrike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Alinear prioridades y reportar avance del dominio</a:t>
                      </a:r>
                      <a:endParaRPr sz="900" u="none" cap="none" strike="noStrike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b="0" i="0" lang="es-MX" sz="9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Semanal</a:t>
                      </a:r>
                      <a:endParaRPr sz="1400" u="none" cap="none" strike="noStrike"/>
                    </a:p>
                  </a:txBody>
                  <a:tcPr marT="9525" marB="0" marR="9525" marL="73150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06300">
                <a:tc vMerge="1"/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lang="es-MX" sz="9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Servicios Financieros</a:t>
                      </a:r>
                      <a:endParaRPr sz="1400" u="none" cap="none" strike="noStrike"/>
                    </a:p>
                  </a:txBody>
                  <a:tcPr marT="0" marB="0" marR="68575" marL="6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s-MX" sz="900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Implementar nuevos corresponsales y validar soluciones</a:t>
                      </a:r>
                      <a:endParaRPr sz="900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b="0" i="0" lang="es-MX" sz="9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Semanal</a:t>
                      </a:r>
                      <a:endParaRPr sz="1400" u="none" cap="none" strike="noStrike"/>
                    </a:p>
                  </a:txBody>
                  <a:tcPr marT="9525" marB="0" marR="9525" marL="73150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06300">
                <a:tc vMerge="1"/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lang="es-MX" sz="9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Legal / Compliance</a:t>
                      </a:r>
                      <a:endParaRPr sz="1400" u="none" cap="none" strike="noStrike"/>
                    </a:p>
                  </a:txBody>
                  <a:tcPr marT="0" marB="0" marR="68575" marL="6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s-MX" sz="900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Validar normativas transaccionales y de seguridad</a:t>
                      </a:r>
                      <a:endParaRPr sz="900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b="0" i="0" lang="es-MX" sz="9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Mensual</a:t>
                      </a:r>
                      <a:endParaRPr sz="1400" u="none" cap="none" strike="noStrike"/>
                    </a:p>
                  </a:txBody>
                  <a:tcPr marT="9525" marB="0" marR="9525" marL="73150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06300">
                <a:tc vMerge="1"/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lang="es-MX" sz="9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Gte. Arquitectura TI</a:t>
                      </a:r>
                      <a:endParaRPr sz="1400" u="none" cap="none" strike="noStrike"/>
                    </a:p>
                  </a:txBody>
                  <a:tcPr marT="0" marB="0" marR="68575" marL="6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s-MX" sz="900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Validar protocolos de integración y seguridad</a:t>
                      </a:r>
                      <a:endParaRPr sz="900" u="none" cap="none" strike="noStrike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lang="es-MX" sz="9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Mensual</a:t>
                      </a:r>
                      <a:endParaRPr sz="1400" u="none" cap="none" strike="noStrike"/>
                    </a:p>
                  </a:txBody>
                  <a:tcPr marT="9525" marB="0" marR="9525" marL="73150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06300">
                <a:tc vMerge="1"/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0" marB="0" marR="68575" marL="6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t/>
                      </a:r>
                      <a:endParaRPr sz="9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9525" marB="0" marR="9525" marL="73150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06300">
                <a:tc vMerge="1"/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b="0" i="0" sz="14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0" marB="0" marR="68575" marL="6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b="0" i="0" sz="14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0" marB="0" marR="68575" marL="6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b="0" i="0" sz="14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9525" marB="0" marR="9525" marL="73150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06300">
                <a:tc vMerge="1"/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b="0" i="0" sz="14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0" marB="0" marR="68575" marL="6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b="0" i="0" sz="14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0" marB="0" marR="68575" marL="6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b="0" i="0" sz="14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9525" marB="0" marR="9525" marL="73150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152" name="Google Shape;152;p2"/>
          <p:cNvSpPr/>
          <p:nvPr/>
        </p:nvSpPr>
        <p:spPr>
          <a:xfrm>
            <a:off x="4031311" y="6647290"/>
            <a:ext cx="1081378" cy="172610"/>
          </a:xfrm>
          <a:prstGeom prst="rect">
            <a:avLst/>
          </a:prstGeom>
          <a:solidFill>
            <a:schemeClr val="lt1"/>
          </a:solidFill>
          <a:ln cap="flat" cmpd="sng" w="12700">
            <a:solidFill>
              <a:schemeClr val="lt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3" name="Google Shape;153;p2"/>
          <p:cNvSpPr txBox="1"/>
          <p:nvPr/>
        </p:nvSpPr>
        <p:spPr>
          <a:xfrm>
            <a:off x="139564" y="3705118"/>
            <a:ext cx="4388817" cy="2667974"/>
          </a:xfrm>
          <a:prstGeom prst="rect">
            <a:avLst/>
          </a:prstGeom>
          <a:noFill/>
          <a:ln cap="flat" cmpd="sng" w="9525">
            <a:solidFill>
              <a:srgbClr val="99002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40E27"/>
              </a:buClr>
              <a:buSzPts val="1200"/>
              <a:buFont typeface="Arial"/>
              <a:buNone/>
            </a:pPr>
            <a:r>
              <a:rPr b="1" i="0" lang="es-MX" sz="1200" u="sng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Dimensionamiento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just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rgbClr val="840E27"/>
              </a:buClr>
              <a:buSzPts val="1200"/>
              <a:buFont typeface="Arial"/>
              <a:buNone/>
            </a:pPr>
            <a:r>
              <a:t/>
            </a:r>
            <a:endParaRPr b="1" i="0" sz="12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79998" lvl="0" marL="32400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40E27"/>
              </a:buClr>
              <a:buSzPts val="1116"/>
              <a:buFont typeface="Arial"/>
              <a:buChar char="•"/>
            </a:pPr>
            <a:r>
              <a:rPr b="1" i="0" lang="es-MX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Negocios:  </a:t>
            </a:r>
            <a:r>
              <a:rPr b="0" i="0" lang="es-MX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OXXO México</a:t>
            </a:r>
            <a:endParaRPr b="0" i="0" sz="12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45720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t/>
            </a:r>
            <a:endParaRPr b="0" i="0" sz="12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79998" lvl="0" marL="32400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40E27"/>
              </a:buClr>
              <a:buSzPts val="1116"/>
              <a:buFont typeface="Arial"/>
              <a:buChar char="•"/>
            </a:pPr>
            <a:r>
              <a:rPr b="1" i="0" lang="es-MX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Alcance Geográfico:  </a:t>
            </a:r>
            <a:r>
              <a:rPr b="0" i="0" lang="es-MX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Nacional</a:t>
            </a:r>
            <a:endParaRPr b="0" i="0" sz="12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45720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t/>
            </a:r>
            <a:endParaRPr b="0" i="0" sz="12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79998" lvl="0" marL="32400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40E27"/>
              </a:buClr>
              <a:buSzPts val="1116"/>
              <a:buFont typeface="Arial"/>
              <a:buChar char="•"/>
            </a:pPr>
            <a:r>
              <a:rPr b="1" i="0" lang="es-MX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Tramo de supervisión:  </a:t>
            </a:r>
            <a:endParaRPr b="0" i="0" sz="12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45720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t/>
            </a:r>
            <a:endParaRPr b="0" i="0" sz="12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79999" lvl="0" marL="32400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40E27"/>
              </a:buClr>
              <a:buSzPts val="1116"/>
              <a:buFont typeface="Arial"/>
              <a:buChar char="•"/>
            </a:pPr>
            <a:r>
              <a:rPr b="1" i="0" lang="es-MX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Otros indicadores financieros / operativos: 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4" name="Google Shape;154;p2"/>
          <p:cNvSpPr/>
          <p:nvPr/>
        </p:nvSpPr>
        <p:spPr>
          <a:xfrm>
            <a:off x="59500" y="816255"/>
            <a:ext cx="881908" cy="2923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Calibri"/>
              <a:buNone/>
            </a:pPr>
            <a:r>
              <a:rPr b="1" i="0" lang="es-MX" sz="13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Relaciones</a:t>
            </a:r>
            <a:endParaRPr b="0" i="0" sz="13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5" name="Google Shape;155;p2"/>
          <p:cNvSpPr txBox="1"/>
          <p:nvPr/>
        </p:nvSpPr>
        <p:spPr>
          <a:xfrm>
            <a:off x="139564" y="6453259"/>
            <a:ext cx="4388817" cy="338552"/>
          </a:xfrm>
          <a:prstGeom prst="rect">
            <a:avLst/>
          </a:prstGeom>
          <a:noFill/>
          <a:ln cap="flat" cmpd="sng" w="9525">
            <a:solidFill>
              <a:srgbClr val="99002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40E27"/>
              </a:buClr>
              <a:buSzPts val="1300"/>
              <a:buFont typeface="Arial"/>
              <a:buNone/>
            </a:pPr>
            <a:r>
              <a:rPr b="1" i="0" lang="es-MX" sz="13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Fecha de Modificación:</a:t>
            </a:r>
            <a:endParaRPr b="0" i="0" sz="11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6" name="Google Shape;156;p2"/>
          <p:cNvSpPr txBox="1"/>
          <p:nvPr/>
        </p:nvSpPr>
        <p:spPr>
          <a:xfrm>
            <a:off x="4615620" y="6453258"/>
            <a:ext cx="4392000" cy="338553"/>
          </a:xfrm>
          <a:prstGeom prst="rect">
            <a:avLst/>
          </a:prstGeom>
          <a:noFill/>
          <a:ln cap="flat" cmpd="sng" w="9525">
            <a:solidFill>
              <a:srgbClr val="99002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40E27"/>
              </a:buClr>
              <a:buSzPts val="1300"/>
              <a:buFont typeface="Arial"/>
              <a:buNone/>
            </a:pPr>
            <a:r>
              <a:rPr b="1" i="0" lang="es-MX" sz="13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Modificado por:</a:t>
            </a:r>
            <a:endParaRPr b="0" i="0" sz="13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just">
              <a:lnSpc>
                <a:spcPct val="100000"/>
              </a:lnSpc>
              <a:spcBef>
                <a:spcPts val="220"/>
              </a:spcBef>
              <a:spcAft>
                <a:spcPts val="0"/>
              </a:spcAft>
              <a:buClr>
                <a:srgbClr val="840E27"/>
              </a:buClr>
              <a:buSzPts val="1100"/>
              <a:buFont typeface="Arial"/>
              <a:buNone/>
            </a:pPr>
            <a:r>
              <a:t/>
            </a:r>
            <a:endParaRPr b="0" i="0" sz="11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7" name="Google Shape;157;p2"/>
          <p:cNvSpPr/>
          <p:nvPr/>
        </p:nvSpPr>
        <p:spPr>
          <a:xfrm>
            <a:off x="1" y="0"/>
            <a:ext cx="7223196" cy="850015"/>
          </a:xfrm>
          <a:prstGeom prst="homePlate">
            <a:avLst>
              <a:gd fmla="val 50000" name="adj"/>
            </a:avLst>
          </a:prstGeom>
          <a:solidFill>
            <a:srgbClr val="990021"/>
          </a:solidFill>
          <a:ln cap="flat" cmpd="sng" w="12700">
            <a:solidFill>
              <a:srgbClr val="99002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8" name="Google Shape;158;p2"/>
          <p:cNvSpPr txBox="1"/>
          <p:nvPr/>
        </p:nvSpPr>
        <p:spPr>
          <a:xfrm>
            <a:off x="4615620" y="4880609"/>
            <a:ext cx="4392000" cy="1492483"/>
          </a:xfrm>
          <a:prstGeom prst="rect">
            <a:avLst/>
          </a:prstGeom>
          <a:noFill/>
          <a:ln cap="flat" cmpd="sng" w="9525">
            <a:solidFill>
              <a:srgbClr val="99002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1" i="0" lang="es-MX" sz="1200" u="sng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Características del rol: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179999" lvl="0" marL="144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23"/>
              <a:buFont typeface="Arial"/>
              <a:buNone/>
            </a:pPr>
            <a:r>
              <a:rPr b="1" i="0" lang="es-MX" sz="11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% de tiempo dedicado a actividades que el rol </a:t>
            </a:r>
            <a:r>
              <a:rPr b="1" i="0" lang="es-MX" sz="1100" u="sng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obligatoriamente </a:t>
            </a:r>
            <a:r>
              <a:rPr b="1" i="0" lang="es-MX" sz="11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debe de realizar </a:t>
            </a:r>
            <a:r>
              <a:rPr b="1" i="0" lang="es-MX" sz="1100" u="sng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en oficina</a:t>
            </a:r>
            <a:r>
              <a:rPr b="1" i="0" lang="es-MX" sz="11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179999" lvl="0" marL="144000" marR="0" rtl="0" algn="l">
              <a:lnSpc>
                <a:spcPct val="100000"/>
              </a:lnSpc>
              <a:spcBef>
                <a:spcPts val="12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179999" lvl="0" marL="144000" marR="0" rtl="0" algn="l">
              <a:lnSpc>
                <a:spcPct val="100000"/>
              </a:lnSpc>
              <a:spcBef>
                <a:spcPts val="12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179998" lvl="0" marL="144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23"/>
              <a:buFont typeface="Arial"/>
              <a:buNone/>
            </a:pPr>
            <a:r>
              <a:rPr b="1" i="0" lang="es-MX" sz="11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¿Cuántos días de la semana el rol realiza actividades </a:t>
            </a:r>
            <a:r>
              <a:rPr b="1" i="0" lang="es-MX" sz="1100" u="sng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fuera de oficina</a:t>
            </a:r>
            <a:r>
              <a:rPr b="1" i="0" lang="es-MX" sz="11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? </a:t>
            </a:r>
            <a:endParaRPr b="1" i="0" sz="11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179998" lvl="0" marL="144000" marR="0" rtl="0" algn="l">
              <a:lnSpc>
                <a:spcPct val="100000"/>
              </a:lnSpc>
              <a:spcBef>
                <a:spcPts val="12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1" i="0" sz="11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9" name="Google Shape;159;p2"/>
          <p:cNvSpPr txBox="1"/>
          <p:nvPr/>
        </p:nvSpPr>
        <p:spPr>
          <a:xfrm>
            <a:off x="-25355" y="1"/>
            <a:ext cx="7128900" cy="1079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libri"/>
              <a:buNone/>
            </a:pPr>
            <a:r>
              <a:rPr b="1" i="0" lang="es-MX" sz="1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DESCRIPCIÓN DE PUESTO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1" i="0" lang="es-MX" sz="13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Nombre Puesto: </a:t>
            </a:r>
            <a:r>
              <a:rPr b="1" lang="es-MX" sz="13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Gerente de Área Soluciones TI Servicios</a:t>
            </a:r>
            <a:endParaRPr b="1" i="0" sz="13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1" i="0" lang="es-MX" sz="13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Nombre Puesto Jefe Directo: </a:t>
            </a:r>
            <a:r>
              <a:rPr b="1" i="0" lang="es-MX" sz="13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Gerente de Soluciones Tienda y Comercial</a:t>
            </a:r>
            <a:endParaRPr b="1" i="0" sz="13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1" i="0" lang="es-MX" sz="13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Área Funcional: TI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1_Office Theme">
  <a:themeElements>
    <a:clrScheme name="Office Them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2025-01-29T22:27:57Z</dcterms:created>
  <dc:creator>Gilberto Morales</dc:creator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0x010100490EEA5A76710F4D840DE1E91AC235DB</vt:lpwstr>
  </property>
  <property fmtid="{D5CDD505-2E9C-101B-9397-08002B2CF9AE}" pid="3" name="ClassificationContentMarkingFooterLocations">
    <vt:lpwstr>1_Office Theme:8</vt:lpwstr>
  </property>
  <property fmtid="{D5CDD505-2E9C-101B-9397-08002B2CF9AE}" pid="4" name="ClassificationContentMarkingFooterText">
    <vt:lpwstr>OXXO | Uso Interno</vt:lpwstr>
  </property>
</Properties>
</file>