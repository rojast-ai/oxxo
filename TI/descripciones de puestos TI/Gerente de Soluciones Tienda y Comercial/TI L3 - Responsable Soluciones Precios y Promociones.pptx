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" roundtripDataSignature="AMtx7mgNEwQWe5S/nWgY1+arHJAdPiWiN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C52E1D0-2397-4941-9B3A-36CBD282233A}">
  <a:tblStyle styleId="{5C52E1D0-2397-4941-9B3A-36CBD282233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fill>
          <a:solidFill>
            <a:srgbClr val="CDD4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4EA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92DB3131-A991-4D82-8482-A66F3FEDEA66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52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MX"/>
              <a:t>Modificada </a:t>
            </a:r>
            <a:endParaRPr/>
          </a:p>
        </p:txBody>
      </p:sp>
      <p:sp>
        <p:nvSpPr>
          <p:cNvPr id="148" name="Google Shape;14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3" name="Google Shape;23;p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9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11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1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2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2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1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15" name="Google Shape;15;p3"/>
          <p:cNvSpPr txBox="1"/>
          <p:nvPr/>
        </p:nvSpPr>
        <p:spPr>
          <a:xfrm>
            <a:off x="4059238" y="6642100"/>
            <a:ext cx="1054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| Uso Interno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/>
          <p:nvPr/>
        </p:nvSpPr>
        <p:spPr>
          <a:xfrm>
            <a:off x="4619672" y="5272810"/>
            <a:ext cx="44280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Principales Retos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19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Noto Sans Symbols"/>
              <a:buChar char="▪"/>
            </a:pPr>
            <a:r>
              <a:rPr lang="es-MX" sz="1200">
                <a:latin typeface="Calibri"/>
                <a:ea typeface="Calibri"/>
                <a:cs typeface="Calibri"/>
                <a:sym typeface="Calibri"/>
              </a:rPr>
              <a:t>Gestionar la alta volumetría de promociones dinámicas asegurando cero errores en el ticket de compra, con múltiples campañas activas de forma simultánea en toda la red.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1619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Noto Sans Symbols"/>
              <a:buChar char="▪"/>
            </a:pPr>
            <a:r>
              <a:rPr lang="es-MX" sz="1200">
                <a:latin typeface="Calibri"/>
                <a:ea typeface="Calibri"/>
                <a:cs typeface="Calibri"/>
                <a:sym typeface="Calibri"/>
              </a:rPr>
              <a:t>Mantener la integridad y consistencia de los datos de precios en un entorno con alta frecuencia de cambios y dependencia de múltiples sistemas interconectados.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1" marL="57467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74103" y="5272810"/>
            <a:ext cx="44407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Decisiones Relevantes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55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Noto Sans Symbols"/>
              <a:buChar char="▪"/>
            </a:pPr>
            <a:r>
              <a:rPr lang="es-MX" sz="1100">
                <a:latin typeface="Calibri"/>
                <a:ea typeface="Calibri"/>
                <a:cs typeface="Calibri"/>
                <a:sym typeface="Calibri"/>
              </a:rPr>
              <a:t>Definición de la lógica de jerarquía y convivencia de promociones en el sistema para evitar errores de cobro al cliente y asegurar la correcta ejecución de campañas comerciales.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-1555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Noto Sans Symbols"/>
              <a:buChar char="▪"/>
            </a:pPr>
            <a:r>
              <a:rPr lang="es-MX" sz="1100">
                <a:latin typeface="Calibri"/>
                <a:ea typeface="Calibri"/>
                <a:cs typeface="Calibri"/>
                <a:sym typeface="Calibri"/>
              </a:rPr>
              <a:t>Validación y aprobación de cargas masivas de cambios de precio, verificando que se reflejen correctamente en la red de tiendas dentro de los tiempos establecidos por el negocio.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4102" y="1823416"/>
            <a:ext cx="7191449" cy="341885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Responsabilidades </a:t>
            </a:r>
            <a:endParaRPr b="1"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b="1" lang="es-MX" sz="900">
                <a:latin typeface="Calibri"/>
                <a:ea typeface="Calibri"/>
                <a:cs typeface="Calibri"/>
                <a:sym typeface="Calibri"/>
              </a:rPr>
              <a:t>Documentar y mantener actualizado el backlog de iniciativas y requerimientos del dominio Precios y Promociones: priorizando en conjunto con Comercial, Customer &amp; Marketing y el Gerente de Soluciones Tienda y Comercial, para asegurar que el portafolio responda a las necesidades de ejecución comercial del negocio.</a:t>
            </a:r>
            <a:endParaRPr b="1"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b="1" lang="es-MX" sz="900">
                <a:latin typeface="Calibri"/>
                <a:ea typeface="Calibri"/>
                <a:cs typeface="Calibri"/>
                <a:sym typeface="Calibri"/>
              </a:rPr>
              <a:t>Identificar y consolidar las necesidades tecnológicas de las áreas de Pricing y Comercial: mediante sesiones de trabajo y análisis de procesos de configuración y carga de precios, para traducirlas en requerimientos funcionales claros dirigidos a los equipos de desarrollo y proveedores.</a:t>
            </a:r>
            <a:endParaRPr b="1"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b="1" lang="es-MX" sz="900">
                <a:latin typeface="Calibri"/>
                <a:ea typeface="Calibri"/>
                <a:cs typeface="Calibri"/>
                <a:sym typeface="Calibri"/>
              </a:rPr>
              <a:t>Ejecutar el seguimiento del ciclo de vida de las soluciones de precios y promociones: desde la definición de requerimientos hasta la puesta en producción, alineando con Desarrollo de Soluciones, Arquitectura TI y Operaciones TI para garantizar entregas de calidad en los tiempos comerciales requeridos.</a:t>
            </a:r>
            <a:endParaRPr b="1"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b="1" lang="es-MX" sz="900">
                <a:latin typeface="Calibri"/>
                <a:ea typeface="Calibri"/>
                <a:cs typeface="Calibri"/>
                <a:sym typeface="Calibri"/>
              </a:rPr>
              <a:t>Configurar y validar la lógica de jerarquía y convivencia de promociones en el motor de precios: trabajando con Comercial y Customer &amp; Marketing para asegurar que las campañas se ejecuten correctamente en el sistema y el cliente reciba el beneficio exacto en caja.</a:t>
            </a:r>
            <a:endParaRPr b="1"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b="1" lang="es-MX" sz="900">
                <a:latin typeface="Calibri"/>
                <a:ea typeface="Calibri"/>
                <a:cs typeface="Calibri"/>
                <a:sym typeface="Calibri"/>
              </a:rPr>
              <a:t>Elaborar la evaluación y validación de soluciones propuestas para el dominio Precios y Promociones: analizando integridad de datos, impacto en el motor de reglas e integración con el POS, para apoyar las decisiones del Gerente de Soluciones Tienda y Comercial.</a:t>
            </a:r>
            <a:endParaRPr b="1"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b="1" lang="es-MX" sz="900">
                <a:latin typeface="Calibri"/>
                <a:ea typeface="Calibri"/>
                <a:cs typeface="Calibri"/>
                <a:sym typeface="Calibri"/>
              </a:rPr>
              <a:t>Reportar periódicamente los indicadores de desempeño y SLAs de las soluciones de precios: documentando integridad de datos, incidencias de cobro y tiempos de carga, para garantizar la confiabilidad del sistema y la toma de decisiones oportuna.</a:t>
            </a:r>
            <a:endParaRPr b="1"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b="1" lang="es-MX" sz="900">
                <a:latin typeface="Calibri"/>
                <a:ea typeface="Calibri"/>
                <a:cs typeface="Calibri"/>
                <a:sym typeface="Calibri"/>
              </a:rPr>
              <a:t>Implementar herramientas de señalética digital y actualización de precios en tiempo real: coordinando con Arquitectura TI y las áreas comerciales para asegurar que los cambios de precio se reflejen de forma inmediata y consistente en toda la red de tiendas.</a:t>
            </a:r>
            <a:endParaRPr b="1"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b="1" lang="es-MX" sz="900">
                <a:latin typeface="Calibri"/>
                <a:ea typeface="Calibri"/>
                <a:cs typeface="Calibri"/>
                <a:sym typeface="Calibri"/>
              </a:rPr>
              <a:t>Ejecutar procesos de validación y auditoría automatizada de la base de datos de precios antes de cada carga masiva, para evitar discrepancias entre el precio exhibido y el cobrado en caja en la red de tiendas.</a:t>
            </a:r>
            <a:endParaRPr b="1"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b="1" lang="es-MX" sz="900">
                <a:latin typeface="Calibri"/>
                <a:ea typeface="Calibri"/>
                <a:cs typeface="Calibri"/>
                <a:sym typeface="Calibri"/>
              </a:rPr>
              <a:t>Cumplir y promover la aplicación de los procesos y rituales cultura de la Compañía.</a:t>
            </a:r>
            <a:endParaRPr b="1"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4103" y="969028"/>
            <a:ext cx="7186069" cy="80401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Propósito del Puesto 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Gestionar las soluciones tecnológicas que aseguran la correcta ejecución de las estrategias de precios y promociones comerciales en la red de tiendas OXXO, siendo el puente entre las áreas de Comercial, Customer &amp; Marketing y TI, para garantizar que el cliente reciba el beneficio correcto en el momento de la compra con cero errores en el ticket.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-25355" y="1"/>
            <a:ext cx="7128791" cy="10798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Responsable Soluciones Precios y Promociones</a:t>
            </a:r>
            <a:endParaRPr b="1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</a:t>
            </a:r>
            <a:r>
              <a:rPr b="1" i="0" lang="es-MX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Gerente de Soluciones Tienda y Comercial</a:t>
            </a:r>
            <a:endParaRPr b="1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TI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7" name="Google Shape;97;p1"/>
          <p:cNvGrpSpPr/>
          <p:nvPr/>
        </p:nvGrpSpPr>
        <p:grpSpPr>
          <a:xfrm>
            <a:off x="7332180" y="969028"/>
            <a:ext cx="1728192" cy="1717735"/>
            <a:chOff x="7319480" y="969028"/>
            <a:chExt cx="1728192" cy="1717735"/>
          </a:xfrm>
        </p:grpSpPr>
        <p:sp>
          <p:nvSpPr>
            <p:cNvPr id="98" name="Google Shape;98;p1"/>
            <p:cNvSpPr/>
            <p:nvPr/>
          </p:nvSpPr>
          <p:spPr>
            <a:xfrm>
              <a:off x="7319480" y="969028"/>
              <a:ext cx="1728192" cy="1717735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1"/>
            <p:cNvSpPr txBox="1"/>
            <p:nvPr/>
          </p:nvSpPr>
          <p:spPr>
            <a:xfrm>
              <a:off x="7319480" y="969028"/>
              <a:ext cx="1728192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Herramientas Puesto: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https://d30y9cdsu7xlg0.cloudfront.net/png/1999-200.png" id="100" name="Google Shape;10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06892" y="1248360"/>
            <a:ext cx="245644" cy="2456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41085-200.png" id="101" name="Google Shape;10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2360" y="1993705"/>
            <a:ext cx="175626" cy="1756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35-200.png" id="102" name="Google Shape;102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2360" y="1729358"/>
            <a:ext cx="262955" cy="2629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1938-200.png" id="103" name="Google Shape;103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12360" y="1483752"/>
            <a:ext cx="235520" cy="23552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"/>
          <p:cNvSpPr/>
          <p:nvPr/>
        </p:nvSpPr>
        <p:spPr>
          <a:xfrm>
            <a:off x="7459294" y="1300701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8065788" y="124807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Laptop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"/>
          <p:cNvSpPr txBox="1"/>
          <p:nvPr/>
        </p:nvSpPr>
        <p:spPr>
          <a:xfrm>
            <a:off x="8065788" y="147840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8065788" y="1737725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"/>
          <p:cNvSpPr txBox="1"/>
          <p:nvPr/>
        </p:nvSpPr>
        <p:spPr>
          <a:xfrm>
            <a:off x="8065788" y="1958408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Celular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"/>
          <p:cNvSpPr/>
          <p:nvPr/>
        </p:nvSpPr>
        <p:spPr>
          <a:xfrm>
            <a:off x="742204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"/>
          <p:cNvSpPr txBox="1"/>
          <p:nvPr/>
        </p:nvSpPr>
        <p:spPr>
          <a:xfrm>
            <a:off x="7622365" y="3060110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VPN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"/>
          <p:cNvSpPr txBox="1"/>
          <p:nvPr/>
        </p:nvSpPr>
        <p:spPr>
          <a:xfrm>
            <a:off x="8388424" y="306011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"/>
          <p:cNvSpPr/>
          <p:nvPr/>
        </p:nvSpPr>
        <p:spPr>
          <a:xfrm>
            <a:off x="7422705" y="3360358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"/>
          <p:cNvSpPr txBox="1"/>
          <p:nvPr/>
        </p:nvSpPr>
        <p:spPr>
          <a:xfrm>
            <a:off x="7622365" y="3301596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"/>
          <p:cNvSpPr txBox="1"/>
          <p:nvPr/>
        </p:nvSpPr>
        <p:spPr>
          <a:xfrm>
            <a:off x="8388424" y="330509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"/>
          <p:cNvSpPr/>
          <p:nvPr/>
        </p:nvSpPr>
        <p:spPr>
          <a:xfrm>
            <a:off x="7422705" y="362759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 txBox="1"/>
          <p:nvPr/>
        </p:nvSpPr>
        <p:spPr>
          <a:xfrm>
            <a:off x="7622365" y="3568831"/>
            <a:ext cx="47510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Retek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"/>
          <p:cNvSpPr txBox="1"/>
          <p:nvPr/>
        </p:nvSpPr>
        <p:spPr>
          <a:xfrm>
            <a:off x="8388424" y="3545582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Oracle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"/>
          <p:cNvSpPr/>
          <p:nvPr/>
        </p:nvSpPr>
        <p:spPr>
          <a:xfrm>
            <a:off x="7422705" y="3852614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"/>
          <p:cNvSpPr txBox="1"/>
          <p:nvPr/>
        </p:nvSpPr>
        <p:spPr>
          <a:xfrm>
            <a:off x="7622365" y="3793852"/>
            <a:ext cx="469555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"/>
          <p:cNvSpPr/>
          <p:nvPr/>
        </p:nvSpPr>
        <p:spPr>
          <a:xfrm>
            <a:off x="818036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"/>
          <p:cNvSpPr/>
          <p:nvPr/>
        </p:nvSpPr>
        <p:spPr>
          <a:xfrm>
            <a:off x="8181025" y="3359639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"/>
          <p:cNvSpPr/>
          <p:nvPr/>
        </p:nvSpPr>
        <p:spPr>
          <a:xfrm>
            <a:off x="8181025" y="3600406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3" name="Google Shape;123;p1"/>
          <p:cNvGrpSpPr/>
          <p:nvPr/>
        </p:nvGrpSpPr>
        <p:grpSpPr>
          <a:xfrm>
            <a:off x="7332180" y="2769544"/>
            <a:ext cx="1728192" cy="1547090"/>
            <a:chOff x="7319480" y="2769544"/>
            <a:chExt cx="1728192" cy="2268000"/>
          </a:xfrm>
        </p:grpSpPr>
        <p:sp>
          <p:nvSpPr>
            <p:cNvPr id="124" name="Google Shape;124;p1"/>
            <p:cNvSpPr txBox="1"/>
            <p:nvPr/>
          </p:nvSpPr>
          <p:spPr>
            <a:xfrm>
              <a:off x="7322014" y="2769544"/>
              <a:ext cx="1723124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Sistemas / Software: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1"/>
            <p:cNvSpPr/>
            <p:nvPr/>
          </p:nvSpPr>
          <p:spPr>
            <a:xfrm>
              <a:off x="7319480" y="2769544"/>
              <a:ext cx="1728192" cy="2268000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6" name="Google Shape;126;p1"/>
          <p:cNvSpPr txBox="1"/>
          <p:nvPr/>
        </p:nvSpPr>
        <p:spPr>
          <a:xfrm>
            <a:off x="8388424" y="3784461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Autocad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"/>
          <p:cNvSpPr/>
          <p:nvPr/>
        </p:nvSpPr>
        <p:spPr>
          <a:xfrm>
            <a:off x="8181025" y="384117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"/>
          <p:cNvSpPr/>
          <p:nvPr/>
        </p:nvSpPr>
        <p:spPr>
          <a:xfrm>
            <a:off x="7422705" y="408252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9" name="Google Shape;129;p1"/>
          <p:cNvCxnSpPr/>
          <p:nvPr/>
        </p:nvCxnSpPr>
        <p:spPr>
          <a:xfrm flipH="1" rot="10800000">
            <a:off x="7705019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0" name="Google Shape;130;p1"/>
          <p:cNvSpPr/>
          <p:nvPr/>
        </p:nvSpPr>
        <p:spPr>
          <a:xfrm>
            <a:off x="8181025" y="408194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1" name="Google Shape;131;p1"/>
          <p:cNvCxnSpPr/>
          <p:nvPr/>
        </p:nvCxnSpPr>
        <p:spPr>
          <a:xfrm flipH="1" rot="10800000">
            <a:off x="8462182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2" name="Google Shape;132;p1"/>
          <p:cNvSpPr/>
          <p:nvPr/>
        </p:nvSpPr>
        <p:spPr>
          <a:xfrm>
            <a:off x="7459294" y="1536672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"/>
          <p:cNvSpPr/>
          <p:nvPr/>
        </p:nvSpPr>
        <p:spPr>
          <a:xfrm>
            <a:off x="7459294" y="1773041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"/>
          <p:cNvSpPr/>
          <p:nvPr/>
        </p:nvSpPr>
        <p:spPr>
          <a:xfrm>
            <a:off x="7459294" y="2009410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"/>
          <p:cNvSpPr/>
          <p:nvPr/>
        </p:nvSpPr>
        <p:spPr>
          <a:xfrm>
            <a:off x="7459294" y="224577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"/>
          <p:cNvSpPr/>
          <p:nvPr/>
        </p:nvSpPr>
        <p:spPr>
          <a:xfrm>
            <a:off x="7459294" y="248214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7" name="Google Shape;137;p1"/>
          <p:cNvCxnSpPr/>
          <p:nvPr/>
        </p:nvCxnSpPr>
        <p:spPr>
          <a:xfrm flipH="1" rot="10800000">
            <a:off x="7806891" y="2431240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8" name="Google Shape;138;p1"/>
          <p:cNvCxnSpPr/>
          <p:nvPr/>
        </p:nvCxnSpPr>
        <p:spPr>
          <a:xfrm flipH="1" rot="10800000">
            <a:off x="7806891" y="2650334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39" name="Google Shape;139;p1"/>
          <p:cNvGraphicFramePr/>
          <p:nvPr/>
        </p:nvGraphicFramePr>
        <p:xfrm>
          <a:off x="7332179" y="44182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{5C52E1D0-2397-4941-9B3A-36CBD282233A}</a:tableStyleId>
              </a:tblPr>
              <a:tblGrid>
                <a:gridCol w="1732525"/>
              </a:tblGrid>
              <a:tr h="790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MX" sz="1100" u="none" cap="none" strike="noStrike"/>
                        <a:t>NOTA IMPORTANTE</a:t>
                      </a:r>
                      <a:r>
                        <a:rPr lang="es-MX" sz="1100" u="none" cap="none" strike="noStrike"/>
                        <a:t>: Toda herramienta o software que impacte en gasto, estará sujeta a autorización.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40" name="Google Shape;140;p1"/>
          <p:cNvSpPr txBox="1"/>
          <p:nvPr/>
        </p:nvSpPr>
        <p:spPr>
          <a:xfrm>
            <a:off x="7369146" y="1230169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"/>
          <p:cNvSpPr txBox="1"/>
          <p:nvPr/>
        </p:nvSpPr>
        <p:spPr>
          <a:xfrm>
            <a:off x="8050302" y="3005125"/>
            <a:ext cx="506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"/>
          <p:cNvSpPr txBox="1"/>
          <p:nvPr/>
        </p:nvSpPr>
        <p:spPr>
          <a:xfrm>
            <a:off x="8050317" y="3283730"/>
            <a:ext cx="506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"/>
          <p:cNvSpPr txBox="1"/>
          <p:nvPr/>
        </p:nvSpPr>
        <p:spPr>
          <a:xfrm>
            <a:off x="7459294" y="151075"/>
            <a:ext cx="149959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Colocar logo de ProxyLogis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"/>
          <p:cNvSpPr txBox="1"/>
          <p:nvPr/>
        </p:nvSpPr>
        <p:spPr>
          <a:xfrm>
            <a:off x="7291990" y="3283725"/>
            <a:ext cx="506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"/>
          <p:cNvSpPr txBox="1"/>
          <p:nvPr/>
        </p:nvSpPr>
        <p:spPr>
          <a:xfrm>
            <a:off x="4620903" y="3704137"/>
            <a:ext cx="4392000" cy="105630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Estructura Organizacional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460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Arial"/>
              <a:buChar char="•"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Reportes Directos: 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460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Arial"/>
              <a:buChar char="•"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Pares: </a:t>
            </a:r>
            <a:r>
              <a:rPr lang="es-MX" sz="800">
                <a:latin typeface="Calibri"/>
                <a:ea typeface="Calibri"/>
                <a:cs typeface="Calibri"/>
                <a:sym typeface="Calibri"/>
              </a:rPr>
              <a:t>Gerente de Área Soluciones TI Mercaderías, Gerente de Área Soluciones TI POS, Gerente de Área Soluciones TI Servicios, Responsable Soluciones Operaciones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1" name="Google Shape;151;p2"/>
          <p:cNvGraphicFramePr/>
          <p:nvPr/>
        </p:nvGraphicFramePr>
        <p:xfrm>
          <a:off x="59500" y="10645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{92DB3131-A991-4D82-8482-A66F3FEDEA66}</a:tableStyleId>
              </a:tblPr>
              <a:tblGrid>
                <a:gridCol w="156200"/>
                <a:gridCol w="3028425"/>
                <a:gridCol w="4270850"/>
                <a:gridCol w="1320075"/>
              </a:tblGrid>
              <a:tr h="412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a</a:t>
                      </a:r>
                      <a:endParaRPr sz="1400" u="none" cap="none" strike="noStrike"/>
                    </a:p>
                  </a:txBody>
                  <a:tcPr marT="9525" marB="0" marR="9525" marL="95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Puesto/ Área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Objetivo Relación: 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Frecuencia: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0" i="0" lang="es-MX" sz="6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(Diario, Semanal, Mes, Anual)</a:t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</a:tr>
              <a:tr h="204200">
                <a:tc rowSpan="7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INTERNAS</a:t>
                      </a:r>
                      <a:endParaRPr sz="1400" u="none" cap="none" strike="noStrike"/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Gerente de Soluciones Tienda y Comercial</a:t>
                      </a:r>
                      <a:endParaRPr sz="1400" u="none" cap="none" strike="noStrike"/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Alinear prioridades y reportar avance del dominio</a:t>
                      </a:r>
                      <a:endParaRPr sz="9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1400" u="none" cap="none" strike="noStrike"/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Pricing / Comercial</a:t>
                      </a:r>
                      <a:endParaRPr sz="1400" u="none" cap="none" strike="noStrike"/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Configurar campañas masivas y eventos especiales</a:t>
                      </a:r>
                      <a:endParaRPr sz="9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1400" u="none" cap="none" strike="noStrike"/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Customer &amp; Marketing / Analítica</a:t>
                      </a:r>
                      <a:endParaRPr sz="1400" u="none" cap="none" strike="noStrike"/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Integrar lógica de segmentación en motor de precios</a:t>
                      </a:r>
                      <a:endParaRPr sz="9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1400" u="none" cap="none" strike="noStrike"/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Gte. Arquitectura TI</a:t>
                      </a:r>
                      <a:endParaRPr sz="1400" u="none" cap="none" strike="noStrike"/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Validar diseño del motor de reglas y estándares técnicos</a:t>
                      </a:r>
                      <a:endParaRPr sz="9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Mensual</a:t>
                      </a:r>
                      <a:endParaRPr sz="1400" u="none" cap="none" strike="noStrike"/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2" name="Google Shape;152;p2"/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"/>
          <p:cNvSpPr txBox="1"/>
          <p:nvPr/>
        </p:nvSpPr>
        <p:spPr>
          <a:xfrm>
            <a:off x="139564" y="3705118"/>
            <a:ext cx="4388817" cy="266797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Dimensionamiento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9998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Negocios: 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México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9998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Alcance Geográfico: 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Nacional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9998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Tramo de supervisión:  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9999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Otros indicadores financieros / operativos: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"/>
          <p:cNvSpPr/>
          <p:nvPr/>
        </p:nvSpPr>
        <p:spPr>
          <a:xfrm>
            <a:off x="59500" y="816255"/>
            <a:ext cx="881908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Relaciones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"/>
          <p:cNvSpPr txBox="1"/>
          <p:nvPr/>
        </p:nvSpPr>
        <p:spPr>
          <a:xfrm>
            <a:off x="139564" y="6453259"/>
            <a:ext cx="4388817" cy="338552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Fecha de Modificación: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"/>
          <p:cNvSpPr txBox="1"/>
          <p:nvPr/>
        </p:nvSpPr>
        <p:spPr>
          <a:xfrm>
            <a:off x="4615620" y="6453258"/>
            <a:ext cx="4392000" cy="33855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Modificado por: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"/>
          <p:cNvSpPr txBox="1"/>
          <p:nvPr/>
        </p:nvSpPr>
        <p:spPr>
          <a:xfrm>
            <a:off x="4615620" y="4880609"/>
            <a:ext cx="4392000" cy="149248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Características del rol: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79999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% de tiempo dedicado a actividades que el rol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obligatoriamente 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debe de realizar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79999" lvl="0" marL="144000" marR="0" rtl="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79999" lvl="0" marL="144000" marR="0" rtl="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79998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¿Cuántos días de la semana el rol realiza actividades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fuera de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 </a:t>
            </a:r>
            <a:endParaRPr b="1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179998" lvl="0" marL="144000" marR="0" rtl="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"/>
          <p:cNvSpPr txBox="1"/>
          <p:nvPr/>
        </p:nvSpPr>
        <p:spPr>
          <a:xfrm>
            <a:off x="-25355" y="1"/>
            <a:ext cx="7128900" cy="10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Responsable Soluciones Precios y Promociones</a:t>
            </a:r>
            <a:endParaRPr b="1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</a:t>
            </a:r>
            <a:r>
              <a:rPr b="1" i="0" lang="es-MX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Gerente de Soluciones Tienda y Comercial</a:t>
            </a:r>
            <a:endParaRPr b="1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TI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2025-01-29T22:27:57Z</dcterms:created>
  <dc:creator>Gilberto Morales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0x010100490EEA5A76710F4D840DE1E91AC235DB</vt:lpwstr>
  </property>
  <property fmtid="{D5CDD505-2E9C-101B-9397-08002B2CF9AE}" pid="3" name="ClassificationContentMarkingFooterLocations">
    <vt:lpwstr>1_Office Theme:8</vt:lpwstr>
  </property>
  <property fmtid="{D5CDD505-2E9C-101B-9397-08002B2CF9AE}" pid="4" name="ClassificationContentMarkingFooterText">
    <vt:lpwstr>OXXO | Uso Interno</vt:lpwstr>
  </property>
</Properties>
</file>