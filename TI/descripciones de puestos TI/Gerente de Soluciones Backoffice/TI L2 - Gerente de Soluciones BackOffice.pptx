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8" roundtripDataSignature="AMtx7mi5cpwqbZN4xbr3m6Ld70qyRGlnL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12749F7-97B2-469C-86B6-D123BB04C8BA}">
  <a:tblStyle styleId="{812749F7-97B2-469C-86B6-D123BB04C8B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fill>
          <a:solidFill>
            <a:srgbClr val="CDD4EA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DD4EA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B9DE9143-FAD8-4017-917C-B4B579F5047D}" styleName="Table_1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524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MX"/>
              <a:t>Modificada </a:t>
            </a:r>
            <a:endParaRPr/>
          </a:p>
        </p:txBody>
      </p:sp>
      <p:sp>
        <p:nvSpPr>
          <p:cNvPr id="147" name="Google Shape;14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3" name="Google Shape;23;p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7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8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8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9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1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1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11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1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2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2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1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4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4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1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  <p:sp>
        <p:nvSpPr>
          <p:cNvPr id="15" name="Google Shape;15;p3"/>
          <p:cNvSpPr txBox="1"/>
          <p:nvPr/>
        </p:nvSpPr>
        <p:spPr>
          <a:xfrm>
            <a:off x="4059238" y="6642100"/>
            <a:ext cx="10541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OXXO | Uso Interno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 txBox="1"/>
          <p:nvPr/>
        </p:nvSpPr>
        <p:spPr>
          <a:xfrm>
            <a:off x="74102" y="1823416"/>
            <a:ext cx="7191449" cy="3418854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Responsabilidades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Definir la estrategia de soluciones backoffice: mediante el análisis de necesidades del negocio, tendencias tecnológicas y alineación con los objetivos corporativos, para garantizar que las iniciativas tecnológicas respondan a las prioridades estratégicas de OXXO México.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Gobernar la priorización del portafolio de iniciativas: alineando con las áreas de negocio los criterios de valor, costo, riesgo y velocidad, a través de mecanismos de evaluación conjunta con líderes funcionales, para maximizar el retorno de las soluciones propuestas y asegurar el uso eficiente de los recursos disponibles.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Gestionar el presupuesto asignado a Soluciones BackOffice: brindando seguimiento a la inversión realizada en iniciativas y estableciendo mediciones periódicas de eficiencia y retorno, para mantener el control financiero del área y rendir cuentas ante el Director de TI.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Asegurar la entrega de soluciones confiables y ágiles: coordinando con stakeholders internos, proveedores y equipos técnicos a través de mecanismos de comunicación efectivos, para cumplir con las expectativas del negocio en tiempo, calidad y alcance.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Supervisar la evaluación y selección de soluciones tecnológicas: liderando el análisis de costo-beneficio, compatibilidad con sistemas existentes, escalabilidad y cumplimiento normativo en conjunto con Arquitectura TI y áreas funcionales, para garantizar decisiones de inversión tecnológica sólidas y alineadas a la estrategia.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Monitorear los indicadores de desempeño de las soluciones: mediante herramientas de análisis y reportes periódicos, asegurando el cumplimiento de SLAs acordados con las áreas usuarias, para garantizar la continuidad operativa y la mejora continua de los servicios tecnológicos.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Impulsar la automatización y optimización de procesos backoffice: identificando puntos de fricción operativa y colaborando con las áreas de negocio y el TPO de Automatización para proponer e implementar soluciones digitales que incrementen la agilidad y productividad de los colaboradores.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Garantizar el cumplimiento normativo de las soluciones: mediante la revisión de políticas internas y regulaciones externas aplicables a los dominios de RH, Finanzas, Fiscal y Administración, coordinando con las áreas responsables para mitigar riesgos y mantener la integridad operativa.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Impulsar la innovación tecnológica del área: identificando tendencias, nuevas herramientas y mejores prácticas de la industria en conjunto con Arquitectura TI, para incorporar capacidades que generen ventaja competitiva y sostenibilidad de largo plazo en las soluciones backoffice.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Cumplir y promover la aplicación de los procesos y rituales cultura de la Compañía.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1" y="0"/>
            <a:ext cx="7223196" cy="850015"/>
          </a:xfrm>
          <a:prstGeom prst="homePlate">
            <a:avLst>
              <a:gd fmla="val 50000" name="adj"/>
            </a:avLst>
          </a:prstGeom>
          <a:solidFill>
            <a:srgbClr val="99002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-25355" y="1"/>
            <a:ext cx="7128791" cy="10798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s-MX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DESCRIPCIÓN DE PUESTO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Puesto: </a:t>
            </a:r>
            <a:r>
              <a:rPr b="1" lang="es-MX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Gerente de Soluciones BackOffice</a:t>
            </a:r>
            <a:b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 Jefe Directo: TI OXXO México</a:t>
            </a:r>
            <a:b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Área Funcional: TI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4" name="Google Shape;94;p1"/>
          <p:cNvGrpSpPr/>
          <p:nvPr/>
        </p:nvGrpSpPr>
        <p:grpSpPr>
          <a:xfrm>
            <a:off x="7332180" y="969028"/>
            <a:ext cx="1728192" cy="1717735"/>
            <a:chOff x="7319480" y="969028"/>
            <a:chExt cx="1728192" cy="1717735"/>
          </a:xfrm>
        </p:grpSpPr>
        <p:sp>
          <p:nvSpPr>
            <p:cNvPr id="95" name="Google Shape;95;p1"/>
            <p:cNvSpPr/>
            <p:nvPr/>
          </p:nvSpPr>
          <p:spPr>
            <a:xfrm>
              <a:off x="7319480" y="969028"/>
              <a:ext cx="1728192" cy="1717735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1"/>
            <p:cNvSpPr txBox="1"/>
            <p:nvPr/>
          </p:nvSpPr>
          <p:spPr>
            <a:xfrm>
              <a:off x="7319480" y="969028"/>
              <a:ext cx="1728192" cy="276999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1" i="0" lang="es-MX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Herramientas Puesto: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https://d30y9cdsu7xlg0.cloudfront.net/png/1999-200.png" id="97" name="Google Shape;9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06892" y="1248360"/>
            <a:ext cx="245644" cy="2456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41085-200.png" id="98" name="Google Shape;98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2360" y="1993705"/>
            <a:ext cx="175626" cy="1756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1335-200.png" id="99" name="Google Shape;99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12360" y="1729358"/>
            <a:ext cx="262955" cy="2629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131938-200.png" id="100" name="Google Shape;100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12360" y="1483752"/>
            <a:ext cx="235520" cy="23552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"/>
          <p:cNvSpPr/>
          <p:nvPr/>
        </p:nvSpPr>
        <p:spPr>
          <a:xfrm>
            <a:off x="7459294" y="1300701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8065788" y="1248072"/>
            <a:ext cx="75468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Laptop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"/>
          <p:cNvSpPr txBox="1"/>
          <p:nvPr/>
        </p:nvSpPr>
        <p:spPr>
          <a:xfrm>
            <a:off x="8065788" y="1478402"/>
            <a:ext cx="75468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"/>
          <p:cNvSpPr txBox="1"/>
          <p:nvPr/>
        </p:nvSpPr>
        <p:spPr>
          <a:xfrm>
            <a:off x="8065788" y="1737725"/>
            <a:ext cx="7881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"/>
          <p:cNvSpPr txBox="1"/>
          <p:nvPr/>
        </p:nvSpPr>
        <p:spPr>
          <a:xfrm>
            <a:off x="8065788" y="1958408"/>
            <a:ext cx="7881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Celular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"/>
          <p:cNvSpPr/>
          <p:nvPr/>
        </p:nvSpPr>
        <p:spPr>
          <a:xfrm>
            <a:off x="7422041" y="3118872"/>
            <a:ext cx="246303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"/>
          <p:cNvSpPr txBox="1"/>
          <p:nvPr/>
        </p:nvSpPr>
        <p:spPr>
          <a:xfrm>
            <a:off x="7622365" y="3060110"/>
            <a:ext cx="4568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VPN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"/>
          <p:cNvSpPr txBox="1"/>
          <p:nvPr/>
        </p:nvSpPr>
        <p:spPr>
          <a:xfrm>
            <a:off x="8388424" y="3060110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"/>
          <p:cNvSpPr/>
          <p:nvPr/>
        </p:nvSpPr>
        <p:spPr>
          <a:xfrm>
            <a:off x="7422705" y="3360358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"/>
          <p:cNvSpPr txBox="1"/>
          <p:nvPr/>
        </p:nvSpPr>
        <p:spPr>
          <a:xfrm>
            <a:off x="7622365" y="3301596"/>
            <a:ext cx="4568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"/>
          <p:cNvSpPr txBox="1"/>
          <p:nvPr/>
        </p:nvSpPr>
        <p:spPr>
          <a:xfrm>
            <a:off x="8388424" y="3305090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"/>
          <p:cNvSpPr/>
          <p:nvPr/>
        </p:nvSpPr>
        <p:spPr>
          <a:xfrm>
            <a:off x="7422705" y="3627593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"/>
          <p:cNvSpPr txBox="1"/>
          <p:nvPr/>
        </p:nvSpPr>
        <p:spPr>
          <a:xfrm>
            <a:off x="7622365" y="3568831"/>
            <a:ext cx="475106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Retek</a:t>
            </a:r>
            <a:endParaRPr b="0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"/>
          <p:cNvSpPr txBox="1"/>
          <p:nvPr/>
        </p:nvSpPr>
        <p:spPr>
          <a:xfrm>
            <a:off x="8388424" y="3545582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Oracle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"/>
          <p:cNvSpPr/>
          <p:nvPr/>
        </p:nvSpPr>
        <p:spPr>
          <a:xfrm>
            <a:off x="7422705" y="3852614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"/>
          <p:cNvSpPr txBox="1"/>
          <p:nvPr/>
        </p:nvSpPr>
        <p:spPr>
          <a:xfrm>
            <a:off x="7622365" y="3793852"/>
            <a:ext cx="469555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"/>
          <p:cNvSpPr/>
          <p:nvPr/>
        </p:nvSpPr>
        <p:spPr>
          <a:xfrm>
            <a:off x="8180361" y="3118872"/>
            <a:ext cx="246303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"/>
          <p:cNvSpPr/>
          <p:nvPr/>
        </p:nvSpPr>
        <p:spPr>
          <a:xfrm>
            <a:off x="8181025" y="3359639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"/>
          <p:cNvSpPr/>
          <p:nvPr/>
        </p:nvSpPr>
        <p:spPr>
          <a:xfrm>
            <a:off x="8181025" y="3600406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0" name="Google Shape;120;p1"/>
          <p:cNvGrpSpPr/>
          <p:nvPr/>
        </p:nvGrpSpPr>
        <p:grpSpPr>
          <a:xfrm>
            <a:off x="7332180" y="2769544"/>
            <a:ext cx="1728192" cy="1547090"/>
            <a:chOff x="7319480" y="2769544"/>
            <a:chExt cx="1728192" cy="2268000"/>
          </a:xfrm>
        </p:grpSpPr>
        <p:sp>
          <p:nvSpPr>
            <p:cNvPr id="121" name="Google Shape;121;p1"/>
            <p:cNvSpPr txBox="1"/>
            <p:nvPr/>
          </p:nvSpPr>
          <p:spPr>
            <a:xfrm>
              <a:off x="7322014" y="2769544"/>
              <a:ext cx="1723124" cy="276999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1" i="0" lang="es-MX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Sistemas / Software: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1"/>
            <p:cNvSpPr/>
            <p:nvPr/>
          </p:nvSpPr>
          <p:spPr>
            <a:xfrm>
              <a:off x="7319480" y="2769544"/>
              <a:ext cx="1728192" cy="2268000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3" name="Google Shape;123;p1"/>
          <p:cNvSpPr txBox="1"/>
          <p:nvPr/>
        </p:nvSpPr>
        <p:spPr>
          <a:xfrm>
            <a:off x="8388424" y="3784461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Autocad</a:t>
            </a:r>
            <a:endParaRPr b="0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"/>
          <p:cNvSpPr/>
          <p:nvPr/>
        </p:nvSpPr>
        <p:spPr>
          <a:xfrm>
            <a:off x="8181025" y="3841173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"/>
          <p:cNvSpPr/>
          <p:nvPr/>
        </p:nvSpPr>
        <p:spPr>
          <a:xfrm>
            <a:off x="7422705" y="4082520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6" name="Google Shape;126;p1"/>
          <p:cNvCxnSpPr/>
          <p:nvPr/>
        </p:nvCxnSpPr>
        <p:spPr>
          <a:xfrm flipH="1" rot="10800000">
            <a:off x="7705019" y="4210996"/>
            <a:ext cx="441701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7" name="Google Shape;127;p1"/>
          <p:cNvSpPr/>
          <p:nvPr/>
        </p:nvSpPr>
        <p:spPr>
          <a:xfrm>
            <a:off x="8181025" y="4081940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8" name="Google Shape;128;p1"/>
          <p:cNvCxnSpPr/>
          <p:nvPr/>
        </p:nvCxnSpPr>
        <p:spPr>
          <a:xfrm flipH="1" rot="10800000">
            <a:off x="8462182" y="4210996"/>
            <a:ext cx="441701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9" name="Google Shape;129;p1"/>
          <p:cNvSpPr/>
          <p:nvPr/>
        </p:nvSpPr>
        <p:spPr>
          <a:xfrm>
            <a:off x="7459294" y="1536672"/>
            <a:ext cx="281058" cy="1409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"/>
          <p:cNvSpPr/>
          <p:nvPr/>
        </p:nvSpPr>
        <p:spPr>
          <a:xfrm>
            <a:off x="7459294" y="1773041"/>
            <a:ext cx="281058" cy="1409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"/>
          <p:cNvSpPr/>
          <p:nvPr/>
        </p:nvSpPr>
        <p:spPr>
          <a:xfrm>
            <a:off x="7459294" y="2009410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"/>
          <p:cNvSpPr/>
          <p:nvPr/>
        </p:nvSpPr>
        <p:spPr>
          <a:xfrm>
            <a:off x="7459294" y="2245779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"/>
          <p:cNvSpPr/>
          <p:nvPr/>
        </p:nvSpPr>
        <p:spPr>
          <a:xfrm>
            <a:off x="7459294" y="2482149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4" name="Google Shape;134;p1"/>
          <p:cNvCxnSpPr/>
          <p:nvPr/>
        </p:nvCxnSpPr>
        <p:spPr>
          <a:xfrm flipH="1" rot="10800000">
            <a:off x="7806891" y="2431240"/>
            <a:ext cx="1152000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5" name="Google Shape;135;p1"/>
          <p:cNvCxnSpPr/>
          <p:nvPr/>
        </p:nvCxnSpPr>
        <p:spPr>
          <a:xfrm flipH="1" rot="10800000">
            <a:off x="7806891" y="2650334"/>
            <a:ext cx="1152000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36" name="Google Shape;136;p1"/>
          <p:cNvGraphicFramePr/>
          <p:nvPr/>
        </p:nvGraphicFramePr>
        <p:xfrm>
          <a:off x="7332179" y="44182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{812749F7-97B2-469C-86B6-D123BB04C8BA}</a:tableStyleId>
              </a:tblPr>
              <a:tblGrid>
                <a:gridCol w="1732525"/>
              </a:tblGrid>
              <a:tr h="790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MX" sz="1100" u="none" cap="none" strike="noStrike"/>
                        <a:t>NOTA IMPORTANTE</a:t>
                      </a:r>
                      <a:r>
                        <a:rPr lang="es-MX" sz="1100" u="none" cap="none" strike="noStrike"/>
                        <a:t>: Toda herramienta o software que impacte en gasto, estará sujeta a autorización.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37" name="Google Shape;137;p1"/>
          <p:cNvSpPr txBox="1"/>
          <p:nvPr/>
        </p:nvSpPr>
        <p:spPr>
          <a:xfrm>
            <a:off x="7369146" y="1230169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"/>
          <p:cNvSpPr txBox="1"/>
          <p:nvPr/>
        </p:nvSpPr>
        <p:spPr>
          <a:xfrm>
            <a:off x="7308652" y="3014200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"/>
          <p:cNvSpPr txBox="1"/>
          <p:nvPr/>
        </p:nvSpPr>
        <p:spPr>
          <a:xfrm>
            <a:off x="8051379" y="3038442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"/>
          <p:cNvSpPr txBox="1"/>
          <p:nvPr/>
        </p:nvSpPr>
        <p:spPr>
          <a:xfrm>
            <a:off x="7459294" y="151075"/>
            <a:ext cx="149959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Colocar logo de ProxyLogis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"/>
          <p:cNvSpPr txBox="1"/>
          <p:nvPr/>
        </p:nvSpPr>
        <p:spPr>
          <a:xfrm>
            <a:off x="74103" y="969028"/>
            <a:ext cx="7186069" cy="80401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Propósito del Puesto </a:t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Liderar el diseño, implementación y optimización de soluciones tecnológicas para los procesos de backoffice de OXXO México, actuando como enlace estratégico entre las áreas de negocio (RH, Finanzas, Fiscal y Administración) y TI, para garantizar la integración, confiabilidad y mejora continua de los sistemas que soportan la operación interna, contribuyendo a la eficiencia operativa y al cumplimiento normativo de la organización.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"/>
          <p:cNvSpPr txBox="1"/>
          <p:nvPr/>
        </p:nvSpPr>
        <p:spPr>
          <a:xfrm>
            <a:off x="74103" y="5272810"/>
            <a:ext cx="4440700" cy="1547090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Decisiones Relevantes del Puesto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55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Noto Sans Symbols"/>
              <a:buChar char="▪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Priorización y aprobación del portafolio de iniciativas backoffice: decidir qué proyectos e iniciativas tecnológicas se impulsan, pausan o cancelan con base en criterios de valor para el negocio, viabilidad técnica, costo, riesgo y recursos disponibles, en alineación con el Director de TI y los líderes funcionales de las áreas usuarias.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555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Noto Sans Symbols"/>
              <a:buChar char="▪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Selección y negociación con proveedores de tecnología: determinar las soluciones tecnológicas y proveedores más adecuados para el dominio backoffice, evaluando compatibilidad con la arquitectura existente, escalabilidad, cumplimiento normativo y condiciones comerciales, en coordinación con Arquitectura TI y Abastecimientos.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"/>
          <p:cNvSpPr txBox="1"/>
          <p:nvPr/>
        </p:nvSpPr>
        <p:spPr>
          <a:xfrm>
            <a:off x="4619672" y="5272810"/>
            <a:ext cx="4428000" cy="1547090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Principales Retos del Puesto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Noto Sans Symbols"/>
              <a:buChar char="▪"/>
            </a:pPr>
            <a:r>
              <a:rPr lang="es-MX" sz="1100">
                <a:latin typeface="Calibri"/>
                <a:ea typeface="Calibri"/>
                <a:cs typeface="Calibri"/>
                <a:sym typeface="Calibri"/>
              </a:rPr>
              <a:t>Asegurar la integración y conectividad entre los sistemas backoffice (RH, Finanzas, Fiscal, FAST) garantizando estabilidad operativa, protección de información sensible y cumplimiento normativo.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Noto Sans Symbols"/>
              <a:buChar char="▪"/>
            </a:pPr>
            <a:r>
              <a:rPr lang="es-MX" sz="1100">
                <a:latin typeface="Calibri"/>
                <a:ea typeface="Calibri"/>
                <a:cs typeface="Calibri"/>
                <a:sym typeface="Calibri"/>
              </a:rPr>
              <a:t>Implementar nuevas tecnologías y automatizaciones que respondan a las necesidades del negocio, equilibrando velocidad de entrega, calidad y retorno de inversión bajo restricciones presupuestales.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-1111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1125" lvl="1" marL="57467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11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"/>
          <p:cNvSpPr txBox="1"/>
          <p:nvPr/>
        </p:nvSpPr>
        <p:spPr>
          <a:xfrm>
            <a:off x="4620903" y="3704137"/>
            <a:ext cx="4392000" cy="105630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Estructura Organizacional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0950" lvl="0" marL="34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Arial"/>
              <a:buChar char="•"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Reportes Directos: </a:t>
            </a: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TPO RH, TPO Finanzas Ingresos, TPO FAST, TPO Automatización, TPO Fiscal Cumplimiento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0950" lvl="0" marL="34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Arial"/>
              <a:buChar char="•"/>
            </a:pPr>
            <a:r>
              <a:rPr b="1" i="0" lang="es-MX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Pares: </a:t>
            </a: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Gte. Soluciones Tienda y Comercial, Gte. Soluciones Customer &amp; Digital, Gte. Soluciones Cadena de Suministro, Gte. Desarrollo de Soluciones, Gte. Arquitectura TI, Gte. Operaciones TI, Gte. Planeación y Proyectos TI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0" name="Google Shape;150;p2"/>
          <p:cNvGraphicFramePr/>
          <p:nvPr/>
        </p:nvGraphicFramePr>
        <p:xfrm>
          <a:off x="59500" y="10645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{B9DE9143-FAD8-4017-917C-B4B579F5047D}</a:tableStyleId>
              </a:tblPr>
              <a:tblGrid>
                <a:gridCol w="156200"/>
                <a:gridCol w="3028425"/>
                <a:gridCol w="4270850"/>
                <a:gridCol w="1320075"/>
              </a:tblGrid>
              <a:tr h="412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s-MX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a</a:t>
                      </a:r>
                      <a:endParaRPr sz="1400" u="none" cap="none" strike="noStrike"/>
                    </a:p>
                  </a:txBody>
                  <a:tcPr marT="9525" marB="0" marR="9525" marL="95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Puesto/ Área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Objetivo Relación: 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Frecuencia: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b="0" i="0" lang="es-MX" sz="6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(Diario, Semanal, Mes, Anual)</a:t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</a:tr>
              <a:tr h="204200">
                <a:tc rowSpan="7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i="0" lang="es-MX" sz="9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INTERNAS</a:t>
                      </a:r>
                      <a:endParaRPr sz="1400" u="none" cap="none" strike="noStrike"/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Director TI OXXO Mx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Alinear prioridades y reportar avance del portafolio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Gte. Administración y Finanzas / RH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Relevar necesidades y validar soluciones backoffice</a:t>
                      </a:r>
                      <a:endParaRPr sz="9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Gte. Arquitectura TI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Validar diseño técnico y estándares de soluciones</a:t>
                      </a:r>
                      <a:endParaRPr sz="9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Gte. Planeación y Proyectos TI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Coordinar gobernanza y seguimiento de iniciativas</a:t>
                      </a:r>
                      <a:endParaRPr sz="9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Gte. Desarrollo de Soluciones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Alinear desarrollo e integración de soluciones</a:t>
                      </a:r>
                      <a:endParaRPr sz="9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Mensual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73150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1" name="Google Shape;151;p2"/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"/>
          <p:cNvSpPr txBox="1"/>
          <p:nvPr/>
        </p:nvSpPr>
        <p:spPr>
          <a:xfrm>
            <a:off x="139564" y="3705118"/>
            <a:ext cx="4388817" cy="2667974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Dimensionamiento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Negocios: </a:t>
            </a: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OXXO México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9134" lvl="0" marL="52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Alcance Geográfico: </a:t>
            </a: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Nacional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9134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Tramo de supervisión: </a:t>
            </a: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 reportes directos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4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Otros indicadores financieros / operativos (si aplica):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2"/>
          <p:cNvSpPr/>
          <p:nvPr/>
        </p:nvSpPr>
        <p:spPr>
          <a:xfrm>
            <a:off x="59500" y="816255"/>
            <a:ext cx="881908" cy="292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Relaciones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"/>
          <p:cNvSpPr txBox="1"/>
          <p:nvPr/>
        </p:nvSpPr>
        <p:spPr>
          <a:xfrm>
            <a:off x="139564" y="6453259"/>
            <a:ext cx="4388817" cy="338552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Fecha de Modificación: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"/>
          <p:cNvSpPr txBox="1"/>
          <p:nvPr/>
        </p:nvSpPr>
        <p:spPr>
          <a:xfrm>
            <a:off x="4615620" y="6453258"/>
            <a:ext cx="4392000" cy="33855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Modificado por: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"/>
          <p:cNvSpPr/>
          <p:nvPr/>
        </p:nvSpPr>
        <p:spPr>
          <a:xfrm>
            <a:off x="1" y="0"/>
            <a:ext cx="7223196" cy="850015"/>
          </a:xfrm>
          <a:prstGeom prst="homePlate">
            <a:avLst>
              <a:gd fmla="val 50000" name="adj"/>
            </a:avLst>
          </a:prstGeom>
          <a:solidFill>
            <a:srgbClr val="99002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"/>
          <p:cNvSpPr txBox="1"/>
          <p:nvPr/>
        </p:nvSpPr>
        <p:spPr>
          <a:xfrm>
            <a:off x="4615620" y="4880609"/>
            <a:ext cx="4392000" cy="149248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Características del rol: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% de tiempo dedicado a actividades que el rol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obligatoriamente 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debe de realizar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 oficina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23"/>
              <a:buFont typeface="Arial"/>
              <a:buNone/>
            </a:pPr>
            <a:r>
              <a:t/>
            </a:r>
            <a:endParaRPr b="0" i="1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¿Cuántos días de la semana el rol realiza actividades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fuera de oficina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? 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2"/>
          <p:cNvSpPr txBox="1"/>
          <p:nvPr/>
        </p:nvSpPr>
        <p:spPr>
          <a:xfrm>
            <a:off x="-25355" y="1"/>
            <a:ext cx="7128900" cy="10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s-MX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DESCRIPCIÓN DE PUESTO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Puesto: </a:t>
            </a:r>
            <a:r>
              <a:rPr b="1" lang="es-MX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Gerente de Soluciones BackOffice</a:t>
            </a:r>
            <a:endParaRPr b="1" sz="13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 Jefe Directo: TI OXXO México</a:t>
            </a:r>
            <a:b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Área Funcional: TI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2025-01-29T22:27:57Z</dcterms:created>
  <dc:creator>Gilberto Morales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0x010100490EEA5A76710F4D840DE1E91AC235DB</vt:lpwstr>
  </property>
  <property fmtid="{D5CDD505-2E9C-101B-9397-08002B2CF9AE}" pid="3" name="ClassificationContentMarkingFooterLocations">
    <vt:lpwstr>1_Office Theme:8</vt:lpwstr>
  </property>
  <property fmtid="{D5CDD505-2E9C-101B-9397-08002B2CF9AE}" pid="4" name="ClassificationContentMarkingFooterText">
    <vt:lpwstr>OXXO | Uso Interno</vt:lpwstr>
  </property>
</Properties>
</file>