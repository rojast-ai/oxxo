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" roundtripDataSignature="AMtx7mgxabOlQDsJEDyLjEcGIzueBjpJa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84B9742-F70F-4CAB-883F-7AF81B3F28DB}">
  <a:tblStyle styleId="{B84B9742-F70F-4CAB-883F-7AF81B3F28D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fill>
          <a:solidFill>
            <a:srgbClr val="CD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4E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D3345E32-A7BB-45FA-9BBF-CDB71D0447F6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/>
              <a:t>Modificada </a:t>
            </a:r>
            <a:endParaRPr/>
          </a:p>
        </p:txBody>
      </p:sp>
      <p:sp>
        <p:nvSpPr>
          <p:cNvPr id="147" name="Google Shape;14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3" name="Google Shape;23;p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9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11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1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2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2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1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15" name="Google Shape;15;p3"/>
          <p:cNvSpPr txBox="1"/>
          <p:nvPr/>
        </p:nvSpPr>
        <p:spPr>
          <a:xfrm>
            <a:off x="4059238" y="6642100"/>
            <a:ext cx="1054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| Uso Interno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/>
        </p:nvSpPr>
        <p:spPr>
          <a:xfrm>
            <a:off x="4619672" y="5272810"/>
            <a:ext cx="44280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Principales Retos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Noto Sans Symbols"/>
              <a:buChar char="▪"/>
            </a:pPr>
            <a:r>
              <a:rPr lang="es-MX" sz="1100">
                <a:latin typeface="Calibri"/>
                <a:ea typeface="Calibri"/>
                <a:cs typeface="Calibri"/>
                <a:sym typeface="Calibri"/>
              </a:rPr>
              <a:t>Minimizar el fraude y garantizar la disponibilidad del servicio de pagos en momentos de alta transaccionalidad, manteniendo el cumplimiento de normativas de seguridad en constante evolución.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Noto Sans Symbols"/>
              <a:buChar char="▪"/>
            </a:pPr>
            <a:r>
              <a:rPr lang="es-MX" sz="1100">
                <a:latin typeface="Calibri"/>
                <a:ea typeface="Calibri"/>
                <a:cs typeface="Calibri"/>
                <a:sym typeface="Calibri"/>
              </a:rPr>
              <a:t>Integrar múltiples pasarelas y billeteras digitales en el ecosistema de OXXO México asegurando interoperabilidad, estabilidad y una experiencia de pago sin fricciones para el cliente.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1" marL="57467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74103" y="5272810"/>
            <a:ext cx="44407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Decisiones Relevantes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Noto Sans Symbols"/>
              <a:buChar char="▪"/>
            </a:pPr>
            <a:r>
              <a:rPr lang="es-MX" sz="1100">
                <a:latin typeface="Calibri"/>
                <a:ea typeface="Calibri"/>
                <a:cs typeface="Calibri"/>
                <a:sym typeface="Calibri"/>
              </a:rPr>
              <a:t>Definición de protocolos de seguridad para transacciones digitales y selección de proveedores de servicios de pago, evaluando cumplimiento normativo, estabilidad y condiciones comerciales.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Noto Sans Symbols"/>
              <a:buChar char="▪"/>
            </a:pPr>
            <a:r>
              <a:rPr lang="es-MX" sz="1100">
                <a:latin typeface="Calibri"/>
                <a:ea typeface="Calibri"/>
                <a:cs typeface="Calibri"/>
                <a:sym typeface="Calibri"/>
              </a:rPr>
              <a:t>Priorización de la resolución de incidencias críticas de pago que afecten la tasa de éxito transaccional, balanceando urgencia operativa y capacidad técnica disponible.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4102" y="1823416"/>
            <a:ext cx="7191449" cy="341885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Responsabilidades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Documentar y mantener actualizado el backlog de iniciativas y requerimientos del dominio Pagos Digitales: priorizando en conjunto con las áreas de Servicios Financieros y el Gerente Soluciones Customer y Digital, para asegurar que el portafolio responda a las necesidades de habilitación de medios de pago del negocio.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Identificar y consolidar las necesidades tecnológicas de las áreas de Servicios Financieros y Tesorería: mediante sesiones de trabajo y análisis de procesos transaccionales, para traducirlas en requerimientos funcionales claros dirigidos a los equipos técnicos y proveedores de pago.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Ejecutar el seguimiento del ciclo de vida de las soluciones de pagos digitales: desde la definición de requerimientos hasta la puesta en producción, alineando con Desarrollo de Soluciones, Arquitectura TI y Ciberseguridad para garantizar entregas de calidad con los estándares de seguridad requeridos.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Implementar la integración de pasarelas de pago y billeteras digitales con los sistemas de OXXO mediante APIs seguras y estándares de interoperabilidad, para ampliar las opciones de pago disponibles para el cliente en los canales digitales.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Elaborar la evaluación y validación de soluciones y proveedores de servicios de pago: analizando seguridad, cumplimiento normativo (PCI DSS), compatibilidad con sistemas existentes y costo, para apoyar las decisiones del Gerente Soluciones Customer y Digital.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Reportar periódicamente los indicadores de desempeño de la plataforma de pagos: documentando tasa de éxito de transacciones, incidencias y rechazos técnicos, para garantizar la disponibilidad del servicio y la toma de decisiones oportuna.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Ejecutar auditorías periódicas de cumplimiento de normativas de seguridad transaccional (PCI DSS) en coordinación con Ciberseguridad, para proteger los datos de los medios de pago y mantener la certificación requerida por los esquemas de tarjetas.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Implementar dashboards de observabilidad y alertas automáticas para monitorear en tiempo real la tasa de éxito de las transacciones, identificando y resolviendo rechazos técnicos de forma proactiva en momentos de alta transaccionalidad.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Cumplir y promover la aplicación de los procesos y rituales cultura de la Compañía.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4103" y="969028"/>
            <a:ext cx="7186069" cy="80401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Propósito del Puesto </a:t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Gestionar la tecnología que habilita los métodos de pago electrónicos y servicios financieros digitales de OXXO México, siendo el puente entre Servicios Financieros, Ciberseguridad y TI, para garantizar transacciones seguras, eficientes y de alta disponibilidad que amplíen las opciones de pago del cliente y cumplan con las normativas de seguridad transaccional.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-25355" y="1"/>
            <a:ext cx="7128791" cy="10798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Responsable Pagos Digitales y Servicios</a:t>
            </a:r>
            <a:endParaRPr b="1" i="0" sz="1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Gerente Soluciones Customer y Digital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TI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7" name="Google Shape;97;p1"/>
          <p:cNvGrpSpPr/>
          <p:nvPr/>
        </p:nvGrpSpPr>
        <p:grpSpPr>
          <a:xfrm>
            <a:off x="7332180" y="969028"/>
            <a:ext cx="1728192" cy="1717735"/>
            <a:chOff x="7319480" y="969028"/>
            <a:chExt cx="1728192" cy="1717735"/>
          </a:xfrm>
        </p:grpSpPr>
        <p:sp>
          <p:nvSpPr>
            <p:cNvPr id="98" name="Google Shape;98;p1"/>
            <p:cNvSpPr/>
            <p:nvPr/>
          </p:nvSpPr>
          <p:spPr>
            <a:xfrm>
              <a:off x="7319480" y="969028"/>
              <a:ext cx="1728192" cy="1717735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"/>
            <p:cNvSpPr txBox="1"/>
            <p:nvPr/>
          </p:nvSpPr>
          <p:spPr>
            <a:xfrm>
              <a:off x="7319480" y="969028"/>
              <a:ext cx="1728192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Herramientas Puesto: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https://d30y9cdsu7xlg0.cloudfront.net/png/1999-200.png" id="100" name="Google Shape;10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06892" y="1248360"/>
            <a:ext cx="245644" cy="2456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41085-200.png" id="101" name="Google Shape;10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2360" y="1993705"/>
            <a:ext cx="175626" cy="175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35-200.png" id="102" name="Google Shape;102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2360" y="1729358"/>
            <a:ext cx="262955" cy="2629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1938-200.png" id="103" name="Google Shape;103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12360" y="1483752"/>
            <a:ext cx="235520" cy="23552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"/>
          <p:cNvSpPr/>
          <p:nvPr/>
        </p:nvSpPr>
        <p:spPr>
          <a:xfrm>
            <a:off x="7459294" y="1300701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8065788" y="124807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Laptop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8065788" y="147840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8065788" y="1737725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"/>
          <p:cNvSpPr txBox="1"/>
          <p:nvPr/>
        </p:nvSpPr>
        <p:spPr>
          <a:xfrm>
            <a:off x="8065788" y="1958408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Celular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"/>
          <p:cNvSpPr/>
          <p:nvPr/>
        </p:nvSpPr>
        <p:spPr>
          <a:xfrm>
            <a:off x="742204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7622365" y="3060110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VPN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"/>
          <p:cNvSpPr txBox="1"/>
          <p:nvPr/>
        </p:nvSpPr>
        <p:spPr>
          <a:xfrm>
            <a:off x="8388424" y="306011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"/>
          <p:cNvSpPr/>
          <p:nvPr/>
        </p:nvSpPr>
        <p:spPr>
          <a:xfrm>
            <a:off x="7422705" y="3360358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"/>
          <p:cNvSpPr txBox="1"/>
          <p:nvPr/>
        </p:nvSpPr>
        <p:spPr>
          <a:xfrm>
            <a:off x="7622365" y="3301596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"/>
          <p:cNvSpPr txBox="1"/>
          <p:nvPr/>
        </p:nvSpPr>
        <p:spPr>
          <a:xfrm>
            <a:off x="8388424" y="330509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"/>
          <p:cNvSpPr/>
          <p:nvPr/>
        </p:nvSpPr>
        <p:spPr>
          <a:xfrm>
            <a:off x="7422705" y="362759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 txBox="1"/>
          <p:nvPr/>
        </p:nvSpPr>
        <p:spPr>
          <a:xfrm>
            <a:off x="7622365" y="3568831"/>
            <a:ext cx="47510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Retek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"/>
          <p:cNvSpPr txBox="1"/>
          <p:nvPr/>
        </p:nvSpPr>
        <p:spPr>
          <a:xfrm>
            <a:off x="8388424" y="3545582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Oracle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"/>
          <p:cNvSpPr/>
          <p:nvPr/>
        </p:nvSpPr>
        <p:spPr>
          <a:xfrm>
            <a:off x="7422705" y="3852614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"/>
          <p:cNvSpPr txBox="1"/>
          <p:nvPr/>
        </p:nvSpPr>
        <p:spPr>
          <a:xfrm>
            <a:off x="7622365" y="3793852"/>
            <a:ext cx="46955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"/>
          <p:cNvSpPr/>
          <p:nvPr/>
        </p:nvSpPr>
        <p:spPr>
          <a:xfrm>
            <a:off x="818036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"/>
          <p:cNvSpPr/>
          <p:nvPr/>
        </p:nvSpPr>
        <p:spPr>
          <a:xfrm>
            <a:off x="8181025" y="3359639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"/>
          <p:cNvSpPr/>
          <p:nvPr/>
        </p:nvSpPr>
        <p:spPr>
          <a:xfrm>
            <a:off x="8181025" y="3600406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3" name="Google Shape;123;p1"/>
          <p:cNvGrpSpPr/>
          <p:nvPr/>
        </p:nvGrpSpPr>
        <p:grpSpPr>
          <a:xfrm>
            <a:off x="7332180" y="2769544"/>
            <a:ext cx="1728192" cy="1547090"/>
            <a:chOff x="7319480" y="2769544"/>
            <a:chExt cx="1728192" cy="2268000"/>
          </a:xfrm>
        </p:grpSpPr>
        <p:sp>
          <p:nvSpPr>
            <p:cNvPr id="124" name="Google Shape;124;p1"/>
            <p:cNvSpPr txBox="1"/>
            <p:nvPr/>
          </p:nvSpPr>
          <p:spPr>
            <a:xfrm>
              <a:off x="7322014" y="2769544"/>
              <a:ext cx="1723124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Sistemas / Software: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1"/>
            <p:cNvSpPr/>
            <p:nvPr/>
          </p:nvSpPr>
          <p:spPr>
            <a:xfrm>
              <a:off x="7319480" y="2769544"/>
              <a:ext cx="1728192" cy="2268000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" name="Google Shape;126;p1"/>
          <p:cNvSpPr txBox="1"/>
          <p:nvPr/>
        </p:nvSpPr>
        <p:spPr>
          <a:xfrm>
            <a:off x="8388424" y="3784461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Autocad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"/>
          <p:cNvSpPr/>
          <p:nvPr/>
        </p:nvSpPr>
        <p:spPr>
          <a:xfrm>
            <a:off x="8181025" y="384117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"/>
          <p:cNvSpPr/>
          <p:nvPr/>
        </p:nvSpPr>
        <p:spPr>
          <a:xfrm>
            <a:off x="7422705" y="408252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9" name="Google Shape;129;p1"/>
          <p:cNvCxnSpPr/>
          <p:nvPr/>
        </p:nvCxnSpPr>
        <p:spPr>
          <a:xfrm flipH="1" rot="10800000">
            <a:off x="7705019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0" name="Google Shape;130;p1"/>
          <p:cNvSpPr/>
          <p:nvPr/>
        </p:nvSpPr>
        <p:spPr>
          <a:xfrm>
            <a:off x="8181025" y="408194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" name="Google Shape;131;p1"/>
          <p:cNvCxnSpPr/>
          <p:nvPr/>
        </p:nvCxnSpPr>
        <p:spPr>
          <a:xfrm flipH="1" rot="10800000">
            <a:off x="8462182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2" name="Google Shape;132;p1"/>
          <p:cNvSpPr/>
          <p:nvPr/>
        </p:nvSpPr>
        <p:spPr>
          <a:xfrm>
            <a:off x="7459294" y="1536672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"/>
          <p:cNvSpPr/>
          <p:nvPr/>
        </p:nvSpPr>
        <p:spPr>
          <a:xfrm>
            <a:off x="7459294" y="1773041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"/>
          <p:cNvSpPr/>
          <p:nvPr/>
        </p:nvSpPr>
        <p:spPr>
          <a:xfrm>
            <a:off x="7459294" y="2009410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"/>
          <p:cNvSpPr/>
          <p:nvPr/>
        </p:nvSpPr>
        <p:spPr>
          <a:xfrm>
            <a:off x="7459294" y="224577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"/>
          <p:cNvSpPr/>
          <p:nvPr/>
        </p:nvSpPr>
        <p:spPr>
          <a:xfrm>
            <a:off x="7459294" y="248214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7" name="Google Shape;137;p1"/>
          <p:cNvCxnSpPr/>
          <p:nvPr/>
        </p:nvCxnSpPr>
        <p:spPr>
          <a:xfrm flipH="1" rot="10800000">
            <a:off x="7806891" y="2431240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8" name="Google Shape;138;p1"/>
          <p:cNvCxnSpPr/>
          <p:nvPr/>
        </p:nvCxnSpPr>
        <p:spPr>
          <a:xfrm flipH="1" rot="10800000">
            <a:off x="7806891" y="2650334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39" name="Google Shape;139;p1"/>
          <p:cNvGraphicFramePr/>
          <p:nvPr/>
        </p:nvGraphicFramePr>
        <p:xfrm>
          <a:off x="7332179" y="44182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{B84B9742-F70F-4CAB-883F-7AF81B3F28DB}</a:tableStyleId>
              </a:tblPr>
              <a:tblGrid>
                <a:gridCol w="1732525"/>
              </a:tblGrid>
              <a:tr h="79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MX" sz="1100" u="none" cap="none" strike="noStrike"/>
                        <a:t>NOTA IMPORTANTE</a:t>
                      </a:r>
                      <a:r>
                        <a:rPr lang="es-MX" sz="1100" u="none" cap="none" strike="noStrike"/>
                        <a:t>: Toda herramienta o software que impacte en gasto, estará sujeta a autorización.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40" name="Google Shape;140;p1"/>
          <p:cNvSpPr txBox="1"/>
          <p:nvPr/>
        </p:nvSpPr>
        <p:spPr>
          <a:xfrm>
            <a:off x="7369146" y="1230169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"/>
          <p:cNvSpPr txBox="1"/>
          <p:nvPr/>
        </p:nvSpPr>
        <p:spPr>
          <a:xfrm>
            <a:off x="7308652" y="3014200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"/>
          <p:cNvSpPr txBox="1"/>
          <p:nvPr/>
        </p:nvSpPr>
        <p:spPr>
          <a:xfrm>
            <a:off x="8051379" y="3038442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"/>
          <p:cNvSpPr txBox="1"/>
          <p:nvPr/>
        </p:nvSpPr>
        <p:spPr>
          <a:xfrm>
            <a:off x="7459294" y="151075"/>
            <a:ext cx="149959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Colocar logo de ProxyLogis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"/>
          <p:cNvSpPr txBox="1"/>
          <p:nvPr/>
        </p:nvSpPr>
        <p:spPr>
          <a:xfrm>
            <a:off x="4620903" y="3704137"/>
            <a:ext cx="4392000" cy="105630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Estructura Organizacional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460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Arial"/>
              <a:buChar char="•"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Reportes Directos: 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460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Arial"/>
              <a:buChar char="•"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Pares: </a:t>
            </a:r>
            <a:r>
              <a:rPr lang="es-MX" sz="800">
                <a:latin typeface="Calibri"/>
                <a:ea typeface="Calibri"/>
                <a:cs typeface="Calibri"/>
                <a:sym typeface="Calibri"/>
              </a:rPr>
              <a:t>Responsable Analytics y Customer Insight, Responsable Canales Digitales App y Web, Responsable Soluciones Loyalty y CRM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0" name="Google Shape;150;p2"/>
          <p:cNvGraphicFramePr/>
          <p:nvPr/>
        </p:nvGraphicFramePr>
        <p:xfrm>
          <a:off x="59500" y="10645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{D3345E32-A7BB-45FA-9BBF-CDB71D0447F6}</a:tableStyleId>
              </a:tblPr>
              <a:tblGrid>
                <a:gridCol w="156200"/>
                <a:gridCol w="3028425"/>
                <a:gridCol w="4270850"/>
                <a:gridCol w="1320075"/>
              </a:tblGrid>
              <a:tr h="412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a</a:t>
                      </a:r>
                      <a:endParaRPr sz="1400" u="none" cap="none" strike="noStrike"/>
                    </a:p>
                  </a:txBody>
                  <a:tcPr marT="9525" marB="0" marR="9525" marL="95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Puesto/ Área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Objetivo Relación: 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Frecuencia: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0" i="0" lang="es-MX" sz="6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(Diario, Semanal, Mes, Anual)</a:t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  <a:tr h="204200">
                <a:tc rowSpan="7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INTERNAS</a:t>
                      </a:r>
                      <a:endParaRPr sz="1400" u="none" cap="none" strike="noStrike"/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Gerente Soluciones Customer y Digital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Alinear prioridades y reportar avance del dominio</a:t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Servicios Financieros OXXO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Alinear productos de pago y depósitos digitales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Ciberseguridad / Prevención de Fraude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Implementar reglas de validación y cumplimiento PCI DSS</a:t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Tesorería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Conciliación de transacciones digitales</a:t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Mensual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1" name="Google Shape;151;p2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"/>
          <p:cNvSpPr txBox="1"/>
          <p:nvPr/>
        </p:nvSpPr>
        <p:spPr>
          <a:xfrm>
            <a:off x="139564" y="3705118"/>
            <a:ext cx="4388817" cy="266797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Dimensionamiento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Negocios: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México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52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Alcance Geográfico: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Nacional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Tramo de supervisión: 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4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Otros indicadores financieros / operativos (si aplica):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"/>
          <p:cNvSpPr/>
          <p:nvPr/>
        </p:nvSpPr>
        <p:spPr>
          <a:xfrm>
            <a:off x="59500" y="816255"/>
            <a:ext cx="881908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Relaciones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"/>
          <p:cNvSpPr txBox="1"/>
          <p:nvPr/>
        </p:nvSpPr>
        <p:spPr>
          <a:xfrm>
            <a:off x="139564" y="6453259"/>
            <a:ext cx="4388817" cy="338552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Fecha de Modificación: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"/>
          <p:cNvSpPr txBox="1"/>
          <p:nvPr/>
        </p:nvSpPr>
        <p:spPr>
          <a:xfrm>
            <a:off x="4615620" y="6453258"/>
            <a:ext cx="4392000" cy="33855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Modificado por: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"/>
          <p:cNvSpPr txBox="1"/>
          <p:nvPr/>
        </p:nvSpPr>
        <p:spPr>
          <a:xfrm>
            <a:off x="4615620" y="4880609"/>
            <a:ext cx="4392000" cy="149248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Características del rol: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% de tiempo dedicado a actividades que el rol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obligatoriamente 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debe de realizar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3"/>
              <a:buFont typeface="Arial"/>
              <a:buNone/>
            </a:pPr>
            <a:r>
              <a:t/>
            </a:r>
            <a:endParaRPr b="0" i="1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¿Cuántos días de la semana el rol realiza actividades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fuera de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"/>
          <p:cNvSpPr txBox="1"/>
          <p:nvPr/>
        </p:nvSpPr>
        <p:spPr>
          <a:xfrm>
            <a:off x="-25355" y="1"/>
            <a:ext cx="7128900" cy="10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Responsable Pagos Digitales y Servicios</a:t>
            </a:r>
            <a:endParaRPr b="1" i="0" sz="1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Gerente Soluciones Customer y Digital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TI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2025-01-29T22:27:57Z</dcterms:created>
  <dc:creator>Gilberto Morales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0x010100490EEA5A76710F4D840DE1E91AC235DB</vt:lpwstr>
  </property>
  <property fmtid="{D5CDD505-2E9C-101B-9397-08002B2CF9AE}" pid="3" name="ClassificationContentMarkingFooterLocations">
    <vt:lpwstr>1_Office Theme:8</vt:lpwstr>
  </property>
  <property fmtid="{D5CDD505-2E9C-101B-9397-08002B2CF9AE}" pid="4" name="ClassificationContentMarkingFooterText">
    <vt:lpwstr>OXXO | Uso Interno</vt:lpwstr>
  </property>
</Properties>
</file>