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gyKW7Phws92m/ruGaJYRMV2yV4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8B1DE8A-415F-4863-90C2-ACFCA34C3613}">
  <a:tblStyle styleId="{18B1DE8A-415F-4863-90C2-ACFCA34C361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8C57E702-69DF-4814-BCA1-B52FD87EC71B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Modificada </a:t>
            </a:r>
            <a:endParaRPr/>
          </a:p>
        </p:txBody>
      </p:sp>
      <p:sp>
        <p:nvSpPr>
          <p:cNvPr id="148" name="Google Shape;14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4059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74102" y="1823416"/>
            <a:ext cx="7191449" cy="341885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b="1" lang="es-MX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Responsabilidades </a:t>
            </a:r>
            <a:endParaRPr b="1" sz="1000"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b="1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Diseñar el plan de cada piloto tecnológico: </a:t>
            </a: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definiendo tiendas representativas, cronograma, métricas de éxito y criterios de aceptación, en coordinación con los equipos de Soluciones TI y Operaciones, para asegurar que las pruebas reflejen con precisión las condiciones reales de tienda.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b="1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Monitorear el desempeño técnico y operativo: </a:t>
            </a: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 las soluciones durante el piloto mediante indicadores de estabilidad, adopción y experiencia de usuario, para identificar desviaciones y accionarlas oportunamente antes del roll-out masivo.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b="1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Diseñar e impartir materiales de capacitación: </a:t>
            </a: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 soporte necesarios para que el personal de tienda adopte las nuevas herramientas durante el piloto, con el fin de obtener retroalimentación real y representativa que valide la solución.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b="1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Elaborar reportes de resultados del piloto: </a:t>
            </a: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integrando evidencia cuantitativa y cualitativa de los indicadores definidos, para emitir un dictamen de viabilidad que recomiende si la solución debe avanzar al despliegue masivo, pausarse o requerir ajustes.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b="1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Coordinar con los equipos de Soluciones TI: </a:t>
            </a: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 resolución de incidencias técnicas detectadas durante el pilotaje, documentando cada hallazgo y su resolución, para retroalimentar los ciclos de desarrollo y mejorar la calidad de futuras versiones.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b="1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Gestionar la selección y preparación de tiendas EVA: </a:t>
            </a: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definiendo los criterios de representatividad operativa y coordinando con Operaciones Nacionales la habilitación del entorno de prueba, para garantizar condiciones controladas y comparables entre pilotos.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b="1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Documentar las lecciones aprendidas de cada piloto: </a:t>
            </a: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consolidando los hallazgos técnicos, operativos y de adopción en una base de conocimiento compartida, para acelerar la curva de aprendizaje en futuros despliegues y reducir el riesgo de roll-out.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b="1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Reportar el estatus de los pilotos activos: </a:t>
            </a: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 Gerente de Planeación y Proyectos de TI y al Responsable PMO mediante indicadores de avance y riesgo, para habilitar decisiones oportunas sobre continuidad, ajuste o cancelación de cada prueba.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b="1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Cumplir y promover con la aplicación de los procesos y rituales cultura de la Compañía. 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4103" y="5272810"/>
            <a:ext cx="44407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Decisiones Relevantes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Noto Sans Symbols"/>
              <a:buChar char="▪"/>
            </a:pPr>
            <a:r>
              <a:rPr b="0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Determinar la suspensión o avance de un piloto tecnológico basándose en el cumplimiento de los indicadores de estabilidad y adopción del usuario.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Noto Sans Symbols"/>
              <a:buChar char="▪"/>
            </a:pPr>
            <a:r>
              <a:rPr b="0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Aprobar los ajustes técnicos de último minuto necesarios para asegurar que el piloto refleje con precisión la realidad operativa.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Propósito del Puesto 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Gestionar el ciclo de vida de las pruebas controladas (pilotos) de nuevas herramientas tecnológicas en el entorno real de tienda (EVA), coordinando con los equipos de Soluciones TI y Operaciones para asegurar que las soluciones estén listas para un despliegue masivo con mínimo riesgo operativo.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i="0" lang="es-MX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Responsable de Gestión de Pilotos EVA</a:t>
            </a:r>
            <a:b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</a:t>
            </a:r>
            <a:r>
              <a:rPr b="1" i="0" lang="es-MX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Gerente de Planeación y Proyectos de TI</a:t>
            </a:r>
            <a:b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4619672" y="5272810"/>
            <a:ext cx="44280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Principales Retos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Noto Sans Symbols"/>
              <a:buChar char="▪"/>
            </a:pPr>
            <a:r>
              <a:rPr b="0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Controlar variables externas en las tiendas que puedan contaminar los resultados de las pruebas tecnológicas.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Noto Sans Symbols"/>
              <a:buChar char="▪"/>
            </a:pPr>
            <a:r>
              <a:rPr b="0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Acelerar la etapa de aprendizaje de los colaboradores de tienda para obtener retroalimentación útil en tiempos cortos.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1" marL="57467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7" name="Google Shape;97;p1"/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98" name="Google Shape;98;p1"/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Herramientas Puesto: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https://d30y9cdsu7xlg0.cloudfront.net/png/1999-200.png" id="100" name="Google Shape;10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6892" y="1248360"/>
            <a:ext cx="245644" cy="245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41085-200.png" id="101" name="Google Shape;10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993705"/>
            <a:ext cx="175626" cy="175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35-200.png" id="102" name="Google Shape;102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2360" y="1729358"/>
            <a:ext cx="262955" cy="262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1938-200.png" id="103" name="Google Shape;103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2360" y="1483752"/>
            <a:ext cx="235520" cy="23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"/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Laptop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Celular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"/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"/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"/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Retek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"/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"/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"/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"/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"/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3" name="Google Shape;123;p1"/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124" name="Google Shape;124;p1"/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Sistemas / Software: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"/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1"/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Autocad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"/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"/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1"/>
          <p:cNvCxnSpPr/>
          <p:nvPr/>
        </p:nvCxnSpPr>
        <p:spPr>
          <a:xfrm flipH="1" rot="10800000">
            <a:off x="7705019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0" name="Google Shape;130;p1"/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p1"/>
          <p:cNvCxnSpPr/>
          <p:nvPr/>
        </p:nvCxnSpPr>
        <p:spPr>
          <a:xfrm flipH="1" rot="10800000">
            <a:off x="8462182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2" name="Google Shape;132;p1"/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"/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"/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p1"/>
          <p:cNvCxnSpPr/>
          <p:nvPr/>
        </p:nvCxnSpPr>
        <p:spPr>
          <a:xfrm flipH="1" rot="10800000">
            <a:off x="7806891" y="2431240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8" name="Google Shape;138;p1"/>
          <p:cNvCxnSpPr/>
          <p:nvPr/>
        </p:nvCxnSpPr>
        <p:spPr>
          <a:xfrm flipH="1" rot="10800000">
            <a:off x="7806891" y="2650334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9" name="Google Shape;139;p1"/>
          <p:cNvGraphicFramePr/>
          <p:nvPr/>
        </p:nvGraphicFramePr>
        <p:xfrm>
          <a:off x="7332179" y="4418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{18B1DE8A-415F-4863-90C2-ACFCA34C3613}</a:tableStyleId>
              </a:tblPr>
              <a:tblGrid>
                <a:gridCol w="1732525"/>
              </a:tblGrid>
              <a:tr h="79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MX" sz="1100" u="none" cap="none" strike="noStrike"/>
                        <a:t>NOTA IMPORTANTE</a:t>
                      </a:r>
                      <a:r>
                        <a:rPr lang="es-MX" sz="1100" u="none" cap="none" strike="noStrike"/>
                        <a:t>: Toda herramienta o software que impacte en gasto, estará sujeta a autorización.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40" name="Google Shape;140;p1"/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8050302" y="3005125"/>
            <a:ext cx="50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8050317" y="3283730"/>
            <a:ext cx="50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"/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logo de ProxyLogis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"/>
          <p:cNvSpPr txBox="1"/>
          <p:nvPr/>
        </p:nvSpPr>
        <p:spPr>
          <a:xfrm>
            <a:off x="7291990" y="3283725"/>
            <a:ext cx="50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"/>
          <p:cNvSpPr txBox="1"/>
          <p:nvPr/>
        </p:nvSpPr>
        <p:spPr>
          <a:xfrm>
            <a:off x="139564" y="3705118"/>
            <a:ext cx="4388817" cy="266797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9999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Negocios: 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México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9999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 Geográfico: 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9999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Tramo de supervisión: 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Sin reportes directos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9999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Otros indicadores financieros / operativos: 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Núm. de pilotos activos; tasa de éxito a roll-out; tiendas EVA por piloto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"/>
          <p:cNvSpPr txBox="1"/>
          <p:nvPr/>
        </p:nvSpPr>
        <p:spPr>
          <a:xfrm>
            <a:off x="4620903" y="3704137"/>
            <a:ext cx="4392000" cy="105630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0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 Directos: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Ninguno.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Pares: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PMO OXXO México, Responsable de Procesos Solución.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"/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139564" y="6453259"/>
            <a:ext cx="4388817" cy="338552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Fecha de Modificación: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4615620" y="6453258"/>
            <a:ext cx="4392000" cy="33855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Modificado por: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"/>
          <p:cNvSpPr txBox="1"/>
          <p:nvPr/>
        </p:nvSpPr>
        <p:spPr>
          <a:xfrm>
            <a:off x="4615620" y="4880609"/>
            <a:ext cx="4392000" cy="149248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Características del rol: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79999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 de tiempo dedicado a actividades que el rol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obligatoriamente 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debe de realizar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79999" lvl="0" marL="144000" marR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79999" lvl="0" marL="144000" marR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79998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¿Cuántos días de la semana el rol realiza actividades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fuera de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b="1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179998" lvl="0" marL="144000" marR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8" name="Google Shape;158;p2"/>
          <p:cNvGraphicFramePr/>
          <p:nvPr/>
        </p:nvGraphicFramePr>
        <p:xfrm>
          <a:off x="59500" y="1064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{8C57E702-69DF-4814-BCA1-B52FD87EC71B}</a:tableStyleId>
              </a:tblPr>
              <a:tblGrid>
                <a:gridCol w="156200"/>
                <a:gridCol w="3028425"/>
                <a:gridCol w="4270850"/>
                <a:gridCol w="1320075"/>
              </a:tblGrid>
              <a:tr h="41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a</a:t>
                      </a:r>
                      <a:endParaRPr sz="1400" u="none" cap="none" strike="noStrike"/>
                    </a:p>
                  </a:txBody>
                  <a:tcPr marT="9525" marB="0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Puesto/ Área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Objetivo Relación: 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Frecuencia: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s-MX" sz="6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(Diario, Semanal, Mes, Anual)</a:t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04200">
                <a:tc row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INTERNAS</a:t>
                      </a:r>
                      <a:endParaRPr sz="1400" u="none" cap="none" strike="noStrike"/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 de Planeación y Proyectos de TI</a:t>
                      </a:r>
                      <a:endParaRPr sz="1400" u="none" cap="none" strike="noStrike"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Reportar avance y dictámenes de viabilidad de pilotos</a:t>
                      </a:r>
                      <a:endParaRPr sz="1400" u="none" cap="none" strike="noStrike"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1400" u="none" cap="none" strike="noStrike"/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Gerentes de Soluciones TI (L2 relevante)</a:t>
                      </a:r>
                      <a:endParaRPr sz="1400" u="none" cap="none" strike="noStrike"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Coordinar ajustes técnicos durante la etapa de pilotaje</a:t>
                      </a:r>
                      <a:endParaRPr sz="1400" u="none" cap="none" strike="noStrike"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1400" u="none" cap="none" strike="noStrike"/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Excelencia Operativa / Despliegue Operativo</a:t>
                      </a:r>
                      <a:endParaRPr sz="1400" u="none" cap="none" strike="noStrike"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criterios operativos de tienda para diseño de pilotos</a:t>
                      </a:r>
                      <a:endParaRPr sz="1400" u="none" cap="none" strike="noStrike"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1400" u="none" cap="none" strike="noStrike"/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Operaciones Nacionales (Regiones/Plazas)</a:t>
                      </a:r>
                      <a:endParaRPr sz="1400" u="none" cap="none" strike="noStrike"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Seleccionar tiendas y capacitar personal durante pilotos</a:t>
                      </a:r>
                      <a:endParaRPr sz="1400" u="none" cap="none" strike="noStrike"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1400" u="none" cap="none" strike="noStrike"/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Responsable PMO</a:t>
                      </a:r>
                      <a:endParaRPr sz="1400" u="none" cap="none" strike="noStrike"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Integrar resultados de pilotos al portafolio y plan de roll-out</a:t>
                      </a:r>
                      <a:endParaRPr sz="1400" u="none" cap="none" strike="noStrike"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1400" u="none" cap="none" strike="noStrike"/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9" name="Google Shape;159;p2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i="0" lang="es-MX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Responsable de Gestión de Pilotos EVA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</a:t>
            </a:r>
            <a:r>
              <a:rPr b="1" i="0" lang="es-MX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Gerente de Planeación y Proyectos de TI</a:t>
            </a:r>
            <a:b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</a:t>
            </a:r>
            <a:r>
              <a:rPr b="1" i="0" lang="es-MX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2025-01-29T22:27:57Z</dcterms:created>
  <dc:creator>Gilberto Morales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