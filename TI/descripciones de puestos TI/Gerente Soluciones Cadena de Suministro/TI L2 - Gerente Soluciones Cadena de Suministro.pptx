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ja9LauQtMhxsS/NDfZgF9sm6a9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196C31-DE31-4EEB-A1FE-65C315F2E925}">
  <a:tblStyle styleId="{B0196C31-DE31-4EEB-A1FE-65C315F2E92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A905B088-DBB1-476B-8120-157E282447E1}"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52400" lvl="0" marL="228600" marR="0" rtl="0" algn="l">
              <a:lnSpc>
                <a:spcPct val="100000"/>
              </a:lnSpc>
              <a:spcBef>
                <a:spcPts val="0"/>
              </a:spcBef>
              <a:spcAft>
                <a:spcPts val="0"/>
              </a:spcAft>
              <a:buClr>
                <a:schemeClr val="dk1"/>
              </a:buClr>
              <a:buSzPts val="1200"/>
              <a:buFont typeface="Play"/>
              <a:buNone/>
            </a:pPr>
            <a:r>
              <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MX"/>
              <a:t>Modificada </a:t>
            </a:r>
            <a:endParaRPr/>
          </a:p>
        </p:txBody>
      </p:sp>
      <p:sp>
        <p:nvSpPr>
          <p:cNvPr id="147" name="Google Shape;1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MX"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5"/>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9"/>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9"/>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9"/>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9"/>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2"/>
          <p:cNvSpPr/>
          <p:nvPr>
            <p:ph idx="2" type="pic"/>
          </p:nvPr>
        </p:nvSpPr>
        <p:spPr>
          <a:xfrm>
            <a:off x="3887391" y="987426"/>
            <a:ext cx="4629150" cy="4873625"/>
          </a:xfrm>
          <a:prstGeom prst="rect">
            <a:avLst/>
          </a:prstGeom>
          <a:noFill/>
          <a:ln>
            <a:noFill/>
          </a:ln>
        </p:spPr>
      </p:sp>
      <p:sp>
        <p:nvSpPr>
          <p:cNvPr id="69" name="Google Shape;69;p1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
        <p:nvSpPr>
          <p:cNvPr id="15" name="Google Shape;15;p3"/>
          <p:cNvSpPr txBox="1"/>
          <p:nvPr/>
        </p:nvSpPr>
        <p:spPr>
          <a:xfrm>
            <a:off x="4059238" y="6642100"/>
            <a:ext cx="10541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s-MX" sz="1000" u="none" cap="none" strike="noStrike">
                <a:solidFill>
                  <a:srgbClr val="000000"/>
                </a:solidFill>
                <a:latin typeface="Calibri"/>
                <a:ea typeface="Calibri"/>
                <a:cs typeface="Calibri"/>
                <a:sym typeface="Calibri"/>
              </a:rPr>
              <a:t>OXXO | Uso Interno</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nvSpPr>
        <p:spPr>
          <a:xfrm>
            <a:off x="4619672" y="5272810"/>
            <a:ext cx="4428000" cy="1547090"/>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300"/>
              <a:buFont typeface="Arial"/>
              <a:buNone/>
            </a:pPr>
            <a:r>
              <a:rPr b="1" i="0" lang="es-MX" sz="1300" u="none" cap="none" strike="noStrike">
                <a:solidFill>
                  <a:srgbClr val="000000"/>
                </a:solidFill>
                <a:latin typeface="Calibri"/>
                <a:ea typeface="Calibri"/>
                <a:cs typeface="Calibri"/>
                <a:sym typeface="Calibri"/>
              </a:rPr>
              <a:t>Principales Retos del Puesto </a:t>
            </a:r>
            <a:endParaRPr b="0" i="0" sz="1400" u="none" cap="none" strike="noStrike">
              <a:solidFill>
                <a:srgbClr val="000000"/>
              </a:solidFill>
              <a:latin typeface="Arial"/>
              <a:ea typeface="Arial"/>
              <a:cs typeface="Arial"/>
              <a:sym typeface="Arial"/>
            </a:endParaRPr>
          </a:p>
          <a:p>
            <a:pPr indent="-168275" lvl="0" marL="174625" marR="0" rtl="0" algn="just">
              <a:lnSpc>
                <a:spcPct val="100000"/>
              </a:lnSpc>
              <a:spcBef>
                <a:spcPts val="200"/>
              </a:spcBef>
              <a:spcAft>
                <a:spcPts val="0"/>
              </a:spcAft>
              <a:buClr>
                <a:srgbClr val="840E27"/>
              </a:buClr>
              <a:buSzPts val="1100"/>
              <a:buFont typeface="Noto Sans Symbols"/>
              <a:buChar char="▪"/>
            </a:pPr>
            <a:r>
              <a:rPr lang="es-MX" sz="1100">
                <a:latin typeface="Calibri"/>
                <a:ea typeface="Calibri"/>
                <a:cs typeface="Calibri"/>
                <a:sym typeface="Calibri"/>
              </a:rPr>
              <a:t>Consolidar bajo un punto único de accountability los recursos de TI que antes operaban de forma dispersa, mientras se soporta el crecimiento acelerado de la red de tiendas con infraestructura logística flexible.</a:t>
            </a:r>
            <a:endParaRPr sz="1100">
              <a:latin typeface="Calibri"/>
              <a:ea typeface="Calibri"/>
              <a:cs typeface="Calibri"/>
              <a:sym typeface="Calibri"/>
            </a:endParaRPr>
          </a:p>
          <a:p>
            <a:pPr indent="-168275" lvl="0" marL="174625" marR="0" rtl="0" algn="just">
              <a:lnSpc>
                <a:spcPct val="100000"/>
              </a:lnSpc>
              <a:spcBef>
                <a:spcPts val="200"/>
              </a:spcBef>
              <a:spcAft>
                <a:spcPts val="0"/>
              </a:spcAft>
              <a:buClr>
                <a:srgbClr val="840E27"/>
              </a:buClr>
              <a:buSzPts val="1100"/>
              <a:buFont typeface="Noto Sans Symbols"/>
              <a:buChar char="▪"/>
            </a:pPr>
            <a:r>
              <a:rPr lang="es-MX" sz="1100">
                <a:latin typeface="Calibri"/>
                <a:ea typeface="Calibri"/>
                <a:cs typeface="Calibri"/>
                <a:sym typeface="Calibri"/>
              </a:rPr>
              <a:t>Lograr visibilidad del inventario en tiempo real a lo largo de todos los nodos de la cadena, integrando múltiples sistemas con alta volumetría de datos y operación continua.</a:t>
            </a:r>
            <a:endParaRPr sz="1100">
              <a:latin typeface="Calibri"/>
              <a:ea typeface="Calibri"/>
              <a:cs typeface="Calibri"/>
              <a:sym typeface="Calibri"/>
            </a:endParaRPr>
          </a:p>
          <a:p>
            <a:pPr indent="-111125" lvl="0" marL="174625" marR="0" rtl="0" algn="just">
              <a:lnSpc>
                <a:spcPct val="100000"/>
              </a:lnSpc>
              <a:spcBef>
                <a:spcPts val="200"/>
              </a:spcBef>
              <a:spcAft>
                <a:spcPts val="0"/>
              </a:spcAft>
              <a:buClr>
                <a:srgbClr val="840E27"/>
              </a:buClr>
              <a:buSzPts val="1000"/>
              <a:buFont typeface="Noto Sans Symbols"/>
              <a:buNone/>
            </a:pPr>
            <a:r>
              <a:t/>
            </a:r>
            <a:endParaRPr b="0" i="0" sz="1000" u="none" cap="none" strike="noStrike">
              <a:solidFill>
                <a:srgbClr val="000000"/>
              </a:solidFill>
              <a:latin typeface="Arial"/>
              <a:ea typeface="Arial"/>
              <a:cs typeface="Arial"/>
              <a:sym typeface="Arial"/>
            </a:endParaRPr>
          </a:p>
          <a:p>
            <a:pPr indent="-111125" lvl="1" marL="574675" marR="0" rtl="0" algn="just">
              <a:lnSpc>
                <a:spcPct val="100000"/>
              </a:lnSpc>
              <a:spcBef>
                <a:spcPts val="200"/>
              </a:spcBef>
              <a:spcAft>
                <a:spcPts val="0"/>
              </a:spcAft>
              <a:buClr>
                <a:srgbClr val="840E27"/>
              </a:buClr>
              <a:buSzPts val="1000"/>
              <a:buFont typeface="Noto Sans Symbols"/>
              <a:buNone/>
            </a:pPr>
            <a:r>
              <a:t/>
            </a:r>
            <a:endParaRPr b="0" i="0" sz="1000" u="none" cap="none" strike="noStrike">
              <a:solidFill>
                <a:srgbClr val="000000"/>
              </a:solidFill>
              <a:latin typeface="Arial"/>
              <a:ea typeface="Arial"/>
              <a:cs typeface="Arial"/>
              <a:sym typeface="Arial"/>
            </a:endParaRPr>
          </a:p>
          <a:p>
            <a:pPr indent="-111125" lvl="0" marL="174625" marR="0" rtl="0" algn="just">
              <a:lnSpc>
                <a:spcPct val="100000"/>
              </a:lnSpc>
              <a:spcBef>
                <a:spcPts val="200"/>
              </a:spcBef>
              <a:spcAft>
                <a:spcPts val="0"/>
              </a:spcAft>
              <a:buClr>
                <a:srgbClr val="840E27"/>
              </a:buClr>
              <a:buSzPts val="1000"/>
              <a:buFont typeface="Noto Sans Symbols"/>
              <a:buNone/>
            </a:pPr>
            <a:r>
              <a:t/>
            </a:r>
            <a:endParaRPr b="0" i="0" sz="1000" u="none" cap="none" strike="noStrike">
              <a:solidFill>
                <a:srgbClr val="000000"/>
              </a:solidFill>
              <a:latin typeface="Calibri"/>
              <a:ea typeface="Calibri"/>
              <a:cs typeface="Calibri"/>
              <a:sym typeface="Calibri"/>
            </a:endParaRPr>
          </a:p>
        </p:txBody>
      </p:sp>
      <p:sp>
        <p:nvSpPr>
          <p:cNvPr id="91" name="Google Shape;91;p1"/>
          <p:cNvSpPr txBox="1"/>
          <p:nvPr/>
        </p:nvSpPr>
        <p:spPr>
          <a:xfrm>
            <a:off x="74102" y="1823416"/>
            <a:ext cx="7191449" cy="3418854"/>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100"/>
              <a:buFont typeface="Arial"/>
              <a:buNone/>
            </a:pPr>
            <a:r>
              <a:rPr b="1" i="0" lang="es-MX" sz="1100" u="none" cap="none" strike="noStrike">
                <a:solidFill>
                  <a:srgbClr val="000000"/>
                </a:solidFill>
                <a:latin typeface="Calibri"/>
                <a:ea typeface="Calibri"/>
                <a:cs typeface="Calibri"/>
                <a:sym typeface="Calibri"/>
              </a:rPr>
              <a:t>Responsabilidades </a:t>
            </a:r>
            <a:endParaRPr b="0" i="0" sz="1400" u="none" cap="none" strike="noStrike">
              <a:solidFill>
                <a:srgbClr val="000000"/>
              </a:solidFill>
              <a:latin typeface="Arial"/>
              <a:ea typeface="Arial"/>
              <a:cs typeface="Arial"/>
              <a:sym typeface="Arial"/>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Definir y gobernar el roadmap de soluciones tecnológicas para la cadena de suministro: priorizando el backlog con las áreas de negocio mediante criterios de valor, costo, riesgo y velocidad, para maximizar el valor entregado a la operación logística de abasto, almacenamiento, distribución y mercaderías.</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Gestionar el presupuesto de TI (CAPEX/OPEX) de la plataforma CdS: monitoreando el gasto por iniciativa y velando por la correcta asignación de recursos, para asegurar que la inversión tecnológica genere valor medible en la operación logística y rendir cuentas ante el Director de TI.</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Garantizar la continuidad operativa y evolución de los sistemas críticos de logística: supervisando la disponibilidad, estabilidad y escalabilidad de las plataformas WMS, TMS, Planeación y EDI en coordinación con los equipos de soporte y Arquitectura TI, para asegurar la operación ininterrumpida de la cadena de suministro.</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Asegurar la incorporación de los equipos de transformación al BAU: liderando la integración de tecnologías de automatización y optimización en los procesos operativos de la cadena, para reducir costos logísticos y mejorar el nivel de servicio a tienda.</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Supervisar la evaluación y selección de soluciones y proveedores tecnológicos para CdS: liderando el análisis de costo-beneficio, compatibilidad con la arquitectura existente y cumplimiento de SLAs en coordinación con Arquitectura TI y Abastecimientos, para garantizar decisiones de inversión tecnológica sólidas.</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Establecer y gobernar los estándares de integración entre los sistemas logísticos y el core comercial, en coordinación con Arquitectura TI, para asegurar la consistencia e integridad de los datos a lo largo de todos los nodos de la cadena de suministro.</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Monitorear los indicadores de desempeño de las plataformas logísticas: mediante herramientas de análisis y reportes periódicos, para identificar desviaciones, activar planes de mejora y garantizar el cumplimiento de los niveles de servicio acordados con las áreas usuarias.</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Impulsar la visibilidad del inventario en tiempo real a lo largo de todos los nodos de la cadena, coordinando con los equipos de analítica y arquitectura la integración de fuentes de datos, para habilitar la toma de decisiones operativas con información confiable y oportuna.</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Impulsar la innovación tecnológica del área: identificando tendencias y mejores prácticas de la industria en logística y cadena de suministro, para proponer iniciativas que generen ventaja competitiva y sostenibilidad de largo plazo en las operaciones de OXXO México.</a:t>
            </a:r>
            <a:endParaRPr sz="900">
              <a:latin typeface="Calibri"/>
              <a:ea typeface="Calibri"/>
              <a:cs typeface="Calibri"/>
              <a:sym typeface="Calibri"/>
            </a:endParaRPr>
          </a:p>
          <a:p>
            <a:pPr indent="-174625" lvl="0" marL="174625" marR="0" rtl="0" algn="just">
              <a:lnSpc>
                <a:spcPct val="100000"/>
              </a:lnSpc>
              <a:spcBef>
                <a:spcPts val="160"/>
              </a:spcBef>
              <a:spcAft>
                <a:spcPts val="0"/>
              </a:spcAft>
              <a:buClr>
                <a:srgbClr val="840E27"/>
              </a:buClr>
              <a:buSzPts val="900"/>
              <a:buFont typeface="Calibri"/>
              <a:buAutoNum type="arabicPeriod"/>
            </a:pPr>
            <a:r>
              <a:rPr lang="es-MX" sz="900">
                <a:latin typeface="Calibri"/>
                <a:ea typeface="Calibri"/>
                <a:cs typeface="Calibri"/>
                <a:sym typeface="Calibri"/>
              </a:rPr>
              <a:t>Cumplir y promover la aplicación de los procesos y rituales cultura de la Compañía.</a:t>
            </a:r>
            <a:endParaRPr sz="900">
              <a:latin typeface="Calibri"/>
              <a:ea typeface="Calibri"/>
              <a:cs typeface="Calibri"/>
              <a:sym typeface="Calibri"/>
            </a:endParaRPr>
          </a:p>
        </p:txBody>
      </p:sp>
      <p:sp>
        <p:nvSpPr>
          <p:cNvPr id="92" name="Google Shape;92;p1"/>
          <p:cNvSpPr txBox="1"/>
          <p:nvPr/>
        </p:nvSpPr>
        <p:spPr>
          <a:xfrm>
            <a:off x="74103" y="969028"/>
            <a:ext cx="7186069" cy="804013"/>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Calibri"/>
                <a:ea typeface="Calibri"/>
                <a:cs typeface="Calibri"/>
                <a:sym typeface="Calibri"/>
              </a:rPr>
              <a:t>Propósito del Puesto </a:t>
            </a:r>
            <a:endParaRPr b="1"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s-MX" sz="1000">
                <a:latin typeface="Calibri"/>
                <a:ea typeface="Calibri"/>
                <a:cs typeface="Calibri"/>
                <a:sym typeface="Calibri"/>
              </a:rPr>
              <a:t>Orquestar la estrategia tecnológica de la cadena de suministro de punta a punta, siendo el punto único de accountability para la gobernanza, entrega y desempeño tecnológico de las plataformas de abasto, almacenamiento, distribución, mercaderías, EDI y procesos administrativos, con el fin de habilitar una operación logística eficiente, escalable y con visibilidad total para OXXO México.</a:t>
            </a:r>
            <a:endParaRPr b="0" i="0" sz="1000" u="none" cap="none" strike="noStrike">
              <a:solidFill>
                <a:srgbClr val="000000"/>
              </a:solidFill>
              <a:latin typeface="Calibri"/>
              <a:ea typeface="Calibri"/>
              <a:cs typeface="Calibri"/>
              <a:sym typeface="Calibri"/>
            </a:endParaRPr>
          </a:p>
        </p:txBody>
      </p:sp>
      <p:sp>
        <p:nvSpPr>
          <p:cNvPr id="93" name="Google Shape;93;p1"/>
          <p:cNvSpPr/>
          <p:nvPr/>
        </p:nvSpPr>
        <p:spPr>
          <a:xfrm>
            <a:off x="4031311" y="6647290"/>
            <a:ext cx="1081378" cy="17261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a:off x="1" y="0"/>
            <a:ext cx="7223196" cy="850015"/>
          </a:xfrm>
          <a:prstGeom prst="homePlate">
            <a:avLst>
              <a:gd fmla="val 50000" name="adj"/>
            </a:avLst>
          </a:prstGeom>
          <a:solidFill>
            <a:srgbClr val="990021"/>
          </a:solid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 name="Google Shape;95;p1"/>
          <p:cNvSpPr txBox="1"/>
          <p:nvPr/>
        </p:nvSpPr>
        <p:spPr>
          <a:xfrm>
            <a:off x="-25355" y="1"/>
            <a:ext cx="7128791" cy="107981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FFFFFF"/>
              </a:buClr>
              <a:buSzPts val="1400"/>
              <a:buFont typeface="Calibri"/>
              <a:buNone/>
            </a:pPr>
            <a:r>
              <a:rPr b="1" i="0" lang="es-MX" sz="1400" u="none" cap="none" strike="noStrike">
                <a:solidFill>
                  <a:srgbClr val="FFFFFF"/>
                </a:solidFill>
                <a:latin typeface="Calibri"/>
                <a:ea typeface="Calibri"/>
                <a:cs typeface="Calibri"/>
                <a:sym typeface="Calibri"/>
              </a:rPr>
              <a:t>DESCRIPCIÓN DE PUESTO</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FFFFFF"/>
              </a:buClr>
              <a:buSzPts val="1300"/>
              <a:buFont typeface="Calibri"/>
              <a:buNone/>
            </a:pPr>
            <a:r>
              <a:rPr b="1" i="0" lang="es-MX" sz="1300" u="none" cap="none" strike="noStrike">
                <a:solidFill>
                  <a:srgbClr val="FFFFFF"/>
                </a:solidFill>
                <a:latin typeface="Calibri"/>
                <a:ea typeface="Calibri"/>
                <a:cs typeface="Calibri"/>
                <a:sym typeface="Calibri"/>
              </a:rPr>
              <a:t>Nombre Puesto: </a:t>
            </a:r>
            <a:r>
              <a:rPr b="1" lang="es-MX" sz="1300">
                <a:solidFill>
                  <a:srgbClr val="FFFFFF"/>
                </a:solidFill>
                <a:latin typeface="Calibri"/>
                <a:ea typeface="Calibri"/>
                <a:cs typeface="Calibri"/>
                <a:sym typeface="Calibri"/>
              </a:rPr>
              <a:t>Gerente Soluciones Cadena de Suministro</a:t>
            </a:r>
            <a:endParaRPr b="1" sz="1300">
              <a:solidFill>
                <a:srgbClr val="FFFFFF"/>
              </a:solidFill>
              <a:latin typeface="Calibri"/>
              <a:ea typeface="Calibri"/>
              <a:cs typeface="Calibri"/>
              <a:sym typeface="Calibri"/>
            </a:endParaRPr>
          </a:p>
          <a:p>
            <a:pPr indent="0" lvl="0" marL="0" marR="0" rtl="0" algn="l">
              <a:lnSpc>
                <a:spcPct val="90000"/>
              </a:lnSpc>
              <a:spcBef>
                <a:spcPts val="0"/>
              </a:spcBef>
              <a:spcAft>
                <a:spcPts val="0"/>
              </a:spcAft>
              <a:buClr>
                <a:srgbClr val="FFFFFF"/>
              </a:buClr>
              <a:buSzPts val="1300"/>
              <a:buFont typeface="Calibri"/>
              <a:buNone/>
            </a:pPr>
            <a:r>
              <a:rPr b="1" i="0" lang="es-MX" sz="1300" u="none" cap="none" strike="noStrike">
                <a:solidFill>
                  <a:srgbClr val="FFFFFF"/>
                </a:solidFill>
                <a:latin typeface="Calibri"/>
                <a:ea typeface="Calibri"/>
                <a:cs typeface="Calibri"/>
                <a:sym typeface="Calibri"/>
              </a:rPr>
              <a:t>Nombre Puesto Jefe Directo: TI OXXO México</a:t>
            </a:r>
            <a:br>
              <a:rPr b="1" i="0" lang="es-MX" sz="1300" u="none" cap="none" strike="noStrike">
                <a:solidFill>
                  <a:srgbClr val="FFFFFF"/>
                </a:solidFill>
                <a:latin typeface="Calibri"/>
                <a:ea typeface="Calibri"/>
                <a:cs typeface="Calibri"/>
                <a:sym typeface="Calibri"/>
              </a:rPr>
            </a:br>
            <a:r>
              <a:rPr b="1" i="0" lang="es-MX" sz="1300" u="none" cap="none" strike="noStrike">
                <a:solidFill>
                  <a:srgbClr val="FFFFFF"/>
                </a:solidFill>
                <a:latin typeface="Calibri"/>
                <a:ea typeface="Calibri"/>
                <a:cs typeface="Calibri"/>
                <a:sym typeface="Calibri"/>
              </a:rPr>
              <a:t>Área Funcional: TI</a:t>
            </a:r>
            <a:endParaRPr b="0" i="0" sz="1400" u="none" cap="none" strike="noStrike">
              <a:solidFill>
                <a:srgbClr val="000000"/>
              </a:solidFill>
              <a:latin typeface="Arial"/>
              <a:ea typeface="Arial"/>
              <a:cs typeface="Arial"/>
              <a:sym typeface="Arial"/>
            </a:endParaRPr>
          </a:p>
        </p:txBody>
      </p:sp>
      <p:grpSp>
        <p:nvGrpSpPr>
          <p:cNvPr id="96" name="Google Shape;96;p1"/>
          <p:cNvGrpSpPr/>
          <p:nvPr/>
        </p:nvGrpSpPr>
        <p:grpSpPr>
          <a:xfrm>
            <a:off x="7332180" y="969028"/>
            <a:ext cx="1728192" cy="1717735"/>
            <a:chOff x="7319480" y="969028"/>
            <a:chExt cx="1728192" cy="1717735"/>
          </a:xfrm>
        </p:grpSpPr>
        <p:sp>
          <p:nvSpPr>
            <p:cNvPr id="97" name="Google Shape;97;p1"/>
            <p:cNvSpPr/>
            <p:nvPr/>
          </p:nvSpPr>
          <p:spPr>
            <a:xfrm>
              <a:off x="7319480" y="969028"/>
              <a:ext cx="1728192" cy="1717735"/>
            </a:xfrm>
            <a:prstGeom prst="rect">
              <a:avLst/>
            </a:prstGeom>
            <a:noFill/>
            <a:ln cap="flat" cmpd="sng" w="9525">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 name="Google Shape;98;p1"/>
            <p:cNvSpPr txBox="1"/>
            <p:nvPr/>
          </p:nvSpPr>
          <p:spPr>
            <a:xfrm>
              <a:off x="7319480" y="969028"/>
              <a:ext cx="1728192" cy="276999"/>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1" i="0" lang="es-MX" sz="1200" u="none" cap="none" strike="noStrike">
                  <a:solidFill>
                    <a:srgbClr val="000000"/>
                  </a:solidFill>
                  <a:latin typeface="Calibri"/>
                  <a:ea typeface="Calibri"/>
                  <a:cs typeface="Calibri"/>
                  <a:sym typeface="Calibri"/>
                </a:rPr>
                <a:t>Herramientas Puesto:</a:t>
              </a:r>
              <a:endParaRPr b="0" i="0" sz="1400" u="none" cap="none" strike="noStrike">
                <a:solidFill>
                  <a:srgbClr val="000000"/>
                </a:solidFill>
                <a:latin typeface="Arial"/>
                <a:ea typeface="Arial"/>
                <a:cs typeface="Arial"/>
                <a:sym typeface="Arial"/>
              </a:endParaRPr>
            </a:p>
          </p:txBody>
        </p:sp>
      </p:grpSp>
      <p:pic>
        <p:nvPicPr>
          <p:cNvPr descr="https://d30y9cdsu7xlg0.cloudfront.net/png/1999-200.png" id="99" name="Google Shape;99;p1"/>
          <p:cNvPicPr preferRelativeResize="0"/>
          <p:nvPr/>
        </p:nvPicPr>
        <p:blipFill rotWithShape="1">
          <a:blip r:embed="rId3">
            <a:alphaModFix/>
          </a:blip>
          <a:srcRect b="0" l="0" r="0" t="0"/>
          <a:stretch/>
        </p:blipFill>
        <p:spPr>
          <a:xfrm>
            <a:off x="7806892" y="1248360"/>
            <a:ext cx="245644" cy="245644"/>
          </a:xfrm>
          <a:prstGeom prst="rect">
            <a:avLst/>
          </a:prstGeom>
          <a:noFill/>
          <a:ln>
            <a:noFill/>
          </a:ln>
        </p:spPr>
      </p:pic>
      <p:pic>
        <p:nvPicPr>
          <p:cNvPr descr="https://d30y9cdsu7xlg0.cloudfront.net/png/41085-200.png" id="100" name="Google Shape;100;p1"/>
          <p:cNvPicPr preferRelativeResize="0"/>
          <p:nvPr/>
        </p:nvPicPr>
        <p:blipFill rotWithShape="1">
          <a:blip r:embed="rId4">
            <a:alphaModFix/>
          </a:blip>
          <a:srcRect b="0" l="0" r="0" t="0"/>
          <a:stretch/>
        </p:blipFill>
        <p:spPr>
          <a:xfrm>
            <a:off x="7812360" y="1993705"/>
            <a:ext cx="175626" cy="175626"/>
          </a:xfrm>
          <a:prstGeom prst="rect">
            <a:avLst/>
          </a:prstGeom>
          <a:noFill/>
          <a:ln>
            <a:noFill/>
          </a:ln>
        </p:spPr>
      </p:pic>
      <p:pic>
        <p:nvPicPr>
          <p:cNvPr descr="https://d30y9cdsu7xlg0.cloudfront.net/png/1335-200.png" id="101" name="Google Shape;101;p1"/>
          <p:cNvPicPr preferRelativeResize="0"/>
          <p:nvPr/>
        </p:nvPicPr>
        <p:blipFill rotWithShape="1">
          <a:blip r:embed="rId5">
            <a:alphaModFix/>
          </a:blip>
          <a:srcRect b="0" l="0" r="0" t="0"/>
          <a:stretch/>
        </p:blipFill>
        <p:spPr>
          <a:xfrm>
            <a:off x="7812360" y="1729358"/>
            <a:ext cx="262955" cy="262955"/>
          </a:xfrm>
          <a:prstGeom prst="rect">
            <a:avLst/>
          </a:prstGeom>
          <a:noFill/>
          <a:ln>
            <a:noFill/>
          </a:ln>
        </p:spPr>
      </p:pic>
      <p:pic>
        <p:nvPicPr>
          <p:cNvPr descr="https://d30y9cdsu7xlg0.cloudfront.net/png/131938-200.png" id="102" name="Google Shape;102;p1"/>
          <p:cNvPicPr preferRelativeResize="0"/>
          <p:nvPr/>
        </p:nvPicPr>
        <p:blipFill rotWithShape="1">
          <a:blip r:embed="rId6">
            <a:alphaModFix/>
          </a:blip>
          <a:srcRect b="0" l="0" r="0" t="0"/>
          <a:stretch/>
        </p:blipFill>
        <p:spPr>
          <a:xfrm>
            <a:off x="7812360" y="1483752"/>
            <a:ext cx="235520" cy="235520"/>
          </a:xfrm>
          <a:prstGeom prst="rect">
            <a:avLst/>
          </a:prstGeom>
          <a:noFill/>
          <a:ln>
            <a:noFill/>
          </a:ln>
        </p:spPr>
      </p:pic>
      <p:sp>
        <p:nvSpPr>
          <p:cNvPr id="103" name="Google Shape;103;p1"/>
          <p:cNvSpPr/>
          <p:nvPr/>
        </p:nvSpPr>
        <p:spPr>
          <a:xfrm>
            <a:off x="7459294" y="1300701"/>
            <a:ext cx="281058" cy="140962"/>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 name="Google Shape;104;p1"/>
          <p:cNvSpPr txBox="1"/>
          <p:nvPr/>
        </p:nvSpPr>
        <p:spPr>
          <a:xfrm>
            <a:off x="8065788" y="1248072"/>
            <a:ext cx="754684"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Calibri"/>
              <a:buNone/>
            </a:pPr>
            <a:r>
              <a:rPr b="0" i="1" lang="es-MX" sz="1000" u="none" cap="none" strike="noStrike">
                <a:solidFill>
                  <a:srgbClr val="000000"/>
                </a:solidFill>
                <a:latin typeface="Calibri"/>
                <a:ea typeface="Calibri"/>
                <a:cs typeface="Calibri"/>
                <a:sym typeface="Calibri"/>
              </a:rPr>
              <a:t>Laptop</a:t>
            </a:r>
            <a:endParaRPr b="0" i="0" sz="1400" u="none" cap="none" strike="noStrike">
              <a:solidFill>
                <a:srgbClr val="000000"/>
              </a:solidFill>
              <a:latin typeface="Arial"/>
              <a:ea typeface="Arial"/>
              <a:cs typeface="Arial"/>
              <a:sym typeface="Arial"/>
            </a:endParaRPr>
          </a:p>
        </p:txBody>
      </p:sp>
      <p:sp>
        <p:nvSpPr>
          <p:cNvPr id="105" name="Google Shape;105;p1"/>
          <p:cNvSpPr txBox="1"/>
          <p:nvPr/>
        </p:nvSpPr>
        <p:spPr>
          <a:xfrm>
            <a:off x="8065788" y="1478402"/>
            <a:ext cx="754684"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Calibri"/>
              <a:buNone/>
            </a:pPr>
            <a:r>
              <a:rPr b="0" i="1" lang="es-MX" sz="1000" u="none" cap="none" strike="noStrike">
                <a:solidFill>
                  <a:srgbClr val="000000"/>
                </a:solidFill>
                <a:latin typeface="Calibri"/>
                <a:ea typeface="Calibri"/>
                <a:cs typeface="Calibri"/>
                <a:sym typeface="Calibri"/>
              </a:rPr>
              <a:t>Escritorio</a:t>
            </a:r>
            <a:endParaRPr b="0" i="0" sz="1400" u="none" cap="none" strike="noStrike">
              <a:solidFill>
                <a:srgbClr val="000000"/>
              </a:solidFill>
              <a:latin typeface="Arial"/>
              <a:ea typeface="Arial"/>
              <a:cs typeface="Arial"/>
              <a:sym typeface="Arial"/>
            </a:endParaRPr>
          </a:p>
        </p:txBody>
      </p:sp>
      <p:sp>
        <p:nvSpPr>
          <p:cNvPr id="106" name="Google Shape;106;p1"/>
          <p:cNvSpPr txBox="1"/>
          <p:nvPr/>
        </p:nvSpPr>
        <p:spPr>
          <a:xfrm>
            <a:off x="8065788" y="1737725"/>
            <a:ext cx="78819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Calibri"/>
              <a:buNone/>
            </a:pPr>
            <a:r>
              <a:rPr b="0" i="1" lang="es-MX" sz="1000" u="none" cap="none" strike="noStrike">
                <a:solidFill>
                  <a:srgbClr val="000000"/>
                </a:solidFill>
                <a:latin typeface="Calibri"/>
                <a:ea typeface="Calibri"/>
                <a:cs typeface="Calibri"/>
                <a:sym typeface="Calibri"/>
              </a:rPr>
              <a:t>Auto</a:t>
            </a:r>
            <a:endParaRPr b="0" i="0" sz="1400" u="none" cap="none" strike="noStrike">
              <a:solidFill>
                <a:srgbClr val="000000"/>
              </a:solidFill>
              <a:latin typeface="Arial"/>
              <a:ea typeface="Arial"/>
              <a:cs typeface="Arial"/>
              <a:sym typeface="Arial"/>
            </a:endParaRPr>
          </a:p>
        </p:txBody>
      </p:sp>
      <p:sp>
        <p:nvSpPr>
          <p:cNvPr id="107" name="Google Shape;107;p1"/>
          <p:cNvSpPr txBox="1"/>
          <p:nvPr/>
        </p:nvSpPr>
        <p:spPr>
          <a:xfrm>
            <a:off x="8065788" y="1958408"/>
            <a:ext cx="78819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Calibri"/>
              <a:buNone/>
            </a:pPr>
            <a:r>
              <a:rPr b="0" i="1" lang="es-MX" sz="1000" u="none" cap="none" strike="noStrike">
                <a:solidFill>
                  <a:srgbClr val="000000"/>
                </a:solidFill>
                <a:latin typeface="Calibri"/>
                <a:ea typeface="Calibri"/>
                <a:cs typeface="Calibri"/>
                <a:sym typeface="Calibri"/>
              </a:rPr>
              <a:t>Celular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7422041" y="3118872"/>
            <a:ext cx="246303"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 name="Google Shape;109;p1"/>
          <p:cNvSpPr txBox="1"/>
          <p:nvPr/>
        </p:nvSpPr>
        <p:spPr>
          <a:xfrm>
            <a:off x="7622365" y="3060110"/>
            <a:ext cx="45685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VPN</a:t>
            </a:r>
            <a:endParaRPr b="0" i="0" sz="1400" u="none" cap="none" strike="noStrike">
              <a:solidFill>
                <a:srgbClr val="000000"/>
              </a:solidFill>
              <a:latin typeface="Arial"/>
              <a:ea typeface="Arial"/>
              <a:cs typeface="Arial"/>
              <a:sym typeface="Arial"/>
            </a:endParaRPr>
          </a:p>
        </p:txBody>
      </p:sp>
      <p:sp>
        <p:nvSpPr>
          <p:cNvPr id="110" name="Google Shape;110;p1"/>
          <p:cNvSpPr txBox="1"/>
          <p:nvPr/>
        </p:nvSpPr>
        <p:spPr>
          <a:xfrm>
            <a:off x="8388424" y="3060110"/>
            <a:ext cx="75468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Internet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7422705" y="3360358"/>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 name="Google Shape;112;p1"/>
          <p:cNvSpPr txBox="1"/>
          <p:nvPr/>
        </p:nvSpPr>
        <p:spPr>
          <a:xfrm>
            <a:off x="7622365" y="3301596"/>
            <a:ext cx="45685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BI</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8388424" y="3305090"/>
            <a:ext cx="75468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SAP</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7422705" y="3627593"/>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5" name="Google Shape;115;p1"/>
          <p:cNvSpPr txBox="1"/>
          <p:nvPr/>
        </p:nvSpPr>
        <p:spPr>
          <a:xfrm>
            <a:off x="7622365" y="3568831"/>
            <a:ext cx="475106"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Retek</a:t>
            </a:r>
            <a:endParaRPr b="0" i="1" sz="800" u="none" cap="none" strike="noStrike">
              <a:solidFill>
                <a:srgbClr val="000000"/>
              </a:solidFill>
              <a:latin typeface="Calibri"/>
              <a:ea typeface="Calibri"/>
              <a:cs typeface="Calibri"/>
              <a:sym typeface="Calibri"/>
            </a:endParaRPr>
          </a:p>
        </p:txBody>
      </p:sp>
      <p:sp>
        <p:nvSpPr>
          <p:cNvPr id="116" name="Google Shape;116;p1"/>
          <p:cNvSpPr txBox="1"/>
          <p:nvPr/>
        </p:nvSpPr>
        <p:spPr>
          <a:xfrm>
            <a:off x="8388424" y="3545582"/>
            <a:ext cx="75468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Oracle</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7422705" y="3852614"/>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8" name="Google Shape;118;p1"/>
          <p:cNvSpPr txBox="1"/>
          <p:nvPr/>
        </p:nvSpPr>
        <p:spPr>
          <a:xfrm>
            <a:off x="7622365" y="3793852"/>
            <a:ext cx="469555"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SIV</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8180361" y="3118872"/>
            <a:ext cx="246303"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0" name="Google Shape;120;p1"/>
          <p:cNvSpPr/>
          <p:nvPr/>
        </p:nvSpPr>
        <p:spPr>
          <a:xfrm>
            <a:off x="8181025" y="3359639"/>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1" name="Google Shape;121;p1"/>
          <p:cNvSpPr/>
          <p:nvPr/>
        </p:nvSpPr>
        <p:spPr>
          <a:xfrm>
            <a:off x="8181025" y="3600406"/>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2" name="Google Shape;122;p1"/>
          <p:cNvGrpSpPr/>
          <p:nvPr/>
        </p:nvGrpSpPr>
        <p:grpSpPr>
          <a:xfrm>
            <a:off x="7332180" y="2769544"/>
            <a:ext cx="1728192" cy="1547090"/>
            <a:chOff x="7319480" y="2769544"/>
            <a:chExt cx="1728192" cy="2268000"/>
          </a:xfrm>
        </p:grpSpPr>
        <p:sp>
          <p:nvSpPr>
            <p:cNvPr id="123" name="Google Shape;123;p1"/>
            <p:cNvSpPr txBox="1"/>
            <p:nvPr/>
          </p:nvSpPr>
          <p:spPr>
            <a:xfrm>
              <a:off x="7322014" y="2769544"/>
              <a:ext cx="1723124" cy="276999"/>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1" i="0" lang="es-MX" sz="1200" u="none" cap="none" strike="noStrike">
                  <a:solidFill>
                    <a:srgbClr val="000000"/>
                  </a:solidFill>
                  <a:latin typeface="Calibri"/>
                  <a:ea typeface="Calibri"/>
                  <a:cs typeface="Calibri"/>
                  <a:sym typeface="Calibri"/>
                </a:rPr>
                <a:t>Sistemas / Software: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7319480" y="2769544"/>
              <a:ext cx="1728192" cy="2268000"/>
            </a:xfrm>
            <a:prstGeom prst="rect">
              <a:avLst/>
            </a:prstGeom>
            <a:noFill/>
            <a:ln cap="flat" cmpd="sng" w="9525">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25" name="Google Shape;125;p1"/>
          <p:cNvSpPr txBox="1"/>
          <p:nvPr/>
        </p:nvSpPr>
        <p:spPr>
          <a:xfrm>
            <a:off x="8388424" y="3784461"/>
            <a:ext cx="75468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Calibri"/>
              <a:buNone/>
            </a:pPr>
            <a:r>
              <a:rPr b="0" i="1" lang="es-MX" sz="800" u="none" cap="none" strike="noStrike">
                <a:solidFill>
                  <a:srgbClr val="000000"/>
                </a:solidFill>
                <a:latin typeface="Calibri"/>
                <a:ea typeface="Calibri"/>
                <a:cs typeface="Calibri"/>
                <a:sym typeface="Calibri"/>
              </a:rPr>
              <a:t>Autocad</a:t>
            </a:r>
            <a:endParaRPr b="0" i="1" sz="800" u="none" cap="none" strike="noStrike">
              <a:solidFill>
                <a:srgbClr val="000000"/>
              </a:solidFill>
              <a:latin typeface="Calibri"/>
              <a:ea typeface="Calibri"/>
              <a:cs typeface="Calibri"/>
              <a:sym typeface="Calibri"/>
            </a:endParaRPr>
          </a:p>
        </p:txBody>
      </p:sp>
      <p:sp>
        <p:nvSpPr>
          <p:cNvPr id="126" name="Google Shape;126;p1"/>
          <p:cNvSpPr/>
          <p:nvPr/>
        </p:nvSpPr>
        <p:spPr>
          <a:xfrm>
            <a:off x="8181025" y="3841173"/>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 name="Google Shape;127;p1"/>
          <p:cNvSpPr/>
          <p:nvPr/>
        </p:nvSpPr>
        <p:spPr>
          <a:xfrm>
            <a:off x="7422705" y="4082520"/>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28" name="Google Shape;128;p1"/>
          <p:cNvCxnSpPr/>
          <p:nvPr/>
        </p:nvCxnSpPr>
        <p:spPr>
          <a:xfrm flipH="1" rot="10800000">
            <a:off x="7705019" y="4210996"/>
            <a:ext cx="441701" cy="1"/>
          </a:xfrm>
          <a:prstGeom prst="straightConnector1">
            <a:avLst/>
          </a:prstGeom>
          <a:noFill/>
          <a:ln cap="flat" cmpd="sng" w="9525">
            <a:solidFill>
              <a:srgbClr val="990021"/>
            </a:solidFill>
            <a:prstDash val="solid"/>
            <a:miter lim="800000"/>
            <a:headEnd len="sm" w="sm" type="none"/>
            <a:tailEnd len="sm" w="sm" type="none"/>
          </a:ln>
        </p:spPr>
      </p:cxnSp>
      <p:sp>
        <p:nvSpPr>
          <p:cNvPr id="129" name="Google Shape;129;p1"/>
          <p:cNvSpPr/>
          <p:nvPr/>
        </p:nvSpPr>
        <p:spPr>
          <a:xfrm>
            <a:off x="8181025" y="4081940"/>
            <a:ext cx="244974" cy="97921"/>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30" name="Google Shape;130;p1"/>
          <p:cNvCxnSpPr/>
          <p:nvPr/>
        </p:nvCxnSpPr>
        <p:spPr>
          <a:xfrm flipH="1" rot="10800000">
            <a:off x="8462182" y="4210996"/>
            <a:ext cx="441701" cy="1"/>
          </a:xfrm>
          <a:prstGeom prst="straightConnector1">
            <a:avLst/>
          </a:prstGeom>
          <a:noFill/>
          <a:ln cap="flat" cmpd="sng" w="9525">
            <a:solidFill>
              <a:srgbClr val="990021"/>
            </a:solidFill>
            <a:prstDash val="solid"/>
            <a:miter lim="800000"/>
            <a:headEnd len="sm" w="sm" type="none"/>
            <a:tailEnd len="sm" w="sm" type="none"/>
          </a:ln>
        </p:spPr>
      </p:cxnSp>
      <p:sp>
        <p:nvSpPr>
          <p:cNvPr id="131" name="Google Shape;131;p1"/>
          <p:cNvSpPr/>
          <p:nvPr/>
        </p:nvSpPr>
        <p:spPr>
          <a:xfrm>
            <a:off x="7459294" y="1536672"/>
            <a:ext cx="281058" cy="140962"/>
          </a:xfrm>
          <a:prstGeom prst="rect">
            <a:avLst/>
          </a:prstGeom>
          <a:solidFill>
            <a:schemeClr val="lt1"/>
          </a:solid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 name="Google Shape;132;p1"/>
          <p:cNvSpPr/>
          <p:nvPr/>
        </p:nvSpPr>
        <p:spPr>
          <a:xfrm>
            <a:off x="7459294" y="1773041"/>
            <a:ext cx="281058" cy="140962"/>
          </a:xfrm>
          <a:prstGeom prst="rect">
            <a:avLst/>
          </a:prstGeom>
          <a:solidFill>
            <a:schemeClr val="lt1"/>
          </a:solid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 name="Google Shape;133;p1"/>
          <p:cNvSpPr/>
          <p:nvPr/>
        </p:nvSpPr>
        <p:spPr>
          <a:xfrm>
            <a:off x="7459294" y="2009410"/>
            <a:ext cx="281058" cy="140962"/>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 name="Google Shape;134;p1"/>
          <p:cNvSpPr/>
          <p:nvPr/>
        </p:nvSpPr>
        <p:spPr>
          <a:xfrm>
            <a:off x="7459294" y="2245779"/>
            <a:ext cx="281058" cy="140962"/>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5" name="Google Shape;135;p1"/>
          <p:cNvSpPr/>
          <p:nvPr/>
        </p:nvSpPr>
        <p:spPr>
          <a:xfrm>
            <a:off x="7459294" y="2482149"/>
            <a:ext cx="281058" cy="140962"/>
          </a:xfrm>
          <a:prstGeom prst="rect">
            <a:avLst/>
          </a:prstGeom>
          <a:no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36" name="Google Shape;136;p1"/>
          <p:cNvCxnSpPr/>
          <p:nvPr/>
        </p:nvCxnSpPr>
        <p:spPr>
          <a:xfrm flipH="1" rot="10800000">
            <a:off x="7806891" y="2431240"/>
            <a:ext cx="1152000" cy="1"/>
          </a:xfrm>
          <a:prstGeom prst="straightConnector1">
            <a:avLst/>
          </a:prstGeom>
          <a:noFill/>
          <a:ln cap="flat" cmpd="sng" w="9525">
            <a:solidFill>
              <a:srgbClr val="990021"/>
            </a:solidFill>
            <a:prstDash val="solid"/>
            <a:miter lim="800000"/>
            <a:headEnd len="sm" w="sm" type="none"/>
            <a:tailEnd len="sm" w="sm" type="none"/>
          </a:ln>
        </p:spPr>
      </p:cxnSp>
      <p:cxnSp>
        <p:nvCxnSpPr>
          <p:cNvPr id="137" name="Google Shape;137;p1"/>
          <p:cNvCxnSpPr/>
          <p:nvPr/>
        </p:nvCxnSpPr>
        <p:spPr>
          <a:xfrm flipH="1" rot="10800000">
            <a:off x="7806891" y="2650334"/>
            <a:ext cx="1152000" cy="1"/>
          </a:xfrm>
          <a:prstGeom prst="straightConnector1">
            <a:avLst/>
          </a:prstGeom>
          <a:noFill/>
          <a:ln cap="flat" cmpd="sng" w="9525">
            <a:solidFill>
              <a:srgbClr val="990021"/>
            </a:solidFill>
            <a:prstDash val="solid"/>
            <a:miter lim="800000"/>
            <a:headEnd len="sm" w="sm" type="none"/>
            <a:tailEnd len="sm" w="sm" type="none"/>
          </a:ln>
        </p:spPr>
      </p:cxnSp>
      <p:graphicFrame>
        <p:nvGraphicFramePr>
          <p:cNvPr id="138" name="Google Shape;138;p1"/>
          <p:cNvGraphicFramePr/>
          <p:nvPr/>
        </p:nvGraphicFramePr>
        <p:xfrm>
          <a:off x="7332179" y="4418248"/>
          <a:ext cx="3000000" cy="3000000"/>
        </p:xfrm>
        <a:graphic>
          <a:graphicData uri="http://schemas.openxmlformats.org/drawingml/2006/table">
            <a:tbl>
              <a:tblPr>
                <a:noFill/>
                <a:tableStyleId>{B0196C31-DE31-4EEB-A1FE-65C315F2E925}</a:tableStyleId>
              </a:tblPr>
              <a:tblGrid>
                <a:gridCol w="1732525"/>
              </a:tblGrid>
              <a:tr h="790900">
                <a:tc>
                  <a:txBody>
                    <a:bodyPr/>
                    <a:lstStyle/>
                    <a:p>
                      <a:pPr indent="0" lvl="0" marL="0" marR="0" rtl="0" algn="ctr">
                        <a:lnSpc>
                          <a:spcPct val="100000"/>
                        </a:lnSpc>
                        <a:spcBef>
                          <a:spcPts val="0"/>
                        </a:spcBef>
                        <a:spcAft>
                          <a:spcPts val="0"/>
                        </a:spcAft>
                        <a:buClr>
                          <a:srgbClr val="000000"/>
                        </a:buClr>
                        <a:buSzPts val="1100"/>
                        <a:buFont typeface="Arial"/>
                        <a:buNone/>
                      </a:pPr>
                      <a:r>
                        <a:rPr b="1" lang="es-MX" sz="1100" u="none" cap="none" strike="noStrike"/>
                        <a:t>NOTA IMPORTANTE</a:t>
                      </a:r>
                      <a:r>
                        <a:rPr lang="es-MX" sz="1100" u="none" cap="none" strike="noStrike"/>
                        <a:t>: Toda herramienta o software que impacte en gasto, estará sujeta a autorización.</a:t>
                      </a:r>
                      <a:endParaRPr b="1" i="0" sz="1100" u="none" cap="none" strike="noStrike">
                        <a:solidFill>
                          <a:srgbClr val="000000"/>
                        </a:solidFill>
                        <a:latin typeface="Calibri"/>
                        <a:ea typeface="Calibri"/>
                        <a:cs typeface="Calibri"/>
                        <a:sym typeface="Calibri"/>
                      </a:endParaRPr>
                    </a:p>
                  </a:txBody>
                  <a:tcPr marT="0" marB="0" marR="0" marL="0" anchor="ctr">
                    <a:solidFill>
                      <a:srgbClr val="F2F2F2"/>
                    </a:solidFill>
                  </a:tcPr>
                </a:tc>
              </a:tr>
            </a:tbl>
          </a:graphicData>
        </a:graphic>
      </p:graphicFrame>
      <p:sp>
        <p:nvSpPr>
          <p:cNvPr id="139" name="Google Shape;139;p1"/>
          <p:cNvSpPr txBox="1"/>
          <p:nvPr/>
        </p:nvSpPr>
        <p:spPr>
          <a:xfrm>
            <a:off x="7369146" y="1230169"/>
            <a:ext cx="50643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s-MX" sz="1200" u="none" cap="none" strike="noStrike">
                <a:solidFill>
                  <a:srgbClr val="000000"/>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sp>
        <p:nvSpPr>
          <p:cNvPr id="140" name="Google Shape;140;p1"/>
          <p:cNvSpPr txBox="1"/>
          <p:nvPr/>
        </p:nvSpPr>
        <p:spPr>
          <a:xfrm>
            <a:off x="7308652" y="3014200"/>
            <a:ext cx="50643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s-MX" sz="1200" u="none" cap="none" strike="noStrike">
                <a:solidFill>
                  <a:srgbClr val="000000"/>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sp>
        <p:nvSpPr>
          <p:cNvPr id="141" name="Google Shape;141;p1"/>
          <p:cNvSpPr txBox="1"/>
          <p:nvPr/>
        </p:nvSpPr>
        <p:spPr>
          <a:xfrm>
            <a:off x="8051379" y="3038442"/>
            <a:ext cx="50643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s-MX" sz="1200" u="none" cap="none" strike="noStrike">
                <a:solidFill>
                  <a:srgbClr val="000000"/>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sp>
        <p:nvSpPr>
          <p:cNvPr id="142" name="Google Shape;142;p1"/>
          <p:cNvSpPr txBox="1"/>
          <p:nvPr/>
        </p:nvSpPr>
        <p:spPr>
          <a:xfrm>
            <a:off x="7459294" y="151075"/>
            <a:ext cx="1499597"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chemeClr val="dk1"/>
                </a:solidFill>
                <a:latin typeface="Calibri"/>
                <a:ea typeface="Calibri"/>
                <a:cs typeface="Calibri"/>
                <a:sym typeface="Calibri"/>
              </a:rPr>
              <a:t>Colocar logo de ProxyLogis</a:t>
            </a:r>
            <a:endParaRPr b="1" i="0" sz="1800" u="none" cap="none" strike="noStrike">
              <a:solidFill>
                <a:schemeClr val="dk1"/>
              </a:solidFill>
              <a:latin typeface="Calibri"/>
              <a:ea typeface="Calibri"/>
              <a:cs typeface="Calibri"/>
              <a:sym typeface="Calibri"/>
            </a:endParaRPr>
          </a:p>
        </p:txBody>
      </p:sp>
      <p:sp>
        <p:nvSpPr>
          <p:cNvPr id="143" name="Google Shape;143;p1"/>
          <p:cNvSpPr txBox="1"/>
          <p:nvPr/>
        </p:nvSpPr>
        <p:spPr>
          <a:xfrm>
            <a:off x="74103" y="5272810"/>
            <a:ext cx="4440700" cy="1547090"/>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300"/>
              <a:buFont typeface="Arial"/>
              <a:buNone/>
            </a:pPr>
            <a:r>
              <a:rPr b="1" i="0" lang="es-MX" sz="1300" u="none" cap="none" strike="noStrike">
                <a:solidFill>
                  <a:srgbClr val="000000"/>
                </a:solidFill>
                <a:latin typeface="Calibri"/>
                <a:ea typeface="Calibri"/>
                <a:cs typeface="Calibri"/>
                <a:sym typeface="Calibri"/>
              </a:rPr>
              <a:t>Decisiones Relevantes del Puesto </a:t>
            </a:r>
            <a:endParaRPr b="0" i="0" sz="1400" u="none" cap="none" strike="noStrike">
              <a:solidFill>
                <a:srgbClr val="000000"/>
              </a:solidFill>
              <a:latin typeface="Arial"/>
              <a:ea typeface="Arial"/>
              <a:cs typeface="Arial"/>
              <a:sym typeface="Arial"/>
            </a:endParaRPr>
          </a:p>
          <a:p>
            <a:pPr indent="-168275" lvl="0" marL="174625" marR="0" rtl="0" algn="just">
              <a:lnSpc>
                <a:spcPct val="100000"/>
              </a:lnSpc>
              <a:spcBef>
                <a:spcPts val="200"/>
              </a:spcBef>
              <a:spcAft>
                <a:spcPts val="0"/>
              </a:spcAft>
              <a:buClr>
                <a:srgbClr val="840E27"/>
              </a:buClr>
              <a:buSzPts val="1100"/>
              <a:buFont typeface="Noto Sans Symbols"/>
              <a:buChar char="▪"/>
            </a:pPr>
            <a:r>
              <a:rPr lang="es-MX" sz="1100">
                <a:latin typeface="Calibri"/>
                <a:ea typeface="Calibri"/>
                <a:cs typeface="Calibri"/>
                <a:sym typeface="Calibri"/>
              </a:rPr>
              <a:t>Priorización de inversiones en infraestructura y plataformas tecnológicas para la cadena de suministro, determinando qué iniciativas se impulsan, pausan o cancelan con base en valor operativo, viabilidad técnica y recursos disponibles.</a:t>
            </a:r>
            <a:endParaRPr sz="1100">
              <a:latin typeface="Calibri"/>
              <a:ea typeface="Calibri"/>
              <a:cs typeface="Calibri"/>
              <a:sym typeface="Calibri"/>
            </a:endParaRPr>
          </a:p>
          <a:p>
            <a:pPr indent="-168275" lvl="0" marL="174625" marR="0" rtl="0" algn="just">
              <a:lnSpc>
                <a:spcPct val="100000"/>
              </a:lnSpc>
              <a:spcBef>
                <a:spcPts val="200"/>
              </a:spcBef>
              <a:spcAft>
                <a:spcPts val="0"/>
              </a:spcAft>
              <a:buClr>
                <a:srgbClr val="840E27"/>
              </a:buClr>
              <a:buSzPts val="1100"/>
              <a:buFont typeface="Noto Sans Symbols"/>
              <a:buChar char="▪"/>
            </a:pPr>
            <a:r>
              <a:rPr lang="es-MX" sz="1100">
                <a:latin typeface="Calibri"/>
                <a:ea typeface="Calibri"/>
                <a:cs typeface="Calibri"/>
                <a:sym typeface="Calibri"/>
              </a:rPr>
              <a:t>Selección de plataformas de software y estándares de integración entre los sistemas logísticos y el core comercial, evaluando escalabilidad, compatibilidad y costo total de propiedad.</a:t>
            </a:r>
            <a:endParaRPr sz="11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aphicFrame>
        <p:nvGraphicFramePr>
          <p:cNvPr id="149" name="Google Shape;149;p2"/>
          <p:cNvGraphicFramePr/>
          <p:nvPr/>
        </p:nvGraphicFramePr>
        <p:xfrm>
          <a:off x="59500" y="1064578"/>
          <a:ext cx="3000000" cy="3000000"/>
        </p:xfrm>
        <a:graphic>
          <a:graphicData uri="http://schemas.openxmlformats.org/drawingml/2006/table">
            <a:tbl>
              <a:tblPr>
                <a:noFill/>
                <a:tableStyleId>{A905B088-DBB1-476B-8120-157E282447E1}</a:tableStyleId>
              </a:tblPr>
              <a:tblGrid>
                <a:gridCol w="156200"/>
                <a:gridCol w="3028425"/>
                <a:gridCol w="4270850"/>
                <a:gridCol w="1320075"/>
              </a:tblGrid>
              <a:tr h="412225">
                <a:tc>
                  <a:txBody>
                    <a:bodyPr/>
                    <a:lstStyle/>
                    <a:p>
                      <a:pPr indent="0" lvl="0" marL="0" marR="0" rtl="0" algn="l">
                        <a:lnSpc>
                          <a:spcPct val="100000"/>
                        </a:lnSpc>
                        <a:spcBef>
                          <a:spcPts val="0"/>
                        </a:spcBef>
                        <a:spcAft>
                          <a:spcPts val="0"/>
                        </a:spcAft>
                        <a:buClr>
                          <a:srgbClr val="000000"/>
                        </a:buClr>
                        <a:buSzPts val="900"/>
                        <a:buFont typeface="Arial"/>
                        <a:buNone/>
                      </a:pPr>
                      <a:r>
                        <a:rPr b="0" i="0" lang="es-MX" sz="900" u="none" cap="none" strike="noStrike">
                          <a:solidFill>
                            <a:srgbClr val="000000"/>
                          </a:solidFill>
                          <a:latin typeface="Calibri"/>
                          <a:ea typeface="Calibri"/>
                          <a:cs typeface="Calibri"/>
                          <a:sym typeface="Calibri"/>
                        </a:rPr>
                        <a:t> a</a:t>
                      </a:r>
                      <a:endParaRPr sz="1400" u="none" cap="none" strike="noStrike"/>
                    </a:p>
                  </a:txBody>
                  <a:tcPr marT="9525" marB="0" marR="9525" marL="952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s-MX" sz="1000" u="none" cap="none" strike="noStrike">
                          <a:solidFill>
                            <a:srgbClr val="000000"/>
                          </a:solidFill>
                          <a:latin typeface="Verdana"/>
                          <a:ea typeface="Verdana"/>
                          <a:cs typeface="Verdana"/>
                          <a:sym typeface="Verdana"/>
                        </a:rPr>
                        <a:t>Puesto/ Área</a:t>
                      </a:r>
                      <a:endParaRPr b="1" i="0" sz="1000" u="none" cap="none" strike="noStrike">
                        <a:solidFill>
                          <a:srgbClr val="000000"/>
                        </a:solidFill>
                        <a:latin typeface="Verdana"/>
                        <a:ea typeface="Verdana"/>
                        <a:cs typeface="Verdana"/>
                        <a:sym typeface="Verdana"/>
                      </a:endParaRPr>
                    </a:p>
                  </a:txBody>
                  <a:tcPr marT="9525" marB="0" marR="9525" marL="9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s-MX" sz="1000" u="none" cap="none" strike="noStrike">
                          <a:solidFill>
                            <a:srgbClr val="000000"/>
                          </a:solidFill>
                          <a:latin typeface="Verdana"/>
                          <a:ea typeface="Verdana"/>
                          <a:cs typeface="Verdana"/>
                          <a:sym typeface="Verdana"/>
                        </a:rPr>
                        <a:t>Objetivo Relación: </a:t>
                      </a:r>
                      <a:endParaRPr b="1" i="0" sz="1000" u="none" cap="none" strike="noStrike">
                        <a:solidFill>
                          <a:srgbClr val="000000"/>
                        </a:solidFill>
                        <a:latin typeface="Verdana"/>
                        <a:ea typeface="Verdana"/>
                        <a:cs typeface="Verdana"/>
                        <a:sym typeface="Verdana"/>
                      </a:endParaRPr>
                    </a:p>
                  </a:txBody>
                  <a:tcPr marT="9525" marB="0" marR="9525" marL="9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s-MX" sz="1000" u="none" cap="none" strike="noStrike">
                          <a:solidFill>
                            <a:srgbClr val="000000"/>
                          </a:solidFill>
                          <a:latin typeface="Verdana"/>
                          <a:ea typeface="Verdana"/>
                          <a:cs typeface="Verdana"/>
                          <a:sym typeface="Verdana"/>
                        </a:rPr>
                        <a:t>Frecuencia:</a:t>
                      </a:r>
                      <a:endParaRPr sz="1400" u="none" cap="none" strike="noStrike"/>
                    </a:p>
                    <a:p>
                      <a:pPr indent="0" lvl="0" marL="0" marR="0" rtl="0" algn="ctr">
                        <a:lnSpc>
                          <a:spcPct val="100000"/>
                        </a:lnSpc>
                        <a:spcBef>
                          <a:spcPts val="0"/>
                        </a:spcBef>
                        <a:spcAft>
                          <a:spcPts val="0"/>
                        </a:spcAft>
                        <a:buClr>
                          <a:srgbClr val="000000"/>
                        </a:buClr>
                        <a:buSzPts val="600"/>
                        <a:buFont typeface="Arial"/>
                        <a:buNone/>
                      </a:pPr>
                      <a:r>
                        <a:rPr b="0" i="0" lang="es-MX" sz="600" u="none" cap="none" strike="noStrike">
                          <a:solidFill>
                            <a:srgbClr val="000000"/>
                          </a:solidFill>
                          <a:latin typeface="Verdana"/>
                          <a:ea typeface="Verdana"/>
                          <a:cs typeface="Verdana"/>
                          <a:sym typeface="Verdana"/>
                        </a:rPr>
                        <a:t>(Diario, Semanal, Mes, Anual)</a:t>
                      </a:r>
                      <a:endParaRPr b="0" i="0" sz="600" u="none" cap="none" strike="noStrike">
                        <a:solidFill>
                          <a:srgbClr val="000000"/>
                        </a:solidFill>
                        <a:latin typeface="Verdana"/>
                        <a:ea typeface="Verdana"/>
                        <a:cs typeface="Verdana"/>
                        <a:sym typeface="Verdana"/>
                      </a:endParaRPr>
                    </a:p>
                  </a:txBody>
                  <a:tcPr marT="9525" marB="0" marR="9525" marL="9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r>
              <a:tr h="204200">
                <a:tc rowSpan="7">
                  <a:txBody>
                    <a:bodyPr/>
                    <a:lstStyle/>
                    <a:p>
                      <a:pPr indent="0" lvl="0" marL="0" marR="0" rtl="0" algn="ctr">
                        <a:lnSpc>
                          <a:spcPct val="100000"/>
                        </a:lnSpc>
                        <a:spcBef>
                          <a:spcPts val="0"/>
                        </a:spcBef>
                        <a:spcAft>
                          <a:spcPts val="0"/>
                        </a:spcAft>
                        <a:buClr>
                          <a:srgbClr val="000000"/>
                        </a:buClr>
                        <a:buSzPts val="900"/>
                        <a:buFont typeface="Arial"/>
                        <a:buNone/>
                      </a:pPr>
                      <a:r>
                        <a:rPr b="1" i="0" lang="es-MX" sz="900" u="none" cap="none" strike="noStrike">
                          <a:solidFill>
                            <a:srgbClr val="FFFFFF"/>
                          </a:solidFill>
                          <a:latin typeface="Verdana"/>
                          <a:ea typeface="Verdana"/>
                          <a:cs typeface="Verdana"/>
                          <a:sym typeface="Verdana"/>
                        </a:rPr>
                        <a:t>INTERNAS</a:t>
                      </a:r>
                      <a:endParaRPr sz="1400" u="none" cap="none" strike="noStrike"/>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00000"/>
                    </a:solidFill>
                  </a:tcPr>
                </a:tc>
                <a:tc>
                  <a:txBody>
                    <a:bodyPr/>
                    <a:lstStyle/>
                    <a:p>
                      <a:pPr indent="0" lvl="0" marL="0" marR="0" rtl="0" algn="l">
                        <a:lnSpc>
                          <a:spcPct val="100000"/>
                        </a:lnSpc>
                        <a:spcBef>
                          <a:spcPts val="0"/>
                        </a:spcBef>
                        <a:spcAft>
                          <a:spcPts val="0"/>
                        </a:spcAft>
                        <a:buClr>
                          <a:srgbClr val="000000"/>
                        </a:buClr>
                        <a:buSzPts val="1050"/>
                        <a:buFont typeface="Arial"/>
                        <a:buNone/>
                      </a:pPr>
                      <a:r>
                        <a:rPr lang="es-MX" sz="1050">
                          <a:latin typeface="Calibri"/>
                          <a:ea typeface="Calibri"/>
                          <a:cs typeface="Calibri"/>
                          <a:sym typeface="Calibri"/>
                        </a:rPr>
                        <a:t>Director TI OXXO Mx</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50"/>
                        <a:buFont typeface="Arial"/>
                        <a:buNone/>
                      </a:pPr>
                      <a:r>
                        <a:rPr lang="es-MX" sz="1050">
                          <a:solidFill>
                            <a:schemeClr val="dk1"/>
                          </a:solidFill>
                          <a:latin typeface="Calibri"/>
                          <a:ea typeface="Calibri"/>
                          <a:cs typeface="Calibri"/>
                          <a:sym typeface="Calibri"/>
                        </a:rPr>
                        <a:t>Alinear estrategia y reportar avances clave del área</a:t>
                      </a:r>
                      <a:endParaRPr sz="1050">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rPr lang="es-MX" sz="900" u="none" cap="none" strike="noStrike">
                          <a:solidFill>
                            <a:schemeClr val="dk1"/>
                          </a:solidFill>
                          <a:latin typeface="Calibri"/>
                          <a:ea typeface="Calibri"/>
                          <a:cs typeface="Calibri"/>
                          <a:sym typeface="Calibri"/>
                        </a:rPr>
                        <a:t>Semanal</a:t>
                      </a:r>
                      <a:endParaRPr sz="900" u="none" cap="none" strike="noStrike">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300">
                <a:tc vMerge="1"/>
                <a:tc>
                  <a:txBody>
                    <a:bodyPr/>
                    <a:lstStyle/>
                    <a:p>
                      <a:pPr indent="0" lvl="0" marL="0" marR="0" rtl="0" algn="l">
                        <a:lnSpc>
                          <a:spcPct val="100000"/>
                        </a:lnSpc>
                        <a:spcBef>
                          <a:spcPts val="0"/>
                        </a:spcBef>
                        <a:spcAft>
                          <a:spcPts val="0"/>
                        </a:spcAft>
                        <a:buClr>
                          <a:srgbClr val="000000"/>
                        </a:buClr>
                        <a:buSzPts val="1050"/>
                        <a:buFont typeface="Arial"/>
                        <a:buNone/>
                      </a:pPr>
                      <a:r>
                        <a:rPr lang="es-MX" sz="1050">
                          <a:latin typeface="Calibri"/>
                          <a:ea typeface="Calibri"/>
                          <a:cs typeface="Calibri"/>
                          <a:sym typeface="Calibri"/>
                        </a:rPr>
                        <a:t>Dirección de Logística / Abasto</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50"/>
                        <a:buFont typeface="Arial"/>
                        <a:buNone/>
                      </a:pPr>
                      <a:r>
                        <a:rPr lang="es-MX" sz="1050">
                          <a:solidFill>
                            <a:schemeClr val="dk1"/>
                          </a:solidFill>
                          <a:latin typeface="Calibri"/>
                          <a:ea typeface="Calibri"/>
                          <a:cs typeface="Calibri"/>
                          <a:sym typeface="Calibri"/>
                        </a:rPr>
                        <a:t>Alinear capacidad de red y estrategias de resurtido</a:t>
                      </a:r>
                      <a:endParaRPr sz="1050">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rPr lang="es-MX" sz="900" u="none" cap="none" strike="noStrike">
                          <a:solidFill>
                            <a:schemeClr val="dk1"/>
                          </a:solidFill>
                          <a:latin typeface="Calibri"/>
                          <a:ea typeface="Calibri"/>
                          <a:cs typeface="Calibri"/>
                          <a:sym typeface="Calibri"/>
                        </a:rPr>
                        <a:t>Semanal</a:t>
                      </a:r>
                      <a:endParaRPr sz="900" u="none" cap="none" strike="noStrike">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4200">
                <a:tc vMerge="1"/>
                <a:tc>
                  <a:txBody>
                    <a:bodyPr/>
                    <a:lstStyle/>
                    <a:p>
                      <a:pPr indent="0" lvl="0" marL="0" marR="0" rtl="0" algn="l">
                        <a:lnSpc>
                          <a:spcPct val="100000"/>
                        </a:lnSpc>
                        <a:spcBef>
                          <a:spcPts val="0"/>
                        </a:spcBef>
                        <a:spcAft>
                          <a:spcPts val="0"/>
                        </a:spcAft>
                        <a:buClr>
                          <a:srgbClr val="000000"/>
                        </a:buClr>
                        <a:buSzPts val="1050"/>
                        <a:buFont typeface="Arial"/>
                        <a:buNone/>
                      </a:pPr>
                      <a:r>
                        <a:rPr lang="es-MX" sz="1050">
                          <a:latin typeface="Calibri"/>
                          <a:ea typeface="Calibri"/>
                          <a:cs typeface="Calibri"/>
                          <a:sym typeface="Calibri"/>
                        </a:rPr>
                        <a:t>Gerencia de Operaciones</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50"/>
                        <a:buFont typeface="Arial"/>
                        <a:buNone/>
                      </a:pPr>
                      <a:r>
                        <a:rPr lang="es-MX" sz="1050">
                          <a:solidFill>
                            <a:schemeClr val="dk1"/>
                          </a:solidFill>
                          <a:latin typeface="Calibri"/>
                          <a:ea typeface="Calibri"/>
                          <a:cs typeface="Calibri"/>
                          <a:sym typeface="Calibri"/>
                        </a:rPr>
                        <a:t>Asegurar flujo de mercancía hacia tiendas</a:t>
                      </a:r>
                      <a:endParaRPr sz="1050">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rPr lang="es-MX" sz="900" u="none" cap="none" strike="noStrike">
                          <a:solidFill>
                            <a:schemeClr val="dk1"/>
                          </a:solidFill>
                          <a:latin typeface="Calibri"/>
                          <a:ea typeface="Calibri"/>
                          <a:cs typeface="Calibri"/>
                          <a:sym typeface="Calibri"/>
                        </a:rPr>
                        <a:t>Semanal</a:t>
                      </a:r>
                      <a:endParaRPr sz="900" u="none" cap="none" strike="noStrike">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4200">
                <a:tc vMerge="1"/>
                <a:tc>
                  <a:txBody>
                    <a:bodyPr/>
                    <a:lstStyle/>
                    <a:p>
                      <a:pPr indent="0" lvl="0" marL="0" marR="0" rtl="0" algn="l">
                        <a:lnSpc>
                          <a:spcPct val="100000"/>
                        </a:lnSpc>
                        <a:spcBef>
                          <a:spcPts val="0"/>
                        </a:spcBef>
                        <a:spcAft>
                          <a:spcPts val="0"/>
                        </a:spcAft>
                        <a:buClr>
                          <a:srgbClr val="000000"/>
                        </a:buClr>
                        <a:buSzPts val="1050"/>
                        <a:buFont typeface="Arial"/>
                        <a:buNone/>
                      </a:pPr>
                      <a:r>
                        <a:rPr lang="es-MX" sz="1050">
                          <a:latin typeface="Calibri"/>
                          <a:ea typeface="Calibri"/>
                          <a:cs typeface="Calibri"/>
                          <a:sym typeface="Calibri"/>
                        </a:rPr>
                        <a:t>Gte. Arquitectura TI</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50"/>
                        <a:buFont typeface="Arial"/>
                        <a:buNone/>
                      </a:pPr>
                      <a:r>
                        <a:rPr lang="es-MX" sz="1050">
                          <a:solidFill>
                            <a:schemeClr val="dk1"/>
                          </a:solidFill>
                          <a:latin typeface="Calibri"/>
                          <a:ea typeface="Calibri"/>
                          <a:cs typeface="Calibri"/>
                          <a:sym typeface="Calibri"/>
                        </a:rPr>
                        <a:t>Validar estándares de integración entre sistemas logísticos</a:t>
                      </a:r>
                      <a:endParaRPr sz="1050">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rPr lang="es-MX" sz="900">
                          <a:solidFill>
                            <a:schemeClr val="dk1"/>
                          </a:solidFill>
                          <a:latin typeface="Calibri"/>
                          <a:ea typeface="Calibri"/>
                          <a:cs typeface="Calibri"/>
                          <a:sym typeface="Calibri"/>
                        </a:rPr>
                        <a:t>Mensual</a:t>
                      </a:r>
                      <a:endParaRPr sz="900" u="none" cap="none" strike="noStrike">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4200">
                <a:tc vMerge="1"/>
                <a:tc>
                  <a:txBody>
                    <a:bodyPr/>
                    <a:lstStyle/>
                    <a:p>
                      <a:pPr indent="0" lvl="0" marL="0" marR="0" rtl="0" algn="l">
                        <a:lnSpc>
                          <a:spcPct val="100000"/>
                        </a:lnSpc>
                        <a:spcBef>
                          <a:spcPts val="0"/>
                        </a:spcBef>
                        <a:spcAft>
                          <a:spcPts val="0"/>
                        </a:spcAft>
                        <a:buClr>
                          <a:srgbClr val="000000"/>
                        </a:buClr>
                        <a:buSzPts val="1050"/>
                        <a:buFont typeface="Arial"/>
                        <a:buNone/>
                      </a:pPr>
                      <a:r>
                        <a:rPr lang="es-MX" sz="1050">
                          <a:latin typeface="Calibri"/>
                          <a:ea typeface="Calibri"/>
                          <a:cs typeface="Calibri"/>
                          <a:sym typeface="Calibri"/>
                        </a:rPr>
                        <a:t>Gte. Planeación y Proyectos TI</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50"/>
                        <a:buFont typeface="Arial"/>
                        <a:buNone/>
                      </a:pPr>
                      <a:r>
                        <a:rPr lang="es-MX" sz="1050">
                          <a:solidFill>
                            <a:schemeClr val="dk1"/>
                          </a:solidFill>
                          <a:latin typeface="Calibri"/>
                          <a:ea typeface="Calibri"/>
                          <a:cs typeface="Calibri"/>
                          <a:sym typeface="Calibri"/>
                        </a:rPr>
                        <a:t>Coordinar gobernanza y seguimiento de iniciativas CdS</a:t>
                      </a:r>
                      <a:endParaRPr sz="1050">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rPr lang="es-MX" sz="900">
                          <a:solidFill>
                            <a:schemeClr val="dk1"/>
                          </a:solidFill>
                          <a:latin typeface="Calibri"/>
                          <a:ea typeface="Calibri"/>
                          <a:cs typeface="Calibri"/>
                          <a:sym typeface="Calibri"/>
                        </a:rPr>
                        <a:t>Semanal</a:t>
                      </a:r>
                      <a:endParaRPr sz="900" u="none" cap="none" strike="noStrike">
                        <a:solidFill>
                          <a:schemeClr val="dk1"/>
                        </a:solidFill>
                        <a:latin typeface="Calibri"/>
                        <a:ea typeface="Calibri"/>
                        <a:cs typeface="Calibri"/>
                        <a:sym typeface="Calibri"/>
                      </a:endParaRPr>
                    </a:p>
                  </a:txBody>
                  <a:tcPr marT="9525" marB="0" marR="73150" marL="73150"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300">
                <a:tc vMerge="1"/>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t/>
                      </a:r>
                      <a:endParaRPr sz="900" u="none" cap="none" strike="noStrike">
                        <a:solidFill>
                          <a:schemeClr val="dk1"/>
                        </a:solidFill>
                        <a:latin typeface="Calibri"/>
                        <a:ea typeface="Calibri"/>
                        <a:cs typeface="Calibri"/>
                        <a:sym typeface="Calibri"/>
                      </a:endParaRPr>
                    </a:p>
                  </a:txBody>
                  <a:tcPr marT="9525" marB="0" marR="9525" marL="73150"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300">
                <a:tc vMerge="1"/>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t/>
                      </a:r>
                      <a:endParaRPr sz="900" u="none" cap="none" strike="noStrike">
                        <a:solidFill>
                          <a:schemeClr val="dk1"/>
                        </a:solidFill>
                        <a:latin typeface="Calibri"/>
                        <a:ea typeface="Calibri"/>
                        <a:cs typeface="Calibri"/>
                        <a:sym typeface="Calibri"/>
                      </a:endParaRPr>
                    </a:p>
                  </a:txBody>
                  <a:tcPr marT="0" marB="0"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alibri"/>
                        <a:buNone/>
                      </a:pPr>
                      <a:r>
                        <a:t/>
                      </a:r>
                      <a:endParaRPr sz="900" u="none" cap="none" strike="noStrike">
                        <a:solidFill>
                          <a:schemeClr val="dk1"/>
                        </a:solidFill>
                        <a:latin typeface="Calibri"/>
                        <a:ea typeface="Calibri"/>
                        <a:cs typeface="Calibri"/>
                        <a:sym typeface="Calibri"/>
                      </a:endParaRPr>
                    </a:p>
                  </a:txBody>
                  <a:tcPr marT="9525" marB="0" marR="9525" marL="73150"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0" name="Google Shape;150;p2"/>
          <p:cNvSpPr/>
          <p:nvPr/>
        </p:nvSpPr>
        <p:spPr>
          <a:xfrm>
            <a:off x="4031311" y="6647290"/>
            <a:ext cx="1081378" cy="17261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2"/>
          <p:cNvSpPr txBox="1"/>
          <p:nvPr/>
        </p:nvSpPr>
        <p:spPr>
          <a:xfrm>
            <a:off x="139564" y="3705118"/>
            <a:ext cx="4388817" cy="2667974"/>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200"/>
              <a:buFont typeface="Arial"/>
              <a:buNone/>
            </a:pPr>
            <a:r>
              <a:rPr b="1" i="0" lang="es-MX" sz="1200" u="sng" cap="none" strike="noStrike">
                <a:solidFill>
                  <a:srgbClr val="000000"/>
                </a:solidFill>
                <a:latin typeface="Calibri"/>
                <a:ea typeface="Calibri"/>
                <a:cs typeface="Calibri"/>
                <a:sym typeface="Calibri"/>
              </a:rPr>
              <a:t>Dimensionamiento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240"/>
              </a:spcBef>
              <a:spcAft>
                <a:spcPts val="0"/>
              </a:spcAft>
              <a:buClr>
                <a:srgbClr val="840E27"/>
              </a:buClr>
              <a:buSzPts val="1200"/>
              <a:buFont typeface="Arial"/>
              <a:buNone/>
            </a:pPr>
            <a:r>
              <a:t/>
            </a:r>
            <a:endParaRPr b="1" i="0" sz="1200" u="none" cap="none" strike="noStrike">
              <a:solidFill>
                <a:srgbClr val="000000"/>
              </a:solidFill>
              <a:latin typeface="Calibri"/>
              <a:ea typeface="Calibri"/>
              <a:cs typeface="Calibri"/>
              <a:sym typeface="Calibri"/>
            </a:endParaRPr>
          </a:p>
          <a:p>
            <a:pPr indent="-180000" lvl="0" marL="324000" marR="0" rtl="0" algn="just">
              <a:lnSpc>
                <a:spcPct val="100000"/>
              </a:lnSpc>
              <a:spcBef>
                <a:spcPts val="0"/>
              </a:spcBef>
              <a:spcAft>
                <a:spcPts val="0"/>
              </a:spcAft>
              <a:buClr>
                <a:srgbClr val="840E27"/>
              </a:buClr>
              <a:buSzPts val="1116"/>
              <a:buFont typeface="Arial"/>
              <a:buChar char="•"/>
            </a:pPr>
            <a:r>
              <a:rPr b="1" i="0" lang="es-MX" sz="1200" u="none" cap="none" strike="noStrike">
                <a:solidFill>
                  <a:srgbClr val="000000"/>
                </a:solidFill>
                <a:latin typeface="Calibri"/>
                <a:ea typeface="Calibri"/>
                <a:cs typeface="Calibri"/>
                <a:sym typeface="Calibri"/>
              </a:rPr>
              <a:t>Negocios: </a:t>
            </a:r>
            <a:r>
              <a:rPr b="0" i="0" lang="es-MX" sz="1200" u="none" cap="none" strike="noStrike">
                <a:solidFill>
                  <a:srgbClr val="000000"/>
                </a:solidFill>
                <a:latin typeface="Calibri"/>
                <a:ea typeface="Calibri"/>
                <a:cs typeface="Calibri"/>
                <a:sym typeface="Calibri"/>
              </a:rPr>
              <a:t>OXXO México</a:t>
            </a:r>
            <a:endParaRPr b="0" i="0" sz="1200" u="none" cap="none" strike="noStrike">
              <a:solidFill>
                <a:srgbClr val="000000"/>
              </a:solidFill>
              <a:latin typeface="Calibri"/>
              <a:ea typeface="Calibri"/>
              <a:cs typeface="Calibri"/>
              <a:sym typeface="Calibri"/>
            </a:endParaRPr>
          </a:p>
          <a:p>
            <a:pPr indent="-109134" lvl="0" marL="522900" marR="0" rtl="0" algn="just">
              <a:lnSpc>
                <a:spcPct val="100000"/>
              </a:lnSpc>
              <a:spcBef>
                <a:spcPts val="240"/>
              </a:spcBef>
              <a:spcAft>
                <a:spcPts val="0"/>
              </a:spcAft>
              <a:buClr>
                <a:srgbClr val="840E27"/>
              </a:buClr>
              <a:buSzPts val="1116"/>
              <a:buFont typeface="Arial"/>
              <a:buNone/>
            </a:pPr>
            <a:r>
              <a:t/>
            </a:r>
            <a:endParaRPr b="1" i="0" sz="1200" u="none" cap="none" strike="noStrike">
              <a:solidFill>
                <a:srgbClr val="000000"/>
              </a:solidFill>
              <a:latin typeface="Calibri"/>
              <a:ea typeface="Calibri"/>
              <a:cs typeface="Calibri"/>
              <a:sym typeface="Calibri"/>
            </a:endParaRPr>
          </a:p>
          <a:p>
            <a:pPr indent="-180000" lvl="0" marL="324000" marR="0" rtl="0" algn="just">
              <a:lnSpc>
                <a:spcPct val="100000"/>
              </a:lnSpc>
              <a:spcBef>
                <a:spcPts val="0"/>
              </a:spcBef>
              <a:spcAft>
                <a:spcPts val="0"/>
              </a:spcAft>
              <a:buClr>
                <a:srgbClr val="840E27"/>
              </a:buClr>
              <a:buSzPts val="1116"/>
              <a:buFont typeface="Arial"/>
              <a:buChar char="•"/>
            </a:pPr>
            <a:r>
              <a:rPr b="1" i="0" lang="es-MX" sz="1200" u="none" cap="none" strike="noStrike">
                <a:solidFill>
                  <a:srgbClr val="000000"/>
                </a:solidFill>
                <a:latin typeface="Calibri"/>
                <a:ea typeface="Calibri"/>
                <a:cs typeface="Calibri"/>
                <a:sym typeface="Calibri"/>
              </a:rPr>
              <a:t>Alcance Geográfico: </a:t>
            </a:r>
            <a:r>
              <a:rPr b="0" i="0" lang="es-MX" sz="1200" u="none" cap="none" strike="noStrike">
                <a:solidFill>
                  <a:srgbClr val="000000"/>
                </a:solidFill>
                <a:latin typeface="Calibri"/>
                <a:ea typeface="Calibri"/>
                <a:cs typeface="Calibri"/>
                <a:sym typeface="Calibri"/>
              </a:rPr>
              <a:t>Nacional</a:t>
            </a:r>
            <a:endParaRPr b="0" i="0" sz="1200" u="none" cap="none" strike="noStrike">
              <a:solidFill>
                <a:srgbClr val="000000"/>
              </a:solidFill>
              <a:latin typeface="Calibri"/>
              <a:ea typeface="Calibri"/>
              <a:cs typeface="Calibri"/>
              <a:sym typeface="Calibri"/>
            </a:endParaRPr>
          </a:p>
          <a:p>
            <a:pPr indent="-109134" lvl="0" marL="324000" marR="0" rtl="0" algn="just">
              <a:lnSpc>
                <a:spcPct val="100000"/>
              </a:lnSpc>
              <a:spcBef>
                <a:spcPts val="0"/>
              </a:spcBef>
              <a:spcAft>
                <a:spcPts val="0"/>
              </a:spcAft>
              <a:buClr>
                <a:srgbClr val="840E27"/>
              </a:buClr>
              <a:buSzPts val="1116"/>
              <a:buFont typeface="Arial"/>
              <a:buNone/>
            </a:pPr>
            <a:r>
              <a:t/>
            </a:r>
            <a:endParaRPr b="1" i="0" sz="1200" u="none" cap="none" strike="noStrike">
              <a:solidFill>
                <a:srgbClr val="000000"/>
              </a:solidFill>
              <a:latin typeface="Calibri"/>
              <a:ea typeface="Calibri"/>
              <a:cs typeface="Calibri"/>
              <a:sym typeface="Calibri"/>
            </a:endParaRPr>
          </a:p>
          <a:p>
            <a:pPr indent="-180000" lvl="0" marL="324000" marR="0" rtl="0" algn="just">
              <a:lnSpc>
                <a:spcPct val="100000"/>
              </a:lnSpc>
              <a:spcBef>
                <a:spcPts val="0"/>
              </a:spcBef>
              <a:spcAft>
                <a:spcPts val="0"/>
              </a:spcAft>
              <a:buClr>
                <a:srgbClr val="840E27"/>
              </a:buClr>
              <a:buSzPts val="1116"/>
              <a:buFont typeface="Arial"/>
              <a:buChar char="•"/>
            </a:pPr>
            <a:r>
              <a:rPr b="1" i="0" lang="es-MX" sz="1200" u="none" cap="none" strike="noStrike">
                <a:solidFill>
                  <a:srgbClr val="000000"/>
                </a:solidFill>
                <a:latin typeface="Calibri"/>
                <a:ea typeface="Calibri"/>
                <a:cs typeface="Calibri"/>
                <a:sym typeface="Calibri"/>
              </a:rPr>
              <a:t>Tramo de supervisión: </a:t>
            </a:r>
            <a:r>
              <a:rPr lang="es-MX" sz="1200">
                <a:latin typeface="Calibri"/>
                <a:ea typeface="Calibri"/>
                <a:cs typeface="Calibri"/>
                <a:sym typeface="Calibri"/>
              </a:rPr>
              <a:t>7</a:t>
            </a:r>
            <a:r>
              <a:rPr b="0" i="0" lang="es-MX" sz="1200" u="none" cap="none" strike="noStrike">
                <a:solidFill>
                  <a:srgbClr val="000000"/>
                </a:solidFill>
                <a:latin typeface="Calibri"/>
                <a:ea typeface="Calibri"/>
                <a:cs typeface="Calibri"/>
                <a:sym typeface="Calibri"/>
              </a:rPr>
              <a:t> reportes directos</a:t>
            </a:r>
            <a:endParaRPr b="0" i="0" sz="1400" u="none" cap="none" strike="noStrike">
              <a:solidFill>
                <a:srgbClr val="000000"/>
              </a:solidFill>
              <a:latin typeface="Calibri"/>
              <a:ea typeface="Calibri"/>
              <a:cs typeface="Calibri"/>
              <a:sym typeface="Calibri"/>
            </a:endParaRPr>
          </a:p>
          <a:p>
            <a:pPr indent="0" lvl="0" marL="144000" marR="0" rtl="0" algn="just">
              <a:lnSpc>
                <a:spcPct val="100000"/>
              </a:lnSpc>
              <a:spcBef>
                <a:spcPts val="0"/>
              </a:spcBef>
              <a:spcAft>
                <a:spcPts val="0"/>
              </a:spcAft>
              <a:buClr>
                <a:srgbClr val="840E27"/>
              </a:buClr>
              <a:buSzPts val="1116"/>
              <a:buFont typeface="Arial"/>
              <a:buNone/>
            </a:pPr>
            <a:r>
              <a:t/>
            </a:r>
            <a:endParaRPr b="1" i="0" sz="1200" u="none" cap="none" strike="noStrike">
              <a:solidFill>
                <a:srgbClr val="000000"/>
              </a:solidFill>
              <a:latin typeface="Calibri"/>
              <a:ea typeface="Calibri"/>
              <a:cs typeface="Calibri"/>
              <a:sym typeface="Calibri"/>
            </a:endParaRPr>
          </a:p>
          <a:p>
            <a:pPr indent="-180000" lvl="0" marL="324000" marR="0" rtl="0" algn="just">
              <a:lnSpc>
                <a:spcPct val="100000"/>
              </a:lnSpc>
              <a:spcBef>
                <a:spcPts val="0"/>
              </a:spcBef>
              <a:spcAft>
                <a:spcPts val="0"/>
              </a:spcAft>
              <a:buClr>
                <a:srgbClr val="840E27"/>
              </a:buClr>
              <a:buSzPts val="1116"/>
              <a:buFont typeface="Arial"/>
              <a:buChar char="•"/>
            </a:pPr>
            <a:r>
              <a:rPr b="1" i="0" lang="es-MX" sz="1200" u="none" cap="none" strike="noStrike">
                <a:solidFill>
                  <a:srgbClr val="000000"/>
                </a:solidFill>
                <a:latin typeface="Calibri"/>
                <a:ea typeface="Calibri"/>
                <a:cs typeface="Calibri"/>
                <a:sym typeface="Calibri"/>
              </a:rPr>
              <a:t>Otros indicadores financieros / operativos (si aplica):</a:t>
            </a:r>
            <a:endParaRPr b="0" i="0" sz="1400" u="none" cap="none" strike="noStrike">
              <a:solidFill>
                <a:srgbClr val="000000"/>
              </a:solidFill>
              <a:latin typeface="Arial"/>
              <a:ea typeface="Arial"/>
              <a:cs typeface="Arial"/>
              <a:sym typeface="Arial"/>
            </a:endParaRPr>
          </a:p>
        </p:txBody>
      </p:sp>
      <p:sp>
        <p:nvSpPr>
          <p:cNvPr id="152" name="Google Shape;152;p2"/>
          <p:cNvSpPr/>
          <p:nvPr/>
        </p:nvSpPr>
        <p:spPr>
          <a:xfrm>
            <a:off x="59500" y="816255"/>
            <a:ext cx="881908" cy="292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Calibri"/>
              <a:buNone/>
            </a:pPr>
            <a:r>
              <a:rPr b="1" i="0" lang="es-MX" sz="1300" u="none" cap="none" strike="noStrike">
                <a:solidFill>
                  <a:srgbClr val="000000"/>
                </a:solidFill>
                <a:latin typeface="Calibri"/>
                <a:ea typeface="Calibri"/>
                <a:cs typeface="Calibri"/>
                <a:sym typeface="Calibri"/>
              </a:rPr>
              <a:t>Relaciones</a:t>
            </a:r>
            <a:endParaRPr b="0" i="0" sz="1300" u="none" cap="none" strike="noStrike">
              <a:solidFill>
                <a:srgbClr val="000000"/>
              </a:solidFill>
              <a:latin typeface="Calibri"/>
              <a:ea typeface="Calibri"/>
              <a:cs typeface="Calibri"/>
              <a:sym typeface="Calibri"/>
            </a:endParaRPr>
          </a:p>
        </p:txBody>
      </p:sp>
      <p:sp>
        <p:nvSpPr>
          <p:cNvPr id="153" name="Google Shape;153;p2"/>
          <p:cNvSpPr txBox="1"/>
          <p:nvPr/>
        </p:nvSpPr>
        <p:spPr>
          <a:xfrm>
            <a:off x="139564" y="6453259"/>
            <a:ext cx="4388817" cy="338552"/>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300"/>
              <a:buFont typeface="Arial"/>
              <a:buNone/>
            </a:pPr>
            <a:r>
              <a:rPr b="1" i="0" lang="es-MX" sz="1300" u="none" cap="none" strike="noStrike">
                <a:solidFill>
                  <a:srgbClr val="000000"/>
                </a:solidFill>
                <a:latin typeface="Calibri"/>
                <a:ea typeface="Calibri"/>
                <a:cs typeface="Calibri"/>
                <a:sym typeface="Calibri"/>
              </a:rPr>
              <a:t>Fecha de Modificación:</a:t>
            </a:r>
            <a:endParaRPr b="0" i="0" sz="1100" u="none" cap="none" strike="noStrike">
              <a:solidFill>
                <a:srgbClr val="000000"/>
              </a:solidFill>
              <a:latin typeface="Calibri"/>
              <a:ea typeface="Calibri"/>
              <a:cs typeface="Calibri"/>
              <a:sym typeface="Calibri"/>
            </a:endParaRPr>
          </a:p>
        </p:txBody>
      </p:sp>
      <p:sp>
        <p:nvSpPr>
          <p:cNvPr id="154" name="Google Shape;154;p2"/>
          <p:cNvSpPr txBox="1"/>
          <p:nvPr/>
        </p:nvSpPr>
        <p:spPr>
          <a:xfrm>
            <a:off x="4615620" y="6453258"/>
            <a:ext cx="4392000" cy="338553"/>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300"/>
              <a:buFont typeface="Arial"/>
              <a:buNone/>
            </a:pPr>
            <a:r>
              <a:rPr b="1" i="0" lang="es-MX" sz="1300" u="none" cap="none" strike="noStrike">
                <a:solidFill>
                  <a:srgbClr val="000000"/>
                </a:solidFill>
                <a:latin typeface="Calibri"/>
                <a:ea typeface="Calibri"/>
                <a:cs typeface="Calibri"/>
                <a:sym typeface="Calibri"/>
              </a:rPr>
              <a:t>Modificado por:</a:t>
            </a:r>
            <a:endParaRPr b="0" i="0" sz="1300" u="none" cap="none" strike="noStrike">
              <a:solidFill>
                <a:srgbClr val="000000"/>
              </a:solidFill>
              <a:latin typeface="Calibri"/>
              <a:ea typeface="Calibri"/>
              <a:cs typeface="Calibri"/>
              <a:sym typeface="Calibri"/>
            </a:endParaRPr>
          </a:p>
          <a:p>
            <a:pPr indent="0" lvl="0" marL="0" marR="0" rtl="0" algn="just">
              <a:lnSpc>
                <a:spcPct val="100000"/>
              </a:lnSpc>
              <a:spcBef>
                <a:spcPts val="220"/>
              </a:spcBef>
              <a:spcAft>
                <a:spcPts val="0"/>
              </a:spcAft>
              <a:buClr>
                <a:srgbClr val="840E27"/>
              </a:buClr>
              <a:buSzPts val="1100"/>
              <a:buFont typeface="Arial"/>
              <a:buNone/>
            </a:pPr>
            <a:r>
              <a:t/>
            </a:r>
            <a:endParaRPr b="0" i="0" sz="1100" u="none" cap="none" strike="noStrike">
              <a:solidFill>
                <a:srgbClr val="000000"/>
              </a:solidFill>
              <a:latin typeface="Calibri"/>
              <a:ea typeface="Calibri"/>
              <a:cs typeface="Calibri"/>
              <a:sym typeface="Calibri"/>
            </a:endParaRPr>
          </a:p>
        </p:txBody>
      </p:sp>
      <p:sp>
        <p:nvSpPr>
          <p:cNvPr id="155" name="Google Shape;155;p2"/>
          <p:cNvSpPr/>
          <p:nvPr/>
        </p:nvSpPr>
        <p:spPr>
          <a:xfrm>
            <a:off x="1" y="0"/>
            <a:ext cx="7223196" cy="850015"/>
          </a:xfrm>
          <a:prstGeom prst="homePlate">
            <a:avLst>
              <a:gd fmla="val 50000" name="adj"/>
            </a:avLst>
          </a:prstGeom>
          <a:solidFill>
            <a:srgbClr val="990021"/>
          </a:solidFill>
          <a:ln cap="flat" cmpd="sng" w="12700">
            <a:solidFill>
              <a:srgbClr val="99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 name="Google Shape;156;p2"/>
          <p:cNvSpPr txBox="1"/>
          <p:nvPr/>
        </p:nvSpPr>
        <p:spPr>
          <a:xfrm>
            <a:off x="4615620" y="4880609"/>
            <a:ext cx="4392000" cy="1492483"/>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s-MX" sz="1200" u="sng" cap="none" strike="noStrike">
                <a:solidFill>
                  <a:srgbClr val="000000"/>
                </a:solidFill>
                <a:latin typeface="Calibri"/>
                <a:ea typeface="Calibri"/>
                <a:cs typeface="Calibri"/>
                <a:sym typeface="Calibri"/>
              </a:rPr>
              <a:t>Características del rol:</a:t>
            </a:r>
            <a:endParaRPr b="0" i="0" sz="1400" u="none" cap="none" strike="noStrike">
              <a:solidFill>
                <a:srgbClr val="000000"/>
              </a:solidFill>
              <a:latin typeface="Arial"/>
              <a:ea typeface="Arial"/>
              <a:cs typeface="Arial"/>
              <a:sym typeface="Arial"/>
            </a:endParaRPr>
          </a:p>
          <a:p>
            <a:pPr indent="180000" lvl="0" marL="144000" marR="0" rtl="0" algn="l">
              <a:lnSpc>
                <a:spcPct val="100000"/>
              </a:lnSpc>
              <a:spcBef>
                <a:spcPts val="0"/>
              </a:spcBef>
              <a:spcAft>
                <a:spcPts val="0"/>
              </a:spcAft>
              <a:buClr>
                <a:srgbClr val="000000"/>
              </a:buClr>
              <a:buSzPts val="1023"/>
              <a:buFont typeface="Arial"/>
              <a:buNone/>
            </a:pPr>
            <a:r>
              <a:rPr b="1" i="0" lang="es-MX" sz="1100" u="none" cap="none" strike="noStrike">
                <a:solidFill>
                  <a:srgbClr val="000000"/>
                </a:solidFill>
                <a:latin typeface="Calibri"/>
                <a:ea typeface="Calibri"/>
                <a:cs typeface="Calibri"/>
                <a:sym typeface="Calibri"/>
              </a:rPr>
              <a:t>% de tiempo dedicado a actividades que el rol </a:t>
            </a:r>
            <a:r>
              <a:rPr b="1" i="0" lang="es-MX" sz="1100" u="sng" cap="none" strike="noStrike">
                <a:solidFill>
                  <a:srgbClr val="000000"/>
                </a:solidFill>
                <a:latin typeface="Calibri"/>
                <a:ea typeface="Calibri"/>
                <a:cs typeface="Calibri"/>
                <a:sym typeface="Calibri"/>
              </a:rPr>
              <a:t>obligatoriamente </a:t>
            </a:r>
            <a:r>
              <a:rPr b="1" i="0" lang="es-MX" sz="1100" u="none" cap="none" strike="noStrike">
                <a:solidFill>
                  <a:srgbClr val="000000"/>
                </a:solidFill>
                <a:latin typeface="Calibri"/>
                <a:ea typeface="Calibri"/>
                <a:cs typeface="Calibri"/>
                <a:sym typeface="Calibri"/>
              </a:rPr>
              <a:t>debe de realizar </a:t>
            </a:r>
            <a:r>
              <a:rPr b="1" i="0" lang="es-MX" sz="1100" u="sng" cap="none" strike="noStrike">
                <a:solidFill>
                  <a:srgbClr val="000000"/>
                </a:solidFill>
                <a:latin typeface="Calibri"/>
                <a:ea typeface="Calibri"/>
                <a:cs typeface="Calibri"/>
                <a:sym typeface="Calibri"/>
              </a:rPr>
              <a:t>en oficina</a:t>
            </a:r>
            <a:r>
              <a:rPr b="1" i="0" lang="es-MX" sz="11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180000" lvl="0" marL="144000" marR="0" rtl="0" algn="l">
              <a:lnSpc>
                <a:spcPct val="100000"/>
              </a:lnSpc>
              <a:spcBef>
                <a:spcPts val="0"/>
              </a:spcBef>
              <a:spcAft>
                <a:spcPts val="0"/>
              </a:spcAft>
              <a:buClr>
                <a:schemeClr val="dk1"/>
              </a:buClr>
              <a:buSzPts val="1023"/>
              <a:buFont typeface="Arial"/>
              <a:buNone/>
            </a:pPr>
            <a:r>
              <a:t/>
            </a:r>
            <a:endParaRPr b="0" i="1"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180000" lvl="0" marL="144000" marR="0" rtl="0" algn="l">
              <a:lnSpc>
                <a:spcPct val="100000"/>
              </a:lnSpc>
              <a:spcBef>
                <a:spcPts val="0"/>
              </a:spcBef>
              <a:spcAft>
                <a:spcPts val="0"/>
              </a:spcAft>
              <a:buClr>
                <a:srgbClr val="000000"/>
              </a:buClr>
              <a:buSzPts val="1023"/>
              <a:buFont typeface="Arial"/>
              <a:buNone/>
            </a:pPr>
            <a:r>
              <a:rPr b="1" i="0" lang="es-MX" sz="1100" u="none" cap="none" strike="noStrike">
                <a:solidFill>
                  <a:srgbClr val="000000"/>
                </a:solidFill>
                <a:latin typeface="Calibri"/>
                <a:ea typeface="Calibri"/>
                <a:cs typeface="Calibri"/>
                <a:sym typeface="Calibri"/>
              </a:rPr>
              <a:t>¿Cuántos días de la semana el rol realiza actividades </a:t>
            </a:r>
            <a:r>
              <a:rPr b="1" i="0" lang="es-MX" sz="1100" u="sng" cap="none" strike="noStrike">
                <a:solidFill>
                  <a:srgbClr val="000000"/>
                </a:solidFill>
                <a:latin typeface="Calibri"/>
                <a:ea typeface="Calibri"/>
                <a:cs typeface="Calibri"/>
                <a:sym typeface="Calibri"/>
              </a:rPr>
              <a:t>fuera de oficina</a:t>
            </a:r>
            <a:r>
              <a:rPr b="1" i="0" lang="es-MX" sz="1100" u="none" cap="none" strike="noStrike">
                <a:solidFill>
                  <a:srgbClr val="000000"/>
                </a:solidFill>
                <a:latin typeface="Calibri"/>
                <a:ea typeface="Calibri"/>
                <a:cs typeface="Calibri"/>
                <a:sym typeface="Calibri"/>
              </a:rPr>
              <a:t>? </a:t>
            </a:r>
            <a:endParaRPr b="0" i="0" sz="1100" u="none" cap="none" strike="noStrike">
              <a:solidFill>
                <a:srgbClr val="000000"/>
              </a:solidFill>
              <a:latin typeface="Calibri"/>
              <a:ea typeface="Calibri"/>
              <a:cs typeface="Calibri"/>
              <a:sym typeface="Calibri"/>
            </a:endParaRPr>
          </a:p>
        </p:txBody>
      </p:sp>
      <p:sp>
        <p:nvSpPr>
          <p:cNvPr id="157" name="Google Shape;157;p2"/>
          <p:cNvSpPr txBox="1"/>
          <p:nvPr/>
        </p:nvSpPr>
        <p:spPr>
          <a:xfrm>
            <a:off x="-25355" y="1"/>
            <a:ext cx="7128900" cy="10797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FFFFFF"/>
              </a:buClr>
              <a:buSzPts val="1400"/>
              <a:buFont typeface="Calibri"/>
              <a:buNone/>
            </a:pPr>
            <a:r>
              <a:rPr b="1" i="0" lang="es-MX" sz="1400" u="none" cap="none" strike="noStrike">
                <a:solidFill>
                  <a:srgbClr val="FFFFFF"/>
                </a:solidFill>
                <a:latin typeface="Calibri"/>
                <a:ea typeface="Calibri"/>
                <a:cs typeface="Calibri"/>
                <a:sym typeface="Calibri"/>
              </a:rPr>
              <a:t>DESCRIPCIÓN DE PUESTO</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FFFFFF"/>
              </a:buClr>
              <a:buSzPts val="1300"/>
              <a:buFont typeface="Calibri"/>
              <a:buNone/>
            </a:pPr>
            <a:r>
              <a:rPr b="1" i="0" lang="es-MX" sz="1300" u="none" cap="none" strike="noStrike">
                <a:solidFill>
                  <a:srgbClr val="FFFFFF"/>
                </a:solidFill>
                <a:latin typeface="Calibri"/>
                <a:ea typeface="Calibri"/>
                <a:cs typeface="Calibri"/>
                <a:sym typeface="Calibri"/>
              </a:rPr>
              <a:t>Nombre Puesto: </a:t>
            </a:r>
            <a:r>
              <a:rPr b="1" lang="es-MX" sz="1300">
                <a:solidFill>
                  <a:srgbClr val="FFFFFF"/>
                </a:solidFill>
                <a:latin typeface="Calibri"/>
                <a:ea typeface="Calibri"/>
                <a:cs typeface="Calibri"/>
                <a:sym typeface="Calibri"/>
              </a:rPr>
              <a:t>Gerente Soluciones Cadena de Suministro</a:t>
            </a:r>
            <a:endParaRPr b="1" i="0" sz="1300" u="none" cap="none" strike="noStrike">
              <a:solidFill>
                <a:srgbClr val="FFFFFF"/>
              </a:solidFill>
              <a:latin typeface="Calibri"/>
              <a:ea typeface="Calibri"/>
              <a:cs typeface="Calibri"/>
              <a:sym typeface="Calibri"/>
            </a:endParaRPr>
          </a:p>
          <a:p>
            <a:pPr indent="0" lvl="0" marL="0" marR="0" rtl="0" algn="l">
              <a:lnSpc>
                <a:spcPct val="90000"/>
              </a:lnSpc>
              <a:spcBef>
                <a:spcPts val="0"/>
              </a:spcBef>
              <a:spcAft>
                <a:spcPts val="0"/>
              </a:spcAft>
              <a:buClr>
                <a:srgbClr val="FFFFFF"/>
              </a:buClr>
              <a:buSzPts val="1300"/>
              <a:buFont typeface="Calibri"/>
              <a:buNone/>
            </a:pPr>
            <a:r>
              <a:rPr b="1" i="0" lang="es-MX" sz="1300" u="none" cap="none" strike="noStrike">
                <a:solidFill>
                  <a:srgbClr val="FFFFFF"/>
                </a:solidFill>
                <a:latin typeface="Calibri"/>
                <a:ea typeface="Calibri"/>
                <a:cs typeface="Calibri"/>
                <a:sym typeface="Calibri"/>
              </a:rPr>
              <a:t>Nombre Puesto Jefe Directo: TI OXXO México</a:t>
            </a:r>
            <a:br>
              <a:rPr b="1" i="0" lang="es-MX" sz="1300" u="none" cap="none" strike="noStrike">
                <a:solidFill>
                  <a:srgbClr val="FFFFFF"/>
                </a:solidFill>
                <a:latin typeface="Calibri"/>
                <a:ea typeface="Calibri"/>
                <a:cs typeface="Calibri"/>
                <a:sym typeface="Calibri"/>
              </a:rPr>
            </a:br>
            <a:r>
              <a:rPr b="1" i="0" lang="es-MX" sz="1300" u="none" cap="none" strike="noStrike">
                <a:solidFill>
                  <a:srgbClr val="FFFFFF"/>
                </a:solidFill>
                <a:latin typeface="Calibri"/>
                <a:ea typeface="Calibri"/>
                <a:cs typeface="Calibri"/>
                <a:sym typeface="Calibri"/>
              </a:rPr>
              <a:t>Área Funcional: TI</a:t>
            </a:r>
            <a:endParaRPr b="0" i="0" sz="1400" u="none" cap="none" strike="noStrike">
              <a:solidFill>
                <a:srgbClr val="000000"/>
              </a:solidFill>
              <a:latin typeface="Arial"/>
              <a:ea typeface="Arial"/>
              <a:cs typeface="Arial"/>
              <a:sym typeface="Arial"/>
            </a:endParaRPr>
          </a:p>
        </p:txBody>
      </p:sp>
      <p:sp>
        <p:nvSpPr>
          <p:cNvPr id="158" name="Google Shape;158;p2"/>
          <p:cNvSpPr txBox="1"/>
          <p:nvPr/>
        </p:nvSpPr>
        <p:spPr>
          <a:xfrm>
            <a:off x="4620903" y="3704137"/>
            <a:ext cx="4392000" cy="1056303"/>
          </a:xfrm>
          <a:prstGeom prst="rect">
            <a:avLst/>
          </a:prstGeom>
          <a:noFill/>
          <a:ln cap="flat" cmpd="sng" w="9525">
            <a:solidFill>
              <a:srgbClr val="99002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840E27"/>
              </a:buClr>
              <a:buSzPts val="1200"/>
              <a:buFont typeface="Arial"/>
              <a:buNone/>
            </a:pPr>
            <a:r>
              <a:rPr b="1" i="0" lang="es-MX" sz="1200" u="sng" cap="none" strike="noStrike">
                <a:solidFill>
                  <a:srgbClr val="000000"/>
                </a:solidFill>
                <a:latin typeface="Calibri"/>
                <a:ea typeface="Calibri"/>
                <a:cs typeface="Calibri"/>
                <a:sym typeface="Calibri"/>
              </a:rPr>
              <a:t>Estructura Organizacional</a:t>
            </a:r>
            <a:endParaRPr b="0" i="0" sz="1400" u="none" cap="none" strike="noStrike">
              <a:solidFill>
                <a:srgbClr val="000000"/>
              </a:solidFill>
              <a:latin typeface="Arial"/>
              <a:ea typeface="Arial"/>
              <a:cs typeface="Arial"/>
              <a:sym typeface="Arial"/>
            </a:endParaRPr>
          </a:p>
          <a:p>
            <a:pPr indent="-154600" lvl="0" marL="342900" marR="0" rtl="0" algn="just">
              <a:lnSpc>
                <a:spcPct val="100000"/>
              </a:lnSpc>
              <a:spcBef>
                <a:spcPts val="240"/>
              </a:spcBef>
              <a:spcAft>
                <a:spcPts val="0"/>
              </a:spcAft>
              <a:buClr>
                <a:srgbClr val="840E27"/>
              </a:buClr>
              <a:buSzPts val="800"/>
              <a:buFont typeface="Arial"/>
              <a:buChar char="•"/>
            </a:pPr>
            <a:r>
              <a:rPr b="1" i="0" lang="es-MX" sz="800" u="none" cap="none" strike="noStrike">
                <a:solidFill>
                  <a:srgbClr val="000000"/>
                </a:solidFill>
                <a:latin typeface="Calibri"/>
                <a:ea typeface="Calibri"/>
                <a:cs typeface="Calibri"/>
                <a:sym typeface="Calibri"/>
              </a:rPr>
              <a:t>Reportes Directos: </a:t>
            </a:r>
            <a:r>
              <a:rPr lang="es-MX" sz="800">
                <a:latin typeface="Calibri"/>
                <a:ea typeface="Calibri"/>
                <a:cs typeface="Calibri"/>
                <a:sym typeface="Calibri"/>
              </a:rPr>
              <a:t>Responsable Soluciones Abasto y Planeación, Responsable Soluciones Almacén (WMS), Responsable Soluciones Transporte y Distribución, Responsable Visibilidad y Analítica de Red, TPO Core Administrativo, TPO Mercaderías, TPO EDI</a:t>
            </a:r>
            <a:endParaRPr b="0" i="0" sz="800" u="none" cap="none" strike="noStrike">
              <a:solidFill>
                <a:srgbClr val="000000"/>
              </a:solidFill>
              <a:latin typeface="Calibri"/>
              <a:ea typeface="Calibri"/>
              <a:cs typeface="Calibri"/>
              <a:sym typeface="Calibri"/>
            </a:endParaRPr>
          </a:p>
          <a:p>
            <a:pPr indent="-154600" lvl="0" marL="342900" marR="0" rtl="0" algn="just">
              <a:lnSpc>
                <a:spcPct val="100000"/>
              </a:lnSpc>
              <a:spcBef>
                <a:spcPts val="240"/>
              </a:spcBef>
              <a:spcAft>
                <a:spcPts val="0"/>
              </a:spcAft>
              <a:buClr>
                <a:srgbClr val="840E27"/>
              </a:buClr>
              <a:buSzPts val="800"/>
              <a:buFont typeface="Arial"/>
              <a:buChar char="•"/>
            </a:pPr>
            <a:r>
              <a:rPr b="1" i="0" lang="es-MX" sz="800" u="none" cap="none" strike="noStrike">
                <a:solidFill>
                  <a:srgbClr val="000000"/>
                </a:solidFill>
                <a:latin typeface="Calibri"/>
                <a:ea typeface="Calibri"/>
                <a:cs typeface="Calibri"/>
                <a:sym typeface="Calibri"/>
              </a:rPr>
              <a:t>Pares: </a:t>
            </a:r>
            <a:r>
              <a:rPr lang="es-MX" sz="800">
                <a:latin typeface="Calibri"/>
                <a:ea typeface="Calibri"/>
                <a:cs typeface="Calibri"/>
                <a:sym typeface="Calibri"/>
              </a:rPr>
              <a:t>Gte. Soluciones Tienda y Comercial, Gte. Soluciones Customer &amp; Digital, Gte. Soluciones BackOffice, Gte. Desarrollo de Soluciones, Gte. Arquitectura TI, Gte. Operaciones TI, Gte. Planeación y Proyectos TI</a:t>
            </a:r>
            <a:endParaRPr b="0" i="0" sz="800" u="none" cap="none" strike="noStrike">
              <a:solidFill>
                <a:srgbClr val="000000"/>
              </a:solidFill>
              <a:latin typeface="Calibri"/>
              <a:ea typeface="Calibri"/>
              <a:cs typeface="Calibri"/>
              <a:sym typeface="Calibri"/>
            </a:endParaRPr>
          </a:p>
          <a:p>
            <a:pPr indent="0" lvl="0" marL="0" marR="0" rtl="0" algn="just">
              <a:lnSpc>
                <a:spcPct val="100000"/>
              </a:lnSpc>
              <a:spcBef>
                <a:spcPts val="240"/>
              </a:spcBef>
              <a:spcAft>
                <a:spcPts val="0"/>
              </a:spcAft>
              <a:buClr>
                <a:srgbClr val="840E27"/>
              </a:buClr>
              <a:buSzPts val="1200"/>
              <a:buFont typeface="Arial"/>
              <a:buNone/>
            </a:pPr>
            <a:r>
              <a:rPr b="1" i="0" lang="es-MX" sz="1200" u="none" cap="none" strike="noStrike">
                <a:solidFill>
                  <a:srgbClr val="000000"/>
                </a:solidFill>
                <a:latin typeface="Calibri"/>
                <a:ea typeface="Calibri"/>
                <a:cs typeface="Calibri"/>
                <a:sym typeface="Calibri"/>
              </a:rPr>
              <a:t> </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2025-01-29T22:27:57Z</dcterms:created>
  <dc:creator>Gilberto Morales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0x010100490EEA5A76710F4D840DE1E91AC235DB</vt:lpwstr>
  </property>
  <property fmtid="{D5CDD505-2E9C-101B-9397-08002B2CF9AE}" pid="3" name="ClassificationContentMarkingFooterLocations">
    <vt:lpwstr>1_Office Theme:8</vt:lpwstr>
  </property>
  <property fmtid="{D5CDD505-2E9C-101B-9397-08002B2CF9AE}" pid="4" name="ClassificationContentMarkingFooterText">
    <vt:lpwstr>OXXO | Uso Interno</vt:lpwstr>
  </property>
</Properties>
</file>