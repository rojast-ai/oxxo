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tags/tag7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1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55" r:id="rId12"/>
    <p:sldId id="2147482956" r:id="rId13"/>
    <p:sldId id="2147483647" r:id="rId14"/>
    <p:sldId id="256" r:id="rId15"/>
    <p:sldId id="257" r:id="rId16"/>
    <p:sldId id="2147482949" r:id="rId17"/>
    <p:sldId id="2147482946" r:id="rId18"/>
    <p:sldId id="2147482953" r:id="rId19"/>
    <p:sldId id="2147482951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55"/>
            <p14:sldId id="2147482956"/>
          </p14:sldIdLst>
        </p14:section>
        <p14:section name="Principales contribuciones del área" id="{ECBA4FCF-4ABC-4772-872D-193AE93BB28B}">
          <p14:sldIdLst>
            <p14:sldId id="2147483647"/>
          </p14:sldIdLst>
        </p14:section>
        <p14:section name="Interacciones entre áreas y procesos clave" id="{F0FBDAA2-C305-4C2B-AC49-21A67C461C91}">
          <p14:sldIdLst>
            <p14:sldId id="256"/>
            <p14:sldId id="257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46"/>
            <p14:sldId id="2147482953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68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A915CE-B3AE-475F-B5D0-DD9252A19687}" v="187" dt="2026-03-02T22:31:49.076"/>
    <p1510:client id="{4398061A-F805-4084-8309-612C0B42DD84}" v="3" dt="2026-03-02T23:49:59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236" autoAdjust="0"/>
  </p:normalViewPr>
  <p:slideViewPr>
    <p:cSldViewPr snapToGrid="0">
      <p:cViewPr varScale="1">
        <p:scale>
          <a:sx n="51" d="100"/>
          <a:sy n="51" d="100"/>
        </p:scale>
        <p:origin x="1164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-38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</a:t>
            </a:r>
          </a:p>
          <a:p>
            <a:r>
              <a:rPr lang="es-ES" dirty="0"/>
              <a:t>Movimientos previos a Proximidad de la función. Derivado de FFP</a:t>
            </a:r>
          </a:p>
          <a:p>
            <a:r>
              <a:rPr lang="es-ES" dirty="0"/>
              <a:t>3 áreas (Planeación, Oficina de Proyectos, Procesos TI). </a:t>
            </a:r>
          </a:p>
          <a:p>
            <a:r>
              <a:rPr lang="es-ES" dirty="0"/>
              <a:t>Oficina de proyectos: </a:t>
            </a:r>
            <a:r>
              <a:rPr lang="es-ES" dirty="0" err="1"/>
              <a:t>track</a:t>
            </a:r>
            <a:r>
              <a:rPr lang="es-ES" dirty="0"/>
              <a:t> del costo, cadencias y seguimiento – su conexión es con áreas de soluciones. Alcance de CPP se definió la atención a cada equipo de solución. Tiempo, alcance y costo. Se ha homologado información y haciendo sistema del servicio brindado. Proyectos propios. </a:t>
            </a:r>
            <a:r>
              <a:rPr lang="es-ES" dirty="0" err="1"/>
              <a:t>MVPs</a:t>
            </a:r>
            <a:r>
              <a:rPr lang="es-ES" dirty="0"/>
              <a:t>, impedimentos proyectos, causas, resolución…</a:t>
            </a:r>
          </a:p>
          <a:p>
            <a:r>
              <a:rPr lang="es-ES" dirty="0"/>
              <a:t>OP OXXO: definir el alcance y conexión con TI. </a:t>
            </a:r>
          </a:p>
          <a:p>
            <a:r>
              <a:rPr lang="es-ES" dirty="0" err="1"/>
              <a:t>Planeaçión</a:t>
            </a:r>
            <a:r>
              <a:rPr lang="es-ES" dirty="0"/>
              <a:t>: organización, gestión, cadencias definición de contenidos de agenda. Día de la Comunicación TI, Conexión con TI…Seguimiento presupuesto, </a:t>
            </a:r>
            <a:r>
              <a:rPr lang="es-ES" dirty="0" err="1"/>
              <a:t>FCEs</a:t>
            </a:r>
            <a:r>
              <a:rPr lang="es-ES" dirty="0"/>
              <a:t>. Monitoreo de indicadores operativos y financieros. </a:t>
            </a:r>
          </a:p>
          <a:p>
            <a:r>
              <a:rPr lang="es-ES"/>
              <a:t>*Procesos </a:t>
            </a:r>
            <a:r>
              <a:rPr lang="es-ES" dirty="0"/>
              <a:t>TI: gestión de documentos ciberseguridad, soluciones… embajadores dueños de procesos. Actualización portal, validar </a:t>
            </a:r>
            <a:r>
              <a:rPr lang="es-ES" dirty="0" err="1"/>
              <a:t>versionamientos</a:t>
            </a:r>
            <a:r>
              <a:rPr lang="es-ES" dirty="0"/>
              <a:t>. Evolución de procesos. Reciben input de </a:t>
            </a:r>
            <a:r>
              <a:rPr lang="es-ES" dirty="0" err="1"/>
              <a:t>Of</a:t>
            </a:r>
            <a:r>
              <a:rPr lang="es-ES" dirty="0"/>
              <a:t>. Proyectos (impedimentos que se tienen). Qué cambio, resultados, eficiencias… (en proceso de consolidarse funciones). </a:t>
            </a:r>
          </a:p>
          <a:p>
            <a:r>
              <a:rPr lang="es-ES" dirty="0"/>
              <a:t>Se está haciendo esfuerzo por alinear necesidades del negocio con contribución de la función.  Gasto directo se tiene en común en FC, </a:t>
            </a:r>
            <a:r>
              <a:rPr lang="es-ES" dirty="0" err="1"/>
              <a:t>proyeto</a:t>
            </a:r>
            <a:r>
              <a:rPr lang="es-ES" dirty="0"/>
              <a:t> a escala.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8057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7676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596F-DC5C-020E-4837-FE8F6012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983D53-ED01-5A62-1AB8-2DC3BEFBE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E2B548-C366-225A-E2A9-A3D048902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68EF9F-8D75-511E-9C25-451E709C5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572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3787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409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.xml"/><Relationship Id="rId3" Type="http://schemas.openxmlformats.org/officeDocument/2006/relationships/image" Target="../media/image6.png"/><Relationship Id="rId7" Type="http://schemas.openxmlformats.org/officeDocument/2006/relationships/slide" Target="slide7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9.xml"/><Relationship Id="rId4" Type="http://schemas.openxmlformats.org/officeDocument/2006/relationships/slide" Target="slide6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3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229" y="2677459"/>
            <a:ext cx="8949124" cy="1503083"/>
          </a:xfrm>
        </p:spPr>
        <p:txBody>
          <a:bodyPr/>
          <a:lstStyle/>
          <a:p>
            <a:r>
              <a:rPr lang="es-ES_tradnl" sz="2650" dirty="0" err="1"/>
              <a:t>Fit</a:t>
            </a:r>
            <a:r>
              <a:rPr lang="es-ES_tradnl" sz="2650" dirty="0"/>
              <a:t> </a:t>
            </a:r>
            <a:r>
              <a:rPr lang="es-ES_tradnl" sz="2650" dirty="0" err="1"/>
              <a:t>for</a:t>
            </a:r>
            <a:r>
              <a:rPr lang="es-ES_tradnl" sz="2650" dirty="0"/>
              <a:t> </a:t>
            </a:r>
            <a:r>
              <a:rPr lang="es-ES_tradnl" sz="2650" dirty="0" err="1"/>
              <a:t>Purpose</a:t>
            </a:r>
            <a:r>
              <a:rPr lang="es-ES_tradnl" sz="2650" dirty="0"/>
              <a:t> 2026</a:t>
            </a:r>
            <a:br>
              <a:rPr lang="es-ES_tradnl" sz="2650" dirty="0"/>
            </a:br>
            <a:r>
              <a:rPr lang="es-ES_tradnl" sz="2650" b="1" dirty="0"/>
              <a:t>Tecnología de Información | Planeación Proyectos</a:t>
            </a:r>
            <a:br>
              <a:rPr lang="es-ES_tradnl" sz="2650" b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5193"/>
            <a:ext cx="10972800" cy="4800000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(5 min)</a:t>
            </a:r>
          </a:p>
          <a:p>
            <a:pPr lvl="1">
              <a:lnSpc>
                <a:spcPct val="150000"/>
              </a:lnSpc>
            </a:pPr>
            <a:r>
              <a:rPr lang="es-MX"/>
              <a:t>Alcance 2026</a:t>
            </a:r>
          </a:p>
          <a:p>
            <a:pPr>
              <a:lnSpc>
                <a:spcPct val="150000"/>
              </a:lnSpc>
            </a:pPr>
            <a:r>
              <a:rPr lang="es-MX"/>
              <a:t>Entendimiento posiciones plataforma (40 min)</a:t>
            </a:r>
          </a:p>
          <a:p>
            <a:pPr lvl="1">
              <a:lnSpc>
                <a:spcPct val="150000"/>
              </a:lnSpc>
            </a:pPr>
            <a:r>
              <a:rPr lang="es-MX"/>
              <a:t>Percepción inicial</a:t>
            </a:r>
          </a:p>
          <a:p>
            <a:pPr lvl="1">
              <a:lnSpc>
                <a:spcPct val="150000"/>
              </a:lnSpc>
            </a:pPr>
            <a:r>
              <a:rPr lang="es-MX"/>
              <a:t>Descripción de puesto L2</a:t>
            </a:r>
          </a:p>
          <a:p>
            <a:pPr lvl="1">
              <a:lnSpc>
                <a:spcPct val="150000"/>
              </a:lnSpc>
            </a:pPr>
            <a:r>
              <a:rPr lang="es-MX"/>
              <a:t>Principales contribuciones del área</a:t>
            </a:r>
          </a:p>
          <a:p>
            <a:pPr lvl="1">
              <a:lnSpc>
                <a:spcPct val="150000"/>
              </a:lnSpc>
            </a:pPr>
            <a:r>
              <a:rPr lang="es-MX"/>
              <a:t>Interacciones entre áreas y procesos clave</a:t>
            </a:r>
          </a:p>
          <a:p>
            <a:pPr>
              <a:lnSpc>
                <a:spcPct val="150000"/>
              </a:lnSpc>
            </a:pPr>
            <a:r>
              <a:rPr lang="es-MX"/>
              <a:t>Siguientes pasos (5 min)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Vista general de diapositiva 14"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79120342"/>
                  </p:ext>
                </p:extLst>
              </p:nvPr>
            </p:nvGraphicFramePr>
            <p:xfrm>
              <a:off x="4790781" y="3891988"/>
              <a:ext cx="2800644" cy="1575362"/>
            </p:xfrm>
            <a:graphic>
              <a:graphicData uri="http://schemas.microsoft.com/office/powerpoint/2016/slidezoom">
                <pslz:sldZm>
                  <pslz:sldZmObj sldId="2147482955" cId="376322309">
                    <pslz:zmPr id="{65CFBDAD-CF85-4096-9ACD-FEF4C213F1CE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00644" cy="15753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Vista general de diapositiva 14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0781" y="3891988"/>
                <a:ext cx="2800644" cy="15753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Vista general de diapositiva 16"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1629993"/>
                  </p:ext>
                </p:extLst>
              </p:nvPr>
            </p:nvGraphicFramePr>
            <p:xfrm>
              <a:off x="8435165" y="3980618"/>
              <a:ext cx="2116980" cy="1190801"/>
            </p:xfrm>
            <a:graphic>
              <a:graphicData uri="http://schemas.microsoft.com/office/powerpoint/2016/slidezoom">
                <pslz:sldZm>
                  <pslz:sldZmObj sldId="2147483647" cId="2282670243">
                    <pslz:zmPr id="{80F21B2C-31A0-4BA1-AA3A-4C1872BEDCC3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0" cy="11908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Vista general de diapositiva 16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35165" y="3980618"/>
                <a:ext cx="2116980" cy="119080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Vista general de diapositiva 4"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8548384"/>
                  </p:ext>
                </p:extLst>
              </p:nvPr>
            </p:nvGraphicFramePr>
            <p:xfrm>
              <a:off x="9328111" y="4593936"/>
              <a:ext cx="2116981" cy="1190802"/>
            </p:xfrm>
            <a:graphic>
              <a:graphicData uri="http://schemas.microsoft.com/office/powerpoint/2016/slidezoom">
                <pslz:sldZm>
                  <pslz:sldZmObj sldId="256" cId="1894943609">
                    <pslz:zmPr id="{DFEF7ABE-CD74-4CA2-926D-CD9AA2EB07A5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1" cy="11908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Vista general de diapositiva 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28111" y="4593936"/>
                <a:ext cx="2116981" cy="11908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284756" y="2993308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284752" y="352016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284751" y="4082157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1807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8474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5142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1809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847733" y="2993308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790796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390532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284751" y="4668421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1807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8474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5142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1809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847733" y="3520169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1807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8474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5142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180978" y="4082157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847729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1807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8474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5142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1809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847733" y="4673184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99466" y="1400752"/>
            <a:ext cx="11659159" cy="4598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Propósito del puesto:</a:t>
            </a:r>
          </a:p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sz="1400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Garantizar la identificación y priorización efectiva de proyectos de TI mediante el establecimiento de mecanismos de gobernanza y estándares para la gestión de proyecto la alineación transversal, la asignación óptima de recursos y la correcta priorización de iniciativas, con el fin de maximizar el valor y el impacto de las soluciones tecnológicas en la organización.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  <a:p>
            <a:pPr indent="0">
              <a:buNone/>
              <a:defRPr/>
            </a:pPr>
            <a:r>
              <a:rPr lang="es-MX" sz="1400" b="1" dirty="0"/>
              <a:t>Responsabilidades </a:t>
            </a:r>
            <a:endParaRPr lang="es-MX" sz="1200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Establecer mecanismos de gobernanza y estándares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la gestión de proyectos, 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través de la definición de políticas, metodologías y herramientas, para asegurar consistencia, control y alineación con los objetivos estratégicos.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(Responsable Procesos Solución)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+mj-lt"/>
              <a:buAutoNum type="arabicPeriod"/>
              <a:defRPr/>
            </a:pPr>
            <a:r>
              <a:rPr lang="es-MX" altLang="es-MX" sz="1200" b="1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G</a:t>
            </a:r>
            <a:r>
              <a:rPr kumimoji="0" lang="es-MX" altLang="es-MX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estionar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la alineación transversal, los recursos y la priorización de iniciativas, 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través de la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creación de espacios de colaboración y acuerdos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para garantizar la ejecución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efectiva y el impacto en el negocio.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(PMO OXXO México)</a:t>
            </a:r>
            <a:endParaRPr lang="es-MX" alt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+mj-lt"/>
              <a:buAutoNum type="arabicPeriod"/>
              <a:defRPr/>
            </a:pP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Priorizar proyectos e iniciativas de TI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 través d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 análisis de valor, riesgos y capacidades disponibles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para maximizar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 retorno y la contribución a la estrategia organizacional.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(PMO OXXO México)</a:t>
            </a:r>
            <a:endParaRPr kumimoji="0" lang="es-MX" alt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Supervisar la asignación y optimización de recursos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 través de la planificación y seguimiento de cargas de trabajo, para asegurar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eficiencia y cumplimiento de plazos.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+mj-lt"/>
              <a:buAutoNum type="arabicPeriod"/>
              <a:defRPr/>
            </a:pP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Monitorear el avance y desempeño de los proyectos, a través de indicadores clave y reportes de gestión, para garantizar calidad, costos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 tiempos establecidos.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(Responsable Procesos Solución)</a:t>
            </a:r>
            <a:endParaRPr kumimoji="0" lang="es-MX" alt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+mj-lt"/>
              <a:buAutoNum type="arabicPeriod"/>
              <a:defRPr/>
            </a:pP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Impulsar la mejora continua en procesos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gestión de 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proyectos, a través de la identificación de oportunidades y adopción de mejores prácticas, para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incrementar la madurez y eficiencia organizacional.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(Responsable Procesos Solución)</a:t>
            </a:r>
            <a:endParaRPr kumimoji="0" lang="es-MX" alt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+mj-lt"/>
              <a:buAutoNum type="arabicPeriod"/>
              <a:defRPr/>
            </a:pPr>
            <a:r>
              <a:rPr lang="es-MX" sz="1200" b="1" dirty="0">
                <a:latin typeface="+mn-lt"/>
              </a:rPr>
              <a:t>Asegurar la integración de la planeación de proyectos con la estrategia tecnológica y de negocio</a:t>
            </a:r>
            <a:r>
              <a:rPr lang="es-MX" sz="1200" dirty="0">
                <a:latin typeface="+mn-lt"/>
              </a:rPr>
              <a:t>, a través de la colaboración con áreas clave y el análisis de tendencias, para garantizar que las iniciativas contribuyan al crecimiento y transformación digital.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(Responsable PMO, Responsable Gestión Pilotos EVA)</a:t>
            </a:r>
            <a:endParaRPr lang="es-MX" sz="1200" dirty="0"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+mj-lt"/>
              <a:buAutoNum type="arabicPeriod"/>
              <a:defRPr/>
            </a:pPr>
            <a:r>
              <a:rPr lang="es-MX" sz="1200" b="1" dirty="0">
                <a:latin typeface="+mn-lt"/>
              </a:rPr>
              <a:t>Desarrollar capacidades y competencias </a:t>
            </a:r>
            <a:r>
              <a:rPr lang="es-MX" sz="1200" dirty="0">
                <a:latin typeface="+mn-lt"/>
              </a:rPr>
              <a:t>requeridas para el despliegue e implementación de las herramientas tecnologías, que aseguren la correcta ejecución a través del tiempo.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(Responsable Pilotos EVA)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+mj-lt"/>
              <a:buAutoNum type="arabicPeriod"/>
              <a:tabLst/>
              <a:defRPr/>
            </a:pPr>
            <a:endParaRPr lang="es-MX" sz="1200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Puesto | </a:t>
            </a:r>
            <a:r>
              <a:rPr lang="es-ES_tradnl" sz="2000" b="1" dirty="0"/>
              <a:t>Planeación Proyectos</a:t>
            </a: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7BAC4B-896B-8F9A-87DD-0E111285B61D}"/>
              </a:ext>
            </a:extLst>
          </p:cNvPr>
          <p:cNvSpPr txBox="1"/>
          <p:nvPr/>
        </p:nvSpPr>
        <p:spPr>
          <a:xfrm>
            <a:off x="0" y="6211669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Propósito de puesto: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Razón de ser + contribución macro + valor agregado + a quién impacta.</a:t>
            </a:r>
            <a:endParaRPr lang="es-ES" sz="1200" b="1" i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Responsabilidades: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Debe responder cada contribución </a:t>
            </a: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¿Qué?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(acción – verbo y contexto) + </a:t>
            </a: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¿Cómo?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(medios, herramientas, procesos e interacciones); + </a:t>
            </a: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¿Para qué?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(propósito).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¿Qué roles de tu equipo intervienen en cada contribución? </a:t>
            </a:r>
            <a:endParaRPr lang="es-MX" sz="1200" i="1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570941" y="1495962"/>
            <a:ext cx="1105011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Decisiones Relevantes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Definir el portafolio de proyectos prioritarios, alineado a estrategia y prioridades de negocio.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Determinar metodología y herramientas que se adoptarán para asegurar consistencia.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Tomar decisiones frente a desviaciones para mantener el equilibrio entre costo, tiempo y calidad.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Definir cómo se dará seguimiento, qué comités se establecerán y qué indicadores se usarán para control.</a:t>
            </a:r>
          </a:p>
          <a:p>
            <a:r>
              <a:rPr lang="es-MX" sz="1400" dirty="0"/>
              <a:t>	</a:t>
            </a:r>
          </a:p>
          <a:p>
            <a:r>
              <a:rPr lang="es-MX" sz="1400" b="1" dirty="0"/>
              <a:t>Principales Retos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Coordinar múltiples </a:t>
            </a:r>
            <a:r>
              <a:rPr lang="es-MX" sz="1400" dirty="0" err="1"/>
              <a:t>stakeholders</a:t>
            </a:r>
            <a:r>
              <a:rPr lang="es-MX" sz="1400" dirty="0"/>
              <a:t> con objetivos y prioridades diferentes.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Balancear la disponibilidad de talento, presupuesto y tecnología para cumplir plazos sin comprometer calidad.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Alinear los proyectos con tendencias tecnológicas y objetivos de negocio, asegurando impacto y valor agregado.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Tomar decisiones, alineados a la estrategia y necesidad de negocio, sobre qué proyectos ejecutar primero en escenarios de recursos limitados y cambios constantes en la estrategia.</a:t>
            </a:r>
          </a:p>
          <a:p>
            <a:endParaRPr lang="es-MX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Puesto | Planeación Proyectos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696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7583-2F79-C5C6-E61A-5228EA81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ítulo 1">
            <a:extLst>
              <a:ext uri="{FF2B5EF4-FFF2-40B4-BE49-F238E27FC236}">
                <a16:creationId xmlns:a16="http://schemas.microsoft.com/office/drawing/2014/main" id="{167A64BB-1818-37AB-F05C-5AC75C78ED19}"/>
              </a:ext>
            </a:extLst>
          </p:cNvPr>
          <p:cNvSpPr txBox="1">
            <a:spLocks/>
          </p:cNvSpPr>
          <p:nvPr/>
        </p:nvSpPr>
        <p:spPr>
          <a:xfrm>
            <a:off x="368643" y="127622"/>
            <a:ext cx="9393357" cy="92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Principales Contribuciones</a:t>
            </a:r>
            <a:b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Planeación Proyectos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j-ea"/>
              <a:cs typeface="+mj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D73888-BA12-B225-80DF-0F6B50D9285F}"/>
              </a:ext>
            </a:extLst>
          </p:cNvPr>
          <p:cNvSpPr/>
          <p:nvPr/>
        </p:nvSpPr>
        <p:spPr>
          <a:xfrm>
            <a:off x="1864213" y="3069765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MX" altLang="es-MX" sz="90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G</a:t>
            </a:r>
            <a:r>
              <a:rPr kumimoji="0" lang="es-MX" altLang="es-MX" sz="9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estionar</a:t>
            </a:r>
            <a:r>
              <a:rPr kumimoji="0" lang="es-MX" altLang="es-MX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la alineación transversal, los recursos y la priorización de iniciativas</a:t>
            </a:r>
          </a:p>
          <a:p>
            <a:pPr marL="171450" indent="-171450">
              <a:buFontTx/>
              <a:buChar char="-"/>
            </a:pPr>
            <a:r>
              <a:rPr kumimoji="0" lang="es-MX" altLang="es-MX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Priorizar proyectos </a:t>
            </a:r>
            <a:r>
              <a:rPr kumimoji="0" lang="es-MX" alt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 iniciativas de TI</a:t>
            </a:r>
          </a:p>
          <a:p>
            <a:pPr marL="171450" indent="-171450">
              <a:buFontTx/>
              <a:buChar char="-"/>
            </a:pPr>
            <a:r>
              <a:rPr lang="es-MX" sz="900" dirty="0">
                <a:solidFill>
                  <a:sysClr val="windowText" lastClr="000000"/>
                </a:solidFill>
              </a:rPr>
              <a:t>Asegurar la integración de la planeación de proyectos con la estrategia tecnológica y de negocio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58B1E33-997B-D4A2-7C11-ED3E58DB5534}"/>
              </a:ext>
            </a:extLst>
          </p:cNvPr>
          <p:cNvSpPr/>
          <p:nvPr/>
        </p:nvSpPr>
        <p:spPr>
          <a:xfrm>
            <a:off x="5094550" y="3055144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kumimoji="0" lang="es-MX" altLang="es-MX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Establecer mecanismos de gobernanza y estándares</a:t>
            </a:r>
          </a:p>
          <a:p>
            <a:pPr marL="171450" indent="-171450">
              <a:buFontTx/>
              <a:buChar char="-"/>
            </a:pPr>
            <a:r>
              <a:rPr kumimoji="0" lang="es-MX" altLang="es-MX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Supervisar la asignación y optimización de recursos</a:t>
            </a:r>
          </a:p>
          <a:p>
            <a:pPr marL="171450" indent="-171450">
              <a:buFontTx/>
              <a:buChar char="-"/>
            </a:pPr>
            <a:r>
              <a:rPr kumimoji="0" lang="es-MX" altLang="es-MX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Impulsar la mejora continua en procesos</a:t>
            </a:r>
            <a:endParaRPr lang="es-MX" sz="900" dirty="0">
              <a:solidFill>
                <a:sysClr val="windowText" lastClr="000000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1857424-5815-9A63-24BF-16FC36953B9D}"/>
              </a:ext>
            </a:extLst>
          </p:cNvPr>
          <p:cNvSpPr/>
          <p:nvPr/>
        </p:nvSpPr>
        <p:spPr>
          <a:xfrm>
            <a:off x="8302389" y="3055144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MX" sz="900" dirty="0">
                <a:solidFill>
                  <a:sysClr val="windowText" lastClr="000000"/>
                </a:solidFill>
              </a:rPr>
              <a:t>Asegurar la integración de la planeación de proyectos con la estrategia tecnológica y de negocio</a:t>
            </a:r>
          </a:p>
          <a:p>
            <a:pPr marL="171450" indent="-171450">
              <a:buFontTx/>
              <a:buChar char="-"/>
            </a:pPr>
            <a:r>
              <a:rPr lang="es-MX" sz="900" dirty="0">
                <a:solidFill>
                  <a:sysClr val="windowText" lastClr="000000"/>
                </a:solidFill>
              </a:rPr>
              <a:t>Desarrollar capacidades y competencias 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CFD611D-792C-9DF0-786E-57DC095BD7DC}"/>
              </a:ext>
            </a:extLst>
          </p:cNvPr>
          <p:cNvSpPr/>
          <p:nvPr/>
        </p:nvSpPr>
        <p:spPr>
          <a:xfrm>
            <a:off x="1864213" y="2498877"/>
            <a:ext cx="1482110" cy="4556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ctr">
            <a:noAutofit/>
          </a:bodyPr>
          <a:lstStyle/>
          <a:p>
            <a:pPr algn="ctr"/>
            <a:r>
              <a:rPr lang="es-MX" sz="900" b="1" dirty="0">
                <a:latin typeface="Calibri"/>
                <a:ea typeface="Calibri"/>
                <a:cs typeface="Calibri"/>
              </a:rPr>
              <a:t>Responsable PMO Oxxo México- 2368100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MX" sz="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Monica Hernandez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F8A0A7F-87FC-63EF-0568-54E52ECEC10B}"/>
              </a:ext>
            </a:extLst>
          </p:cNvPr>
          <p:cNvSpPr/>
          <p:nvPr/>
        </p:nvSpPr>
        <p:spPr>
          <a:xfrm>
            <a:off x="4977097" y="1486582"/>
            <a:ext cx="160884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0" rIns="91440" bIns="45720" rtlCol="0" anchor="ctr">
            <a:noAutofit/>
          </a:bodyPr>
          <a:lstStyle/>
          <a:p>
            <a:pPr algn="ctr"/>
            <a:r>
              <a:rPr lang="es-MX" sz="900" b="1">
                <a:latin typeface="Calibri"/>
                <a:ea typeface="Calibri"/>
                <a:cs typeface="Calibri"/>
              </a:rPr>
              <a:t>Gerente Área Planeación y Proyectos 6418599</a:t>
            </a:r>
          </a:p>
          <a:p>
            <a:pPr algn="ctr"/>
            <a:r>
              <a:rPr lang="es-MX" sz="900" i="1">
                <a:latin typeface="Calibri"/>
                <a:ea typeface="Calibri"/>
                <a:cs typeface="Calibri"/>
              </a:rPr>
              <a:t>Bernardo Sánchez</a:t>
            </a:r>
            <a:endParaRPr lang="es-MX" sz="9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1669FD1-4098-FD82-B46A-0E03BDE6FDB0}"/>
              </a:ext>
            </a:extLst>
          </p:cNvPr>
          <p:cNvSpPr/>
          <p:nvPr/>
        </p:nvSpPr>
        <p:spPr>
          <a:xfrm>
            <a:off x="8302389" y="2509165"/>
            <a:ext cx="1482110" cy="4556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ctr">
            <a:noAutofit/>
          </a:bodyPr>
          <a:lstStyle/>
          <a:p>
            <a:pPr algn="ctr"/>
            <a:r>
              <a:rPr lang="es-MX" sz="900" b="1" dirty="0">
                <a:latin typeface="Calibri"/>
                <a:ea typeface="Calibri"/>
                <a:cs typeface="Calibri"/>
              </a:rPr>
              <a:t>Responsable Gestión Pilotos EVA- 6158180</a:t>
            </a:r>
          </a:p>
          <a:p>
            <a:pPr algn="ctr"/>
            <a:r>
              <a:rPr lang="es-MX" sz="900" i="1" dirty="0">
                <a:latin typeface="Calibri"/>
                <a:ea typeface="Calibri"/>
                <a:cs typeface="Calibri"/>
              </a:rPr>
              <a:t>Carlos Muñoz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4DBA25E-0416-2FB0-DD44-7BA03E0D0A07}"/>
              </a:ext>
            </a:extLst>
          </p:cNvPr>
          <p:cNvSpPr/>
          <p:nvPr/>
        </p:nvSpPr>
        <p:spPr>
          <a:xfrm>
            <a:off x="5085654" y="2499913"/>
            <a:ext cx="139172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algn="ctr" defTabSz="609645">
              <a:defRPr/>
            </a:pPr>
            <a:r>
              <a:rPr lang="es-MX" sz="900" b="1">
                <a:solidFill>
                  <a:prstClr val="black"/>
                </a:solidFill>
                <a:latin typeface="Calibri"/>
              </a:rPr>
              <a:t>Responsable Procesos Solución- 6096738</a:t>
            </a:r>
          </a:p>
          <a:p>
            <a:pPr algn="ctr" defTabSz="609645">
              <a:defRPr/>
            </a:pPr>
            <a:r>
              <a:rPr lang="es-MX" sz="900" i="1">
                <a:solidFill>
                  <a:prstClr val="black"/>
                </a:solidFill>
                <a:latin typeface="Calibri"/>
              </a:rPr>
              <a:t>Gerardo </a:t>
            </a:r>
            <a:r>
              <a:rPr lang="es-MX" sz="900" i="1" err="1">
                <a:solidFill>
                  <a:prstClr val="black"/>
                </a:solidFill>
                <a:latin typeface="Calibri"/>
              </a:rPr>
              <a:t>Zalpa</a:t>
            </a:r>
            <a:endParaRPr lang="es-MX" sz="900" i="1">
              <a:solidFill>
                <a:srgbClr val="C00000"/>
              </a:solidFill>
              <a:latin typeface="Calibri"/>
            </a:endParaRPr>
          </a:p>
        </p:txBody>
      </p: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406A3709-F84F-B20A-3D5F-0F4E5AD76E8C}"/>
              </a:ext>
            </a:extLst>
          </p:cNvPr>
          <p:cNvCxnSpPr>
            <a:stCxn id="24" idx="0"/>
            <a:endCxn id="28" idx="2"/>
          </p:cNvCxnSpPr>
          <p:nvPr/>
        </p:nvCxnSpPr>
        <p:spPr>
          <a:xfrm rot="5400000" flipH="1" flipV="1">
            <a:off x="3914045" y="631406"/>
            <a:ext cx="558695" cy="3176249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81285BD0-EA9F-C7EC-C1C5-D0BAE358E36E}"/>
              </a:ext>
            </a:extLst>
          </p:cNvPr>
          <p:cNvCxnSpPr>
            <a:stCxn id="30" idx="0"/>
            <a:endCxn id="28" idx="2"/>
          </p:cNvCxnSpPr>
          <p:nvPr/>
        </p:nvCxnSpPr>
        <p:spPr>
          <a:xfrm rot="16200000" flipV="1">
            <a:off x="7127990" y="593710"/>
            <a:ext cx="568983" cy="3261927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4B794CC6-583C-B37E-AB14-E471F4B49ED9}"/>
              </a:ext>
            </a:extLst>
          </p:cNvPr>
          <p:cNvCxnSpPr>
            <a:stCxn id="31" idx="0"/>
            <a:endCxn id="28" idx="2"/>
          </p:cNvCxnSpPr>
          <p:nvPr/>
        </p:nvCxnSpPr>
        <p:spPr>
          <a:xfrm rot="16200000" flipV="1">
            <a:off x="5501653" y="2220047"/>
            <a:ext cx="559731" cy="1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7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Entender los procesos </a:t>
            </a:r>
            <a:r>
              <a:rPr lang="es-ES" sz="1400" i="1" dirty="0" err="1"/>
              <a:t>core</a:t>
            </a:r>
            <a:r>
              <a:rPr lang="es-ES" sz="1400" i="1" dirty="0"/>
              <a:t> y que pudieron haber tenido alguna modificación  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dirty="0"/>
              <a:t>Planeación Proyectos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977EE78-43D1-CBA5-F066-3FC5CF994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024200"/>
              </p:ext>
            </p:extLst>
          </p:nvPr>
        </p:nvGraphicFramePr>
        <p:xfrm>
          <a:off x="927462" y="2394838"/>
          <a:ext cx="10216788" cy="3117850"/>
        </p:xfrm>
        <a:graphic>
          <a:graphicData uri="http://schemas.openxmlformats.org/drawingml/2006/table">
            <a:tbl>
              <a:tblPr/>
              <a:tblGrid>
                <a:gridCol w="472651">
                  <a:extLst>
                    <a:ext uri="{9D8B030D-6E8A-4147-A177-3AD203B41FA5}">
                      <a16:colId xmlns:a16="http://schemas.microsoft.com/office/drawing/2014/main" val="783144613"/>
                    </a:ext>
                  </a:extLst>
                </a:gridCol>
                <a:gridCol w="4141697">
                  <a:extLst>
                    <a:ext uri="{9D8B030D-6E8A-4147-A177-3AD203B41FA5}">
                      <a16:colId xmlns:a16="http://schemas.microsoft.com/office/drawing/2014/main" val="4050409474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3870733802"/>
                    </a:ext>
                  </a:extLst>
                </a:gridCol>
                <a:gridCol w="1356741">
                  <a:extLst>
                    <a:ext uri="{9D8B030D-6E8A-4147-A177-3AD203B41FA5}">
                      <a16:colId xmlns:a16="http://schemas.microsoft.com/office/drawing/2014/main" val="1906030033"/>
                    </a:ext>
                  </a:extLst>
                </a:gridCol>
                <a:gridCol w="1438999">
                  <a:extLst>
                    <a:ext uri="{9D8B030D-6E8A-4147-A177-3AD203B41FA5}">
                      <a16:colId xmlns:a16="http://schemas.microsoft.com/office/drawing/2014/main" val="1921749235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3598344307"/>
                    </a:ext>
                  </a:extLst>
                </a:gridCol>
              </a:tblGrid>
              <a:tr h="4000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Proceso/actividad</a:t>
                      </a:r>
                    </a:p>
                    <a:p>
                      <a:pPr algn="l" fontAlgn="ctr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Enlistar por prioridad e impacto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50" b="1" dirty="0">
                          <a:latin typeface="+mn-lt"/>
                          <a:ea typeface="Calibri"/>
                          <a:cs typeface="Calibri"/>
                        </a:rPr>
                        <a:t>Responsable PMO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ES" sz="1050" b="1" dirty="0">
                          <a:solidFill>
                            <a:prstClr val="black"/>
                          </a:solidFill>
                          <a:latin typeface="+mn-lt"/>
                        </a:rPr>
                        <a:t>Responsable Procesos Solución</a:t>
                      </a:r>
                      <a:endParaRPr lang="es-MX" sz="1050" b="1" dirty="0">
                        <a:solidFill>
                          <a:prstClr val="black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b="1" dirty="0">
                          <a:latin typeface="+mn-lt"/>
                          <a:ea typeface="Calibri"/>
                          <a:cs typeface="Calibri"/>
                        </a:rPr>
                        <a:t>Responsable Gestión Pilotos EVA</a:t>
                      </a:r>
                      <a:endParaRPr kumimoji="0" lang="es-MX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Entregable</a:t>
                      </a:r>
                      <a:endParaRPr lang="es-MX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4327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Mónica </a:t>
                      </a:r>
                      <a:r>
                        <a:rPr lang="es-ES" sz="105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Hdz</a:t>
                      </a:r>
                      <a:endParaRPr lang="es-MX" sz="105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Gerardo </a:t>
                      </a:r>
                      <a:r>
                        <a:rPr lang="es-ES" sz="105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Zalpa</a:t>
                      </a:r>
                      <a:endParaRPr lang="es-MX" sz="105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Carlos Muñoz</a:t>
                      </a:r>
                      <a:endParaRPr kumimoji="0" lang="es-MX" sz="105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82003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379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4571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4922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9286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81268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544BCD-5775-6182-A1E1-752EA438DE8C}"/>
              </a:ext>
            </a:extLst>
          </p:cNvPr>
          <p:cNvSpPr txBox="1"/>
          <p:nvPr/>
        </p:nvSpPr>
        <p:spPr>
          <a:xfrm>
            <a:off x="5695948" y="2056284"/>
            <a:ext cx="3895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 (Responsable, Consultado, Informados, Soporte)</a:t>
            </a:r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189494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/>
              <a:t>Validar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Premisas Planeación Proyectos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63206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¿Tu Descripción de Puesto y el funciograma de tu área reflejan con precisión las </a:t>
            </a:r>
            <a:r>
              <a:rPr lang="es-MX" sz="1800" b="1" i="1"/>
              <a:t>actividades y responsabilidades que realmente realizas en el día a día </a:t>
            </a:r>
            <a:r>
              <a:rPr lang="es-MX" sz="1800" i="1"/>
              <a:t>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¿Tienes alguna </a:t>
            </a:r>
            <a:r>
              <a:rPr lang="es-MX" sz="1800" b="1" i="1"/>
              <a:t>duda específica sobre el funcionamiento </a:t>
            </a:r>
            <a:r>
              <a:rPr lang="es-MX" sz="1800" i="1"/>
              <a:t>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¿Existe algún </a:t>
            </a:r>
            <a:r>
              <a:rPr lang="es-MX" sz="1800" b="1" i="1"/>
              <a:t>proceso que consideres necesario rediseñar </a:t>
            </a:r>
            <a:r>
              <a:rPr lang="es-MX" sz="1800" i="1"/>
              <a:t>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Si recientemente asumiste nuevas responsabilidades, ¿ya </a:t>
            </a:r>
            <a:r>
              <a:rPr lang="es-MX" sz="1800" b="1" i="1"/>
              <a:t>se realizó de manera efectiva la transferencia</a:t>
            </a:r>
            <a:r>
              <a:rPr lang="es-MX" sz="1800" i="1"/>
              <a:t>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06B172-0982-651C-EEE2-0D24B6E9CAD5}"/>
              </a:ext>
            </a:extLst>
          </p:cNvPr>
          <p:cNvSpPr/>
          <p:nvPr/>
        </p:nvSpPr>
        <p:spPr>
          <a:xfrm>
            <a:off x="472165" y="2575401"/>
            <a:ext cx="11462660" cy="13661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A7A66688-F2B3-FE5B-7917-622407268BF7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9042239"/>
              </p:ext>
            </p:extLst>
          </p:nvPr>
        </p:nvGraphicFramePr>
        <p:xfrm>
          <a:off x="2767155" y="1103442"/>
          <a:ext cx="8847992" cy="4730091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187113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220E77E-C825-D450-355D-D0AD1731DA4B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1A0481F2-F570-D7A6-693C-A2B42980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40503"/>
              </p:ext>
            </p:extLst>
          </p:nvPr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CFCF4EDA-AA72-2198-4799-1B11A915E54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E218797-3F2C-7464-BABB-7E9415F49314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015C28C-4CAD-90BB-1CB5-3BF73BB4EDC5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2AA056D-B68A-473D-9491-B5D837E2C565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3C6C695-8409-169C-5216-B1ECB50C03AA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10FB800-669D-585B-468E-E2433717721A}"/>
              </a:ext>
            </a:extLst>
          </p:cNvPr>
          <p:cNvSpPr/>
          <p:nvPr/>
        </p:nvSpPr>
        <p:spPr bwMode="auto">
          <a:xfrm rot="16200000">
            <a:off x="-620726" y="3271339"/>
            <a:ext cx="1806752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1B744244-25D7-3CC2-C838-6541CB225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304185"/>
              </p:ext>
            </p:extLst>
          </p:nvPr>
        </p:nvGraphicFramePr>
        <p:xfrm>
          <a:off x="474878" y="2560194"/>
          <a:ext cx="2289564" cy="1808776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Percepción inicial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82524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L1 y L2 – Estrategia Change Management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361888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37DDD8E5-0576-0B7D-33CE-EF59DB68DA87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400" b="1">
                <a:solidFill>
                  <a:srgbClr val="FFFFFF"/>
                </a:solidFill>
                <a:latin typeface="Open San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FAC7055-0642-8463-3F4C-341278B275CC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2379673-3C3C-2165-48AA-BB99A8D7074A}"/>
              </a:ext>
            </a:extLst>
          </p:cNvPr>
          <p:cNvSpPr/>
          <p:nvPr/>
        </p:nvSpPr>
        <p:spPr bwMode="auto">
          <a:xfrm>
            <a:off x="8095380" y="2619993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19B15EC-56B1-6F51-D664-F16108FB8246}"/>
              </a:ext>
            </a:extLst>
          </p:cNvPr>
          <p:cNvSpPr/>
          <p:nvPr/>
        </p:nvSpPr>
        <p:spPr bwMode="auto">
          <a:xfrm>
            <a:off x="8317041" y="2969173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DA394F3-E0EE-5E88-B957-43C693D67F8A}"/>
              </a:ext>
            </a:extLst>
          </p:cNvPr>
          <p:cNvSpPr/>
          <p:nvPr/>
        </p:nvSpPr>
        <p:spPr bwMode="auto">
          <a:xfrm>
            <a:off x="8610352" y="3312702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2B98EAE-C9A4-115F-4600-75D1B84F61AE}"/>
              </a:ext>
            </a:extLst>
          </p:cNvPr>
          <p:cNvSpPr/>
          <p:nvPr/>
        </p:nvSpPr>
        <p:spPr bwMode="auto">
          <a:xfrm>
            <a:off x="7256434" y="4109357"/>
            <a:ext cx="270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22113F4-108D-3411-3D46-3CB972309018}"/>
              </a:ext>
            </a:extLst>
          </p:cNvPr>
          <p:cNvSpPr/>
          <p:nvPr/>
        </p:nvSpPr>
        <p:spPr bwMode="auto">
          <a:xfrm>
            <a:off x="10125262" y="2619993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1474C2E7-65C1-C3C9-E887-31116B25D287}"/>
              </a:ext>
            </a:extLst>
          </p:cNvPr>
          <p:cNvSpPr/>
          <p:nvPr/>
        </p:nvSpPr>
        <p:spPr bwMode="auto">
          <a:xfrm rot="16200000">
            <a:off x="-169543" y="4686059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2ACCACC7-9608-6392-E9E2-2A4A927BF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60192"/>
              </p:ext>
            </p:extLst>
          </p:nvPr>
        </p:nvGraphicFramePr>
        <p:xfrm>
          <a:off x="474878" y="4426096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de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change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management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937491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C7998E6F-BF5A-00F3-020B-4FE1CA8A166E}"/>
              </a:ext>
            </a:extLst>
          </p:cNvPr>
          <p:cNvSpPr/>
          <p:nvPr/>
        </p:nvSpPr>
        <p:spPr bwMode="auto">
          <a:xfrm>
            <a:off x="-11180" y="4300746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DAF6CCC-420C-BCDA-3CF5-DECE11F2059E}"/>
              </a:ext>
            </a:extLst>
          </p:cNvPr>
          <p:cNvSpPr/>
          <p:nvPr/>
        </p:nvSpPr>
        <p:spPr bwMode="auto">
          <a:xfrm>
            <a:off x="10125261" y="4431028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EE0A9FBC-B1F7-B80D-B2F1-D06CA99AC727}"/>
              </a:ext>
            </a:extLst>
          </p:cNvPr>
          <p:cNvSpPr/>
          <p:nvPr/>
        </p:nvSpPr>
        <p:spPr bwMode="auto">
          <a:xfrm rot="16200000">
            <a:off x="56555" y="5401001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0952E168-ABCD-BC36-38A7-9D3C47E71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4607"/>
              </p:ext>
            </p:extLst>
          </p:nvPr>
        </p:nvGraphicFramePr>
        <p:xfrm>
          <a:off x="474878" y="5367135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CAEE143C-5D91-0286-724C-2C003E8E4F83}"/>
              </a:ext>
            </a:extLst>
          </p:cNvPr>
          <p:cNvSpPr/>
          <p:nvPr/>
        </p:nvSpPr>
        <p:spPr bwMode="auto">
          <a:xfrm>
            <a:off x="-11180" y="5241785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976E593-A5E1-E6B6-5F0D-DF3E6E9E9EBB}"/>
              </a:ext>
            </a:extLst>
          </p:cNvPr>
          <p:cNvSpPr/>
          <p:nvPr/>
        </p:nvSpPr>
        <p:spPr bwMode="auto">
          <a:xfrm>
            <a:off x="10167763" y="487828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D872B1B-7925-CD1D-1279-51D9802FFB00}"/>
              </a:ext>
            </a:extLst>
          </p:cNvPr>
          <p:cNvSpPr/>
          <p:nvPr/>
        </p:nvSpPr>
        <p:spPr bwMode="auto">
          <a:xfrm>
            <a:off x="10167763" y="5066969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139E3C1-20CA-EDB0-8C99-D7757EB7321A}"/>
              </a:ext>
            </a:extLst>
          </p:cNvPr>
          <p:cNvSpPr/>
          <p:nvPr/>
        </p:nvSpPr>
        <p:spPr bwMode="auto">
          <a:xfrm>
            <a:off x="10167763" y="5380045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D2DD852-A129-9A6E-7F8F-2839863C5655}"/>
              </a:ext>
            </a:extLst>
          </p:cNvPr>
          <p:cNvSpPr/>
          <p:nvPr/>
        </p:nvSpPr>
        <p:spPr bwMode="auto">
          <a:xfrm>
            <a:off x="10167763" y="556872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7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F44E435D-26F7-B5A4-E2BA-572EE9E5035A}"/>
              </a:ext>
            </a:extLst>
          </p:cNvPr>
          <p:cNvSpPr/>
          <p:nvPr/>
        </p:nvSpPr>
        <p:spPr>
          <a:xfrm>
            <a:off x="828675" y="18111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64160B-FBF6-92C7-9F7C-B03B126A6695}"/>
              </a:ext>
            </a:extLst>
          </p:cNvPr>
          <p:cNvSpPr txBox="1"/>
          <p:nvPr/>
        </p:nvSpPr>
        <p:spPr>
          <a:xfrm>
            <a:off x="1349310" y="2669052"/>
            <a:ext cx="2147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8EA9F45-1562-8A28-D8D4-2ED831954350}"/>
              </a:ext>
            </a:extLst>
          </p:cNvPr>
          <p:cNvSpPr/>
          <p:nvPr/>
        </p:nvSpPr>
        <p:spPr bwMode="auto">
          <a:xfrm>
            <a:off x="134931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6C725EA1-5797-6DAA-EFEF-33423C0EF704}"/>
              </a:ext>
            </a:extLst>
          </p:cNvPr>
          <p:cNvSpPr/>
          <p:nvPr/>
        </p:nvSpPr>
        <p:spPr bwMode="auto">
          <a:xfrm>
            <a:off x="3758390" y="1657103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77D25EBA-F93B-583F-4F2C-7BB756BFD5A5}"/>
              </a:ext>
            </a:extLst>
          </p:cNvPr>
          <p:cNvSpPr/>
          <p:nvPr/>
        </p:nvSpPr>
        <p:spPr bwMode="auto">
          <a:xfrm>
            <a:off x="610708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EC5795E6-3870-6D55-43A8-313136A490AE}"/>
              </a:ext>
            </a:extLst>
          </p:cNvPr>
          <p:cNvSpPr/>
          <p:nvPr/>
        </p:nvSpPr>
        <p:spPr bwMode="auto">
          <a:xfrm>
            <a:off x="8455770" y="1657101"/>
            <a:ext cx="2147110" cy="894315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4BACFBBC-8CE6-2028-9DB4-64771989F071}"/>
              </a:ext>
            </a:extLst>
          </p:cNvPr>
          <p:cNvSpPr/>
          <p:nvPr/>
        </p:nvSpPr>
        <p:spPr>
          <a:xfrm rot="10800000">
            <a:off x="4498570" y="1328598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EEF00B-C82E-D0C8-D3A1-9666224DE517}"/>
              </a:ext>
            </a:extLst>
          </p:cNvPr>
          <p:cNvSpPr txBox="1"/>
          <p:nvPr/>
        </p:nvSpPr>
        <p:spPr>
          <a:xfrm>
            <a:off x="3654360" y="2693021"/>
            <a:ext cx="21471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35555B-5E51-9424-1655-DDF57A7E4A2E}"/>
              </a:ext>
            </a:extLst>
          </p:cNvPr>
          <p:cNvSpPr/>
          <p:nvPr/>
        </p:nvSpPr>
        <p:spPr>
          <a:xfrm>
            <a:off x="134228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Entrega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L2 y L3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Arranque mapeo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D00075-8266-9502-96BF-6EDFA0AE3592}"/>
              </a:ext>
            </a:extLst>
          </p:cNvPr>
          <p:cNvSpPr/>
          <p:nvPr/>
        </p:nvSpPr>
        <p:spPr>
          <a:xfrm>
            <a:off x="375839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Mapeo de interacciones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del área.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Validación de conexiones entre otras áreas de la misma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70D121-15EE-299B-BFBE-0280C20B9D8A}"/>
              </a:ext>
            </a:extLst>
          </p:cNvPr>
          <p:cNvSpPr/>
          <p:nvPr/>
        </p:nvSpPr>
        <p:spPr>
          <a:xfrm>
            <a:off x="610005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la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Interacciones Clave (a nivel organización –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BDF873-AA52-8CBD-42CC-53680A452757}"/>
              </a:ext>
            </a:extLst>
          </p:cNvPr>
          <p:cNvSpPr/>
          <p:nvPr/>
        </p:nvSpPr>
        <p:spPr>
          <a:xfrm>
            <a:off x="8455770" y="2635819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78633D-E376-437E-2C78-E478E8EB6BE0}"/>
              </a:ext>
            </a:extLst>
          </p:cNvPr>
          <p:cNvSpPr/>
          <p:nvPr/>
        </p:nvSpPr>
        <p:spPr>
          <a:xfrm>
            <a:off x="1342280" y="4914900"/>
            <a:ext cx="4570250" cy="619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Presentación ejecutiva: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Contribuciones área 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Interacciones macro procesos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01CA99-0760-1844-9A85-FD5467418E76}"/>
              </a:ext>
            </a:extLst>
          </p:cNvPr>
          <p:cNvSpPr txBox="1"/>
          <p:nvPr/>
        </p:nvSpPr>
        <p:spPr>
          <a:xfrm>
            <a:off x="3088870" y="5978099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Abril 2026 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528BBD-E4C6-BCDF-B698-45DB93CC6E2F}"/>
              </a:ext>
            </a:extLst>
          </p:cNvPr>
          <p:cNvCxnSpPr/>
          <p:nvPr/>
        </p:nvCxnSpPr>
        <p:spPr>
          <a:xfrm>
            <a:off x="1349309" y="615315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6B5FA64-4282-F702-DC34-5F442211C2FD}"/>
              </a:ext>
            </a:extLst>
          </p:cNvPr>
          <p:cNvCxnSpPr/>
          <p:nvPr/>
        </p:nvCxnSpPr>
        <p:spPr>
          <a:xfrm>
            <a:off x="4349684" y="615333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3FB086D-EE92-7E57-0CA7-8617D97CB8F5}"/>
              </a:ext>
            </a:extLst>
          </p:cNvPr>
          <p:cNvCxnSpPr>
            <a:cxnSpLocks/>
          </p:cNvCxnSpPr>
          <p:nvPr/>
        </p:nvCxnSpPr>
        <p:spPr>
          <a:xfrm flipV="1">
            <a:off x="590550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91C4BB1-5367-B225-7850-A8FD7DD6FB61}"/>
              </a:ext>
            </a:extLst>
          </p:cNvPr>
          <p:cNvCxnSpPr>
            <a:cxnSpLocks/>
          </p:cNvCxnSpPr>
          <p:nvPr/>
        </p:nvCxnSpPr>
        <p:spPr>
          <a:xfrm flipV="1">
            <a:off x="134228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FB7BC35-4E2A-91F2-3605-1B0ED2D388CE}"/>
              </a:ext>
            </a:extLst>
          </p:cNvPr>
          <p:cNvCxnSpPr/>
          <p:nvPr/>
        </p:nvCxnSpPr>
        <p:spPr>
          <a:xfrm>
            <a:off x="6080585" y="613785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1A9846C-5667-E39A-97E3-AC46CD609FD5}"/>
              </a:ext>
            </a:extLst>
          </p:cNvPr>
          <p:cNvCxnSpPr/>
          <p:nvPr/>
        </p:nvCxnSpPr>
        <p:spPr>
          <a:xfrm>
            <a:off x="9080960" y="613803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9C86EE6-02EC-59DA-C4F9-6EFD0CC37E27}"/>
              </a:ext>
            </a:extLst>
          </p:cNvPr>
          <p:cNvCxnSpPr>
            <a:cxnSpLocks/>
          </p:cNvCxnSpPr>
          <p:nvPr/>
        </p:nvCxnSpPr>
        <p:spPr>
          <a:xfrm flipV="1">
            <a:off x="1063677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D06DCE7-1196-2316-CBE6-CCD249C94929}"/>
              </a:ext>
            </a:extLst>
          </p:cNvPr>
          <p:cNvCxnSpPr>
            <a:cxnSpLocks/>
          </p:cNvCxnSpPr>
          <p:nvPr/>
        </p:nvCxnSpPr>
        <p:spPr>
          <a:xfrm flipV="1">
            <a:off x="607355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6FEC77E-6C21-A511-45CD-DB9CC767F119}"/>
              </a:ext>
            </a:extLst>
          </p:cNvPr>
          <p:cNvSpPr txBox="1"/>
          <p:nvPr/>
        </p:nvSpPr>
        <p:spPr>
          <a:xfrm>
            <a:off x="7925073" y="5953275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2Q 2026 </a:t>
            </a:r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3776F238-B465-5D0A-819A-A246EA742CA4}"/>
              </a:ext>
            </a:extLst>
          </p:cNvPr>
          <p:cNvSpPr/>
          <p:nvPr/>
        </p:nvSpPr>
        <p:spPr>
          <a:xfrm rot="10800000">
            <a:off x="2116554" y="1360844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054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Febrero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3827B1-3712-4D8C-A6C0-A6B9F847DDF3}">
  <ds:schemaRefs>
    <ds:schemaRef ds:uri="http://schemas.openxmlformats.org/package/2006/metadata/core-properties"/>
    <ds:schemaRef ds:uri="http://purl.org/dc/elements/1.1/"/>
    <ds:schemaRef ds:uri="http://www.w3.org/XML/1998/namespace"/>
    <ds:schemaRef ds:uri="7ff1139c-9d19-4981-a26c-d6e7dc37fc8a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2165</Words>
  <Application>Microsoft Office PowerPoint</Application>
  <PresentationFormat>Widescreen</PresentationFormat>
  <Paragraphs>317</Paragraphs>
  <Slides>15</Slides>
  <Notes>6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Tema de Office</vt:lpstr>
      <vt:lpstr>Master</vt:lpstr>
      <vt:lpstr>Fit for Purpose 2026 Tecnología de Información | Planeación Proyectos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Descripción de Puesto | Planeación Proyectos</vt:lpstr>
      <vt:lpstr>Descripción de Puesto | Planeación Proyectos</vt:lpstr>
      <vt:lpstr>PowerPoint Presentation</vt:lpstr>
      <vt:lpstr>Interacciones entre áreas y procesos clave Planeación Proyectos</vt:lpstr>
      <vt:lpstr>Premisas Planeación Proyectos</vt:lpstr>
      <vt:lpstr>Preguntas de reflexión</vt:lpstr>
      <vt:lpstr>Siguientes pasos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Perez Garza Anahi</cp:lastModifiedBy>
  <cp:revision>2</cp:revision>
  <dcterms:created xsi:type="dcterms:W3CDTF">2026-02-23T22:40:37Z</dcterms:created>
  <dcterms:modified xsi:type="dcterms:W3CDTF">2026-03-11T16:16:44Z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