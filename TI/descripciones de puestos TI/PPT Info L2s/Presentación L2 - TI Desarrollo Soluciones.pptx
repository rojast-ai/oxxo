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58" r:id="rId12"/>
    <p:sldId id="2147482956" r:id="rId13"/>
    <p:sldId id="2147483647" r:id="rId14"/>
    <p:sldId id="256" r:id="rId15"/>
    <p:sldId id="257" r:id="rId16"/>
    <p:sldId id="2147482949" r:id="rId17"/>
    <p:sldId id="2147482946" r:id="rId18"/>
    <p:sldId id="2147482953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58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9CC71-41A4-4D99-9C2D-5C83A11CD59D}" v="28" dt="2026-03-10T18:43:04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14" autoAdjust="0"/>
  </p:normalViewPr>
  <p:slideViewPr>
    <p:cSldViewPr snapToGrid="0">
      <p:cViewPr varScale="1">
        <p:scale>
          <a:sx n="65" d="100"/>
          <a:sy n="65" d="100"/>
        </p:scale>
        <p:origin x="62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4929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incluir comentarios de Word Manuel.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88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419" dirty="0"/>
              <a:t>1 para 3 ingenierías</a:t>
            </a:r>
          </a:p>
          <a:p>
            <a:r>
              <a:rPr lang="es-419" dirty="0"/>
              <a:t>Actualización Diseño Técnico</a:t>
            </a:r>
          </a:p>
          <a:p>
            <a:r>
              <a:rPr lang="es-419" dirty="0"/>
              <a:t>Staff Ingeniería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Conexión Bernardo-indicadores de proyectos, ciclo de desarrollo. </a:t>
            </a:r>
          </a:p>
          <a:p>
            <a:r>
              <a:rPr lang="es-ES" dirty="0"/>
              <a:t>Arquitectura entrega a Desarrollo, validan en conjunto. 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43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91.png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5" Type="http://schemas.openxmlformats.org/officeDocument/2006/relationships/image" Target="../media/image9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dirty="0" err="1"/>
              <a:t>Fit</a:t>
            </a:r>
            <a:r>
              <a:rPr lang="es-ES_tradnl" sz="2650" dirty="0"/>
              <a:t> </a:t>
            </a:r>
            <a:r>
              <a:rPr lang="es-ES_tradnl" sz="2650" dirty="0" err="1"/>
              <a:t>for</a:t>
            </a:r>
            <a:r>
              <a:rPr lang="es-ES_tradnl" sz="2650" dirty="0"/>
              <a:t> </a:t>
            </a:r>
            <a:r>
              <a:rPr lang="es-ES_tradnl" sz="2650" dirty="0" err="1"/>
              <a:t>Purpose</a:t>
            </a:r>
            <a:r>
              <a:rPr lang="es-ES_tradnl" sz="2650" dirty="0"/>
              <a:t> 2026</a:t>
            </a:r>
            <a:br>
              <a:rPr lang="es-ES_tradnl" sz="2650" dirty="0"/>
            </a:br>
            <a:r>
              <a:rPr lang="es-ES_tradnl" sz="2650" b="1" dirty="0"/>
              <a:t>Tecnología de Información | Desarrollo Soluciones</a:t>
            </a:r>
            <a:br>
              <a:rPr lang="es-ES_tradnl" sz="2650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DDB9B035-C7B4-AD50-86A6-5DC223A69AC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4270471"/>
                  </p:ext>
                </p:extLst>
              </p:nvPr>
            </p:nvGraphicFramePr>
            <p:xfrm>
              <a:off x="4602416" y="3891988"/>
              <a:ext cx="3048000" cy="1714500"/>
            </p:xfrm>
            <a:graphic>
              <a:graphicData uri="http://schemas.microsoft.com/office/powerpoint/2016/slidezoom">
                <pslz:sldZm>
                  <pslz:sldZmObj sldId="258" cId="213015016">
                    <pslz:zmPr id="{1C99DBB3-D3B7-4D6B-A563-4FDB2FF30C15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extLst>
                  <a:ext uri="{FF2B5EF4-FFF2-40B4-BE49-F238E27FC236}">
                    <a16:creationId xmlns:a16="http://schemas.microsoft.com/office/drawing/2014/main" id="{DDB9B035-C7B4-AD50-86A6-5DC223A69A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02416" y="3891988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4</a:t>
            </a:r>
            <a:endParaRPr lang="es-MX" sz="14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5</a:t>
            </a:r>
            <a:endParaRPr lang="es-MX" sz="1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6" y="1400752"/>
            <a:ext cx="11659159" cy="4998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Propósito del puesto:</a:t>
            </a:r>
          </a:p>
          <a:p>
            <a:pPr>
              <a:defRPr/>
            </a:pP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Dirigir la habilitación tecnológica de la estrategia y propuesta de valor </a:t>
            </a:r>
            <a:r>
              <a:rPr lang="es-MX" sz="1400" dirty="0" err="1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omnicanal</a:t>
            </a: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 de OXXO México y nuevos formatos, a través del desarrollo e implementación de soluciones de software para las diferentes plataformas tecnológicas, aplicando las mejores prácticas de la industria, utilizando metodologías ágiles y estándares de diseño que aseguren la entrega de valor en el time </a:t>
            </a:r>
            <a:r>
              <a:rPr lang="es-MX" sz="1400" dirty="0" err="1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to</a:t>
            </a: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 </a:t>
            </a:r>
            <a:r>
              <a:rPr lang="es-MX" sz="1400" dirty="0" err="1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market</a:t>
            </a:r>
            <a:r>
              <a:rPr lang="es-MX" sz="1400" dirty="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 esperado por la organización, garantizando la seguridad y continuidad operativa de los procesos críticos del negocio.  </a:t>
            </a:r>
          </a:p>
          <a:p>
            <a:pPr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400" b="1" dirty="0"/>
              <a:t>Responsabilidades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Definir la estrategia de entrega de valor en soluciones de construcción E2E: asegurando la alineación al marco de trabajo ágil, la implementación de modelos de industria con el objetivo de optimizar el time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to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market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de las soluciones desarrolladas y entregadas a la organización.​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Supervisar el portafolio de soluciones gestionadas en los procesos de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delivery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y mantenimiento de software: con el objetivo de obtener una correcta alineación de la propuesta de valor y asegurar la operación continua de cada una de las soluciones que se implementarán.​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Evaluar y anticipar posibles riesgos o impactos en las soluciones: mediante el constante análisis y retroalimentación con cada una de las gerencias de desarrollo a fin de generar planes de acción o de mejora para evitar que los riesgos se materialicen o en caso de que sea necesario presentar a negocio un balance de ventajas e impactos para facilitar la toma de decisiones.​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Crear e implementar estrategias de desarrollo y de calidad de software: que se ajusten a los objetivos y metas de la empresa, priorizando tareas con indicadores de éxito claves que garanticen el uso eficaz de los recursos.​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Diseñar el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roadmap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de las plataformas tecnológicas: a través de la revisión de las tendencias de industria para garantizar una evolución continua de los aplicativos, implementando iniciativas de mejora, evitando obsolescencias y  garantizando continuidad operativa y habilitación de nuevas oportunidades de negocio.​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Negociar con los diferentes </a:t>
            </a:r>
            <a:r>
              <a:rPr lang="es-MX" sz="1200" dirty="0" err="1">
                <a:solidFill>
                  <a:prstClr val="black"/>
                </a:solidFill>
                <a:latin typeface="+mn-lt"/>
                <a:ea typeface="ＭＳ Ｐゴシック"/>
              </a:rPr>
              <a:t>Stakeholders</a:t>
            </a: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 y pares de TI acerca de resolución de problemas: a través del uso de proyecciones, basados en estimaciones y datos históricos, con la finalidad de garantizar que la toma de decisiones se encamine a la generación del mayor valor y beneficio posible para OXXO.​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Optimización del presupuesto y control financiero: Garantizar el uso eficiente de los recursos mediante la implementación de rituales que permitan medir el presupuesto real vs. planeado para la gerencia y proyectos de evolución tecnológica alineados a las necesidades del negocio.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200" dirty="0">
                <a:solidFill>
                  <a:prstClr val="black"/>
                </a:solidFill>
                <a:latin typeface="+mn-lt"/>
                <a:ea typeface="ＭＳ Ｐゴシック"/>
              </a:rPr>
              <a:t>Tomar decisiones que impacten a la mejora continua: a través del diseño de soluciones que simplifiquen procesos, habiliten herramientas innovadoras y reduzcan tiempos de ejecución, incrementando la eficiencia y la calidad de los proyectos.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Desarrollo Soluciones</a:t>
            </a: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0" y="6708095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 dirty="0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 dirty="0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1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400" b="1" dirty="0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Definir y desarrollar la relación con socios tecnológicos idóneos para colaborar con el BUS al que presta servicio.​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Planes de acción con abastecimientos cuando algún entregable se esté desviando de lo planeado.​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Aprobar procesos y metodología, con base a las mejores prácticas de desarrollo y aseguramiento de calidad de software.​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Definir el ecosistema de tecnología y herramientas de desarrollo de software que la compañía debe usar para soportar la propuesta de valor de OXXO y Negocios Digitales​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Validar y aprobar estimaciones de costo en iniciativas de soluciones propuestas por sus gerencias. </a:t>
            </a:r>
          </a:p>
          <a:p>
            <a:r>
              <a:rPr lang="es-MX" sz="1400" dirty="0"/>
              <a:t>	</a:t>
            </a:r>
          </a:p>
          <a:p>
            <a:r>
              <a:rPr lang="es-MX" sz="1400" b="1" dirty="0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Asegurar alineación y colaboración entre los colaboradores internos y los servicios de proveedores externos (fábricas) para trabajo en metodologías ágiles​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Asegurar contar con el talento necesario (interno y socios tecnológicos) y homologar el </a:t>
            </a:r>
            <a:r>
              <a:rPr lang="es-MX" sz="1400" dirty="0" err="1"/>
              <a:t>expertise</a:t>
            </a:r>
            <a:r>
              <a:rPr lang="es-MX" sz="1400" dirty="0"/>
              <a:t> tecnológico.​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Administrar constantes actualizaciones tecnológicas y nuevos retos de la industria para incorporar.</a:t>
            </a:r>
          </a:p>
          <a:p>
            <a:endParaRPr lang="es-MX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Descripción de Puesto | Desarrollo Soluciones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Desarrollo Soluciones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pic>
        <p:nvPicPr>
          <p:cNvPr id="6" name="Imagen 5">
            <a:hlinkClick r:id="rId3" action="ppaction://hlinksldjump"/>
            <a:extLst>
              <a:ext uri="{FF2B5EF4-FFF2-40B4-BE49-F238E27FC236}">
                <a16:creationId xmlns:a16="http://schemas.microsoft.com/office/drawing/2014/main" id="{14065D18-FCF0-B19D-2F54-4277A99E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881701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1000" dirty="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2783012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53AB2C2-D4BF-ADBB-C1E1-5FAF5E1A581F}"/>
              </a:ext>
            </a:extLst>
          </p:cNvPr>
          <p:cNvSpPr/>
          <p:nvPr/>
        </p:nvSpPr>
        <p:spPr>
          <a:xfrm>
            <a:off x="4684323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 dirty="0">
                <a:solidFill>
                  <a:sysClr val="windowText" lastClr="000000"/>
                </a:solidFill>
              </a:rPr>
              <a:t>RH, Finanzas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7DFF966-E99E-3A99-C228-498A6A9A6C31}"/>
              </a:ext>
            </a:extLst>
          </p:cNvPr>
          <p:cNvSpPr/>
          <p:nvPr/>
        </p:nvSpPr>
        <p:spPr>
          <a:xfrm>
            <a:off x="6785723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21B98BF2-4F8C-DB06-25AC-8C70EFDD6EC4}"/>
              </a:ext>
            </a:extLst>
          </p:cNvPr>
          <p:cNvSpPr/>
          <p:nvPr/>
        </p:nvSpPr>
        <p:spPr>
          <a:xfrm>
            <a:off x="8749194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B3EC08-373B-569E-E99A-693A6EFFBF77}"/>
              </a:ext>
            </a:extLst>
          </p:cNvPr>
          <p:cNvSpPr/>
          <p:nvPr/>
        </p:nvSpPr>
        <p:spPr>
          <a:xfrm>
            <a:off x="2783012" y="2366404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900" b="1" dirty="0">
                <a:solidFill>
                  <a:prstClr val="black"/>
                </a:solidFill>
                <a:latin typeface="Calibri"/>
              </a:rPr>
              <a:t>Gerente Área Desarrollo Soluciones CDS-6176097</a:t>
            </a:r>
          </a:p>
          <a:p>
            <a:pPr algn="ctr" defTabSz="609645">
              <a:defRPr/>
            </a:pPr>
            <a:r>
              <a:rPr lang="es-MX" sz="900" i="1" dirty="0">
                <a:solidFill>
                  <a:prstClr val="black"/>
                </a:solidFill>
                <a:latin typeface="Calibri"/>
              </a:rPr>
              <a:t>Citlaly de la Rosa</a:t>
            </a:r>
            <a:endParaRPr lang="es-MX" sz="90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8876ECE-6E32-DD43-D4BD-C65C1811BFBF}"/>
              </a:ext>
            </a:extLst>
          </p:cNvPr>
          <p:cNvSpPr/>
          <p:nvPr/>
        </p:nvSpPr>
        <p:spPr>
          <a:xfrm>
            <a:off x="4684323" y="2366404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900" b="1" dirty="0">
                <a:solidFill>
                  <a:prstClr val="black"/>
                </a:solidFill>
                <a:latin typeface="Calibri"/>
              </a:rPr>
              <a:t>Experto Diseño Técnico BackOffice-6216943</a:t>
            </a:r>
          </a:p>
          <a:p>
            <a:pPr algn="ctr" defTabSz="609645">
              <a:defRPr/>
            </a:pPr>
            <a:r>
              <a:rPr lang="es-MX" sz="900" i="1" dirty="0">
                <a:solidFill>
                  <a:prstClr val="black"/>
                </a:solidFill>
                <a:latin typeface="Calibri"/>
              </a:rPr>
              <a:t>Ulises Silva</a:t>
            </a:r>
            <a:endParaRPr lang="es-MX" sz="90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43F3C6-03DE-26D7-06A0-601788928433}"/>
              </a:ext>
            </a:extLst>
          </p:cNvPr>
          <p:cNvSpPr/>
          <p:nvPr/>
        </p:nvSpPr>
        <p:spPr>
          <a:xfrm>
            <a:off x="6785723" y="2366404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algn="ctr" defTabSz="609645">
              <a:defRPr/>
            </a:pPr>
            <a:r>
              <a:rPr lang="es-MX" sz="700" b="1" dirty="0">
                <a:solidFill>
                  <a:prstClr val="black"/>
                </a:solidFill>
                <a:latin typeface="Calibri"/>
              </a:rPr>
              <a:t>Gerente Área Desarrollo Soluciones </a:t>
            </a:r>
            <a:r>
              <a:rPr lang="es-MX" sz="700" b="1" dirty="0" err="1">
                <a:solidFill>
                  <a:prstClr val="black"/>
                </a:solidFill>
                <a:latin typeface="Calibri"/>
              </a:rPr>
              <a:t>Customer</a:t>
            </a:r>
            <a:r>
              <a:rPr lang="es-MX" sz="700" b="1" dirty="0">
                <a:solidFill>
                  <a:prstClr val="black"/>
                </a:solidFill>
                <a:latin typeface="Calibri"/>
              </a:rPr>
              <a:t> y Digital</a:t>
            </a:r>
          </a:p>
          <a:p>
            <a:pPr algn="ctr" defTabSz="609645">
              <a:defRPr/>
            </a:pPr>
            <a:r>
              <a:rPr lang="es-MX" sz="700" b="1" dirty="0">
                <a:solidFill>
                  <a:prstClr val="black"/>
                </a:solidFill>
                <a:latin typeface="Calibri"/>
              </a:rPr>
              <a:t>6176098</a:t>
            </a:r>
          </a:p>
          <a:p>
            <a:pPr algn="ctr" defTabSz="609645">
              <a:defRPr/>
            </a:pPr>
            <a:r>
              <a:rPr lang="es-MX" sz="800" i="1" dirty="0">
                <a:solidFill>
                  <a:prstClr val="black"/>
                </a:solidFill>
                <a:latin typeface="Calibri"/>
              </a:rPr>
              <a:t>Edward Fuentes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BEEBBE-3BFC-08D9-B3B8-526D34A22890}"/>
              </a:ext>
            </a:extLst>
          </p:cNvPr>
          <p:cNvSpPr/>
          <p:nvPr/>
        </p:nvSpPr>
        <p:spPr>
          <a:xfrm>
            <a:off x="8761465" y="2366404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algn="ctr" defTabSz="609645">
              <a:defRPr/>
            </a:pPr>
            <a:r>
              <a:rPr lang="es-MX" sz="800" b="1" dirty="0">
                <a:solidFill>
                  <a:prstClr val="black"/>
                </a:solidFill>
                <a:latin typeface="Calibri"/>
              </a:rPr>
              <a:t>Gerente Área Desarrollo Soluciones Staff Ingeniería</a:t>
            </a:r>
          </a:p>
          <a:p>
            <a:pPr algn="ctr" defTabSz="609645">
              <a:defRPr/>
            </a:pPr>
            <a:r>
              <a:rPr lang="es-MX" sz="800" b="1" dirty="0">
                <a:solidFill>
                  <a:prstClr val="black"/>
                </a:solidFill>
                <a:latin typeface="Calibri"/>
              </a:rPr>
              <a:t>6204175 -</a:t>
            </a:r>
            <a:r>
              <a:rPr lang="es-MX" sz="800" i="1" dirty="0">
                <a:solidFill>
                  <a:prstClr val="black"/>
                </a:solidFill>
                <a:latin typeface="Calibri"/>
              </a:rPr>
              <a:t>Carlos Linares</a:t>
            </a:r>
            <a:endParaRPr lang="es-MX" sz="80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D62859E-4C70-2DA2-5449-C3FC7B222A50}"/>
              </a:ext>
            </a:extLst>
          </p:cNvPr>
          <p:cNvSpPr/>
          <p:nvPr/>
        </p:nvSpPr>
        <p:spPr>
          <a:xfrm>
            <a:off x="4662195" y="1591481"/>
            <a:ext cx="1529472" cy="473383"/>
          </a:xfrm>
          <a:prstGeom prst="rect">
            <a:avLst/>
          </a:prstGeom>
          <a:noFill/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0" rtlCol="0" anchor="ctr">
            <a:noAutofit/>
          </a:bodyPr>
          <a:lstStyle/>
          <a:p>
            <a:pPr algn="ctr" defTabSz="914377">
              <a:defRPr/>
            </a:pPr>
            <a:r>
              <a:rPr kumimoji="0" lang="es-E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Gerente Desarrollo Soluciones-</a:t>
            </a:r>
            <a:r>
              <a:rPr lang="es-MX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6263435</a:t>
            </a:r>
            <a:endParaRPr kumimoji="0" lang="es-E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9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Rodrigo Da Costa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7F41953-60CB-7D77-B3B3-F82C495F2C2D}"/>
              </a:ext>
            </a:extLst>
          </p:cNvPr>
          <p:cNvSpPr/>
          <p:nvPr/>
        </p:nvSpPr>
        <p:spPr>
          <a:xfrm>
            <a:off x="881701" y="2366404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algn="ctr" defTabSz="609645">
              <a:defRPr/>
            </a:pPr>
            <a:r>
              <a:rPr lang="es-MX" sz="700" b="1" dirty="0">
                <a:solidFill>
                  <a:prstClr val="black"/>
                </a:solidFill>
                <a:latin typeface="Calibri"/>
              </a:rPr>
              <a:t>Gerente Área Desarrollo Soluciones Tienda y Comercial</a:t>
            </a:r>
          </a:p>
          <a:p>
            <a:pPr algn="ctr" defTabSz="609645">
              <a:defRPr/>
            </a:pPr>
            <a:r>
              <a:rPr lang="es-MX" sz="700" b="1" dirty="0">
                <a:solidFill>
                  <a:prstClr val="black"/>
                </a:solidFill>
                <a:latin typeface="Calibri"/>
              </a:rPr>
              <a:t>6028216</a:t>
            </a:r>
          </a:p>
          <a:p>
            <a:pPr algn="ctr" defTabSz="609645">
              <a:defRPr/>
            </a:pPr>
            <a:r>
              <a:rPr lang="es-MX" sz="800" i="1" dirty="0">
                <a:solidFill>
                  <a:prstClr val="black"/>
                </a:solidFill>
                <a:latin typeface="Calibri"/>
              </a:rPr>
              <a:t>Gerardo Bernal</a:t>
            </a:r>
            <a:endParaRPr lang="es-MX" sz="800" i="1" dirty="0">
              <a:solidFill>
                <a:srgbClr val="C00000"/>
              </a:solidFill>
              <a:latin typeface="Calibri"/>
            </a:endParaRP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4C9F87AA-BA61-A425-E872-92D354D023DA}"/>
              </a:ext>
            </a:extLst>
          </p:cNvPr>
          <p:cNvCxnSpPr>
            <a:stCxn id="9" idx="0"/>
            <a:endCxn id="8" idx="2"/>
          </p:cNvCxnSpPr>
          <p:nvPr/>
        </p:nvCxnSpPr>
        <p:spPr>
          <a:xfrm rot="5400000" flipH="1" flipV="1">
            <a:off x="3374073" y="313547"/>
            <a:ext cx="301540" cy="380417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80CA7FA0-AA7E-FB7C-ABF6-B5D601E27CDA}"/>
              </a:ext>
            </a:extLst>
          </p:cNvPr>
          <p:cNvCxnSpPr>
            <a:stCxn id="7" idx="0"/>
            <a:endCxn id="8" idx="2"/>
          </p:cNvCxnSpPr>
          <p:nvPr/>
        </p:nvCxnSpPr>
        <p:spPr>
          <a:xfrm rot="16200000" flipV="1">
            <a:off x="7313956" y="177839"/>
            <a:ext cx="301540" cy="4075589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3825EE46-BE87-8451-D7FB-CEBCD809CF1D}"/>
              </a:ext>
            </a:extLst>
          </p:cNvPr>
          <p:cNvCxnSpPr>
            <a:stCxn id="5" idx="0"/>
            <a:endCxn id="8" idx="2"/>
          </p:cNvCxnSpPr>
          <p:nvPr/>
        </p:nvCxnSpPr>
        <p:spPr>
          <a:xfrm rot="16200000" flipV="1">
            <a:off x="6326085" y="1165710"/>
            <a:ext cx="301540" cy="2099847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A04A046D-CF33-72D9-F4DC-0A4A5BA9ECA3}"/>
              </a:ext>
            </a:extLst>
          </p:cNvPr>
          <p:cNvCxnSpPr>
            <a:stCxn id="3" idx="0"/>
            <a:endCxn id="8" idx="2"/>
          </p:cNvCxnSpPr>
          <p:nvPr/>
        </p:nvCxnSpPr>
        <p:spPr>
          <a:xfrm rot="5400000" flipH="1" flipV="1">
            <a:off x="4324729" y="1264202"/>
            <a:ext cx="301540" cy="190286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86271FF5-4C4D-9B75-8B78-792630732F26}"/>
              </a:ext>
            </a:extLst>
          </p:cNvPr>
          <p:cNvCxnSpPr>
            <a:stCxn id="4" idx="0"/>
            <a:endCxn id="8" idx="2"/>
          </p:cNvCxnSpPr>
          <p:nvPr/>
        </p:nvCxnSpPr>
        <p:spPr>
          <a:xfrm rot="5400000" flipH="1" flipV="1">
            <a:off x="5275384" y="2214858"/>
            <a:ext cx="301540" cy="155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100" dirty="0">
                <a:latin typeface="Calibri"/>
                <a:ea typeface="ＭＳ Ｐゴシック"/>
                <a:cs typeface="Calibri"/>
              </a:rPr>
              <a:t>Interacciones entre áreas y procesos clave</a:t>
            </a:r>
            <a:br>
              <a:rPr lang="es-ES" sz="2100" dirty="0"/>
            </a:br>
            <a:r>
              <a:rPr lang="es-ES" sz="2100" dirty="0">
                <a:latin typeface="Calibri"/>
                <a:ea typeface="ＭＳ Ｐゴシック"/>
                <a:cs typeface="Calibri"/>
              </a:rPr>
              <a:t>Desarrollo Soluciones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75430"/>
              </p:ext>
            </p:extLst>
          </p:nvPr>
        </p:nvGraphicFramePr>
        <p:xfrm>
          <a:off x="927462" y="2394838"/>
          <a:ext cx="10337077" cy="3088640"/>
        </p:xfrm>
        <a:graphic>
          <a:graphicData uri="http://schemas.openxmlformats.org/drawingml/2006/table">
            <a:tbl>
              <a:tblPr/>
              <a:tblGrid>
                <a:gridCol w="438417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3841715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181664544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1613625320"/>
                    </a:ext>
                  </a:extLst>
                </a:gridCol>
                <a:gridCol w="748711">
                  <a:extLst>
                    <a:ext uri="{9D8B030D-6E8A-4147-A177-3AD203B41FA5}">
                      <a16:colId xmlns:a16="http://schemas.microsoft.com/office/drawing/2014/main" val="3760209068"/>
                    </a:ext>
                  </a:extLst>
                </a:gridCol>
                <a:gridCol w="1564679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dirty="0">
                          <a:solidFill>
                            <a:prstClr val="black"/>
                          </a:solidFill>
                          <a:latin typeface="+mn-lt"/>
                        </a:rPr>
                        <a:t>Desarrollo Soluciones Tienda y Comercial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800" b="1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Desarrollo Soluciones </a:t>
                      </a:r>
                      <a:r>
                        <a:rPr lang="es-MX" sz="800" b="1" kern="1200" dirty="0" err="1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CdS</a:t>
                      </a:r>
                      <a:endParaRPr lang="es-MX" sz="800" b="1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kern="1200" noProof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Diseño técnico BO</a:t>
                      </a:r>
                      <a:endParaRPr lang="es-MX" sz="800" b="1" kern="120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800" b="1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Soluciones </a:t>
                      </a:r>
                      <a:r>
                        <a:rPr lang="es-MX" sz="800" b="1" kern="1200" dirty="0" err="1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s-MX" sz="800" b="1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y Digital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800" b="1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Desarrollo Soluciones Staff Ingeniería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Otra área</a:t>
                      </a:r>
                      <a:endParaRPr lang="es-MX" sz="800" b="1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i="1" dirty="0">
                          <a:solidFill>
                            <a:prstClr val="black"/>
                          </a:solidFill>
                          <a:latin typeface="+mn-lt"/>
                        </a:rPr>
                        <a:t>Gerardo Bernal</a:t>
                      </a:r>
                      <a:endParaRPr lang="es-MX" sz="1050" i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i="1" dirty="0">
                          <a:solidFill>
                            <a:prstClr val="black"/>
                          </a:solidFill>
                          <a:latin typeface="+mn-lt"/>
                        </a:rPr>
                        <a:t>Citlaly de la Rosa</a:t>
                      </a:r>
                      <a:endParaRPr lang="es-MX" sz="1050" i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i="1" dirty="0">
                          <a:solidFill>
                            <a:prstClr val="black"/>
                          </a:solidFill>
                          <a:latin typeface="+mn-lt"/>
                        </a:rPr>
                        <a:t>Ulises Silva</a:t>
                      </a:r>
                      <a:endParaRPr lang="es-MX" sz="1050" i="1" dirty="0">
                        <a:solidFill>
                          <a:srgbClr val="C00000"/>
                        </a:solidFill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i="1" dirty="0">
                          <a:solidFill>
                            <a:prstClr val="black"/>
                          </a:solidFill>
                          <a:latin typeface="+mn-lt"/>
                        </a:rPr>
                        <a:t>Edward Fuentes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i="1" dirty="0">
                          <a:solidFill>
                            <a:prstClr val="black"/>
                          </a:solidFill>
                          <a:latin typeface="+mn-lt"/>
                        </a:rPr>
                        <a:t>Carlos Linares</a:t>
                      </a: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5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Construcción de las soluciones tecnológicas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b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Liberación de soluciones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Ejecución de pruebas de soluciones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kumimoji="0" lang="es-MX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Gestión de proveedores (fábricas de software)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kumimoji="0" lang="es-E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Desarrollo de Ciclo de desarrollo de software seguro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kumimoji="0" lang="es-E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kumimoji="0" lang="es-MX" sz="10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167203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Liberación (producción de las soluciones)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lang="es-MX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fontAlgn="b" latinLnBrk="0" hangingPunct="1"/>
                      <a:r>
                        <a:rPr kumimoji="0" lang="es-ES" sz="105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R</a:t>
                      </a:r>
                      <a:endParaRPr kumimoji="0" lang="es-MX" sz="105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5767848" y="2056284"/>
            <a:ext cx="3895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 (Responsable, Consultado, Informados, Soporte)</a:t>
            </a:r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 dirty="0"/>
              <a:t>Entrega de </a:t>
            </a:r>
            <a:r>
              <a:rPr lang="es-ES" sz="1400" i="1"/>
              <a:t>artefactos.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Premisas Desarrollo Soluciones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¿Tu Descripción de Puesto y el funciograma de tu área reflejan con precisión las </a:t>
            </a:r>
            <a:r>
              <a:rPr lang="es-MX" sz="1800" b="1" i="1"/>
              <a:t>actividades y responsabilidades que realmente realizas en el día a día </a:t>
            </a:r>
            <a:r>
              <a:rPr lang="es-MX" sz="1800" i="1"/>
              <a:t>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¿Tienes alguna </a:t>
            </a:r>
            <a:r>
              <a:rPr lang="es-MX" sz="1800" b="1" i="1"/>
              <a:t>duda específica sobre el funcionamiento </a:t>
            </a:r>
            <a:r>
              <a:rPr lang="es-MX" sz="1800" i="1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¿Existe algún </a:t>
            </a:r>
            <a:r>
              <a:rPr lang="es-MX" sz="1800" b="1" i="1"/>
              <a:t>proceso que consideres necesario rediseñar </a:t>
            </a:r>
            <a:r>
              <a:rPr lang="es-MX" sz="1800" i="1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Si recientemente asumiste nuevas responsabilidades, ¿ya </a:t>
            </a:r>
            <a:r>
              <a:rPr lang="es-MX" sz="1800" b="1" i="1"/>
              <a:t>se realizó de manera efectiva la transferencia</a:t>
            </a:r>
            <a:r>
              <a:rPr lang="es-MX" sz="1800" i="1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7ff1139c-9d19-4981-a26c-d6e7dc37fc8a"/>
  </ds:schemaRefs>
</ds:datastoreItem>
</file>

<file path=customXml/itemProps3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2146</Words>
  <Application>Microsoft Office PowerPoint</Application>
  <PresentationFormat>Widescreen</PresentationFormat>
  <Paragraphs>338</Paragraphs>
  <Slides>15</Slides>
  <Notes>8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Tema de Office</vt:lpstr>
      <vt:lpstr>Master</vt:lpstr>
      <vt:lpstr>Fit for Purpose 2026 Tecnología de Información | Desarrollo Soluciones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Desarrollo Soluciones</vt:lpstr>
      <vt:lpstr>Descripción de Puesto | Desarrollo Soluciones</vt:lpstr>
      <vt:lpstr>PowerPoint Presentation</vt:lpstr>
      <vt:lpstr>Interacciones entre áreas y procesos clave Desarrollo Soluciones</vt:lpstr>
      <vt:lpstr>Premisas Desarrollo Soluciones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2</cp:revision>
  <dcterms:created xsi:type="dcterms:W3CDTF">2026-02-23T22:40:37Z</dcterms:created>
  <dcterms:modified xsi:type="dcterms:W3CDTF">2026-03-17T22:20:50Z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