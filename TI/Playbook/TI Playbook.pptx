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629" r:id="rId63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561" r:id="rId7"/>
    <p:sldId id="2147481638" r:id="rId72"/>
    <p:sldId id="2147481639" r:id="rId73"/>
    <p:sldId id="2147481640" r:id="rId74"/>
    <p:sldId id="2147481641" r:id="rId75"/>
    <p:sldId id="2147481642" r:id="rId76"/>
    <p:sldId id="2147481643" r:id="rId77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54.xml"/><Relationship Id="rId8" Type="http://schemas.openxmlformats.org/officeDocument/2006/relationships/slide" Target="slides/slide7.xml"/><Relationship Id="rId9" Type="http://schemas.openxmlformats.org/officeDocument/2006/relationships/slide" Target="slides/slide20.xml"/><Relationship Id="rId10" Type="http://schemas.openxmlformats.org/officeDocument/2006/relationships/slide" Target="slides/slide19.xml"/><Relationship Id="rId11" Type="http://schemas.openxmlformats.org/officeDocument/2006/relationships/slide" Target="slides/slide18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6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55.xml"/><Relationship Id="rId73" Type="http://schemas.openxmlformats.org/officeDocument/2006/relationships/slide" Target="slides/slide56.xml"/><Relationship Id="rId74" Type="http://schemas.openxmlformats.org/officeDocument/2006/relationships/slide" Target="slides/slide57.xml"/><Relationship Id="rId75" Type="http://schemas.openxmlformats.org/officeDocument/2006/relationships/slide" Target="slides/slide58.xml"/><Relationship Id="rId76" Type="http://schemas.openxmlformats.org/officeDocument/2006/relationships/slide" Target="slides/slide59.xml"/><Relationship Id="rId77" Type="http://schemas.openxmlformats.org/officeDocument/2006/relationships/slide" Target="slides/slide6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TI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/>
              <a:t>1. Macroestructura OXXO MX</a:t>
            </a:r>
          </a:p>
          <a:p>
            <a:r>
              <a:rPr sz="2400"/>
              <a:t>2. Mapa Interacciones TI</a:t>
            </a:r>
          </a:p>
          <a:p>
            <a:r>
              <a:rPr sz="2400"/>
              <a:t>3. Estructura Organizacional TI</a:t>
            </a:r>
          </a:p>
          <a:p>
            <a:r>
              <a:rPr sz="2400"/>
              <a:t>4. Matriz RASCI (Metodología)</a:t>
            </a:r>
          </a:p>
          <a:p>
            <a:r>
              <a:rPr sz="2400"/>
              <a:t>5. Detalle de la Matriz RASCI por Responsabilidad</a:t>
            </a:r>
          </a:p>
          <a:p>
            <a:r>
              <a:rPr sz="2400"/>
              <a:t>6. Estructura Organizacional Desarrollo y Soluciones</a:t>
            </a:r>
          </a:p>
          <a:p>
            <a:r>
              <a:rPr sz="2400"/>
              <a:t>7. Estructura Organizacional Planeación de Proyectos</a:t>
            </a:r>
          </a:p>
          <a:p>
            <a:r>
              <a:rPr sz="2400"/>
              <a:t>8. Estructura Organizacional Soluciones Cadena de Suministro</a:t>
            </a:r>
          </a:p>
          <a:p>
            <a:r>
              <a:rPr sz="2400"/>
              <a:t>9. Estructura Organizacional Soluciones Customer y Digital</a:t>
            </a:r>
          </a:p>
          <a:p>
            <a:r>
              <a:rPr sz="2400"/>
              <a:t>10. Estructura Organizacional Soluciones Backoffice</a:t>
            </a:r>
          </a:p>
          <a:p>
            <a:r>
              <a:rPr sz="2400"/>
              <a:t>11. Estructura Organizacional Soluciones Tienda y Comercial</a:t>
            </a:r>
          </a:p>
          <a:p>
            <a:r>
              <a:rPr sz="2400"/>
              <a:t>12.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/>
              <a:t>Propósito TI</a:t>
            </a:r>
          </a:p>
          <a:p/>
          <a:p>
            <a:r>
              <a:rPr b="0"/>
              <a:t>Habilitar el crecimiento y la eficiencia del negocio a través de soluciones tecnológicas robustas, escalables y seguras, que soporten las operaciones de tiendas, cadena de suministro y plataformas digitales de OXXO México, garantizando la continuidad operativa, la gobernanza de datos y la innovación tecnológica continua.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TI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sz="1600" i="1">
                <a:solidFill>
                  <a:srgbClr val="808080"/>
                </a:solidFill>
              </a:rPr>
              <a:t>Falta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1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TI</a:t>
            </a:r>
          </a:p>
        </p:txBody>
      </p:sp>
      <p:sp>
        <p:nvSpPr>
          <p:cNvPr id="102" name="L1Box"/>
          <p:cNvSpPr txBox="1"/>
          <p:nvPr/>
        </p:nvSpPr>
        <p:spPr>
          <a:xfrm>
            <a:off x="4396000" y="1900000"/>
            <a:ext cx="3400000" cy="50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Director TI</a:t>
            </a:r>
          </a:p>
          <a:p>
            <a:pPr algn="ctr">
              <a:spcBef>
                <a:spcPts val="200"/>
              </a:spcBef>
            </a:pPr>
            <a:r>
              <a:rPr sz="1100" b="1" i="0">
                <a:solidFill>
                  <a:srgbClr val="FFFFFF"/>
                </a:solidFill>
              </a:rPr>
              <a:t>OXXO Mx</a:t>
            </a:r>
          </a:p>
        </p:txBody>
      </p:sp>
      <p:sp>
        <p:nvSpPr>
          <p:cNvPr id="103" name="Line1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4" name="Line104"/>
          <p:cNvSpPr txBox="1"/>
          <p:nvPr/>
        </p:nvSpPr>
        <p:spPr>
          <a:xfrm>
            <a:off x="1013387" y="2793650"/>
            <a:ext cx="10165225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5" name="Line105"/>
          <p:cNvSpPr txBox="1"/>
          <p:nvPr/>
        </p:nvSpPr>
        <p:spPr>
          <a:xfrm>
            <a:off x="1007037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6" name="Line106"/>
          <p:cNvSpPr txBox="1"/>
          <p:nvPr/>
        </p:nvSpPr>
        <p:spPr>
          <a:xfrm>
            <a:off x="245921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7" name="Line107"/>
          <p:cNvSpPr txBox="1"/>
          <p:nvPr/>
        </p:nvSpPr>
        <p:spPr>
          <a:xfrm>
            <a:off x="3911387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8" name="Line108"/>
          <p:cNvSpPr txBox="1"/>
          <p:nvPr/>
        </p:nvSpPr>
        <p:spPr>
          <a:xfrm>
            <a:off x="536356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9" name="Line109"/>
          <p:cNvSpPr txBox="1"/>
          <p:nvPr/>
        </p:nvSpPr>
        <p:spPr>
          <a:xfrm>
            <a:off x="6815737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0" name="Line110"/>
          <p:cNvSpPr txBox="1"/>
          <p:nvPr/>
        </p:nvSpPr>
        <p:spPr>
          <a:xfrm>
            <a:off x="826791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1" name="Line111"/>
          <p:cNvSpPr txBox="1"/>
          <p:nvPr/>
        </p:nvSpPr>
        <p:spPr>
          <a:xfrm>
            <a:off x="9720087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2" name="Line112"/>
          <p:cNvSpPr txBox="1"/>
          <p:nvPr/>
        </p:nvSpPr>
        <p:spPr>
          <a:xfrm>
            <a:off x="1117226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3" name="L2_0"/>
          <p:cNvSpPr txBox="1"/>
          <p:nvPr/>
        </p:nvSpPr>
        <p:spPr>
          <a:xfrm>
            <a:off x="304800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Tienda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y Comercial</a:t>
            </a:r>
          </a:p>
        </p:txBody>
      </p:sp>
      <p:sp>
        <p:nvSpPr>
          <p:cNvPr id="114" name="L2Desc_0"/>
          <p:cNvSpPr txBox="1"/>
          <p:nvPr/>
        </p:nvSpPr>
        <p:spPr>
          <a:xfrm>
            <a:off x="304800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Soluciones digitales para tiendas e iniciativas comerciales.</a:t>
            </a:r>
          </a:p>
        </p:txBody>
      </p:sp>
      <p:sp>
        <p:nvSpPr>
          <p:cNvPr id="115" name="L2_1"/>
          <p:cNvSpPr txBox="1"/>
          <p:nvPr/>
        </p:nvSpPr>
        <p:spPr>
          <a:xfrm>
            <a:off x="1756975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Solucs. CdS</a:t>
            </a:r>
          </a:p>
        </p:txBody>
      </p:sp>
      <p:sp>
        <p:nvSpPr>
          <p:cNvPr id="116" name="L2Desc_1"/>
          <p:cNvSpPr txBox="1"/>
          <p:nvPr/>
        </p:nvSpPr>
        <p:spPr>
          <a:xfrm>
            <a:off x="1756975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Soluciones para Abasto, CEDIS y Distribución end-to-end.</a:t>
            </a:r>
          </a:p>
        </p:txBody>
      </p:sp>
      <p:sp>
        <p:nvSpPr>
          <p:cNvPr id="117" name="L2_2"/>
          <p:cNvSpPr txBox="1"/>
          <p:nvPr/>
        </p:nvSpPr>
        <p:spPr>
          <a:xfrm>
            <a:off x="3209150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Customer y Digital</a:t>
            </a:r>
          </a:p>
        </p:txBody>
      </p:sp>
      <p:sp>
        <p:nvSpPr>
          <p:cNvPr id="118" name="L2Desc_2"/>
          <p:cNvSpPr txBox="1"/>
          <p:nvPr/>
        </p:nvSpPr>
        <p:spPr>
          <a:xfrm>
            <a:off x="3209150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Estrategias digitales de relación cliente-marca.</a:t>
            </a:r>
          </a:p>
        </p:txBody>
      </p:sp>
      <p:sp>
        <p:nvSpPr>
          <p:cNvPr id="119" name="L2_3"/>
          <p:cNvSpPr txBox="1"/>
          <p:nvPr/>
        </p:nvSpPr>
        <p:spPr>
          <a:xfrm>
            <a:off x="4661325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Back Office</a:t>
            </a:r>
          </a:p>
        </p:txBody>
      </p:sp>
      <p:sp>
        <p:nvSpPr>
          <p:cNvPr id="120" name="L2Desc_3"/>
          <p:cNvSpPr txBox="1"/>
          <p:nvPr/>
        </p:nvSpPr>
        <p:spPr>
          <a:xfrm>
            <a:off x="4661325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Soluciones de soporte administrativo e infraestructura.</a:t>
            </a:r>
          </a:p>
        </p:txBody>
      </p:sp>
      <p:sp>
        <p:nvSpPr>
          <p:cNvPr id="121" name="L2_4"/>
          <p:cNvSpPr txBox="1"/>
          <p:nvPr/>
        </p:nvSpPr>
        <p:spPr>
          <a:xfrm>
            <a:off x="6113500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Arquitectura</a:t>
            </a:r>
          </a:p>
        </p:txBody>
      </p:sp>
      <p:sp>
        <p:nvSpPr>
          <p:cNvPr id="122" name="L2Desc_4"/>
          <p:cNvSpPr txBox="1"/>
          <p:nvPr/>
        </p:nvSpPr>
        <p:spPr>
          <a:xfrm>
            <a:off x="6113500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Arquitectura empresarial, estándares y gobernanza técnica.</a:t>
            </a:r>
          </a:p>
        </p:txBody>
      </p:sp>
      <p:sp>
        <p:nvSpPr>
          <p:cNvPr id="123" name="L2_5"/>
          <p:cNvSpPr txBox="1"/>
          <p:nvPr/>
        </p:nvSpPr>
        <p:spPr>
          <a:xfrm>
            <a:off x="7565675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Planeación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Proyectos</a:t>
            </a:r>
          </a:p>
        </p:txBody>
      </p:sp>
      <p:sp>
        <p:nvSpPr>
          <p:cNvPr id="124" name="L2Desc_5"/>
          <p:cNvSpPr txBox="1"/>
          <p:nvPr/>
        </p:nvSpPr>
        <p:spPr>
          <a:xfrm>
            <a:off x="7565675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Gestión de portafolio, PMO y metodologías de proyectos.</a:t>
            </a:r>
          </a:p>
        </p:txBody>
      </p:sp>
      <p:sp>
        <p:nvSpPr>
          <p:cNvPr id="125" name="L2_6"/>
          <p:cNvSpPr txBox="1"/>
          <p:nvPr/>
        </p:nvSpPr>
        <p:spPr>
          <a:xfrm>
            <a:off x="9017850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Desarrollo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Soluciones</a:t>
            </a:r>
          </a:p>
        </p:txBody>
      </p:sp>
      <p:sp>
        <p:nvSpPr>
          <p:cNvPr id="126" name="L2Desc_6"/>
          <p:cNvSpPr txBox="1"/>
          <p:nvPr/>
        </p:nvSpPr>
        <p:spPr>
          <a:xfrm>
            <a:off x="9017850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Construcción E2E, DevOps y calidad del software.</a:t>
            </a:r>
          </a:p>
        </p:txBody>
      </p:sp>
      <p:sp>
        <p:nvSpPr>
          <p:cNvPr id="127" name="L2_7"/>
          <p:cNvSpPr txBox="1"/>
          <p:nvPr/>
        </p:nvSpPr>
        <p:spPr>
          <a:xfrm>
            <a:off x="10470025" y="2900000"/>
            <a:ext cx="1417175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Ciberseguridad</a:t>
            </a:r>
          </a:p>
        </p:txBody>
      </p:sp>
      <p:sp>
        <p:nvSpPr>
          <p:cNvPr id="128" name="L2Desc_7"/>
          <p:cNvSpPr txBox="1"/>
          <p:nvPr/>
        </p:nvSpPr>
        <p:spPr>
          <a:xfrm>
            <a:off x="10470025" y="3510000"/>
            <a:ext cx="1417175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Protección de activos digitales y cumplimiento de seguridad.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Liderar estrategia tecnológica y medir valor entregado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Lidera la estrategia tecnológica alineando prioridades con las necesidades del negocio y midiendo el valor entregado.</a:t>
            </a:r>
          </a:p>
        </p:txBody>
      </p:sp>
      <p:sp>
        <p:nvSpPr>
          <p:cNvPr id="5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5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5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5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5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6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6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6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6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6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rinde cuentas y ejecuta la visión de alto nivel (A/R). Los Gtes. de Soluciones son consultados (C) para asegurar que la estrategia sirva al negocio.</a:t>
            </a:r>
          </a:p>
        </p:txBody>
      </p:sp>
      <p:sp>
        <p:nvSpPr>
          <p:cNvPr id="7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Ejecuta y rinde cuentas del resultado final.</a:t>
            </a:r>
          </a:p>
        </p:txBody>
      </p:sp>
      <p:sp>
        <p:nvSpPr>
          <p:cNvPr id="73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4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Aporta perspectiva experta como consultor.</a:t>
            </a:r>
          </a:p>
        </p:txBody>
      </p:sp>
      <p:sp>
        <p:nvSpPr>
          <p:cNvPr id="75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6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Aporta perspectiva experta como consultor.</a:t>
            </a:r>
          </a:p>
        </p:txBody>
      </p:sp>
      <p:sp>
        <p:nvSpPr>
          <p:cNvPr id="77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8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Aporta perspectiva experta como consultor.</a:t>
            </a:r>
          </a:p>
        </p:txBody>
      </p:sp>
      <p:sp>
        <p:nvSpPr>
          <p:cNvPr id="79" name="RBadge_5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0" name="RDesc_5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81" name="RBadge_6"/>
          <p:cNvSpPr txBox="1"/>
          <p:nvPr/>
        </p:nvSpPr>
        <p:spPr>
          <a:xfrm>
            <a:off x="365760" y="49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2" name="RDesc_6"/>
          <p:cNvSpPr txBox="1"/>
          <p:nvPr/>
        </p:nvSpPr>
        <p:spPr>
          <a:xfrm>
            <a:off x="1040760" y="49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Definir arquitectura, políticas y gobernanza ERP/POS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Define la arquitectura empresarial, políticas de integración y gobernanza de plataformas críticas (ERP, POS, WMS).</a:t>
            </a:r>
          </a:p>
        </p:txBody>
      </p:sp>
      <p:sp>
        <p:nvSpPr>
          <p:cNvPr id="8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8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8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8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8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8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9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9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9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9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9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Arquitectura es el autor de las reglas técnicas (R). El Director aprueba (A) y Desarrollo apoya (S) en la viabilidad técnica.</a:t>
            </a:r>
          </a:p>
        </p:txBody>
      </p:sp>
      <p:sp>
        <p:nvSpPr>
          <p:cNvPr id="10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Aprueba y supervisa el resultado final.</a:t>
            </a:r>
          </a:p>
        </p:txBody>
      </p:sp>
      <p:sp>
        <p:nvSpPr>
          <p:cNvPr id="10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0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Ejecuta y lidera esta responsabilidad.</a:t>
            </a:r>
          </a:p>
        </p:txBody>
      </p:sp>
      <p:sp>
        <p:nvSpPr>
          <p:cNvPr id="105" name="RBadge_7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6" name="RDesc_7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Brinda apoyo y soporte activo.</a:t>
            </a:r>
          </a:p>
        </p:txBody>
      </p:sp>
      <p:sp>
        <p:nvSpPr>
          <p:cNvPr id="107" name="RBadge_8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8" name="RDesc_8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Ciberseguridad: Brinda apoyo y soporte activo.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Asegurar diseño de sistemas robustos y escalables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Asegura el diseño y construcción de sistemas robustos, escalables y con alta disponibilidad.</a:t>
            </a:r>
          </a:p>
        </p:txBody>
      </p:sp>
      <p:sp>
        <p:nvSpPr>
          <p:cNvPr id="11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1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1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1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1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1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2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2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2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2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2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2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Desarrollo es el responsable de que el código funcione bien (R). Arquitectura y los Gtes. de Soluciones apoyan (S) en el diseño funcional.</a:t>
            </a:r>
          </a:p>
        </p:txBody>
      </p:sp>
      <p:sp>
        <p:nvSpPr>
          <p:cNvPr id="13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3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Aprueba y supervisa el resultado final.</a:t>
            </a:r>
          </a:p>
        </p:txBody>
      </p:sp>
      <p:sp>
        <p:nvSpPr>
          <p:cNvPr id="133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4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135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6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137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8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Brinda apoyo y soporte activo.</a:t>
            </a:r>
          </a:p>
        </p:txBody>
      </p:sp>
      <p:sp>
        <p:nvSpPr>
          <p:cNvPr id="139" name="RBadge_4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40" name="RDesc_4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Brinda apoyo y soporte activo.</a:t>
            </a:r>
          </a:p>
        </p:txBody>
      </p:sp>
      <p:sp>
        <p:nvSpPr>
          <p:cNvPr id="141" name="RBadge_5"/>
          <p:cNvSpPr txBox="1"/>
          <p:nvPr/>
        </p:nvSpPr>
        <p:spPr>
          <a:xfrm>
            <a:off x="365760" y="49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42" name="RDesc_5"/>
          <p:cNvSpPr txBox="1"/>
          <p:nvPr/>
        </p:nvSpPr>
        <p:spPr>
          <a:xfrm>
            <a:off x="1040760" y="49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143" name="RBadge_7"/>
          <p:cNvSpPr txBox="1"/>
          <p:nvPr/>
        </p:nvSpPr>
        <p:spPr>
          <a:xfrm>
            <a:off x="365760" y="53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44" name="RDesc_7"/>
          <p:cNvSpPr txBox="1"/>
          <p:nvPr/>
        </p:nvSpPr>
        <p:spPr>
          <a:xfrm>
            <a:off x="1040760" y="53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lidera esta responsabilidad.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Garantizar protección de datos y cumplimiento regulatorio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Garantiza la protección de datos y el cumplimiento regulatorio en conjunto con TI Corporativo.</a:t>
            </a:r>
          </a:p>
        </p:txBody>
      </p:sp>
      <p:sp>
        <p:nvSpPr>
          <p:cNvPr id="14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4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4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4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4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4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4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4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5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5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5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5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5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6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Ciberseguridad es el ejecutor de las salvaguardas (R). El Director rinde cuentas (A) y Arquitectura es consultada (C) para el diseño seguro.</a:t>
            </a:r>
          </a:p>
        </p:txBody>
      </p:sp>
      <p:sp>
        <p:nvSpPr>
          <p:cNvPr id="16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6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Aprueba y supervisa el resultado final.</a:t>
            </a:r>
          </a:p>
        </p:txBody>
      </p:sp>
      <p:sp>
        <p:nvSpPr>
          <p:cNvPr id="16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6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Aporta perspectiva experta como consultor.</a:t>
            </a:r>
          </a:p>
        </p:txBody>
      </p:sp>
      <p:sp>
        <p:nvSpPr>
          <p:cNvPr id="165" name="RBadge_8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66" name="RDesc_8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Ciberseguridad: Ejecuta y lidera esta responsabilidad.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Promover analítica, omnicanalidad y gob. de datos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Promueve capacidades de analítica, omnicanalidad y fomenta una cultura de gobernanza de datos.</a:t>
            </a:r>
          </a:p>
        </p:txBody>
      </p:sp>
      <p:sp>
        <p:nvSpPr>
          <p:cNvPr id="17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7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7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7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7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8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8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8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8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8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8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8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8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8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8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lidera la iniciativa cultural y estratégica (A/R). Arquitectura consulta (C) y los Gtes. de Soluciones apoyan (S) con los casos de uso.</a:t>
            </a:r>
          </a:p>
        </p:txBody>
      </p:sp>
      <p:sp>
        <p:nvSpPr>
          <p:cNvPr id="19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Ejecuta y rinde cuentas del resultado final.</a:t>
            </a:r>
          </a:p>
        </p:txBody>
      </p:sp>
      <p:sp>
        <p:nvSpPr>
          <p:cNvPr id="193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4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195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6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197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8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Brinda apoyo y soporte activo.</a:t>
            </a:r>
          </a:p>
        </p:txBody>
      </p:sp>
      <p:sp>
        <p:nvSpPr>
          <p:cNvPr id="199" name="RBadge_5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00" name="RDesc_5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Aporta perspectiva experta como consultor.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2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Administrar CAPEX/OPEX y contratos con proveedores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el presupuesto (CAPEX/OPEX) y negocia contratos estratégicos con proveedores tecnológicos.</a:t>
            </a:r>
          </a:p>
        </p:txBody>
      </p:sp>
      <p:sp>
        <p:nvSpPr>
          <p:cNvPr id="20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20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0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20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0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20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0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20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21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21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21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21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21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2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gestiona el presupuesto (A/R). Planeación de Proyectos apoya (S) con el control de los gastos por iniciativa.</a:t>
            </a:r>
          </a:p>
        </p:txBody>
      </p:sp>
      <p:sp>
        <p:nvSpPr>
          <p:cNvPr id="22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2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Ejecuta y rinde cuentas del resultado final.</a:t>
            </a:r>
          </a:p>
        </p:txBody>
      </p:sp>
      <p:sp>
        <p:nvSpPr>
          <p:cNvPr id="223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24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225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26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227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28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Brinda apoyo y soporte activo.</a:t>
            </a:r>
          </a:p>
        </p:txBody>
      </p:sp>
      <p:sp>
        <p:nvSpPr>
          <p:cNvPr id="229" name="RBadge_4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30" name="RDesc_4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Brinda apoyo y soporte activo.</a:t>
            </a:r>
          </a:p>
        </p:txBody>
      </p:sp>
      <p:sp>
        <p:nvSpPr>
          <p:cNvPr id="231" name="RBadge_6"/>
          <p:cNvSpPr txBox="1"/>
          <p:nvPr/>
        </p:nvSpPr>
        <p:spPr>
          <a:xfrm>
            <a:off x="365760" y="49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2" name="RDesc_6"/>
          <p:cNvSpPr txBox="1"/>
          <p:nvPr/>
        </p:nvSpPr>
        <p:spPr>
          <a:xfrm>
            <a:off x="1040760" y="49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Aporta perspectiva experta como consultor.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2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Roadmap de soluciones digitales para tienda y comercial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Establece el roadmap de soluciones digitales para los procesos de tienda e iniciativas comerciales.</a:t>
            </a:r>
          </a:p>
        </p:txBody>
      </p:sp>
      <p:sp>
        <p:nvSpPr>
          <p:cNvPr id="23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23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3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23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3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23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3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23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4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24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4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24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4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24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4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24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24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5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Tienda/Comercial define el futuro de su vertical (A/R). Arquitectura y Planeación apoyan (S) para que sea posible ejecutarlo.</a:t>
            </a:r>
          </a:p>
        </p:txBody>
      </p:sp>
      <p:sp>
        <p:nvSpPr>
          <p:cNvPr id="25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5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Ejecuta y rinde cuentas del resultado final.</a:t>
            </a:r>
          </a:p>
        </p:txBody>
      </p:sp>
      <p:sp>
        <p:nvSpPr>
          <p:cNvPr id="25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5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255" name="RBadge_6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56" name="RDesc_6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  <p:sp>
        <p:nvSpPr>
          <p:cNvPr id="257" name="RBadge_7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58" name="RDesc_7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Aporta perspectiva experta como consultor.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2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Criterios de valor/costo para priorización de backlog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Establece criterios de valor, costo y riesgo para maximizar el impacto de las iniciativas comerciales.</a:t>
            </a:r>
          </a:p>
        </p:txBody>
      </p:sp>
      <p:sp>
        <p:nvSpPr>
          <p:cNvPr id="26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26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6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26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6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26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6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26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27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27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27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7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27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27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8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Tienda/Comercial decide qué va primero según el negocio (A/R). Planeación apoya (S) calculando los recursos necesarios.</a:t>
            </a:r>
          </a:p>
        </p:txBody>
      </p:sp>
      <p:sp>
        <p:nvSpPr>
          <p:cNvPr id="28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8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Aporta perspectiva experta como consultor.</a:t>
            </a:r>
          </a:p>
        </p:txBody>
      </p:sp>
      <p:sp>
        <p:nvSpPr>
          <p:cNvPr id="283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84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Ejecuta y rinde cuentas del resultado final.</a:t>
            </a:r>
          </a:p>
        </p:txBody>
      </p:sp>
      <p:sp>
        <p:nvSpPr>
          <p:cNvPr id="285" name="RBadge_6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86" name="RDesc_6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2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Analizar puntos de fricción en operación de tienda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Analiza puntos de fricción en la operación de tienda para proponer soluciones que agilicen la labor del colaborador.</a:t>
            </a:r>
          </a:p>
        </p:txBody>
      </p:sp>
      <p:sp>
        <p:nvSpPr>
          <p:cNvPr id="29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29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9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29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9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29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9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29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30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30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30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30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0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30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1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Tienda/Comercial identifica los problemas del usuario (A/R). Desarrollo apoya (S) proponiendo cómo arreglarlos con software.</a:t>
            </a:r>
          </a:p>
        </p:txBody>
      </p:sp>
      <p:sp>
        <p:nvSpPr>
          <p:cNvPr id="31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1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Ejecuta y rinde cuentas del resultado final.</a:t>
            </a:r>
          </a:p>
        </p:txBody>
      </p:sp>
      <p:sp>
        <p:nvSpPr>
          <p:cNvPr id="313" name="RBadge_7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14" name="RDesc_7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Brinda apoyo y soporte activo.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3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Garantizar estabilidad y time-to-market ágil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Garantiza que las soluciones propuestas sean estables, seguras y tengan un tiempo de entrega ágil.</a:t>
            </a:r>
          </a:p>
        </p:txBody>
      </p:sp>
      <p:sp>
        <p:nvSpPr>
          <p:cNvPr id="32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32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2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32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2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32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2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32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3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33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3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33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3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33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3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33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3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33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4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Tienda/Comercial rinde cuentas del éxito (A), pero Desarrollo es quien ejecuta la entrega rápida (R).</a:t>
            </a:r>
          </a:p>
        </p:txBody>
      </p:sp>
      <p:sp>
        <p:nvSpPr>
          <p:cNvPr id="34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4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Ejecuta y rinde cuentas del resultado final.</a:t>
            </a:r>
          </a:p>
        </p:txBody>
      </p:sp>
      <p:sp>
        <p:nvSpPr>
          <p:cNvPr id="34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4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345" name="RBadge_6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46" name="RDesc_6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  <p:sp>
        <p:nvSpPr>
          <p:cNvPr id="347" name="RBadge_7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48" name="RDesc_7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lidera esta responsabilidad.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3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Lineamientos para replicabilidad en red de tiendas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Desarrolla lineamientos para que las soluciones exitosas puedan replicarse en toda la red de tiendas.</a:t>
            </a:r>
          </a:p>
        </p:txBody>
      </p:sp>
      <p:sp>
        <p:nvSpPr>
          <p:cNvPr id="35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35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5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35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5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35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5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35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36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36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6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36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36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36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7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Tienda/Comercial asegura que lo que funcione en una, funcione en todas (A/R). Arquitectura valida (C) el estándar.</a:t>
            </a:r>
          </a:p>
        </p:txBody>
      </p:sp>
      <p:sp>
        <p:nvSpPr>
          <p:cNvPr id="37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7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Ejecuta y rinde cuentas del resultado final.</a:t>
            </a:r>
          </a:p>
        </p:txBody>
      </p:sp>
      <p:sp>
        <p:nvSpPr>
          <p:cNvPr id="37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7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Aporta perspectiva experta como consultor.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3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Roadmap de soluciones Abasto, CEDIS y Distribución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Define el roadmap de soluciones para Abasto, CEDIS y Distribución (end-to-end).</a:t>
            </a:r>
          </a:p>
        </p:txBody>
      </p:sp>
      <p:sp>
        <p:nvSpPr>
          <p:cNvPr id="38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38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8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38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8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38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8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38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9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39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9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39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9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39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9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39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9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39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0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CdS es el dueño de la estrategia logística-tecnológica (A/R). Desarrollo es consultado (C) para estimar tiempos.</a:t>
            </a:r>
          </a:p>
        </p:txBody>
      </p:sp>
      <p:sp>
        <p:nvSpPr>
          <p:cNvPr id="401" name="RBadge_2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402" name="RDesc_2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Ejecuta y rinde cuentas del resultado final.</a:t>
            </a:r>
          </a:p>
        </p:txBody>
      </p:sp>
      <p:sp>
        <p:nvSpPr>
          <p:cNvPr id="40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0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405" name="RBadge_6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06" name="RDesc_6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  <p:sp>
        <p:nvSpPr>
          <p:cNvPr id="407" name="RBadge_7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08" name="RDesc_7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Aporta perspectiva experta como consultor.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4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Identificar tecnologías para eficiencia en CdS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Identifica oportunidades tecnológicas que impacten directamente en la eficiencia de la cadena de suministro.</a:t>
            </a:r>
          </a:p>
        </p:txBody>
      </p:sp>
      <p:sp>
        <p:nvSpPr>
          <p:cNvPr id="41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41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1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41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1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41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41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41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2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42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2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42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2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42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2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42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2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42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3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CdS busca cómo mejorar la operación (A/R). Arquitectura y Desarrollo apoyan (S) evaluando la tecnología.</a:t>
            </a:r>
          </a:p>
        </p:txBody>
      </p:sp>
      <p:sp>
        <p:nvSpPr>
          <p:cNvPr id="431" name="RBadge_2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432" name="RDesc_2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Ejecuta y rinde cuentas del resultado final.</a:t>
            </a:r>
          </a:p>
        </p:txBody>
      </p:sp>
      <p:sp>
        <p:nvSpPr>
          <p:cNvPr id="43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3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435" name="RBadge_7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36" name="RDesc_7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Brinda apoyo y soporte activo.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4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Seguimiento a inversión y ROI en soluciones de CdS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Brinda seguimiento periódico a la inversión en soluciones de CdS para asegurar el retorno de inversión.</a:t>
            </a:r>
          </a:p>
        </p:txBody>
      </p:sp>
      <p:sp>
        <p:nvSpPr>
          <p:cNvPr id="44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44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44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44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4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44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4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44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45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45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45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5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45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45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6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CdS vigila que el dinero rinda (R) bajo la supervisión del Director (A). Planeación apoya (S) con el tracking.</a:t>
            </a:r>
          </a:p>
        </p:txBody>
      </p:sp>
      <p:sp>
        <p:nvSpPr>
          <p:cNvPr id="46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46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Aprueba y supervisa el resultado final.</a:t>
            </a:r>
          </a:p>
        </p:txBody>
      </p:sp>
      <p:sp>
        <p:nvSpPr>
          <p:cNvPr id="46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6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Ejecuta y lidera esta responsabilidad.</a:t>
            </a:r>
          </a:p>
        </p:txBody>
      </p:sp>
      <p:sp>
        <p:nvSpPr>
          <p:cNvPr id="465" name="RBadge_6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66" name="RDesc_6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4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Negociar SLAs competitivos con socios logísticos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Negocia acuerdos y asegura niveles de servicio competitivos con socios tecnológicos logísticos.</a:t>
            </a:r>
          </a:p>
        </p:txBody>
      </p:sp>
      <p:sp>
        <p:nvSpPr>
          <p:cNvPr id="47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47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7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47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7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47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47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47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48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48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48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48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48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9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CdS negocia con los proveedores técnicos de la cadena (A/R). El Director es consultado (C) en contratos grandes.</a:t>
            </a:r>
          </a:p>
        </p:txBody>
      </p:sp>
      <p:sp>
        <p:nvSpPr>
          <p:cNvPr id="49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9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Aporta perspectiva experta como consultor.</a:t>
            </a:r>
          </a:p>
        </p:txBody>
      </p:sp>
      <p:sp>
        <p:nvSpPr>
          <p:cNvPr id="49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49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Ejecuta y rinde cuentas del resultado final.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Evaluar herramientas de industria para ventaja en logística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Evalúa herramientas y metodologías de industria para mantener una ventaja competitiva en logística.</a:t>
            </a:r>
          </a:p>
        </p:txBody>
      </p:sp>
      <p:sp>
        <p:nvSpPr>
          <p:cNvPr id="50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50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0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50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0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50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0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50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51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51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1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51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51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51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2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CdS es el experto en el mercado logístico (A/R). Arquitectura consulta (C) para asegurar compatibilidad.</a:t>
            </a:r>
          </a:p>
        </p:txBody>
      </p:sp>
      <p:sp>
        <p:nvSpPr>
          <p:cNvPr id="521" name="RBadge_2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22" name="RDesc_2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Ejecuta y rinde cuentas del resultado final.</a:t>
            </a:r>
          </a:p>
        </p:txBody>
      </p:sp>
      <p:sp>
        <p:nvSpPr>
          <p:cNvPr id="52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2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Aporta perspectiva experta como consultor.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Estrategias cliente-marca mediante habilitadores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Define estrategias para mejorar la relación cliente-marca mediante habilitadores digitales.</a:t>
            </a:r>
          </a:p>
        </p:txBody>
      </p:sp>
      <p:sp>
        <p:nvSpPr>
          <p:cNvPr id="53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53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3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53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3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53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3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53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4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54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4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54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4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54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4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54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4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54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5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Customer/Digital lidera la visión del cliente final (A/R). Desarrollo es consultado (C) para ver si la app o portal es posible.</a:t>
            </a:r>
          </a:p>
        </p:txBody>
      </p:sp>
      <p:sp>
        <p:nvSpPr>
          <p:cNvPr id="551" name="RBadge_3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52" name="RDesc_3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Ejecuta y rinde cuentas del resultado final.</a:t>
            </a:r>
          </a:p>
        </p:txBody>
      </p:sp>
      <p:sp>
        <p:nvSpPr>
          <p:cNvPr id="55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5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555" name="RBadge_6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56" name="RDesc_6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  <p:sp>
        <p:nvSpPr>
          <p:cNvPr id="557" name="RBadge_7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58" name="RDesc_7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Aporta perspectiva experta como consultor.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Estrategias de calidad de software y estabilidad apps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Crea estrategias de desarrollo y calidad que optimicen el uso de recursos y la estabilidad de las apps.</a:t>
            </a:r>
          </a:p>
        </p:txBody>
      </p:sp>
      <p:sp>
        <p:nvSpPr>
          <p:cNvPr id="56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56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6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56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56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56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7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57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7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57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7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57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7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57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7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57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8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Customer/Digital responde por la app (A), pero Desarrollo ejecuta las pruebas y calidad (R).</a:t>
            </a:r>
          </a:p>
        </p:txBody>
      </p:sp>
      <p:sp>
        <p:nvSpPr>
          <p:cNvPr id="58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8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58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8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585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86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Ejecuta y rinde cuentas del resultado final.</a:t>
            </a:r>
          </a:p>
        </p:txBody>
      </p:sp>
      <p:sp>
        <p:nvSpPr>
          <p:cNvPr id="587" name="RBadge_7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88" name="RDesc_7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lidera esta responsabilidad.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5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Revisar tendencias para evitar obsolescencia digital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Revisa tendencias de industria para evitar la obsolescencia y habilitar nuevas oportunidades de negocio.</a:t>
            </a:r>
          </a:p>
        </p:txBody>
      </p:sp>
      <p:sp>
        <p:nvSpPr>
          <p:cNvPr id="59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59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59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59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59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0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60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0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60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0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60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0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60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0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60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1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Customer/Digital vigila que la tecnología no sea vieja (A/R). Arquitectura apoya (C) con el radar tecnológico.</a:t>
            </a:r>
          </a:p>
        </p:txBody>
      </p:sp>
      <p:sp>
        <p:nvSpPr>
          <p:cNvPr id="611" name="RBadge_3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12" name="RDesc_3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Ejecuta y rinde cuentas del resultado final.</a:t>
            </a:r>
          </a:p>
        </p:txBody>
      </p:sp>
      <p:sp>
        <p:nvSpPr>
          <p:cNvPr id="61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1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Aporta perspectiva experta como consultor.</a:t>
            </a:r>
          </a:p>
        </p:txBody>
      </p:sp>
      <p:sp>
        <p:nvSpPr>
          <p:cNvPr id="615" name="RBadge_7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16" name="RDesc_7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Brinda apoyo y soporte activo.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6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Anticipar impactos y riesgos en soluciones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Analiza y anticipa posibles impactos en soluciones digitales para facilitar la toma de decisiones.</a:t>
            </a:r>
          </a:p>
        </p:txBody>
      </p:sp>
      <p:sp>
        <p:nvSpPr>
          <p:cNvPr id="62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62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62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62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62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3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63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3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63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3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63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3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63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3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63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4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Customer/Digital identifica riesgos de usuario (A/R). Ciberseguridad apoya (S) evaluando riesgos de hackeo.</a:t>
            </a:r>
          </a:p>
        </p:txBody>
      </p:sp>
      <p:sp>
        <p:nvSpPr>
          <p:cNvPr id="641" name="RBadge_3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42" name="RDesc_3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Ejecuta y rinde cuentas del resultado final.</a:t>
            </a:r>
          </a:p>
        </p:txBody>
      </p:sp>
      <p:sp>
        <p:nvSpPr>
          <p:cNvPr id="643" name="RBadge_6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44" name="RDesc_6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  <p:sp>
        <p:nvSpPr>
          <p:cNvPr id="645" name="RBadge_8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46" name="RDesc_8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Ciberseguridad: Brinda apoyo y soporte activo.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6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Diseño de automatización para plataformas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Diseña soluciones que simplifiquen procesos y reduzcan tiempos de ejecución en plataformas digitales.</a:t>
            </a:r>
          </a:p>
        </p:txBody>
      </p:sp>
      <p:sp>
        <p:nvSpPr>
          <p:cNvPr id="65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65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65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65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65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6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66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6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66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6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66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6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66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6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66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7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Customer/Digital rinde cuentas (A), pero Desarrollo construye la automatización (R).</a:t>
            </a:r>
          </a:p>
        </p:txBody>
      </p:sp>
      <p:sp>
        <p:nvSpPr>
          <p:cNvPr id="671" name="RBadge_3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72" name="RDesc_3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Ejecuta y rinde cuentas del resultado final.</a:t>
            </a:r>
          </a:p>
        </p:txBody>
      </p:sp>
      <p:sp>
        <p:nvSpPr>
          <p:cNvPr id="67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7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675" name="RBadge_7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76" name="RDesc_7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lidera esta responsabilidad.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6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Soluciones para áreas soporte alineadas a objetivos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Define soluciones para áreas de soporte administrativo alineadas a los objetivos de la empresa.</a:t>
            </a:r>
          </a:p>
        </p:txBody>
      </p:sp>
      <p:sp>
        <p:nvSpPr>
          <p:cNvPr id="68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68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68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68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68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9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69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9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69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9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69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9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69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9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69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0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Back Office define qué necesitan RH, Finanzas, etc. (A/R). Desarrollo consulta (C) el alcance.</a:t>
            </a:r>
          </a:p>
        </p:txBody>
      </p:sp>
      <p:sp>
        <p:nvSpPr>
          <p:cNvPr id="701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02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Ejecuta y rinde cuentas del resultado final.</a:t>
            </a:r>
          </a:p>
        </p:txBody>
      </p:sp>
      <p:sp>
        <p:nvSpPr>
          <p:cNvPr id="70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0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705" name="RBadge_6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06" name="RDesc_6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  <p:sp>
        <p:nvSpPr>
          <p:cNvPr id="707" name="RBadge_7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08" name="RDesc_7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Aporta perspectiva experta como consultor.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7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Administrar servidores, redes y almacenamiento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servidores, redes y almacenamiento, garantizando disponibilidad y seguridad.</a:t>
            </a:r>
          </a:p>
        </p:txBody>
      </p:sp>
      <p:sp>
        <p:nvSpPr>
          <p:cNvPr id="71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71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1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71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1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71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1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71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2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72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2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72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2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72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2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72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2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72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3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Back Office es el responsable de los 'fierros' e infraestructura (A/R). Ciberseguridad apoya (S) con la protección.</a:t>
            </a:r>
          </a:p>
        </p:txBody>
      </p:sp>
      <p:sp>
        <p:nvSpPr>
          <p:cNvPr id="731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32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Ejecuta y rinde cuentas del resultado final.</a:t>
            </a:r>
          </a:p>
        </p:txBody>
      </p:sp>
      <p:sp>
        <p:nvSpPr>
          <p:cNvPr id="73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3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735" name="RBadge_7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36" name="RDesc_7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Brinda apoyo y soporte activo.</a:t>
            </a:r>
          </a:p>
        </p:txBody>
      </p:sp>
      <p:sp>
        <p:nvSpPr>
          <p:cNvPr id="737" name="RBadge_8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38" name="RDesc_8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Ciberseguridad: Brinda apoyo y soporte activo.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7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Incrementar eficiencia interna mediante tecnología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Identifica áreas de mejora en procesos internos para incrementar eficiencia mediante la tecnología.</a:t>
            </a:r>
          </a:p>
        </p:txBody>
      </p:sp>
      <p:sp>
        <p:nvSpPr>
          <p:cNvPr id="74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74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4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74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4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74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4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74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5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75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5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75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5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75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5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75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5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75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6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Back Office rinde cuentas del ahorro interno (A). Desarrollo ejecuta (R) las herramientas de eficiencia.</a:t>
            </a:r>
          </a:p>
        </p:txBody>
      </p:sp>
      <p:sp>
        <p:nvSpPr>
          <p:cNvPr id="76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6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76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6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765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66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Brinda apoyo y soporte activo.</a:t>
            </a:r>
          </a:p>
        </p:txBody>
      </p:sp>
      <p:sp>
        <p:nvSpPr>
          <p:cNvPr id="767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68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Ejecuta y rinde cuentas del resultado final.</a:t>
            </a:r>
          </a:p>
        </p:txBody>
      </p:sp>
      <p:sp>
        <p:nvSpPr>
          <p:cNvPr id="769" name="RBadge_7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70" name="RDesc_7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lidera esta responsabilidad.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7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Cumplimiento normativo y regulatorio de Back Office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Revisa políticas internas y regulaciones externas para mantener la integridad operativa del Back Office.</a:t>
            </a:r>
          </a:p>
        </p:txBody>
      </p:sp>
      <p:sp>
        <p:nvSpPr>
          <p:cNvPr id="77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77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7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77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7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77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7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77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78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8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78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78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78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78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9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Back Office asegura que los sistemas internos cumplan la ley (A/R). Ciberseguridad apoya (S) con auditorías.</a:t>
            </a:r>
          </a:p>
        </p:txBody>
      </p:sp>
      <p:sp>
        <p:nvSpPr>
          <p:cNvPr id="791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92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Ejecuta y rinde cuentas del resultado final.</a:t>
            </a:r>
          </a:p>
        </p:txBody>
      </p:sp>
      <p:sp>
        <p:nvSpPr>
          <p:cNvPr id="793" name="RBadge_8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94" name="RDesc_8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Ciberseguridad: Brinda apoyo y soporte activo.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Mantenimiento de sistemas de soporte de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Lidera el mantenimiento de sistemas que soportan los procesos de negocio actuales y futuros.</a:t>
            </a:r>
          </a:p>
        </p:txBody>
      </p:sp>
      <p:sp>
        <p:nvSpPr>
          <p:cNvPr id="80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80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0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80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0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80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0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80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81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1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81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81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81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1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81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2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Back Office rinde cuentas de la vida del sistema (A). Desarrollo ejecuta los cambios y parches (R).</a:t>
            </a:r>
          </a:p>
        </p:txBody>
      </p:sp>
      <p:sp>
        <p:nvSpPr>
          <p:cNvPr id="821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22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Ejecuta y rinde cuentas del resultado final.</a:t>
            </a:r>
          </a:p>
        </p:txBody>
      </p:sp>
      <p:sp>
        <p:nvSpPr>
          <p:cNvPr id="823" name="RBadge_7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24" name="RDesc_7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lidera esta responsabilidad.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Evolucionar estrategia de Arquitectura Empresarial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Evoluciona la Estrategia de Arquitectura Empresarial estableciendo marcos de trabajo modernos.</a:t>
            </a:r>
          </a:p>
        </p:txBody>
      </p:sp>
      <p:sp>
        <p:nvSpPr>
          <p:cNvPr id="83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83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83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83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3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83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3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83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4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84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4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84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4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84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4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84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4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84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5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Arquitectura es el autor de los planos maestros (R). El Director aprueba la dirección estratégica (A).</a:t>
            </a:r>
          </a:p>
        </p:txBody>
      </p:sp>
      <p:sp>
        <p:nvSpPr>
          <p:cNvPr id="85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85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Aprueba y supervisa el resultado final.</a:t>
            </a:r>
          </a:p>
        </p:txBody>
      </p:sp>
      <p:sp>
        <p:nvSpPr>
          <p:cNvPr id="85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5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Ejecuta y lidera esta responsabilidad.</a:t>
            </a:r>
          </a:p>
        </p:txBody>
      </p:sp>
      <p:sp>
        <p:nvSpPr>
          <p:cNvPr id="855" name="RBadge_6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56" name="RDesc_6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Aporta perspectiva experta como consultor.</a:t>
            </a:r>
          </a:p>
        </p:txBody>
      </p:sp>
      <p:sp>
        <p:nvSpPr>
          <p:cNvPr id="857" name="RBadge_7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58" name="RDesc_7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Brinda apoyo y soporte activo.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Asegurar que diseños cumplan lineamientos corporativos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Colabora con equipos de TI para asegurar que los diseños de solución cumplan con los lineamientos corporativos.</a:t>
            </a:r>
          </a:p>
        </p:txBody>
      </p:sp>
      <p:sp>
        <p:nvSpPr>
          <p:cNvPr id="86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86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6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86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6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86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6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86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7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87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7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87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7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87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7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87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7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87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8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Arquitectura es el juez que valida los proyectos (A/R). Los Gtes. de Soluciones son consultados (C) por funcionalidad.</a:t>
            </a:r>
          </a:p>
        </p:txBody>
      </p:sp>
      <p:sp>
        <p:nvSpPr>
          <p:cNvPr id="88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8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Aporta perspectiva experta como consultor.</a:t>
            </a:r>
          </a:p>
        </p:txBody>
      </p:sp>
      <p:sp>
        <p:nvSpPr>
          <p:cNvPr id="88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8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Aporta perspectiva experta como consultor.</a:t>
            </a:r>
          </a:p>
        </p:txBody>
      </p:sp>
      <p:sp>
        <p:nvSpPr>
          <p:cNvPr id="885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86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Aporta perspectiva experta como consultor.</a:t>
            </a:r>
          </a:p>
        </p:txBody>
      </p:sp>
      <p:sp>
        <p:nvSpPr>
          <p:cNvPr id="887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88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Aporta perspectiva experta como consultor.</a:t>
            </a:r>
          </a:p>
        </p:txBody>
      </p:sp>
      <p:sp>
        <p:nvSpPr>
          <p:cNvPr id="889" name="RBadge_5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90" name="RDesc_5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Ejecuta y rinde cuentas del resultado final.</a:t>
            </a:r>
          </a:p>
        </p:txBody>
      </p:sp>
      <p:sp>
        <p:nvSpPr>
          <p:cNvPr id="891" name="RBadge_7"/>
          <p:cNvSpPr txBox="1"/>
          <p:nvPr/>
        </p:nvSpPr>
        <p:spPr>
          <a:xfrm>
            <a:off x="365760" y="49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2" name="RDesc_7"/>
          <p:cNvSpPr txBox="1"/>
          <p:nvPr/>
        </p:nvSpPr>
        <p:spPr>
          <a:xfrm>
            <a:off x="1040760" y="49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Brinda apoyo y soporte activo.</a:t>
            </a:r>
          </a:p>
        </p:txBody>
      </p:sp>
      <p:sp>
        <p:nvSpPr>
          <p:cNvPr id="893" name="RBadge_8"/>
          <p:cNvSpPr txBox="1"/>
          <p:nvPr/>
        </p:nvSpPr>
        <p:spPr>
          <a:xfrm>
            <a:off x="365760" y="53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4" name="RDesc_8"/>
          <p:cNvSpPr txBox="1"/>
          <p:nvPr/>
        </p:nvSpPr>
        <p:spPr>
          <a:xfrm>
            <a:off x="1040760" y="53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Ciberseguridad: Brinda apoyo y soporte activo.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8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Incorporar nuevas tecnologías al ecosistema actual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Adopta estándares de industria para incorporar nuevas tecnologías al ecosistema actual de forma fluida.</a:t>
            </a:r>
          </a:p>
        </p:txBody>
      </p:sp>
      <p:sp>
        <p:nvSpPr>
          <p:cNvPr id="89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89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9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89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89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89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90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90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0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90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0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90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90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1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Arquitectura lidera la integración de nuevas piezas (A/R). Desarrollo apoya (S) en la implementación piloto.</a:t>
            </a:r>
          </a:p>
        </p:txBody>
      </p:sp>
      <p:sp>
        <p:nvSpPr>
          <p:cNvPr id="91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1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91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1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915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16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Brinda apoyo y soporte activo.</a:t>
            </a:r>
          </a:p>
        </p:txBody>
      </p:sp>
      <p:sp>
        <p:nvSpPr>
          <p:cNvPr id="917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18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Brinda apoyo y soporte activo.</a:t>
            </a:r>
          </a:p>
        </p:txBody>
      </p:sp>
      <p:sp>
        <p:nvSpPr>
          <p:cNvPr id="919" name="RBadge_5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20" name="RDesc_5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Ejecuta y rinde cuentas del resultado final.</a:t>
            </a:r>
          </a:p>
        </p:txBody>
      </p:sp>
      <p:sp>
        <p:nvSpPr>
          <p:cNvPr id="921" name="RBadge_7"/>
          <p:cNvSpPr txBox="1"/>
          <p:nvPr/>
        </p:nvSpPr>
        <p:spPr>
          <a:xfrm>
            <a:off x="365760" y="49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22" name="RDesc_7"/>
          <p:cNvSpPr txBox="1"/>
          <p:nvPr/>
        </p:nvSpPr>
        <p:spPr>
          <a:xfrm>
            <a:off x="1040760" y="49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Brinda apoyo y soporte activo.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9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Recomendaciones técnicas en procesos de RFP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Explora nuevas tecnologías y brinda recomendaciones en procesos de licitación (RFP).</a:t>
            </a:r>
          </a:p>
        </p:txBody>
      </p:sp>
      <p:sp>
        <p:nvSpPr>
          <p:cNvPr id="92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92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2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92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2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92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2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92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3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93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3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93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3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93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3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93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3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93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4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Arquitectura evalúa técnicamente a los proveedores (A/R). Los Gtes. de Soluciones apoyan (S) con requerimientos.</a:t>
            </a:r>
          </a:p>
        </p:txBody>
      </p:sp>
      <p:sp>
        <p:nvSpPr>
          <p:cNvPr id="94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4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94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4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945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46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Brinda apoyo y soporte activo.</a:t>
            </a:r>
          </a:p>
        </p:txBody>
      </p:sp>
      <p:sp>
        <p:nvSpPr>
          <p:cNvPr id="947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48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Brinda apoyo y soporte activo.</a:t>
            </a:r>
          </a:p>
        </p:txBody>
      </p:sp>
      <p:sp>
        <p:nvSpPr>
          <p:cNvPr id="949" name="RBadge_5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50" name="RDesc_5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Ejecuta y rinde cuentas del resultado final.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9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Visibilidad de capacidades tecnológicas del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Mantiene actualizados los artefactos que dan visibilidad sobre las capacidades tecnológicas del negocio.</a:t>
            </a:r>
          </a:p>
        </p:txBody>
      </p:sp>
      <p:sp>
        <p:nvSpPr>
          <p:cNvPr id="95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95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5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95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5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95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5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95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96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96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6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96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96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6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96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7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Arquitectura mantiene el catálogo de lo que TI puede hacer (A/R). Es un rol puramente informativo para el resto.</a:t>
            </a:r>
          </a:p>
        </p:txBody>
      </p:sp>
      <p:sp>
        <p:nvSpPr>
          <p:cNvPr id="971" name="RBadge_5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72" name="RDesc_5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Ejecuta y rinde cuentas del resultado final.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9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Estándares y herramientas para gestión de proyectos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Establece los estándares, metodologías y herramientas para la gestión de proyectos de TI.</a:t>
            </a:r>
          </a:p>
        </p:txBody>
      </p:sp>
      <p:sp>
        <p:nvSpPr>
          <p:cNvPr id="98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98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8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98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8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98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8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98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9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99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9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99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9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99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9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99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9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99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0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Planeación define el 'cómo' se gestionan los proyectos (R). El Director aprueba la metodología (A).</a:t>
            </a:r>
          </a:p>
        </p:txBody>
      </p:sp>
      <p:sp>
        <p:nvSpPr>
          <p:cNvPr id="100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0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Aprueba y supervisa el resultado final.</a:t>
            </a:r>
          </a:p>
        </p:txBody>
      </p:sp>
      <p:sp>
        <p:nvSpPr>
          <p:cNvPr id="1003" name="RBadge_5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04" name="RDesc_5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1005" name="RBadge_6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006" name="RDesc_6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Ejecuta y lidera esta responsabilidad.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0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Supervisar asignación de cargas de trabajo (Staffing)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Supervisa la asignación de cargas de trabajo para asegurar eficiencia y cumplimiento de plazos.</a:t>
            </a:r>
          </a:p>
        </p:txBody>
      </p:sp>
      <p:sp>
        <p:nvSpPr>
          <p:cNvPr id="101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01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1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01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1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01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1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01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2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02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2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02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2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02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02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02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2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02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3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Planeación vigila que nadie esté saturado (A/R). Los Gtes. de Soluciones apoyan (S) reportando sus necesidades.</a:t>
            </a:r>
          </a:p>
        </p:txBody>
      </p:sp>
      <p:sp>
        <p:nvSpPr>
          <p:cNvPr id="103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3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103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3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1035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36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Brinda apoyo y soporte activo.</a:t>
            </a:r>
          </a:p>
        </p:txBody>
      </p:sp>
      <p:sp>
        <p:nvSpPr>
          <p:cNvPr id="1037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38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Brinda apoyo y soporte activo.</a:t>
            </a:r>
          </a:p>
        </p:txBody>
      </p:sp>
      <p:sp>
        <p:nvSpPr>
          <p:cNvPr id="1039" name="RBadge_6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040" name="RDesc_6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Ejecuta y rinde cuentas del resultado final.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0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Priorización transversal alineada al impacto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Crea espacios de colaboración para alinear la ejecución de proyectos con el impacto esperado en el negocio.</a:t>
            </a:r>
          </a:p>
        </p:txBody>
      </p:sp>
      <p:sp>
        <p:nvSpPr>
          <p:cNvPr id="104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04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04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4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04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4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04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5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05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5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05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5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05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05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05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5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05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6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Planeación lidera el foro de priorización global (R) bajo la responsabilidad del Director (A).</a:t>
            </a:r>
          </a:p>
        </p:txBody>
      </p:sp>
      <p:sp>
        <p:nvSpPr>
          <p:cNvPr id="106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6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Aprueba y supervisa el resultado final.</a:t>
            </a:r>
          </a:p>
        </p:txBody>
      </p:sp>
      <p:sp>
        <p:nvSpPr>
          <p:cNvPr id="1063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64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Aporta perspectiva experta como consultor.</a:t>
            </a:r>
          </a:p>
        </p:txBody>
      </p:sp>
      <p:sp>
        <p:nvSpPr>
          <p:cNvPr id="1065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66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Aporta perspectiva experta como consultor.</a:t>
            </a:r>
          </a:p>
        </p:txBody>
      </p:sp>
      <p:sp>
        <p:nvSpPr>
          <p:cNvPr id="1067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68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Aporta perspectiva experta como consultor.</a:t>
            </a:r>
          </a:p>
        </p:txBody>
      </p:sp>
      <p:sp>
        <p:nvSpPr>
          <p:cNvPr id="1069" name="RBadge_4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70" name="RDesc_4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Aporta perspectiva experta como consultor.</a:t>
            </a:r>
          </a:p>
        </p:txBody>
      </p:sp>
      <p:sp>
        <p:nvSpPr>
          <p:cNvPr id="1071" name="RBadge_6"/>
          <p:cNvSpPr txBox="1"/>
          <p:nvPr/>
        </p:nvSpPr>
        <p:spPr>
          <a:xfrm>
            <a:off x="365760" y="49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072" name="RDesc_6"/>
          <p:cNvSpPr txBox="1"/>
          <p:nvPr/>
        </p:nvSpPr>
        <p:spPr>
          <a:xfrm>
            <a:off x="1040760" y="49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Ejecuta y lidera esta responsabilidad.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0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Oportunidades para madurez en gestión de proyectos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Identifica oportunidades para incrementar la madurez y eficiencia en la gestión de proyectos.</a:t>
            </a:r>
          </a:p>
        </p:txBody>
      </p:sp>
      <p:sp>
        <p:nvSpPr>
          <p:cNvPr id="107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07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7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07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7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07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7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07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8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08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8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08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8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08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08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08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8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08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9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Planeación busca mejorar la oficina de proyectos (A/R). Arquitectura apoya (S) con herramientas de visibilidad.</a:t>
            </a:r>
          </a:p>
        </p:txBody>
      </p:sp>
      <p:sp>
        <p:nvSpPr>
          <p:cNvPr id="1091" name="RBadge_5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092" name="RDesc_5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1093" name="RBadge_6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094" name="RDesc_6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Ejecuta y rinde cuentas del resultado final.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Reportar KPIs del portafolio (costo, tiempo, calidad)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Reporta indicadores clave (costos, tiempos, calidad) para garantizar el éxito del portafolio.</a:t>
            </a:r>
          </a:p>
        </p:txBody>
      </p:sp>
      <p:sp>
        <p:nvSpPr>
          <p:cNvPr id="110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10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0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10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0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10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0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10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1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11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1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11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1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11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1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11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1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11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2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Planeación es el responsable de decir si los proyectos van a tiempo y presupuesto (A/R).</a:t>
            </a:r>
          </a:p>
        </p:txBody>
      </p:sp>
      <p:sp>
        <p:nvSpPr>
          <p:cNvPr id="1121" name="RBadge_6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22" name="RDesc_6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Ejecuta y rinde cuentas del resultado final.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Estrategia de construcción E2E bajo marcos ágiles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Define la estrategia de construcción E2E bajo marcos de trabajo ágiles para optimizar el tiempo de entrega.</a:t>
            </a:r>
          </a:p>
        </p:txBody>
      </p:sp>
      <p:sp>
        <p:nvSpPr>
          <p:cNvPr id="113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13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3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13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3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13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3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13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4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14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4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14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4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14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4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14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4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14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5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Desarrollo define cómo se programa (A/R). Arquitectura y Planeación apoyan (S) con el marco de trabajo.</a:t>
            </a:r>
          </a:p>
        </p:txBody>
      </p:sp>
      <p:sp>
        <p:nvSpPr>
          <p:cNvPr id="1151" name="RBadge_5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52" name="RDesc_5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1153" name="RBadge_6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54" name="RDesc_6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  <p:sp>
        <p:nvSpPr>
          <p:cNvPr id="1155" name="RBadge_7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56" name="RDesc_7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rinde cuentas del resultado final.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Alineación de valor durante desarrollo de software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Asegura la correcta alineación de la propuesta de valor durante todo el proceso de desarrollo de software.</a:t>
            </a:r>
          </a:p>
        </p:txBody>
      </p:sp>
      <p:sp>
        <p:nvSpPr>
          <p:cNvPr id="116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16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6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16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6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16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6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16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7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17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7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17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7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17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7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17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7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17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8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Desarrollo asegura que lo programado sirva (A/R). Los Gtes. de Soluciones apoyan (S) validando que sea lo que pidieron.</a:t>
            </a:r>
          </a:p>
        </p:txBody>
      </p:sp>
      <p:sp>
        <p:nvSpPr>
          <p:cNvPr id="118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8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118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8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1185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86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Brinda apoyo y soporte activo.</a:t>
            </a:r>
          </a:p>
        </p:txBody>
      </p:sp>
      <p:sp>
        <p:nvSpPr>
          <p:cNvPr id="1187" name="RBadge_6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88" name="RDesc_6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  <p:sp>
        <p:nvSpPr>
          <p:cNvPr id="1189" name="RBadge_7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90" name="RDesc_7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rinde cuentas del resultado final.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1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Políticas y roles para planeación técnica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Define políticas y roles claros para la planeación y seguimiento técnico de los desarrollos.</a:t>
            </a:r>
          </a:p>
        </p:txBody>
      </p:sp>
      <p:sp>
        <p:nvSpPr>
          <p:cNvPr id="119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19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9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19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9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19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9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19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0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20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0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20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0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20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0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20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20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20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1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Desarrollo define quién hace qué en el equipo técnico (A/R). Planeación apoya (S) con la estructura.</a:t>
            </a:r>
          </a:p>
        </p:txBody>
      </p:sp>
      <p:sp>
        <p:nvSpPr>
          <p:cNvPr id="1211" name="RBadge_5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12" name="RDesc_5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1213" name="RBadge_6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14" name="RDesc_6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Planeación Proyectos: Brinda apoyo y soporte activo.</a:t>
            </a:r>
          </a:p>
        </p:txBody>
      </p:sp>
      <p:sp>
        <p:nvSpPr>
          <p:cNvPr id="1215" name="RBadge_7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216" name="RDesc_7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rinde cuentas del resultado final.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2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Calidad y eficiencia de equipos de desarrollo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Implementa modelos de industria para mejorar la calidad y eficiencia de los equipos de desarrollo.</a:t>
            </a:r>
          </a:p>
        </p:txBody>
      </p:sp>
      <p:sp>
        <p:nvSpPr>
          <p:cNvPr id="122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22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2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22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2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22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2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22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3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23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3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23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3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23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3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23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23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23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4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Desarrollo es el dueño de la productividad técnica (A/R). Arquitectura apoya (S) con estándares de código.</a:t>
            </a:r>
          </a:p>
        </p:txBody>
      </p:sp>
      <p:sp>
        <p:nvSpPr>
          <p:cNvPr id="1241" name="RBadge_5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42" name="RDesc_5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1243" name="RBadge_7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244" name="RDesc_7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Ejecuta y rinde cuentas del resultado final.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2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Estrategia para salvaguardar activos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Define y ejecuta la estrategia para salvaguardar la información y activos digitales de la empresa.</a:t>
            </a:r>
          </a:p>
        </p:txBody>
      </p:sp>
      <p:sp>
        <p:nvSpPr>
          <p:cNvPr id="125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25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5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25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5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25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5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25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6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26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6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26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26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26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6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26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6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26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27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Ciberseguridad ejecuta la defensa (R). El Director rinde cuentas ante el negocio (A).</a:t>
            </a:r>
          </a:p>
        </p:txBody>
      </p:sp>
      <p:sp>
        <p:nvSpPr>
          <p:cNvPr id="127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7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Aprueba y supervisa el resultado final.</a:t>
            </a:r>
          </a:p>
        </p:txBody>
      </p:sp>
      <p:sp>
        <p:nvSpPr>
          <p:cNvPr id="1273" name="RBadge_4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74" name="RDesc_4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Brinda apoyo y soporte activo.</a:t>
            </a:r>
          </a:p>
        </p:txBody>
      </p:sp>
      <p:sp>
        <p:nvSpPr>
          <p:cNvPr id="1275" name="RBadge_5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276" name="RDesc_5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Aporta perspectiva experta como consultor.</a:t>
            </a:r>
          </a:p>
        </p:txBody>
      </p:sp>
      <p:sp>
        <p:nvSpPr>
          <p:cNvPr id="1277" name="RBadge_8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278" name="RDesc_8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Ciberseguridad: Ejecuta y lidera esta responsabilidad.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2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Respuesta ante amenazas o vulnerabilidades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Lidera la respuesta ante amenazas o vulnerabilidades detectadas en el ecosistema tecnológico.</a:t>
            </a:r>
          </a:p>
        </p:txBody>
      </p:sp>
      <p:sp>
        <p:nvSpPr>
          <p:cNvPr id="128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28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8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28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8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28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8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28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9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29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29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29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9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29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9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29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9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29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0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Ciberseguridad lidera el equipo de respuesta a incidentes (R). El Director responde por el impacto (A).</a:t>
            </a:r>
          </a:p>
        </p:txBody>
      </p:sp>
      <p:sp>
        <p:nvSpPr>
          <p:cNvPr id="1301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302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TI OXXO Mx: Aprueba y supervisa el resultado final.</a:t>
            </a:r>
          </a:p>
        </p:txBody>
      </p:sp>
      <p:sp>
        <p:nvSpPr>
          <p:cNvPr id="1303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04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Brinda apoyo y soporte activo.</a:t>
            </a:r>
          </a:p>
        </p:txBody>
      </p:sp>
      <p:sp>
        <p:nvSpPr>
          <p:cNvPr id="1305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06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Brinda apoyo y soporte activo.</a:t>
            </a:r>
          </a:p>
        </p:txBody>
      </p:sp>
      <p:sp>
        <p:nvSpPr>
          <p:cNvPr id="1307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08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Brinda apoyo y soporte activo.</a:t>
            </a:r>
          </a:p>
        </p:txBody>
      </p:sp>
      <p:sp>
        <p:nvSpPr>
          <p:cNvPr id="1309" name="RBadge_4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10" name="RDesc_4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Brinda apoyo y soporte activo.</a:t>
            </a:r>
          </a:p>
        </p:txBody>
      </p:sp>
      <p:sp>
        <p:nvSpPr>
          <p:cNvPr id="1311" name="RBadge_8"/>
          <p:cNvSpPr txBox="1"/>
          <p:nvPr/>
        </p:nvSpPr>
        <p:spPr>
          <a:xfrm>
            <a:off x="365760" y="49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12" name="RDesc_8"/>
          <p:cNvSpPr txBox="1"/>
          <p:nvPr/>
        </p:nvSpPr>
        <p:spPr>
          <a:xfrm>
            <a:off x="1040760" y="49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Ciberseguridad: Ejecuta y lidera esta responsabilidad.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TI</a:t>
            </a:r>
          </a:p>
        </p:txBody>
      </p:sp>
      <p:sp>
        <p:nvSpPr>
          <p:cNvPr id="13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Cumplimiento de protocolos de seguridad en soluciones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Asegura que todas las soluciones (Tienda, Digital, CdS) cumplan con los protocolos de seguridad.</a:t>
            </a:r>
          </a:p>
        </p:txBody>
      </p:sp>
      <p:sp>
        <p:nvSpPr>
          <p:cNvPr id="1312" name="RHdr_0"/>
          <p:cNvSpPr txBox="1"/>
          <p:nvPr/>
        </p:nvSpPr>
        <p:spPr>
          <a:xfrm>
            <a:off x="36576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TI</a:t>
            </a:r>
          </a:p>
        </p:txBody>
      </p:sp>
      <p:sp>
        <p:nvSpPr>
          <p:cNvPr id="1313" name="Badge_0"/>
          <p:cNvSpPr txBox="1"/>
          <p:nvPr/>
        </p:nvSpPr>
        <p:spPr>
          <a:xfrm>
            <a:off x="365760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14" name="RHdr_1"/>
          <p:cNvSpPr txBox="1"/>
          <p:nvPr/>
        </p:nvSpPr>
        <p:spPr>
          <a:xfrm>
            <a:off x="163914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Tienda</a:t>
            </a:r>
          </a:p>
        </p:txBody>
      </p:sp>
      <p:sp>
        <p:nvSpPr>
          <p:cNvPr id="1315" name="Badge_1"/>
          <p:cNvSpPr txBox="1"/>
          <p:nvPr/>
        </p:nvSpPr>
        <p:spPr>
          <a:xfrm>
            <a:off x="1639146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16" name="RHdr_2"/>
          <p:cNvSpPr txBox="1"/>
          <p:nvPr/>
        </p:nvSpPr>
        <p:spPr>
          <a:xfrm>
            <a:off x="291253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CdS</a:t>
            </a:r>
          </a:p>
        </p:txBody>
      </p:sp>
      <p:sp>
        <p:nvSpPr>
          <p:cNvPr id="1317" name="Badge_2"/>
          <p:cNvSpPr txBox="1"/>
          <p:nvPr/>
        </p:nvSpPr>
        <p:spPr>
          <a:xfrm>
            <a:off x="2912532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18" name="RHdr_3"/>
          <p:cNvSpPr txBox="1"/>
          <p:nvPr/>
        </p:nvSpPr>
        <p:spPr>
          <a:xfrm>
            <a:off x="418591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Cust/Dig</a:t>
            </a:r>
          </a:p>
        </p:txBody>
      </p:sp>
      <p:sp>
        <p:nvSpPr>
          <p:cNvPr id="1319" name="Badge_3"/>
          <p:cNvSpPr txBox="1"/>
          <p:nvPr/>
        </p:nvSpPr>
        <p:spPr>
          <a:xfrm>
            <a:off x="4185918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20" name="RHdr_4"/>
          <p:cNvSpPr txBox="1"/>
          <p:nvPr/>
        </p:nvSpPr>
        <p:spPr>
          <a:xfrm>
            <a:off x="5459304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BO</a:t>
            </a:r>
          </a:p>
        </p:txBody>
      </p:sp>
      <p:sp>
        <p:nvSpPr>
          <p:cNvPr id="1321" name="Badge_4"/>
          <p:cNvSpPr txBox="1"/>
          <p:nvPr/>
        </p:nvSpPr>
        <p:spPr>
          <a:xfrm>
            <a:off x="5459304" y="1810000"/>
            <a:ext cx="126938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22" name="RHdr_5"/>
          <p:cNvSpPr txBox="1"/>
          <p:nvPr/>
        </p:nvSpPr>
        <p:spPr>
          <a:xfrm>
            <a:off x="6732690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Arquit.</a:t>
            </a:r>
          </a:p>
        </p:txBody>
      </p:sp>
      <p:sp>
        <p:nvSpPr>
          <p:cNvPr id="1323" name="Badge_5"/>
          <p:cNvSpPr txBox="1"/>
          <p:nvPr/>
        </p:nvSpPr>
        <p:spPr>
          <a:xfrm>
            <a:off x="6732690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24" name="RHdr_6"/>
          <p:cNvSpPr txBox="1"/>
          <p:nvPr/>
        </p:nvSpPr>
        <p:spPr>
          <a:xfrm>
            <a:off x="8006076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Plan.</a:t>
            </a:r>
          </a:p>
        </p:txBody>
      </p:sp>
      <p:sp>
        <p:nvSpPr>
          <p:cNvPr id="1325" name="Badge_6"/>
          <p:cNvSpPr txBox="1"/>
          <p:nvPr/>
        </p:nvSpPr>
        <p:spPr>
          <a:xfrm>
            <a:off x="8006076" y="1810000"/>
            <a:ext cx="126938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26" name="RHdr_7"/>
          <p:cNvSpPr txBox="1"/>
          <p:nvPr/>
        </p:nvSpPr>
        <p:spPr>
          <a:xfrm>
            <a:off x="9279462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Dllo.</a:t>
            </a:r>
          </a:p>
        </p:txBody>
      </p:sp>
      <p:sp>
        <p:nvSpPr>
          <p:cNvPr id="1327" name="Badge_7"/>
          <p:cNvSpPr txBox="1"/>
          <p:nvPr/>
        </p:nvSpPr>
        <p:spPr>
          <a:xfrm>
            <a:off x="9279462" y="1810000"/>
            <a:ext cx="126938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28" name="RHdr_8"/>
          <p:cNvSpPr txBox="1"/>
          <p:nvPr/>
        </p:nvSpPr>
        <p:spPr>
          <a:xfrm>
            <a:off x="10552848" y="1530000"/>
            <a:ext cx="126938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Ciberseg.</a:t>
            </a:r>
          </a:p>
        </p:txBody>
      </p:sp>
      <p:sp>
        <p:nvSpPr>
          <p:cNvPr id="1329" name="Badge_8"/>
          <p:cNvSpPr txBox="1"/>
          <p:nvPr/>
        </p:nvSpPr>
        <p:spPr>
          <a:xfrm>
            <a:off x="10552848" y="1810000"/>
            <a:ext cx="126938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30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de Ciberseguridad rinde cuentas del cumplimiento (A/R). Los Gtes. de Soluciones son consultados (C) para aplicar las reglas.</a:t>
            </a:r>
          </a:p>
        </p:txBody>
      </p:sp>
      <p:sp>
        <p:nvSpPr>
          <p:cNvPr id="1331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32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Tienda y Comercial: Aporta perspectiva experta como consultor.</a:t>
            </a:r>
          </a:p>
        </p:txBody>
      </p:sp>
      <p:sp>
        <p:nvSpPr>
          <p:cNvPr id="1333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34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Solucs. CdS: Aporta perspectiva experta como consultor.</a:t>
            </a:r>
          </a:p>
        </p:txBody>
      </p:sp>
      <p:sp>
        <p:nvSpPr>
          <p:cNvPr id="1335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36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Customer y Digital: Aporta perspectiva experta como consultor.</a:t>
            </a:r>
          </a:p>
        </p:txBody>
      </p:sp>
      <p:sp>
        <p:nvSpPr>
          <p:cNvPr id="1337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38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Solucs. Back Office: Aporta perspectiva experta como consultor.</a:t>
            </a:r>
          </a:p>
        </p:txBody>
      </p:sp>
      <p:sp>
        <p:nvSpPr>
          <p:cNvPr id="1339" name="RBadge_5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40" name="RDesc_5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Arquitectura: Brinda apoyo y soporte activo.</a:t>
            </a:r>
          </a:p>
        </p:txBody>
      </p:sp>
      <p:sp>
        <p:nvSpPr>
          <p:cNvPr id="1341" name="RBadge_7"/>
          <p:cNvSpPr txBox="1"/>
          <p:nvPr/>
        </p:nvSpPr>
        <p:spPr>
          <a:xfrm>
            <a:off x="365760" y="49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42" name="RDesc_7"/>
          <p:cNvSpPr txBox="1"/>
          <p:nvPr/>
        </p:nvSpPr>
        <p:spPr>
          <a:xfrm>
            <a:off x="1040760" y="49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Desarrollo Soluciones: Brinda apoyo y soporte activo.</a:t>
            </a:r>
          </a:p>
        </p:txBody>
      </p:sp>
      <p:sp>
        <p:nvSpPr>
          <p:cNvPr id="1343" name="RBadge_8"/>
          <p:cNvSpPr txBox="1"/>
          <p:nvPr/>
        </p:nvSpPr>
        <p:spPr>
          <a:xfrm>
            <a:off x="365760" y="533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44" name="RDesc_8"/>
          <p:cNvSpPr txBox="1"/>
          <p:nvPr/>
        </p:nvSpPr>
        <p:spPr>
          <a:xfrm>
            <a:off x="1040760" y="53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Gte Sr Ciberseguridad: Ejecuta y rinde cuentas del resultado final.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Desarrollo y Soluciones</a:t>
            </a:r>
          </a:p>
        </p:txBody>
      </p:sp>
      <p:sp>
        <p:nvSpPr>
          <p:cNvPr id="20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Desarrollo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y Soluciones</a:t>
            </a:r>
          </a:p>
        </p:txBody>
      </p:sp>
      <p:sp>
        <p:nvSpPr>
          <p:cNvPr id="203" name="Line2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4" name="Line204"/>
          <p:cNvSpPr txBox="1"/>
          <p:nvPr/>
        </p:nvSpPr>
        <p:spPr>
          <a:xfrm>
            <a:off x="1733850" y="2793650"/>
            <a:ext cx="87243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5" name="Line205"/>
          <p:cNvSpPr txBox="1"/>
          <p:nvPr/>
        </p:nvSpPr>
        <p:spPr>
          <a:xfrm>
            <a:off x="17275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6" name="Line206"/>
          <p:cNvSpPr txBox="1"/>
          <p:nvPr/>
        </p:nvSpPr>
        <p:spPr>
          <a:xfrm>
            <a:off x="46356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7" name="Line207"/>
          <p:cNvSpPr txBox="1"/>
          <p:nvPr/>
        </p:nvSpPr>
        <p:spPr>
          <a:xfrm>
            <a:off x="75437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8" name="Line208"/>
          <p:cNvSpPr txBox="1"/>
          <p:nvPr/>
        </p:nvSpPr>
        <p:spPr>
          <a:xfrm>
            <a:off x="104518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9" name="L3_0"/>
          <p:cNvSpPr txBox="1"/>
          <p:nvPr/>
        </p:nvSpPr>
        <p:spPr>
          <a:xfrm>
            <a:off x="3048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Arquitectura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de Solución</a:t>
            </a:r>
          </a:p>
        </p:txBody>
      </p:sp>
      <p:sp>
        <p:nvSpPr>
          <p:cNvPr id="210" name="Desc_0"/>
          <p:cNvSpPr txBox="1"/>
          <p:nvPr/>
        </p:nvSpPr>
        <p:spPr>
          <a:xfrm>
            <a:off x="3048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Diseñar los diagramas de arquitectura técnica y flujos de datos.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Validar la viabilidad técnica e integración de nuevas soluciones.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Asegurar el cumplimiento de atributos de calidad técnica.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y mantener el catálogo de estándares de arquitectura.</a:t>
            </a:r>
          </a:p>
        </p:txBody>
      </p:sp>
      <p:sp>
        <p:nvSpPr>
          <p:cNvPr id="211" name="L3_1"/>
          <p:cNvSpPr txBox="1"/>
          <p:nvPr/>
        </p:nvSpPr>
        <p:spPr>
          <a:xfrm>
            <a:off x="32129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DevOps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y Herramientas</a:t>
            </a:r>
          </a:p>
        </p:txBody>
      </p:sp>
      <p:sp>
        <p:nvSpPr>
          <p:cNvPr id="212" name="Desc_1"/>
          <p:cNvSpPr txBox="1"/>
          <p:nvPr/>
        </p:nvSpPr>
        <p:spPr>
          <a:xfrm>
            <a:off x="32129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Diseñar e implementar los pipelines de CI/CD.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Gestionar y optimizar la infraestructura en nube y contenedores.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Monitorear proactivamente la salud de los entornos productivos.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Administrar los entornos de desarrollo, pruebas y producción.</a:t>
            </a:r>
          </a:p>
        </p:txBody>
      </p:sp>
      <p:sp>
        <p:nvSpPr>
          <p:cNvPr id="213" name="L3_2"/>
          <p:cNvSpPr txBox="1"/>
          <p:nvPr/>
        </p:nvSpPr>
        <p:spPr>
          <a:xfrm>
            <a:off x="61210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Ingeniería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Software Backend</a:t>
            </a:r>
          </a:p>
        </p:txBody>
      </p:sp>
      <p:sp>
        <p:nvSpPr>
          <p:cNvPr id="214" name="Desc_2"/>
          <p:cNvSpPr txBox="1"/>
          <p:nvPr/>
        </p:nvSpPr>
        <p:spPr>
          <a:xfrm>
            <a:off x="61210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Desarrollar y supervisar microservicios y lógica de negocio del servidor.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Optimizar bases de datos y modelos de datos.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Implementar protocolos de seguridad en la capa de servidor.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Diseñar y mantener las APIs de integración entre sistemas.</a:t>
            </a:r>
          </a:p>
        </p:txBody>
      </p:sp>
      <p:sp>
        <p:nvSpPr>
          <p:cNvPr id="215" name="L3_3"/>
          <p:cNvSpPr txBox="1"/>
          <p:nvPr/>
        </p:nvSpPr>
        <p:spPr>
          <a:xfrm>
            <a:off x="90291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Ingeniería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Frontend / Mobile</a:t>
            </a:r>
          </a:p>
        </p:txBody>
      </p:sp>
      <p:sp>
        <p:nvSpPr>
          <p:cNvPr id="216" name="Desc_3"/>
          <p:cNvSpPr txBox="1"/>
          <p:nvPr/>
        </p:nvSpPr>
        <p:spPr>
          <a:xfrm>
            <a:off x="90291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Implementar diseños UI/UX en plataformas iOS, Android y Web.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Asegurar la compatibilidad multiplataforma de las interfaces.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Optimizar el rendimiento del lado del cliente.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Mantener y evolucionar el UI Kit estándar de la organización.</a:t>
            </a:r>
          </a:p>
        </p:txBody>
      </p: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Planeación de Proyectos</a:t>
            </a:r>
          </a:p>
        </p:txBody>
      </p:sp>
      <p:sp>
        <p:nvSpPr>
          <p:cNvPr id="25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Planeación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Proyectos</a:t>
            </a:r>
          </a:p>
        </p:txBody>
      </p:sp>
      <p:sp>
        <p:nvSpPr>
          <p:cNvPr id="253" name="Line25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4" name="Line254"/>
          <p:cNvSpPr txBox="1"/>
          <p:nvPr/>
        </p:nvSpPr>
        <p:spPr>
          <a:xfrm>
            <a:off x="2218533" y="2793650"/>
            <a:ext cx="7754932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5" name="Line255"/>
          <p:cNvSpPr txBox="1"/>
          <p:nvPr/>
        </p:nvSpPr>
        <p:spPr>
          <a:xfrm>
            <a:off x="2212183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6" name="Line256"/>
          <p:cNvSpPr txBox="1"/>
          <p:nvPr/>
        </p:nvSpPr>
        <p:spPr>
          <a:xfrm>
            <a:off x="6089649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7" name="Line257"/>
          <p:cNvSpPr txBox="1"/>
          <p:nvPr/>
        </p:nvSpPr>
        <p:spPr>
          <a:xfrm>
            <a:off x="9967115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8" name="L3_0"/>
          <p:cNvSpPr txBox="1"/>
          <p:nvPr/>
        </p:nvSpPr>
        <p:spPr>
          <a:xfrm>
            <a:off x="304800" y="290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Gestión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Pilotos EVA</a:t>
            </a:r>
          </a:p>
        </p:txBody>
      </p:sp>
      <p:sp>
        <p:nvSpPr>
          <p:cNvPr id="259" name="Desc_0"/>
          <p:cNvSpPr txBox="1"/>
          <p:nvPr/>
        </p:nvSpPr>
        <p:spPr>
          <a:xfrm>
            <a:off x="304800" y="3510000"/>
            <a:ext cx="3827466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Diseñar el plan de cada piloto tecnológico.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Monitorear el desempeño técnico y operativo.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Diseñar e impartir materiales de capacitación.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reportes de resultados del piloto.</a:t>
            </a:r>
          </a:p>
        </p:txBody>
      </p:sp>
      <p:sp>
        <p:nvSpPr>
          <p:cNvPr id="260" name="L3_1"/>
          <p:cNvSpPr txBox="1"/>
          <p:nvPr/>
        </p:nvSpPr>
        <p:spPr>
          <a:xfrm>
            <a:off x="4182266" y="290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PMO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OXXO México</a:t>
            </a:r>
          </a:p>
        </p:txBody>
      </p:sp>
      <p:sp>
        <p:nvSpPr>
          <p:cNvPr id="261" name="Desc_1"/>
          <p:cNvSpPr txBox="1"/>
          <p:nvPr/>
        </p:nvSpPr>
        <p:spPr>
          <a:xfrm>
            <a:off x="4182266" y="3510000"/>
            <a:ext cx="3827466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Mantener la visibilidad centralizada del portafolio.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y resolver proactivamente dependencias.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Consolidar y analizar los indicadores de avance.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Validar que los entregables de los proyectos cumplan criterios.</a:t>
            </a:r>
          </a:p>
        </p:txBody>
      </p:sp>
      <p:sp>
        <p:nvSpPr>
          <p:cNvPr id="262" name="L3_2"/>
          <p:cNvSpPr txBox="1"/>
          <p:nvPr/>
        </p:nvSpPr>
        <p:spPr>
          <a:xfrm>
            <a:off x="8059732" y="290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Procesos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de Solución</a:t>
            </a:r>
          </a:p>
        </p:txBody>
      </p:sp>
      <p:sp>
        <p:nvSpPr>
          <p:cNvPr id="263" name="Desc_2"/>
          <p:cNvSpPr txBox="1"/>
          <p:nvPr/>
        </p:nvSpPr>
        <p:spPr>
          <a:xfrm>
            <a:off x="8059732" y="3510000"/>
            <a:ext cx="3827466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Definir y documentar los procesos estándar de TI.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y diagnosticar puntos de fricción.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Diseñar e implementar mecanismos de gobernanza metodológica.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Implementar el plan de gestión del cambio técnico.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Soluciones Cadena de Suministro</a:t>
            </a:r>
          </a:p>
        </p:txBody>
      </p:sp>
      <p:sp>
        <p:nvSpPr>
          <p:cNvPr id="30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Soluciones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Cadena de Suministro</a:t>
            </a:r>
          </a:p>
        </p:txBody>
      </p:sp>
      <p:sp>
        <p:nvSpPr>
          <p:cNvPr id="303" name="Line3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4" name="Line304"/>
          <p:cNvSpPr txBox="1"/>
          <p:nvPr/>
        </p:nvSpPr>
        <p:spPr>
          <a:xfrm>
            <a:off x="1117114" y="2793650"/>
            <a:ext cx="9957768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5" name="Line305"/>
          <p:cNvSpPr txBox="1"/>
          <p:nvPr/>
        </p:nvSpPr>
        <p:spPr>
          <a:xfrm>
            <a:off x="1110764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6" name="Line306"/>
          <p:cNvSpPr txBox="1"/>
          <p:nvPr/>
        </p:nvSpPr>
        <p:spPr>
          <a:xfrm>
            <a:off x="277039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7" name="Line307"/>
          <p:cNvSpPr txBox="1"/>
          <p:nvPr/>
        </p:nvSpPr>
        <p:spPr>
          <a:xfrm>
            <a:off x="443002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8" name="Line308"/>
          <p:cNvSpPr txBox="1"/>
          <p:nvPr/>
        </p:nvSpPr>
        <p:spPr>
          <a:xfrm>
            <a:off x="6089648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9" name="Line309"/>
          <p:cNvSpPr txBox="1"/>
          <p:nvPr/>
        </p:nvSpPr>
        <p:spPr>
          <a:xfrm>
            <a:off x="7749276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10" name="Line310"/>
          <p:cNvSpPr txBox="1"/>
          <p:nvPr/>
        </p:nvSpPr>
        <p:spPr>
          <a:xfrm>
            <a:off x="9408904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11" name="Line311"/>
          <p:cNvSpPr txBox="1"/>
          <p:nvPr/>
        </p:nvSpPr>
        <p:spPr>
          <a:xfrm>
            <a:off x="11068532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12" name="L3_0"/>
          <p:cNvSpPr txBox="1"/>
          <p:nvPr/>
        </p:nvSpPr>
        <p:spPr>
          <a:xfrm>
            <a:off x="304800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Abasto y Planeación</a:t>
            </a:r>
          </a:p>
        </p:txBody>
      </p:sp>
      <p:sp>
        <p:nvSpPr>
          <p:cNvPr id="313" name="Desc_0"/>
          <p:cNvSpPr txBox="1"/>
          <p:nvPr/>
        </p:nvSpPr>
        <p:spPr>
          <a:xfrm>
            <a:off x="304800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Abasto y Planeación.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del equipo de Abasto y Compras.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de ajustes en parámetros de sistemas de resurtido.</a:t>
            </a:r>
          </a:p>
        </p:txBody>
      </p:sp>
      <p:sp>
        <p:nvSpPr>
          <p:cNvPr id="314" name="L3_1"/>
          <p:cNvSpPr txBox="1"/>
          <p:nvPr/>
        </p:nvSpPr>
        <p:spPr>
          <a:xfrm>
            <a:off x="1964428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Almacén (WMS)</a:t>
            </a:r>
          </a:p>
        </p:txBody>
      </p:sp>
      <p:sp>
        <p:nvSpPr>
          <p:cNvPr id="315" name="Desc_1"/>
          <p:cNvSpPr txBox="1"/>
          <p:nvPr/>
        </p:nvSpPr>
        <p:spPr>
          <a:xfrm>
            <a:off x="1964428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WMS.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los equipos de operación CEDIS.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WMS.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Administrar y configurar el sistema WMS para optimizar procesos de CEDIS.</a:t>
            </a:r>
          </a:p>
        </p:txBody>
      </p:sp>
      <p:sp>
        <p:nvSpPr>
          <p:cNvPr id="316" name="L3_2"/>
          <p:cNvSpPr txBox="1"/>
          <p:nvPr/>
        </p:nvSpPr>
        <p:spPr>
          <a:xfrm>
            <a:off x="3624056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Transporte y Dist.</a:t>
            </a:r>
          </a:p>
        </p:txBody>
      </p:sp>
      <p:sp>
        <p:nvSpPr>
          <p:cNvPr id="317" name="Desc_2"/>
          <p:cNvSpPr txBox="1"/>
          <p:nvPr/>
        </p:nvSpPr>
        <p:spPr>
          <a:xfrm>
            <a:off x="3624056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Transporte y Distribución.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Transporte y Tráfico.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TMS.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herramientas de telemetría y monitoreo de flota.</a:t>
            </a:r>
          </a:p>
        </p:txBody>
      </p:sp>
      <p:sp>
        <p:nvSpPr>
          <p:cNvPr id="318" name="L3_3"/>
          <p:cNvSpPr txBox="1"/>
          <p:nvPr/>
        </p:nvSpPr>
        <p:spPr>
          <a:xfrm>
            <a:off x="5283684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Visibilidad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y Analítica de Red</a:t>
            </a:r>
          </a:p>
        </p:txBody>
      </p:sp>
      <p:sp>
        <p:nvSpPr>
          <p:cNvPr id="319" name="Desc_3"/>
          <p:cNvSpPr txBox="1"/>
          <p:nvPr/>
        </p:nvSpPr>
        <p:spPr>
          <a:xfrm>
            <a:off x="5283684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Visibilidad y Analítica.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de visibilidad de las áreas logísticas.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y desarrollar la Torre de Control de la cadena de suministro.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analíticas.</a:t>
            </a:r>
          </a:p>
        </p:txBody>
      </p:sp>
      <p:sp>
        <p:nvSpPr>
          <p:cNvPr id="320" name="L3_4"/>
          <p:cNvSpPr txBox="1"/>
          <p:nvPr/>
        </p:nvSpPr>
        <p:spPr>
          <a:xfrm>
            <a:off x="6943312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 Core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Administrativo</a:t>
            </a:r>
          </a:p>
        </p:txBody>
      </p:sp>
      <p:sp>
        <p:nvSpPr>
          <p:cNvPr id="321" name="Desc_4"/>
          <p:cNvSpPr txBox="1"/>
          <p:nvPr/>
        </p:nvSpPr>
        <p:spPr>
          <a:xfrm>
            <a:off x="6943312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Core Administrativo.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Finanzas CdS y BackOffice.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administrativas.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soluciones para el dominio Core Adm.</a:t>
            </a:r>
          </a:p>
        </p:txBody>
      </p:sp>
      <p:sp>
        <p:nvSpPr>
          <p:cNvPr id="322" name="L3_5"/>
          <p:cNvSpPr txBox="1"/>
          <p:nvPr/>
        </p:nvSpPr>
        <p:spPr>
          <a:xfrm>
            <a:off x="8602940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 EDI</a:t>
            </a:r>
          </a:p>
        </p:txBody>
      </p:sp>
      <p:sp>
        <p:nvSpPr>
          <p:cNvPr id="323" name="Desc_5"/>
          <p:cNvSpPr txBox="1"/>
          <p:nvPr/>
        </p:nvSpPr>
        <p:spPr>
          <a:xfrm>
            <a:off x="8602940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 iniciativas de la plataforma EDI.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Abastecimiento y CxP.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EDI.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Mantener los estándares técnicos de comunicación electrónica (EDIFact, XML, AS2).</a:t>
            </a:r>
          </a:p>
        </p:txBody>
      </p:sp>
      <p:sp>
        <p:nvSpPr>
          <p:cNvPr id="324" name="L3_6"/>
          <p:cNvSpPr txBox="1"/>
          <p:nvPr/>
        </p:nvSpPr>
        <p:spPr>
          <a:xfrm>
            <a:off x="10262568" y="2900000"/>
            <a:ext cx="1624628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Mercaderías</a:t>
            </a:r>
          </a:p>
        </p:txBody>
      </p:sp>
      <p:sp>
        <p:nvSpPr>
          <p:cNvPr id="325" name="Desc_6"/>
          <p:cNvSpPr txBox="1"/>
          <p:nvPr/>
        </p:nvSpPr>
        <p:spPr>
          <a:xfrm>
            <a:off x="10262568" y="3510000"/>
            <a:ext cx="1624628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Mercaderías.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Comercial y Operaciones CEDIS.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datos maestros.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de soluciones para la gestión de catálogos.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Soluciones Customer y Digital</a:t>
            </a:r>
          </a:p>
        </p:txBody>
      </p:sp>
      <p:sp>
        <p:nvSpPr>
          <p:cNvPr id="35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Soluciones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Customer y Digital</a:t>
            </a:r>
          </a:p>
        </p:txBody>
      </p:sp>
      <p:sp>
        <p:nvSpPr>
          <p:cNvPr id="353" name="Line35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4" name="Line354"/>
          <p:cNvSpPr txBox="1"/>
          <p:nvPr/>
        </p:nvSpPr>
        <p:spPr>
          <a:xfrm>
            <a:off x="1733850" y="2793650"/>
            <a:ext cx="87243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5" name="Line355"/>
          <p:cNvSpPr txBox="1"/>
          <p:nvPr/>
        </p:nvSpPr>
        <p:spPr>
          <a:xfrm>
            <a:off x="17275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6" name="Line356"/>
          <p:cNvSpPr txBox="1"/>
          <p:nvPr/>
        </p:nvSpPr>
        <p:spPr>
          <a:xfrm>
            <a:off x="46356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7" name="Line357"/>
          <p:cNvSpPr txBox="1"/>
          <p:nvPr/>
        </p:nvSpPr>
        <p:spPr>
          <a:xfrm>
            <a:off x="75437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8" name="Line358"/>
          <p:cNvSpPr txBox="1"/>
          <p:nvPr/>
        </p:nvSpPr>
        <p:spPr>
          <a:xfrm>
            <a:off x="1045180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9" name="L3_0"/>
          <p:cNvSpPr txBox="1"/>
          <p:nvPr/>
        </p:nvSpPr>
        <p:spPr>
          <a:xfrm>
            <a:off x="3048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Analytics y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Customer Insight</a:t>
            </a:r>
          </a:p>
        </p:txBody>
      </p:sp>
      <p:sp>
        <p:nvSpPr>
          <p:cNvPr id="360" name="Desc_0"/>
          <p:cNvSpPr txBox="1"/>
          <p:nvPr/>
        </p:nvSpPr>
        <p:spPr>
          <a:xfrm>
            <a:off x="3048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Documentar y mantener el backlog del dominio Analytics.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las necesidades de información y analítica de las áreas comerciales.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Diseñar y mantener modelos de datos y dashboards de métricas clave del cliente.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seguimiento del ciclo de vida de las soluciones analíticas.</a:t>
            </a:r>
          </a:p>
        </p:txBody>
      </p:sp>
      <p:sp>
        <p:nvSpPr>
          <p:cNvPr id="361" name="L3_1"/>
          <p:cNvSpPr txBox="1"/>
          <p:nvPr/>
        </p:nvSpPr>
        <p:spPr>
          <a:xfrm>
            <a:off x="32129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Canales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Digitales App y Web</a:t>
            </a:r>
          </a:p>
        </p:txBody>
      </p:sp>
      <p:sp>
        <p:nvSpPr>
          <p:cNvPr id="362" name="Desc_1"/>
          <p:cNvSpPr txBox="1"/>
          <p:nvPr/>
        </p:nvSpPr>
        <p:spPr>
          <a:xfrm>
            <a:off x="32129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Documentar y mantener el backlog de canales digitales.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las necesidades tecnológicas de los equipos de Diseño UX.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seguimiento del ciclo de vida de la App móvil y plataformas web.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la evaluación y validación de nuevas funcionalidades y stack tecnológico.</a:t>
            </a:r>
          </a:p>
        </p:txBody>
      </p:sp>
      <p:sp>
        <p:nvSpPr>
          <p:cNvPr id="363" name="L3_2"/>
          <p:cNvSpPr txBox="1"/>
          <p:nvPr/>
        </p:nvSpPr>
        <p:spPr>
          <a:xfrm>
            <a:off x="61210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Pagos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Digitales y Servicios</a:t>
            </a:r>
          </a:p>
        </p:txBody>
      </p:sp>
      <p:sp>
        <p:nvSpPr>
          <p:cNvPr id="364" name="Desc_2"/>
          <p:cNvSpPr txBox="1"/>
          <p:nvPr/>
        </p:nvSpPr>
        <p:spPr>
          <a:xfrm>
            <a:off x="61210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Documentar y mantener el backlog del dominio Pagos Digitales.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las necesidades tecnológicas de Servicios Financieros y Tesorería.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seguimiento del ciclo de vida de las soluciones de pagos digitales.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Implementar la integración de pasarelas de pago y billeteras digitales.</a:t>
            </a:r>
          </a:p>
        </p:txBody>
      </p:sp>
      <p:sp>
        <p:nvSpPr>
          <p:cNvPr id="365" name="L3_3"/>
          <p:cNvSpPr txBox="1"/>
          <p:nvPr/>
        </p:nvSpPr>
        <p:spPr>
          <a:xfrm>
            <a:off x="9029100" y="290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Loyalty y CRM</a:t>
            </a:r>
          </a:p>
        </p:txBody>
      </p:sp>
      <p:sp>
        <p:nvSpPr>
          <p:cNvPr id="366" name="Desc_3"/>
          <p:cNvSpPr txBox="1"/>
          <p:nvPr/>
        </p:nvSpPr>
        <p:spPr>
          <a:xfrm>
            <a:off x="9029100" y="3510000"/>
            <a:ext cx="28581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Documentar y mantener el backlog del dominio Loyalty y CRM.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las necesidades tecnológicas de Marketing y Lealtad.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seguimiento del ciclo de vida de las soluciones de Loyalty y CRM.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la evaluación y validación de funcionalidades del programa de lealtad.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4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Soluciones Backoffice</a:t>
            </a:r>
          </a:p>
        </p:txBody>
      </p:sp>
      <p:sp>
        <p:nvSpPr>
          <p:cNvPr id="40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de Soluciones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Backoffice</a:t>
            </a:r>
          </a:p>
        </p:txBody>
      </p:sp>
      <p:sp>
        <p:nvSpPr>
          <p:cNvPr id="403" name="Line4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4" name="Line404"/>
          <p:cNvSpPr txBox="1"/>
          <p:nvPr/>
        </p:nvSpPr>
        <p:spPr>
          <a:xfrm>
            <a:off x="1449040" y="279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5" name="Line405"/>
          <p:cNvSpPr txBox="1"/>
          <p:nvPr/>
        </p:nvSpPr>
        <p:spPr>
          <a:xfrm>
            <a:off x="144269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6" name="Line406"/>
          <p:cNvSpPr txBox="1"/>
          <p:nvPr/>
        </p:nvSpPr>
        <p:spPr>
          <a:xfrm>
            <a:off x="376617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7" name="Line407"/>
          <p:cNvSpPr txBox="1"/>
          <p:nvPr/>
        </p:nvSpPr>
        <p:spPr>
          <a:xfrm>
            <a:off x="60896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8" name="Line408"/>
          <p:cNvSpPr txBox="1"/>
          <p:nvPr/>
        </p:nvSpPr>
        <p:spPr>
          <a:xfrm>
            <a:off x="841313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9" name="Line409"/>
          <p:cNvSpPr txBox="1"/>
          <p:nvPr/>
        </p:nvSpPr>
        <p:spPr>
          <a:xfrm>
            <a:off x="1073661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10" name="L3_0"/>
          <p:cNvSpPr txBox="1"/>
          <p:nvPr/>
        </p:nvSpPr>
        <p:spPr>
          <a:xfrm>
            <a:off x="30480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Automatización</a:t>
            </a:r>
          </a:p>
        </p:txBody>
      </p:sp>
      <p:sp>
        <p:nvSpPr>
          <p:cNvPr id="411" name="Desc_0"/>
          <p:cNvSpPr txBox="1"/>
          <p:nvPr/>
        </p:nvSpPr>
        <p:spPr>
          <a:xfrm>
            <a:off x="30480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Identificar y documentar oportunidades de automatización en procesos backoffice.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soluciones de automatización (RPA, integraciones, workflows digitales).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dar seguimiento a las soluciones de automatización.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la validación de las automatizaciones desarrolladas.</a:t>
            </a:r>
          </a:p>
        </p:txBody>
      </p:sp>
      <p:sp>
        <p:nvSpPr>
          <p:cNvPr id="412" name="L3_1"/>
          <p:cNvSpPr txBox="1"/>
          <p:nvPr/>
        </p:nvSpPr>
        <p:spPr>
          <a:xfrm>
            <a:off x="262828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FAST</a:t>
            </a:r>
          </a:p>
        </p:txBody>
      </p:sp>
      <p:sp>
        <p:nvSpPr>
          <p:cNvPr id="413" name="Desc_1"/>
          <p:cNvSpPr txBox="1"/>
          <p:nvPr/>
        </p:nvSpPr>
        <p:spPr>
          <a:xfrm>
            <a:off x="262828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 iniciativas de la plataforma FAST.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las áreas usuarias sobre FAST.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sobre FAST.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desarrollos y configuraciones sobre FAST.</a:t>
            </a:r>
          </a:p>
        </p:txBody>
      </p:sp>
      <p:sp>
        <p:nvSpPr>
          <p:cNvPr id="414" name="L3_2"/>
          <p:cNvSpPr txBox="1"/>
          <p:nvPr/>
        </p:nvSpPr>
        <p:spPr>
          <a:xfrm>
            <a:off x="495176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 Finanzas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Ingresos</a:t>
            </a:r>
          </a:p>
        </p:txBody>
      </p:sp>
      <p:sp>
        <p:nvSpPr>
          <p:cNvPr id="415" name="Desc_2"/>
          <p:cNvSpPr txBox="1"/>
          <p:nvPr/>
        </p:nvSpPr>
        <p:spPr>
          <a:xfrm>
            <a:off x="495176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Finanzas Ingresos.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las áreas de Finanzas.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Finanzas Ingresos.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soluciones para el dominio financiero.</a:t>
            </a:r>
          </a:p>
        </p:txBody>
      </p:sp>
      <p:sp>
        <p:nvSpPr>
          <p:cNvPr id="416" name="L3_3"/>
          <p:cNvSpPr txBox="1"/>
          <p:nvPr/>
        </p:nvSpPr>
        <p:spPr>
          <a:xfrm>
            <a:off x="727524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 Fiscal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Cumplimiento</a:t>
            </a:r>
          </a:p>
        </p:txBody>
      </p:sp>
      <p:sp>
        <p:nvSpPr>
          <p:cNvPr id="417" name="Desc_3"/>
          <p:cNvSpPr txBox="1"/>
          <p:nvPr/>
        </p:nvSpPr>
        <p:spPr>
          <a:xfrm>
            <a:off x="727524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Fiscal Cumplimiento.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del área Fiscal.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tecnológicas fiscales.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soluciones y desarrollos fiscales.</a:t>
            </a:r>
          </a:p>
        </p:txBody>
      </p:sp>
      <p:sp>
        <p:nvSpPr>
          <p:cNvPr id="418" name="L3_4"/>
          <p:cNvSpPr txBox="1"/>
          <p:nvPr/>
        </p:nvSpPr>
        <p:spPr>
          <a:xfrm>
            <a:off x="959872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TPO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RH</a:t>
            </a:r>
          </a:p>
        </p:txBody>
      </p:sp>
      <p:sp>
        <p:nvSpPr>
          <p:cNvPr id="419" name="Desc_4"/>
          <p:cNvSpPr txBox="1"/>
          <p:nvPr/>
        </p:nvSpPr>
        <p:spPr>
          <a:xfrm>
            <a:off x="959872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RH.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del área de RH.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tecnológicas de RH.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 evaluación y validación de soluciones para el dominio RH.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4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Soluciones Tienda y Comercial</a:t>
            </a:r>
          </a:p>
        </p:txBody>
      </p:sp>
      <p:sp>
        <p:nvSpPr>
          <p:cNvPr id="45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de Soluciones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Tienda y Comercial</a:t>
            </a:r>
          </a:p>
        </p:txBody>
      </p:sp>
      <p:sp>
        <p:nvSpPr>
          <p:cNvPr id="453" name="Line45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4" name="Line454"/>
          <p:cNvSpPr txBox="1"/>
          <p:nvPr/>
        </p:nvSpPr>
        <p:spPr>
          <a:xfrm>
            <a:off x="1449040" y="279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5" name="Line455"/>
          <p:cNvSpPr txBox="1"/>
          <p:nvPr/>
        </p:nvSpPr>
        <p:spPr>
          <a:xfrm>
            <a:off x="144269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6" name="Line456"/>
          <p:cNvSpPr txBox="1"/>
          <p:nvPr/>
        </p:nvSpPr>
        <p:spPr>
          <a:xfrm>
            <a:off x="376617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7" name="Line457"/>
          <p:cNvSpPr txBox="1"/>
          <p:nvPr/>
        </p:nvSpPr>
        <p:spPr>
          <a:xfrm>
            <a:off x="60896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8" name="Line458"/>
          <p:cNvSpPr txBox="1"/>
          <p:nvPr/>
        </p:nvSpPr>
        <p:spPr>
          <a:xfrm>
            <a:off x="841313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9" name="Line459"/>
          <p:cNvSpPr txBox="1"/>
          <p:nvPr/>
        </p:nvSpPr>
        <p:spPr>
          <a:xfrm>
            <a:off x="1073661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60" name="L3_0"/>
          <p:cNvSpPr txBox="1"/>
          <p:nvPr/>
        </p:nvSpPr>
        <p:spPr>
          <a:xfrm>
            <a:off x="30480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TI Mercaderías</a:t>
            </a:r>
          </a:p>
        </p:txBody>
      </p:sp>
      <p:sp>
        <p:nvSpPr>
          <p:cNvPr id="461" name="Desc_0"/>
          <p:cNvSpPr txBox="1"/>
          <p:nvPr/>
        </p:nvSpPr>
        <p:spPr>
          <a:xfrm>
            <a:off x="30480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Mercaderías.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Comercial y Cadena de Suministro.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mercaderías.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y evolucionar las herramientas digitales de control de inventarios.</a:t>
            </a:r>
          </a:p>
        </p:txBody>
      </p:sp>
      <p:sp>
        <p:nvSpPr>
          <p:cNvPr id="462" name="L3_1"/>
          <p:cNvSpPr txBox="1"/>
          <p:nvPr/>
        </p:nvSpPr>
        <p:spPr>
          <a:xfrm>
            <a:off x="262828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TI POS</a:t>
            </a:r>
          </a:p>
        </p:txBody>
      </p:sp>
      <p:sp>
        <p:nvSpPr>
          <p:cNvPr id="463" name="Desc_1"/>
          <p:cNvSpPr txBox="1"/>
          <p:nvPr/>
        </p:nvSpPr>
        <p:spPr>
          <a:xfrm>
            <a:off x="262828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sistema POS.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las áreas usuarias del POS.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aplicaciones del POS.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nuevas funcionalidades transaccionales en el POS.</a:t>
            </a:r>
          </a:p>
        </p:txBody>
      </p:sp>
      <p:sp>
        <p:nvSpPr>
          <p:cNvPr id="464" name="L3_2"/>
          <p:cNvSpPr txBox="1"/>
          <p:nvPr/>
        </p:nvSpPr>
        <p:spPr>
          <a:xfrm>
            <a:off x="495176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TI Servicios</a:t>
            </a:r>
          </a:p>
        </p:txBody>
      </p:sp>
      <p:sp>
        <p:nvSpPr>
          <p:cNvPr id="465" name="Desc_2"/>
          <p:cNvSpPr txBox="1"/>
          <p:nvPr/>
        </p:nvSpPr>
        <p:spPr>
          <a:xfrm>
            <a:off x="495176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Servicios.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Servicios Financieros.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servicios en tienda.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y optimizar los flujos de registro y pago de servicios en el POS.</a:t>
            </a:r>
          </a:p>
        </p:txBody>
      </p:sp>
      <p:sp>
        <p:nvSpPr>
          <p:cNvPr id="466" name="L3_3"/>
          <p:cNvSpPr txBox="1"/>
          <p:nvPr/>
        </p:nvSpPr>
        <p:spPr>
          <a:xfrm>
            <a:off x="727524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Operaciones</a:t>
            </a:r>
          </a:p>
        </p:txBody>
      </p:sp>
      <p:sp>
        <p:nvSpPr>
          <p:cNvPr id="467" name="Desc_3"/>
          <p:cNvSpPr txBox="1"/>
          <p:nvPr/>
        </p:nvSpPr>
        <p:spPr>
          <a:xfrm>
            <a:off x="727524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Operaciones.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Operaciones y Excelencia Operativa.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operativas.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Desarrollar y mantener las apps móviles de gestión de tareas y auditorías.</a:t>
            </a:r>
          </a:p>
        </p:txBody>
      </p:sp>
      <p:sp>
        <p:nvSpPr>
          <p:cNvPr id="468" name="L3_4"/>
          <p:cNvSpPr txBox="1"/>
          <p:nvPr/>
        </p:nvSpPr>
        <p:spPr>
          <a:xfrm>
            <a:off x="959872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Solucs.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Precios y Promociones</a:t>
            </a:r>
          </a:p>
        </p:txBody>
      </p:sp>
      <p:sp>
        <p:nvSpPr>
          <p:cNvPr id="469" name="Desc_4"/>
          <p:cNvSpPr txBox="1"/>
          <p:nvPr/>
        </p:nvSpPr>
        <p:spPr>
          <a:xfrm>
            <a:off x="959872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Documentar y mantener el backlog del dominio Precios y Promociones.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las necesidades tecnológicas de Pricing y Comercial.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del ciclo de vida de las soluciones de precios y promociones.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Configurar y validar la lógica de jerarquía y convivencia de promociones.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Anexos
Descripciones de Puesto</a:t>
            </a:r>
          </a:p>
        </p:txBody>
      </p:sp>
      <p:sp>
        <p:nvSpPr>
          <p:cNvPr id="51" name="Anexos"/>
          <p:cNvSpPr txBox="1"/>
          <p:nvPr/>
        </p:nvSpPr>
        <p:spPr>
          <a:xfrm>
            <a:off x="365760" y="750000"/>
            <a:ext cx="11460480" cy="58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• Director TI OXXO Mx: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Desarrollo y Soluciones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Arquitectura de Solución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DevOps y Herramientas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Ingeniería Software Backend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Ingeniería Frontend / Mobile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Planeación de Proyectos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Gestión Pilotos EVA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PMO OXXO México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Procesos de Solución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Soluciones Cadena de Suministro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Abasto y Planeación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Almacén (WMS)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Transporte y Dist.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Visibilidad y Analítica de Red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Core Administrativo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EDI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Mercaderías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Soluciones Customer y Digital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Analytics y Customer Insight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Canales Digitales App y Web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Pagos Digitales y Servicios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Loyalty y CRM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Soluciones Backoffice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Automatización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FAST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Finanzas Ingresos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Fiscal Cumplimiento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TPO RH (TI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Soluciones Tienda y Comercial (TI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Solucs. TI Mercaderías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Solucs. TI POS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Solucs. TI Servicios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Operaciones (TI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Solucs. Precios y Promociones (TI L3)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/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943600"/>
            <a:ext cx="1146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04040"/>
                </a:solidFill>
              </a:rPr>
              <a:t>Mayo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