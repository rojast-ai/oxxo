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tags/tag7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21"/>
  </p:notesMasterIdLst>
  <p:sldIdLst>
    <p:sldId id="2147482941" r:id="rId6"/>
    <p:sldId id="2147482950" r:id="rId7"/>
    <p:sldId id="2147482947" r:id="rId8"/>
    <p:sldId id="2147482952" r:id="rId9"/>
    <p:sldId id="2147482943" r:id="rId10"/>
    <p:sldId id="2147482944" r:id="rId11"/>
    <p:sldId id="2147482955" r:id="rId12"/>
    <p:sldId id="2147482956" r:id="rId13"/>
    <p:sldId id="2147483647" r:id="rId14"/>
    <p:sldId id="256" r:id="rId15"/>
    <p:sldId id="257" r:id="rId16"/>
    <p:sldId id="2147482949" r:id="rId17"/>
    <p:sldId id="2147482946" r:id="rId18"/>
    <p:sldId id="2147482953" r:id="rId19"/>
    <p:sldId id="2147482951"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B35AB1DD-D536-470F-B679-009EF9FB6E63}">
          <p14:sldIdLst>
            <p14:sldId id="2147482941"/>
            <p14:sldId id="2147482950"/>
          </p14:sldIdLst>
        </p14:section>
        <p14:section name="Racional FFP" id="{15040053-0C50-4146-A21D-9E43A4CF9A00}">
          <p14:sldIdLst>
            <p14:sldId id="2147482947"/>
            <p14:sldId id="2147482952"/>
          </p14:sldIdLst>
        </p14:section>
        <p14:section name="Alcance 2026" id="{86D66DA7-4B22-4734-8B2F-FB9674EA118A}">
          <p14:sldIdLst>
            <p14:sldId id="2147482943"/>
          </p14:sldIdLst>
        </p14:section>
        <p14:section name="Percepción inicial" id="{401A8D0E-7B85-4F20-A772-FA4F26AD97EF}">
          <p14:sldIdLst>
            <p14:sldId id="2147482944"/>
          </p14:sldIdLst>
        </p14:section>
        <p14:section name="Descripción de Puesto" id="{0FF4A76F-1F47-4EA7-A686-C9EF9A954A89}">
          <p14:sldIdLst>
            <p14:sldId id="2147482955"/>
            <p14:sldId id="2147482956"/>
          </p14:sldIdLst>
        </p14:section>
        <p14:section name="Principales contribuciones del área" id="{ECBA4FCF-4ABC-4772-872D-193AE93BB28B}">
          <p14:sldIdLst>
            <p14:sldId id="2147483647"/>
          </p14:sldIdLst>
        </p14:section>
        <p14:section name="Interacciones entre áreas y procesos clave" id="{F0FBDAA2-C305-4C2B-AC49-21A67C461C91}">
          <p14:sldIdLst>
            <p14:sldId id="256"/>
            <p14:sldId id="257"/>
          </p14:sldIdLst>
        </p14:section>
        <p14:section name="Preguntas de reflexión" id="{E667A236-7C33-4A65-A550-6234F27326FB}">
          <p14:sldIdLst>
            <p14:sldId id="2147482949"/>
          </p14:sldIdLst>
        </p14:section>
        <p14:section name="Siguientes pasos" id="{3CB73EBB-38C3-438F-941E-B0AFF08AA3BF}">
          <p14:sldIdLst>
            <p14:sldId id="2147482946"/>
            <p14:sldId id="2147482953"/>
            <p14:sldId id="214748295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68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8F243F-2140-57C2-BA5D-54A4E47B8612}" v="9" dt="2026-04-08T17:32:49.50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799" autoAdjust="0"/>
    <p:restoredTop sz="95726" autoAdjust="0"/>
  </p:normalViewPr>
  <p:slideViewPr>
    <p:cSldViewPr snapToGrid="0">
      <p:cViewPr>
        <p:scale>
          <a:sx n="110" d="100"/>
          <a:sy n="110" d="100"/>
        </p:scale>
        <p:origin x="144" y="-5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pos Valladares Gloria Guadalupe" userId="4edc75fc-f644-49a7-a251-2cff6f07c64c" providerId="ADAL" clId="{B8131B1D-A11E-4526-A0C4-31CCB89C9B59}"/>
    <pc:docChg chg="undo custSel modSld">
      <pc:chgData name="Campos Valladares Gloria Guadalupe" userId="4edc75fc-f644-49a7-a251-2cff6f07c64c" providerId="ADAL" clId="{B8131B1D-A11E-4526-A0C4-31CCB89C9B59}" dt="2026-03-31T16:38:08.681" v="4640" actId="2165"/>
      <pc:docMkLst>
        <pc:docMk/>
      </pc:docMkLst>
      <pc:sldChg chg="addSp delSp modSp mod">
        <pc:chgData name="Campos Valladares Gloria Guadalupe" userId="4edc75fc-f644-49a7-a251-2cff6f07c64c" providerId="ADAL" clId="{B8131B1D-A11E-4526-A0C4-31CCB89C9B59}" dt="2026-03-31T16:38:08.681" v="4640" actId="2165"/>
        <pc:sldMkLst>
          <pc:docMk/>
          <pc:sldMk cId="1894943609" sldId="256"/>
        </pc:sldMkLst>
        <pc:spChg chg="mod">
          <ac:chgData name="Campos Valladares Gloria Guadalupe" userId="4edc75fc-f644-49a7-a251-2cff6f07c64c" providerId="ADAL" clId="{B8131B1D-A11E-4526-A0C4-31CCB89C9B59}" dt="2026-03-30T21:31:33.231" v="1405" actId="6549"/>
          <ac:spMkLst>
            <pc:docMk/>
            <pc:sldMk cId="1894943609" sldId="256"/>
            <ac:spMk id="3" creationId="{8B80DD89-91A3-35BF-46F8-436A28D7C493}"/>
          </ac:spMkLst>
        </pc:spChg>
        <pc:spChg chg="add mod">
          <ac:chgData name="Campos Valladares Gloria Guadalupe" userId="4edc75fc-f644-49a7-a251-2cff6f07c64c" providerId="ADAL" clId="{B8131B1D-A11E-4526-A0C4-31CCB89C9B59}" dt="2026-03-30T21:31:37.259" v="1406" actId="1076"/>
          <ac:spMkLst>
            <pc:docMk/>
            <pc:sldMk cId="1894943609" sldId="256"/>
            <ac:spMk id="5" creationId="{DB6D766A-A342-343A-BBFC-F24E8146FDE2}"/>
          </ac:spMkLst>
        </pc:spChg>
        <pc:spChg chg="add mod">
          <ac:chgData name="Campos Valladares Gloria Guadalupe" userId="4edc75fc-f644-49a7-a251-2cff6f07c64c" providerId="ADAL" clId="{B8131B1D-A11E-4526-A0C4-31CCB89C9B59}" dt="2026-03-31T16:37:56.017" v="4639" actId="207"/>
          <ac:spMkLst>
            <pc:docMk/>
            <pc:sldMk cId="1894943609" sldId="256"/>
            <ac:spMk id="7" creationId="{56AD7A4A-2AE9-8917-4878-0093409AC231}"/>
          </ac:spMkLst>
        </pc:spChg>
        <pc:spChg chg="mod">
          <ac:chgData name="Campos Valladares Gloria Guadalupe" userId="4edc75fc-f644-49a7-a251-2cff6f07c64c" providerId="ADAL" clId="{B8131B1D-A11E-4526-A0C4-31CCB89C9B59}" dt="2026-03-31T16:16:34.233" v="3512" actId="1076"/>
          <ac:spMkLst>
            <pc:docMk/>
            <pc:sldMk cId="1894943609" sldId="256"/>
            <ac:spMk id="13" creationId="{93544BCD-5775-6182-A1E1-752EA438DE8C}"/>
          </ac:spMkLst>
        </pc:spChg>
        <pc:graphicFrameChg chg="mod modGraphic">
          <ac:chgData name="Campos Valladares Gloria Guadalupe" userId="4edc75fc-f644-49a7-a251-2cff6f07c64c" providerId="ADAL" clId="{B8131B1D-A11E-4526-A0C4-31CCB89C9B59}" dt="2026-03-31T16:38:08.681" v="4640" actId="2165"/>
          <ac:graphicFrameMkLst>
            <pc:docMk/>
            <pc:sldMk cId="1894943609" sldId="256"/>
            <ac:graphicFrameMk id="4" creationId="{9977EE78-43D1-CBA5-F066-3FC5CF994962}"/>
          </ac:graphicFrameMkLst>
        </pc:graphicFrameChg>
      </pc:sldChg>
      <pc:sldChg chg="modSp mod">
        <pc:chgData name="Campos Valladares Gloria Guadalupe" userId="4edc75fc-f644-49a7-a251-2cff6f07c64c" providerId="ADAL" clId="{B8131B1D-A11E-4526-A0C4-31CCB89C9B59}" dt="2026-03-30T18:43:21.123" v="1" actId="5793"/>
        <pc:sldMkLst>
          <pc:docMk/>
          <pc:sldMk cId="296960731" sldId="2147482956"/>
        </pc:sldMkLst>
        <pc:spChg chg="mod">
          <ac:chgData name="Campos Valladares Gloria Guadalupe" userId="4edc75fc-f644-49a7-a251-2cff6f07c64c" providerId="ADAL" clId="{B8131B1D-A11E-4526-A0C4-31CCB89C9B59}" dt="2026-03-30T18:43:21.123" v="1" actId="5793"/>
          <ac:spMkLst>
            <pc:docMk/>
            <pc:sldMk cId="296960731" sldId="2147482956"/>
            <ac:spMk id="17" creationId="{F1D06FE5-7F07-2D04-69DE-261CC6B68038}"/>
          </ac:spMkLst>
        </pc:spChg>
      </pc:sldChg>
      <pc:sldChg chg="modSp mod">
        <pc:chgData name="Campos Valladares Gloria Guadalupe" userId="4edc75fc-f644-49a7-a251-2cff6f07c64c" providerId="ADAL" clId="{B8131B1D-A11E-4526-A0C4-31CCB89C9B59}" dt="2026-03-31T16:23:53.566" v="4143" actId="20577"/>
        <pc:sldMkLst>
          <pc:docMk/>
          <pc:sldMk cId="2282670243" sldId="2147483647"/>
        </pc:sldMkLst>
        <pc:spChg chg="mod">
          <ac:chgData name="Campos Valladares Gloria Guadalupe" userId="4edc75fc-f644-49a7-a251-2cff6f07c64c" providerId="ADAL" clId="{B8131B1D-A11E-4526-A0C4-31CCB89C9B59}" dt="2026-03-30T20:48:59.219" v="822" actId="20577"/>
          <ac:spMkLst>
            <pc:docMk/>
            <pc:sldMk cId="2282670243" sldId="2147483647"/>
            <ac:spMk id="2" creationId="{D6D73888-BA12-B225-80DF-0F6B50D9285F}"/>
          </ac:spMkLst>
        </pc:spChg>
        <pc:spChg chg="mod">
          <ac:chgData name="Campos Valladares Gloria Guadalupe" userId="4edc75fc-f644-49a7-a251-2cff6f07c64c" providerId="ADAL" clId="{B8131B1D-A11E-4526-A0C4-31CCB89C9B59}" dt="2026-03-30T21:22:35.867" v="1395" actId="1076"/>
          <ac:spMkLst>
            <pc:docMk/>
            <pc:sldMk cId="2282670243" sldId="2147483647"/>
            <ac:spMk id="5" creationId="{87CEC9CA-D400-5401-D7FB-89E9410308A1}"/>
          </ac:spMkLst>
        </pc:spChg>
        <pc:spChg chg="mod">
          <ac:chgData name="Campos Valladares Gloria Guadalupe" userId="4edc75fc-f644-49a7-a251-2cff6f07c64c" providerId="ADAL" clId="{B8131B1D-A11E-4526-A0C4-31CCB89C9B59}" dt="2026-03-30T21:00:29.056" v="1109" actId="1038"/>
          <ac:spMkLst>
            <pc:docMk/>
            <pc:sldMk cId="2282670243" sldId="2147483647"/>
            <ac:spMk id="7" creationId="{937BEAAF-B76F-F5A7-AE0F-74142675B354}"/>
          </ac:spMkLst>
        </pc:spChg>
        <pc:spChg chg="mod">
          <ac:chgData name="Campos Valladares Gloria Guadalupe" userId="4edc75fc-f644-49a7-a251-2cff6f07c64c" providerId="ADAL" clId="{B8131B1D-A11E-4526-A0C4-31CCB89C9B59}" dt="2026-03-30T21:10:39.791" v="1209" actId="14100"/>
          <ac:spMkLst>
            <pc:docMk/>
            <pc:sldMk cId="2282670243" sldId="2147483647"/>
            <ac:spMk id="12" creationId="{BD800EE4-4EC0-CCD6-6676-2A33E75ACE39}"/>
          </ac:spMkLst>
        </pc:spChg>
        <pc:spChg chg="mod">
          <ac:chgData name="Campos Valladares Gloria Guadalupe" userId="4edc75fc-f644-49a7-a251-2cff6f07c64c" providerId="ADAL" clId="{B8131B1D-A11E-4526-A0C4-31CCB89C9B59}" dt="2026-03-30T20:45:30.979" v="683" actId="1038"/>
          <ac:spMkLst>
            <pc:docMk/>
            <pc:sldMk cId="2282670243" sldId="2147483647"/>
            <ac:spMk id="14" creationId="{A27033B1-5025-7BCC-575A-A1CD6818C371}"/>
          </ac:spMkLst>
        </pc:spChg>
        <pc:spChg chg="mod">
          <ac:chgData name="Campos Valladares Gloria Guadalupe" userId="4edc75fc-f644-49a7-a251-2cff6f07c64c" providerId="ADAL" clId="{B8131B1D-A11E-4526-A0C4-31CCB89C9B59}" dt="2026-03-30T20:44:12.296" v="582" actId="14100"/>
          <ac:spMkLst>
            <pc:docMk/>
            <pc:sldMk cId="2282670243" sldId="2147483647"/>
            <ac:spMk id="21" creationId="{13530620-B187-DC05-2898-31EB8A939C08}"/>
          </ac:spMkLst>
        </pc:spChg>
        <pc:spChg chg="mod">
          <ac:chgData name="Campos Valladares Gloria Guadalupe" userId="4edc75fc-f644-49a7-a251-2cff6f07c64c" providerId="ADAL" clId="{B8131B1D-A11E-4526-A0C4-31CCB89C9B59}" dt="2026-03-30T21:10:36.945" v="1208" actId="14100"/>
          <ac:spMkLst>
            <pc:docMk/>
            <pc:sldMk cId="2282670243" sldId="2147483647"/>
            <ac:spMk id="25" creationId="{37DFF966-E99E-3A99-C228-498A6A9A6C31}"/>
          </ac:spMkLst>
        </pc:spChg>
        <pc:spChg chg="mod">
          <ac:chgData name="Campos Valladares Gloria Guadalupe" userId="4edc75fc-f644-49a7-a251-2cff6f07c64c" providerId="ADAL" clId="{B8131B1D-A11E-4526-A0C4-31CCB89C9B59}" dt="2026-03-31T16:23:53.566" v="4143" actId="20577"/>
          <ac:spMkLst>
            <pc:docMk/>
            <pc:sldMk cId="2282670243" sldId="2147483647"/>
            <ac:spMk id="26" creationId="{B1857424-5815-9A63-24BF-16FC36953B9D}"/>
          </ac:spMkLst>
        </pc:spChg>
        <pc:spChg chg="mod">
          <ac:chgData name="Campos Valladares Gloria Guadalupe" userId="4edc75fc-f644-49a7-a251-2cff6f07c64c" providerId="ADAL" clId="{B8131B1D-A11E-4526-A0C4-31CCB89C9B59}" dt="2026-03-30T21:11:18.208" v="1243" actId="20577"/>
          <ac:spMkLst>
            <pc:docMk/>
            <pc:sldMk cId="2282670243" sldId="2147483647"/>
            <ac:spMk id="55" creationId="{C58B1E33-997B-D4A2-7C11-ED3E58DB5534}"/>
          </ac:spMkLst>
        </pc:spChg>
        <pc:spChg chg="mod">
          <ac:chgData name="Campos Valladares Gloria Guadalupe" userId="4edc75fc-f644-49a7-a251-2cff6f07c64c" providerId="ADAL" clId="{B8131B1D-A11E-4526-A0C4-31CCB89C9B59}" dt="2026-03-30T21:00:29.056" v="1109" actId="1038"/>
          <ac:spMkLst>
            <pc:docMk/>
            <pc:sldMk cId="2282670243" sldId="2147483647"/>
            <ac:spMk id="59" creationId="{F53AB2C2-D4BF-ADBB-C1E1-5FAF5E1A581F}"/>
          </ac:spMkLst>
        </pc:spChg>
        <pc:cxnChg chg="mod">
          <ac:chgData name="Campos Valladares Gloria Guadalupe" userId="4edc75fc-f644-49a7-a251-2cff6f07c64c" providerId="ADAL" clId="{B8131B1D-A11E-4526-A0C4-31CCB89C9B59}" dt="2026-03-30T20:44:12.296" v="582" actId="14100"/>
          <ac:cxnSpMkLst>
            <pc:docMk/>
            <pc:sldMk cId="2282670243" sldId="2147483647"/>
            <ac:cxnSpMk id="23" creationId="{301BFFDF-32C8-D46F-9380-8481520B4E95}"/>
          </ac:cxnSpMkLst>
        </pc:cxnChg>
        <pc:cxnChg chg="mod">
          <ac:chgData name="Campos Valladares Gloria Guadalupe" userId="4edc75fc-f644-49a7-a251-2cff6f07c64c" providerId="ADAL" clId="{B8131B1D-A11E-4526-A0C4-31CCB89C9B59}" dt="2026-03-30T21:00:29.056" v="1109" actId="1038"/>
          <ac:cxnSpMkLst>
            <pc:docMk/>
            <pc:sldMk cId="2282670243" sldId="2147483647"/>
            <ac:cxnSpMk id="27" creationId="{15DF704D-D094-F521-7BB7-9F94D6B395BB}"/>
          </ac:cxnSpMkLst>
        </pc:cxnChg>
        <pc:cxnChg chg="mod">
          <ac:chgData name="Campos Valladares Gloria Guadalupe" userId="4edc75fc-f644-49a7-a251-2cff6f07c64c" providerId="ADAL" clId="{B8131B1D-A11E-4526-A0C4-31CCB89C9B59}" dt="2026-03-30T21:10:39.791" v="1209" actId="14100"/>
          <ac:cxnSpMkLst>
            <pc:docMk/>
            <pc:sldMk cId="2282670243" sldId="2147483647"/>
            <ac:cxnSpMk id="28" creationId="{BA774042-4E85-3AAA-4A30-4C628632BDA1}"/>
          </ac:cxnSpMkLst>
        </pc:cxnChg>
        <pc:cxnChg chg="mod">
          <ac:chgData name="Campos Valladares Gloria Guadalupe" userId="4edc75fc-f644-49a7-a251-2cff6f07c64c" providerId="ADAL" clId="{B8131B1D-A11E-4526-A0C4-31CCB89C9B59}" dt="2026-03-30T20:45:30.979" v="683" actId="1038"/>
          <ac:cxnSpMkLst>
            <pc:docMk/>
            <pc:sldMk cId="2282670243" sldId="2147483647"/>
            <ac:cxnSpMk id="29" creationId="{5BDBEA24-5B18-62D4-707D-D790710EF512}"/>
          </ac:cxnSpMkLst>
        </pc:cxnChg>
      </pc:sldChg>
    </pc:docChg>
  </pc:docChgLst>
  <pc:docChgLst>
    <pc:chgData name="Perez Garza Anahi" userId="S::anahi.perez@oxxo.com::3d96f3a1-74f1-4bed-b6de-0d6a02700cc5" providerId="AD" clId="Web-{EB8F243F-2140-57C2-BA5D-54A4E47B8612}"/>
    <pc:docChg chg="modSld sldOrd">
      <pc:chgData name="Perez Garza Anahi" userId="S::anahi.perez@oxxo.com::3d96f3a1-74f1-4bed-b6de-0d6a02700cc5" providerId="AD" clId="Web-{EB8F243F-2140-57C2-BA5D-54A4E47B8612}" dt="2026-04-08T17:32:49.508" v="8" actId="20577"/>
      <pc:docMkLst>
        <pc:docMk/>
      </pc:docMkLst>
      <pc:sldChg chg="modSp ord">
        <pc:chgData name="Perez Garza Anahi" userId="S::anahi.perez@oxxo.com::3d96f3a1-74f1-4bed-b6de-0d6a02700cc5" providerId="AD" clId="Web-{EB8F243F-2140-57C2-BA5D-54A4E47B8612}" dt="2026-04-08T17:32:49.508" v="8" actId="20577"/>
        <pc:sldMkLst>
          <pc:docMk/>
          <pc:sldMk cId="1894943609" sldId="256"/>
        </pc:sldMkLst>
        <pc:spChg chg="mod">
          <ac:chgData name="Perez Garza Anahi" userId="S::anahi.perez@oxxo.com::3d96f3a1-74f1-4bed-b6de-0d6a02700cc5" providerId="AD" clId="Web-{EB8F243F-2140-57C2-BA5D-54A4E47B8612}" dt="2026-04-08T17:32:49.508" v="8" actId="20577"/>
          <ac:spMkLst>
            <pc:docMk/>
            <pc:sldMk cId="1894943609" sldId="256"/>
            <ac:spMk id="8" creationId="{35769B02-838B-10EC-DB8D-8A4ED180CC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A7176-A95D-4D50-82E7-E0B1E4CABA86}" type="datetimeFigureOut">
              <a:rPr lang="es-MX" smtClean="0"/>
              <a:t>08/04/2026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9E531-8228-4869-972C-A1A5C4B76845}" type="slidenum">
              <a:rPr lang="es-MX" smtClean="0"/>
              <a:t>‹#›</a:t>
            </a:fld>
            <a:endParaRPr lang="es-MX"/>
          </a:p>
        </p:txBody>
      </p:sp>
    </p:spTree>
    <p:extLst>
      <p:ext uri="{BB962C8B-B14F-4D97-AF65-F5344CB8AC3E}">
        <p14:creationId xmlns:p14="http://schemas.microsoft.com/office/powerpoint/2010/main" val="1131787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Notas:</a:t>
            </a:r>
          </a:p>
          <a:p>
            <a:r>
              <a:rPr lang="es-ES" dirty="0"/>
              <a:t>-Mayor claridad con última actualización de estructura operaciones (Simón Garrido).</a:t>
            </a:r>
          </a:p>
          <a:p>
            <a:r>
              <a:rPr lang="es-ES" dirty="0"/>
              <a:t>-TPO función no cambia, se validará cómo evolucionará. Actualmente entendido el rol, sin embargo, para actualizar funciones con necesidades faltará alinear.</a:t>
            </a:r>
          </a:p>
          <a:p>
            <a:r>
              <a:rPr lang="es-ES" dirty="0"/>
              <a:t>-Hay claridad de las funciones del equipo, se está en proceso de indagar en IA y conexión de la función. Ej.- proyectos tradicional vs. proyectos enfocados en automatización IA</a:t>
            </a:r>
          </a:p>
        </p:txBody>
      </p:sp>
      <p:sp>
        <p:nvSpPr>
          <p:cNvPr id="4" name="Marcador de número de diapositiva 3"/>
          <p:cNvSpPr>
            <a:spLocks noGrp="1"/>
          </p:cNvSpPr>
          <p:nvPr>
            <p:ph type="sldNum" sz="quarter" idx="5"/>
          </p:nvPr>
        </p:nvSpPr>
        <p:spPr/>
        <p:txBody>
          <a:bodyPr/>
          <a:lstStyle/>
          <a:p>
            <a:fld id="{C529E531-8228-4869-972C-A1A5C4B76845}" type="slidenum">
              <a:rPr lang="es-MX" smtClean="0"/>
              <a:t>6</a:t>
            </a:fld>
            <a:endParaRPr lang="es-MX"/>
          </a:p>
        </p:txBody>
      </p:sp>
    </p:spTree>
    <p:extLst>
      <p:ext uri="{BB962C8B-B14F-4D97-AF65-F5344CB8AC3E}">
        <p14:creationId xmlns:p14="http://schemas.microsoft.com/office/powerpoint/2010/main" val="2798057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Notas: </a:t>
            </a:r>
          </a:p>
        </p:txBody>
      </p:sp>
      <p:sp>
        <p:nvSpPr>
          <p:cNvPr id="4" name="Marcador de número de diapositiva 3"/>
          <p:cNvSpPr>
            <a:spLocks noGrp="1"/>
          </p:cNvSpPr>
          <p:nvPr>
            <p:ph type="sldNum" sz="quarter" idx="5"/>
          </p:nvPr>
        </p:nvSpPr>
        <p:spPr/>
        <p:txBody>
          <a:bodyPr/>
          <a:lstStyle/>
          <a:p>
            <a:fld id="{C529E531-8228-4869-972C-A1A5C4B76845}" type="slidenum">
              <a:rPr lang="es-MX" smtClean="0"/>
              <a:t>7</a:t>
            </a:fld>
            <a:endParaRPr lang="es-MX"/>
          </a:p>
        </p:txBody>
      </p:sp>
    </p:spTree>
    <p:extLst>
      <p:ext uri="{BB962C8B-B14F-4D97-AF65-F5344CB8AC3E}">
        <p14:creationId xmlns:p14="http://schemas.microsoft.com/office/powerpoint/2010/main" val="1157676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incluir comentarios de Word Manuel.</a:t>
            </a:r>
            <a:endParaRPr lang="es-MX"/>
          </a:p>
        </p:txBody>
      </p:sp>
      <p:sp>
        <p:nvSpPr>
          <p:cNvPr id="4" name="Marcador de número de diapositiva 3"/>
          <p:cNvSpPr>
            <a:spLocks noGrp="1"/>
          </p:cNvSpPr>
          <p:nvPr>
            <p:ph type="sldNum" sz="quarter" idx="5"/>
          </p:nvPr>
        </p:nvSpPr>
        <p:spPr/>
        <p:txBody>
          <a:bodyPr/>
          <a:lstStyle/>
          <a:p>
            <a:fld id="{C529E531-8228-4869-972C-A1A5C4B76845}" type="slidenum">
              <a:rPr lang="es-MX" smtClean="0"/>
              <a:t>8</a:t>
            </a:fld>
            <a:endParaRPr lang="es-MX"/>
          </a:p>
        </p:txBody>
      </p:sp>
    </p:spTree>
    <p:extLst>
      <p:ext uri="{BB962C8B-B14F-4D97-AF65-F5344CB8AC3E}">
        <p14:creationId xmlns:p14="http://schemas.microsoft.com/office/powerpoint/2010/main" val="97788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F596F-DC5C-020E-4837-FE8F6012EC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983D53-ED01-5A62-1AB8-2DC3BEFBE9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E2B548-C366-225A-E2A9-A3D048902EBF}"/>
              </a:ext>
            </a:extLst>
          </p:cNvPr>
          <p:cNvSpPr>
            <a:spLocks noGrp="1"/>
          </p:cNvSpPr>
          <p:nvPr>
            <p:ph type="body" idx="1"/>
          </p:nvPr>
        </p:nvSpPr>
        <p:spPr/>
        <p:txBody>
          <a:bodyPr/>
          <a:lstStyle/>
          <a:p>
            <a:endParaRPr lang="es-419" dirty="0"/>
          </a:p>
        </p:txBody>
      </p:sp>
      <p:sp>
        <p:nvSpPr>
          <p:cNvPr id="4" name="Marcador de número de diapositiva 3">
            <a:extLst>
              <a:ext uri="{FF2B5EF4-FFF2-40B4-BE49-F238E27FC236}">
                <a16:creationId xmlns:a16="http://schemas.microsoft.com/office/drawing/2014/main" id="{1E68EF9F-8D75-511E-9C25-451E709C58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0449E8-F686-473D-9BB1-B67C571B50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1572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t"/>
            <a:r>
              <a:rPr lang="es-MX" sz="1200" b="1" i="0" kern="1200">
                <a:solidFill>
                  <a:schemeClr val="tx1"/>
                </a:solidFill>
                <a:effectLst/>
                <a:latin typeface="+mn-lt"/>
                <a:ea typeface="+mn-ea"/>
                <a:cs typeface="+mn-cs"/>
              </a:rPr>
              <a:t>¿Tu Descripción de Puesto y el funciograma de tu área reflejan con precisión las actividades y responsabilidades que realmente realizas en el día a día (TO BE)?</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¿Tienes alguna duda específica sobre el funcionamiento de tu área o sobre la estructura de la organización?</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¿Existe algún proceso que consideres necesario rediseñar para mejorar las interacciones, la eficiencia o el funcionamiento general de tu área?</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¿Qué rituales, prácticas o espacios de trabajo consideras esenciales para asegurar un funcionamiento adecuado y sostenido en tu área?</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Si recientemente asumiste nuevas responsabilidades, ¿ya se realizó de manera efectiva la transferencia de actividades dentro de tu equipo?</a:t>
            </a:r>
            <a:endParaRPr lang="es-MX" sz="1200" b="0" i="0" kern="1200">
              <a:solidFill>
                <a:schemeClr val="tx1"/>
              </a:solidFill>
              <a:effectLst/>
              <a:latin typeface="+mn-lt"/>
              <a:ea typeface="+mn-ea"/>
              <a:cs typeface="+mn-cs"/>
            </a:endParaRPr>
          </a:p>
          <a:p>
            <a:endParaRPr lang="es-MX"/>
          </a:p>
        </p:txBody>
      </p:sp>
      <p:sp>
        <p:nvSpPr>
          <p:cNvPr id="4" name="Marcador de número de diapositiva 3"/>
          <p:cNvSpPr>
            <a:spLocks noGrp="1"/>
          </p:cNvSpPr>
          <p:nvPr>
            <p:ph type="sldNum" sz="quarter" idx="5"/>
          </p:nvPr>
        </p:nvSpPr>
        <p:spPr/>
        <p:txBody>
          <a:bodyPr/>
          <a:lstStyle/>
          <a:p>
            <a:fld id="{2CE23A7F-676E-4CF1-9D84-2DEDA20CC4A2}" type="slidenum">
              <a:rPr lang="es-MX" smtClean="0"/>
              <a:t>12</a:t>
            </a:fld>
            <a:endParaRPr lang="es-MX"/>
          </a:p>
        </p:txBody>
      </p:sp>
    </p:spTree>
    <p:extLst>
      <p:ext uri="{BB962C8B-B14F-4D97-AF65-F5344CB8AC3E}">
        <p14:creationId xmlns:p14="http://schemas.microsoft.com/office/powerpoint/2010/main" val="385257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C529E531-8228-4869-972C-A1A5C4B76845}" type="slidenum">
              <a:rPr lang="es-MX" smtClean="0"/>
              <a:t>13</a:t>
            </a:fld>
            <a:endParaRPr lang="es-MX"/>
          </a:p>
        </p:txBody>
      </p:sp>
    </p:spTree>
    <p:extLst>
      <p:ext uri="{BB962C8B-B14F-4D97-AF65-F5344CB8AC3E}">
        <p14:creationId xmlns:p14="http://schemas.microsoft.com/office/powerpoint/2010/main" val="2713787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C529E531-8228-4869-972C-A1A5C4B76845}" type="slidenum">
              <a:rPr lang="es-MX" smtClean="0"/>
              <a:t>14</a:t>
            </a:fld>
            <a:endParaRPr lang="es-MX"/>
          </a:p>
        </p:txBody>
      </p:sp>
    </p:spTree>
    <p:extLst>
      <p:ext uri="{BB962C8B-B14F-4D97-AF65-F5344CB8AC3E}">
        <p14:creationId xmlns:p14="http://schemas.microsoft.com/office/powerpoint/2010/main" val="1294094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8C7DFF-44C1-FF85-D9A0-BB58B37C424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F3AE20F-E61F-25DF-E08D-A90752429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04DBB89-9044-DE97-901E-A45EF3608375}"/>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7DB373C7-F340-209D-7289-29CD8864B8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E48ED68-638D-A4D1-6DDB-486085382087}"/>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220314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938C6-1D63-865B-616B-DE4AA37E476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B0A2B7-8A2E-B097-D2FD-9902D43CFAE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FA74224-C87E-7817-4F18-9F90B710F5A4}"/>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61A8912B-5CB8-7CD5-390F-571C665A49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7FF8CC9-DC0F-425A-AA4F-220E951D186C}"/>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26332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5CC765-E2D5-5A07-A022-8B947ED32B6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BAE80D4-4D7E-9A1A-6F24-E98D98F814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7A72109-1C51-0F9A-C291-7DA74EFAA3FF}"/>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050189A5-0B7A-9C13-147B-DD4DC89C7F9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36CD1B1-8A30-1C4F-3558-B74333204D92}"/>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2984750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764983-8120-936C-E5F7-636AFC1E32A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A56FE1-9859-DA53-9870-E19AD596CB8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66E9B74-646B-E553-610E-60FD69C6B77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0670066-80D5-CF49-3763-EFB1A39F62E4}"/>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6" name="Marcador de pie de página 5">
            <a:extLst>
              <a:ext uri="{FF2B5EF4-FFF2-40B4-BE49-F238E27FC236}">
                <a16:creationId xmlns:a16="http://schemas.microsoft.com/office/drawing/2014/main" id="{76DCB10D-C5BB-2917-DF70-EA5370A41A3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0441D07-F68C-45BB-C8D3-2E2CC203EE3A}"/>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320486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3BE15-C65C-27C3-61B4-80C1F30AA84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1320DE2-0858-1922-B384-1CE8329AC0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60F6030-1CD1-B615-86B5-B1346AA6BA3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8BD856C-C1FB-7BF2-0304-FEC4FFFE04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14B603F-5221-7D67-93EE-E529FE3AEA3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A06E7E5-D921-1202-C35C-B250C0B5B924}"/>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8" name="Marcador de pie de página 7">
            <a:extLst>
              <a:ext uri="{FF2B5EF4-FFF2-40B4-BE49-F238E27FC236}">
                <a16:creationId xmlns:a16="http://schemas.microsoft.com/office/drawing/2014/main" id="{35F70C23-B57A-6E6B-A83C-91D846C49B3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B42A847-6E5C-4FB3-354B-F18CA81471DB}"/>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367762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D2B64-4B38-F2C1-C4BB-05FB4C1AC22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C50DCE0-6ECF-9939-BA74-504B6DE20E1E}"/>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4" name="Marcador de pie de página 3">
            <a:extLst>
              <a:ext uri="{FF2B5EF4-FFF2-40B4-BE49-F238E27FC236}">
                <a16:creationId xmlns:a16="http://schemas.microsoft.com/office/drawing/2014/main" id="{8B33A7B7-1519-0DD6-5808-2B7C77C3865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BE9EABC-B14B-E612-3086-5D11BEB387D1}"/>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316697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B25FE73-8A5C-0A80-C7BB-0D41A6094D81}"/>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3" name="Marcador de pie de página 2">
            <a:extLst>
              <a:ext uri="{FF2B5EF4-FFF2-40B4-BE49-F238E27FC236}">
                <a16:creationId xmlns:a16="http://schemas.microsoft.com/office/drawing/2014/main" id="{3CCDA556-8B76-82CF-2D9B-4170BFF1FA3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1D6AEDB-D5AA-76CE-9741-5F8EC108BB74}"/>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4230686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D63C3-2A0E-3199-F4C3-40A9BEE9A59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E1E618A-6441-BEA8-9A56-52A9F75FE6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A8982AB-FF9E-419D-49FC-FA55CBFD6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832492E-547F-4B4C-9C63-B3177E69FB10}"/>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6" name="Marcador de pie de página 5">
            <a:extLst>
              <a:ext uri="{FF2B5EF4-FFF2-40B4-BE49-F238E27FC236}">
                <a16:creationId xmlns:a16="http://schemas.microsoft.com/office/drawing/2014/main" id="{09EA5142-DC47-0459-137F-EF7AAD68BD7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9D715-B32D-045C-C766-A530EFB5E2B6}"/>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859499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1D3433-2835-546D-EE78-E332A70DE5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7BC949D-8DB1-0ED8-156D-DF157DF995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37DA3D4-54EF-91A9-6079-0A60B1B0D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1CB21E-C5DF-5A5E-FB90-3FC7E821FAF8}"/>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6" name="Marcador de pie de página 5">
            <a:extLst>
              <a:ext uri="{FF2B5EF4-FFF2-40B4-BE49-F238E27FC236}">
                <a16:creationId xmlns:a16="http://schemas.microsoft.com/office/drawing/2014/main" id="{2082496B-B12A-C63A-71C4-FA0F3A65FCE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23DB693-9892-FCE1-865D-D93F429A4020}"/>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371124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012DE-9019-FBA6-DF73-41E89215830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77AFA61-362E-79C4-0B76-562A18239D9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F0161C-4243-B038-5C77-FB019E682E89}"/>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23F26D3C-2302-5EE2-7803-D2CBFEDF5EE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9C246A7-855D-2328-28D3-A6058F2A3E00}"/>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249753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EF99B5-B043-1E7B-D449-21CAA66A1B3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D14D571-7AD4-E43C-0E3B-BC25894DDB6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74E0073-958D-7293-223B-91C4D294EE42}"/>
              </a:ext>
            </a:extLst>
          </p:cNvPr>
          <p:cNvSpPr>
            <a:spLocks noGrp="1"/>
          </p:cNvSpPr>
          <p:nvPr>
            <p:ph type="dt" sz="half" idx="10"/>
          </p:nvPr>
        </p:nvSpPr>
        <p:spPr/>
        <p:txBody>
          <a:body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532DE800-C5F9-28B2-4ED5-9397DFB4988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12D079-5868-1FFC-29FB-6A99545423FA}"/>
              </a:ext>
            </a:extLst>
          </p:cNvPr>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363624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8437FB2-A19A-79FB-08E6-3B3416ACE56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2" name="Título 21">
            <a:extLst>
              <a:ext uri="{FF2B5EF4-FFF2-40B4-BE49-F238E27FC236}">
                <a16:creationId xmlns:a16="http://schemas.microsoft.com/office/drawing/2014/main" id="{ED6B37BC-95D1-1359-6582-A83430704A42}"/>
              </a:ext>
            </a:extLst>
          </p:cNvPr>
          <p:cNvSpPr>
            <a:spLocks noGrp="1"/>
          </p:cNvSpPr>
          <p:nvPr>
            <p:ph type="title" hasCustomPrompt="1"/>
          </p:nvPr>
        </p:nvSpPr>
        <p:spPr>
          <a:xfrm>
            <a:off x="4610421" y="2677459"/>
            <a:ext cx="6983932" cy="1503083"/>
          </a:xfrm>
        </p:spPr>
        <p:txBody>
          <a:bodyPr lIns="108000" tIns="36000" rIns="108000" bIns="36000">
            <a:normAutofit/>
          </a:bodyPr>
          <a:lstStyle>
            <a:lvl1pPr algn="ctr">
              <a:defRPr sz="2667">
                <a:solidFill>
                  <a:schemeClr val="bg1"/>
                </a:solidFill>
              </a:defRPr>
            </a:lvl1pPr>
          </a:lstStyle>
          <a:p>
            <a:r>
              <a:rPr lang="es-MX"/>
              <a:t>Haz clic para modificar el título del patrón</a:t>
            </a:r>
            <a:endParaRPr lang="es-ES_tradnl"/>
          </a:p>
        </p:txBody>
      </p:sp>
      <p:pic>
        <p:nvPicPr>
          <p:cNvPr id="12" name="Imagen 11">
            <a:extLst>
              <a:ext uri="{FF2B5EF4-FFF2-40B4-BE49-F238E27FC236}">
                <a16:creationId xmlns:a16="http://schemas.microsoft.com/office/drawing/2014/main" id="{91AF7175-4C59-8A0A-E1B2-9AF80DEBD11A}"/>
              </a:ext>
            </a:extLst>
          </p:cNvPr>
          <p:cNvPicPr>
            <a:picLocks noChangeAspect="1"/>
          </p:cNvPicPr>
          <p:nvPr userDrawn="1"/>
        </p:nvPicPr>
        <p:blipFill>
          <a:blip r:embed="rId3"/>
          <a:stretch>
            <a:fillRect/>
          </a:stretch>
        </p:blipFill>
        <p:spPr>
          <a:xfrm>
            <a:off x="1402915" y="325689"/>
            <a:ext cx="810085" cy="426307"/>
          </a:xfrm>
          <a:prstGeom prst="rect">
            <a:avLst/>
          </a:prstGeom>
        </p:spPr>
      </p:pic>
    </p:spTree>
    <p:extLst>
      <p:ext uri="{BB962C8B-B14F-4D97-AF65-F5344CB8AC3E}">
        <p14:creationId xmlns:p14="http://schemas.microsoft.com/office/powerpoint/2010/main" val="315140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ulo">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9964B36-D29C-6A4C-3B65-CE41A9DC23F9}"/>
              </a:ext>
            </a:extLst>
          </p:cNvPr>
          <p:cNvPicPr>
            <a:picLocks noChangeAspect="1"/>
          </p:cNvPicPr>
          <p:nvPr/>
        </p:nvPicPr>
        <p:blipFill>
          <a:blip r:embed="rId2"/>
          <a:stretch>
            <a:fillRect/>
          </a:stretch>
        </p:blipFill>
        <p:spPr>
          <a:xfrm>
            <a:off x="0" y="0"/>
            <a:ext cx="12192000" cy="6858000"/>
          </a:xfrm>
          <a:prstGeom prst="rect">
            <a:avLst/>
          </a:prstGeom>
        </p:spPr>
      </p:pic>
      <p:sp>
        <p:nvSpPr>
          <p:cNvPr id="5" name="Title 4"/>
          <p:cNvSpPr>
            <a:spLocks noGrp="1"/>
          </p:cNvSpPr>
          <p:nvPr>
            <p:ph type="title" hasCustomPrompt="1"/>
          </p:nvPr>
        </p:nvSpPr>
        <p:spPr>
          <a:xfrm>
            <a:off x="957944" y="3007020"/>
            <a:ext cx="8713693" cy="1874901"/>
          </a:xfrm>
          <a:prstGeom prst="rect">
            <a:avLst/>
          </a:prstGeom>
        </p:spPr>
        <p:txBody>
          <a:bodyPr vert="horz" wrap="square" lIns="108000" tIns="36000" rIns="108000" bIns="36000" anchor="ctr" anchorCtr="0">
            <a:noAutofit/>
          </a:bodyPr>
          <a:lstStyle>
            <a:lvl1pPr algn="l">
              <a:defRPr sz="2933">
                <a:solidFill>
                  <a:srgbClr val="FFFFFF"/>
                </a:solidFill>
                <a:latin typeface="Calibri" panose="020F0502020204030204" pitchFamily="34" charset="0"/>
                <a:cs typeface="Calibri" panose="020F0502020204030204" pitchFamily="34" charset="0"/>
              </a:defRPr>
            </a:lvl1pPr>
          </a:lstStyle>
          <a:p>
            <a:r>
              <a:rPr lang="es-ES_tradnl" err="1"/>
              <a:t>Click</a:t>
            </a:r>
            <a:r>
              <a:rPr lang="es-ES_tradnl"/>
              <a:t> to </a:t>
            </a:r>
            <a:r>
              <a:rPr lang="es-ES_tradnl" err="1"/>
              <a:t>edit</a:t>
            </a:r>
            <a:r>
              <a:rPr lang="es-ES_tradnl"/>
              <a:t> Master </a:t>
            </a:r>
            <a:r>
              <a:rPr lang="es-ES_tradnl" err="1"/>
              <a:t>title</a:t>
            </a:r>
            <a:r>
              <a:rPr lang="es-ES_tradnl"/>
              <a:t> </a:t>
            </a:r>
            <a:r>
              <a:rPr lang="es-ES_tradnl" err="1"/>
              <a:t>style</a:t>
            </a:r>
            <a:endParaRPr lang="en-US"/>
          </a:p>
        </p:txBody>
      </p:sp>
      <p:pic>
        <p:nvPicPr>
          <p:cNvPr id="8" name="Imagen 7">
            <a:extLst>
              <a:ext uri="{FF2B5EF4-FFF2-40B4-BE49-F238E27FC236}">
                <a16:creationId xmlns:a16="http://schemas.microsoft.com/office/drawing/2014/main" id="{0E669F59-5AA8-FC7D-C466-DC8797D4BC9A}"/>
              </a:ext>
            </a:extLst>
          </p:cNvPr>
          <p:cNvPicPr>
            <a:picLocks noChangeAspect="1"/>
          </p:cNvPicPr>
          <p:nvPr/>
        </p:nvPicPr>
        <p:blipFill>
          <a:blip r:embed="rId3"/>
          <a:stretch>
            <a:fillRect/>
          </a:stretch>
        </p:blipFill>
        <p:spPr>
          <a:xfrm>
            <a:off x="1075064" y="745642"/>
            <a:ext cx="2111248" cy="1111044"/>
          </a:xfrm>
          <a:prstGeom prst="rect">
            <a:avLst/>
          </a:prstGeom>
        </p:spPr>
      </p:pic>
    </p:spTree>
    <p:extLst>
      <p:ext uri="{BB962C8B-B14F-4D97-AF65-F5344CB8AC3E}">
        <p14:creationId xmlns:p14="http://schemas.microsoft.com/office/powerpoint/2010/main" val="3049307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Interior">
    <p:spTree>
      <p:nvGrpSpPr>
        <p:cNvPr id="1" name=""/>
        <p:cNvGrpSpPr/>
        <p:nvPr/>
      </p:nvGrpSpPr>
      <p:grpSpPr>
        <a:xfrm>
          <a:off x="0" y="0"/>
          <a:ext cx="0" cy="0"/>
          <a:chOff x="0" y="0"/>
          <a:chExt cx="0" cy="0"/>
        </a:xfrm>
      </p:grpSpPr>
      <p:sp>
        <p:nvSpPr>
          <p:cNvPr id="2" name="Title 1"/>
          <p:cNvSpPr>
            <a:spLocks noGrp="1"/>
          </p:cNvSpPr>
          <p:nvPr>
            <p:ph type="title"/>
          </p:nvPr>
        </p:nvSpPr>
        <p:spPr>
          <a:xfrm>
            <a:off x="609600" y="149905"/>
            <a:ext cx="7896000" cy="777875"/>
          </a:xfrm>
        </p:spPr>
        <p:txBody>
          <a:bodyPr/>
          <a:lstStyle/>
          <a:p>
            <a:r>
              <a:rPr lang="es-ES"/>
              <a:t>Haga clic para modificar el estilo de título del patrón</a:t>
            </a:r>
            <a:endParaRPr lang="es-MX"/>
          </a:p>
        </p:txBody>
      </p:sp>
      <p:sp>
        <p:nvSpPr>
          <p:cNvPr id="3" name="Content Placeholder 2"/>
          <p:cNvSpPr>
            <a:spLocks noGrp="1"/>
          </p:cNvSpPr>
          <p:nvPr>
            <p:ph idx="1" hasCustomPrompt="1"/>
          </p:nvPr>
        </p:nvSpPr>
        <p:spPr>
          <a:xfrm>
            <a:off x="609600" y="1338943"/>
            <a:ext cx="10972800" cy="4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Slide Number Placeholder 5"/>
          <p:cNvSpPr>
            <a:spLocks noGrp="1"/>
          </p:cNvSpPr>
          <p:nvPr>
            <p:ph type="sldNum" sz="quarter" idx="10"/>
          </p:nvPr>
        </p:nvSpPr>
        <p:spPr/>
        <p:txBody>
          <a:bodyPr/>
          <a:lstStyle>
            <a:lvl1pPr>
              <a:defRPr/>
            </a:lvl1pPr>
          </a:lstStyle>
          <a:p>
            <a:fld id="{75C13588-59D6-4741-948F-713B5D00015E}" type="slidenum">
              <a:rPr lang="es-MX" smtClean="0"/>
              <a:t>‹#›</a:t>
            </a:fld>
            <a:endParaRPr lang="es-MX"/>
          </a:p>
        </p:txBody>
      </p:sp>
    </p:spTree>
    <p:extLst>
      <p:ext uri="{BB962C8B-B14F-4D97-AF65-F5344CB8AC3E}">
        <p14:creationId xmlns:p14="http://schemas.microsoft.com/office/powerpoint/2010/main" val="483299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8437FB2-A19A-79FB-08E6-3B3416ACE56B}"/>
              </a:ext>
            </a:extLst>
          </p:cNvPr>
          <p:cNvPicPr>
            <a:picLocks noChangeAspect="1"/>
          </p:cNvPicPr>
          <p:nvPr/>
        </p:nvPicPr>
        <p:blipFill>
          <a:blip r:embed="rId2"/>
          <a:stretch>
            <a:fillRect/>
          </a:stretch>
        </p:blipFill>
        <p:spPr>
          <a:xfrm>
            <a:off x="0" y="0"/>
            <a:ext cx="12192000" cy="6858000"/>
          </a:xfrm>
          <a:prstGeom prst="rect">
            <a:avLst/>
          </a:prstGeom>
        </p:spPr>
      </p:pic>
      <p:sp>
        <p:nvSpPr>
          <p:cNvPr id="22" name="Título 21">
            <a:extLst>
              <a:ext uri="{FF2B5EF4-FFF2-40B4-BE49-F238E27FC236}">
                <a16:creationId xmlns:a16="http://schemas.microsoft.com/office/drawing/2014/main" id="{ED6B37BC-95D1-1359-6582-A83430704A42}"/>
              </a:ext>
            </a:extLst>
          </p:cNvPr>
          <p:cNvSpPr>
            <a:spLocks noGrp="1"/>
          </p:cNvSpPr>
          <p:nvPr>
            <p:ph type="title" hasCustomPrompt="1"/>
          </p:nvPr>
        </p:nvSpPr>
        <p:spPr>
          <a:xfrm>
            <a:off x="4610421" y="2677459"/>
            <a:ext cx="6983932" cy="1503083"/>
          </a:xfrm>
        </p:spPr>
        <p:txBody>
          <a:bodyPr lIns="108000" tIns="36000" rIns="108000" bIns="36000">
            <a:normAutofit/>
          </a:bodyPr>
          <a:lstStyle>
            <a:lvl1pPr algn="ctr">
              <a:defRPr sz="2667">
                <a:solidFill>
                  <a:schemeClr val="bg1"/>
                </a:solidFill>
              </a:defRPr>
            </a:lvl1pPr>
          </a:lstStyle>
          <a:p>
            <a:r>
              <a:rPr lang="es-MX"/>
              <a:t>Haz clic para modificar el título del patrón</a:t>
            </a:r>
            <a:endParaRPr lang="es-ES_tradnl"/>
          </a:p>
        </p:txBody>
      </p:sp>
      <p:pic>
        <p:nvPicPr>
          <p:cNvPr id="12" name="Imagen 11">
            <a:extLst>
              <a:ext uri="{FF2B5EF4-FFF2-40B4-BE49-F238E27FC236}">
                <a16:creationId xmlns:a16="http://schemas.microsoft.com/office/drawing/2014/main" id="{91AF7175-4C59-8A0A-E1B2-9AF80DEBD11A}"/>
              </a:ext>
            </a:extLst>
          </p:cNvPr>
          <p:cNvPicPr>
            <a:picLocks noChangeAspect="1"/>
          </p:cNvPicPr>
          <p:nvPr/>
        </p:nvPicPr>
        <p:blipFill>
          <a:blip r:embed="rId3"/>
          <a:stretch>
            <a:fillRect/>
          </a:stretch>
        </p:blipFill>
        <p:spPr>
          <a:xfrm>
            <a:off x="1402915" y="325689"/>
            <a:ext cx="810085" cy="426307"/>
          </a:xfrm>
          <a:prstGeom prst="rect">
            <a:avLst/>
          </a:prstGeom>
        </p:spPr>
      </p:pic>
      <p:pic>
        <p:nvPicPr>
          <p:cNvPr id="2" name="Imagen 1">
            <a:extLst>
              <a:ext uri="{FF2B5EF4-FFF2-40B4-BE49-F238E27FC236}">
                <a16:creationId xmlns:a16="http://schemas.microsoft.com/office/drawing/2014/main" id="{D5A497E9-8F3A-D4E2-4E2C-4DCC5D7DB58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E1F1FD42-4E30-DAC3-AAE7-71BF8B9955B3}"/>
              </a:ext>
            </a:extLst>
          </p:cNvPr>
          <p:cNvPicPr>
            <a:picLocks noChangeAspect="1"/>
          </p:cNvPicPr>
          <p:nvPr userDrawn="1"/>
        </p:nvPicPr>
        <p:blipFill>
          <a:blip r:embed="rId3"/>
          <a:stretch>
            <a:fillRect/>
          </a:stretch>
        </p:blipFill>
        <p:spPr>
          <a:xfrm>
            <a:off x="1402915" y="325689"/>
            <a:ext cx="810085" cy="426307"/>
          </a:xfrm>
          <a:prstGeom prst="rect">
            <a:avLst/>
          </a:prstGeom>
        </p:spPr>
      </p:pic>
    </p:spTree>
    <p:extLst>
      <p:ext uri="{BB962C8B-B14F-4D97-AF65-F5344CB8AC3E}">
        <p14:creationId xmlns:p14="http://schemas.microsoft.com/office/powerpoint/2010/main" val="1341789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Final">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610CF2D-52FA-CFB5-69C4-82EA7511E0BB}"/>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2705B91B-9437-2CC0-733A-BF69FEE28224}"/>
              </a:ext>
            </a:extLst>
          </p:cNvPr>
          <p:cNvPicPr>
            <a:picLocks noChangeAspect="1"/>
          </p:cNvPicPr>
          <p:nvPr/>
        </p:nvPicPr>
        <p:blipFill>
          <a:blip r:embed="rId3"/>
          <a:stretch>
            <a:fillRect/>
          </a:stretch>
        </p:blipFill>
        <p:spPr>
          <a:xfrm>
            <a:off x="1075063" y="2789908"/>
            <a:ext cx="2428855" cy="1278184"/>
          </a:xfrm>
          <a:prstGeom prst="rect">
            <a:avLst/>
          </a:prstGeom>
        </p:spPr>
      </p:pic>
    </p:spTree>
    <p:extLst>
      <p:ext uri="{BB962C8B-B14F-4D97-AF65-F5344CB8AC3E}">
        <p14:creationId xmlns:p14="http://schemas.microsoft.com/office/powerpoint/2010/main" val="3687275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2.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A89EE3-65BA-05DD-A73B-3E9A666F24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602E1D3-973C-BBF1-2C8C-6F66C1054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8E06749-9559-D2A1-B0DC-224A35275B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00A0D1-5618-4CAB-9766-D6CB01375B9B}" type="datetimeFigureOut">
              <a:rPr lang="es-MX" smtClean="0"/>
              <a:t>08/04/2026</a:t>
            </a:fld>
            <a:endParaRPr lang="es-MX"/>
          </a:p>
        </p:txBody>
      </p:sp>
      <p:sp>
        <p:nvSpPr>
          <p:cNvPr id="5" name="Marcador de pie de página 4">
            <a:extLst>
              <a:ext uri="{FF2B5EF4-FFF2-40B4-BE49-F238E27FC236}">
                <a16:creationId xmlns:a16="http://schemas.microsoft.com/office/drawing/2014/main" id="{F3E2F7B7-B1AD-4032-4AFC-78EB7299D1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F33B72D7-ADB6-63A7-B4BC-69A8FDF4B9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13588-59D6-4741-948F-713B5D00015E}" type="slidenum">
              <a:rPr lang="es-MX" smtClean="0"/>
              <a:t>‹#›</a:t>
            </a:fld>
            <a:endParaRPr lang="es-MX"/>
          </a:p>
        </p:txBody>
      </p:sp>
      <p:sp>
        <p:nvSpPr>
          <p:cNvPr id="8" name="CuadroTexto 7">
            <a:extLst>
              <a:ext uri="{FF2B5EF4-FFF2-40B4-BE49-F238E27FC236}">
                <a16:creationId xmlns:a16="http://schemas.microsoft.com/office/drawing/2014/main" id="{F71D58D7-643F-A0FE-FD5F-892144513507}"/>
              </a:ext>
            </a:extLst>
          </p:cNvPr>
          <p:cNvSpPr txBox="1"/>
          <p:nvPr userDrawn="1">
            <p:extLst>
              <p:ext uri="{1162E1C5-73C7-4A58-AE30-91384D911F3F}">
                <p184:classification xmlns:p184="http://schemas.microsoft.com/office/powerpoint/2018/4/main" val="ftr"/>
              </p:ext>
            </p:extLst>
          </p:nvPr>
        </p:nvSpPr>
        <p:spPr>
          <a:xfrm>
            <a:off x="5571300" y="6642100"/>
            <a:ext cx="1074737" cy="152400"/>
          </a:xfrm>
          <a:prstGeom prst="rect">
            <a:avLst/>
          </a:prstGeom>
        </p:spPr>
        <p:txBody>
          <a:bodyPr horzOverflow="overflow" lIns="0" tIns="0" rIns="0" bIns="0">
            <a:spAutoFit/>
          </a:bodyPr>
          <a:lstStyle/>
          <a:p>
            <a:pPr algn="l"/>
            <a:r>
              <a:rPr lang="es-MX" sz="1000">
                <a:solidFill>
                  <a:srgbClr val="000000">
                    <a:alpha val="50000"/>
                  </a:srgbClr>
                </a:solidFill>
                <a:latin typeface="Aptos" panose="020B0004020202020204" pitchFamily="34" charset="0"/>
              </a:rPr>
              <a:t>OXXO | Uso Interno</a:t>
            </a:r>
          </a:p>
        </p:txBody>
      </p:sp>
    </p:spTree>
    <p:extLst>
      <p:ext uri="{BB962C8B-B14F-4D97-AF65-F5344CB8AC3E}">
        <p14:creationId xmlns:p14="http://schemas.microsoft.com/office/powerpoint/2010/main" val="4038991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122AED3-FD15-83A5-ECA7-6C9A81BC3D25}"/>
              </a:ext>
            </a:extLst>
          </p:cNvPr>
          <p:cNvPicPr>
            <a:picLocks noChangeAspect="1"/>
          </p:cNvPicPr>
          <p:nvPr/>
        </p:nvPicPr>
        <p:blipFill>
          <a:blip r:embed="rId6"/>
          <a:stretch>
            <a:fillRect/>
          </a:stretch>
        </p:blipFill>
        <p:spPr>
          <a:xfrm>
            <a:off x="0" y="0"/>
            <a:ext cx="12192000" cy="6858000"/>
          </a:xfrm>
          <a:prstGeom prst="rect">
            <a:avLst/>
          </a:prstGeom>
        </p:spPr>
      </p:pic>
      <p:sp>
        <p:nvSpPr>
          <p:cNvPr id="1027" name="Title Placeholder 1"/>
          <p:cNvSpPr>
            <a:spLocks noGrp="1"/>
          </p:cNvSpPr>
          <p:nvPr>
            <p:ph type="title"/>
          </p:nvPr>
        </p:nvSpPr>
        <p:spPr bwMode="auto">
          <a:xfrm>
            <a:off x="609601" y="149905"/>
            <a:ext cx="7898103" cy="77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p>
            <a:pPr lvl="0"/>
            <a:r>
              <a:rPr lang="es-ES"/>
              <a:t>Haga clic para modificar el estilo de título del patrón</a:t>
            </a:r>
            <a:endParaRPr lang="es-MX"/>
          </a:p>
        </p:txBody>
      </p:sp>
      <p:sp>
        <p:nvSpPr>
          <p:cNvPr id="1028" name="Text Placeholder 2"/>
          <p:cNvSpPr>
            <a:spLocks noGrp="1"/>
          </p:cNvSpPr>
          <p:nvPr>
            <p:ph type="body" idx="1"/>
          </p:nvPr>
        </p:nvSpPr>
        <p:spPr bwMode="auto">
          <a:xfrm>
            <a:off x="609600" y="1338943"/>
            <a:ext cx="10972800" cy="480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933">
                <a:solidFill>
                  <a:srgbClr val="53565A"/>
                </a:solidFill>
                <a:latin typeface="Calibri" panose="020F0502020204030204" pitchFamily="34" charset="0"/>
                <a:ea typeface="+mn-ea"/>
                <a:cs typeface="Calibri" panose="020F0502020204030204" pitchFamily="34" charset="0"/>
              </a:defRPr>
            </a:lvl1pPr>
          </a:lstStyle>
          <a:p>
            <a:fld id="{75C13588-59D6-4741-948F-713B5D00015E}" type="slidenum">
              <a:rPr lang="es-MX" smtClean="0"/>
              <a:t>‹#›</a:t>
            </a:fld>
            <a:endParaRPr lang="es-MX"/>
          </a:p>
        </p:txBody>
      </p:sp>
      <p:pic>
        <p:nvPicPr>
          <p:cNvPr id="9" name="Imagen 8">
            <a:extLst>
              <a:ext uri="{FF2B5EF4-FFF2-40B4-BE49-F238E27FC236}">
                <a16:creationId xmlns:a16="http://schemas.microsoft.com/office/drawing/2014/main" id="{20BFA05D-292C-7FDF-6EBD-8F7561E1BBAE}"/>
              </a:ext>
            </a:extLst>
          </p:cNvPr>
          <p:cNvPicPr>
            <a:picLocks noChangeAspect="1"/>
          </p:cNvPicPr>
          <p:nvPr/>
        </p:nvPicPr>
        <p:blipFill>
          <a:blip r:embed="rId7"/>
          <a:stretch>
            <a:fillRect/>
          </a:stretch>
        </p:blipFill>
        <p:spPr>
          <a:xfrm>
            <a:off x="10439339" y="325689"/>
            <a:ext cx="810085" cy="426307"/>
          </a:xfrm>
          <a:prstGeom prst="rect">
            <a:avLst/>
          </a:prstGeom>
        </p:spPr>
      </p:pic>
      <p:sp>
        <p:nvSpPr>
          <p:cNvPr id="3" name="CuadroTexto 2">
            <a:extLst>
              <a:ext uri="{FF2B5EF4-FFF2-40B4-BE49-F238E27FC236}">
                <a16:creationId xmlns:a16="http://schemas.microsoft.com/office/drawing/2014/main" id="{B6450420-921C-12D8-6D2D-10B8D0616732}"/>
              </a:ext>
            </a:extLst>
          </p:cNvPr>
          <p:cNvSpPr txBox="1"/>
          <p:nvPr>
            <p:extLst>
              <p:ext uri="{1162E1C5-73C7-4A58-AE30-91384D911F3F}">
                <p184:classification xmlns:p184="http://schemas.microsoft.com/office/powerpoint/2018/4/main" val="ftr"/>
              </p:ext>
            </p:extLst>
          </p:nvPr>
        </p:nvSpPr>
        <p:spPr>
          <a:xfrm>
            <a:off x="5571300" y="6642100"/>
            <a:ext cx="1074737" cy="152400"/>
          </a:xfrm>
          <a:prstGeom prst="rect">
            <a:avLst/>
          </a:prstGeom>
        </p:spPr>
        <p:txBody>
          <a:bodyPr horzOverflow="overflow" lIns="0" tIns="0" rIns="0" bIns="0">
            <a:spAutoFit/>
          </a:bodyPr>
          <a:lstStyle/>
          <a:p>
            <a:pPr algn="l"/>
            <a:r>
              <a:rPr lang="es-MX" sz="1000">
                <a:solidFill>
                  <a:srgbClr val="000000">
                    <a:alpha val="50000"/>
                  </a:srgbClr>
                </a:solidFill>
                <a:latin typeface="Aptos" panose="020B0004020202020204" pitchFamily="34" charset="0"/>
              </a:rPr>
              <a:t>OXXO | Uso Interno</a:t>
            </a:r>
          </a:p>
        </p:txBody>
      </p:sp>
    </p:spTree>
    <p:extLst>
      <p:ext uri="{BB962C8B-B14F-4D97-AF65-F5344CB8AC3E}">
        <p14:creationId xmlns:p14="http://schemas.microsoft.com/office/powerpoint/2010/main" val="361436357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txStyles>
    <p:titleStyle>
      <a:lvl1pPr algn="l" rtl="0" eaLnBrk="1" fontAlgn="base" hangingPunct="1">
        <a:spcBef>
          <a:spcPct val="0"/>
        </a:spcBef>
        <a:spcAft>
          <a:spcPct val="0"/>
        </a:spcAft>
        <a:defRPr sz="2133" b="1" kern="1200">
          <a:solidFill>
            <a:schemeClr val="tx1"/>
          </a:solidFill>
          <a:latin typeface="Calibri" panose="020F0502020204030204" pitchFamily="34" charset="0"/>
          <a:ea typeface="ＭＳ Ｐゴシック" charset="0"/>
          <a:cs typeface="Calibri" panose="020F0502020204030204" pitchFamily="34" charset="0"/>
        </a:defRPr>
      </a:lvl1pPr>
      <a:lvl2pPr algn="l" rtl="0" eaLnBrk="1" fontAlgn="base" hangingPunct="1">
        <a:spcBef>
          <a:spcPct val="0"/>
        </a:spcBef>
        <a:spcAft>
          <a:spcPct val="0"/>
        </a:spcAft>
        <a:defRPr sz="2667" b="1">
          <a:solidFill>
            <a:srgbClr val="404040"/>
          </a:solidFill>
          <a:latin typeface="Arial" charset="0"/>
          <a:ea typeface="ＭＳ Ｐゴシック" charset="0"/>
        </a:defRPr>
      </a:lvl2pPr>
      <a:lvl3pPr algn="l" rtl="0" eaLnBrk="1" fontAlgn="base" hangingPunct="1">
        <a:spcBef>
          <a:spcPct val="0"/>
        </a:spcBef>
        <a:spcAft>
          <a:spcPct val="0"/>
        </a:spcAft>
        <a:defRPr sz="2667" b="1">
          <a:solidFill>
            <a:srgbClr val="404040"/>
          </a:solidFill>
          <a:latin typeface="Arial" charset="0"/>
          <a:ea typeface="ＭＳ Ｐゴシック" charset="0"/>
        </a:defRPr>
      </a:lvl3pPr>
      <a:lvl4pPr algn="l" rtl="0" eaLnBrk="1" fontAlgn="base" hangingPunct="1">
        <a:spcBef>
          <a:spcPct val="0"/>
        </a:spcBef>
        <a:spcAft>
          <a:spcPct val="0"/>
        </a:spcAft>
        <a:defRPr sz="2667" b="1">
          <a:solidFill>
            <a:srgbClr val="404040"/>
          </a:solidFill>
          <a:latin typeface="Arial" charset="0"/>
          <a:ea typeface="ＭＳ Ｐゴシック" charset="0"/>
        </a:defRPr>
      </a:lvl4pPr>
      <a:lvl5pPr algn="l" rtl="0" eaLnBrk="1" fontAlgn="base" hangingPunct="1">
        <a:spcBef>
          <a:spcPct val="0"/>
        </a:spcBef>
        <a:spcAft>
          <a:spcPct val="0"/>
        </a:spcAft>
        <a:defRPr sz="2667" b="1">
          <a:solidFill>
            <a:srgbClr val="404040"/>
          </a:solidFill>
          <a:latin typeface="Arial" charset="0"/>
          <a:ea typeface="ＭＳ Ｐゴシック" charset="0"/>
        </a:defRPr>
      </a:lvl5pPr>
      <a:lvl6pPr marL="609585" algn="l" rtl="0" eaLnBrk="1" fontAlgn="base" hangingPunct="1">
        <a:spcBef>
          <a:spcPct val="0"/>
        </a:spcBef>
        <a:spcAft>
          <a:spcPct val="0"/>
        </a:spcAft>
        <a:defRPr sz="2933" b="1">
          <a:solidFill>
            <a:srgbClr val="840E27"/>
          </a:solidFill>
          <a:latin typeface="Arial" charset="0"/>
          <a:ea typeface="ＭＳ Ｐゴシック" charset="0"/>
        </a:defRPr>
      </a:lvl6pPr>
      <a:lvl7pPr marL="1219170" algn="l" rtl="0" eaLnBrk="1" fontAlgn="base" hangingPunct="1">
        <a:spcBef>
          <a:spcPct val="0"/>
        </a:spcBef>
        <a:spcAft>
          <a:spcPct val="0"/>
        </a:spcAft>
        <a:defRPr sz="2933" b="1">
          <a:solidFill>
            <a:srgbClr val="840E27"/>
          </a:solidFill>
          <a:latin typeface="Arial" charset="0"/>
          <a:ea typeface="ＭＳ Ｐゴシック" charset="0"/>
        </a:defRPr>
      </a:lvl7pPr>
      <a:lvl8pPr marL="1828754" algn="l" rtl="0" eaLnBrk="1" fontAlgn="base" hangingPunct="1">
        <a:spcBef>
          <a:spcPct val="0"/>
        </a:spcBef>
        <a:spcAft>
          <a:spcPct val="0"/>
        </a:spcAft>
        <a:defRPr sz="2933" b="1">
          <a:solidFill>
            <a:srgbClr val="840E27"/>
          </a:solidFill>
          <a:latin typeface="Arial" charset="0"/>
          <a:ea typeface="ＭＳ Ｐゴシック" charset="0"/>
        </a:defRPr>
      </a:lvl8pPr>
      <a:lvl9pPr marL="2438339" algn="l" rtl="0" eaLnBrk="1" fontAlgn="base" hangingPunct="1">
        <a:spcBef>
          <a:spcPct val="0"/>
        </a:spcBef>
        <a:spcAft>
          <a:spcPct val="0"/>
        </a:spcAft>
        <a:defRPr sz="2933" b="1">
          <a:solidFill>
            <a:srgbClr val="840E27"/>
          </a:solidFill>
          <a:latin typeface="Arial" charset="0"/>
          <a:ea typeface="ＭＳ Ｐゴシック" charset="0"/>
        </a:defRPr>
      </a:lvl9pPr>
    </p:titleStyle>
    <p:bodyStyle>
      <a:lvl1pPr marL="239178" indent="-239178" algn="just" rtl="0" eaLnBrk="1" fontAlgn="base" hangingPunct="1">
        <a:spcBef>
          <a:spcPts val="448"/>
        </a:spcBef>
        <a:spcAft>
          <a:spcPct val="0"/>
        </a:spcAft>
        <a:buClr>
          <a:srgbClr val="E22726"/>
        </a:buClr>
        <a:buSzPct val="100000"/>
        <a:buFont typeface="Wingdings" pitchFamily="2" charset="2"/>
        <a:buChar char="§"/>
        <a:defRPr sz="1867" kern="1200">
          <a:solidFill>
            <a:schemeClr val="tx1"/>
          </a:solidFill>
          <a:latin typeface="Calibri" panose="020F0502020204030204" pitchFamily="34" charset="0"/>
          <a:ea typeface="ＭＳ Ｐゴシック" charset="0"/>
          <a:cs typeface="Calibri" panose="020F0502020204030204" pitchFamily="34" charset="0"/>
        </a:defRPr>
      </a:lvl1pPr>
      <a:lvl2pPr marL="596885" indent="-357708" algn="just" rtl="0" eaLnBrk="1" fontAlgn="base" hangingPunct="1">
        <a:spcBef>
          <a:spcPts val="448"/>
        </a:spcBef>
        <a:spcAft>
          <a:spcPct val="0"/>
        </a:spcAft>
        <a:buClr>
          <a:srgbClr val="E22726"/>
        </a:buClr>
        <a:buFont typeface="Arial"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2pPr>
      <a:lvl3pPr marL="954593" indent="-357708" algn="just" rtl="0" eaLnBrk="1" fontAlgn="base" hangingPunct="1">
        <a:spcBef>
          <a:spcPts val="448"/>
        </a:spcBef>
        <a:spcAft>
          <a:spcPct val="0"/>
        </a:spcAft>
        <a:buClr>
          <a:srgbClr val="E22726"/>
        </a:buClr>
        <a:buSzPct val="100000"/>
        <a:buFont typeface="Arial" panose="020B0604020202020204" pitchFamily="34"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3pPr>
      <a:lvl4pPr marL="1314418" indent="-359824" algn="just" rtl="0" eaLnBrk="1" fontAlgn="base" hangingPunct="1">
        <a:spcBef>
          <a:spcPts val="448"/>
        </a:spcBef>
        <a:spcAft>
          <a:spcPct val="0"/>
        </a:spcAft>
        <a:buClr>
          <a:srgbClr val="E22726"/>
        </a:buClr>
        <a:buSzPct val="90000"/>
        <a:buFont typeface="Lucida Grande" charset="0"/>
        <a:buChar char="&gt;"/>
        <a:defRPr sz="1867" kern="1200">
          <a:solidFill>
            <a:schemeClr val="tx1"/>
          </a:solidFill>
          <a:latin typeface="Calibri" panose="020F0502020204030204" pitchFamily="34" charset="0"/>
          <a:ea typeface="ＭＳ Ｐゴシック" charset="0"/>
          <a:cs typeface="Calibri" panose="020F0502020204030204" pitchFamily="34" charset="0"/>
        </a:defRPr>
      </a:lvl4pPr>
      <a:lvl5pPr marL="1672125" indent="-357708" algn="just" rtl="0" eaLnBrk="1" fontAlgn="base" hangingPunct="1">
        <a:spcBef>
          <a:spcPts val="448"/>
        </a:spcBef>
        <a:spcAft>
          <a:spcPct val="0"/>
        </a:spcAft>
        <a:buClr>
          <a:srgbClr val="E22726"/>
        </a:buClr>
        <a:buSzPct val="60000"/>
        <a:buFont typeface="Wingdings" charset="2"/>
        <a:buChar char="u"/>
        <a:defRPr sz="1867" kern="1200">
          <a:solidFill>
            <a:schemeClr val="tx1"/>
          </a:solidFill>
          <a:latin typeface="Calibri" panose="020F0502020204030204" pitchFamily="34" charset="0"/>
          <a:ea typeface="ＭＳ Ｐゴシック" charset="0"/>
          <a:cs typeface="Calibri" panose="020F0502020204030204"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s-MX"/>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tags" Target="../tags/tag12.xml"/><Relationship Id="rId3" Type="http://schemas.openxmlformats.org/officeDocument/2006/relationships/tags" Target="../tags/tag2.xml"/><Relationship Id="rId7" Type="http://schemas.openxmlformats.org/officeDocument/2006/relationships/tags" Target="../tags/tag6.xml"/><Relationship Id="rId12" Type="http://schemas.openxmlformats.org/officeDocument/2006/relationships/tags" Target="../tags/tag11.xml"/><Relationship Id="rId2" Type="http://schemas.openxmlformats.org/officeDocument/2006/relationships/tags" Target="../tags/tag1.xml"/><Relationship Id="rId16" Type="http://schemas.openxmlformats.org/officeDocument/2006/relationships/slideLayout" Target="../slideLayouts/slideLayout14.xml"/><Relationship Id="rId1" Type="http://schemas.openxmlformats.org/officeDocument/2006/relationships/themeOverride" Target="../theme/themeOverride1.xml"/><Relationship Id="rId6" Type="http://schemas.openxmlformats.org/officeDocument/2006/relationships/tags" Target="../tags/tag5.xml"/><Relationship Id="rId11" Type="http://schemas.openxmlformats.org/officeDocument/2006/relationships/tags" Target="../tags/tag10.xml"/><Relationship Id="rId5" Type="http://schemas.openxmlformats.org/officeDocument/2006/relationships/tags" Target="../tags/tag4.xml"/><Relationship Id="rId15" Type="http://schemas.openxmlformats.org/officeDocument/2006/relationships/tags" Target="../tags/tag14.xml"/><Relationship Id="rId10" Type="http://schemas.openxmlformats.org/officeDocument/2006/relationships/tags" Target="../tags/tag9.xml"/><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tags" Target="../tags/tag13.xml"/></Relationships>
</file>

<file path=ppt/slides/_rels/slide4.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tags" Target="../tags/tag40.xml"/><Relationship Id="rId39" Type="http://schemas.openxmlformats.org/officeDocument/2006/relationships/tags" Target="../tags/tag53.xml"/><Relationship Id="rId21" Type="http://schemas.openxmlformats.org/officeDocument/2006/relationships/tags" Target="../tags/tag35.xml"/><Relationship Id="rId34" Type="http://schemas.openxmlformats.org/officeDocument/2006/relationships/tags" Target="../tags/tag48.xml"/><Relationship Id="rId42" Type="http://schemas.openxmlformats.org/officeDocument/2006/relationships/tags" Target="../tags/tag56.xml"/><Relationship Id="rId47" Type="http://schemas.openxmlformats.org/officeDocument/2006/relationships/tags" Target="../tags/tag61.xml"/><Relationship Id="rId50" Type="http://schemas.openxmlformats.org/officeDocument/2006/relationships/tags" Target="../tags/tag64.xml"/><Relationship Id="rId55" Type="http://schemas.openxmlformats.org/officeDocument/2006/relationships/tags" Target="../tags/tag69.xml"/><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9" Type="http://schemas.openxmlformats.org/officeDocument/2006/relationships/tags" Target="../tags/tag43.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tags" Target="../tags/tag46.xml"/><Relationship Id="rId37" Type="http://schemas.openxmlformats.org/officeDocument/2006/relationships/tags" Target="../tags/tag51.xml"/><Relationship Id="rId40" Type="http://schemas.openxmlformats.org/officeDocument/2006/relationships/tags" Target="../tags/tag54.xml"/><Relationship Id="rId45" Type="http://schemas.openxmlformats.org/officeDocument/2006/relationships/tags" Target="../tags/tag59.xml"/><Relationship Id="rId53" Type="http://schemas.openxmlformats.org/officeDocument/2006/relationships/tags" Target="../tags/tag67.xml"/><Relationship Id="rId58" Type="http://schemas.openxmlformats.org/officeDocument/2006/relationships/tags" Target="../tags/tag72.xml"/><Relationship Id="rId5" Type="http://schemas.openxmlformats.org/officeDocument/2006/relationships/tags" Target="../tags/tag19.xml"/><Relationship Id="rId19" Type="http://schemas.openxmlformats.org/officeDocument/2006/relationships/tags" Target="../tags/tag33.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tags" Target="../tags/tag41.xml"/><Relationship Id="rId30" Type="http://schemas.openxmlformats.org/officeDocument/2006/relationships/tags" Target="../tags/tag44.xml"/><Relationship Id="rId35" Type="http://schemas.openxmlformats.org/officeDocument/2006/relationships/tags" Target="../tags/tag49.xml"/><Relationship Id="rId43" Type="http://schemas.openxmlformats.org/officeDocument/2006/relationships/tags" Target="../tags/tag57.xml"/><Relationship Id="rId48" Type="http://schemas.openxmlformats.org/officeDocument/2006/relationships/tags" Target="../tags/tag62.xml"/><Relationship Id="rId56" Type="http://schemas.openxmlformats.org/officeDocument/2006/relationships/tags" Target="../tags/tag70.xml"/><Relationship Id="rId8" Type="http://schemas.openxmlformats.org/officeDocument/2006/relationships/tags" Target="../tags/tag22.xml"/><Relationship Id="rId51" Type="http://schemas.openxmlformats.org/officeDocument/2006/relationships/tags" Target="../tags/tag65.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tags" Target="../tags/tag39.xml"/><Relationship Id="rId33" Type="http://schemas.openxmlformats.org/officeDocument/2006/relationships/tags" Target="../tags/tag47.xml"/><Relationship Id="rId38" Type="http://schemas.openxmlformats.org/officeDocument/2006/relationships/tags" Target="../tags/tag52.xml"/><Relationship Id="rId46" Type="http://schemas.openxmlformats.org/officeDocument/2006/relationships/tags" Target="../tags/tag60.xml"/><Relationship Id="rId59" Type="http://schemas.openxmlformats.org/officeDocument/2006/relationships/slideLayout" Target="../slideLayouts/slideLayout14.xml"/><Relationship Id="rId20" Type="http://schemas.openxmlformats.org/officeDocument/2006/relationships/tags" Target="../tags/tag34.xml"/><Relationship Id="rId41" Type="http://schemas.openxmlformats.org/officeDocument/2006/relationships/tags" Target="../tags/tag55.xml"/><Relationship Id="rId54" Type="http://schemas.openxmlformats.org/officeDocument/2006/relationships/tags" Target="../tags/tag68.xml"/><Relationship Id="rId1" Type="http://schemas.openxmlformats.org/officeDocument/2006/relationships/tags" Target="../tags/tag15.xml"/><Relationship Id="rId6" Type="http://schemas.openxmlformats.org/officeDocument/2006/relationships/tags" Target="../tags/tag20.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tags" Target="../tags/tag42.xml"/><Relationship Id="rId36" Type="http://schemas.openxmlformats.org/officeDocument/2006/relationships/tags" Target="../tags/tag50.xml"/><Relationship Id="rId49" Type="http://schemas.openxmlformats.org/officeDocument/2006/relationships/tags" Target="../tags/tag63.xml"/><Relationship Id="rId57" Type="http://schemas.openxmlformats.org/officeDocument/2006/relationships/tags" Target="../tags/tag71.xml"/><Relationship Id="rId10" Type="http://schemas.openxmlformats.org/officeDocument/2006/relationships/tags" Target="../tags/tag24.xml"/><Relationship Id="rId31" Type="http://schemas.openxmlformats.org/officeDocument/2006/relationships/tags" Target="../tags/tag45.xml"/><Relationship Id="rId44" Type="http://schemas.openxmlformats.org/officeDocument/2006/relationships/tags" Target="../tags/tag58.xml"/><Relationship Id="rId52" Type="http://schemas.openxmlformats.org/officeDocument/2006/relationships/tags" Target="../tags/tag66.xml"/></Relationships>
</file>

<file path=ppt/slides/_rels/slide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slide" Target="slide10.xml"/><Relationship Id="rId3" Type="http://schemas.openxmlformats.org/officeDocument/2006/relationships/image" Target="../media/image6.png"/><Relationship Id="rId7" Type="http://schemas.openxmlformats.org/officeDocument/2006/relationships/slide" Target="slide7.xml"/><Relationship Id="rId12" Type="http://schemas.openxmlformats.org/officeDocument/2006/relationships/image" Target="../media/image9.png"/><Relationship Id="rId2" Type="http://schemas.openxmlformats.org/officeDocument/2006/relationships/slideLayout" Target="../slideLayouts/slideLayout14.xml"/><Relationship Id="rId1" Type="http://schemas.openxmlformats.org/officeDocument/2006/relationships/themeOverride" Target="../theme/themeOverride2.xml"/><Relationship Id="rId6" Type="http://schemas.openxmlformats.org/officeDocument/2006/relationships/image" Target="../media/image7.png"/><Relationship Id="rId11" Type="http://schemas.openxmlformats.org/officeDocument/2006/relationships/image" Target="../media/image80.png"/><Relationship Id="rId5" Type="http://schemas.openxmlformats.org/officeDocument/2006/relationships/image" Target="../media/image60.png"/><Relationship Id="rId10" Type="http://schemas.openxmlformats.org/officeDocument/2006/relationships/slide" Target="slide9.xml"/><Relationship Id="rId4" Type="http://schemas.openxmlformats.org/officeDocument/2006/relationships/slide" Target="slide6.xml"/><Relationship Id="rId9" Type="http://schemas.openxmlformats.org/officeDocument/2006/relationships/image" Target="../media/image8.png"/><Relationship Id="rId14" Type="http://schemas.openxmlformats.org/officeDocument/2006/relationships/image" Target="../media/image9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hemeOverride" Target="../theme/themeOverride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3.xml"/><Relationship Id="rId1" Type="http://schemas.openxmlformats.org/officeDocument/2006/relationships/themeOverride" Target="../theme/themeOverride5.xml"/><Relationship Id="rId4"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CC94514-1502-7445-9201-7BD20CD9B125}"/>
              </a:ext>
            </a:extLst>
          </p:cNvPr>
          <p:cNvSpPr>
            <a:spLocks noGrp="1"/>
          </p:cNvSpPr>
          <p:nvPr>
            <p:ph type="title"/>
          </p:nvPr>
        </p:nvSpPr>
        <p:spPr>
          <a:xfrm>
            <a:off x="2645229" y="2677459"/>
            <a:ext cx="8949124" cy="1503083"/>
          </a:xfrm>
        </p:spPr>
        <p:txBody>
          <a:bodyPr/>
          <a:lstStyle/>
          <a:p>
            <a:r>
              <a:rPr lang="es-ES_tradnl" sz="2650" err="1"/>
              <a:t>Fit</a:t>
            </a:r>
            <a:r>
              <a:rPr lang="es-ES_tradnl" sz="2650"/>
              <a:t> </a:t>
            </a:r>
            <a:r>
              <a:rPr lang="es-ES_tradnl" sz="2650" err="1"/>
              <a:t>for</a:t>
            </a:r>
            <a:r>
              <a:rPr lang="es-ES_tradnl" sz="2650"/>
              <a:t> </a:t>
            </a:r>
            <a:r>
              <a:rPr lang="es-ES_tradnl" sz="2650" err="1"/>
              <a:t>Purpose</a:t>
            </a:r>
            <a:r>
              <a:rPr lang="es-ES_tradnl" sz="2650"/>
              <a:t> 2026</a:t>
            </a:r>
            <a:br>
              <a:rPr lang="es-ES_tradnl" sz="2650"/>
            </a:br>
            <a:r>
              <a:rPr lang="es-ES_tradnl" sz="2650" b="1"/>
              <a:t>Tecnología de Información | Soluciones </a:t>
            </a:r>
            <a:r>
              <a:rPr lang="es-ES_tradnl" sz="2650" b="1" err="1"/>
              <a:t>Backoffice</a:t>
            </a:r>
            <a:br>
              <a:rPr lang="es-ES_tradnl" sz="2650" b="0" i="1"/>
            </a:br>
            <a:r>
              <a:rPr lang="es-ES_tradnl" sz="2400" b="0" i="1"/>
              <a:t>Etapa de Detalle de actividades e interacciones</a:t>
            </a:r>
          </a:p>
        </p:txBody>
      </p:sp>
      <p:sp>
        <p:nvSpPr>
          <p:cNvPr id="2" name="CuadroTexto 1">
            <a:extLst>
              <a:ext uri="{FF2B5EF4-FFF2-40B4-BE49-F238E27FC236}">
                <a16:creationId xmlns:a16="http://schemas.microsoft.com/office/drawing/2014/main" id="{E9847210-94E5-A154-DA52-73E17453356B}"/>
              </a:ext>
            </a:extLst>
          </p:cNvPr>
          <p:cNvSpPr txBox="1"/>
          <p:nvPr/>
        </p:nvSpPr>
        <p:spPr>
          <a:xfrm>
            <a:off x="10553700" y="6324600"/>
            <a:ext cx="1800225" cy="369332"/>
          </a:xfrm>
          <a:prstGeom prst="rect">
            <a:avLst/>
          </a:prstGeom>
          <a:noFill/>
        </p:spPr>
        <p:txBody>
          <a:bodyPr wrap="square" rtlCol="0">
            <a:spAutoFit/>
          </a:bodyPr>
          <a:lstStyle/>
          <a:p>
            <a:pPr algn="l"/>
            <a:r>
              <a:rPr lang="es-MX">
                <a:solidFill>
                  <a:schemeClr val="bg1"/>
                </a:solidFill>
                <a:latin typeface="Calibri" panose="020F0502020204030204" pitchFamily="34" charset="0"/>
                <a:cs typeface="Calibri" panose="020F0502020204030204" pitchFamily="34" charset="0"/>
              </a:rPr>
              <a:t>Marzo 2026</a:t>
            </a:r>
          </a:p>
        </p:txBody>
      </p:sp>
    </p:spTree>
    <p:extLst>
      <p:ext uri="{BB962C8B-B14F-4D97-AF65-F5344CB8AC3E}">
        <p14:creationId xmlns:p14="http://schemas.microsoft.com/office/powerpoint/2010/main" val="3748555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C3242F-D6B6-8883-7120-F7EB9B266701}"/>
              </a:ext>
            </a:extLst>
          </p:cNvPr>
          <p:cNvSpPr>
            <a:spLocks noGrp="1"/>
          </p:cNvSpPr>
          <p:nvPr>
            <p:ph type="title"/>
          </p:nvPr>
        </p:nvSpPr>
        <p:spPr/>
        <p:txBody>
          <a:bodyPr/>
          <a:lstStyle/>
          <a:p>
            <a:r>
              <a:rPr lang="es-MX"/>
              <a:t>Agenda</a:t>
            </a:r>
          </a:p>
        </p:txBody>
      </p:sp>
      <p:sp>
        <p:nvSpPr>
          <p:cNvPr id="3" name="Marcador de contenido 2">
            <a:extLst>
              <a:ext uri="{FF2B5EF4-FFF2-40B4-BE49-F238E27FC236}">
                <a16:creationId xmlns:a16="http://schemas.microsoft.com/office/drawing/2014/main" id="{6537DE6F-1964-E3F7-C046-CE9D29BB7EDE}"/>
              </a:ext>
            </a:extLst>
          </p:cNvPr>
          <p:cNvSpPr>
            <a:spLocks noGrp="1"/>
          </p:cNvSpPr>
          <p:nvPr>
            <p:ph idx="1"/>
          </p:nvPr>
        </p:nvSpPr>
        <p:spPr>
          <a:xfrm>
            <a:off x="609600" y="1815193"/>
            <a:ext cx="10972800" cy="4800000"/>
          </a:xfrm>
        </p:spPr>
        <p:txBody>
          <a:bodyPr anchor="ctr"/>
          <a:lstStyle/>
          <a:p>
            <a:pPr>
              <a:lnSpc>
                <a:spcPct val="150000"/>
              </a:lnSpc>
            </a:pPr>
            <a:r>
              <a:rPr lang="es-MX"/>
              <a:t>Racional </a:t>
            </a:r>
            <a:r>
              <a:rPr lang="es-MX" err="1"/>
              <a:t>Fit</a:t>
            </a:r>
            <a:r>
              <a:rPr lang="es-MX"/>
              <a:t> </a:t>
            </a:r>
            <a:r>
              <a:rPr lang="es-MX" err="1"/>
              <a:t>for</a:t>
            </a:r>
            <a:r>
              <a:rPr lang="es-MX"/>
              <a:t> </a:t>
            </a:r>
            <a:r>
              <a:rPr lang="es-MX" err="1"/>
              <a:t>Purpose</a:t>
            </a:r>
            <a:r>
              <a:rPr lang="es-MX"/>
              <a:t> (5 min)</a:t>
            </a:r>
          </a:p>
          <a:p>
            <a:pPr lvl="1">
              <a:lnSpc>
                <a:spcPct val="150000"/>
              </a:lnSpc>
            </a:pPr>
            <a:r>
              <a:rPr lang="es-MX"/>
              <a:t>Alcance 2026</a:t>
            </a:r>
          </a:p>
          <a:p>
            <a:pPr>
              <a:lnSpc>
                <a:spcPct val="150000"/>
              </a:lnSpc>
            </a:pPr>
            <a:r>
              <a:rPr lang="es-MX"/>
              <a:t>Entendimiento posiciones plataforma (40 min)</a:t>
            </a:r>
          </a:p>
          <a:p>
            <a:pPr lvl="1">
              <a:lnSpc>
                <a:spcPct val="150000"/>
              </a:lnSpc>
            </a:pPr>
            <a:r>
              <a:rPr lang="es-MX"/>
              <a:t>Percepción inicial</a:t>
            </a:r>
          </a:p>
          <a:p>
            <a:pPr lvl="1">
              <a:lnSpc>
                <a:spcPct val="150000"/>
              </a:lnSpc>
            </a:pPr>
            <a:r>
              <a:rPr lang="es-MX"/>
              <a:t>Descripción de puesto L2</a:t>
            </a:r>
          </a:p>
          <a:p>
            <a:pPr lvl="1">
              <a:lnSpc>
                <a:spcPct val="150000"/>
              </a:lnSpc>
            </a:pPr>
            <a:r>
              <a:rPr lang="es-MX"/>
              <a:t>Principales contribuciones del área</a:t>
            </a:r>
          </a:p>
          <a:p>
            <a:pPr lvl="1">
              <a:lnSpc>
                <a:spcPct val="150000"/>
              </a:lnSpc>
            </a:pPr>
            <a:r>
              <a:rPr lang="es-MX"/>
              <a:t>Interacciones entre áreas y procesos clave</a:t>
            </a:r>
          </a:p>
          <a:p>
            <a:pPr>
              <a:lnSpc>
                <a:spcPct val="150000"/>
              </a:lnSpc>
            </a:pPr>
            <a:r>
              <a:rPr lang="es-MX"/>
              <a:t>Siguientes pasos (5 min)</a:t>
            </a:r>
          </a:p>
          <a:p>
            <a:endParaRPr lang="es-MX"/>
          </a:p>
          <a:p>
            <a:endParaRPr lang="es-MX"/>
          </a:p>
          <a:p>
            <a:endParaRPr lang="es-MX"/>
          </a:p>
        </p:txBody>
      </p:sp>
    </p:spTree>
    <p:extLst>
      <p:ext uri="{BB962C8B-B14F-4D97-AF65-F5344CB8AC3E}">
        <p14:creationId xmlns:p14="http://schemas.microsoft.com/office/powerpoint/2010/main" val="4059062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30">
            <a:extLst>
              <a:ext uri="{FF2B5EF4-FFF2-40B4-BE49-F238E27FC236}">
                <a16:creationId xmlns:a16="http://schemas.microsoft.com/office/drawing/2014/main" id="{BCF91F4B-9BD8-B6BB-D452-AB34BA160CF2}"/>
              </a:ext>
            </a:extLst>
          </p:cNvPr>
          <p:cNvSpPr/>
          <p:nvPr>
            <p:custDataLst>
              <p:tags r:id="rId2"/>
            </p:custDataLst>
          </p:nvPr>
        </p:nvSpPr>
        <p:spPr bwMode="auto">
          <a:xfrm>
            <a:off x="2529841" y="585778"/>
            <a:ext cx="5160263" cy="353620"/>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3" name="Rectangle 30">
            <a:extLst>
              <a:ext uri="{FF2B5EF4-FFF2-40B4-BE49-F238E27FC236}">
                <a16:creationId xmlns:a16="http://schemas.microsoft.com/office/drawing/2014/main" id="{D5F622C4-A1C4-D27E-EBA7-0B1673BA546E}"/>
              </a:ext>
            </a:extLst>
          </p:cNvPr>
          <p:cNvSpPr/>
          <p:nvPr>
            <p:custDataLst>
              <p:tags r:id="rId3"/>
            </p:custDataLst>
          </p:nvPr>
        </p:nvSpPr>
        <p:spPr bwMode="auto">
          <a:xfrm>
            <a:off x="1414275" y="222452"/>
            <a:ext cx="5297421" cy="353620"/>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2" name="Title 1">
            <a:extLst>
              <a:ext uri="{FF2B5EF4-FFF2-40B4-BE49-F238E27FC236}">
                <a16:creationId xmlns:a16="http://schemas.microsoft.com/office/drawing/2014/main" id="{CE1984FD-325A-1DAF-441E-E4E389F39E0D}"/>
              </a:ext>
            </a:extLst>
          </p:cNvPr>
          <p:cNvSpPr>
            <a:spLocks noGrp="1"/>
          </p:cNvSpPr>
          <p:nvPr>
            <p:ph type="title"/>
            <p:custDataLst>
              <p:tags r:id="rId4"/>
            </p:custDataLst>
          </p:nvPr>
        </p:nvSpPr>
        <p:spPr>
          <a:xfrm>
            <a:off x="508760" y="170280"/>
            <a:ext cx="7931152" cy="830997"/>
          </a:xfrm>
          <a:noFill/>
        </p:spPr>
        <p:txBody>
          <a:bodyPr vert="horz"/>
          <a:lstStyle/>
          <a:p>
            <a:r>
              <a:rPr lang="es-ES"/>
              <a:t>Hemos </a:t>
            </a:r>
            <a:r>
              <a:rPr lang="es-ES">
                <a:solidFill>
                  <a:schemeClr val="bg1"/>
                </a:solidFill>
              </a:rPr>
              <a:t>completado el diseño de nuestra organización, </a:t>
            </a:r>
            <a:r>
              <a:rPr lang="es-ES"/>
              <a:t>un primer paso crítico en la </a:t>
            </a:r>
            <a:r>
              <a:rPr lang="es-ES">
                <a:solidFill>
                  <a:schemeClr val="bg1"/>
                </a:solidFill>
              </a:rPr>
              <a:t>redefinición de nuestra dirección estratégica</a:t>
            </a:r>
            <a:endParaRPr lang="en-US">
              <a:solidFill>
                <a:schemeClr val="bg1"/>
              </a:solidFill>
            </a:endParaRPr>
          </a:p>
        </p:txBody>
      </p:sp>
      <p:sp>
        <p:nvSpPr>
          <p:cNvPr id="15" name="btfpBulletedList340998">
            <a:extLst>
              <a:ext uri="{FF2B5EF4-FFF2-40B4-BE49-F238E27FC236}">
                <a16:creationId xmlns:a16="http://schemas.microsoft.com/office/drawing/2014/main" id="{6774FF68-F920-0700-BE7A-A260E0F70D61}"/>
              </a:ext>
            </a:extLst>
          </p:cNvPr>
          <p:cNvSpPr/>
          <p:nvPr>
            <p:custDataLst>
              <p:tags r:id="rId5"/>
            </p:custDataLst>
          </p:nvPr>
        </p:nvSpPr>
        <p:spPr bwMode="auto">
          <a:xfrm>
            <a:off x="330242" y="1430015"/>
            <a:ext cx="11531558" cy="935159"/>
          </a:xfrm>
          <a:prstGeom prst="rect">
            <a:avLst/>
          </a:prstGeom>
          <a:solidFill>
            <a:srgbClr val="FFFFFF"/>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7800" marR="0" lvl="0" indent="-177800" algn="l" defTabSz="914400" rtl="0" eaLnBrk="1" fontAlgn="base" latinLnBrk="0" hangingPunct="0">
              <a:lnSpc>
                <a:spcPct val="100000"/>
              </a:lnSpc>
              <a:spcBef>
                <a:spcPts val="1200"/>
              </a:spcBef>
              <a:spcAft>
                <a:spcPts val="0"/>
              </a:spcAft>
              <a:buClrTx/>
              <a:buSzTx/>
              <a:buFont typeface="Wingdings" pitchFamily="2" charset="2"/>
              <a:buChar char="Ø"/>
              <a:tabLst/>
              <a:defRPr/>
            </a:pPr>
            <a:r>
              <a:rPr kumimoji="0" lang="es-ES" sz="1800" b="1" i="0" u="none" strike="noStrike" kern="1200" cap="none" spc="0" normalizeH="0" baseline="0" noProof="0">
                <a:ln>
                  <a:noFill/>
                </a:ln>
                <a:solidFill>
                  <a:srgbClr val="000000"/>
                </a:solidFill>
                <a:effectLst/>
                <a:uLnTx/>
                <a:uFillTx/>
                <a:latin typeface="Open Sans"/>
                <a:ea typeface="Open Sans"/>
                <a:cs typeface="Arial"/>
              </a:rPr>
              <a:t>La nueva organización que estamos construyendo está adaptada a nuestro propósito y lista para cumplir con nuestra dirección estratégica redefinida.</a:t>
            </a:r>
          </a:p>
          <a:p>
            <a:pPr marL="177800" marR="0" lvl="0" indent="-177800" algn="l" defTabSz="914400" rtl="0" eaLnBrk="1" fontAlgn="base" latinLnBrk="0" hangingPunct="0">
              <a:lnSpc>
                <a:spcPct val="100000"/>
              </a:lnSpc>
              <a:spcBef>
                <a:spcPts val="1200"/>
              </a:spcBef>
              <a:spcAft>
                <a:spcPts val="0"/>
              </a:spcAft>
              <a:buClrTx/>
              <a:buSzTx/>
              <a:buFont typeface="Wingdings" pitchFamily="2" charset="2"/>
              <a:buChar char="Ø"/>
              <a:tabLst/>
              <a:defRPr/>
            </a:pPr>
            <a:r>
              <a:rPr kumimoji="0" lang="es-ES" sz="1800" b="1" i="0" u="none" strike="noStrike" kern="1200" cap="none" spc="0" normalizeH="0" baseline="0" noProof="0">
                <a:ln>
                  <a:noFill/>
                </a:ln>
                <a:solidFill>
                  <a:srgbClr val="000000"/>
                </a:solidFill>
                <a:effectLst/>
                <a:uLnTx/>
                <a:uFillTx/>
                <a:latin typeface="Open Sans"/>
                <a:ea typeface="Open Sans"/>
                <a:cs typeface="Arial"/>
              </a:rPr>
              <a:t>El diseño del modelo operativo contempla 5 cambios principales:</a:t>
            </a:r>
            <a:endParaRPr kumimoji="0" lang="en-US" sz="1800" b="1" i="0" u="none" strike="noStrike" kern="1200" cap="none" spc="0" normalizeH="0" baseline="0" noProof="0">
              <a:ln>
                <a:noFill/>
              </a:ln>
              <a:solidFill>
                <a:srgbClr val="000000"/>
              </a:solidFill>
              <a:effectLst/>
              <a:uLnTx/>
              <a:uFillTx/>
              <a:latin typeface="Open Sans"/>
              <a:ea typeface="Open Sans"/>
              <a:cs typeface="Arial"/>
            </a:endParaRPr>
          </a:p>
        </p:txBody>
      </p:sp>
      <p:sp>
        <p:nvSpPr>
          <p:cNvPr id="16" name="Rectangle 25">
            <a:extLst>
              <a:ext uri="{FF2B5EF4-FFF2-40B4-BE49-F238E27FC236}">
                <a16:creationId xmlns:a16="http://schemas.microsoft.com/office/drawing/2014/main" id="{40624427-A82C-57CA-2AE4-F626493A8C6F}"/>
              </a:ext>
            </a:extLst>
          </p:cNvPr>
          <p:cNvSpPr/>
          <p:nvPr>
            <p:custDataLst>
              <p:tags r:id="rId6"/>
            </p:custDataLst>
          </p:nvPr>
        </p:nvSpPr>
        <p:spPr bwMode="auto">
          <a:xfrm>
            <a:off x="1170517" y="2834940"/>
            <a:ext cx="9611444" cy="419100"/>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0" i="0" u="none" strike="noStrike" kern="1200" cap="none" spc="0" normalizeH="0" baseline="0" noProof="0">
                <a:ln>
                  <a:noFill/>
                </a:ln>
                <a:solidFill>
                  <a:srgbClr val="000000"/>
                </a:solidFill>
                <a:effectLst/>
                <a:uLnTx/>
                <a:uFillTx/>
                <a:latin typeface="Open Sans"/>
                <a:ea typeface="Open Sans"/>
                <a:cs typeface="Arial"/>
              </a:rPr>
              <a:t>Coloca al </a:t>
            </a:r>
            <a:r>
              <a:rPr kumimoji="0" lang="es-ES" sz="1600" b="1" i="0" u="none" strike="noStrike" kern="1200" cap="none" spc="0" normalizeH="0" baseline="0" noProof="0">
                <a:ln>
                  <a:noFill/>
                </a:ln>
                <a:solidFill>
                  <a:srgbClr val="FF7F32"/>
                </a:solidFill>
                <a:effectLst/>
                <a:uLnTx/>
                <a:uFillTx/>
                <a:latin typeface="Open Sans"/>
                <a:ea typeface="Open Sans"/>
                <a:cs typeface="Arial"/>
              </a:rPr>
              <a:t>Cliente en el centro</a:t>
            </a:r>
            <a:r>
              <a:rPr kumimoji="0" lang="es-ES" sz="1600" b="0" i="0" u="none" strike="noStrike" kern="1200" cap="none" spc="0" normalizeH="0" baseline="0" noProof="0">
                <a:ln>
                  <a:noFill/>
                </a:ln>
                <a:solidFill>
                  <a:srgbClr val="000000"/>
                </a:solidFill>
                <a:effectLst/>
                <a:uLnTx/>
                <a:uFillTx/>
                <a:latin typeface="Open Sans"/>
                <a:ea typeface="Open Sans"/>
                <a:cs typeface="Arial"/>
              </a:rPr>
              <a:t>, anclando la propuesta de valor en nuestras tiendas y asegurando que el cliente sea el eje de todos nuestros procesos. Fortalecer la </a:t>
            </a:r>
            <a:r>
              <a:rPr kumimoji="0" lang="es-ES" sz="1600" b="1" i="0" u="none" strike="noStrike" kern="1200" cap="none" spc="0" normalizeH="0" baseline="0" noProof="0">
                <a:ln>
                  <a:noFill/>
                </a:ln>
                <a:solidFill>
                  <a:srgbClr val="FF7F32"/>
                </a:solidFill>
                <a:effectLst/>
                <a:uLnTx/>
                <a:uFillTx/>
                <a:latin typeface="Open Sans"/>
                <a:ea typeface="Open Sans"/>
                <a:cs typeface="Arial"/>
              </a:rPr>
              <a:t>Voz del Cliente </a:t>
            </a:r>
            <a:r>
              <a:rPr kumimoji="0" lang="es-ES" sz="1600" b="0" i="0" u="none" strike="noStrike" kern="1200" cap="none" spc="0" normalizeH="0" baseline="0" noProof="0">
                <a:ln>
                  <a:noFill/>
                </a:ln>
                <a:solidFill>
                  <a:srgbClr val="000000"/>
                </a:solidFill>
                <a:effectLst/>
                <a:uLnTx/>
                <a:uFillTx/>
                <a:latin typeface="Open Sans"/>
                <a:ea typeface="Open Sans"/>
                <a:cs typeface="Arial"/>
              </a:rPr>
              <a:t>para asegurar el valor a largo plazo.</a:t>
            </a:r>
          </a:p>
        </p:txBody>
      </p:sp>
      <p:sp>
        <p:nvSpPr>
          <p:cNvPr id="17" name="Rectangle 26">
            <a:extLst>
              <a:ext uri="{FF2B5EF4-FFF2-40B4-BE49-F238E27FC236}">
                <a16:creationId xmlns:a16="http://schemas.microsoft.com/office/drawing/2014/main" id="{655212EF-CD3E-1EC4-B1D1-6F50C2E9A5D1}"/>
              </a:ext>
            </a:extLst>
          </p:cNvPr>
          <p:cNvSpPr/>
          <p:nvPr>
            <p:custDataLst>
              <p:tags r:id="rId7"/>
            </p:custDataLst>
          </p:nvPr>
        </p:nvSpPr>
        <p:spPr bwMode="auto">
          <a:xfrm>
            <a:off x="1170517" y="3521201"/>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0" i="0" u="none" strike="noStrike" kern="1200" cap="none" spc="0" normalizeH="0" baseline="0" noProof="0">
                <a:ln>
                  <a:noFill/>
                </a:ln>
                <a:solidFill>
                  <a:srgbClr val="000000"/>
                </a:solidFill>
                <a:effectLst/>
                <a:uLnTx/>
                <a:uFillTx/>
                <a:latin typeface="Open Sans"/>
                <a:ea typeface="Open Sans"/>
                <a:cs typeface="Arial"/>
              </a:rPr>
              <a:t>Enfoque al </a:t>
            </a:r>
            <a:r>
              <a:rPr kumimoji="0" lang="es-ES" sz="1600" b="1" i="0" u="none" strike="noStrike" kern="1200" cap="none" spc="0" normalizeH="0" baseline="0" noProof="0">
                <a:ln>
                  <a:noFill/>
                </a:ln>
                <a:solidFill>
                  <a:srgbClr val="FF7F32"/>
                </a:solidFill>
                <a:effectLst/>
                <a:uLnTx/>
                <a:uFillTx/>
                <a:latin typeface="Open Sans"/>
                <a:ea typeface="Open Sans"/>
                <a:cs typeface="Arial"/>
              </a:rPr>
              <a:t>crecimiento principal del negocio</a:t>
            </a:r>
            <a:r>
              <a:rPr kumimoji="0" lang="es-ES" sz="1600" b="0" i="0" u="none" strike="noStrike" kern="1200" cap="none" spc="0" normalizeH="0" baseline="0" noProof="0">
                <a:ln>
                  <a:noFill/>
                </a:ln>
                <a:solidFill>
                  <a:srgbClr val="000000"/>
                </a:solidFill>
                <a:effectLst/>
                <a:uLnTx/>
                <a:uFillTx/>
                <a:latin typeface="Open Sans"/>
                <a:ea typeface="Open Sans"/>
                <a:cs typeface="Arial"/>
              </a:rPr>
              <a:t>, construyendo alrededor de las tres misiones estratégicas (impulso, reposición diaria y </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foodvenience</a:t>
            </a:r>
            <a:r>
              <a:rPr kumimoji="0" lang="es-ES" sz="1600" b="0" i="0" u="none" strike="noStrike" kern="1200" cap="none" spc="0" normalizeH="0" baseline="0" noProof="0">
                <a:ln>
                  <a:noFill/>
                </a:ln>
                <a:solidFill>
                  <a:srgbClr val="000000"/>
                </a:solidFill>
                <a:effectLst/>
                <a:uLnTx/>
                <a:uFillTx/>
                <a:latin typeface="Open Sans"/>
                <a:ea typeface="Open Sans"/>
                <a:cs typeface="Arial"/>
              </a:rPr>
              <a:t>), reenfocando nuestra estrategia comercial.</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8" name="Rectangle 27">
            <a:extLst>
              <a:ext uri="{FF2B5EF4-FFF2-40B4-BE49-F238E27FC236}">
                <a16:creationId xmlns:a16="http://schemas.microsoft.com/office/drawing/2014/main" id="{1AC72AEF-A584-F23F-DA39-C1A3FC62F5DC}"/>
              </a:ext>
            </a:extLst>
          </p:cNvPr>
          <p:cNvSpPr/>
          <p:nvPr>
            <p:custDataLst>
              <p:tags r:id="rId8"/>
            </p:custDataLst>
          </p:nvPr>
        </p:nvSpPr>
        <p:spPr bwMode="auto">
          <a:xfrm>
            <a:off x="1170517" y="4156662"/>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Establece a Servicios Comerciales como un motor de crecimiento </a:t>
            </a:r>
            <a:r>
              <a:rPr kumimoji="0" lang="es-ES" sz="1600" b="0" i="0" u="none" strike="noStrike" kern="1200" cap="none" spc="0" normalizeH="0" baseline="0" noProof="0">
                <a:ln>
                  <a:noFill/>
                </a:ln>
                <a:solidFill>
                  <a:srgbClr val="000000"/>
                </a:solidFill>
                <a:effectLst/>
                <a:uLnTx/>
                <a:uFillTx/>
                <a:latin typeface="Open Sans"/>
                <a:ea typeface="Open Sans"/>
                <a:cs typeface="Arial"/>
              </a:rPr>
              <a:t>independiente, con enfoque y recursos dedicados.</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9" name="Rectangle 28">
            <a:extLst>
              <a:ext uri="{FF2B5EF4-FFF2-40B4-BE49-F238E27FC236}">
                <a16:creationId xmlns:a16="http://schemas.microsoft.com/office/drawing/2014/main" id="{85190384-2B37-CA71-97A1-BBE5276C2F52}"/>
              </a:ext>
            </a:extLst>
          </p:cNvPr>
          <p:cNvSpPr/>
          <p:nvPr>
            <p:custDataLst>
              <p:tags r:id="rId9"/>
            </p:custDataLst>
          </p:nvPr>
        </p:nvSpPr>
        <p:spPr bwMode="auto">
          <a:xfrm>
            <a:off x="1170517" y="4792123"/>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711200" rtl="0" eaLnBrk="1" fontAlgn="auto" latinLnBrk="0" hangingPunct="1">
              <a:lnSpc>
                <a:spcPct val="100000"/>
              </a:lnSpc>
              <a:spcBef>
                <a:spcPts val="6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Incorpora excelencia operativa en los procesos </a:t>
            </a:r>
            <a:r>
              <a:rPr kumimoji="0" lang="es-ES" sz="1600" b="1" i="0" u="none" strike="noStrike" kern="1200" cap="none" spc="0" normalizeH="0" baseline="0" noProof="0" err="1">
                <a:ln>
                  <a:noFill/>
                </a:ln>
                <a:solidFill>
                  <a:srgbClr val="FF7F32"/>
                </a:solidFill>
                <a:effectLst/>
                <a:uLnTx/>
                <a:uFillTx/>
                <a:latin typeface="Open Sans"/>
                <a:ea typeface="Open Sans"/>
                <a:cs typeface="Arial"/>
              </a:rPr>
              <a:t>end-to-end</a:t>
            </a:r>
            <a:r>
              <a:rPr kumimoji="0" lang="es-ES" sz="1600" b="0" i="0" u="none" strike="noStrike" kern="1200" cap="none" spc="0" normalizeH="0" baseline="0" noProof="0">
                <a:ln>
                  <a:noFill/>
                </a:ln>
                <a:solidFill>
                  <a:srgbClr val="000000"/>
                </a:solidFill>
                <a:effectLst/>
                <a:uLnTx/>
                <a:uFillTx/>
                <a:latin typeface="Open Sans"/>
                <a:ea typeface="Open Sans"/>
                <a:cs typeface="Arial"/>
              </a:rPr>
              <a:t>, para ofrecer una ejecución eficiente en tienda y brindar a los clientes una experiencia </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best</a:t>
            </a:r>
            <a:r>
              <a:rPr kumimoji="0" lang="es-ES" sz="1600" b="0" i="0" u="none" strike="noStrike" kern="1200" cap="none" spc="0" normalizeH="0" baseline="0" noProof="0">
                <a:ln>
                  <a:noFill/>
                </a:ln>
                <a:solidFill>
                  <a:srgbClr val="000000"/>
                </a:solidFill>
                <a:effectLst/>
                <a:uLnTx/>
                <a:uFillTx/>
                <a:latin typeface="Open Sans"/>
                <a:ea typeface="Open Sans"/>
                <a:cs typeface="Arial"/>
              </a:rPr>
              <a:t>-</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in-class</a:t>
            </a:r>
            <a:r>
              <a:rPr kumimoji="0" lang="es-ES" sz="1600" b="0" i="0" u="none" strike="noStrike" kern="1200" cap="none" spc="0" normalizeH="0" baseline="0" noProof="0">
                <a:ln>
                  <a:noFill/>
                </a:ln>
                <a:solidFill>
                  <a:srgbClr val="000000"/>
                </a:solidFill>
                <a:effectLst/>
                <a:uLnTx/>
                <a:uFillTx/>
                <a:latin typeface="Open Sans"/>
                <a:ea typeface="Open Sans"/>
                <a:cs typeface="Arial"/>
              </a:rPr>
              <a:t>.</a:t>
            </a:r>
            <a:endParaRPr kumimoji="0" lang="es-MX"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20" name="Rectangle 29">
            <a:extLst>
              <a:ext uri="{FF2B5EF4-FFF2-40B4-BE49-F238E27FC236}">
                <a16:creationId xmlns:a16="http://schemas.microsoft.com/office/drawing/2014/main" id="{B88B6AC4-B4D5-B039-DA62-4A94019FBAC8}"/>
              </a:ext>
            </a:extLst>
          </p:cNvPr>
          <p:cNvSpPr/>
          <p:nvPr>
            <p:custDataLst>
              <p:tags r:id="rId10"/>
            </p:custDataLst>
          </p:nvPr>
        </p:nvSpPr>
        <p:spPr bwMode="auto">
          <a:xfrm>
            <a:off x="1170517" y="5528946"/>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711200" rtl="0" eaLnBrk="1" fontAlgn="auto" latinLnBrk="0" hangingPunct="1">
              <a:lnSpc>
                <a:spcPct val="100000"/>
              </a:lnSpc>
              <a:spcBef>
                <a:spcPts val="6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Fortalece Estrategia y Transformación </a:t>
            </a:r>
            <a:r>
              <a:rPr kumimoji="0" lang="es-ES" sz="1600" b="0" i="0" u="none" strike="noStrike" kern="1200" cap="none" spc="0" normalizeH="0" baseline="0" noProof="0">
                <a:ln>
                  <a:noFill/>
                </a:ln>
                <a:solidFill>
                  <a:srgbClr val="000000"/>
                </a:solidFill>
                <a:effectLst/>
                <a:uLnTx/>
                <a:uFillTx/>
                <a:latin typeface="Open Sans"/>
                <a:ea typeface="Open Sans"/>
                <a:cs typeface="Arial"/>
              </a:rPr>
              <a:t>como el orquestador del cambio y asegurador de la generación de valor en nuestras iniciativas de negocio a largo plazo.</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21" name="btfpNumberBubble877561">
            <a:extLst>
              <a:ext uri="{FF2B5EF4-FFF2-40B4-BE49-F238E27FC236}">
                <a16:creationId xmlns:a16="http://schemas.microsoft.com/office/drawing/2014/main" id="{04E4DEA9-AE37-1503-B393-CA7C5875B871}"/>
              </a:ext>
            </a:extLst>
          </p:cNvPr>
          <p:cNvSpPr/>
          <p:nvPr>
            <p:custDataLst>
              <p:tags r:id="rId11"/>
            </p:custDataLst>
          </p:nvPr>
        </p:nvSpPr>
        <p:spPr bwMode="auto">
          <a:xfrm>
            <a:off x="791399" y="276429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22" name="btfpNumberBubble877561">
            <a:extLst>
              <a:ext uri="{FF2B5EF4-FFF2-40B4-BE49-F238E27FC236}">
                <a16:creationId xmlns:a16="http://schemas.microsoft.com/office/drawing/2014/main" id="{38793E7E-F9AA-070E-86C7-6C7DD4DF96ED}"/>
              </a:ext>
            </a:extLst>
          </p:cNvPr>
          <p:cNvSpPr/>
          <p:nvPr>
            <p:custDataLst>
              <p:tags r:id="rId12"/>
            </p:custDataLst>
          </p:nvPr>
        </p:nvSpPr>
        <p:spPr bwMode="auto">
          <a:xfrm>
            <a:off x="791399" y="3583848"/>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23" name="btfpNumberBubble877561">
            <a:extLst>
              <a:ext uri="{FF2B5EF4-FFF2-40B4-BE49-F238E27FC236}">
                <a16:creationId xmlns:a16="http://schemas.microsoft.com/office/drawing/2014/main" id="{34E1A335-0385-7EF0-6264-89D4C7B51E88}"/>
              </a:ext>
            </a:extLst>
          </p:cNvPr>
          <p:cNvSpPr/>
          <p:nvPr>
            <p:custDataLst>
              <p:tags r:id="rId13"/>
            </p:custDataLst>
          </p:nvPr>
        </p:nvSpPr>
        <p:spPr bwMode="auto">
          <a:xfrm>
            <a:off x="791399" y="419155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24" name="btfpNumberBubble877561">
            <a:extLst>
              <a:ext uri="{FF2B5EF4-FFF2-40B4-BE49-F238E27FC236}">
                <a16:creationId xmlns:a16="http://schemas.microsoft.com/office/drawing/2014/main" id="{3F50E6D1-0F58-ED65-920B-4A1A841D5535}"/>
              </a:ext>
            </a:extLst>
          </p:cNvPr>
          <p:cNvSpPr/>
          <p:nvPr>
            <p:custDataLst>
              <p:tags r:id="rId14"/>
            </p:custDataLst>
          </p:nvPr>
        </p:nvSpPr>
        <p:spPr bwMode="auto">
          <a:xfrm>
            <a:off x="791399" y="482258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25" name="btfpNumberBubble877561">
            <a:extLst>
              <a:ext uri="{FF2B5EF4-FFF2-40B4-BE49-F238E27FC236}">
                <a16:creationId xmlns:a16="http://schemas.microsoft.com/office/drawing/2014/main" id="{69C1F2FF-09E9-44EA-5870-E583E53F3CF6}"/>
              </a:ext>
            </a:extLst>
          </p:cNvPr>
          <p:cNvSpPr/>
          <p:nvPr>
            <p:custDataLst>
              <p:tags r:id="rId15"/>
            </p:custDataLst>
          </p:nvPr>
        </p:nvSpPr>
        <p:spPr bwMode="auto">
          <a:xfrm>
            <a:off x="791399" y="5573800"/>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5</a:t>
            </a:r>
          </a:p>
        </p:txBody>
      </p:sp>
    </p:spTree>
    <p:extLst>
      <p:ext uri="{BB962C8B-B14F-4D97-AF65-F5344CB8AC3E}">
        <p14:creationId xmlns:p14="http://schemas.microsoft.com/office/powerpoint/2010/main" val="29528625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6A517-8AEA-04F6-EDB3-A9A94D630050}"/>
              </a:ext>
            </a:extLst>
          </p:cNvPr>
          <p:cNvSpPr>
            <a:spLocks noGrp="1"/>
          </p:cNvSpPr>
          <p:nvPr>
            <p:ph type="title"/>
          </p:nvPr>
        </p:nvSpPr>
        <p:spPr/>
        <p:txBody>
          <a:bodyPr/>
          <a:lstStyle/>
          <a:p>
            <a:r>
              <a:rPr lang="en-US" noProof="0" err="1">
                <a:latin typeface="+mj-lt"/>
              </a:rPr>
              <a:t>Proceso</a:t>
            </a:r>
            <a:r>
              <a:rPr lang="en-US" noProof="0">
                <a:latin typeface="+mj-lt"/>
              </a:rPr>
              <a:t> Diseño FFP</a:t>
            </a:r>
            <a:endParaRPr lang="es-MX"/>
          </a:p>
        </p:txBody>
      </p:sp>
      <p:sp>
        <p:nvSpPr>
          <p:cNvPr id="3" name="Rectangle 6">
            <a:extLst>
              <a:ext uri="{FF2B5EF4-FFF2-40B4-BE49-F238E27FC236}">
                <a16:creationId xmlns:a16="http://schemas.microsoft.com/office/drawing/2014/main" id="{75F14585-98E7-A3BC-F2F7-1B2A2C19AAAD}"/>
              </a:ext>
            </a:extLst>
          </p:cNvPr>
          <p:cNvSpPr/>
          <p:nvPr/>
        </p:nvSpPr>
        <p:spPr bwMode="auto">
          <a:xfrm>
            <a:off x="333729" y="1094890"/>
            <a:ext cx="11528071" cy="380157"/>
          </a:xfrm>
          <a:prstGeom prst="rect">
            <a:avLst/>
          </a:prstGeom>
          <a:solidFill>
            <a:schemeClr val="accent6">
              <a:lumMod val="20000"/>
              <a:lumOff val="8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7486B2">
                    <a:lumMod val="75000"/>
                  </a:srgbClr>
                </a:solidFill>
                <a:effectLst/>
                <a:uLnTx/>
                <a:uFillTx/>
                <a:latin typeface="Open Sans"/>
                <a:ea typeface="Open Sans"/>
                <a:cs typeface="Arial"/>
              </a:rPr>
              <a:t>ESTRATEGIA OXXO 2030</a:t>
            </a:r>
          </a:p>
        </p:txBody>
      </p:sp>
      <p:sp>
        <p:nvSpPr>
          <p:cNvPr id="4" name="btfpSequenceArrow919092">
            <a:extLst>
              <a:ext uri="{FF2B5EF4-FFF2-40B4-BE49-F238E27FC236}">
                <a16:creationId xmlns:a16="http://schemas.microsoft.com/office/drawing/2014/main" id="{32C0E100-53E6-2841-146A-57184924C1BD}"/>
              </a:ext>
            </a:extLst>
          </p:cNvPr>
          <p:cNvSpPr/>
          <p:nvPr/>
        </p:nvSpPr>
        <p:spPr bwMode="auto">
          <a:xfrm rot="5400000">
            <a:off x="5969873" y="1073320"/>
            <a:ext cx="252255" cy="972980"/>
          </a:xfrm>
          <a:custGeom>
            <a:avLst/>
            <a:gdLst/>
            <a:ahLst/>
            <a:cxnLst/>
            <a:rect l="0" t="0" r="0" b="0"/>
            <a:pathLst>
              <a:path w="252255" h="972980">
                <a:moveTo>
                  <a:pt x="38100" y="0"/>
                </a:moveTo>
                <a:lnTo>
                  <a:pt x="252254" y="486489"/>
                </a:lnTo>
                <a:lnTo>
                  <a:pt x="38100" y="972979"/>
                </a:lnTo>
                <a:lnTo>
                  <a:pt x="0" y="972979"/>
                </a:lnTo>
                <a:lnTo>
                  <a:pt x="214154" y="486489"/>
                </a:lnTo>
                <a:lnTo>
                  <a:pt x="0" y="0"/>
                </a:lnTo>
              </a:path>
            </a:pathLst>
          </a:custGeom>
          <a:solidFill>
            <a:srgbClr val="D6D6D6"/>
          </a:solidFill>
          <a:ln w="9525" cap="flat" cmpd="sng" algn="ctr">
            <a:solidFill>
              <a:srgbClr val="D6D6D6"/>
            </a:solidFill>
            <a:prstDash val="solid"/>
            <a:round/>
            <a:headEnd type="none" w="med" len="med"/>
            <a:tailEnd type="none" w="med" len="med"/>
          </a:ln>
          <a:effectLst/>
        </p:spPr>
        <p:txBody>
          <a:bodyPr rtlCol="0" anchor="ctr"/>
          <a:lstStyle/>
          <a:p>
            <a:pPr marL="177800" marR="0" lvl="0" indent="-177800" algn="ctr" defTabSz="711200" rtl="0" eaLnBrk="1" fontAlgn="auto" latinLnBrk="0" hangingPunct="1">
              <a:lnSpc>
                <a:spcPct val="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grpSp>
        <p:nvGrpSpPr>
          <p:cNvPr id="5" name="btfpColumnIndicatorGroup2">
            <a:extLst>
              <a:ext uri="{FF2B5EF4-FFF2-40B4-BE49-F238E27FC236}">
                <a16:creationId xmlns:a16="http://schemas.microsoft.com/office/drawing/2014/main" id="{9E084A55-CBD2-8C41-A3B9-3D5035C9425A}"/>
              </a:ext>
            </a:extLst>
          </p:cNvPr>
          <p:cNvGrpSpPr/>
          <p:nvPr/>
        </p:nvGrpSpPr>
        <p:grpSpPr>
          <a:xfrm>
            <a:off x="0" y="6743700"/>
            <a:ext cx="12192000" cy="137160"/>
            <a:chOff x="0" y="6926580"/>
            <a:chExt cx="12192000" cy="137160"/>
          </a:xfrm>
        </p:grpSpPr>
        <p:sp>
          <p:nvSpPr>
            <p:cNvPr id="6" name="btfpColumnGapBlocker778473">
              <a:extLst>
                <a:ext uri="{FF2B5EF4-FFF2-40B4-BE49-F238E27FC236}">
                  <a16:creationId xmlns:a16="http://schemas.microsoft.com/office/drawing/2014/main" id="{38727832-9A34-C9EB-96D0-1645E9B10D03}"/>
                </a:ext>
              </a:extLst>
            </p:cNvPr>
            <p:cNvSpPr/>
            <p:nvPr/>
          </p:nvSpPr>
          <p:spPr bwMode="auto">
            <a:xfrm>
              <a:off x="1186180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7" name="btfpColumnGapBlocker507801">
              <a:extLst>
                <a:ext uri="{FF2B5EF4-FFF2-40B4-BE49-F238E27FC236}">
                  <a16:creationId xmlns:a16="http://schemas.microsoft.com/office/drawing/2014/main" id="{84BFDCD7-8059-57E6-DA15-22F1B7C83B70}"/>
                </a:ext>
              </a:extLst>
            </p:cNvPr>
            <p:cNvSpPr/>
            <p:nvPr/>
          </p:nvSpPr>
          <p:spPr bwMode="auto">
            <a:xfrm>
              <a:off x="884555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8" name="btfpColumnIndicator394169">
              <a:extLst>
                <a:ext uri="{FF2B5EF4-FFF2-40B4-BE49-F238E27FC236}">
                  <a16:creationId xmlns:a16="http://schemas.microsoft.com/office/drawing/2014/main" id="{4057D973-3C06-FD78-A505-DB0DBE3D521C}"/>
                </a:ext>
              </a:extLst>
            </p:cNvPr>
            <p:cNvCxnSpPr/>
            <p:nvPr/>
          </p:nvCxnSpPr>
          <p:spPr bwMode="auto">
            <a:xfrm flipV="1">
              <a:off x="118618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9" name="btfpColumnIndicator195234">
              <a:extLst>
                <a:ext uri="{FF2B5EF4-FFF2-40B4-BE49-F238E27FC236}">
                  <a16:creationId xmlns:a16="http://schemas.microsoft.com/office/drawing/2014/main" id="{9F53728A-85E0-25CF-443D-7BD68CC4F684}"/>
                </a:ext>
              </a:extLst>
            </p:cNvPr>
            <p:cNvCxnSpPr/>
            <p:nvPr/>
          </p:nvCxnSpPr>
          <p:spPr bwMode="auto">
            <a:xfrm flipV="1">
              <a:off x="93789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10" name="btfpColumnGapBlocker735060">
              <a:extLst>
                <a:ext uri="{FF2B5EF4-FFF2-40B4-BE49-F238E27FC236}">
                  <a16:creationId xmlns:a16="http://schemas.microsoft.com/office/drawing/2014/main" id="{C63F85B6-A679-E461-C65C-D4878CC4F5C4}"/>
                </a:ext>
              </a:extLst>
            </p:cNvPr>
            <p:cNvSpPr/>
            <p:nvPr/>
          </p:nvSpPr>
          <p:spPr bwMode="auto">
            <a:xfrm>
              <a:off x="582930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1" name="btfpColumnIndicator244233">
              <a:extLst>
                <a:ext uri="{FF2B5EF4-FFF2-40B4-BE49-F238E27FC236}">
                  <a16:creationId xmlns:a16="http://schemas.microsoft.com/office/drawing/2014/main" id="{011FDCAF-4616-70B3-6D29-CE01067CEBF6}"/>
                </a:ext>
              </a:extLst>
            </p:cNvPr>
            <p:cNvCxnSpPr/>
            <p:nvPr/>
          </p:nvCxnSpPr>
          <p:spPr bwMode="auto">
            <a:xfrm flipV="1">
              <a:off x="88455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26" name="btfpColumnIndicator333553">
              <a:extLst>
                <a:ext uri="{FF2B5EF4-FFF2-40B4-BE49-F238E27FC236}">
                  <a16:creationId xmlns:a16="http://schemas.microsoft.com/office/drawing/2014/main" id="{15F3DF43-5256-AD1D-DE63-32EFA89280CD}"/>
                </a:ext>
              </a:extLst>
            </p:cNvPr>
            <p:cNvCxnSpPr/>
            <p:nvPr/>
          </p:nvCxnSpPr>
          <p:spPr bwMode="auto">
            <a:xfrm flipV="1">
              <a:off x="63627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27" name="btfpColumnGapBlocker124413">
              <a:extLst>
                <a:ext uri="{FF2B5EF4-FFF2-40B4-BE49-F238E27FC236}">
                  <a16:creationId xmlns:a16="http://schemas.microsoft.com/office/drawing/2014/main" id="{B708EAC4-35F1-32E3-4796-B7BD11457065}"/>
                </a:ext>
              </a:extLst>
            </p:cNvPr>
            <p:cNvSpPr/>
            <p:nvPr/>
          </p:nvSpPr>
          <p:spPr bwMode="auto">
            <a:xfrm>
              <a:off x="281305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28" name="btfpColumnIndicator570367">
              <a:extLst>
                <a:ext uri="{FF2B5EF4-FFF2-40B4-BE49-F238E27FC236}">
                  <a16:creationId xmlns:a16="http://schemas.microsoft.com/office/drawing/2014/main" id="{6987CA3A-806C-80E5-CA70-962016A5C1BE}"/>
                </a:ext>
              </a:extLst>
            </p:cNvPr>
            <p:cNvCxnSpPr/>
            <p:nvPr/>
          </p:nvCxnSpPr>
          <p:spPr bwMode="auto">
            <a:xfrm flipV="1">
              <a:off x="58293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29" name="btfpColumnIndicator550737">
              <a:extLst>
                <a:ext uri="{FF2B5EF4-FFF2-40B4-BE49-F238E27FC236}">
                  <a16:creationId xmlns:a16="http://schemas.microsoft.com/office/drawing/2014/main" id="{BB0E2D1F-600D-5C81-EEAD-6225E80A3D4D}"/>
                </a:ext>
              </a:extLst>
            </p:cNvPr>
            <p:cNvCxnSpPr/>
            <p:nvPr/>
          </p:nvCxnSpPr>
          <p:spPr bwMode="auto">
            <a:xfrm flipV="1">
              <a:off x="33464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30" name="btfpColumnGapBlocker936976">
              <a:extLst>
                <a:ext uri="{FF2B5EF4-FFF2-40B4-BE49-F238E27FC236}">
                  <a16:creationId xmlns:a16="http://schemas.microsoft.com/office/drawing/2014/main" id="{005AFD84-26EE-2731-13F4-17D588CAE9AD}"/>
                </a:ext>
              </a:extLst>
            </p:cNvPr>
            <p:cNvSpPr/>
            <p:nvPr/>
          </p:nvSpPr>
          <p:spPr bwMode="auto">
            <a:xfrm>
              <a:off x="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31" name="btfpColumnIndicator905545">
              <a:extLst>
                <a:ext uri="{FF2B5EF4-FFF2-40B4-BE49-F238E27FC236}">
                  <a16:creationId xmlns:a16="http://schemas.microsoft.com/office/drawing/2014/main" id="{9390FCC4-5543-B0A7-D262-2C4C0019B05A}"/>
                </a:ext>
              </a:extLst>
            </p:cNvPr>
            <p:cNvCxnSpPr/>
            <p:nvPr/>
          </p:nvCxnSpPr>
          <p:spPr bwMode="auto">
            <a:xfrm flipV="1">
              <a:off x="28130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32" name="btfpColumnIndicator289571">
              <a:extLst>
                <a:ext uri="{FF2B5EF4-FFF2-40B4-BE49-F238E27FC236}">
                  <a16:creationId xmlns:a16="http://schemas.microsoft.com/office/drawing/2014/main" id="{024E7151-4175-7EF1-D6FB-904498C2284F}"/>
                </a:ext>
              </a:extLst>
            </p:cNvPr>
            <p:cNvCxnSpPr/>
            <p:nvPr/>
          </p:nvCxnSpPr>
          <p:spPr bwMode="auto">
            <a:xfrm flipV="1">
              <a:off x="3302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grpSp>
      <p:sp>
        <p:nvSpPr>
          <p:cNvPr id="33" name="Rectangle 7">
            <a:extLst>
              <a:ext uri="{FF2B5EF4-FFF2-40B4-BE49-F238E27FC236}">
                <a16:creationId xmlns:a16="http://schemas.microsoft.com/office/drawing/2014/main" id="{FFBD04FF-F65D-612C-8ABB-4EAB3B99B4AA}"/>
              </a:ext>
            </a:extLst>
          </p:cNvPr>
          <p:cNvSpPr/>
          <p:nvPr/>
        </p:nvSpPr>
        <p:spPr bwMode="auto">
          <a:xfrm>
            <a:off x="330200" y="3544746"/>
            <a:ext cx="11531600" cy="2472982"/>
          </a:xfrm>
          <a:prstGeom prst="rect">
            <a:avLst/>
          </a:prstGeom>
          <a:noFill/>
          <a:ln w="19050" cap="flat" cmpd="sng" algn="ctr">
            <a:solidFill>
              <a:srgbClr val="B4B4B4"/>
            </a:solid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4" name="Rectangle 8">
            <a:extLst>
              <a:ext uri="{FF2B5EF4-FFF2-40B4-BE49-F238E27FC236}">
                <a16:creationId xmlns:a16="http://schemas.microsoft.com/office/drawing/2014/main" id="{77EC2799-3405-751A-ED99-E39F3628D237}"/>
              </a:ext>
            </a:extLst>
          </p:cNvPr>
          <p:cNvSpPr/>
          <p:nvPr/>
        </p:nvSpPr>
        <p:spPr bwMode="auto">
          <a:xfrm>
            <a:off x="476601" y="3429087"/>
            <a:ext cx="4032000" cy="231318"/>
          </a:xfrm>
          <a:prstGeom prst="rect">
            <a:avLst/>
          </a:prstGeom>
          <a:solidFill>
            <a:srgbClr val="D6D6D6"/>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5C5C5C"/>
                </a:solidFill>
                <a:effectLst/>
                <a:uLnTx/>
                <a:uFillTx/>
                <a:latin typeface="Open Sans"/>
                <a:ea typeface="Open Sans"/>
                <a:cs typeface="Arial"/>
              </a:rPr>
              <a:t>Diseño del </a:t>
            </a:r>
            <a:r>
              <a:rPr kumimoji="0" lang="en-US" sz="1600" b="1" i="0" u="none" strike="noStrike" kern="1200" cap="none" spc="300" normalizeH="0" baseline="0" noProof="0" err="1">
                <a:ln>
                  <a:noFill/>
                </a:ln>
                <a:solidFill>
                  <a:srgbClr val="5C5C5C"/>
                </a:solidFill>
                <a:effectLst/>
                <a:uLnTx/>
                <a:uFillTx/>
                <a:latin typeface="Open Sans"/>
                <a:ea typeface="Open Sans"/>
                <a:cs typeface="Arial"/>
              </a:rPr>
              <a:t>modelo</a:t>
            </a:r>
            <a:r>
              <a:rPr kumimoji="0" lang="en-US" sz="1600" b="1" i="0" u="none" strike="noStrike" kern="1200" cap="none" spc="300" normalizeH="0" baseline="0" noProof="0">
                <a:ln>
                  <a:noFill/>
                </a:ln>
                <a:solidFill>
                  <a:srgbClr val="5C5C5C"/>
                </a:solidFill>
                <a:effectLst/>
                <a:uLnTx/>
                <a:uFillTx/>
                <a:latin typeface="Open Sans"/>
                <a:ea typeface="Open Sans"/>
                <a:cs typeface="Arial"/>
              </a:rPr>
              <a:t> </a:t>
            </a:r>
            <a:r>
              <a:rPr kumimoji="0" lang="en-US" sz="1600" b="1" i="0" u="none" strike="noStrike" kern="1200" cap="none" spc="300" normalizeH="0" baseline="0" noProof="0" err="1">
                <a:ln>
                  <a:noFill/>
                </a:ln>
                <a:solidFill>
                  <a:srgbClr val="5C5C5C"/>
                </a:solidFill>
                <a:effectLst/>
                <a:uLnTx/>
                <a:uFillTx/>
                <a:latin typeface="Open Sans"/>
                <a:ea typeface="Open Sans"/>
                <a:cs typeface="Arial"/>
              </a:rPr>
              <a:t>operativo</a:t>
            </a:r>
            <a:endParaRPr kumimoji="0" lang="en-US" sz="1600" b="1" i="0" u="none" strike="noStrike" kern="1200" cap="none" spc="300" normalizeH="0" baseline="0" noProof="0">
              <a:ln>
                <a:noFill/>
              </a:ln>
              <a:solidFill>
                <a:srgbClr val="5C5C5C"/>
              </a:solidFill>
              <a:effectLst/>
              <a:uLnTx/>
              <a:uFillTx/>
              <a:latin typeface="Open Sans"/>
              <a:ea typeface="Open Sans"/>
              <a:cs typeface="Arial"/>
            </a:endParaRPr>
          </a:p>
        </p:txBody>
      </p:sp>
      <p:sp>
        <p:nvSpPr>
          <p:cNvPr id="35" name="Rectangle 17">
            <a:extLst>
              <a:ext uri="{FF2B5EF4-FFF2-40B4-BE49-F238E27FC236}">
                <a16:creationId xmlns:a16="http://schemas.microsoft.com/office/drawing/2014/main" id="{65306367-A635-269D-400E-D6974F8D3760}"/>
              </a:ext>
            </a:extLst>
          </p:cNvPr>
          <p:cNvSpPr/>
          <p:nvPr/>
        </p:nvSpPr>
        <p:spPr bwMode="auto">
          <a:xfrm>
            <a:off x="590550" y="3763095"/>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6" name="Rectangle 18">
            <a:extLst>
              <a:ext uri="{FF2B5EF4-FFF2-40B4-BE49-F238E27FC236}">
                <a16:creationId xmlns:a16="http://schemas.microsoft.com/office/drawing/2014/main" id="{24939795-EFD8-0BBD-8C39-1286EBBD513A}"/>
              </a:ext>
            </a:extLst>
          </p:cNvPr>
          <p:cNvSpPr/>
          <p:nvPr/>
        </p:nvSpPr>
        <p:spPr bwMode="auto">
          <a:xfrm>
            <a:off x="3431116"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7" name="Rectangle 21">
            <a:extLst>
              <a:ext uri="{FF2B5EF4-FFF2-40B4-BE49-F238E27FC236}">
                <a16:creationId xmlns:a16="http://schemas.microsoft.com/office/drawing/2014/main" id="{5CCCFF69-288A-4292-BB53-4C8E3CFB9D64}"/>
              </a:ext>
            </a:extLst>
          </p:cNvPr>
          <p:cNvSpPr/>
          <p:nvPr/>
        </p:nvSpPr>
        <p:spPr bwMode="auto">
          <a:xfrm>
            <a:off x="6271682"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8" name="Rectangle 24">
            <a:extLst>
              <a:ext uri="{FF2B5EF4-FFF2-40B4-BE49-F238E27FC236}">
                <a16:creationId xmlns:a16="http://schemas.microsoft.com/office/drawing/2014/main" id="{DF5660C6-B0AE-0F03-5D4A-A0815C262F52}"/>
              </a:ext>
            </a:extLst>
          </p:cNvPr>
          <p:cNvSpPr/>
          <p:nvPr/>
        </p:nvSpPr>
        <p:spPr bwMode="auto">
          <a:xfrm>
            <a:off x="9112250"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9" name="Rectangle 37">
            <a:extLst>
              <a:ext uri="{FF2B5EF4-FFF2-40B4-BE49-F238E27FC236}">
                <a16:creationId xmlns:a16="http://schemas.microsoft.com/office/drawing/2014/main" id="{6696BD8D-49C9-A39E-9589-F45CB1DFF62C}"/>
              </a:ext>
            </a:extLst>
          </p:cNvPr>
          <p:cNvSpPr/>
          <p:nvPr/>
        </p:nvSpPr>
        <p:spPr bwMode="auto">
          <a:xfrm>
            <a:off x="710931" y="4438315"/>
            <a:ext cx="2255074"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400" b="1" i="0" u="none" strike="noStrike" kern="1200" cap="none" spc="300" normalizeH="0" baseline="0" noProof="0">
                <a:ln>
                  <a:noFill/>
                </a:ln>
                <a:solidFill>
                  <a:srgbClr val="5C5C5C"/>
                </a:solidFill>
                <a:effectLst/>
                <a:uLnTx/>
                <a:uFillTx/>
                <a:latin typeface="Open Sans"/>
                <a:ea typeface="Open Sans"/>
                <a:cs typeface="Arial"/>
              </a:rPr>
              <a:t>LAYER ORGANIZACIONAL</a:t>
            </a:r>
          </a:p>
        </p:txBody>
      </p:sp>
      <p:grpSp>
        <p:nvGrpSpPr>
          <p:cNvPr id="40" name="Group 1115">
            <a:extLst>
              <a:ext uri="{FF2B5EF4-FFF2-40B4-BE49-F238E27FC236}">
                <a16:creationId xmlns:a16="http://schemas.microsoft.com/office/drawing/2014/main" id="{C49063BE-0C20-A29E-700B-55A35D486AE8}"/>
              </a:ext>
            </a:extLst>
          </p:cNvPr>
          <p:cNvGrpSpPr/>
          <p:nvPr/>
        </p:nvGrpSpPr>
        <p:grpSpPr>
          <a:xfrm>
            <a:off x="1575115" y="3854608"/>
            <a:ext cx="520071" cy="454799"/>
            <a:chOff x="715162" y="1890572"/>
            <a:chExt cx="776740" cy="710983"/>
          </a:xfrm>
        </p:grpSpPr>
        <p:cxnSp>
          <p:nvCxnSpPr>
            <p:cNvPr id="41" name="Straight Connector 39">
              <a:extLst>
                <a:ext uri="{FF2B5EF4-FFF2-40B4-BE49-F238E27FC236}">
                  <a16:creationId xmlns:a16="http://schemas.microsoft.com/office/drawing/2014/main" id="{8B746606-8966-46DD-A647-022D87D9FC27}"/>
                </a:ext>
              </a:extLst>
            </p:cNvPr>
            <p:cNvCxnSpPr/>
            <p:nvPr>
              <p:custDataLst>
                <p:tags r:id="rId46"/>
              </p:custDataLst>
            </p:nvPr>
          </p:nvCxnSpPr>
          <p:spPr bwMode="gray">
            <a:xfrm flipH="1">
              <a:off x="1219395" y="2079324"/>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2" name="Straight Connector 40">
              <a:extLst>
                <a:ext uri="{FF2B5EF4-FFF2-40B4-BE49-F238E27FC236}">
                  <a16:creationId xmlns:a16="http://schemas.microsoft.com/office/drawing/2014/main" id="{88B41F33-080F-070C-8A64-3E945A87CAE2}"/>
                </a:ext>
              </a:extLst>
            </p:cNvPr>
            <p:cNvCxnSpPr/>
            <p:nvPr>
              <p:custDataLst>
                <p:tags r:id="rId47"/>
              </p:custDataLst>
            </p:nvPr>
          </p:nvCxnSpPr>
          <p:spPr bwMode="gray">
            <a:xfrm flipH="1" flipV="1">
              <a:off x="1219395" y="2365737"/>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3" name="Straight Connector 41">
              <a:extLst>
                <a:ext uri="{FF2B5EF4-FFF2-40B4-BE49-F238E27FC236}">
                  <a16:creationId xmlns:a16="http://schemas.microsoft.com/office/drawing/2014/main" id="{20998B3B-2B8E-719F-77F8-523AAF3C9B2F}"/>
                </a:ext>
              </a:extLst>
            </p:cNvPr>
            <p:cNvCxnSpPr/>
            <p:nvPr>
              <p:custDataLst>
                <p:tags r:id="rId48"/>
              </p:custDataLst>
            </p:nvPr>
          </p:nvCxnSpPr>
          <p:spPr bwMode="gray">
            <a:xfrm>
              <a:off x="914079" y="2079324"/>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4" name="Straight Connector 42">
              <a:extLst>
                <a:ext uri="{FF2B5EF4-FFF2-40B4-BE49-F238E27FC236}">
                  <a16:creationId xmlns:a16="http://schemas.microsoft.com/office/drawing/2014/main" id="{7C6306B8-3750-4B4D-9F49-65D90A51D7E6}"/>
                </a:ext>
              </a:extLst>
            </p:cNvPr>
            <p:cNvCxnSpPr/>
            <p:nvPr>
              <p:custDataLst>
                <p:tags r:id="rId49"/>
              </p:custDataLst>
            </p:nvPr>
          </p:nvCxnSpPr>
          <p:spPr bwMode="gray">
            <a:xfrm flipV="1">
              <a:off x="914079" y="2365737"/>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5" name="Oval 43">
              <a:extLst>
                <a:ext uri="{FF2B5EF4-FFF2-40B4-BE49-F238E27FC236}">
                  <a16:creationId xmlns:a16="http://schemas.microsoft.com/office/drawing/2014/main" id="{B56570D3-D211-86A1-9952-7B151490A92C}"/>
                </a:ext>
              </a:extLst>
            </p:cNvPr>
            <p:cNvSpPr/>
            <p:nvPr>
              <p:custDataLst>
                <p:tags r:id="rId50"/>
              </p:custDataLst>
            </p:nvPr>
          </p:nvSpPr>
          <p:spPr bwMode="gray">
            <a:xfrm>
              <a:off x="715162" y="1890572"/>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6" name="Oval 44">
              <a:extLst>
                <a:ext uri="{FF2B5EF4-FFF2-40B4-BE49-F238E27FC236}">
                  <a16:creationId xmlns:a16="http://schemas.microsoft.com/office/drawing/2014/main" id="{06539232-9E29-F15D-97D6-F21EAB6B3489}"/>
                </a:ext>
              </a:extLst>
            </p:cNvPr>
            <p:cNvSpPr/>
            <p:nvPr>
              <p:custDataLst>
                <p:tags r:id="rId51"/>
              </p:custDataLst>
            </p:nvPr>
          </p:nvSpPr>
          <p:spPr bwMode="gray">
            <a:xfrm>
              <a:off x="715162" y="2326596"/>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7" name="Oval 45">
              <a:extLst>
                <a:ext uri="{FF2B5EF4-FFF2-40B4-BE49-F238E27FC236}">
                  <a16:creationId xmlns:a16="http://schemas.microsoft.com/office/drawing/2014/main" id="{ECE11231-D041-B3CE-F952-51F91926FE30}"/>
                </a:ext>
              </a:extLst>
            </p:cNvPr>
            <p:cNvSpPr/>
            <p:nvPr>
              <p:custDataLst>
                <p:tags r:id="rId52"/>
              </p:custDataLst>
            </p:nvPr>
          </p:nvSpPr>
          <p:spPr bwMode="gray">
            <a:xfrm>
              <a:off x="1232480" y="2326596"/>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8" name="Oval 46">
              <a:extLst>
                <a:ext uri="{FF2B5EF4-FFF2-40B4-BE49-F238E27FC236}">
                  <a16:creationId xmlns:a16="http://schemas.microsoft.com/office/drawing/2014/main" id="{8D9CF8F5-FA81-A03E-5D2B-530B3BB11B2C}"/>
                </a:ext>
              </a:extLst>
            </p:cNvPr>
            <p:cNvSpPr/>
            <p:nvPr>
              <p:custDataLst>
                <p:tags r:id="rId53"/>
              </p:custDataLst>
            </p:nvPr>
          </p:nvSpPr>
          <p:spPr bwMode="gray">
            <a:xfrm>
              <a:off x="1232480" y="1890572"/>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9" name="Freeform 10">
              <a:extLst>
                <a:ext uri="{FF2B5EF4-FFF2-40B4-BE49-F238E27FC236}">
                  <a16:creationId xmlns:a16="http://schemas.microsoft.com/office/drawing/2014/main" id="{894FF696-4B39-F175-FE35-F712DBAABA70}"/>
                </a:ext>
              </a:extLst>
            </p:cNvPr>
            <p:cNvSpPr/>
            <p:nvPr>
              <p:custDataLst>
                <p:tags r:id="rId54"/>
              </p:custDataLst>
            </p:nvPr>
          </p:nvSpPr>
          <p:spPr bwMode="auto">
            <a:xfrm>
              <a:off x="931977" y="2069601"/>
              <a:ext cx="159171" cy="169193"/>
            </a:xfrm>
            <a:custGeom>
              <a:avLst/>
              <a:gdLst>
                <a:gd name="T0" fmla="*/ 566 w 566"/>
                <a:gd name="T1" fmla="*/ 64 h 566"/>
                <a:gd name="T2" fmla="*/ 566 w 566"/>
                <a:gd name="T3" fmla="*/ 0 h 566"/>
                <a:gd name="T4" fmla="*/ 0 w 566"/>
                <a:gd name="T5" fmla="*/ 566 h 566"/>
                <a:gd name="T6" fmla="*/ 64 w 566"/>
                <a:gd name="T7" fmla="*/ 566 h 566"/>
                <a:gd name="T8" fmla="*/ 566 w 566"/>
                <a:gd name="T9" fmla="*/ 64 h 566"/>
              </a:gdLst>
              <a:ahLst/>
              <a:cxnLst>
                <a:cxn ang="0">
                  <a:pos x="T0" y="T1"/>
                </a:cxn>
                <a:cxn ang="0">
                  <a:pos x="T2" y="T3"/>
                </a:cxn>
                <a:cxn ang="0">
                  <a:pos x="T4" y="T5"/>
                </a:cxn>
                <a:cxn ang="0">
                  <a:pos x="T6" y="T7"/>
                </a:cxn>
                <a:cxn ang="0">
                  <a:pos x="T8" y="T9"/>
                </a:cxn>
              </a:cxnLst>
              <a:rect l="0" t="0" r="r" b="b"/>
              <a:pathLst>
                <a:path w="566" h="566">
                  <a:moveTo>
                    <a:pt x="566" y="64"/>
                  </a:moveTo>
                  <a:cubicBezTo>
                    <a:pt x="566" y="0"/>
                    <a:pt x="566" y="0"/>
                    <a:pt x="566" y="0"/>
                  </a:cubicBezTo>
                  <a:cubicBezTo>
                    <a:pt x="261" y="14"/>
                    <a:pt x="15" y="260"/>
                    <a:pt x="0" y="566"/>
                  </a:cubicBezTo>
                  <a:cubicBezTo>
                    <a:pt x="64" y="566"/>
                    <a:pt x="64" y="566"/>
                    <a:pt x="64" y="566"/>
                  </a:cubicBezTo>
                  <a:cubicBezTo>
                    <a:pt x="78" y="296"/>
                    <a:pt x="296" y="78"/>
                    <a:pt x="566" y="64"/>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0" name="Freeform 11">
              <a:extLst>
                <a:ext uri="{FF2B5EF4-FFF2-40B4-BE49-F238E27FC236}">
                  <a16:creationId xmlns:a16="http://schemas.microsoft.com/office/drawing/2014/main" id="{4260B62A-7F87-F2F7-DBD4-91260D0AD242}"/>
                </a:ext>
              </a:extLst>
            </p:cNvPr>
            <p:cNvSpPr/>
            <p:nvPr>
              <p:custDataLst>
                <p:tags r:id="rId55"/>
              </p:custDataLst>
            </p:nvPr>
          </p:nvSpPr>
          <p:spPr bwMode="auto">
            <a:xfrm>
              <a:off x="931977" y="2255933"/>
              <a:ext cx="159171" cy="169193"/>
            </a:xfrm>
            <a:custGeom>
              <a:avLst/>
              <a:gdLst>
                <a:gd name="T0" fmla="*/ 64 w 566"/>
                <a:gd name="T1" fmla="*/ 0 h 566"/>
                <a:gd name="T2" fmla="*/ 0 w 566"/>
                <a:gd name="T3" fmla="*/ 0 h 566"/>
                <a:gd name="T4" fmla="*/ 566 w 566"/>
                <a:gd name="T5" fmla="*/ 566 h 566"/>
                <a:gd name="T6" fmla="*/ 566 w 566"/>
                <a:gd name="T7" fmla="*/ 502 h 566"/>
                <a:gd name="T8" fmla="*/ 64 w 566"/>
                <a:gd name="T9" fmla="*/ 0 h 566"/>
              </a:gdLst>
              <a:ahLst/>
              <a:cxnLst>
                <a:cxn ang="0">
                  <a:pos x="T0" y="T1"/>
                </a:cxn>
                <a:cxn ang="0">
                  <a:pos x="T2" y="T3"/>
                </a:cxn>
                <a:cxn ang="0">
                  <a:pos x="T4" y="T5"/>
                </a:cxn>
                <a:cxn ang="0">
                  <a:pos x="T6" y="T7"/>
                </a:cxn>
                <a:cxn ang="0">
                  <a:pos x="T8" y="T9"/>
                </a:cxn>
              </a:cxnLst>
              <a:rect l="0" t="0" r="r" b="b"/>
              <a:pathLst>
                <a:path w="566" h="566">
                  <a:moveTo>
                    <a:pt x="64" y="0"/>
                  </a:moveTo>
                  <a:cubicBezTo>
                    <a:pt x="0" y="0"/>
                    <a:pt x="0" y="0"/>
                    <a:pt x="0" y="0"/>
                  </a:cubicBezTo>
                  <a:cubicBezTo>
                    <a:pt x="15" y="306"/>
                    <a:pt x="261" y="552"/>
                    <a:pt x="566" y="566"/>
                  </a:cubicBezTo>
                  <a:cubicBezTo>
                    <a:pt x="566" y="502"/>
                    <a:pt x="566" y="502"/>
                    <a:pt x="566" y="502"/>
                  </a:cubicBezTo>
                  <a:cubicBezTo>
                    <a:pt x="296" y="488"/>
                    <a:pt x="78" y="271"/>
                    <a:pt x="64" y="0"/>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1" name="Freeform 12">
              <a:extLst>
                <a:ext uri="{FF2B5EF4-FFF2-40B4-BE49-F238E27FC236}">
                  <a16:creationId xmlns:a16="http://schemas.microsoft.com/office/drawing/2014/main" id="{87117FA1-7694-D4AF-2698-620D648413B4}"/>
                </a:ext>
              </a:extLst>
            </p:cNvPr>
            <p:cNvSpPr/>
            <p:nvPr>
              <p:custDataLst>
                <p:tags r:id="rId56"/>
              </p:custDataLst>
            </p:nvPr>
          </p:nvSpPr>
          <p:spPr bwMode="auto">
            <a:xfrm>
              <a:off x="1107088" y="2255933"/>
              <a:ext cx="159171" cy="169193"/>
            </a:xfrm>
            <a:custGeom>
              <a:avLst/>
              <a:gdLst>
                <a:gd name="T0" fmla="*/ 0 w 566"/>
                <a:gd name="T1" fmla="*/ 502 h 566"/>
                <a:gd name="T2" fmla="*/ 0 w 566"/>
                <a:gd name="T3" fmla="*/ 566 h 566"/>
                <a:gd name="T4" fmla="*/ 566 w 566"/>
                <a:gd name="T5" fmla="*/ 0 h 566"/>
                <a:gd name="T6" fmla="*/ 503 w 566"/>
                <a:gd name="T7" fmla="*/ 0 h 566"/>
                <a:gd name="T8" fmla="*/ 0 w 566"/>
                <a:gd name="T9" fmla="*/ 502 h 566"/>
              </a:gdLst>
              <a:ahLst/>
              <a:cxnLst>
                <a:cxn ang="0">
                  <a:pos x="T0" y="T1"/>
                </a:cxn>
                <a:cxn ang="0">
                  <a:pos x="T2" y="T3"/>
                </a:cxn>
                <a:cxn ang="0">
                  <a:pos x="T4" y="T5"/>
                </a:cxn>
                <a:cxn ang="0">
                  <a:pos x="T6" y="T7"/>
                </a:cxn>
                <a:cxn ang="0">
                  <a:pos x="T8" y="T9"/>
                </a:cxn>
              </a:cxnLst>
              <a:rect l="0" t="0" r="r" b="b"/>
              <a:pathLst>
                <a:path w="566" h="566">
                  <a:moveTo>
                    <a:pt x="0" y="502"/>
                  </a:moveTo>
                  <a:cubicBezTo>
                    <a:pt x="0" y="566"/>
                    <a:pt x="0" y="566"/>
                    <a:pt x="0" y="566"/>
                  </a:cubicBezTo>
                  <a:cubicBezTo>
                    <a:pt x="306" y="552"/>
                    <a:pt x="552" y="306"/>
                    <a:pt x="566" y="0"/>
                  </a:cubicBezTo>
                  <a:cubicBezTo>
                    <a:pt x="503" y="0"/>
                    <a:pt x="503" y="0"/>
                    <a:pt x="503" y="0"/>
                  </a:cubicBezTo>
                  <a:cubicBezTo>
                    <a:pt x="488" y="271"/>
                    <a:pt x="271" y="488"/>
                    <a:pt x="0" y="502"/>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2" name="Freeform 13">
              <a:extLst>
                <a:ext uri="{FF2B5EF4-FFF2-40B4-BE49-F238E27FC236}">
                  <a16:creationId xmlns:a16="http://schemas.microsoft.com/office/drawing/2014/main" id="{B0897F47-9515-C426-2F97-F458B4529E61}"/>
                </a:ext>
              </a:extLst>
            </p:cNvPr>
            <p:cNvSpPr/>
            <p:nvPr>
              <p:custDataLst>
                <p:tags r:id="rId57"/>
              </p:custDataLst>
            </p:nvPr>
          </p:nvSpPr>
          <p:spPr bwMode="auto">
            <a:xfrm>
              <a:off x="1107088" y="2069601"/>
              <a:ext cx="159171" cy="169193"/>
            </a:xfrm>
            <a:custGeom>
              <a:avLst/>
              <a:gdLst>
                <a:gd name="T0" fmla="*/ 503 w 566"/>
                <a:gd name="T1" fmla="*/ 566 h 566"/>
                <a:gd name="T2" fmla="*/ 566 w 566"/>
                <a:gd name="T3" fmla="*/ 566 h 566"/>
                <a:gd name="T4" fmla="*/ 0 w 566"/>
                <a:gd name="T5" fmla="*/ 0 h 566"/>
                <a:gd name="T6" fmla="*/ 0 w 566"/>
                <a:gd name="T7" fmla="*/ 64 h 566"/>
                <a:gd name="T8" fmla="*/ 503 w 566"/>
                <a:gd name="T9" fmla="*/ 566 h 566"/>
              </a:gdLst>
              <a:ahLst/>
              <a:cxnLst>
                <a:cxn ang="0">
                  <a:pos x="T0" y="T1"/>
                </a:cxn>
                <a:cxn ang="0">
                  <a:pos x="T2" y="T3"/>
                </a:cxn>
                <a:cxn ang="0">
                  <a:pos x="T4" y="T5"/>
                </a:cxn>
                <a:cxn ang="0">
                  <a:pos x="T6" y="T7"/>
                </a:cxn>
                <a:cxn ang="0">
                  <a:pos x="T8" y="T9"/>
                </a:cxn>
              </a:cxnLst>
              <a:rect l="0" t="0" r="r" b="b"/>
              <a:pathLst>
                <a:path w="566" h="566">
                  <a:moveTo>
                    <a:pt x="503" y="566"/>
                  </a:moveTo>
                  <a:cubicBezTo>
                    <a:pt x="566" y="566"/>
                    <a:pt x="566" y="566"/>
                    <a:pt x="566" y="566"/>
                  </a:cubicBezTo>
                  <a:cubicBezTo>
                    <a:pt x="552" y="260"/>
                    <a:pt x="306" y="14"/>
                    <a:pt x="0" y="0"/>
                  </a:cubicBezTo>
                  <a:cubicBezTo>
                    <a:pt x="0" y="64"/>
                    <a:pt x="0" y="64"/>
                    <a:pt x="0" y="64"/>
                  </a:cubicBezTo>
                  <a:cubicBezTo>
                    <a:pt x="271" y="78"/>
                    <a:pt x="488" y="296"/>
                    <a:pt x="503" y="566"/>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3" name="Oval 9">
              <a:extLst>
                <a:ext uri="{FF2B5EF4-FFF2-40B4-BE49-F238E27FC236}">
                  <a16:creationId xmlns:a16="http://schemas.microsoft.com/office/drawing/2014/main" id="{CC7D506F-1096-D8D1-47FD-42373B52718E}"/>
                </a:ext>
              </a:extLst>
            </p:cNvPr>
            <p:cNvSpPr>
              <a:spLocks noChangeArrowheads="1"/>
            </p:cNvSpPr>
            <p:nvPr>
              <p:custDataLst>
                <p:tags r:id="rId58"/>
              </p:custDataLst>
            </p:nvPr>
          </p:nvSpPr>
          <p:spPr bwMode="auto">
            <a:xfrm>
              <a:off x="981145" y="2126026"/>
              <a:ext cx="235946" cy="250076"/>
            </a:xfrm>
            <a:prstGeom prst="ellipse">
              <a:avLst/>
            </a:prstGeom>
            <a:solidFill>
              <a:srgbClr val="7891AA"/>
            </a:solidFill>
            <a:ln w="19050" cap="flat" cmpd="sng" algn="ctr">
              <a:noFill/>
              <a:prstDash val="solid"/>
              <a:round/>
              <a:headEnd type="none" w="med" len="med"/>
              <a:tailEnd type="none" w="med" len="med"/>
            </a:ln>
            <a:extLst>
              <a:ext uri="{91240B29-F687-4F45-9708-019B960494DF}">
                <a14:hiddenLine xmlns:a14="http://schemas.microsoft.com/office/drawing/2010/main" w="19050" cap="flat" cmpd="sng" algn="ctr">
                  <a:solidFill>
                    <a:srgbClr val="46647B"/>
                  </a:solidFill>
                  <a:prstDash val="solid"/>
                  <a:round/>
                  <a:headEnd type="none" w="med" len="med"/>
                  <a:tailEnd type="none" w="med" len="med"/>
                </a14:hiddenLine>
              </a:ext>
            </a:extLst>
          </p:spPr>
          <p:txBody>
            <a:bodyPr vert="horz" wrap="square" lIns="91440" tIns="45720" rIns="91440" bIns="45720" numCol="1" anchor="ctr"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Open Sans"/>
                <a:ea typeface="Open Sans"/>
                <a:cs typeface="Arial"/>
              </a:endParaRPr>
            </a:p>
          </p:txBody>
        </p:sp>
      </p:grpSp>
      <p:grpSp>
        <p:nvGrpSpPr>
          <p:cNvPr id="54" name="Group 1061">
            <a:extLst>
              <a:ext uri="{FF2B5EF4-FFF2-40B4-BE49-F238E27FC236}">
                <a16:creationId xmlns:a16="http://schemas.microsoft.com/office/drawing/2014/main" id="{B291D775-1A1B-14FE-371D-731A26B9531C}"/>
              </a:ext>
            </a:extLst>
          </p:cNvPr>
          <p:cNvGrpSpPr/>
          <p:nvPr/>
        </p:nvGrpSpPr>
        <p:grpSpPr>
          <a:xfrm>
            <a:off x="4470740" y="4143221"/>
            <a:ext cx="518437" cy="381834"/>
            <a:chOff x="341981" y="3553252"/>
            <a:chExt cx="1222443" cy="923842"/>
          </a:xfrm>
        </p:grpSpPr>
        <p:sp>
          <p:nvSpPr>
            <p:cNvPr id="55" name="Rectangle 1062">
              <a:extLst>
                <a:ext uri="{FF2B5EF4-FFF2-40B4-BE49-F238E27FC236}">
                  <a16:creationId xmlns:a16="http://schemas.microsoft.com/office/drawing/2014/main" id="{4DEA3810-C625-5B8F-096E-F1A347E6FE64}"/>
                </a:ext>
              </a:extLst>
            </p:cNvPr>
            <p:cNvSpPr/>
            <p:nvPr>
              <p:custDataLst>
                <p:tags r:id="rId39"/>
              </p:custDataLst>
            </p:nvPr>
          </p:nvSpPr>
          <p:spPr bwMode="gray">
            <a:xfrm>
              <a:off x="705794" y="3553252"/>
              <a:ext cx="507611" cy="273496"/>
            </a:xfrm>
            <a:prstGeom prst="rect">
              <a:avLst/>
            </a:prstGeom>
            <a:solidFill>
              <a:srgbClr val="7891AA"/>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6" name="Rectangle 1063">
              <a:extLst>
                <a:ext uri="{FF2B5EF4-FFF2-40B4-BE49-F238E27FC236}">
                  <a16:creationId xmlns:a16="http://schemas.microsoft.com/office/drawing/2014/main" id="{E07CE345-488A-AEFA-BDF0-0D1547DCEA22}"/>
                </a:ext>
              </a:extLst>
            </p:cNvPr>
            <p:cNvSpPr/>
            <p:nvPr>
              <p:custDataLst>
                <p:tags r:id="rId40"/>
              </p:custDataLst>
            </p:nvPr>
          </p:nvSpPr>
          <p:spPr bwMode="gray">
            <a:xfrm>
              <a:off x="341981"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7" name="Rectangle 1070">
              <a:extLst>
                <a:ext uri="{FF2B5EF4-FFF2-40B4-BE49-F238E27FC236}">
                  <a16:creationId xmlns:a16="http://schemas.microsoft.com/office/drawing/2014/main" id="{B11E0E64-F74B-E0E1-B3DC-8AF6919FA0F0}"/>
                </a:ext>
              </a:extLst>
            </p:cNvPr>
            <p:cNvSpPr/>
            <p:nvPr>
              <p:custDataLst>
                <p:tags r:id="rId41"/>
              </p:custDataLst>
            </p:nvPr>
          </p:nvSpPr>
          <p:spPr bwMode="gray">
            <a:xfrm>
              <a:off x="809389"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8" name="Rectangle 1072">
              <a:extLst>
                <a:ext uri="{FF2B5EF4-FFF2-40B4-BE49-F238E27FC236}">
                  <a16:creationId xmlns:a16="http://schemas.microsoft.com/office/drawing/2014/main" id="{947ADC12-5F7E-3E90-953C-D6A9AF565F9A}"/>
                </a:ext>
              </a:extLst>
            </p:cNvPr>
            <p:cNvSpPr/>
            <p:nvPr>
              <p:custDataLst>
                <p:tags r:id="rId42"/>
              </p:custDataLst>
            </p:nvPr>
          </p:nvSpPr>
          <p:spPr bwMode="gray">
            <a:xfrm>
              <a:off x="1264003"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cxnSp>
          <p:nvCxnSpPr>
            <p:cNvPr id="59" name="Connector: Elbow 1073">
              <a:extLst>
                <a:ext uri="{FF2B5EF4-FFF2-40B4-BE49-F238E27FC236}">
                  <a16:creationId xmlns:a16="http://schemas.microsoft.com/office/drawing/2014/main" id="{2A01C40D-CCDE-8937-56DC-527E706461AC}"/>
                </a:ext>
              </a:extLst>
            </p:cNvPr>
            <p:cNvCxnSpPr>
              <a:cxnSpLocks/>
              <a:stCxn id="55" idx="2"/>
              <a:endCxn id="56" idx="0"/>
            </p:cNvCxnSpPr>
            <p:nvPr>
              <p:custDataLst>
                <p:tags r:id="rId43"/>
              </p:custDataLst>
            </p:nvPr>
          </p:nvCxnSpPr>
          <p:spPr bwMode="gray">
            <a:xfrm rot="5400000">
              <a:off x="606562" y="3712378"/>
              <a:ext cx="238668" cy="467408"/>
            </a:xfrm>
            <a:prstGeom prst="bentConnector3">
              <a:avLst>
                <a:gd name="adj1" fmla="val 50000"/>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0" name="Connector: Elbow 1078">
              <a:extLst>
                <a:ext uri="{FF2B5EF4-FFF2-40B4-BE49-F238E27FC236}">
                  <a16:creationId xmlns:a16="http://schemas.microsoft.com/office/drawing/2014/main" id="{87DE457F-C1D5-335F-2F86-2EADD8B8B3BA}"/>
                </a:ext>
              </a:extLst>
            </p:cNvPr>
            <p:cNvCxnSpPr>
              <a:cxnSpLocks/>
              <a:stCxn id="55" idx="2"/>
              <a:endCxn id="58" idx="0"/>
            </p:cNvCxnSpPr>
            <p:nvPr>
              <p:custDataLst>
                <p:tags r:id="rId44"/>
              </p:custDataLst>
            </p:nvPr>
          </p:nvCxnSpPr>
          <p:spPr bwMode="gray">
            <a:xfrm rot="16200000" flipH="1">
              <a:off x="1067573" y="3718775"/>
              <a:ext cx="238668" cy="454614"/>
            </a:xfrm>
            <a:prstGeom prst="bentConnector3">
              <a:avLst>
                <a:gd name="adj1" fmla="val 50000"/>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1" name="Straight Connector 1080">
              <a:extLst>
                <a:ext uri="{FF2B5EF4-FFF2-40B4-BE49-F238E27FC236}">
                  <a16:creationId xmlns:a16="http://schemas.microsoft.com/office/drawing/2014/main" id="{DE9487F2-115C-1265-F3EB-EAD4E438DF1C}"/>
                </a:ext>
              </a:extLst>
            </p:cNvPr>
            <p:cNvCxnSpPr>
              <a:cxnSpLocks/>
              <a:stCxn id="55" idx="2"/>
              <a:endCxn id="57" idx="0"/>
            </p:cNvCxnSpPr>
            <p:nvPr>
              <p:custDataLst>
                <p:tags r:id="rId45"/>
              </p:custDataLst>
            </p:nvPr>
          </p:nvCxnSpPr>
          <p:spPr bwMode="gray">
            <a:xfrm>
              <a:off x="959600" y="3826748"/>
              <a:ext cx="0" cy="238668"/>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2" name="Straight Arrow Connector 1081">
              <a:extLst>
                <a:ext uri="{FF2B5EF4-FFF2-40B4-BE49-F238E27FC236}">
                  <a16:creationId xmlns:a16="http://schemas.microsoft.com/office/drawing/2014/main" id="{AE696211-65F8-5B1C-BF08-52D6E9095464}"/>
                </a:ext>
              </a:extLst>
            </p:cNvPr>
            <p:cNvCxnSpPr>
              <a:cxnSpLocks/>
            </p:cNvCxnSpPr>
            <p:nvPr/>
          </p:nvCxnSpPr>
          <p:spPr bwMode="gray">
            <a:xfrm flipH="1">
              <a:off x="368103" y="4477094"/>
              <a:ext cx="1185137" cy="0"/>
            </a:xfrm>
            <a:prstGeom prst="straightConnector1">
              <a:avLst/>
            </a:prstGeom>
            <a:ln w="19050" cap="flat" cmpd="sng" algn="ctr">
              <a:solidFill>
                <a:srgbClr val="5C5C5C"/>
              </a:solidFill>
              <a:prstDash val="solid"/>
              <a:miter lim="800000"/>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3" name="Rectangle 1083">
            <a:extLst>
              <a:ext uri="{FF2B5EF4-FFF2-40B4-BE49-F238E27FC236}">
                <a16:creationId xmlns:a16="http://schemas.microsoft.com/office/drawing/2014/main" id="{E4E4D237-14FB-550C-475B-C908F9E97BC2}"/>
              </a:ext>
            </a:extLst>
          </p:cNvPr>
          <p:cNvSpPr/>
          <p:nvPr/>
        </p:nvSpPr>
        <p:spPr bwMode="auto">
          <a:xfrm>
            <a:off x="3566999" y="4726011"/>
            <a:ext cx="2325921" cy="55100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MACROESTRUCTURA</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EQUIPO DIRECTIVO</a:t>
            </a:r>
          </a:p>
        </p:txBody>
      </p:sp>
      <p:grpSp>
        <p:nvGrpSpPr>
          <p:cNvPr id="64" name="Group 1090">
            <a:extLst>
              <a:ext uri="{FF2B5EF4-FFF2-40B4-BE49-F238E27FC236}">
                <a16:creationId xmlns:a16="http://schemas.microsoft.com/office/drawing/2014/main" id="{2D519825-2F26-302D-C5C5-6473A1983B56}"/>
              </a:ext>
            </a:extLst>
          </p:cNvPr>
          <p:cNvGrpSpPr/>
          <p:nvPr/>
        </p:nvGrpSpPr>
        <p:grpSpPr>
          <a:xfrm>
            <a:off x="7256053" y="3876025"/>
            <a:ext cx="518434" cy="381836"/>
            <a:chOff x="185132" y="5037891"/>
            <a:chExt cx="1452667" cy="1169234"/>
          </a:xfrm>
        </p:grpSpPr>
        <p:sp>
          <p:nvSpPr>
            <p:cNvPr id="65" name="Rectangle 1091">
              <a:extLst>
                <a:ext uri="{FF2B5EF4-FFF2-40B4-BE49-F238E27FC236}">
                  <a16:creationId xmlns:a16="http://schemas.microsoft.com/office/drawing/2014/main" id="{B7871160-30A9-0947-190F-9C100BFBBC87}"/>
                </a:ext>
              </a:extLst>
            </p:cNvPr>
            <p:cNvSpPr/>
            <p:nvPr>
              <p:custDataLst>
                <p:tags r:id="rId20"/>
              </p:custDataLst>
            </p:nvPr>
          </p:nvSpPr>
          <p:spPr bwMode="gray">
            <a:xfrm>
              <a:off x="303745"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6" name="Rectangle 1092">
              <a:extLst>
                <a:ext uri="{FF2B5EF4-FFF2-40B4-BE49-F238E27FC236}">
                  <a16:creationId xmlns:a16="http://schemas.microsoft.com/office/drawing/2014/main" id="{E714505E-9B2C-6976-4EB6-1C81F1103514}"/>
                </a:ext>
              </a:extLst>
            </p:cNvPr>
            <p:cNvSpPr/>
            <p:nvPr>
              <p:custDataLst>
                <p:tags r:id="rId21"/>
              </p:custDataLst>
            </p:nvPr>
          </p:nvSpPr>
          <p:spPr bwMode="gray">
            <a:xfrm>
              <a:off x="769748"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7" name="Rectangle 1093">
              <a:extLst>
                <a:ext uri="{FF2B5EF4-FFF2-40B4-BE49-F238E27FC236}">
                  <a16:creationId xmlns:a16="http://schemas.microsoft.com/office/drawing/2014/main" id="{3B9B5122-50CD-106D-675F-444BCBDE2C4C}"/>
                </a:ext>
              </a:extLst>
            </p:cNvPr>
            <p:cNvSpPr/>
            <p:nvPr>
              <p:custDataLst>
                <p:tags r:id="rId22"/>
              </p:custDataLst>
            </p:nvPr>
          </p:nvSpPr>
          <p:spPr bwMode="gray">
            <a:xfrm>
              <a:off x="1235750"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8" name="Rectangle 1094">
              <a:extLst>
                <a:ext uri="{FF2B5EF4-FFF2-40B4-BE49-F238E27FC236}">
                  <a16:creationId xmlns:a16="http://schemas.microsoft.com/office/drawing/2014/main" id="{884BEFF4-743D-F01D-5B9C-0B9C70324FC9}"/>
                </a:ext>
              </a:extLst>
            </p:cNvPr>
            <p:cNvSpPr/>
            <p:nvPr>
              <p:custDataLst>
                <p:tags r:id="rId23"/>
              </p:custDataLst>
            </p:nvPr>
          </p:nvSpPr>
          <p:spPr bwMode="gray">
            <a:xfrm>
              <a:off x="700493" y="5037891"/>
              <a:ext cx="534956" cy="240237"/>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69" name="Rectangle 1095">
              <a:extLst>
                <a:ext uri="{FF2B5EF4-FFF2-40B4-BE49-F238E27FC236}">
                  <a16:creationId xmlns:a16="http://schemas.microsoft.com/office/drawing/2014/main" id="{19C0079C-E66E-84B7-5FD6-889013B17D9E}"/>
                </a:ext>
              </a:extLst>
            </p:cNvPr>
            <p:cNvSpPr/>
            <p:nvPr>
              <p:custDataLst>
                <p:tags r:id="rId24"/>
              </p:custDataLst>
            </p:nvPr>
          </p:nvSpPr>
          <p:spPr bwMode="gray">
            <a:xfrm>
              <a:off x="353601"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0" name="Rectangle 1096">
              <a:extLst>
                <a:ext uri="{FF2B5EF4-FFF2-40B4-BE49-F238E27FC236}">
                  <a16:creationId xmlns:a16="http://schemas.microsoft.com/office/drawing/2014/main" id="{62C6EED6-8F84-9E4D-DACB-D6CE4F6E90EE}"/>
                </a:ext>
              </a:extLst>
            </p:cNvPr>
            <p:cNvSpPr/>
            <p:nvPr>
              <p:custDataLst>
                <p:tags r:id="rId25"/>
              </p:custDataLst>
            </p:nvPr>
          </p:nvSpPr>
          <p:spPr bwMode="gray">
            <a:xfrm>
              <a:off x="816987"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1" name="Rectangle 1097">
              <a:extLst>
                <a:ext uri="{FF2B5EF4-FFF2-40B4-BE49-F238E27FC236}">
                  <a16:creationId xmlns:a16="http://schemas.microsoft.com/office/drawing/2014/main" id="{F4AFC242-28A4-85C6-29E3-243CC8254B5E}"/>
                </a:ext>
              </a:extLst>
            </p:cNvPr>
            <p:cNvSpPr/>
            <p:nvPr>
              <p:custDataLst>
                <p:tags r:id="rId26"/>
              </p:custDataLst>
            </p:nvPr>
          </p:nvSpPr>
          <p:spPr bwMode="gray">
            <a:xfrm>
              <a:off x="1280373"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2" name="Rectangle 1098">
              <a:extLst>
                <a:ext uri="{FF2B5EF4-FFF2-40B4-BE49-F238E27FC236}">
                  <a16:creationId xmlns:a16="http://schemas.microsoft.com/office/drawing/2014/main" id="{F67617A1-567D-C340-ECF6-349FB6D141DC}"/>
                </a:ext>
              </a:extLst>
            </p:cNvPr>
            <p:cNvSpPr/>
            <p:nvPr>
              <p:custDataLst>
                <p:tags r:id="rId27"/>
              </p:custDataLst>
            </p:nvPr>
          </p:nvSpPr>
          <p:spPr bwMode="gray">
            <a:xfrm>
              <a:off x="353601"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3" name="Rectangle 1099">
              <a:extLst>
                <a:ext uri="{FF2B5EF4-FFF2-40B4-BE49-F238E27FC236}">
                  <a16:creationId xmlns:a16="http://schemas.microsoft.com/office/drawing/2014/main" id="{525AEC19-0471-FE2F-B214-B52BAC79472C}"/>
                </a:ext>
              </a:extLst>
            </p:cNvPr>
            <p:cNvSpPr/>
            <p:nvPr>
              <p:custDataLst>
                <p:tags r:id="rId28"/>
              </p:custDataLst>
            </p:nvPr>
          </p:nvSpPr>
          <p:spPr bwMode="gray">
            <a:xfrm>
              <a:off x="353601"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4" name="Rectangle 1100">
              <a:extLst>
                <a:ext uri="{FF2B5EF4-FFF2-40B4-BE49-F238E27FC236}">
                  <a16:creationId xmlns:a16="http://schemas.microsoft.com/office/drawing/2014/main" id="{29325E05-4DE2-B303-8468-5D74A8F318E1}"/>
                </a:ext>
              </a:extLst>
            </p:cNvPr>
            <p:cNvSpPr/>
            <p:nvPr>
              <p:custDataLst>
                <p:tags r:id="rId29"/>
              </p:custDataLst>
            </p:nvPr>
          </p:nvSpPr>
          <p:spPr bwMode="gray">
            <a:xfrm>
              <a:off x="353601"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5" name="Rectangle 1101">
              <a:extLst>
                <a:ext uri="{FF2B5EF4-FFF2-40B4-BE49-F238E27FC236}">
                  <a16:creationId xmlns:a16="http://schemas.microsoft.com/office/drawing/2014/main" id="{64C6F908-2DAD-8426-1AC6-0BE1BAF4AE78}"/>
                </a:ext>
              </a:extLst>
            </p:cNvPr>
            <p:cNvSpPr/>
            <p:nvPr>
              <p:custDataLst>
                <p:tags r:id="rId30"/>
              </p:custDataLst>
            </p:nvPr>
          </p:nvSpPr>
          <p:spPr bwMode="gray">
            <a:xfrm>
              <a:off x="353601" y="598764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6" name="Rectangle 1102">
              <a:extLst>
                <a:ext uri="{FF2B5EF4-FFF2-40B4-BE49-F238E27FC236}">
                  <a16:creationId xmlns:a16="http://schemas.microsoft.com/office/drawing/2014/main" id="{6F4F4802-121E-59C7-2C78-E58E36D11695}"/>
                </a:ext>
              </a:extLst>
            </p:cNvPr>
            <p:cNvSpPr/>
            <p:nvPr>
              <p:custDataLst>
                <p:tags r:id="rId31"/>
              </p:custDataLst>
            </p:nvPr>
          </p:nvSpPr>
          <p:spPr bwMode="gray">
            <a:xfrm>
              <a:off x="353601" y="609322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7" name="Rectangle 1103">
              <a:extLst>
                <a:ext uri="{FF2B5EF4-FFF2-40B4-BE49-F238E27FC236}">
                  <a16:creationId xmlns:a16="http://schemas.microsoft.com/office/drawing/2014/main" id="{962F9ACF-929D-28C2-D15D-F91324D9E8F0}"/>
                </a:ext>
              </a:extLst>
            </p:cNvPr>
            <p:cNvSpPr/>
            <p:nvPr>
              <p:custDataLst>
                <p:tags r:id="rId32"/>
              </p:custDataLst>
            </p:nvPr>
          </p:nvSpPr>
          <p:spPr bwMode="gray">
            <a:xfrm>
              <a:off x="816987"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8" name="Rectangle 1104">
              <a:extLst>
                <a:ext uri="{FF2B5EF4-FFF2-40B4-BE49-F238E27FC236}">
                  <a16:creationId xmlns:a16="http://schemas.microsoft.com/office/drawing/2014/main" id="{45C93072-70B7-2740-4F85-7DB784EB558A}"/>
                </a:ext>
              </a:extLst>
            </p:cNvPr>
            <p:cNvSpPr/>
            <p:nvPr>
              <p:custDataLst>
                <p:tags r:id="rId33"/>
              </p:custDataLst>
            </p:nvPr>
          </p:nvSpPr>
          <p:spPr bwMode="gray">
            <a:xfrm>
              <a:off x="816987"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9" name="Rectangle 1105">
              <a:extLst>
                <a:ext uri="{FF2B5EF4-FFF2-40B4-BE49-F238E27FC236}">
                  <a16:creationId xmlns:a16="http://schemas.microsoft.com/office/drawing/2014/main" id="{8D3C48D6-8831-5CF5-F349-D1862C42A9C2}"/>
                </a:ext>
              </a:extLst>
            </p:cNvPr>
            <p:cNvSpPr/>
            <p:nvPr>
              <p:custDataLst>
                <p:tags r:id="rId34"/>
              </p:custDataLst>
            </p:nvPr>
          </p:nvSpPr>
          <p:spPr bwMode="gray">
            <a:xfrm>
              <a:off x="816987"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0" name="Rectangle 1106">
              <a:extLst>
                <a:ext uri="{FF2B5EF4-FFF2-40B4-BE49-F238E27FC236}">
                  <a16:creationId xmlns:a16="http://schemas.microsoft.com/office/drawing/2014/main" id="{377CD08E-E017-F99C-F78F-026817864D26}"/>
                </a:ext>
              </a:extLst>
            </p:cNvPr>
            <p:cNvSpPr/>
            <p:nvPr>
              <p:custDataLst>
                <p:tags r:id="rId35"/>
              </p:custDataLst>
            </p:nvPr>
          </p:nvSpPr>
          <p:spPr bwMode="gray">
            <a:xfrm>
              <a:off x="1280373"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1" name="Rectangle 1107">
              <a:extLst>
                <a:ext uri="{FF2B5EF4-FFF2-40B4-BE49-F238E27FC236}">
                  <a16:creationId xmlns:a16="http://schemas.microsoft.com/office/drawing/2014/main" id="{DF3BB98B-BC42-8637-3B53-BBAA57125A98}"/>
                </a:ext>
              </a:extLst>
            </p:cNvPr>
            <p:cNvSpPr/>
            <p:nvPr>
              <p:custDataLst>
                <p:tags r:id="rId36"/>
              </p:custDataLst>
            </p:nvPr>
          </p:nvSpPr>
          <p:spPr bwMode="gray">
            <a:xfrm>
              <a:off x="1280373"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2" name="Rectangle 1108">
              <a:extLst>
                <a:ext uri="{FF2B5EF4-FFF2-40B4-BE49-F238E27FC236}">
                  <a16:creationId xmlns:a16="http://schemas.microsoft.com/office/drawing/2014/main" id="{5E74CDDB-517B-62D1-5017-4B60714842D7}"/>
                </a:ext>
              </a:extLst>
            </p:cNvPr>
            <p:cNvSpPr/>
            <p:nvPr>
              <p:custDataLst>
                <p:tags r:id="rId37"/>
              </p:custDataLst>
            </p:nvPr>
          </p:nvSpPr>
          <p:spPr bwMode="gray">
            <a:xfrm>
              <a:off x="1280373"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3" name="Rectangle 1109">
              <a:extLst>
                <a:ext uri="{FF2B5EF4-FFF2-40B4-BE49-F238E27FC236}">
                  <a16:creationId xmlns:a16="http://schemas.microsoft.com/office/drawing/2014/main" id="{C59B097B-5274-8BB6-EB11-84F4B80E52AA}"/>
                </a:ext>
              </a:extLst>
            </p:cNvPr>
            <p:cNvSpPr/>
            <p:nvPr>
              <p:custDataLst>
                <p:tags r:id="rId38"/>
              </p:custDataLst>
            </p:nvPr>
          </p:nvSpPr>
          <p:spPr bwMode="gray">
            <a:xfrm>
              <a:off x="1280373" y="598764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cxnSp>
          <p:nvCxnSpPr>
            <p:cNvPr id="84" name="Straight Arrow Connector 1110">
              <a:extLst>
                <a:ext uri="{FF2B5EF4-FFF2-40B4-BE49-F238E27FC236}">
                  <a16:creationId xmlns:a16="http://schemas.microsoft.com/office/drawing/2014/main" id="{570181B9-9E0F-7C12-EB11-D024353743C3}"/>
                </a:ext>
              </a:extLst>
            </p:cNvPr>
            <p:cNvCxnSpPr>
              <a:cxnSpLocks/>
            </p:cNvCxnSpPr>
            <p:nvPr/>
          </p:nvCxnSpPr>
          <p:spPr bwMode="gray">
            <a:xfrm>
              <a:off x="185132" y="5370991"/>
              <a:ext cx="0" cy="836134"/>
            </a:xfrm>
            <a:prstGeom prst="straightConnector1">
              <a:avLst/>
            </a:prstGeom>
            <a:ln w="16510" cap="flat" cmpd="sng" algn="ctr">
              <a:solidFill>
                <a:srgbClr val="5C5C5C"/>
              </a:solidFill>
              <a:prstDash val="solid"/>
              <a:miter lim="8000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Connector: Elbow 1111">
              <a:extLst>
                <a:ext uri="{FF2B5EF4-FFF2-40B4-BE49-F238E27FC236}">
                  <a16:creationId xmlns:a16="http://schemas.microsoft.com/office/drawing/2014/main" id="{E0C10519-D771-9013-F094-6A9948A41110}"/>
                </a:ext>
              </a:extLst>
            </p:cNvPr>
            <p:cNvCxnSpPr>
              <a:stCxn id="68" idx="2"/>
              <a:endCxn id="69" idx="0"/>
            </p:cNvCxnSpPr>
            <p:nvPr/>
          </p:nvCxnSpPr>
          <p:spPr bwMode="auto">
            <a:xfrm rot="5400000">
              <a:off x="644925" y="5137790"/>
              <a:ext cx="182708" cy="463385"/>
            </a:xfrm>
            <a:prstGeom prst="bentConnector3">
              <a:avLst/>
            </a:prstGeom>
            <a:solidFill>
              <a:schemeClr val="accent1"/>
            </a:solidFill>
            <a:ln w="16510" cap="flat" cmpd="sng" algn="ctr">
              <a:solidFill>
                <a:srgbClr val="5C5C5C"/>
              </a:solidFill>
              <a:prstDash val="solid"/>
              <a:round/>
              <a:headEnd type="none" w="med" len="med"/>
              <a:tailEnd type="none" w="med" len="med"/>
            </a:ln>
            <a:effectLst/>
          </p:spPr>
        </p:cxnSp>
        <p:cxnSp>
          <p:nvCxnSpPr>
            <p:cNvPr id="86" name="Connector: Elbow 1112">
              <a:extLst>
                <a:ext uri="{FF2B5EF4-FFF2-40B4-BE49-F238E27FC236}">
                  <a16:creationId xmlns:a16="http://schemas.microsoft.com/office/drawing/2014/main" id="{C4DDDC35-4673-710D-7B6E-A4B977F1E0A3}"/>
                </a:ext>
              </a:extLst>
            </p:cNvPr>
            <p:cNvCxnSpPr>
              <a:cxnSpLocks/>
              <a:stCxn id="68" idx="2"/>
              <a:endCxn id="71" idx="0"/>
            </p:cNvCxnSpPr>
            <p:nvPr/>
          </p:nvCxnSpPr>
          <p:spPr bwMode="auto">
            <a:xfrm rot="16200000" flipH="1">
              <a:off x="1108310" y="5137788"/>
              <a:ext cx="182708" cy="463387"/>
            </a:xfrm>
            <a:prstGeom prst="bentConnector3">
              <a:avLst>
                <a:gd name="adj1" fmla="val 50000"/>
              </a:avLst>
            </a:prstGeom>
            <a:solidFill>
              <a:schemeClr val="accent1"/>
            </a:solidFill>
            <a:ln w="16510" cap="flat" cmpd="sng" algn="ctr">
              <a:solidFill>
                <a:srgbClr val="5C5C5C"/>
              </a:solidFill>
              <a:prstDash val="solid"/>
              <a:round/>
              <a:headEnd type="none" w="med" len="med"/>
              <a:tailEnd type="none" w="med" len="med"/>
            </a:ln>
            <a:effectLst/>
          </p:spPr>
        </p:cxnSp>
        <p:cxnSp>
          <p:nvCxnSpPr>
            <p:cNvPr id="87" name="Straight Connector 1113">
              <a:extLst>
                <a:ext uri="{FF2B5EF4-FFF2-40B4-BE49-F238E27FC236}">
                  <a16:creationId xmlns:a16="http://schemas.microsoft.com/office/drawing/2014/main" id="{F06AEBD1-FE1D-98BF-5D22-572F9F83206D}"/>
                </a:ext>
              </a:extLst>
            </p:cNvPr>
            <p:cNvCxnSpPr>
              <a:cxnSpLocks/>
              <a:stCxn id="68" idx="2"/>
              <a:endCxn id="66" idx="0"/>
            </p:cNvCxnSpPr>
            <p:nvPr/>
          </p:nvCxnSpPr>
          <p:spPr bwMode="auto">
            <a:xfrm>
              <a:off x="967971" y="5278128"/>
              <a:ext cx="2802" cy="133940"/>
            </a:xfrm>
            <a:prstGeom prst="line">
              <a:avLst/>
            </a:prstGeom>
            <a:solidFill>
              <a:schemeClr val="accent1"/>
            </a:solidFill>
            <a:ln w="16510" cap="flat" cmpd="sng" algn="ctr">
              <a:solidFill>
                <a:srgbClr val="5C5C5C"/>
              </a:solidFill>
              <a:prstDash val="solid"/>
              <a:round/>
              <a:headEnd type="none" w="med" len="med"/>
              <a:tailEnd type="none" w="med" len="med"/>
            </a:ln>
            <a:effectLst/>
          </p:spPr>
        </p:cxnSp>
      </p:grpSp>
      <p:sp>
        <p:nvSpPr>
          <p:cNvPr id="88" name="Rectangle 1114">
            <a:extLst>
              <a:ext uri="{FF2B5EF4-FFF2-40B4-BE49-F238E27FC236}">
                <a16:creationId xmlns:a16="http://schemas.microsoft.com/office/drawing/2014/main" id="{53EB2E55-EA3D-1871-C657-B81C7044A378}"/>
              </a:ext>
            </a:extLst>
          </p:cNvPr>
          <p:cNvSpPr/>
          <p:nvPr/>
        </p:nvSpPr>
        <p:spPr bwMode="auto">
          <a:xfrm>
            <a:off x="6407564" y="4446266"/>
            <a:ext cx="2325921"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DISEÑO DETALLADO POR FUNCIÓN</a:t>
            </a:r>
          </a:p>
        </p:txBody>
      </p:sp>
      <p:sp>
        <p:nvSpPr>
          <p:cNvPr id="89" name="Rectangle 1116">
            <a:extLst>
              <a:ext uri="{FF2B5EF4-FFF2-40B4-BE49-F238E27FC236}">
                <a16:creationId xmlns:a16="http://schemas.microsoft.com/office/drawing/2014/main" id="{FF8EC001-E5F4-21AF-7107-D7A956F8D209}"/>
              </a:ext>
            </a:extLst>
          </p:cNvPr>
          <p:cNvSpPr/>
          <p:nvPr/>
        </p:nvSpPr>
        <p:spPr bwMode="auto">
          <a:xfrm>
            <a:off x="9190979" y="4446266"/>
            <a:ext cx="2325921"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400" b="1" i="0" u="none" strike="noStrike" kern="1200" cap="none" spc="300" normalizeH="0" baseline="0" noProof="0">
                <a:ln>
                  <a:noFill/>
                </a:ln>
                <a:solidFill>
                  <a:srgbClr val="5C5C5C"/>
                </a:solidFill>
                <a:effectLst/>
                <a:uLnTx/>
                <a:uFillTx/>
                <a:latin typeface="Open Sans"/>
                <a:ea typeface="Open Sans"/>
                <a:cs typeface="Arial"/>
              </a:rPr>
              <a:t>SISTEMA DE GESTIÓN</a:t>
            </a:r>
          </a:p>
        </p:txBody>
      </p:sp>
      <p:grpSp>
        <p:nvGrpSpPr>
          <p:cNvPr id="90" name="Group 1117">
            <a:extLst>
              <a:ext uri="{FF2B5EF4-FFF2-40B4-BE49-F238E27FC236}">
                <a16:creationId xmlns:a16="http://schemas.microsoft.com/office/drawing/2014/main" id="{47120D99-AE7B-FC73-25D1-48BACE629064}"/>
              </a:ext>
            </a:extLst>
          </p:cNvPr>
          <p:cNvGrpSpPr/>
          <p:nvPr>
            <p:custDataLst>
              <p:tags r:id="rId1"/>
            </p:custDataLst>
          </p:nvPr>
        </p:nvGrpSpPr>
        <p:grpSpPr>
          <a:xfrm>
            <a:off x="10095702" y="3869532"/>
            <a:ext cx="522286" cy="373220"/>
            <a:chOff x="5048251" y="1223645"/>
            <a:chExt cx="993775" cy="728663"/>
          </a:xfrm>
          <a:solidFill>
            <a:srgbClr val="808080"/>
          </a:solidFill>
        </p:grpSpPr>
        <p:sp>
          <p:nvSpPr>
            <p:cNvPr id="91" name="Freeform 48">
              <a:extLst>
                <a:ext uri="{FF2B5EF4-FFF2-40B4-BE49-F238E27FC236}">
                  <a16:creationId xmlns:a16="http://schemas.microsoft.com/office/drawing/2014/main" id="{A05CDAFF-9F55-C546-741E-7E126F4B520B}"/>
                </a:ext>
              </a:extLst>
            </p:cNvPr>
            <p:cNvSpPr/>
            <p:nvPr/>
          </p:nvSpPr>
          <p:spPr bwMode="auto">
            <a:xfrm>
              <a:off x="5307013" y="1223645"/>
              <a:ext cx="735013" cy="442913"/>
            </a:xfrm>
            <a:custGeom>
              <a:avLst/>
              <a:gdLst>
                <a:gd name="T0" fmla="*/ 226 w 326"/>
                <a:gd name="T1" fmla="*/ 34 h 196"/>
                <a:gd name="T2" fmla="*/ 225 w 326"/>
                <a:gd name="T3" fmla="*/ 33 h 196"/>
                <a:gd name="T4" fmla="*/ 132 w 326"/>
                <a:gd name="T5" fmla="*/ 0 h 196"/>
                <a:gd name="T6" fmla="*/ 33 w 326"/>
                <a:gd name="T7" fmla="*/ 35 h 196"/>
                <a:gd name="T8" fmla="*/ 7 w 326"/>
                <a:gd name="T9" fmla="*/ 74 h 196"/>
                <a:gd name="T10" fmla="*/ 0 w 326"/>
                <a:gd name="T11" fmla="*/ 84 h 196"/>
                <a:gd name="T12" fmla="*/ 9 w 326"/>
                <a:gd name="T13" fmla="*/ 94 h 196"/>
                <a:gd name="T14" fmla="*/ 38 w 326"/>
                <a:gd name="T15" fmla="*/ 101 h 196"/>
                <a:gd name="T16" fmla="*/ 47 w 326"/>
                <a:gd name="T17" fmla="*/ 96 h 196"/>
                <a:gd name="T18" fmla="*/ 91 w 326"/>
                <a:gd name="T19" fmla="*/ 70 h 196"/>
                <a:gd name="T20" fmla="*/ 100 w 326"/>
                <a:gd name="T21" fmla="*/ 65 h 196"/>
                <a:gd name="T22" fmla="*/ 155 w 326"/>
                <a:gd name="T23" fmla="*/ 64 h 196"/>
                <a:gd name="T24" fmla="*/ 155 w 326"/>
                <a:gd name="T25" fmla="*/ 64 h 196"/>
                <a:gd name="T26" fmla="*/ 156 w 326"/>
                <a:gd name="T27" fmla="*/ 64 h 196"/>
                <a:gd name="T28" fmla="*/ 287 w 326"/>
                <a:gd name="T29" fmla="*/ 196 h 196"/>
                <a:gd name="T30" fmla="*/ 326 w 326"/>
                <a:gd name="T31" fmla="*/ 191 h 196"/>
                <a:gd name="T32" fmla="*/ 289 w 326"/>
                <a:gd name="T33" fmla="*/ 17 h 196"/>
                <a:gd name="T34" fmla="*/ 289 w 326"/>
                <a:gd name="T35" fmla="*/ 17 h 196"/>
                <a:gd name="T36" fmla="*/ 290 w 326"/>
                <a:gd name="T37" fmla="*/ 22 h 196"/>
                <a:gd name="T38" fmla="*/ 226 w 326"/>
                <a:gd name="T39" fmla="*/ 3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6" h="196">
                  <a:moveTo>
                    <a:pt x="226" y="34"/>
                  </a:moveTo>
                  <a:cubicBezTo>
                    <a:pt x="225" y="33"/>
                    <a:pt x="225" y="33"/>
                    <a:pt x="225" y="33"/>
                  </a:cubicBezTo>
                  <a:cubicBezTo>
                    <a:pt x="194" y="20"/>
                    <a:pt x="141" y="0"/>
                    <a:pt x="132" y="0"/>
                  </a:cubicBezTo>
                  <a:cubicBezTo>
                    <a:pt x="124" y="0"/>
                    <a:pt x="67" y="21"/>
                    <a:pt x="33" y="35"/>
                  </a:cubicBezTo>
                  <a:cubicBezTo>
                    <a:pt x="7" y="74"/>
                    <a:pt x="7" y="74"/>
                    <a:pt x="7" y="74"/>
                  </a:cubicBezTo>
                  <a:cubicBezTo>
                    <a:pt x="0" y="84"/>
                    <a:pt x="0" y="84"/>
                    <a:pt x="0" y="84"/>
                  </a:cubicBezTo>
                  <a:cubicBezTo>
                    <a:pt x="9" y="94"/>
                    <a:pt x="9" y="94"/>
                    <a:pt x="9" y="94"/>
                  </a:cubicBezTo>
                  <a:cubicBezTo>
                    <a:pt x="38" y="101"/>
                    <a:pt x="38" y="101"/>
                    <a:pt x="38" y="101"/>
                  </a:cubicBezTo>
                  <a:cubicBezTo>
                    <a:pt x="47" y="96"/>
                    <a:pt x="47" y="96"/>
                    <a:pt x="47" y="96"/>
                  </a:cubicBezTo>
                  <a:cubicBezTo>
                    <a:pt x="91" y="70"/>
                    <a:pt x="91" y="70"/>
                    <a:pt x="91" y="70"/>
                  </a:cubicBezTo>
                  <a:cubicBezTo>
                    <a:pt x="100" y="65"/>
                    <a:pt x="100" y="65"/>
                    <a:pt x="100" y="65"/>
                  </a:cubicBezTo>
                  <a:cubicBezTo>
                    <a:pt x="155" y="64"/>
                    <a:pt x="155" y="64"/>
                    <a:pt x="155" y="64"/>
                  </a:cubicBezTo>
                  <a:cubicBezTo>
                    <a:pt x="155" y="64"/>
                    <a:pt x="155" y="64"/>
                    <a:pt x="155" y="64"/>
                  </a:cubicBezTo>
                  <a:cubicBezTo>
                    <a:pt x="156" y="64"/>
                    <a:pt x="156" y="64"/>
                    <a:pt x="156" y="64"/>
                  </a:cubicBezTo>
                  <a:cubicBezTo>
                    <a:pt x="287" y="196"/>
                    <a:pt x="287" y="196"/>
                    <a:pt x="287" y="196"/>
                  </a:cubicBezTo>
                  <a:cubicBezTo>
                    <a:pt x="293" y="196"/>
                    <a:pt x="315" y="193"/>
                    <a:pt x="326" y="191"/>
                  </a:cubicBezTo>
                  <a:cubicBezTo>
                    <a:pt x="289" y="17"/>
                    <a:pt x="289" y="17"/>
                    <a:pt x="289" y="17"/>
                  </a:cubicBezTo>
                  <a:cubicBezTo>
                    <a:pt x="289" y="17"/>
                    <a:pt x="289" y="17"/>
                    <a:pt x="289" y="17"/>
                  </a:cubicBezTo>
                  <a:cubicBezTo>
                    <a:pt x="290" y="22"/>
                    <a:pt x="290" y="22"/>
                    <a:pt x="290" y="22"/>
                  </a:cubicBezTo>
                  <a:lnTo>
                    <a:pt x="226" y="34"/>
                  </a:ln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sp>
          <p:nvSpPr>
            <p:cNvPr id="92" name="Freeform 49">
              <a:extLst>
                <a:ext uri="{FF2B5EF4-FFF2-40B4-BE49-F238E27FC236}">
                  <a16:creationId xmlns:a16="http://schemas.microsoft.com/office/drawing/2014/main" id="{B269ED9C-19D6-143E-4DB0-50A230EFBA73}"/>
                </a:ext>
              </a:extLst>
            </p:cNvPr>
            <p:cNvSpPr/>
            <p:nvPr/>
          </p:nvSpPr>
          <p:spPr bwMode="auto">
            <a:xfrm>
              <a:off x="5048251" y="1303020"/>
              <a:ext cx="904875" cy="631825"/>
            </a:xfrm>
            <a:custGeom>
              <a:avLst/>
              <a:gdLst>
                <a:gd name="T0" fmla="*/ 31 w 401"/>
                <a:gd name="T1" fmla="*/ 157 h 280"/>
                <a:gd name="T2" fmla="*/ 31 w 401"/>
                <a:gd name="T3" fmla="*/ 157 h 280"/>
                <a:gd name="T4" fmla="*/ 31 w 401"/>
                <a:gd name="T5" fmla="*/ 157 h 280"/>
                <a:gd name="T6" fmla="*/ 31 w 401"/>
                <a:gd name="T7" fmla="*/ 156 h 280"/>
                <a:gd name="T8" fmla="*/ 65 w 401"/>
                <a:gd name="T9" fmla="*/ 122 h 280"/>
                <a:gd name="T10" fmla="*/ 91 w 401"/>
                <a:gd name="T11" fmla="*/ 111 h 280"/>
                <a:gd name="T12" fmla="*/ 117 w 401"/>
                <a:gd name="T13" fmla="*/ 122 h 280"/>
                <a:gd name="T14" fmla="*/ 127 w 401"/>
                <a:gd name="T15" fmla="*/ 141 h 280"/>
                <a:gd name="T16" fmla="*/ 132 w 401"/>
                <a:gd name="T17" fmla="*/ 140 h 280"/>
                <a:gd name="T18" fmla="*/ 158 w 401"/>
                <a:gd name="T19" fmla="*/ 151 h 280"/>
                <a:gd name="T20" fmla="*/ 168 w 401"/>
                <a:gd name="T21" fmla="*/ 172 h 280"/>
                <a:gd name="T22" fmla="*/ 170 w 401"/>
                <a:gd name="T23" fmla="*/ 172 h 280"/>
                <a:gd name="T24" fmla="*/ 195 w 401"/>
                <a:gd name="T25" fmla="*/ 182 h 280"/>
                <a:gd name="T26" fmla="*/ 204 w 401"/>
                <a:gd name="T27" fmla="*/ 200 h 280"/>
                <a:gd name="T28" fmla="*/ 211 w 401"/>
                <a:gd name="T29" fmla="*/ 199 h 280"/>
                <a:gd name="T30" fmla="*/ 234 w 401"/>
                <a:gd name="T31" fmla="*/ 209 h 280"/>
                <a:gd name="T32" fmla="*/ 244 w 401"/>
                <a:gd name="T33" fmla="*/ 233 h 280"/>
                <a:gd name="T34" fmla="*/ 234 w 401"/>
                <a:gd name="T35" fmla="*/ 257 h 280"/>
                <a:gd name="T36" fmla="*/ 232 w 401"/>
                <a:gd name="T37" fmla="*/ 259 h 280"/>
                <a:gd name="T38" fmla="*/ 248 w 401"/>
                <a:gd name="T39" fmla="*/ 276 h 280"/>
                <a:gd name="T40" fmla="*/ 259 w 401"/>
                <a:gd name="T41" fmla="*/ 280 h 280"/>
                <a:gd name="T42" fmla="*/ 271 w 401"/>
                <a:gd name="T43" fmla="*/ 276 h 280"/>
                <a:gd name="T44" fmla="*/ 270 w 401"/>
                <a:gd name="T45" fmla="*/ 252 h 280"/>
                <a:gd name="T46" fmla="*/ 242 w 401"/>
                <a:gd name="T47" fmla="*/ 207 h 280"/>
                <a:gd name="T48" fmla="*/ 248 w 401"/>
                <a:gd name="T49" fmla="*/ 202 h 280"/>
                <a:gd name="T50" fmla="*/ 289 w 401"/>
                <a:gd name="T51" fmla="*/ 245 h 280"/>
                <a:gd name="T52" fmla="*/ 300 w 401"/>
                <a:gd name="T53" fmla="*/ 250 h 280"/>
                <a:gd name="T54" fmla="*/ 311 w 401"/>
                <a:gd name="T55" fmla="*/ 245 h 280"/>
                <a:gd name="T56" fmla="*/ 310 w 401"/>
                <a:gd name="T57" fmla="*/ 222 h 280"/>
                <a:gd name="T58" fmla="*/ 310 w 401"/>
                <a:gd name="T59" fmla="*/ 222 h 280"/>
                <a:gd name="T60" fmla="*/ 275 w 401"/>
                <a:gd name="T61" fmla="*/ 170 h 280"/>
                <a:gd name="T62" fmla="*/ 282 w 401"/>
                <a:gd name="T63" fmla="*/ 164 h 280"/>
                <a:gd name="T64" fmla="*/ 329 w 401"/>
                <a:gd name="T65" fmla="*/ 215 h 280"/>
                <a:gd name="T66" fmla="*/ 340 w 401"/>
                <a:gd name="T67" fmla="*/ 219 h 280"/>
                <a:gd name="T68" fmla="*/ 351 w 401"/>
                <a:gd name="T69" fmla="*/ 215 h 280"/>
                <a:gd name="T70" fmla="*/ 351 w 401"/>
                <a:gd name="T71" fmla="*/ 192 h 280"/>
                <a:gd name="T72" fmla="*/ 309 w 401"/>
                <a:gd name="T73" fmla="*/ 138 h 280"/>
                <a:gd name="T74" fmla="*/ 316 w 401"/>
                <a:gd name="T75" fmla="*/ 133 h 280"/>
                <a:gd name="T76" fmla="*/ 322 w 401"/>
                <a:gd name="T77" fmla="*/ 139 h 280"/>
                <a:gd name="T78" fmla="*/ 340 w 401"/>
                <a:gd name="T79" fmla="*/ 156 h 280"/>
                <a:gd name="T80" fmla="*/ 374 w 401"/>
                <a:gd name="T81" fmla="*/ 190 h 280"/>
                <a:gd name="T82" fmla="*/ 385 w 401"/>
                <a:gd name="T83" fmla="*/ 195 h 280"/>
                <a:gd name="T84" fmla="*/ 396 w 401"/>
                <a:gd name="T85" fmla="*/ 190 h 280"/>
                <a:gd name="T86" fmla="*/ 401 w 401"/>
                <a:gd name="T87" fmla="*/ 179 h 280"/>
                <a:gd name="T88" fmla="*/ 396 w 401"/>
                <a:gd name="T89" fmla="*/ 168 h 280"/>
                <a:gd name="T90" fmla="*/ 357 w 401"/>
                <a:gd name="T91" fmla="*/ 128 h 280"/>
                <a:gd name="T92" fmla="*/ 266 w 401"/>
                <a:gd name="T93" fmla="*/ 38 h 280"/>
                <a:gd name="T94" fmla="*/ 217 w 401"/>
                <a:gd name="T95" fmla="*/ 39 h 280"/>
                <a:gd name="T96" fmla="*/ 209 w 401"/>
                <a:gd name="T97" fmla="*/ 42 h 280"/>
                <a:gd name="T98" fmla="*/ 166 w 401"/>
                <a:gd name="T99" fmla="*/ 69 h 280"/>
                <a:gd name="T100" fmla="*/ 153 w 401"/>
                <a:gd name="T101" fmla="*/ 75 h 280"/>
                <a:gd name="T102" fmla="*/ 119 w 401"/>
                <a:gd name="T103" fmla="*/ 67 h 280"/>
                <a:gd name="T104" fmla="*/ 103 w 401"/>
                <a:gd name="T105" fmla="*/ 51 h 280"/>
                <a:gd name="T106" fmla="*/ 130 w 401"/>
                <a:gd name="T107" fmla="*/ 8 h 280"/>
                <a:gd name="T108" fmla="*/ 37 w 401"/>
                <a:gd name="T109" fmla="*/ 5 h 280"/>
                <a:gd name="T110" fmla="*/ 37 w 401"/>
                <a:gd name="T111" fmla="*/ 0 h 280"/>
                <a:gd name="T112" fmla="*/ 37 w 401"/>
                <a:gd name="T113" fmla="*/ 0 h 280"/>
                <a:gd name="T114" fmla="*/ 0 w 401"/>
                <a:gd name="T115" fmla="*/ 149 h 280"/>
                <a:gd name="T116" fmla="*/ 0 w 401"/>
                <a:gd name="T117" fmla="*/ 149 h 280"/>
                <a:gd name="T118" fmla="*/ 2 w 401"/>
                <a:gd name="T119" fmla="*/ 145 h 280"/>
                <a:gd name="T120" fmla="*/ 31 w 401"/>
                <a:gd name="T121" fmla="*/ 15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01" h="280">
                  <a:moveTo>
                    <a:pt x="31" y="157"/>
                  </a:moveTo>
                  <a:cubicBezTo>
                    <a:pt x="31" y="157"/>
                    <a:pt x="31" y="157"/>
                    <a:pt x="31" y="157"/>
                  </a:cubicBezTo>
                  <a:cubicBezTo>
                    <a:pt x="31" y="157"/>
                    <a:pt x="31" y="157"/>
                    <a:pt x="31" y="157"/>
                  </a:cubicBezTo>
                  <a:cubicBezTo>
                    <a:pt x="31" y="156"/>
                    <a:pt x="31" y="156"/>
                    <a:pt x="31" y="156"/>
                  </a:cubicBezTo>
                  <a:cubicBezTo>
                    <a:pt x="65" y="122"/>
                    <a:pt x="65" y="122"/>
                    <a:pt x="65" y="122"/>
                  </a:cubicBezTo>
                  <a:cubicBezTo>
                    <a:pt x="72" y="115"/>
                    <a:pt x="82" y="111"/>
                    <a:pt x="91" y="111"/>
                  </a:cubicBezTo>
                  <a:cubicBezTo>
                    <a:pt x="101" y="111"/>
                    <a:pt x="110" y="115"/>
                    <a:pt x="117" y="122"/>
                  </a:cubicBezTo>
                  <a:cubicBezTo>
                    <a:pt x="122" y="127"/>
                    <a:pt x="126" y="134"/>
                    <a:pt x="127" y="141"/>
                  </a:cubicBezTo>
                  <a:cubicBezTo>
                    <a:pt x="129" y="141"/>
                    <a:pt x="130" y="140"/>
                    <a:pt x="132" y="140"/>
                  </a:cubicBezTo>
                  <a:cubicBezTo>
                    <a:pt x="141" y="140"/>
                    <a:pt x="151" y="144"/>
                    <a:pt x="158" y="151"/>
                  </a:cubicBezTo>
                  <a:cubicBezTo>
                    <a:pt x="163" y="157"/>
                    <a:pt x="167" y="164"/>
                    <a:pt x="168" y="172"/>
                  </a:cubicBezTo>
                  <a:cubicBezTo>
                    <a:pt x="169" y="172"/>
                    <a:pt x="169" y="172"/>
                    <a:pt x="170" y="172"/>
                  </a:cubicBezTo>
                  <a:cubicBezTo>
                    <a:pt x="179" y="172"/>
                    <a:pt x="188" y="175"/>
                    <a:pt x="195" y="182"/>
                  </a:cubicBezTo>
                  <a:cubicBezTo>
                    <a:pt x="200" y="187"/>
                    <a:pt x="203" y="193"/>
                    <a:pt x="204" y="200"/>
                  </a:cubicBezTo>
                  <a:cubicBezTo>
                    <a:pt x="206" y="199"/>
                    <a:pt x="208" y="199"/>
                    <a:pt x="211" y="199"/>
                  </a:cubicBezTo>
                  <a:cubicBezTo>
                    <a:pt x="220" y="199"/>
                    <a:pt x="228" y="202"/>
                    <a:pt x="234" y="209"/>
                  </a:cubicBezTo>
                  <a:cubicBezTo>
                    <a:pt x="241" y="215"/>
                    <a:pt x="244" y="224"/>
                    <a:pt x="244" y="233"/>
                  </a:cubicBezTo>
                  <a:cubicBezTo>
                    <a:pt x="244" y="242"/>
                    <a:pt x="241" y="250"/>
                    <a:pt x="234" y="257"/>
                  </a:cubicBezTo>
                  <a:cubicBezTo>
                    <a:pt x="232" y="259"/>
                    <a:pt x="232" y="259"/>
                    <a:pt x="232" y="259"/>
                  </a:cubicBezTo>
                  <a:cubicBezTo>
                    <a:pt x="248" y="276"/>
                    <a:pt x="248" y="276"/>
                    <a:pt x="248" y="276"/>
                  </a:cubicBezTo>
                  <a:cubicBezTo>
                    <a:pt x="251" y="279"/>
                    <a:pt x="255" y="280"/>
                    <a:pt x="259" y="280"/>
                  </a:cubicBezTo>
                  <a:cubicBezTo>
                    <a:pt x="264" y="280"/>
                    <a:pt x="268" y="278"/>
                    <a:pt x="271" y="276"/>
                  </a:cubicBezTo>
                  <a:cubicBezTo>
                    <a:pt x="279" y="268"/>
                    <a:pt x="270" y="252"/>
                    <a:pt x="270" y="252"/>
                  </a:cubicBezTo>
                  <a:cubicBezTo>
                    <a:pt x="242" y="207"/>
                    <a:pt x="242" y="207"/>
                    <a:pt x="242" y="207"/>
                  </a:cubicBezTo>
                  <a:cubicBezTo>
                    <a:pt x="248" y="202"/>
                    <a:pt x="248" y="202"/>
                    <a:pt x="248" y="202"/>
                  </a:cubicBezTo>
                  <a:cubicBezTo>
                    <a:pt x="289" y="245"/>
                    <a:pt x="289" y="245"/>
                    <a:pt x="289" y="245"/>
                  </a:cubicBezTo>
                  <a:cubicBezTo>
                    <a:pt x="291" y="248"/>
                    <a:pt x="295" y="250"/>
                    <a:pt x="300" y="250"/>
                  </a:cubicBezTo>
                  <a:cubicBezTo>
                    <a:pt x="304" y="250"/>
                    <a:pt x="308" y="248"/>
                    <a:pt x="311" y="245"/>
                  </a:cubicBezTo>
                  <a:cubicBezTo>
                    <a:pt x="315" y="241"/>
                    <a:pt x="318" y="235"/>
                    <a:pt x="310" y="222"/>
                  </a:cubicBezTo>
                  <a:cubicBezTo>
                    <a:pt x="310" y="222"/>
                    <a:pt x="310" y="222"/>
                    <a:pt x="310" y="222"/>
                  </a:cubicBezTo>
                  <a:cubicBezTo>
                    <a:pt x="275" y="170"/>
                    <a:pt x="275" y="170"/>
                    <a:pt x="275" y="170"/>
                  </a:cubicBezTo>
                  <a:cubicBezTo>
                    <a:pt x="282" y="164"/>
                    <a:pt x="282" y="164"/>
                    <a:pt x="282" y="164"/>
                  </a:cubicBezTo>
                  <a:cubicBezTo>
                    <a:pt x="329" y="215"/>
                    <a:pt x="329" y="215"/>
                    <a:pt x="329" y="215"/>
                  </a:cubicBezTo>
                  <a:cubicBezTo>
                    <a:pt x="332" y="218"/>
                    <a:pt x="336" y="219"/>
                    <a:pt x="340" y="219"/>
                  </a:cubicBezTo>
                  <a:cubicBezTo>
                    <a:pt x="344" y="219"/>
                    <a:pt x="348" y="218"/>
                    <a:pt x="351" y="215"/>
                  </a:cubicBezTo>
                  <a:cubicBezTo>
                    <a:pt x="357" y="209"/>
                    <a:pt x="357" y="200"/>
                    <a:pt x="351" y="192"/>
                  </a:cubicBezTo>
                  <a:cubicBezTo>
                    <a:pt x="309" y="138"/>
                    <a:pt x="309" y="138"/>
                    <a:pt x="309" y="138"/>
                  </a:cubicBezTo>
                  <a:cubicBezTo>
                    <a:pt x="316" y="133"/>
                    <a:pt x="316" y="133"/>
                    <a:pt x="316" y="133"/>
                  </a:cubicBezTo>
                  <a:cubicBezTo>
                    <a:pt x="316" y="133"/>
                    <a:pt x="319" y="136"/>
                    <a:pt x="322" y="139"/>
                  </a:cubicBezTo>
                  <a:cubicBezTo>
                    <a:pt x="329" y="145"/>
                    <a:pt x="338" y="155"/>
                    <a:pt x="340" y="156"/>
                  </a:cubicBezTo>
                  <a:cubicBezTo>
                    <a:pt x="374" y="190"/>
                    <a:pt x="374" y="190"/>
                    <a:pt x="374" y="190"/>
                  </a:cubicBezTo>
                  <a:cubicBezTo>
                    <a:pt x="377" y="193"/>
                    <a:pt x="381" y="195"/>
                    <a:pt x="385" y="195"/>
                  </a:cubicBezTo>
                  <a:cubicBezTo>
                    <a:pt x="389" y="195"/>
                    <a:pt x="393" y="193"/>
                    <a:pt x="396" y="190"/>
                  </a:cubicBezTo>
                  <a:cubicBezTo>
                    <a:pt x="399" y="187"/>
                    <a:pt x="401" y="183"/>
                    <a:pt x="401" y="179"/>
                  </a:cubicBezTo>
                  <a:cubicBezTo>
                    <a:pt x="401" y="175"/>
                    <a:pt x="399" y="171"/>
                    <a:pt x="396" y="168"/>
                  </a:cubicBezTo>
                  <a:cubicBezTo>
                    <a:pt x="357" y="128"/>
                    <a:pt x="357" y="128"/>
                    <a:pt x="357" y="128"/>
                  </a:cubicBezTo>
                  <a:cubicBezTo>
                    <a:pt x="266" y="38"/>
                    <a:pt x="266" y="38"/>
                    <a:pt x="266" y="38"/>
                  </a:cubicBezTo>
                  <a:cubicBezTo>
                    <a:pt x="217" y="39"/>
                    <a:pt x="217" y="39"/>
                    <a:pt x="217" y="39"/>
                  </a:cubicBezTo>
                  <a:cubicBezTo>
                    <a:pt x="209" y="42"/>
                    <a:pt x="209" y="42"/>
                    <a:pt x="209" y="42"/>
                  </a:cubicBezTo>
                  <a:cubicBezTo>
                    <a:pt x="166" y="69"/>
                    <a:pt x="166" y="69"/>
                    <a:pt x="166" y="69"/>
                  </a:cubicBezTo>
                  <a:cubicBezTo>
                    <a:pt x="153" y="75"/>
                    <a:pt x="153" y="75"/>
                    <a:pt x="153" y="75"/>
                  </a:cubicBezTo>
                  <a:cubicBezTo>
                    <a:pt x="119" y="67"/>
                    <a:pt x="119" y="67"/>
                    <a:pt x="119" y="67"/>
                  </a:cubicBezTo>
                  <a:cubicBezTo>
                    <a:pt x="103" y="51"/>
                    <a:pt x="103" y="51"/>
                    <a:pt x="103" y="51"/>
                  </a:cubicBezTo>
                  <a:cubicBezTo>
                    <a:pt x="130" y="8"/>
                    <a:pt x="130" y="8"/>
                    <a:pt x="130" y="8"/>
                  </a:cubicBezTo>
                  <a:cubicBezTo>
                    <a:pt x="37" y="5"/>
                    <a:pt x="37" y="5"/>
                    <a:pt x="37" y="5"/>
                  </a:cubicBezTo>
                  <a:cubicBezTo>
                    <a:pt x="37" y="0"/>
                    <a:pt x="37" y="0"/>
                    <a:pt x="37" y="0"/>
                  </a:cubicBezTo>
                  <a:cubicBezTo>
                    <a:pt x="37" y="0"/>
                    <a:pt x="37" y="0"/>
                    <a:pt x="37" y="0"/>
                  </a:cubicBezTo>
                  <a:cubicBezTo>
                    <a:pt x="0" y="149"/>
                    <a:pt x="0" y="149"/>
                    <a:pt x="0" y="149"/>
                  </a:cubicBezTo>
                  <a:cubicBezTo>
                    <a:pt x="0" y="149"/>
                    <a:pt x="0" y="149"/>
                    <a:pt x="0" y="149"/>
                  </a:cubicBezTo>
                  <a:cubicBezTo>
                    <a:pt x="2" y="145"/>
                    <a:pt x="2" y="145"/>
                    <a:pt x="2" y="145"/>
                  </a:cubicBezTo>
                  <a:lnTo>
                    <a:pt x="31" y="157"/>
                  </a:lnTo>
                  <a:close/>
                </a:path>
              </a:pathLst>
            </a:custGeom>
            <a:solidFill>
              <a:srgbClr val="7891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sp>
          <p:nvSpPr>
            <p:cNvPr id="93" name="Freeform 50">
              <a:extLst>
                <a:ext uri="{FF2B5EF4-FFF2-40B4-BE49-F238E27FC236}">
                  <a16:creationId xmlns:a16="http://schemas.microsoft.com/office/drawing/2014/main" id="{832185E7-8CA9-9807-62B1-30131B5F2B2C}"/>
                </a:ext>
              </a:extLst>
            </p:cNvPr>
            <p:cNvSpPr/>
            <p:nvPr/>
          </p:nvSpPr>
          <p:spPr bwMode="auto">
            <a:xfrm>
              <a:off x="5110163" y="1574483"/>
              <a:ext cx="471488" cy="377825"/>
            </a:xfrm>
            <a:custGeom>
              <a:avLst/>
              <a:gdLst>
                <a:gd name="T0" fmla="*/ 209 w 209"/>
                <a:gd name="T1" fmla="*/ 113 h 168"/>
                <a:gd name="T2" fmla="*/ 201 w 209"/>
                <a:gd name="T3" fmla="*/ 95 h 168"/>
                <a:gd name="T4" fmla="*/ 184 w 209"/>
                <a:gd name="T5" fmla="*/ 87 h 168"/>
                <a:gd name="T6" fmla="*/ 168 w 209"/>
                <a:gd name="T7" fmla="*/ 92 h 168"/>
                <a:gd name="T8" fmla="*/ 169 w 209"/>
                <a:gd name="T9" fmla="*/ 86 h 168"/>
                <a:gd name="T10" fmla="*/ 162 w 209"/>
                <a:gd name="T11" fmla="*/ 68 h 168"/>
                <a:gd name="T12" fmla="*/ 143 w 209"/>
                <a:gd name="T13" fmla="*/ 60 h 168"/>
                <a:gd name="T14" fmla="*/ 132 w 209"/>
                <a:gd name="T15" fmla="*/ 63 h 168"/>
                <a:gd name="T16" fmla="*/ 133 w 209"/>
                <a:gd name="T17" fmla="*/ 57 h 168"/>
                <a:gd name="T18" fmla="*/ 125 w 209"/>
                <a:gd name="T19" fmla="*/ 37 h 168"/>
                <a:gd name="T20" fmla="*/ 105 w 209"/>
                <a:gd name="T21" fmla="*/ 29 h 168"/>
                <a:gd name="T22" fmla="*/ 92 w 209"/>
                <a:gd name="T23" fmla="*/ 32 h 168"/>
                <a:gd name="T24" fmla="*/ 93 w 209"/>
                <a:gd name="T25" fmla="*/ 28 h 168"/>
                <a:gd name="T26" fmla="*/ 84 w 209"/>
                <a:gd name="T27" fmla="*/ 8 h 168"/>
                <a:gd name="T28" fmla="*/ 64 w 209"/>
                <a:gd name="T29" fmla="*/ 0 h 168"/>
                <a:gd name="T30" fmla="*/ 44 w 209"/>
                <a:gd name="T31" fmla="*/ 8 h 168"/>
                <a:gd name="T32" fmla="*/ 10 w 209"/>
                <a:gd name="T33" fmla="*/ 42 h 168"/>
                <a:gd name="T34" fmla="*/ 9 w 209"/>
                <a:gd name="T35" fmla="*/ 44 h 168"/>
                <a:gd name="T36" fmla="*/ 4 w 209"/>
                <a:gd name="T37" fmla="*/ 51 h 168"/>
                <a:gd name="T38" fmla="*/ 10 w 209"/>
                <a:gd name="T39" fmla="*/ 82 h 168"/>
                <a:gd name="T40" fmla="*/ 30 w 209"/>
                <a:gd name="T41" fmla="*/ 91 h 168"/>
                <a:gd name="T42" fmla="*/ 42 w 209"/>
                <a:gd name="T43" fmla="*/ 88 h 168"/>
                <a:gd name="T44" fmla="*/ 50 w 209"/>
                <a:gd name="T45" fmla="*/ 111 h 168"/>
                <a:gd name="T46" fmla="*/ 70 w 209"/>
                <a:gd name="T47" fmla="*/ 120 h 168"/>
                <a:gd name="T48" fmla="*/ 87 w 209"/>
                <a:gd name="T49" fmla="*/ 114 h 168"/>
                <a:gd name="T50" fmla="*/ 94 w 209"/>
                <a:gd name="T51" fmla="*/ 135 h 168"/>
                <a:gd name="T52" fmla="*/ 112 w 209"/>
                <a:gd name="T53" fmla="*/ 143 h 168"/>
                <a:gd name="T54" fmla="*/ 129 w 209"/>
                <a:gd name="T55" fmla="*/ 137 h 168"/>
                <a:gd name="T56" fmla="*/ 128 w 209"/>
                <a:gd name="T57" fmla="*/ 143 h 168"/>
                <a:gd name="T58" fmla="*/ 135 w 209"/>
                <a:gd name="T59" fmla="*/ 161 h 168"/>
                <a:gd name="T60" fmla="*/ 153 w 209"/>
                <a:gd name="T61" fmla="*/ 168 h 168"/>
                <a:gd name="T62" fmla="*/ 171 w 209"/>
                <a:gd name="T63" fmla="*/ 161 h 168"/>
                <a:gd name="T64" fmla="*/ 190 w 209"/>
                <a:gd name="T65" fmla="*/ 142 h 168"/>
                <a:gd name="T66" fmla="*/ 196 w 209"/>
                <a:gd name="T67" fmla="*/ 137 h 168"/>
                <a:gd name="T68" fmla="*/ 201 w 209"/>
                <a:gd name="T69" fmla="*/ 131 h 168"/>
                <a:gd name="T70" fmla="*/ 209 w 209"/>
                <a:gd name="T71" fmla="*/ 11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9" h="168">
                  <a:moveTo>
                    <a:pt x="209" y="113"/>
                  </a:moveTo>
                  <a:cubicBezTo>
                    <a:pt x="209" y="106"/>
                    <a:pt x="206" y="100"/>
                    <a:pt x="201" y="95"/>
                  </a:cubicBezTo>
                  <a:cubicBezTo>
                    <a:pt x="197" y="90"/>
                    <a:pt x="190" y="87"/>
                    <a:pt x="184" y="87"/>
                  </a:cubicBezTo>
                  <a:cubicBezTo>
                    <a:pt x="178" y="87"/>
                    <a:pt x="173" y="89"/>
                    <a:pt x="168" y="92"/>
                  </a:cubicBezTo>
                  <a:cubicBezTo>
                    <a:pt x="169" y="90"/>
                    <a:pt x="169" y="88"/>
                    <a:pt x="169" y="86"/>
                  </a:cubicBezTo>
                  <a:cubicBezTo>
                    <a:pt x="169" y="79"/>
                    <a:pt x="166" y="73"/>
                    <a:pt x="162" y="68"/>
                  </a:cubicBezTo>
                  <a:cubicBezTo>
                    <a:pt x="157" y="63"/>
                    <a:pt x="150" y="60"/>
                    <a:pt x="143" y="60"/>
                  </a:cubicBezTo>
                  <a:cubicBezTo>
                    <a:pt x="139" y="60"/>
                    <a:pt x="136" y="61"/>
                    <a:pt x="132" y="63"/>
                  </a:cubicBezTo>
                  <a:cubicBezTo>
                    <a:pt x="133" y="61"/>
                    <a:pt x="133" y="59"/>
                    <a:pt x="133" y="57"/>
                  </a:cubicBezTo>
                  <a:cubicBezTo>
                    <a:pt x="133" y="50"/>
                    <a:pt x="130" y="43"/>
                    <a:pt x="125" y="37"/>
                  </a:cubicBezTo>
                  <a:cubicBezTo>
                    <a:pt x="119" y="32"/>
                    <a:pt x="112" y="29"/>
                    <a:pt x="105" y="29"/>
                  </a:cubicBezTo>
                  <a:cubicBezTo>
                    <a:pt x="100" y="29"/>
                    <a:pt x="96" y="30"/>
                    <a:pt x="92" y="32"/>
                  </a:cubicBezTo>
                  <a:cubicBezTo>
                    <a:pt x="92" y="31"/>
                    <a:pt x="93" y="29"/>
                    <a:pt x="93" y="28"/>
                  </a:cubicBezTo>
                  <a:cubicBezTo>
                    <a:pt x="93" y="21"/>
                    <a:pt x="90" y="14"/>
                    <a:pt x="84" y="8"/>
                  </a:cubicBezTo>
                  <a:cubicBezTo>
                    <a:pt x="79" y="3"/>
                    <a:pt x="72" y="0"/>
                    <a:pt x="64" y="0"/>
                  </a:cubicBezTo>
                  <a:cubicBezTo>
                    <a:pt x="57" y="0"/>
                    <a:pt x="50" y="3"/>
                    <a:pt x="44" y="8"/>
                  </a:cubicBezTo>
                  <a:cubicBezTo>
                    <a:pt x="10" y="42"/>
                    <a:pt x="10" y="42"/>
                    <a:pt x="10" y="42"/>
                  </a:cubicBezTo>
                  <a:cubicBezTo>
                    <a:pt x="10" y="43"/>
                    <a:pt x="9" y="43"/>
                    <a:pt x="9" y="44"/>
                  </a:cubicBezTo>
                  <a:cubicBezTo>
                    <a:pt x="4" y="51"/>
                    <a:pt x="4" y="51"/>
                    <a:pt x="4" y="51"/>
                  </a:cubicBezTo>
                  <a:cubicBezTo>
                    <a:pt x="0" y="61"/>
                    <a:pt x="2" y="74"/>
                    <a:pt x="10" y="82"/>
                  </a:cubicBezTo>
                  <a:cubicBezTo>
                    <a:pt x="16" y="88"/>
                    <a:pt x="23" y="91"/>
                    <a:pt x="30" y="91"/>
                  </a:cubicBezTo>
                  <a:cubicBezTo>
                    <a:pt x="34" y="91"/>
                    <a:pt x="39" y="90"/>
                    <a:pt x="42" y="88"/>
                  </a:cubicBezTo>
                  <a:cubicBezTo>
                    <a:pt x="41" y="96"/>
                    <a:pt x="44" y="105"/>
                    <a:pt x="50" y="111"/>
                  </a:cubicBezTo>
                  <a:cubicBezTo>
                    <a:pt x="56" y="117"/>
                    <a:pt x="63" y="120"/>
                    <a:pt x="70" y="120"/>
                  </a:cubicBezTo>
                  <a:cubicBezTo>
                    <a:pt x="76" y="120"/>
                    <a:pt x="82" y="118"/>
                    <a:pt x="87" y="114"/>
                  </a:cubicBezTo>
                  <a:cubicBezTo>
                    <a:pt x="86" y="122"/>
                    <a:pt x="88" y="130"/>
                    <a:pt x="94" y="135"/>
                  </a:cubicBezTo>
                  <a:cubicBezTo>
                    <a:pt x="99" y="140"/>
                    <a:pt x="105" y="143"/>
                    <a:pt x="112" y="143"/>
                  </a:cubicBezTo>
                  <a:cubicBezTo>
                    <a:pt x="118" y="143"/>
                    <a:pt x="124" y="141"/>
                    <a:pt x="129" y="137"/>
                  </a:cubicBezTo>
                  <a:cubicBezTo>
                    <a:pt x="128" y="139"/>
                    <a:pt x="128" y="141"/>
                    <a:pt x="128" y="143"/>
                  </a:cubicBezTo>
                  <a:cubicBezTo>
                    <a:pt x="128" y="150"/>
                    <a:pt x="131" y="156"/>
                    <a:pt x="135" y="161"/>
                  </a:cubicBezTo>
                  <a:cubicBezTo>
                    <a:pt x="140" y="166"/>
                    <a:pt x="147" y="168"/>
                    <a:pt x="153" y="168"/>
                  </a:cubicBezTo>
                  <a:cubicBezTo>
                    <a:pt x="160" y="168"/>
                    <a:pt x="167" y="166"/>
                    <a:pt x="171" y="161"/>
                  </a:cubicBezTo>
                  <a:cubicBezTo>
                    <a:pt x="190" y="142"/>
                    <a:pt x="190" y="142"/>
                    <a:pt x="190" y="142"/>
                  </a:cubicBezTo>
                  <a:cubicBezTo>
                    <a:pt x="196" y="137"/>
                    <a:pt x="196" y="137"/>
                    <a:pt x="196" y="137"/>
                  </a:cubicBezTo>
                  <a:cubicBezTo>
                    <a:pt x="201" y="131"/>
                    <a:pt x="201" y="131"/>
                    <a:pt x="201" y="131"/>
                  </a:cubicBezTo>
                  <a:cubicBezTo>
                    <a:pt x="206" y="126"/>
                    <a:pt x="209" y="120"/>
                    <a:pt x="209" y="113"/>
                  </a:cubicBez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grpSp>
      <p:sp>
        <p:nvSpPr>
          <p:cNvPr id="94" name="Rectangle 1123">
            <a:extLst>
              <a:ext uri="{FF2B5EF4-FFF2-40B4-BE49-F238E27FC236}">
                <a16:creationId xmlns:a16="http://schemas.microsoft.com/office/drawing/2014/main" id="{E1F3C310-6B7F-FAD1-0753-780F62CE4158}"/>
              </a:ext>
            </a:extLst>
          </p:cNvPr>
          <p:cNvSpPr/>
          <p:nvPr/>
        </p:nvSpPr>
        <p:spPr bwMode="auto">
          <a:xfrm>
            <a:off x="6721601" y="4834482"/>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COMERCIAL</a:t>
            </a:r>
          </a:p>
        </p:txBody>
      </p:sp>
      <p:sp>
        <p:nvSpPr>
          <p:cNvPr id="95" name="Rectangle 1126">
            <a:extLst>
              <a:ext uri="{FF2B5EF4-FFF2-40B4-BE49-F238E27FC236}">
                <a16:creationId xmlns:a16="http://schemas.microsoft.com/office/drawing/2014/main" id="{4CCBDC74-4C1D-BC30-3F4E-DB9A659C7F73}"/>
              </a:ext>
            </a:extLst>
          </p:cNvPr>
          <p:cNvSpPr/>
          <p:nvPr/>
        </p:nvSpPr>
        <p:spPr bwMode="auto">
          <a:xfrm>
            <a:off x="6721601" y="5449098"/>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RH</a:t>
            </a:r>
          </a:p>
        </p:txBody>
      </p:sp>
      <p:sp>
        <p:nvSpPr>
          <p:cNvPr id="96" name="Rectangle 1127">
            <a:extLst>
              <a:ext uri="{FF2B5EF4-FFF2-40B4-BE49-F238E27FC236}">
                <a16:creationId xmlns:a16="http://schemas.microsoft.com/office/drawing/2014/main" id="{D823198A-BF22-F4E3-E1C7-22C53704A1F5}"/>
              </a:ext>
            </a:extLst>
          </p:cNvPr>
          <p:cNvSpPr/>
          <p:nvPr/>
        </p:nvSpPr>
        <p:spPr bwMode="auto">
          <a:xfrm>
            <a:off x="6721601" y="5653971"/>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TI</a:t>
            </a:r>
          </a:p>
        </p:txBody>
      </p:sp>
      <p:sp>
        <p:nvSpPr>
          <p:cNvPr id="97" name="Rectangle 1128">
            <a:extLst>
              <a:ext uri="{FF2B5EF4-FFF2-40B4-BE49-F238E27FC236}">
                <a16:creationId xmlns:a16="http://schemas.microsoft.com/office/drawing/2014/main" id="{75A9F9DC-7CC6-9378-FD81-922ABF00670B}"/>
              </a:ext>
            </a:extLst>
          </p:cNvPr>
          <p:cNvSpPr/>
          <p:nvPr/>
        </p:nvSpPr>
        <p:spPr bwMode="auto">
          <a:xfrm>
            <a:off x="6721601" y="5039354"/>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FUNCIONES CORE</a:t>
            </a:r>
          </a:p>
        </p:txBody>
      </p:sp>
      <p:sp>
        <p:nvSpPr>
          <p:cNvPr id="98" name="Rectangle 5">
            <a:extLst>
              <a:ext uri="{FF2B5EF4-FFF2-40B4-BE49-F238E27FC236}">
                <a16:creationId xmlns:a16="http://schemas.microsoft.com/office/drawing/2014/main" id="{41C583CB-FCD3-7CAF-7AA4-ECA934785B43}"/>
              </a:ext>
            </a:extLst>
          </p:cNvPr>
          <p:cNvSpPr/>
          <p:nvPr/>
        </p:nvSpPr>
        <p:spPr bwMode="auto">
          <a:xfrm>
            <a:off x="6721601" y="5244226"/>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FINANZAS</a:t>
            </a:r>
          </a:p>
        </p:txBody>
      </p:sp>
      <p:sp>
        <p:nvSpPr>
          <p:cNvPr id="99" name="Rectangle 19">
            <a:extLst>
              <a:ext uri="{FF2B5EF4-FFF2-40B4-BE49-F238E27FC236}">
                <a16:creationId xmlns:a16="http://schemas.microsoft.com/office/drawing/2014/main" id="{27BC51B6-F7E8-6656-0F39-1273BC27737B}"/>
              </a:ext>
            </a:extLst>
          </p:cNvPr>
          <p:cNvSpPr/>
          <p:nvPr/>
        </p:nvSpPr>
        <p:spPr bwMode="auto">
          <a:xfrm>
            <a:off x="330200" y="1729084"/>
            <a:ext cx="11531600" cy="1550529"/>
          </a:xfrm>
          <a:prstGeom prst="rect">
            <a:avLst/>
          </a:prstGeom>
          <a:noFill/>
          <a:ln w="19050" cap="flat" cmpd="sng" algn="ctr">
            <a:solidFill>
              <a:srgbClr val="FF7F32">
                <a:alpha val="25000"/>
              </a:srgbClr>
            </a:solid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00" name="Rectangle 20">
            <a:extLst>
              <a:ext uri="{FF2B5EF4-FFF2-40B4-BE49-F238E27FC236}">
                <a16:creationId xmlns:a16="http://schemas.microsoft.com/office/drawing/2014/main" id="{304C91F2-FA45-5676-F6B3-481F7F4EECDE}"/>
              </a:ext>
            </a:extLst>
          </p:cNvPr>
          <p:cNvSpPr/>
          <p:nvPr/>
        </p:nvSpPr>
        <p:spPr bwMode="auto">
          <a:xfrm>
            <a:off x="476602" y="1484557"/>
            <a:ext cx="3090397" cy="231318"/>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err="1">
                <a:ln>
                  <a:noFill/>
                </a:ln>
                <a:solidFill>
                  <a:srgbClr val="FFFFFF"/>
                </a:solidFill>
                <a:effectLst/>
                <a:uLnTx/>
                <a:uFillTx/>
                <a:latin typeface="Open Sans"/>
                <a:ea typeface="Open Sans"/>
                <a:cs typeface="Arial"/>
              </a:rPr>
              <a:t>Principios</a:t>
            </a:r>
            <a:r>
              <a:rPr kumimoji="0" lang="en-US" sz="1600" b="1" i="0" u="none" strike="noStrike" kern="1200" cap="none" spc="300" normalizeH="0" baseline="0" noProof="0">
                <a:ln>
                  <a:noFill/>
                </a:ln>
                <a:solidFill>
                  <a:srgbClr val="FFFFFF"/>
                </a:solidFill>
                <a:effectLst/>
                <a:uLnTx/>
                <a:uFillTx/>
                <a:latin typeface="Open Sans"/>
                <a:ea typeface="Open Sans"/>
                <a:cs typeface="Arial"/>
              </a:rPr>
              <a:t> de </a:t>
            </a:r>
            <a:r>
              <a:rPr kumimoji="0" lang="en-US" sz="1600" b="1" i="0" u="none" strike="noStrike" kern="1200" cap="none" spc="300" normalizeH="0" baseline="0" noProof="0" err="1">
                <a:ln>
                  <a:noFill/>
                </a:ln>
                <a:solidFill>
                  <a:srgbClr val="FFFFFF"/>
                </a:solidFill>
                <a:effectLst/>
                <a:uLnTx/>
                <a:uFillTx/>
                <a:latin typeface="Open Sans"/>
                <a:ea typeface="Open Sans"/>
                <a:cs typeface="Arial"/>
              </a:rPr>
              <a:t>diseño</a:t>
            </a:r>
            <a:endParaRPr kumimoji="0" lang="en-US" sz="1600" b="1" i="0" u="none" strike="noStrike" kern="1200" cap="none" spc="300" normalizeH="0" baseline="0" noProof="0">
              <a:ln>
                <a:noFill/>
              </a:ln>
              <a:solidFill>
                <a:srgbClr val="FFFFFF"/>
              </a:solidFill>
              <a:effectLst/>
              <a:uLnTx/>
              <a:uFillTx/>
              <a:latin typeface="Open Sans"/>
              <a:ea typeface="Open Sans"/>
              <a:cs typeface="Arial"/>
            </a:endParaRPr>
          </a:p>
        </p:txBody>
      </p:sp>
      <p:sp>
        <p:nvSpPr>
          <p:cNvPr id="101" name="Rectangle 23">
            <a:extLst>
              <a:ext uri="{FF2B5EF4-FFF2-40B4-BE49-F238E27FC236}">
                <a16:creationId xmlns:a16="http://schemas.microsoft.com/office/drawing/2014/main" id="{885C0B7F-08CF-9E95-47E1-3D76C84835CD}"/>
              </a:ext>
            </a:extLst>
          </p:cNvPr>
          <p:cNvSpPr/>
          <p:nvPr/>
        </p:nvSpPr>
        <p:spPr bwMode="auto">
          <a:xfrm>
            <a:off x="590550" y="1990853"/>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s-MX" sz="1400" b="1" i="0" u="none" strike="noStrike" kern="1200" cap="none" spc="0" normalizeH="0" baseline="0" noProof="0">
                <a:ln>
                  <a:noFill/>
                </a:ln>
                <a:solidFill>
                  <a:srgbClr val="FF7F32"/>
                </a:solidFill>
                <a:effectLst/>
                <a:uLnTx/>
                <a:uFillTx/>
                <a:latin typeface="Open Sans"/>
                <a:ea typeface="Open Sans"/>
                <a:cs typeface="Arial" panose="020B0604020202020204" pitchFamily="34" charset="0"/>
              </a:rPr>
              <a:t>Organizarnos para escalar nuestro </a:t>
            </a:r>
            <a:r>
              <a:rPr kumimoji="0" lang="es-MX" sz="1400" b="1" i="1" u="none" strike="noStrike" kern="1200" cap="none" spc="0" normalizeH="0" baseline="0" noProof="0" err="1">
                <a:ln>
                  <a:noFill/>
                </a:ln>
                <a:solidFill>
                  <a:srgbClr val="FF7F32"/>
                </a:solidFill>
                <a:effectLst/>
                <a:uLnTx/>
                <a:uFillTx/>
                <a:latin typeface="Open Sans"/>
                <a:ea typeface="Open Sans"/>
                <a:cs typeface="Arial" panose="020B0604020202020204" pitchFamily="34" charset="0"/>
              </a:rPr>
              <a:t>core</a:t>
            </a:r>
            <a:r>
              <a:rPr kumimoji="0" lang="es-MX" sz="1400" b="1" i="0" u="none" strike="noStrike" kern="1200" cap="none" spc="0" normalizeH="0" baseline="0" noProof="0">
                <a:ln>
                  <a:noFill/>
                </a:ln>
                <a:solidFill>
                  <a:srgbClr val="FF7F32"/>
                </a:solidFill>
                <a:effectLst/>
                <a:uLnTx/>
                <a:uFillTx/>
                <a:latin typeface="Open Sans"/>
                <a:ea typeface="Open Sans"/>
                <a:cs typeface="Arial" panose="020B0604020202020204" pitchFamily="34" charset="0"/>
              </a:rPr>
              <a:t> y crear el futuro</a:t>
            </a:r>
          </a:p>
        </p:txBody>
      </p:sp>
      <p:sp>
        <p:nvSpPr>
          <p:cNvPr id="102" name="Rectangle 22">
            <a:extLst>
              <a:ext uri="{FF2B5EF4-FFF2-40B4-BE49-F238E27FC236}">
                <a16:creationId xmlns:a16="http://schemas.microsoft.com/office/drawing/2014/main" id="{ED97AFC6-E30A-54C5-7455-BE949C0475AA}"/>
              </a:ext>
            </a:extLst>
          </p:cNvPr>
          <p:cNvSpPr/>
          <p:nvPr/>
        </p:nvSpPr>
        <p:spPr bwMode="auto">
          <a:xfrm>
            <a:off x="3431116"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Liderar centralmente y empoderar la ejecución local</a:t>
            </a:r>
          </a:p>
        </p:txBody>
      </p:sp>
      <p:sp>
        <p:nvSpPr>
          <p:cNvPr id="103" name="Rectangle 26">
            <a:extLst>
              <a:ext uri="{FF2B5EF4-FFF2-40B4-BE49-F238E27FC236}">
                <a16:creationId xmlns:a16="http://schemas.microsoft.com/office/drawing/2014/main" id="{E50C9D03-6102-4891-1466-D20FDA09660A}"/>
              </a:ext>
            </a:extLst>
          </p:cNvPr>
          <p:cNvSpPr/>
          <p:nvPr/>
        </p:nvSpPr>
        <p:spPr bwMode="auto">
          <a:xfrm>
            <a:off x="6271682"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5000"/>
              </a:lnSpc>
              <a:spcBef>
                <a:spcPct val="0"/>
              </a:spcBef>
              <a:spcAft>
                <a:spcPts val="80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Operar con excelencia y orientado al cliente</a:t>
            </a:r>
          </a:p>
        </p:txBody>
      </p:sp>
      <p:sp>
        <p:nvSpPr>
          <p:cNvPr id="104" name="Rectangle 25">
            <a:extLst>
              <a:ext uri="{FF2B5EF4-FFF2-40B4-BE49-F238E27FC236}">
                <a16:creationId xmlns:a16="http://schemas.microsoft.com/office/drawing/2014/main" id="{2D18B3D1-C20D-B297-5975-7909670A0B90}"/>
              </a:ext>
            </a:extLst>
          </p:cNvPr>
          <p:cNvSpPr/>
          <p:nvPr/>
        </p:nvSpPr>
        <p:spPr bwMode="auto">
          <a:xfrm>
            <a:off x="9112250"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5000"/>
              </a:lnSpc>
              <a:spcBef>
                <a:spcPct val="0"/>
              </a:spcBef>
              <a:spcAft>
                <a:spcPts val="80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Simplificar para un crecimiento rentable</a:t>
            </a:r>
          </a:p>
        </p:txBody>
      </p:sp>
      <p:sp>
        <p:nvSpPr>
          <p:cNvPr id="105" name="btfpNumberBubble655047">
            <a:extLst>
              <a:ext uri="{FF2B5EF4-FFF2-40B4-BE49-F238E27FC236}">
                <a16:creationId xmlns:a16="http://schemas.microsoft.com/office/drawing/2014/main" id="{005DA51A-613F-3A4F-F71E-E4A92D9885B5}"/>
              </a:ext>
            </a:extLst>
          </p:cNvPr>
          <p:cNvSpPr/>
          <p:nvPr/>
        </p:nvSpPr>
        <p:spPr bwMode="gray">
          <a:xfrm>
            <a:off x="3293112"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106" name="btfpNumberBubble655047">
            <a:extLst>
              <a:ext uri="{FF2B5EF4-FFF2-40B4-BE49-F238E27FC236}">
                <a16:creationId xmlns:a16="http://schemas.microsoft.com/office/drawing/2014/main" id="{9EE30D9B-E833-1A7D-F04B-8D055253F3F0}"/>
              </a:ext>
            </a:extLst>
          </p:cNvPr>
          <p:cNvSpPr/>
          <p:nvPr/>
        </p:nvSpPr>
        <p:spPr bwMode="gray">
          <a:xfrm>
            <a:off x="8974246"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107" name="btfpNumberBubble655047">
            <a:extLst>
              <a:ext uri="{FF2B5EF4-FFF2-40B4-BE49-F238E27FC236}">
                <a16:creationId xmlns:a16="http://schemas.microsoft.com/office/drawing/2014/main" id="{9F8130CA-449E-6084-3241-84039FDE09F3}"/>
              </a:ext>
            </a:extLst>
          </p:cNvPr>
          <p:cNvSpPr/>
          <p:nvPr/>
        </p:nvSpPr>
        <p:spPr bwMode="gray">
          <a:xfrm>
            <a:off x="6133678"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108" name="btfpNumberBubble655047">
            <a:extLst>
              <a:ext uri="{FF2B5EF4-FFF2-40B4-BE49-F238E27FC236}">
                <a16:creationId xmlns:a16="http://schemas.microsoft.com/office/drawing/2014/main" id="{DC034213-6FF6-2D4E-D306-B35987110696}"/>
              </a:ext>
            </a:extLst>
          </p:cNvPr>
          <p:cNvSpPr/>
          <p:nvPr/>
        </p:nvSpPr>
        <p:spPr bwMode="gray">
          <a:xfrm>
            <a:off x="452546"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109" name="btfpSequenceArrow919092">
            <a:extLst>
              <a:ext uri="{FF2B5EF4-FFF2-40B4-BE49-F238E27FC236}">
                <a16:creationId xmlns:a16="http://schemas.microsoft.com/office/drawing/2014/main" id="{863B0D01-EE1A-660C-471F-11F6F08F4966}"/>
              </a:ext>
            </a:extLst>
          </p:cNvPr>
          <p:cNvSpPr/>
          <p:nvPr/>
        </p:nvSpPr>
        <p:spPr bwMode="auto">
          <a:xfrm rot="5400000">
            <a:off x="5969873" y="2930480"/>
            <a:ext cx="252255" cy="972980"/>
          </a:xfrm>
          <a:custGeom>
            <a:avLst/>
            <a:gdLst/>
            <a:ahLst/>
            <a:cxnLst/>
            <a:rect l="0" t="0" r="0" b="0"/>
            <a:pathLst>
              <a:path w="252255" h="972980">
                <a:moveTo>
                  <a:pt x="38100" y="0"/>
                </a:moveTo>
                <a:lnTo>
                  <a:pt x="252254" y="486489"/>
                </a:lnTo>
                <a:lnTo>
                  <a:pt x="38100" y="972979"/>
                </a:lnTo>
                <a:lnTo>
                  <a:pt x="0" y="972979"/>
                </a:lnTo>
                <a:lnTo>
                  <a:pt x="214154" y="486489"/>
                </a:lnTo>
                <a:lnTo>
                  <a:pt x="0" y="0"/>
                </a:lnTo>
              </a:path>
            </a:pathLst>
          </a:custGeom>
          <a:solidFill>
            <a:srgbClr val="D6D6D6"/>
          </a:solidFill>
          <a:ln w="9525" cap="flat" cmpd="sng" algn="ctr">
            <a:solidFill>
              <a:srgbClr val="D6D6D6"/>
            </a:solidFill>
            <a:prstDash val="solid"/>
            <a:round/>
            <a:headEnd type="none" w="med" len="med"/>
            <a:tailEnd type="none" w="med" len="med"/>
          </a:ln>
          <a:effectLst/>
        </p:spPr>
        <p:txBody>
          <a:bodyPr rtlCol="0" anchor="ctr"/>
          <a:lstStyle/>
          <a:p>
            <a:pPr marL="177800" marR="0" lvl="0" indent="-177800" algn="ctr" defTabSz="711200" rtl="0" eaLnBrk="1" fontAlgn="auto" latinLnBrk="0" hangingPunct="1">
              <a:lnSpc>
                <a:spcPct val="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10" name="Rectangle 6">
            <a:extLst>
              <a:ext uri="{FF2B5EF4-FFF2-40B4-BE49-F238E27FC236}">
                <a16:creationId xmlns:a16="http://schemas.microsoft.com/office/drawing/2014/main" id="{DA07694D-F337-F6B0-F6C2-56152EE58365}"/>
              </a:ext>
            </a:extLst>
          </p:cNvPr>
          <p:cNvSpPr/>
          <p:nvPr/>
        </p:nvSpPr>
        <p:spPr bwMode="auto">
          <a:xfrm>
            <a:off x="333729" y="6102591"/>
            <a:ext cx="11528071" cy="380157"/>
          </a:xfrm>
          <a:prstGeom prst="rect">
            <a:avLst/>
          </a:prstGeom>
          <a:solidFill>
            <a:srgbClr val="DCE2D6"/>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507867"/>
                </a:solidFill>
                <a:effectLst/>
                <a:uLnTx/>
                <a:uFillTx/>
                <a:latin typeface="Open Sans"/>
                <a:ea typeface="Open Sans"/>
                <a:cs typeface="Arial"/>
              </a:rPr>
              <a:t>GESTIÓN DEL CAMBIO</a:t>
            </a:r>
          </a:p>
        </p:txBody>
      </p:sp>
      <p:sp>
        <p:nvSpPr>
          <p:cNvPr id="111" name="Rectangle 1035">
            <a:extLst>
              <a:ext uri="{FF2B5EF4-FFF2-40B4-BE49-F238E27FC236}">
                <a16:creationId xmlns:a16="http://schemas.microsoft.com/office/drawing/2014/main" id="{B2F98F96-CE84-F630-62FA-CBD6A294E51D}"/>
              </a:ext>
            </a:extLst>
          </p:cNvPr>
          <p:cNvSpPr/>
          <p:nvPr/>
        </p:nvSpPr>
        <p:spPr bwMode="auto">
          <a:xfrm>
            <a:off x="9519383" y="4946755"/>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700" b="1" i="0" u="none" strike="noStrike" kern="1200" cap="none" spc="300" normalizeH="0" baseline="0" noProof="0">
                <a:ln>
                  <a:noFill/>
                </a:ln>
                <a:solidFill>
                  <a:srgbClr val="5C5C5C"/>
                </a:solidFill>
                <a:effectLst/>
                <a:uLnTx/>
                <a:uFillTx/>
                <a:latin typeface="Open Sans"/>
                <a:ea typeface="Open Sans"/>
                <a:cs typeface="Arial"/>
              </a:rPr>
              <a:t>FOROS /CONECIONES</a:t>
            </a:r>
          </a:p>
        </p:txBody>
      </p:sp>
      <p:sp>
        <p:nvSpPr>
          <p:cNvPr id="112" name="Rectangle 1036">
            <a:extLst>
              <a:ext uri="{FF2B5EF4-FFF2-40B4-BE49-F238E27FC236}">
                <a16:creationId xmlns:a16="http://schemas.microsoft.com/office/drawing/2014/main" id="{162D803B-72AA-172B-2DEB-9BDAB77424C2}"/>
              </a:ext>
            </a:extLst>
          </p:cNvPr>
          <p:cNvSpPr/>
          <p:nvPr/>
        </p:nvSpPr>
        <p:spPr bwMode="auto">
          <a:xfrm>
            <a:off x="9519383" y="5154728"/>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DECISIONES CLAVE</a:t>
            </a:r>
          </a:p>
        </p:txBody>
      </p:sp>
      <p:sp>
        <p:nvSpPr>
          <p:cNvPr id="113" name="Rectangle 1037">
            <a:extLst>
              <a:ext uri="{FF2B5EF4-FFF2-40B4-BE49-F238E27FC236}">
                <a16:creationId xmlns:a16="http://schemas.microsoft.com/office/drawing/2014/main" id="{E0B79A87-18B3-4E59-8FB9-A4F4AFA2D258}"/>
              </a:ext>
            </a:extLst>
          </p:cNvPr>
          <p:cNvSpPr/>
          <p:nvPr/>
        </p:nvSpPr>
        <p:spPr bwMode="auto">
          <a:xfrm>
            <a:off x="9519383" y="5362701"/>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700" b="1" i="0" u="none" strike="noStrike" kern="1200" cap="none" spc="300" normalizeH="0" baseline="0" noProof="0">
                <a:ln>
                  <a:noFill/>
                </a:ln>
                <a:solidFill>
                  <a:srgbClr val="5C5C5C"/>
                </a:solidFill>
                <a:effectLst/>
                <a:uLnTx/>
                <a:uFillTx/>
                <a:latin typeface="Open Sans"/>
                <a:ea typeface="Open Sans"/>
                <a:cs typeface="Arial"/>
              </a:rPr>
              <a:t>RESPONSABILIDADES</a:t>
            </a:r>
          </a:p>
        </p:txBody>
      </p:sp>
      <p:sp>
        <p:nvSpPr>
          <p:cNvPr id="114" name="Rectangle 1038">
            <a:extLst>
              <a:ext uri="{FF2B5EF4-FFF2-40B4-BE49-F238E27FC236}">
                <a16:creationId xmlns:a16="http://schemas.microsoft.com/office/drawing/2014/main" id="{CD6A2270-DB89-3133-2E48-EC675A6C58F8}"/>
              </a:ext>
            </a:extLst>
          </p:cNvPr>
          <p:cNvSpPr/>
          <p:nvPr/>
        </p:nvSpPr>
        <p:spPr bwMode="auto">
          <a:xfrm>
            <a:off x="9519383" y="5570673"/>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INTERACCIONES</a:t>
            </a:r>
          </a:p>
        </p:txBody>
      </p:sp>
      <p:sp>
        <p:nvSpPr>
          <p:cNvPr id="115" name="Rectangle 2">
            <a:extLst>
              <a:ext uri="{FF2B5EF4-FFF2-40B4-BE49-F238E27FC236}">
                <a16:creationId xmlns:a16="http://schemas.microsoft.com/office/drawing/2014/main" id="{B1337DD6-F3BE-DCEF-6601-259820CBE6FF}"/>
              </a:ext>
            </a:extLst>
          </p:cNvPr>
          <p:cNvSpPr/>
          <p:nvPr/>
        </p:nvSpPr>
        <p:spPr bwMode="auto">
          <a:xfrm>
            <a:off x="936520" y="5051939"/>
            <a:ext cx="1795959"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CORPORATIVO OXXO</a:t>
            </a:r>
          </a:p>
        </p:txBody>
      </p:sp>
      <p:sp>
        <p:nvSpPr>
          <p:cNvPr id="116" name="Rectangle 4">
            <a:extLst>
              <a:ext uri="{FF2B5EF4-FFF2-40B4-BE49-F238E27FC236}">
                <a16:creationId xmlns:a16="http://schemas.microsoft.com/office/drawing/2014/main" id="{9FA25082-8E0B-179F-36DC-A9D6AAF8D838}"/>
              </a:ext>
            </a:extLst>
          </p:cNvPr>
          <p:cNvSpPr/>
          <p:nvPr/>
        </p:nvSpPr>
        <p:spPr bwMode="auto">
          <a:xfrm>
            <a:off x="936520" y="4834482"/>
            <a:ext cx="1795959"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FEMSA / P&amp;H</a:t>
            </a:r>
          </a:p>
        </p:txBody>
      </p:sp>
      <p:sp>
        <p:nvSpPr>
          <p:cNvPr id="117" name="Rectangle 1034">
            <a:extLst>
              <a:ext uri="{FF2B5EF4-FFF2-40B4-BE49-F238E27FC236}">
                <a16:creationId xmlns:a16="http://schemas.microsoft.com/office/drawing/2014/main" id="{E596122A-26B0-E42B-67AA-D2FC48AD597F}"/>
              </a:ext>
            </a:extLst>
          </p:cNvPr>
          <p:cNvSpPr/>
          <p:nvPr/>
        </p:nvSpPr>
        <p:spPr bwMode="auto">
          <a:xfrm>
            <a:off x="936520" y="5269396"/>
            <a:ext cx="1795959"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ZONA / CLUSTER</a:t>
            </a:r>
          </a:p>
        </p:txBody>
      </p:sp>
      <p:sp>
        <p:nvSpPr>
          <p:cNvPr id="118" name="Rectangle 3">
            <a:extLst>
              <a:ext uri="{FF2B5EF4-FFF2-40B4-BE49-F238E27FC236}">
                <a16:creationId xmlns:a16="http://schemas.microsoft.com/office/drawing/2014/main" id="{420B8C32-9A23-948A-66FA-050F5441045B}"/>
              </a:ext>
            </a:extLst>
          </p:cNvPr>
          <p:cNvSpPr/>
          <p:nvPr/>
        </p:nvSpPr>
        <p:spPr bwMode="auto">
          <a:xfrm>
            <a:off x="936520" y="5653971"/>
            <a:ext cx="878916"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PLAZA</a:t>
            </a:r>
          </a:p>
        </p:txBody>
      </p:sp>
      <p:sp>
        <p:nvSpPr>
          <p:cNvPr id="119" name="Rectangle 1033">
            <a:extLst>
              <a:ext uri="{FF2B5EF4-FFF2-40B4-BE49-F238E27FC236}">
                <a16:creationId xmlns:a16="http://schemas.microsoft.com/office/drawing/2014/main" id="{B22A2806-FB73-3A99-D373-C496DE0AAA49}"/>
              </a:ext>
            </a:extLst>
          </p:cNvPr>
          <p:cNvSpPr/>
          <p:nvPr/>
        </p:nvSpPr>
        <p:spPr bwMode="auto">
          <a:xfrm>
            <a:off x="936520" y="5461684"/>
            <a:ext cx="878916"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REGION</a:t>
            </a:r>
          </a:p>
        </p:txBody>
      </p:sp>
      <p:sp>
        <p:nvSpPr>
          <p:cNvPr id="120" name="Rectangle 1033">
            <a:extLst>
              <a:ext uri="{FF2B5EF4-FFF2-40B4-BE49-F238E27FC236}">
                <a16:creationId xmlns:a16="http://schemas.microsoft.com/office/drawing/2014/main" id="{670E34BD-A353-9533-AE4B-EEB9EFCE9B7F}"/>
              </a:ext>
            </a:extLst>
          </p:cNvPr>
          <p:cNvSpPr/>
          <p:nvPr/>
        </p:nvSpPr>
        <p:spPr bwMode="auto">
          <a:xfrm>
            <a:off x="1853563" y="5461684"/>
            <a:ext cx="878916" cy="343986"/>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CEDIS / CT</a:t>
            </a:r>
          </a:p>
        </p:txBody>
      </p:sp>
      <p:sp>
        <p:nvSpPr>
          <p:cNvPr id="141" name="Rectángulo 140">
            <a:extLst>
              <a:ext uri="{FF2B5EF4-FFF2-40B4-BE49-F238E27FC236}">
                <a16:creationId xmlns:a16="http://schemas.microsoft.com/office/drawing/2014/main" id="{8C821ACB-7AD0-3C3F-0A2E-C0FC1CACCAAC}"/>
              </a:ext>
            </a:extLst>
          </p:cNvPr>
          <p:cNvSpPr/>
          <p:nvPr/>
        </p:nvSpPr>
        <p:spPr>
          <a:xfrm>
            <a:off x="0" y="1065224"/>
            <a:ext cx="12192000" cy="5815636"/>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140" name="Grupo 139">
            <a:extLst>
              <a:ext uri="{FF2B5EF4-FFF2-40B4-BE49-F238E27FC236}">
                <a16:creationId xmlns:a16="http://schemas.microsoft.com/office/drawing/2014/main" id="{683D45E2-69C3-C319-0B78-12EDFA89C44D}"/>
              </a:ext>
            </a:extLst>
          </p:cNvPr>
          <p:cNvGrpSpPr/>
          <p:nvPr/>
        </p:nvGrpSpPr>
        <p:grpSpPr>
          <a:xfrm>
            <a:off x="0" y="2388115"/>
            <a:ext cx="12192000" cy="3166296"/>
            <a:chOff x="0" y="2388115"/>
            <a:chExt cx="12192000" cy="3166296"/>
          </a:xfrm>
        </p:grpSpPr>
        <p:grpSp>
          <p:nvGrpSpPr>
            <p:cNvPr id="122" name="btfpColumnIndicatorGroup2">
              <a:extLst>
                <a:ext uri="{FF2B5EF4-FFF2-40B4-BE49-F238E27FC236}">
                  <a16:creationId xmlns:a16="http://schemas.microsoft.com/office/drawing/2014/main" id="{BA3CE7D1-4E33-0D0F-0963-EB6B7923228D}"/>
                </a:ext>
              </a:extLst>
            </p:cNvPr>
            <p:cNvGrpSpPr/>
            <p:nvPr>
              <p:custDataLst>
                <p:tags r:id="rId2"/>
              </p:custDataLst>
            </p:nvPr>
          </p:nvGrpSpPr>
          <p:grpSpPr>
            <a:xfrm>
              <a:off x="0" y="5417251"/>
              <a:ext cx="12192000" cy="137160"/>
              <a:chOff x="0" y="6926580"/>
              <a:chExt cx="12192000" cy="137160"/>
            </a:xfrm>
          </p:grpSpPr>
          <p:sp>
            <p:nvSpPr>
              <p:cNvPr id="123" name="btfpColumnGapBlocker347912">
                <a:extLst>
                  <a:ext uri="{FF2B5EF4-FFF2-40B4-BE49-F238E27FC236}">
                    <a16:creationId xmlns:a16="http://schemas.microsoft.com/office/drawing/2014/main" id="{F1A6A9F7-4702-C699-46CF-CEBD8AEFAA65}"/>
                  </a:ext>
                </a:extLst>
              </p:cNvPr>
              <p:cNvSpPr/>
              <p:nvPr>
                <p:custDataLst>
                  <p:tags r:id="rId13"/>
                </p:custDataLst>
              </p:nvPr>
            </p:nvSpPr>
            <p:spPr bwMode="auto">
              <a:xfrm>
                <a:off x="1186180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24" name="btfpColumnGapBlocker117571">
                <a:extLst>
                  <a:ext uri="{FF2B5EF4-FFF2-40B4-BE49-F238E27FC236}">
                    <a16:creationId xmlns:a16="http://schemas.microsoft.com/office/drawing/2014/main" id="{840C7F32-F7AF-EFCE-8AB1-5FD9CB4EF4A6}"/>
                  </a:ext>
                </a:extLst>
              </p:cNvPr>
              <p:cNvSpPr/>
              <p:nvPr>
                <p:custDataLst>
                  <p:tags r:id="rId14"/>
                </p:custDataLst>
              </p:nvPr>
            </p:nvSpPr>
            <p:spPr bwMode="auto">
              <a:xfrm>
                <a:off x="582930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25" name="btfpColumnIndicator219476">
                <a:extLst>
                  <a:ext uri="{FF2B5EF4-FFF2-40B4-BE49-F238E27FC236}">
                    <a16:creationId xmlns:a16="http://schemas.microsoft.com/office/drawing/2014/main" id="{4169880F-4E69-55BE-20B2-F306B34CB7E0}"/>
                  </a:ext>
                </a:extLst>
              </p:cNvPr>
              <p:cNvCxnSpPr/>
              <p:nvPr>
                <p:custDataLst>
                  <p:tags r:id="rId15"/>
                </p:custDataLst>
              </p:nvPr>
            </p:nvCxnSpPr>
            <p:spPr bwMode="auto">
              <a:xfrm flipH="1" flipV="1">
                <a:off x="118618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126" name="btfpColumnIndicator676053">
                <a:extLst>
                  <a:ext uri="{FF2B5EF4-FFF2-40B4-BE49-F238E27FC236}">
                    <a16:creationId xmlns:a16="http://schemas.microsoft.com/office/drawing/2014/main" id="{431A3C9E-436C-B52A-98E3-C07D22A55686}"/>
                  </a:ext>
                </a:extLst>
              </p:cNvPr>
              <p:cNvCxnSpPr/>
              <p:nvPr>
                <p:custDataLst>
                  <p:tags r:id="rId16"/>
                </p:custDataLst>
              </p:nvPr>
            </p:nvCxnSpPr>
            <p:spPr bwMode="auto">
              <a:xfrm flipH="1" flipV="1">
                <a:off x="63627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127" name="btfpColumnGapBlocker434925">
                <a:extLst>
                  <a:ext uri="{FF2B5EF4-FFF2-40B4-BE49-F238E27FC236}">
                    <a16:creationId xmlns:a16="http://schemas.microsoft.com/office/drawing/2014/main" id="{AC8102E3-F38C-E606-6C82-4648A39F40FA}"/>
                  </a:ext>
                </a:extLst>
              </p:cNvPr>
              <p:cNvSpPr/>
              <p:nvPr>
                <p:custDataLst>
                  <p:tags r:id="rId17"/>
                </p:custDataLst>
              </p:nvPr>
            </p:nvSpPr>
            <p:spPr bwMode="auto">
              <a:xfrm>
                <a:off x="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28" name="btfpColumnIndicator578020">
                <a:extLst>
                  <a:ext uri="{FF2B5EF4-FFF2-40B4-BE49-F238E27FC236}">
                    <a16:creationId xmlns:a16="http://schemas.microsoft.com/office/drawing/2014/main" id="{B96B4223-BDE9-33C2-502F-DB6F5362AE4F}"/>
                  </a:ext>
                </a:extLst>
              </p:cNvPr>
              <p:cNvCxnSpPr/>
              <p:nvPr>
                <p:custDataLst>
                  <p:tags r:id="rId18"/>
                </p:custDataLst>
              </p:nvPr>
            </p:nvCxnSpPr>
            <p:spPr bwMode="auto">
              <a:xfrm flipH="1" flipV="1">
                <a:off x="58293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129" name="btfpColumnIndicator720107">
                <a:extLst>
                  <a:ext uri="{FF2B5EF4-FFF2-40B4-BE49-F238E27FC236}">
                    <a16:creationId xmlns:a16="http://schemas.microsoft.com/office/drawing/2014/main" id="{711912C1-3038-E558-F5E7-159F1BD9A405}"/>
                  </a:ext>
                </a:extLst>
              </p:cNvPr>
              <p:cNvCxnSpPr/>
              <p:nvPr>
                <p:custDataLst>
                  <p:tags r:id="rId19"/>
                </p:custDataLst>
              </p:nvPr>
            </p:nvCxnSpPr>
            <p:spPr bwMode="auto">
              <a:xfrm flipH="1" flipV="1">
                <a:off x="3302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grpSp>
        <p:sp>
          <p:nvSpPr>
            <p:cNvPr id="130" name="Rectangle 43">
              <a:extLst>
                <a:ext uri="{FF2B5EF4-FFF2-40B4-BE49-F238E27FC236}">
                  <a16:creationId xmlns:a16="http://schemas.microsoft.com/office/drawing/2014/main" id="{A0309CFB-ED6C-0AD3-3705-F2C29DA95637}"/>
                </a:ext>
              </a:extLst>
            </p:cNvPr>
            <p:cNvSpPr/>
            <p:nvPr>
              <p:custDataLst>
                <p:tags r:id="rId3"/>
              </p:custDataLst>
            </p:nvPr>
          </p:nvSpPr>
          <p:spPr bwMode="auto">
            <a:xfrm>
              <a:off x="0" y="2388115"/>
              <a:ext cx="12192000" cy="2968508"/>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31" name="Rectangle 44">
              <a:extLst>
                <a:ext uri="{FF2B5EF4-FFF2-40B4-BE49-F238E27FC236}">
                  <a16:creationId xmlns:a16="http://schemas.microsoft.com/office/drawing/2014/main" id="{E867C3AD-DA9E-A589-1293-DD17572C4FC0}"/>
                </a:ext>
              </a:extLst>
            </p:cNvPr>
            <p:cNvSpPr/>
            <p:nvPr>
              <p:custDataLst>
                <p:tags r:id="rId4"/>
              </p:custDataLst>
            </p:nvPr>
          </p:nvSpPr>
          <p:spPr bwMode="auto">
            <a:xfrm>
              <a:off x="482138" y="2987407"/>
              <a:ext cx="11582862" cy="221942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Lst>
          </p:spPr>
          <p:txBody>
            <a:bodyPr wrap="square" lIns="18288" tIns="27432" rIns="0" bIns="0" rtlCol="0">
              <a:noAutofit/>
            </a:bodyPr>
            <a:lstStyle/>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ES" sz="1200" b="1" i="0" u="sng" strike="noStrike" kern="1200" cap="none" spc="0" normalizeH="0" baseline="0" noProof="0">
                  <a:ln>
                    <a:noFill/>
                  </a:ln>
                  <a:solidFill>
                    <a:srgbClr val="FFFFFF"/>
                  </a:solidFill>
                  <a:effectLst/>
                  <a:uLnTx/>
                  <a:uFillTx/>
                  <a:latin typeface="Open Sans"/>
                  <a:ea typeface="Open Sans"/>
                  <a:cs typeface="Arial"/>
                </a:rPr>
                <a:t>Cambio organizacional con enfoque al </a:t>
              </a:r>
              <a:r>
                <a:rPr kumimoji="0" lang="es-ES" sz="1200" b="1" u="sng" strike="noStrike" kern="1200" cap="none" spc="0" normalizeH="0" baseline="0" noProof="0">
                  <a:ln>
                    <a:noFill/>
                  </a:ln>
                  <a:solidFill>
                    <a:srgbClr val="FFFFFF"/>
                  </a:solidFill>
                  <a:effectLst/>
                  <a:uLnTx/>
                  <a:uFillTx/>
                  <a:latin typeface="Open Sans"/>
                  <a:ea typeface="Open Sans"/>
                  <a:cs typeface="Arial"/>
                </a:rPr>
                <a:t>crecimiento </a:t>
              </a:r>
              <a:r>
                <a:rPr kumimoji="0" lang="es-ES" sz="1200" b="1" i="1" u="sng" strike="noStrike" kern="1200" cap="none" spc="0" normalizeH="0" baseline="0" noProof="0" err="1">
                  <a:ln>
                    <a:noFill/>
                  </a:ln>
                  <a:solidFill>
                    <a:srgbClr val="FFFFFF"/>
                  </a:solidFill>
                  <a:effectLst/>
                  <a:uLnTx/>
                  <a:uFillTx/>
                  <a:latin typeface="Open Sans"/>
                  <a:ea typeface="Open Sans"/>
                  <a:cs typeface="Arial"/>
                </a:rPr>
                <a:t>core</a:t>
              </a:r>
              <a:r>
                <a:rPr kumimoji="0" lang="es-ES" sz="1200" b="1" i="1" u="sng" strike="noStrike" kern="1200" cap="none" spc="0" normalizeH="0" baseline="0" noProof="0">
                  <a:ln>
                    <a:noFill/>
                  </a:ln>
                  <a:solidFill>
                    <a:srgbClr val="FFFFFF"/>
                  </a:solidFill>
                  <a:effectLst/>
                  <a:uLnTx/>
                  <a:uFillTx/>
                  <a:latin typeface="Open Sans"/>
                  <a:ea typeface="Open Sans"/>
                  <a:cs typeface="Arial"/>
                </a:rPr>
                <a:t> </a:t>
              </a:r>
              <a:r>
                <a:rPr kumimoji="0" lang="es-ES" sz="1200" b="1" u="sng" strike="noStrike" kern="1200" cap="none" spc="0" normalizeH="0" baseline="0" noProof="0">
                  <a:ln>
                    <a:noFill/>
                  </a:ln>
                  <a:solidFill>
                    <a:srgbClr val="FFFFFF"/>
                  </a:solidFill>
                  <a:effectLst/>
                  <a:uLnTx/>
                  <a:uFillTx/>
                  <a:latin typeface="Open Sans"/>
                  <a:ea typeface="Open Sans"/>
                  <a:cs typeface="Arial"/>
                </a:rPr>
                <a:t>de negocio,</a:t>
              </a:r>
              <a:r>
                <a:rPr kumimoji="0" lang="es-ES" sz="1200" b="1" strike="noStrike" kern="1200" cap="none" spc="0" normalizeH="0" baseline="0" noProof="0">
                  <a:ln>
                    <a:noFill/>
                  </a:ln>
                  <a:solidFill>
                    <a:srgbClr val="FFFFFF"/>
                  </a:solidFill>
                  <a:effectLst/>
                  <a:uLnTx/>
                  <a:uFillTx/>
                  <a:latin typeface="Open Sans"/>
                  <a:ea typeface="Open Sans"/>
                  <a:cs typeface="Arial"/>
                </a:rPr>
                <a:t> mediante tres misiones estratégicas: Impulso, Reposición Diaria y </a:t>
              </a:r>
              <a:r>
                <a:rPr kumimoji="0" lang="es-ES" sz="1200" b="1" strike="noStrike" kern="1200" cap="none" spc="0" normalizeH="0" baseline="0" noProof="0" err="1">
                  <a:ln>
                    <a:noFill/>
                  </a:ln>
                  <a:solidFill>
                    <a:srgbClr val="FFFFFF"/>
                  </a:solidFill>
                  <a:effectLst/>
                  <a:uLnTx/>
                  <a:uFillTx/>
                  <a:latin typeface="Open Sans"/>
                  <a:ea typeface="Open Sans"/>
                  <a:cs typeface="Arial"/>
                </a:rPr>
                <a:t>Foodvenience</a:t>
              </a:r>
              <a:r>
                <a:rPr lang="es-ES" sz="1200" b="1">
                  <a:solidFill>
                    <a:srgbClr val="FFFFFF"/>
                  </a:solidFill>
                  <a:latin typeface="Open Sans"/>
                  <a:ea typeface="Open Sans"/>
                  <a:cs typeface="Arial"/>
                </a:rPr>
                <a:t>, reenfocando nuestra estrategia comercial. </a:t>
              </a:r>
              <a:endParaRPr kumimoji="0" lang="es-ES" sz="1200" b="1" i="0" u="sng"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Evolución de la plataforma de </a:t>
              </a:r>
              <a:r>
                <a:rPr kumimoji="0" lang="es-MX" sz="1200" b="1" i="0" u="sng" strike="noStrike" kern="1200" cap="none" spc="0" normalizeH="0" baseline="0" noProof="0" err="1">
                  <a:ln>
                    <a:noFill/>
                  </a:ln>
                  <a:solidFill>
                    <a:srgbClr val="FFFFFF"/>
                  </a:solidFill>
                  <a:effectLst/>
                  <a:uLnTx/>
                  <a:uFillTx/>
                  <a:latin typeface="Open Sans"/>
                  <a:ea typeface="Open Sans"/>
                  <a:cs typeface="Arial"/>
                </a:rPr>
                <a:t>Customer</a:t>
              </a:r>
              <a:r>
                <a:rPr kumimoji="0" lang="es-MX" sz="1200" b="1" i="0" u="sng" strike="noStrike" kern="1200" cap="none" spc="0" normalizeH="0" baseline="0" noProof="0">
                  <a:ln>
                    <a:noFill/>
                  </a:ln>
                  <a:solidFill>
                    <a:srgbClr val="FFFFFF"/>
                  </a:solidFill>
                  <a:effectLst/>
                  <a:uLnTx/>
                  <a:uFillTx/>
                  <a:latin typeface="Open Sans"/>
                  <a:ea typeface="Open Sans"/>
                  <a:cs typeface="Arial"/>
                </a:rPr>
                <a:t> &amp; </a:t>
              </a:r>
              <a:r>
                <a:rPr kumimoji="0" lang="es-MX" sz="1200" b="1" i="0" u="sng" strike="noStrike" kern="1200" cap="none" spc="0" normalizeH="0" baseline="0" noProof="0" err="1">
                  <a:ln>
                    <a:noFill/>
                  </a:ln>
                  <a:solidFill>
                    <a:srgbClr val="FFFFFF"/>
                  </a:solidFill>
                  <a:effectLst/>
                  <a:uLnTx/>
                  <a:uFillTx/>
                  <a:latin typeface="Open Sans"/>
                  <a:ea typeface="Open Sans"/>
                  <a:cs typeface="Arial"/>
                </a:rPr>
                <a:t>Mkt</a:t>
              </a:r>
              <a:r>
                <a:rPr kumimoji="0" lang="es-MX" sz="1200" b="1" i="0" strike="noStrike" kern="1200" cap="none" spc="0" normalizeH="0" baseline="0" noProof="0">
                  <a:ln>
                    <a:noFill/>
                  </a:ln>
                  <a:solidFill>
                    <a:srgbClr val="FFFFFF"/>
                  </a:solidFill>
                  <a:effectLst/>
                  <a:uLnTx/>
                  <a:uFillTx/>
                  <a:latin typeface="Open Sans"/>
                  <a:ea typeface="Open Sans"/>
                  <a:cs typeface="Arial"/>
                </a:rPr>
                <a:t> con autonomía en </a:t>
              </a:r>
              <a:r>
                <a:rPr lang="es-MX" sz="1200" b="1">
                  <a:solidFill>
                    <a:srgbClr val="FFFFFF"/>
                  </a:solidFill>
                  <a:latin typeface="Open Sans"/>
                  <a:ea typeface="Open Sans"/>
                  <a:cs typeface="Arial"/>
                </a:rPr>
                <a:t>la definición del</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Customer</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Value</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Proposition</a:t>
              </a:r>
              <a:r>
                <a:rPr kumimoji="0" lang="es-MX" sz="1200" b="1" i="0" strike="noStrike" kern="1200" cap="none" spc="0" normalizeH="0" baseline="0" noProof="0">
                  <a:ln>
                    <a:noFill/>
                  </a:ln>
                  <a:solidFill>
                    <a:srgbClr val="FFFFFF"/>
                  </a:solidFill>
                  <a:effectLst/>
                  <a:uLnTx/>
                  <a:uFillTx/>
                  <a:latin typeface="Open Sans"/>
                  <a:ea typeface="Open Sans"/>
                  <a:cs typeface="Arial"/>
                </a:rPr>
                <a:t> e integración del área de Marketing.</a:t>
              </a: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Integración de Expansión</a:t>
              </a:r>
              <a:r>
                <a:rPr kumimoji="0" lang="es-MX" sz="1200" b="1" i="0" strike="noStrike" kern="1200" cap="none" spc="0" normalizeH="0" baseline="0" noProof="0">
                  <a:ln>
                    <a:noFill/>
                  </a:ln>
                  <a:solidFill>
                    <a:srgbClr val="FFFFFF"/>
                  </a:solidFill>
                  <a:effectLst/>
                  <a:uLnTx/>
                  <a:uFillTx/>
                  <a:latin typeface="Open Sans"/>
                  <a:ea typeface="Open Sans"/>
                  <a:cs typeface="Arial"/>
                </a:rPr>
                <a:t> dentro de la plataforma de Operaciones.</a:t>
              </a:r>
              <a:endParaRPr kumimoji="0" lang="en-US" sz="1200" b="1" i="0"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Creación de un área independiente de Excelencia Operativa</a:t>
              </a:r>
              <a:r>
                <a:rPr kumimoji="0" lang="es-MX" sz="1200" b="1" i="0" strike="noStrike" kern="1200" cap="none" spc="0" normalizeH="0" baseline="0" noProof="0">
                  <a:ln>
                    <a:noFill/>
                  </a:ln>
                  <a:solidFill>
                    <a:srgbClr val="FFFFFF"/>
                  </a:solidFill>
                  <a:effectLst/>
                  <a:uLnTx/>
                  <a:uFillTx/>
                  <a:latin typeface="Open Sans"/>
                  <a:ea typeface="Open Sans"/>
                  <a:cs typeface="Arial"/>
                </a:rPr>
                <a:t>, responsable del modelo de madurez de procesos </a:t>
              </a:r>
              <a:r>
                <a:rPr kumimoji="0" lang="es-MX" sz="1200" b="1" i="1" strike="noStrike" kern="1200" cap="none" spc="0" normalizeH="0" baseline="0" noProof="0" err="1">
                  <a:ln>
                    <a:noFill/>
                  </a:ln>
                  <a:solidFill>
                    <a:srgbClr val="FFFFFF"/>
                  </a:solidFill>
                  <a:effectLst/>
                  <a:uLnTx/>
                  <a:uFillTx/>
                  <a:latin typeface="Open Sans"/>
                  <a:ea typeface="Open Sans"/>
                  <a:cs typeface="Arial"/>
                </a:rPr>
                <a:t>end</a:t>
              </a:r>
              <a:r>
                <a:rPr kumimoji="0" lang="es-MX" sz="1200" b="1" i="1" strike="noStrike" kern="1200" cap="none" spc="0" normalizeH="0" baseline="0" noProof="0">
                  <a:ln>
                    <a:noFill/>
                  </a:ln>
                  <a:solidFill>
                    <a:srgbClr val="FFFFFF"/>
                  </a:solidFill>
                  <a:effectLst/>
                  <a:uLnTx/>
                  <a:uFillTx/>
                  <a:latin typeface="Open Sans"/>
                  <a:ea typeface="Open Sans"/>
                  <a:cs typeface="Arial"/>
                </a:rPr>
                <a:t>-to-</a:t>
              </a:r>
              <a:r>
                <a:rPr kumimoji="0" lang="es-MX" sz="1200" b="1" i="1" strike="noStrike" kern="1200" cap="none" spc="0" normalizeH="0" baseline="0" noProof="0" err="1">
                  <a:ln>
                    <a:noFill/>
                  </a:ln>
                  <a:solidFill>
                    <a:srgbClr val="FFFFFF"/>
                  </a:solidFill>
                  <a:effectLst/>
                  <a:uLnTx/>
                  <a:uFillTx/>
                  <a:latin typeface="Open Sans"/>
                  <a:ea typeface="Open Sans"/>
                  <a:cs typeface="Arial"/>
                </a:rPr>
                <a:t>end</a:t>
              </a:r>
              <a:r>
                <a:rPr kumimoji="0" lang="es-MX" sz="1200" b="1" i="0" strike="noStrike" kern="1200" cap="none" spc="0" normalizeH="0" baseline="0" noProof="0">
                  <a:ln>
                    <a:noFill/>
                  </a:ln>
                  <a:solidFill>
                    <a:srgbClr val="FFFFFF"/>
                  </a:solidFill>
                  <a:effectLst/>
                  <a:uLnTx/>
                  <a:uFillTx/>
                  <a:latin typeface="Open Sans"/>
                  <a:ea typeface="Open Sans"/>
                  <a:cs typeface="Arial"/>
                </a:rPr>
                <a:t> y del mapeo y diseño de procesos de operación en tienda.</a:t>
              </a:r>
              <a:endParaRPr kumimoji="0" lang="en-US" sz="1200" b="1" i="0"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Evolución de Estrategia y Transformación,</a:t>
              </a:r>
              <a:r>
                <a:rPr kumimoji="0" lang="es-MX" sz="1200" b="1" i="0" strike="noStrike" kern="1200" cap="none" spc="0" normalizeH="0" baseline="0" noProof="0">
                  <a:ln>
                    <a:noFill/>
                  </a:ln>
                  <a:solidFill>
                    <a:srgbClr val="FFFFFF"/>
                  </a:solidFill>
                  <a:effectLst/>
                  <a:uLnTx/>
                  <a:uFillTx/>
                  <a:latin typeface="Open Sans"/>
                  <a:ea typeface="Open Sans"/>
                  <a:cs typeface="Arial"/>
                </a:rPr>
                <a:t> para orquestar y monitorear la implementación de los cambios estratégicos en la organización y asegurar que las iniciativas prioritarias alcancen su potencial mediante la gestión de la </a:t>
              </a:r>
              <a:r>
                <a:rPr kumimoji="0" lang="es-MX" sz="1200" b="1" i="1" strike="noStrike" kern="1200" cap="none" spc="0" normalizeH="0" baseline="0" noProof="0" err="1">
                  <a:ln>
                    <a:noFill/>
                  </a:ln>
                  <a:solidFill>
                    <a:srgbClr val="FFFFFF"/>
                  </a:solidFill>
                  <a:effectLst/>
                  <a:uLnTx/>
                  <a:uFillTx/>
                  <a:latin typeface="Open Sans"/>
                  <a:ea typeface="Open Sans"/>
                  <a:cs typeface="Arial"/>
                </a:rPr>
                <a:t>Value</a:t>
              </a:r>
              <a:r>
                <a:rPr kumimoji="0" lang="es-MX" sz="1200" b="1" i="1" strike="noStrike" kern="1200" cap="none" spc="0" normalizeH="0" baseline="0" noProof="0">
                  <a:ln>
                    <a:noFill/>
                  </a:ln>
                  <a:solidFill>
                    <a:srgbClr val="FFFFFF"/>
                  </a:solidFill>
                  <a:effectLst/>
                  <a:uLnTx/>
                  <a:uFillTx/>
                  <a:latin typeface="Open Sans"/>
                  <a:ea typeface="Open Sans"/>
                  <a:cs typeface="Arial"/>
                </a:rPr>
                <a:t> Management Office</a:t>
              </a:r>
              <a:r>
                <a:rPr kumimoji="0" lang="es-MX" sz="1200" b="1" i="0" strike="noStrike" kern="1200" cap="none" spc="0" normalizeH="0" baseline="0" noProof="0">
                  <a:ln>
                    <a:noFill/>
                  </a:ln>
                  <a:solidFill>
                    <a:srgbClr val="FFFFFF"/>
                  </a:solidFill>
                  <a:effectLst/>
                  <a:uLnTx/>
                  <a:uFillTx/>
                  <a:latin typeface="Open Sans"/>
                  <a:ea typeface="Open Sans"/>
                  <a:cs typeface="Arial"/>
                </a:rPr>
                <a:t>.</a:t>
              </a: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err="1">
                  <a:ln>
                    <a:noFill/>
                  </a:ln>
                  <a:solidFill>
                    <a:srgbClr val="FFFFFF"/>
                  </a:solidFill>
                  <a:effectLst/>
                  <a:uLnTx/>
                  <a:uFillTx/>
                  <a:latin typeface="Open Sans"/>
                  <a:ea typeface="Open Sans"/>
                  <a:cs typeface="Arial"/>
                </a:rPr>
                <a:t>Despriorización</a:t>
              </a:r>
              <a:r>
                <a:rPr kumimoji="0" lang="es-MX" sz="1200" b="1" i="0" u="sng" strike="noStrike" kern="1200" cap="none" spc="0" normalizeH="0" baseline="0" noProof="0">
                  <a:ln>
                    <a:noFill/>
                  </a:ln>
                  <a:solidFill>
                    <a:srgbClr val="FFFFFF"/>
                  </a:solidFill>
                  <a:effectLst/>
                  <a:uLnTx/>
                  <a:uFillTx/>
                  <a:latin typeface="Open Sans"/>
                  <a:ea typeface="Open Sans"/>
                  <a:cs typeface="Arial"/>
                </a:rPr>
                <a:t> de Entrega Directa</a:t>
              </a:r>
              <a:r>
                <a:rPr kumimoji="0" lang="es-MX" sz="1200" b="1" i="0" strike="noStrike" kern="1200" cap="none" spc="0" normalizeH="0" baseline="0" noProof="0">
                  <a:ln>
                    <a:noFill/>
                  </a:ln>
                  <a:solidFill>
                    <a:srgbClr val="FFFFFF"/>
                  </a:solidFill>
                  <a:effectLst/>
                  <a:uLnTx/>
                  <a:uFillTx/>
                  <a:latin typeface="Open Sans"/>
                  <a:ea typeface="Open Sans"/>
                  <a:cs typeface="Arial"/>
                </a:rPr>
                <a:t>, integrando las operaciones restantes al BAU de Comercial.</a:t>
              </a:r>
              <a:endParaRPr lang="en-US" sz="1200">
                <a:solidFill>
                  <a:srgbClr val="FFFFFF"/>
                </a:solidFill>
                <a:latin typeface="Open Sans"/>
                <a:ea typeface="Open Sans"/>
                <a:cs typeface="Arial"/>
              </a:endParaRPr>
            </a:p>
          </p:txBody>
        </p:sp>
        <p:sp>
          <p:nvSpPr>
            <p:cNvPr id="132" name="TextBox 46">
              <a:extLst>
                <a:ext uri="{FF2B5EF4-FFF2-40B4-BE49-F238E27FC236}">
                  <a16:creationId xmlns:a16="http://schemas.microsoft.com/office/drawing/2014/main" id="{3729786C-8444-87B3-9718-2BE640E07E09}"/>
                </a:ext>
              </a:extLst>
            </p:cNvPr>
            <p:cNvSpPr txBox="1"/>
            <p:nvPr>
              <p:custDataLst>
                <p:tags r:id="rId5"/>
              </p:custDataLst>
            </p:nvPr>
          </p:nvSpPr>
          <p:spPr>
            <a:xfrm>
              <a:off x="299223" y="2478954"/>
              <a:ext cx="3722445" cy="338554"/>
            </a:xfrm>
            <a:prstGeom prst="rect">
              <a:avLst/>
            </a:prstGeom>
            <a:noFill/>
          </p:spPr>
          <p:txBody>
            <a:bodyPr vert="horz" wrap="square" lIns="91440" tIns="45720" rIns="91440" bIns="45720" rtlCol="0" anchor="t">
              <a:spAutoFit/>
            </a:bodyPr>
            <a:lstStyle/>
            <a:p>
              <a:pPr marL="0" marR="0" lvl="0" indent="0" algn="l" defTabSz="711200" rtl="0" eaLnBrk="0" fontAlgn="auto" latinLnBrk="0" hangingPunct="1">
                <a:lnSpc>
                  <a:spcPct val="100000"/>
                </a:lnSpc>
                <a:spcBef>
                  <a:spcPts val="1200"/>
                </a:spcBef>
                <a:spcAft>
                  <a:spcPts val="0"/>
                </a:spcAft>
                <a:buClrTx/>
                <a:buSzTx/>
                <a:buFontTx/>
                <a:buNone/>
                <a:tabLst/>
                <a:defRPr/>
              </a:pPr>
              <a:r>
                <a:rPr kumimoji="0" lang="en-US" sz="1600" b="1" i="0" u="none" strike="noStrike" kern="1200" cap="none" spc="300" normalizeH="0" baseline="0" noProof="0">
                  <a:ln>
                    <a:noFill/>
                  </a:ln>
                  <a:solidFill>
                    <a:srgbClr val="FFFFFF"/>
                  </a:solidFill>
                  <a:effectLst/>
                  <a:uLnTx/>
                  <a:uFillTx/>
                  <a:latin typeface="Open Sans"/>
                  <a:ea typeface="Open Sans"/>
                  <a:cs typeface="Arial"/>
                </a:rPr>
                <a:t>PRINCIPALES CAMBIOS</a:t>
              </a:r>
            </a:p>
          </p:txBody>
        </p:sp>
        <p:sp>
          <p:nvSpPr>
            <p:cNvPr id="133" name="btfpNumberBubble112603">
              <a:extLst>
                <a:ext uri="{FF2B5EF4-FFF2-40B4-BE49-F238E27FC236}">
                  <a16:creationId xmlns:a16="http://schemas.microsoft.com/office/drawing/2014/main" id="{12594008-D6B4-8AF3-902D-A453EA8FEF74}"/>
                </a:ext>
              </a:extLst>
            </p:cNvPr>
            <p:cNvSpPr/>
            <p:nvPr>
              <p:custDataLst>
                <p:tags r:id="rId6"/>
              </p:custDataLst>
            </p:nvPr>
          </p:nvSpPr>
          <p:spPr bwMode="auto">
            <a:xfrm>
              <a:off x="429515" y="301309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134" name="btfpNumberBubble112603">
              <a:extLst>
                <a:ext uri="{FF2B5EF4-FFF2-40B4-BE49-F238E27FC236}">
                  <a16:creationId xmlns:a16="http://schemas.microsoft.com/office/drawing/2014/main" id="{CF9E118D-ABA1-DC66-ED4E-4A1FD539C9B4}"/>
                </a:ext>
              </a:extLst>
            </p:cNvPr>
            <p:cNvSpPr/>
            <p:nvPr>
              <p:custDataLst>
                <p:tags r:id="rId7"/>
              </p:custDataLst>
            </p:nvPr>
          </p:nvSpPr>
          <p:spPr bwMode="auto">
            <a:xfrm>
              <a:off x="429515" y="346358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135" name="btfpNumberBubble112603">
              <a:extLst>
                <a:ext uri="{FF2B5EF4-FFF2-40B4-BE49-F238E27FC236}">
                  <a16:creationId xmlns:a16="http://schemas.microsoft.com/office/drawing/2014/main" id="{507BFD97-BA8A-9154-C9AE-9A40CAF23B02}"/>
                </a:ext>
              </a:extLst>
            </p:cNvPr>
            <p:cNvSpPr/>
            <p:nvPr>
              <p:custDataLst>
                <p:tags r:id="rId8"/>
              </p:custDataLst>
            </p:nvPr>
          </p:nvSpPr>
          <p:spPr bwMode="auto">
            <a:xfrm>
              <a:off x="429515" y="3708983"/>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136" name="btfpNumberBubble112603">
              <a:extLst>
                <a:ext uri="{FF2B5EF4-FFF2-40B4-BE49-F238E27FC236}">
                  <a16:creationId xmlns:a16="http://schemas.microsoft.com/office/drawing/2014/main" id="{125A1D6A-1E4C-D302-AF90-10019567E8C8}"/>
                </a:ext>
              </a:extLst>
            </p:cNvPr>
            <p:cNvSpPr/>
            <p:nvPr>
              <p:custDataLst>
                <p:tags r:id="rId9"/>
              </p:custDataLst>
            </p:nvPr>
          </p:nvSpPr>
          <p:spPr bwMode="auto">
            <a:xfrm>
              <a:off x="429515" y="3990490"/>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137" name="btfpNumberBubble112603">
              <a:extLst>
                <a:ext uri="{FF2B5EF4-FFF2-40B4-BE49-F238E27FC236}">
                  <a16:creationId xmlns:a16="http://schemas.microsoft.com/office/drawing/2014/main" id="{3340BF1C-FF5E-5302-5338-11B00CFDE0DD}"/>
                </a:ext>
              </a:extLst>
            </p:cNvPr>
            <p:cNvSpPr/>
            <p:nvPr>
              <p:custDataLst>
                <p:tags r:id="rId10"/>
              </p:custDataLst>
            </p:nvPr>
          </p:nvSpPr>
          <p:spPr bwMode="auto">
            <a:xfrm>
              <a:off x="429515" y="441599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5</a:t>
              </a:r>
            </a:p>
          </p:txBody>
        </p:sp>
        <p:sp>
          <p:nvSpPr>
            <p:cNvPr id="138" name="btfpNumberBubble112603">
              <a:extLst>
                <a:ext uri="{FF2B5EF4-FFF2-40B4-BE49-F238E27FC236}">
                  <a16:creationId xmlns:a16="http://schemas.microsoft.com/office/drawing/2014/main" id="{9BD7B82C-995A-D62A-E756-CD2BB10D11F3}"/>
                </a:ext>
              </a:extLst>
            </p:cNvPr>
            <p:cNvSpPr/>
            <p:nvPr>
              <p:custDataLst>
                <p:tags r:id="rId11"/>
              </p:custDataLst>
            </p:nvPr>
          </p:nvSpPr>
          <p:spPr bwMode="auto">
            <a:xfrm>
              <a:off x="429515" y="4855017"/>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6</a:t>
              </a:r>
            </a:p>
          </p:txBody>
        </p:sp>
        <p:sp>
          <p:nvSpPr>
            <p:cNvPr id="139" name="Rectangle 59">
              <a:extLst>
                <a:ext uri="{FF2B5EF4-FFF2-40B4-BE49-F238E27FC236}">
                  <a16:creationId xmlns:a16="http://schemas.microsoft.com/office/drawing/2014/main" id="{E4F07185-88B7-B780-027C-AB69F574CA50}"/>
                </a:ext>
              </a:extLst>
            </p:cNvPr>
            <p:cNvSpPr/>
            <p:nvPr>
              <p:custDataLst>
                <p:tags r:id="rId12"/>
              </p:custDataLst>
            </p:nvPr>
          </p:nvSpPr>
          <p:spPr bwMode="gray">
            <a:xfrm>
              <a:off x="368455" y="2822059"/>
              <a:ext cx="1141197" cy="50556"/>
            </a:xfrm>
            <a:prstGeom prst="rect">
              <a:avLst/>
            </a:prstGeom>
            <a:gradFill>
              <a:gsLst>
                <a:gs pos="0">
                  <a:schemeClr val="accent3"/>
                </a:gs>
                <a:gs pos="100000">
                  <a:schemeClr val="accent6"/>
                </a:gs>
              </a:gsLst>
              <a:lin ang="3600000" scaled="0"/>
            </a:gra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300" normalizeH="0" baseline="0" noProof="0">
                <a:ln>
                  <a:noFill/>
                </a:ln>
                <a:solidFill>
                  <a:srgbClr val="FFFFFF"/>
                </a:solidFill>
                <a:effectLst/>
                <a:uLnTx/>
                <a:uFillTx/>
                <a:latin typeface="Arial"/>
                <a:ea typeface="Open Sans"/>
                <a:cs typeface="Arial"/>
              </a:endParaRPr>
            </a:p>
          </p:txBody>
        </p:sp>
      </p:grpSp>
    </p:spTree>
    <p:extLst>
      <p:ext uri="{BB962C8B-B14F-4D97-AF65-F5344CB8AC3E}">
        <p14:creationId xmlns:p14="http://schemas.microsoft.com/office/powerpoint/2010/main" val="50286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CA259E49-32B0-B943-01D4-022070342295}"/>
              </a:ext>
            </a:extLst>
          </p:cNvPr>
          <p:cNvSpPr/>
          <p:nvPr/>
        </p:nvSpPr>
        <p:spPr>
          <a:xfrm>
            <a:off x="8096889" y="3114675"/>
            <a:ext cx="3485512"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19184C03-AC28-9BA4-B756-2CD86384DEE3}"/>
              </a:ext>
            </a:extLst>
          </p:cNvPr>
          <p:cNvSpPr/>
          <p:nvPr/>
        </p:nvSpPr>
        <p:spPr>
          <a:xfrm>
            <a:off x="4429966" y="3114675"/>
            <a:ext cx="3549131"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F273D5BA-85D3-C47A-239B-E8DD6B484D22}"/>
              </a:ext>
            </a:extLst>
          </p:cNvPr>
          <p:cNvSpPr/>
          <p:nvPr/>
        </p:nvSpPr>
        <p:spPr>
          <a:xfrm>
            <a:off x="609600" y="3114675"/>
            <a:ext cx="3700071"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9" name="Flecha: a la derecha 68">
            <a:extLst>
              <a:ext uri="{FF2B5EF4-FFF2-40B4-BE49-F238E27FC236}">
                <a16:creationId xmlns:a16="http://schemas.microsoft.com/office/drawing/2014/main" id="{0F49035D-4286-8AF0-D171-A4BE2E53D8AE}"/>
              </a:ext>
            </a:extLst>
          </p:cNvPr>
          <p:cNvSpPr/>
          <p:nvPr/>
        </p:nvSpPr>
        <p:spPr>
          <a:xfrm>
            <a:off x="1009650" y="2039750"/>
            <a:ext cx="10334625" cy="529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4" name="Rectangle 16">
            <a:extLst>
              <a:ext uri="{FF2B5EF4-FFF2-40B4-BE49-F238E27FC236}">
                <a16:creationId xmlns:a16="http://schemas.microsoft.com/office/drawing/2014/main" id="{6D95FF1C-5BB1-D6DC-1F1A-460AB5B989A3}"/>
              </a:ext>
            </a:extLst>
          </p:cNvPr>
          <p:cNvSpPr/>
          <p:nvPr/>
        </p:nvSpPr>
        <p:spPr bwMode="auto">
          <a:xfrm>
            <a:off x="1530285" y="1885702"/>
            <a:ext cx="2147110" cy="894316"/>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Higiénicos Organizacionales </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Documentación de Roles</a:t>
            </a:r>
          </a:p>
        </p:txBody>
      </p:sp>
      <p:sp>
        <p:nvSpPr>
          <p:cNvPr id="65" name="Rectangle 15">
            <a:extLst>
              <a:ext uri="{FF2B5EF4-FFF2-40B4-BE49-F238E27FC236}">
                <a16:creationId xmlns:a16="http://schemas.microsoft.com/office/drawing/2014/main" id="{CC6BD857-6011-7AFA-3B1A-BBDA85228126}"/>
              </a:ext>
            </a:extLst>
          </p:cNvPr>
          <p:cNvSpPr/>
          <p:nvPr/>
        </p:nvSpPr>
        <p:spPr bwMode="auto">
          <a:xfrm>
            <a:off x="3939365" y="1885703"/>
            <a:ext cx="2147110" cy="894316"/>
          </a:xfrm>
          <a:prstGeom prst="rect">
            <a:avLst/>
          </a:pr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Interacciones Críticas</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Cross-plataformas</a:t>
            </a:r>
          </a:p>
        </p:txBody>
      </p:sp>
      <p:sp>
        <p:nvSpPr>
          <p:cNvPr id="66" name="Rectangle 18">
            <a:extLst>
              <a:ext uri="{FF2B5EF4-FFF2-40B4-BE49-F238E27FC236}">
                <a16:creationId xmlns:a16="http://schemas.microsoft.com/office/drawing/2014/main" id="{EB9FCE88-37AF-76B4-CBE2-8BC238557178}"/>
              </a:ext>
            </a:extLst>
          </p:cNvPr>
          <p:cNvSpPr/>
          <p:nvPr/>
        </p:nvSpPr>
        <p:spPr bwMode="auto">
          <a:xfrm>
            <a:off x="6288055" y="1885702"/>
            <a:ext cx="2147110" cy="894316"/>
          </a:xfrm>
          <a:prstGeom prst="rect">
            <a:avLst/>
          </a:prstGeom>
          <a:solidFill>
            <a:schemeClr val="bg1">
              <a:lumMod val="8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RASCI por Función de Procesos Clave</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Internos x Área</a:t>
            </a:r>
          </a:p>
        </p:txBody>
      </p:sp>
      <p:sp>
        <p:nvSpPr>
          <p:cNvPr id="67" name="Rectangle 17">
            <a:extLst>
              <a:ext uri="{FF2B5EF4-FFF2-40B4-BE49-F238E27FC236}">
                <a16:creationId xmlns:a16="http://schemas.microsoft.com/office/drawing/2014/main" id="{456109EA-280B-3302-11D4-E975C6346342}"/>
              </a:ext>
            </a:extLst>
          </p:cNvPr>
          <p:cNvSpPr/>
          <p:nvPr/>
        </p:nvSpPr>
        <p:spPr bwMode="auto">
          <a:xfrm>
            <a:off x="8636745" y="1885701"/>
            <a:ext cx="2147110" cy="894315"/>
          </a:xfrm>
          <a:prstGeom prst="rect">
            <a:avLst/>
          </a:prstGeom>
          <a:solidFill>
            <a:schemeClr val="bg1">
              <a:lumMod val="8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ES" sz="11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Integración al Sistema de Gestión </a:t>
            </a:r>
            <a:r>
              <a:rPr kumimoji="0" lang="es-MX" sz="6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Consolidación y Seguimiento</a:t>
            </a:r>
          </a:p>
        </p:txBody>
      </p:sp>
      <p:sp>
        <p:nvSpPr>
          <p:cNvPr id="70" name="Triángulo isósceles 69">
            <a:extLst>
              <a:ext uri="{FF2B5EF4-FFF2-40B4-BE49-F238E27FC236}">
                <a16:creationId xmlns:a16="http://schemas.microsoft.com/office/drawing/2014/main" id="{87FDD6D4-CE7A-2B79-5038-EC744418E164}"/>
              </a:ext>
            </a:extLst>
          </p:cNvPr>
          <p:cNvSpPr/>
          <p:nvPr/>
        </p:nvSpPr>
        <p:spPr>
          <a:xfrm rot="10800000">
            <a:off x="2270465" y="1573986"/>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pslz="http://schemas.microsoft.com/office/powerpoint/2016/slidezoom">
        <mc:Choice Requires="pslz">
          <p:graphicFrame>
            <p:nvGraphicFramePr>
              <p:cNvPr id="10" name="Vista general de diapositiva 9">
                <a:extLst>
                  <a:ext uri="{FF2B5EF4-FFF2-40B4-BE49-F238E27FC236}">
                    <a16:creationId xmlns:a16="http://schemas.microsoft.com/office/drawing/2014/main" id="{431F8BB0-150E-39B7-BBF1-B78511638F7A}"/>
                  </a:ext>
                </a:extLst>
              </p:cNvPr>
              <p:cNvGraphicFramePr>
                <a:graphicFrameLocks noChangeAspect="1"/>
              </p:cNvGraphicFramePr>
              <p:nvPr>
                <p:extLst>
                  <p:ext uri="{D42A27DB-BD31-4B8C-83A1-F6EECF244321}">
                    <p14:modId xmlns:p14="http://schemas.microsoft.com/office/powerpoint/2010/main" val="2114890791"/>
                  </p:ext>
                </p:extLst>
              </p:nvPr>
            </p:nvGraphicFramePr>
            <p:xfrm>
              <a:off x="918229" y="3832102"/>
              <a:ext cx="3048000" cy="1714500"/>
            </p:xfrm>
            <a:graphic>
              <a:graphicData uri="http://schemas.microsoft.com/office/powerpoint/2016/slidezoom">
                <pslz:sldZm>
                  <pslz:sldZmObj sldId="2147482944" cId="946345740">
                    <pslz:zmPr id="{748AD451-17AF-4070-BA6C-5BC4AB5EB25B}"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0" name="Vista general de diapositiva 9">
                <a:hlinkClick r:id="rId4" action="ppaction://hlinksldjump"/>
                <a:extLst>
                  <a:ext uri="{FF2B5EF4-FFF2-40B4-BE49-F238E27FC236}">
                    <a16:creationId xmlns:a16="http://schemas.microsoft.com/office/drawing/2014/main" id="{431F8BB0-150E-39B7-BBF1-B78511638F7A}"/>
                  </a:ext>
                </a:extLst>
              </p:cNvPr>
              <p:cNvPicPr>
                <a:picLocks noGrp="1" noRot="1" noChangeAspect="1" noMove="1" noResize="1" noEditPoints="1" noAdjustHandles="1" noChangeArrowheads="1" noChangeShapeType="1"/>
              </p:cNvPicPr>
              <p:nvPr/>
            </p:nvPicPr>
            <p:blipFill>
              <a:blip r:embed="rId5"/>
              <a:stretch>
                <a:fillRect/>
              </a:stretch>
            </p:blipFill>
            <p:spPr>
              <a:xfrm>
                <a:off x="918229" y="3832102"/>
                <a:ext cx="3048000" cy="1714500"/>
              </a:xfrm>
              <a:prstGeom prst="rect">
                <a:avLst/>
              </a:prstGeom>
              <a:ln w="3175">
                <a:solidFill>
                  <a:prstClr val="ltGray"/>
                </a:solidFill>
              </a:ln>
            </p:spPr>
          </p:pic>
        </mc:Fallback>
      </mc:AlternateContent>
      <p:sp>
        <p:nvSpPr>
          <p:cNvPr id="12" name="CuadroTexto 11">
            <a:extLst>
              <a:ext uri="{FF2B5EF4-FFF2-40B4-BE49-F238E27FC236}">
                <a16:creationId xmlns:a16="http://schemas.microsoft.com/office/drawing/2014/main" id="{88CF2FDA-BB4C-E55C-115D-BB25F24378F9}"/>
              </a:ext>
            </a:extLst>
          </p:cNvPr>
          <p:cNvSpPr txBox="1"/>
          <p:nvPr/>
        </p:nvSpPr>
        <p:spPr>
          <a:xfrm>
            <a:off x="960484" y="3232606"/>
            <a:ext cx="3048000" cy="600164"/>
          </a:xfrm>
          <a:prstGeom prst="rect">
            <a:avLst/>
          </a:prstGeom>
          <a:noFill/>
        </p:spPr>
        <p:txBody>
          <a:bodyPr wrap="square">
            <a:spAutoFit/>
          </a:bodyPr>
          <a:lstStyle/>
          <a:p>
            <a:pPr algn="ctr"/>
            <a:r>
              <a:rPr lang="es-ES" sz="1100" b="1">
                <a:solidFill>
                  <a:srgbClr val="000000"/>
                </a:solidFill>
                <a:latin typeface="Calibri" panose="020F0502020204030204" pitchFamily="34" charset="0"/>
              </a:rPr>
              <a:t>Percepción inicial (retos, dudas, apoyos requeridos organización para clarificar la función)</a:t>
            </a:r>
          </a:p>
        </p:txBody>
      </p:sp>
      <p:sp>
        <p:nvSpPr>
          <p:cNvPr id="13" name="CuadroTexto 12">
            <a:extLst>
              <a:ext uri="{FF2B5EF4-FFF2-40B4-BE49-F238E27FC236}">
                <a16:creationId xmlns:a16="http://schemas.microsoft.com/office/drawing/2014/main" id="{D704E574-6CAC-27B5-5470-87C0E60750C1}"/>
              </a:ext>
            </a:extLst>
          </p:cNvPr>
          <p:cNvSpPr txBox="1"/>
          <p:nvPr/>
        </p:nvSpPr>
        <p:spPr>
          <a:xfrm>
            <a:off x="4620742" y="3257532"/>
            <a:ext cx="3146555" cy="261610"/>
          </a:xfrm>
          <a:prstGeom prst="rect">
            <a:avLst/>
          </a:prstGeom>
          <a:noFill/>
        </p:spPr>
        <p:txBody>
          <a:bodyPr wrap="square">
            <a:spAutoFit/>
          </a:bodyPr>
          <a:lstStyle/>
          <a:p>
            <a:pPr algn="ctr"/>
            <a:r>
              <a:rPr lang="es-ES" sz="1100" b="1" err="1">
                <a:solidFill>
                  <a:srgbClr val="000000"/>
                </a:solidFill>
                <a:latin typeface="Calibri" panose="020F0502020204030204" pitchFamily="34" charset="0"/>
              </a:rPr>
              <a:t>Feedback</a:t>
            </a:r>
            <a:r>
              <a:rPr lang="es-ES" sz="1100" b="1">
                <a:solidFill>
                  <a:srgbClr val="000000"/>
                </a:solidFill>
                <a:latin typeface="Calibri" panose="020F0502020204030204" pitchFamily="34" charset="0"/>
              </a:rPr>
              <a:t> DP rol </a:t>
            </a:r>
          </a:p>
        </p:txBody>
      </p:sp>
      <p:sp>
        <p:nvSpPr>
          <p:cNvPr id="14" name="CuadroTexto 13">
            <a:extLst>
              <a:ext uri="{FF2B5EF4-FFF2-40B4-BE49-F238E27FC236}">
                <a16:creationId xmlns:a16="http://schemas.microsoft.com/office/drawing/2014/main" id="{B2F380EB-E5B9-5B50-6CCA-5A3D9908E7A6}"/>
              </a:ext>
            </a:extLst>
          </p:cNvPr>
          <p:cNvSpPr txBox="1"/>
          <p:nvPr/>
        </p:nvSpPr>
        <p:spPr>
          <a:xfrm>
            <a:off x="8283257" y="3232606"/>
            <a:ext cx="3146555" cy="600164"/>
          </a:xfrm>
          <a:prstGeom prst="rect">
            <a:avLst/>
          </a:prstGeom>
          <a:noFill/>
        </p:spPr>
        <p:txBody>
          <a:bodyPr wrap="square">
            <a:spAutoFit/>
          </a:bodyPr>
          <a:lstStyle/>
          <a:p>
            <a:pPr algn="ctr"/>
            <a:r>
              <a:rPr lang="es-ES" sz="1100" b="1">
                <a:solidFill>
                  <a:srgbClr val="000000"/>
                </a:solidFill>
                <a:latin typeface="Calibri" panose="020F0502020204030204" pitchFamily="34" charset="0"/>
              </a:rPr>
              <a:t>Actividades </a:t>
            </a:r>
            <a:r>
              <a:rPr lang="es-ES" sz="1100" b="1" err="1">
                <a:solidFill>
                  <a:srgbClr val="000000"/>
                </a:solidFill>
                <a:latin typeface="Calibri" panose="020F0502020204030204" pitchFamily="34" charset="0"/>
              </a:rPr>
              <a:t>core</a:t>
            </a:r>
            <a:r>
              <a:rPr lang="es-ES" sz="1100" b="1">
                <a:solidFill>
                  <a:srgbClr val="000000"/>
                </a:solidFill>
                <a:latin typeface="Calibri" panose="020F0502020204030204" pitchFamily="34" charset="0"/>
              </a:rPr>
              <a:t> de reportes (L3)</a:t>
            </a:r>
          </a:p>
          <a:p>
            <a:pPr algn="ctr"/>
            <a:r>
              <a:rPr lang="es-ES" sz="1100" b="1">
                <a:solidFill>
                  <a:srgbClr val="000000"/>
                </a:solidFill>
                <a:latin typeface="Calibri" panose="020F0502020204030204" pitchFamily="34" charset="0"/>
              </a:rPr>
              <a:t>+</a:t>
            </a:r>
          </a:p>
          <a:p>
            <a:pPr algn="ctr"/>
            <a:r>
              <a:rPr lang="es-ES" sz="1100" b="1">
                <a:solidFill>
                  <a:srgbClr val="000000"/>
                </a:solidFill>
                <a:latin typeface="Calibri" panose="020F0502020204030204" pitchFamily="34" charset="0"/>
              </a:rPr>
              <a:t>Interacciones macro / procesos</a:t>
            </a:r>
          </a:p>
        </p:txBody>
      </p:sp>
      <p:sp>
        <p:nvSpPr>
          <p:cNvPr id="2" name="Triángulo isósceles 1">
            <a:extLst>
              <a:ext uri="{FF2B5EF4-FFF2-40B4-BE49-F238E27FC236}">
                <a16:creationId xmlns:a16="http://schemas.microsoft.com/office/drawing/2014/main" id="{8BE1E31A-3D1C-68D4-E7AA-9CE837628BEB}"/>
              </a:ext>
            </a:extLst>
          </p:cNvPr>
          <p:cNvSpPr/>
          <p:nvPr/>
        </p:nvSpPr>
        <p:spPr>
          <a:xfrm rot="10800000">
            <a:off x="4679545" y="1573986"/>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Título 5">
            <a:extLst>
              <a:ext uri="{FF2B5EF4-FFF2-40B4-BE49-F238E27FC236}">
                <a16:creationId xmlns:a16="http://schemas.microsoft.com/office/drawing/2014/main" id="{646412A6-F80A-D921-86F5-9363801D5BA5}"/>
              </a:ext>
            </a:extLst>
          </p:cNvPr>
          <p:cNvSpPr>
            <a:spLocks noGrp="1"/>
          </p:cNvSpPr>
          <p:nvPr>
            <p:ph type="title"/>
          </p:nvPr>
        </p:nvSpPr>
        <p:spPr/>
        <p:txBody>
          <a:bodyPr/>
          <a:lstStyle/>
          <a:p>
            <a:r>
              <a:rPr lang="es-ES"/>
              <a:t>Alcance 2026</a:t>
            </a:r>
            <a:endParaRPr lang="es-MX"/>
          </a:p>
        </p:txBody>
      </p:sp>
      <mc:AlternateContent xmlns:mc="http://schemas.openxmlformats.org/markup-compatibility/2006" xmlns:pslz="http://schemas.microsoft.com/office/powerpoint/2016/slidezoom">
        <mc:Choice Requires="pslz">
          <p:graphicFrame>
            <p:nvGraphicFramePr>
              <p:cNvPr id="15" name="Vista general de diapositiva 14">
                <a:extLst>
                  <a:ext uri="{FF2B5EF4-FFF2-40B4-BE49-F238E27FC236}">
                    <a16:creationId xmlns:a16="http://schemas.microsoft.com/office/drawing/2014/main" id="{AA32ACD3-E55F-D4CB-E937-005F440AE3CA}"/>
                  </a:ext>
                </a:extLst>
              </p:cNvPr>
              <p:cNvGraphicFramePr>
                <a:graphicFrameLocks noChangeAspect="1"/>
              </p:cNvGraphicFramePr>
              <p:nvPr>
                <p:extLst>
                  <p:ext uri="{D42A27DB-BD31-4B8C-83A1-F6EECF244321}">
                    <p14:modId xmlns:p14="http://schemas.microsoft.com/office/powerpoint/2010/main" val="2079120342"/>
                  </p:ext>
                </p:extLst>
              </p:nvPr>
            </p:nvGraphicFramePr>
            <p:xfrm>
              <a:off x="4790781" y="3891988"/>
              <a:ext cx="2800644" cy="1575362"/>
            </p:xfrm>
            <a:graphic>
              <a:graphicData uri="http://schemas.microsoft.com/office/powerpoint/2016/slidezoom">
                <pslz:sldZm>
                  <pslz:sldZmObj sldId="2147482955" cId="376322309">
                    <pslz:zmPr id="{65CFBDAD-CF85-4096-9ACD-FEF4C213F1CE}" returnToParent="0" transitionDur="1000">
                      <p166:blipFill xmlns:p166="http://schemas.microsoft.com/office/powerpoint/2016/6/main">
                        <a:blip r:embed="rId6"/>
                        <a:stretch>
                          <a:fillRect/>
                        </a:stretch>
                      </p166:blipFill>
                      <p166:spPr xmlns:p166="http://schemas.microsoft.com/office/powerpoint/2016/6/main">
                        <a:xfrm>
                          <a:off x="0" y="0"/>
                          <a:ext cx="2800644" cy="1575362"/>
                        </a:xfrm>
                        <a:prstGeom prst="rect">
                          <a:avLst/>
                        </a:prstGeom>
                        <a:ln w="3175">
                          <a:solidFill>
                            <a:prstClr val="ltGray"/>
                          </a:solidFill>
                        </a:ln>
                      </p166:spPr>
                    </pslz:zmPr>
                  </pslz:sldZmObj>
                </pslz:sldZm>
              </a:graphicData>
            </a:graphic>
          </p:graphicFrame>
        </mc:Choice>
        <mc:Fallback xmlns="">
          <p:pic>
            <p:nvPicPr>
              <p:cNvPr id="15" name="Vista general de diapositiva 14">
                <a:hlinkClick r:id="rId7" action="ppaction://hlinksldjump"/>
                <a:extLst>
                  <a:ext uri="{FF2B5EF4-FFF2-40B4-BE49-F238E27FC236}">
                    <a16:creationId xmlns:a16="http://schemas.microsoft.com/office/drawing/2014/main" id="{AA32ACD3-E55F-D4CB-E937-005F440AE3CA}"/>
                  </a:ext>
                </a:extLst>
              </p:cNvPr>
              <p:cNvPicPr>
                <a:picLocks noGrp="1" noRot="1" noChangeAspect="1" noMove="1" noResize="1" noEditPoints="1" noAdjustHandles="1" noChangeArrowheads="1" noChangeShapeType="1"/>
              </p:cNvPicPr>
              <p:nvPr/>
            </p:nvPicPr>
            <p:blipFill>
              <a:blip r:embed="rId8"/>
              <a:stretch>
                <a:fillRect/>
              </a:stretch>
            </p:blipFill>
            <p:spPr>
              <a:xfrm>
                <a:off x="4790781" y="3891988"/>
                <a:ext cx="2800644" cy="157536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7" name="Vista general de diapositiva 16">
                <a:extLst>
                  <a:ext uri="{FF2B5EF4-FFF2-40B4-BE49-F238E27FC236}">
                    <a16:creationId xmlns:a16="http://schemas.microsoft.com/office/drawing/2014/main" id="{EE3AB628-FE34-F168-5189-AF2DE401B5E6}"/>
                  </a:ext>
                </a:extLst>
              </p:cNvPr>
              <p:cNvGraphicFramePr>
                <a:graphicFrameLocks noChangeAspect="1"/>
              </p:cNvGraphicFramePr>
              <p:nvPr>
                <p:extLst>
                  <p:ext uri="{D42A27DB-BD31-4B8C-83A1-F6EECF244321}">
                    <p14:modId xmlns:p14="http://schemas.microsoft.com/office/powerpoint/2010/main" val="2691629993"/>
                  </p:ext>
                </p:extLst>
              </p:nvPr>
            </p:nvGraphicFramePr>
            <p:xfrm>
              <a:off x="8435165" y="3980618"/>
              <a:ext cx="2116980" cy="1190801"/>
            </p:xfrm>
            <a:graphic>
              <a:graphicData uri="http://schemas.microsoft.com/office/powerpoint/2016/slidezoom">
                <pslz:sldZm>
                  <pslz:sldZmObj sldId="2147483647" cId="2282670243">
                    <pslz:zmPr id="{80F21B2C-31A0-4BA1-AA3A-4C1872BEDCC3}" returnToParent="0" transitionDur="1000">
                      <p166:blipFill xmlns:p166="http://schemas.microsoft.com/office/powerpoint/2016/6/main">
                        <a:blip r:embed="rId9"/>
                        <a:stretch>
                          <a:fillRect/>
                        </a:stretch>
                      </p166:blipFill>
                      <p166:spPr xmlns:p166="http://schemas.microsoft.com/office/powerpoint/2016/6/main">
                        <a:xfrm>
                          <a:off x="0" y="0"/>
                          <a:ext cx="2116980" cy="1190801"/>
                        </a:xfrm>
                        <a:prstGeom prst="rect">
                          <a:avLst/>
                        </a:prstGeom>
                        <a:ln w="3175">
                          <a:solidFill>
                            <a:prstClr val="ltGray"/>
                          </a:solidFill>
                        </a:ln>
                      </p166:spPr>
                    </pslz:zmPr>
                  </pslz:sldZmObj>
                </pslz:sldZm>
              </a:graphicData>
            </a:graphic>
          </p:graphicFrame>
        </mc:Choice>
        <mc:Fallback xmlns="">
          <p:pic>
            <p:nvPicPr>
              <p:cNvPr id="17" name="Vista general de diapositiva 16">
                <a:hlinkClick r:id="rId10" action="ppaction://hlinksldjump"/>
                <a:extLst>
                  <a:ext uri="{FF2B5EF4-FFF2-40B4-BE49-F238E27FC236}">
                    <a16:creationId xmlns:a16="http://schemas.microsoft.com/office/drawing/2014/main" id="{EE3AB628-FE34-F168-5189-AF2DE401B5E6}"/>
                  </a:ext>
                </a:extLst>
              </p:cNvPr>
              <p:cNvPicPr>
                <a:picLocks noGrp="1" noRot="1" noChangeAspect="1" noMove="1" noResize="1" noEditPoints="1" noAdjustHandles="1" noChangeArrowheads="1" noChangeShapeType="1"/>
              </p:cNvPicPr>
              <p:nvPr/>
            </p:nvPicPr>
            <p:blipFill>
              <a:blip r:embed="rId11"/>
              <a:stretch>
                <a:fillRect/>
              </a:stretch>
            </p:blipFill>
            <p:spPr>
              <a:xfrm>
                <a:off x="8435165" y="3980618"/>
                <a:ext cx="2116980" cy="11908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Vista general de diapositiva 4">
                <a:extLst>
                  <a:ext uri="{FF2B5EF4-FFF2-40B4-BE49-F238E27FC236}">
                    <a16:creationId xmlns:a16="http://schemas.microsoft.com/office/drawing/2014/main" id="{41C1AFEA-57DA-D976-AD6E-C7045251E9CE}"/>
                  </a:ext>
                </a:extLst>
              </p:cNvPr>
              <p:cNvGraphicFramePr>
                <a:graphicFrameLocks noChangeAspect="1"/>
              </p:cNvGraphicFramePr>
              <p:nvPr>
                <p:extLst>
                  <p:ext uri="{D42A27DB-BD31-4B8C-83A1-F6EECF244321}">
                    <p14:modId xmlns:p14="http://schemas.microsoft.com/office/powerpoint/2010/main" val="2658548384"/>
                  </p:ext>
                </p:extLst>
              </p:nvPr>
            </p:nvGraphicFramePr>
            <p:xfrm>
              <a:off x="9328111" y="4593936"/>
              <a:ext cx="2116981" cy="1190802"/>
            </p:xfrm>
            <a:graphic>
              <a:graphicData uri="http://schemas.microsoft.com/office/powerpoint/2016/slidezoom">
                <pslz:sldZm>
                  <pslz:sldZmObj sldId="256" cId="1894943609">
                    <pslz:zmPr id="{DFEF7ABE-CD74-4CA2-926D-CD9AA2EB07A5}" returnToParent="0" transitionDur="1000">
                      <p166:blipFill xmlns:p166="http://schemas.microsoft.com/office/powerpoint/2016/6/main">
                        <a:blip r:embed="rId12"/>
                        <a:stretch>
                          <a:fillRect/>
                        </a:stretch>
                      </p166:blipFill>
                      <p166:spPr xmlns:p166="http://schemas.microsoft.com/office/powerpoint/2016/6/main">
                        <a:xfrm>
                          <a:off x="0" y="0"/>
                          <a:ext cx="2116981" cy="1190802"/>
                        </a:xfrm>
                        <a:prstGeom prst="rect">
                          <a:avLst/>
                        </a:prstGeom>
                        <a:ln w="3175">
                          <a:solidFill>
                            <a:prstClr val="ltGray"/>
                          </a:solidFill>
                        </a:ln>
                      </p166:spPr>
                    </pslz:zmPr>
                  </pslz:sldZmObj>
                </pslz:sldZm>
              </a:graphicData>
            </a:graphic>
          </p:graphicFrame>
        </mc:Choice>
        <mc:Fallback xmlns="">
          <p:pic>
            <p:nvPicPr>
              <p:cNvPr id="5" name="Vista general de diapositiva 4">
                <a:hlinkClick r:id="rId13" action="ppaction://hlinksldjump"/>
                <a:extLst>
                  <a:ext uri="{FF2B5EF4-FFF2-40B4-BE49-F238E27FC236}">
                    <a16:creationId xmlns:a16="http://schemas.microsoft.com/office/drawing/2014/main" id="{41C1AFEA-57DA-D976-AD6E-C7045251E9CE}"/>
                  </a:ext>
                </a:extLst>
              </p:cNvPr>
              <p:cNvPicPr>
                <a:picLocks noGrp="1" noRot="1" noChangeAspect="1" noMove="1" noResize="1" noEditPoints="1" noAdjustHandles="1" noChangeArrowheads="1" noChangeShapeType="1"/>
              </p:cNvPicPr>
              <p:nvPr/>
            </p:nvPicPr>
            <p:blipFill>
              <a:blip r:embed="rId14"/>
              <a:stretch>
                <a:fillRect/>
              </a:stretch>
            </p:blipFill>
            <p:spPr>
              <a:xfrm>
                <a:off x="9328111" y="4593936"/>
                <a:ext cx="2116981" cy="1190802"/>
              </a:xfrm>
              <a:prstGeom prst="rect">
                <a:avLst/>
              </a:prstGeom>
              <a:ln w="3175">
                <a:solidFill>
                  <a:prstClr val="ltGray"/>
                </a:solidFill>
              </a:ln>
            </p:spPr>
          </p:pic>
        </mc:Fallback>
      </mc:AlternateContent>
    </p:spTree>
    <p:extLst>
      <p:ext uri="{BB962C8B-B14F-4D97-AF65-F5344CB8AC3E}">
        <p14:creationId xmlns:p14="http://schemas.microsoft.com/office/powerpoint/2010/main" val="198471568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C7FE4F8-1D50-3B4B-8AAC-2417CBBCFEA9}"/>
              </a:ext>
            </a:extLst>
          </p:cNvPr>
          <p:cNvSpPr/>
          <p:nvPr/>
        </p:nvSpPr>
        <p:spPr>
          <a:xfrm>
            <a:off x="1284756" y="2993308"/>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Tengo claridad de la misión del área</a:t>
            </a:r>
            <a:endParaRPr lang="es-MX" sz="1200">
              <a:solidFill>
                <a:sysClr val="windowText" lastClr="000000"/>
              </a:solidFill>
            </a:endParaRPr>
          </a:p>
        </p:txBody>
      </p:sp>
      <p:sp>
        <p:nvSpPr>
          <p:cNvPr id="7" name="Rectángulo 6">
            <a:extLst>
              <a:ext uri="{FF2B5EF4-FFF2-40B4-BE49-F238E27FC236}">
                <a16:creationId xmlns:a16="http://schemas.microsoft.com/office/drawing/2014/main" id="{9D12D446-A1FE-2D55-8ED8-9BF6AB433C6D}"/>
              </a:ext>
            </a:extLst>
          </p:cNvPr>
          <p:cNvSpPr/>
          <p:nvPr/>
        </p:nvSpPr>
        <p:spPr>
          <a:xfrm>
            <a:off x="1284752" y="3520169"/>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dirty="0">
                <a:solidFill>
                  <a:sysClr val="windowText" lastClr="000000"/>
                </a:solidFill>
              </a:rPr>
              <a:t>Me resultan claras las actividades de las posiciones de la plataforma</a:t>
            </a:r>
            <a:endParaRPr lang="es-MX" sz="1200" dirty="0">
              <a:solidFill>
                <a:sysClr val="windowText" lastClr="000000"/>
              </a:solidFill>
            </a:endParaRPr>
          </a:p>
        </p:txBody>
      </p:sp>
      <p:sp>
        <p:nvSpPr>
          <p:cNvPr id="9" name="Rectángulo 8">
            <a:extLst>
              <a:ext uri="{FF2B5EF4-FFF2-40B4-BE49-F238E27FC236}">
                <a16:creationId xmlns:a16="http://schemas.microsoft.com/office/drawing/2014/main" id="{01FD7DEA-CCB0-3F0F-FCE1-E42492D493A9}"/>
              </a:ext>
            </a:extLst>
          </p:cNvPr>
          <p:cNvSpPr/>
          <p:nvPr/>
        </p:nvSpPr>
        <p:spPr>
          <a:xfrm>
            <a:off x="1284751" y="4082157"/>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dirty="0">
                <a:solidFill>
                  <a:sysClr val="windowText" lastClr="000000"/>
                </a:solidFill>
              </a:rPr>
              <a:t>Percibo claridad de cada ocupante sobre la función de su puesto e impacto en los objetivos del área</a:t>
            </a:r>
            <a:endParaRPr lang="es-MX" sz="1200" dirty="0">
              <a:solidFill>
                <a:sysClr val="windowText" lastClr="000000"/>
              </a:solidFill>
            </a:endParaRPr>
          </a:p>
        </p:txBody>
      </p:sp>
      <p:sp>
        <p:nvSpPr>
          <p:cNvPr id="11" name="Rectángulo 10">
            <a:extLst>
              <a:ext uri="{FF2B5EF4-FFF2-40B4-BE49-F238E27FC236}">
                <a16:creationId xmlns:a16="http://schemas.microsoft.com/office/drawing/2014/main" id="{68E8AB1C-0912-901D-0DF3-E8CB08F3F881}"/>
              </a:ext>
            </a:extLst>
          </p:cNvPr>
          <p:cNvSpPr/>
          <p:nvPr/>
        </p:nvSpPr>
        <p:spPr>
          <a:xfrm>
            <a:off x="7180732" y="2993308"/>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12" name="Rectángulo 11">
            <a:extLst>
              <a:ext uri="{FF2B5EF4-FFF2-40B4-BE49-F238E27FC236}">
                <a16:creationId xmlns:a16="http://schemas.microsoft.com/office/drawing/2014/main" id="{00BAA50C-D38E-8DF6-685A-DAFAE69206BE}"/>
              </a:ext>
            </a:extLst>
          </p:cNvPr>
          <p:cNvSpPr/>
          <p:nvPr/>
        </p:nvSpPr>
        <p:spPr>
          <a:xfrm>
            <a:off x="7847482" y="2993308"/>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13" name="Rectángulo 12">
            <a:extLst>
              <a:ext uri="{FF2B5EF4-FFF2-40B4-BE49-F238E27FC236}">
                <a16:creationId xmlns:a16="http://schemas.microsoft.com/office/drawing/2014/main" id="{42D0F290-D177-ABE8-7B9A-391D7C05E93A}"/>
              </a:ext>
            </a:extLst>
          </p:cNvPr>
          <p:cNvSpPr/>
          <p:nvPr/>
        </p:nvSpPr>
        <p:spPr>
          <a:xfrm>
            <a:off x="8514232" y="2993308"/>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14" name="Rectángulo 13">
            <a:extLst>
              <a:ext uri="{FF2B5EF4-FFF2-40B4-BE49-F238E27FC236}">
                <a16:creationId xmlns:a16="http://schemas.microsoft.com/office/drawing/2014/main" id="{BC6835E8-F0BE-E0DA-D1F3-BF15948CC999}"/>
              </a:ext>
            </a:extLst>
          </p:cNvPr>
          <p:cNvSpPr/>
          <p:nvPr/>
        </p:nvSpPr>
        <p:spPr>
          <a:xfrm>
            <a:off x="9180982" y="2993308"/>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15" name="Rectángulo 14">
            <a:extLst>
              <a:ext uri="{FF2B5EF4-FFF2-40B4-BE49-F238E27FC236}">
                <a16:creationId xmlns:a16="http://schemas.microsoft.com/office/drawing/2014/main" id="{31B8A6E4-AF49-5BBB-2D6D-34655455BB58}"/>
              </a:ext>
            </a:extLst>
          </p:cNvPr>
          <p:cNvSpPr/>
          <p:nvPr/>
        </p:nvSpPr>
        <p:spPr>
          <a:xfrm>
            <a:off x="9847733" y="2993308"/>
            <a:ext cx="514350" cy="447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5</a:t>
            </a:r>
            <a:endParaRPr lang="es-MX" sz="1400" dirty="0"/>
          </a:p>
        </p:txBody>
      </p:sp>
      <p:sp>
        <p:nvSpPr>
          <p:cNvPr id="17" name="CuadroTexto 16">
            <a:extLst>
              <a:ext uri="{FF2B5EF4-FFF2-40B4-BE49-F238E27FC236}">
                <a16:creationId xmlns:a16="http://schemas.microsoft.com/office/drawing/2014/main" id="{F1D06FE5-7F07-2D04-69DE-261CC6B68038}"/>
              </a:ext>
            </a:extLst>
          </p:cNvPr>
          <p:cNvSpPr txBox="1"/>
          <p:nvPr/>
        </p:nvSpPr>
        <p:spPr>
          <a:xfrm>
            <a:off x="1141883" y="1591212"/>
            <a:ext cx="9131670" cy="738664"/>
          </a:xfrm>
          <a:prstGeom prst="rect">
            <a:avLst/>
          </a:prstGeom>
          <a:noFill/>
        </p:spPr>
        <p:txBody>
          <a:bodyPr wrap="square">
            <a:spAutoFit/>
          </a:bodyPr>
          <a:lstStyle/>
          <a:p>
            <a:r>
              <a:rPr lang="es-ES" sz="1400"/>
              <a:t>Objetivo:</a:t>
            </a:r>
          </a:p>
          <a:p>
            <a:r>
              <a:rPr lang="es-ES" sz="1400" i="1"/>
              <a:t>Tener percepción y estatus actual de claridad de las funciones del área y entender necesidades a nivel plataforma de apoyos requeridos por organización</a:t>
            </a:r>
            <a:endParaRPr lang="es-MX" sz="1400" i="1"/>
          </a:p>
        </p:txBody>
      </p:sp>
      <p:sp>
        <p:nvSpPr>
          <p:cNvPr id="18" name="CuadroTexto 17">
            <a:extLst>
              <a:ext uri="{FF2B5EF4-FFF2-40B4-BE49-F238E27FC236}">
                <a16:creationId xmlns:a16="http://schemas.microsoft.com/office/drawing/2014/main" id="{EE4B3D03-78D4-E434-A214-B4F4ED3147E3}"/>
              </a:ext>
            </a:extLst>
          </p:cNvPr>
          <p:cNvSpPr txBox="1"/>
          <p:nvPr/>
        </p:nvSpPr>
        <p:spPr>
          <a:xfrm>
            <a:off x="6790796" y="2762804"/>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Desacuerdo </a:t>
            </a:r>
            <a:endParaRPr lang="es-MX" sz="1000" err="1">
              <a:latin typeface="Calibri" panose="020F0502020204030204" pitchFamily="34" charset="0"/>
              <a:cs typeface="Calibri" panose="020F0502020204030204" pitchFamily="34" charset="0"/>
            </a:endParaRPr>
          </a:p>
        </p:txBody>
      </p:sp>
      <p:sp>
        <p:nvSpPr>
          <p:cNvPr id="19" name="CuadroTexto 18">
            <a:extLst>
              <a:ext uri="{FF2B5EF4-FFF2-40B4-BE49-F238E27FC236}">
                <a16:creationId xmlns:a16="http://schemas.microsoft.com/office/drawing/2014/main" id="{9F4BED0D-E57D-53BA-5559-732695A6AE78}"/>
              </a:ext>
            </a:extLst>
          </p:cNvPr>
          <p:cNvSpPr txBox="1"/>
          <p:nvPr/>
        </p:nvSpPr>
        <p:spPr>
          <a:xfrm>
            <a:off x="9390532" y="2762804"/>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 acuerdo</a:t>
            </a:r>
            <a:endParaRPr lang="es-MX" sz="1000" err="1">
              <a:latin typeface="Calibri" panose="020F0502020204030204" pitchFamily="34" charset="0"/>
              <a:cs typeface="Calibri" panose="020F0502020204030204" pitchFamily="34" charset="0"/>
            </a:endParaRPr>
          </a:p>
        </p:txBody>
      </p:sp>
      <p:sp>
        <p:nvSpPr>
          <p:cNvPr id="21" name="Rectángulo 20">
            <a:extLst>
              <a:ext uri="{FF2B5EF4-FFF2-40B4-BE49-F238E27FC236}">
                <a16:creationId xmlns:a16="http://schemas.microsoft.com/office/drawing/2014/main" id="{7401378D-D1E9-5ABF-82D0-A09EADCF9921}"/>
              </a:ext>
            </a:extLst>
          </p:cNvPr>
          <p:cNvSpPr/>
          <p:nvPr/>
        </p:nvSpPr>
        <p:spPr>
          <a:xfrm>
            <a:off x="1284751" y="4668421"/>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Hay suficiente información para realizar adecuadamente las funciones y establecer objetivos clave del año</a:t>
            </a:r>
            <a:endParaRPr lang="es-MX" sz="1200">
              <a:solidFill>
                <a:sysClr val="windowText" lastClr="000000"/>
              </a:solidFill>
            </a:endParaRPr>
          </a:p>
        </p:txBody>
      </p:sp>
      <p:sp>
        <p:nvSpPr>
          <p:cNvPr id="27" name="Rectángulo 26">
            <a:extLst>
              <a:ext uri="{FF2B5EF4-FFF2-40B4-BE49-F238E27FC236}">
                <a16:creationId xmlns:a16="http://schemas.microsoft.com/office/drawing/2014/main" id="{CB426A0A-057F-CD5D-5ECB-DE46EE96DBDE}"/>
              </a:ext>
            </a:extLst>
          </p:cNvPr>
          <p:cNvSpPr/>
          <p:nvPr/>
        </p:nvSpPr>
        <p:spPr>
          <a:xfrm>
            <a:off x="7180732" y="352016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28" name="Rectángulo 27">
            <a:extLst>
              <a:ext uri="{FF2B5EF4-FFF2-40B4-BE49-F238E27FC236}">
                <a16:creationId xmlns:a16="http://schemas.microsoft.com/office/drawing/2014/main" id="{F56E75B3-107F-CB1B-7F16-52AB46B217A0}"/>
              </a:ext>
            </a:extLst>
          </p:cNvPr>
          <p:cNvSpPr/>
          <p:nvPr/>
        </p:nvSpPr>
        <p:spPr>
          <a:xfrm>
            <a:off x="7847482" y="352016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29" name="Rectángulo 28">
            <a:extLst>
              <a:ext uri="{FF2B5EF4-FFF2-40B4-BE49-F238E27FC236}">
                <a16:creationId xmlns:a16="http://schemas.microsoft.com/office/drawing/2014/main" id="{00A9E07E-BC25-19F0-7E29-6EA050AE4FD2}"/>
              </a:ext>
            </a:extLst>
          </p:cNvPr>
          <p:cNvSpPr/>
          <p:nvPr/>
        </p:nvSpPr>
        <p:spPr>
          <a:xfrm>
            <a:off x="8514232" y="352016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0" name="Rectángulo 29">
            <a:extLst>
              <a:ext uri="{FF2B5EF4-FFF2-40B4-BE49-F238E27FC236}">
                <a16:creationId xmlns:a16="http://schemas.microsoft.com/office/drawing/2014/main" id="{0F3CD23E-008B-96BB-6553-057E3D828213}"/>
              </a:ext>
            </a:extLst>
          </p:cNvPr>
          <p:cNvSpPr/>
          <p:nvPr/>
        </p:nvSpPr>
        <p:spPr>
          <a:xfrm>
            <a:off x="9180982" y="3520169"/>
            <a:ext cx="514350" cy="447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1" name="Rectángulo 30">
            <a:extLst>
              <a:ext uri="{FF2B5EF4-FFF2-40B4-BE49-F238E27FC236}">
                <a16:creationId xmlns:a16="http://schemas.microsoft.com/office/drawing/2014/main" id="{D4C25EC9-011F-3816-1A58-2C6E58DB342E}"/>
              </a:ext>
            </a:extLst>
          </p:cNvPr>
          <p:cNvSpPr/>
          <p:nvPr/>
        </p:nvSpPr>
        <p:spPr>
          <a:xfrm>
            <a:off x="9847733" y="352016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2" name="Rectángulo 31">
            <a:extLst>
              <a:ext uri="{FF2B5EF4-FFF2-40B4-BE49-F238E27FC236}">
                <a16:creationId xmlns:a16="http://schemas.microsoft.com/office/drawing/2014/main" id="{C58A2AF4-113F-A799-EFE4-1A902C2B0763}"/>
              </a:ext>
            </a:extLst>
          </p:cNvPr>
          <p:cNvSpPr/>
          <p:nvPr/>
        </p:nvSpPr>
        <p:spPr>
          <a:xfrm>
            <a:off x="7180728" y="408215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3" name="Rectángulo 32">
            <a:extLst>
              <a:ext uri="{FF2B5EF4-FFF2-40B4-BE49-F238E27FC236}">
                <a16:creationId xmlns:a16="http://schemas.microsoft.com/office/drawing/2014/main" id="{F2DA68DD-9EF6-F60A-7687-BB917FC39F87}"/>
              </a:ext>
            </a:extLst>
          </p:cNvPr>
          <p:cNvSpPr/>
          <p:nvPr/>
        </p:nvSpPr>
        <p:spPr>
          <a:xfrm>
            <a:off x="7847478" y="408215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4" name="Rectángulo 33">
            <a:extLst>
              <a:ext uri="{FF2B5EF4-FFF2-40B4-BE49-F238E27FC236}">
                <a16:creationId xmlns:a16="http://schemas.microsoft.com/office/drawing/2014/main" id="{53142616-0094-6DC4-48F1-FA37A2A17640}"/>
              </a:ext>
            </a:extLst>
          </p:cNvPr>
          <p:cNvSpPr/>
          <p:nvPr/>
        </p:nvSpPr>
        <p:spPr>
          <a:xfrm>
            <a:off x="8514228" y="408215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5" name="Rectángulo 34">
            <a:extLst>
              <a:ext uri="{FF2B5EF4-FFF2-40B4-BE49-F238E27FC236}">
                <a16:creationId xmlns:a16="http://schemas.microsoft.com/office/drawing/2014/main" id="{46D49AC2-BD04-6DBE-818D-697878E1DF70}"/>
              </a:ext>
            </a:extLst>
          </p:cNvPr>
          <p:cNvSpPr/>
          <p:nvPr/>
        </p:nvSpPr>
        <p:spPr>
          <a:xfrm>
            <a:off x="9180978" y="4082157"/>
            <a:ext cx="514350" cy="447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6" name="Rectángulo 35">
            <a:extLst>
              <a:ext uri="{FF2B5EF4-FFF2-40B4-BE49-F238E27FC236}">
                <a16:creationId xmlns:a16="http://schemas.microsoft.com/office/drawing/2014/main" id="{10011520-7618-A3C8-798B-5836617AD8CC}"/>
              </a:ext>
            </a:extLst>
          </p:cNvPr>
          <p:cNvSpPr/>
          <p:nvPr/>
        </p:nvSpPr>
        <p:spPr>
          <a:xfrm>
            <a:off x="9847729" y="408215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7" name="Rectángulo 36">
            <a:extLst>
              <a:ext uri="{FF2B5EF4-FFF2-40B4-BE49-F238E27FC236}">
                <a16:creationId xmlns:a16="http://schemas.microsoft.com/office/drawing/2014/main" id="{F94D6656-5C4D-D893-4041-37DA27F2EA55}"/>
              </a:ext>
            </a:extLst>
          </p:cNvPr>
          <p:cNvSpPr/>
          <p:nvPr/>
        </p:nvSpPr>
        <p:spPr>
          <a:xfrm>
            <a:off x="7180732" y="4673184"/>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8" name="Rectángulo 37">
            <a:extLst>
              <a:ext uri="{FF2B5EF4-FFF2-40B4-BE49-F238E27FC236}">
                <a16:creationId xmlns:a16="http://schemas.microsoft.com/office/drawing/2014/main" id="{A9162D19-B604-E685-83B3-82B7DEDE0227}"/>
              </a:ext>
            </a:extLst>
          </p:cNvPr>
          <p:cNvSpPr/>
          <p:nvPr/>
        </p:nvSpPr>
        <p:spPr>
          <a:xfrm>
            <a:off x="7847482" y="4673184"/>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9" name="Rectángulo 38">
            <a:extLst>
              <a:ext uri="{FF2B5EF4-FFF2-40B4-BE49-F238E27FC236}">
                <a16:creationId xmlns:a16="http://schemas.microsoft.com/office/drawing/2014/main" id="{2184184E-6F5C-5679-F5E2-F9BE720EDCF6}"/>
              </a:ext>
            </a:extLst>
          </p:cNvPr>
          <p:cNvSpPr/>
          <p:nvPr/>
        </p:nvSpPr>
        <p:spPr>
          <a:xfrm>
            <a:off x="8514232" y="4673184"/>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40" name="Rectángulo 39">
            <a:extLst>
              <a:ext uri="{FF2B5EF4-FFF2-40B4-BE49-F238E27FC236}">
                <a16:creationId xmlns:a16="http://schemas.microsoft.com/office/drawing/2014/main" id="{2C91F9A0-9AF9-626F-9293-CE0E105B592B}"/>
              </a:ext>
            </a:extLst>
          </p:cNvPr>
          <p:cNvSpPr/>
          <p:nvPr/>
        </p:nvSpPr>
        <p:spPr>
          <a:xfrm>
            <a:off x="9180982" y="4673184"/>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41" name="Rectángulo 40">
            <a:extLst>
              <a:ext uri="{FF2B5EF4-FFF2-40B4-BE49-F238E27FC236}">
                <a16:creationId xmlns:a16="http://schemas.microsoft.com/office/drawing/2014/main" id="{F2DFFA15-F145-F25C-0AEC-D3991E68F61F}"/>
              </a:ext>
            </a:extLst>
          </p:cNvPr>
          <p:cNvSpPr/>
          <p:nvPr/>
        </p:nvSpPr>
        <p:spPr>
          <a:xfrm>
            <a:off x="9847733" y="4673184"/>
            <a:ext cx="514350" cy="44767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4" name="Título 3">
            <a:extLst>
              <a:ext uri="{FF2B5EF4-FFF2-40B4-BE49-F238E27FC236}">
                <a16:creationId xmlns:a16="http://schemas.microsoft.com/office/drawing/2014/main" id="{AED201DD-66CC-23E3-BDD9-16094502AFFB}"/>
              </a:ext>
            </a:extLst>
          </p:cNvPr>
          <p:cNvSpPr>
            <a:spLocks noGrp="1"/>
          </p:cNvSpPr>
          <p:nvPr>
            <p:ph type="title"/>
          </p:nvPr>
        </p:nvSpPr>
        <p:spPr/>
        <p:txBody>
          <a:bodyPr/>
          <a:lstStyle/>
          <a:p>
            <a:r>
              <a:rPr lang="es-ES"/>
              <a:t>Percepción inicial</a:t>
            </a:r>
            <a:endParaRPr lang="es-MX"/>
          </a:p>
        </p:txBody>
      </p:sp>
    </p:spTree>
    <p:extLst>
      <p:ext uri="{BB962C8B-B14F-4D97-AF65-F5344CB8AC3E}">
        <p14:creationId xmlns:p14="http://schemas.microsoft.com/office/powerpoint/2010/main" val="94634574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F1D06FE5-7F07-2D04-69DE-261CC6B68038}"/>
              </a:ext>
            </a:extLst>
          </p:cNvPr>
          <p:cNvSpPr txBox="1"/>
          <p:nvPr/>
        </p:nvSpPr>
        <p:spPr>
          <a:xfrm>
            <a:off x="199465" y="1182600"/>
            <a:ext cx="11659159" cy="4829014"/>
          </a:xfrm>
          <a:prstGeom prst="rect">
            <a:avLst/>
          </a:prstGeom>
          <a:noFill/>
        </p:spPr>
        <p:txBody>
          <a:bodyPr wrap="square">
            <a:spAutoFit/>
          </a:bodyPr>
          <a:lstStyle/>
          <a:p>
            <a:r>
              <a:rPr lang="es-ES" sz="1200" b="1"/>
              <a:t>Propósito del puesto:</a:t>
            </a:r>
          </a:p>
          <a:p>
            <a:pPr>
              <a:defRPr/>
            </a:pPr>
            <a:r>
              <a:rPr lang="es-MX" sz="1200">
                <a:solidFill>
                  <a:prstClr val="black"/>
                </a:solidFill>
                <a:latin typeface="Calibri Light" panose="020F0302020204030204"/>
                <a:ea typeface="ＭＳ Ｐゴシック" charset="0"/>
                <a:cs typeface="Arial"/>
              </a:rPr>
              <a:t>Liderar el diseño, implementación y optimización de soluciones tecnológicas y operativas para procesos de </a:t>
            </a:r>
            <a:r>
              <a:rPr lang="es-MX" sz="1200" err="1">
                <a:solidFill>
                  <a:prstClr val="black"/>
                </a:solidFill>
                <a:latin typeface="Calibri Light" panose="020F0302020204030204"/>
                <a:ea typeface="ＭＳ Ｐゴシック" charset="0"/>
                <a:cs typeface="Arial"/>
              </a:rPr>
              <a:t>backoffice</a:t>
            </a:r>
            <a:r>
              <a:rPr lang="es-MX" sz="1200">
                <a:solidFill>
                  <a:prstClr val="black"/>
                </a:solidFill>
                <a:latin typeface="Calibri Light" panose="020F0302020204030204"/>
                <a:ea typeface="ＭＳ Ｐゴシック" charset="0"/>
                <a:cs typeface="Arial"/>
              </a:rPr>
              <a:t>, asegurando eficiencia, calidad y cumplimiento normativo. Actuar como enlace entre áreas de negocio, TI y proveedores para garantizar la integración y mejora continua de los sistemas que soportan operaciones internas. </a:t>
            </a:r>
          </a:p>
          <a:p>
            <a:pPr>
              <a:defRPr/>
            </a:pPr>
            <a:endParaRPr lang="es-MX" sz="1200">
              <a:solidFill>
                <a:prstClr val="black"/>
              </a:solidFill>
              <a:latin typeface="Calibri" panose="020F0502020204030204"/>
            </a:endParaRPr>
          </a:p>
          <a:p>
            <a:pPr indent="0">
              <a:buNone/>
              <a:defRPr/>
            </a:pPr>
            <a:r>
              <a:rPr lang="es-MX" sz="1200" b="1"/>
              <a:t>Responsabilidades </a:t>
            </a:r>
          </a:p>
          <a:p>
            <a:pPr marL="174625" indent="-174625" defTabSz="457200">
              <a:buFont typeface="+mj-lt"/>
              <a:buAutoNum type="arabicPeriod"/>
              <a:defRPr/>
            </a:pPr>
            <a:r>
              <a:rPr lang="es-MX" sz="1100" b="1">
                <a:solidFill>
                  <a:prstClr val="black"/>
                </a:solidFill>
                <a:latin typeface="+mn-lt"/>
                <a:ea typeface="ＭＳ Ｐゴシック"/>
              </a:rPr>
              <a:t>Definir la estrategia de soluciones </a:t>
            </a:r>
            <a:r>
              <a:rPr lang="es-MX" sz="1100" b="1" err="1">
                <a:solidFill>
                  <a:prstClr val="black"/>
                </a:solidFill>
                <a:latin typeface="+mn-lt"/>
                <a:ea typeface="ＭＳ Ｐゴシック"/>
              </a:rPr>
              <a:t>backoffice</a:t>
            </a:r>
            <a:r>
              <a:rPr lang="es-MX" sz="1100" b="1">
                <a:solidFill>
                  <a:prstClr val="black"/>
                </a:solidFill>
                <a:latin typeface="+mn-lt"/>
                <a:ea typeface="ＭＳ Ｐゴシック"/>
              </a:rPr>
              <a:t> mediante análisis de necesidades del negocio y tendencias tecnológicas para garantizar la alineación con los objetivos corporativos.</a:t>
            </a:r>
          </a:p>
          <a:p>
            <a:pPr marL="174625" indent="-174625" defTabSz="457200">
              <a:buFont typeface="+mj-lt"/>
              <a:buAutoNum type="arabicPeriod"/>
              <a:defRPr/>
            </a:pPr>
            <a:r>
              <a:rPr lang="es-MX" sz="1100" b="1">
                <a:solidFill>
                  <a:prstClr val="black"/>
                </a:solidFill>
                <a:latin typeface="+mn-lt"/>
                <a:ea typeface="ＭＳ Ｐゴシック"/>
              </a:rPr>
              <a:t>Establecer alternativas de solución confiables y ágiles </a:t>
            </a:r>
            <a:r>
              <a:rPr lang="es-MX" sz="1100">
                <a:solidFill>
                  <a:prstClr val="black"/>
                </a:solidFill>
                <a:latin typeface="+mn-lt"/>
                <a:ea typeface="ＭＳ Ｐゴシック"/>
              </a:rPr>
              <a:t>a través de mecanismos de comunicación efectivos con </a:t>
            </a:r>
            <a:r>
              <a:rPr lang="es-MX" sz="1100" err="1">
                <a:solidFill>
                  <a:prstClr val="black"/>
                </a:solidFill>
                <a:latin typeface="+mn-lt"/>
                <a:ea typeface="ＭＳ Ｐゴシック"/>
              </a:rPr>
              <a:t>stakeholders</a:t>
            </a:r>
            <a:r>
              <a:rPr kumimoji="0" lang="es-MX" sz="1100" i="0" u="none" strike="noStrike" kern="1200" cap="none" spc="0" normalizeH="0" baseline="0" noProof="0">
                <a:ln>
                  <a:noFill/>
                </a:ln>
                <a:solidFill>
                  <a:prstClr val="black"/>
                </a:solidFill>
                <a:effectLst/>
                <a:uLnTx/>
                <a:uFillTx/>
                <a:latin typeface="+mn-lt"/>
                <a:ea typeface="ＭＳ Ｐゴシック"/>
                <a:cs typeface="Arial"/>
              </a:rPr>
              <a:t> internos y externos</a:t>
            </a:r>
            <a:r>
              <a:rPr lang="es-MX" sz="1100" b="1">
                <a:solidFill>
                  <a:prstClr val="black"/>
                </a:solidFill>
                <a:latin typeface="+mn-lt"/>
                <a:ea typeface="ＭＳ Ｐゴシック"/>
              </a:rPr>
              <a:t>, </a:t>
            </a:r>
            <a:r>
              <a:rPr kumimoji="0" lang="es-MX" sz="1100" b="0" i="0" u="none" strike="noStrike" kern="1200" cap="none" spc="0" normalizeH="0" baseline="0" noProof="0">
                <a:ln>
                  <a:noFill/>
                </a:ln>
                <a:solidFill>
                  <a:prstClr val="black"/>
                </a:solidFill>
                <a:effectLst/>
                <a:uLnTx/>
                <a:uFillTx/>
                <a:latin typeface="+mn-lt"/>
                <a:ea typeface="ＭＳ Ｐゴシック"/>
                <a:cs typeface="Arial"/>
              </a:rPr>
              <a:t> que permitan colaborar para el cumplimiento de expectativas clave del negocio.</a:t>
            </a:r>
            <a:endParaRPr lang="es-MX" sz="1100" b="0" i="0" u="none" strike="noStrike" kern="1200" cap="none" spc="0" normalizeH="0" baseline="0" noProof="0">
              <a:ln>
                <a:noFill/>
              </a:ln>
              <a:solidFill>
                <a:prstClr val="black"/>
              </a:solidFill>
              <a:effectLst/>
              <a:uLnTx/>
              <a:uFillTx/>
              <a:latin typeface="+mn-lt"/>
              <a:ea typeface="ＭＳ Ｐゴシック"/>
              <a:cs typeface="Arial"/>
            </a:endParaRP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lang="es-MX" sz="1100" b="1">
                <a:solidFill>
                  <a:prstClr val="black"/>
                </a:solidFill>
                <a:latin typeface="+mn-lt"/>
              </a:rPr>
              <a:t>Alineación de negocio para priorización de iniciativas considerando la viabilidad en aspectos tecnológicos: </a:t>
            </a:r>
            <a:r>
              <a:rPr lang="es-MX" sz="1100">
                <a:solidFill>
                  <a:prstClr val="black"/>
                </a:solidFill>
                <a:latin typeface="+mn-lt"/>
              </a:rPr>
              <a:t>establecer criterios de valor, costo, riesgo y velocidad para maximizar el valor de las soluciones propuestas a través de análisis de alternativas, interacción con líderes de iniciativas de Tienda y comerciales y alineación con los objetivos del negocio y recursos definidos.  </a:t>
            </a:r>
          </a:p>
          <a:p>
            <a:pPr marL="174625" indent="-174625" defTabSz="457200">
              <a:buFont typeface="+mj-lt"/>
              <a:buAutoNum type="arabicPeriod"/>
              <a:defRPr/>
            </a:pPr>
            <a:r>
              <a:rPr lang="es-MX" sz="1100" b="1">
                <a:solidFill>
                  <a:prstClr val="black"/>
                </a:solidFill>
                <a:latin typeface="+mn-lt"/>
                <a:ea typeface="ＭＳ Ｐゴシック"/>
              </a:rPr>
              <a:t>Administrar de manera efectiva el presupuesto asignado a las soluciones TI </a:t>
            </a:r>
            <a:r>
              <a:rPr lang="es-MX" sz="1100">
                <a:solidFill>
                  <a:prstClr val="black"/>
                </a:solidFill>
                <a:latin typeface="+mn-lt"/>
                <a:ea typeface="ＭＳ Ｐゴシック"/>
              </a:rPr>
              <a:t>brindando seguimiento a la inversión realizada de las iniciativas y estableciendo mediciones periódicas que permitan mantener el uso eficiente de los recursos y retorno de inversión. </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lang="es-MX" sz="1100" b="1">
                <a:solidFill>
                  <a:prstClr val="black"/>
                </a:solidFill>
                <a:latin typeface="+mn-lt"/>
                <a:ea typeface="ＭＳ Ｐゴシック"/>
              </a:rPr>
              <a:t>Optimización de procesos: </a:t>
            </a:r>
            <a:r>
              <a:rPr lang="es-MX" sz="1100">
                <a:solidFill>
                  <a:prstClr val="black"/>
                </a:solidFill>
                <a:latin typeface="+mn-lt"/>
                <a:ea typeface="ＭＳ Ｐゴシック"/>
              </a:rPr>
              <a:t>analizar puntos de fricción en la operación y proponer soluciones digitales que se alineen a propiciar agilidad para los colaboradores que operan las soluciones, así como, </a:t>
            </a:r>
            <a:r>
              <a:rPr lang="es-MX" sz="1100">
                <a:solidFill>
                  <a:prstClr val="black"/>
                </a:solidFill>
                <a:highlight>
                  <a:srgbClr val="FFFF00"/>
                </a:highlight>
                <a:latin typeface="+mn-lt"/>
                <a:ea typeface="ＭＳ Ｐゴシック"/>
              </a:rPr>
              <a:t>contribuir a la experiencia del cliente</a:t>
            </a:r>
            <a:r>
              <a:rPr lang="es-MX" sz="1100">
                <a:solidFill>
                  <a:prstClr val="black"/>
                </a:solidFill>
                <a:latin typeface="+mn-lt"/>
                <a:ea typeface="ＭＳ Ｐゴシック"/>
              </a:rPr>
              <a:t>. </a:t>
            </a:r>
            <a:r>
              <a:rPr lang="es-MX" sz="1100" i="1">
                <a:solidFill>
                  <a:srgbClr val="C00000"/>
                </a:solidFill>
                <a:latin typeface="+mn-lt"/>
                <a:ea typeface="ＭＳ Ｐゴシック"/>
              </a:rPr>
              <a:t>(cómo conecta con Excelencia Operativa)</a:t>
            </a:r>
            <a:r>
              <a:rPr lang="es-MX" sz="1100" i="1">
                <a:solidFill>
                  <a:prstClr val="black"/>
                </a:solidFill>
                <a:latin typeface="+mn-lt"/>
                <a:ea typeface="ＭＳ Ｐゴシック"/>
              </a:rPr>
              <a:t>.</a:t>
            </a:r>
            <a:endParaRPr lang="es-MX" sz="1100">
              <a:solidFill>
                <a:prstClr val="black"/>
              </a:solidFill>
              <a:latin typeface="+mn-lt"/>
              <a:ea typeface="ＭＳ Ｐゴシック"/>
            </a:endParaRPr>
          </a:p>
          <a:p>
            <a:pPr marL="174625" indent="-174625" defTabSz="457200">
              <a:buFont typeface="+mj-lt"/>
              <a:buAutoNum type="arabicPeriod"/>
              <a:defRPr/>
            </a:pPr>
            <a:r>
              <a:rPr lang="es-MX" sz="1100" b="1">
                <a:solidFill>
                  <a:prstClr val="black"/>
                </a:solidFill>
                <a:latin typeface="+mn-lt"/>
                <a:ea typeface="ＭＳ Ｐゴシック"/>
              </a:rPr>
              <a:t>Participa en la evaluación y emite comentarios de TI sobre soluciones propuestas</a:t>
            </a:r>
            <a:r>
              <a:rPr lang="es-MX" sz="1100">
                <a:solidFill>
                  <a:prstClr val="black"/>
                </a:solidFill>
                <a:latin typeface="+mn-lt"/>
                <a:ea typeface="ＭＳ Ｐゴシック"/>
              </a:rPr>
              <a:t>,  evaluando desempeño y asegurando el cumplimiento de SLA que aseguren costos competitivos y entregas en tiempo. 	</a:t>
            </a:r>
            <a:r>
              <a:rPr lang="es-MX" sz="1100" i="1">
                <a:solidFill>
                  <a:srgbClr val="C00000"/>
                </a:solidFill>
                <a:latin typeface="+mn-lt"/>
                <a:ea typeface="ＭＳ Ｐゴシック"/>
              </a:rPr>
              <a:t>Equipo funcional ve demo y da input</a:t>
            </a:r>
            <a:r>
              <a:rPr lang="es-MX" sz="1100">
                <a:solidFill>
                  <a:srgbClr val="C00000"/>
                </a:solidFill>
                <a:latin typeface="+mn-lt"/>
                <a:ea typeface="ＭＳ Ｐゴシック"/>
              </a:rPr>
              <a:t>, TI evalúa diseño, capacidad y flexibilidad para adaptarse e integración con sistema, DOTI Simón G. evalúan, </a:t>
            </a:r>
            <a:r>
              <a:rPr lang="es-MX" sz="1100" i="1">
                <a:solidFill>
                  <a:srgbClr val="C00000"/>
                </a:solidFill>
                <a:latin typeface="+mn-lt"/>
                <a:ea typeface="ＭＳ Ｐゴシック"/>
              </a:rPr>
              <a:t>e</a:t>
            </a:r>
            <a:r>
              <a:rPr lang="es-MX" sz="1100" i="1">
                <a:solidFill>
                  <a:srgbClr val="C00000"/>
                </a:solidFill>
                <a:ea typeface="ＭＳ Ｐゴシック"/>
              </a:rPr>
              <a:t>valuación económica lo realiza abastecimientos conjunta punto de vista deciden. </a:t>
            </a:r>
            <a:endParaRPr lang="es-MX" sz="1100">
              <a:solidFill>
                <a:srgbClr val="C00000"/>
              </a:solidFill>
              <a:latin typeface="+mn-lt"/>
              <a:ea typeface="ＭＳ Ｐゴシック"/>
            </a:endParaRPr>
          </a:p>
          <a:p>
            <a:pPr marL="174625" indent="-174625" defTabSz="457200">
              <a:buFont typeface="+mj-lt"/>
              <a:buAutoNum type="arabicPeriod"/>
              <a:defRPr/>
            </a:pPr>
            <a:r>
              <a:rPr lang="es-MX" sz="1100" b="1">
                <a:solidFill>
                  <a:prstClr val="black"/>
                </a:solidFill>
                <a:latin typeface="+mn-lt"/>
                <a:ea typeface="ＭＳ Ｐゴシック"/>
              </a:rPr>
              <a:t>Impulsar la innovación y mejora continua </a:t>
            </a:r>
            <a:r>
              <a:rPr lang="es-MX" sz="1100">
                <a:solidFill>
                  <a:prstClr val="black"/>
                </a:solidFill>
                <a:latin typeface="+mn-lt"/>
                <a:ea typeface="ＭＳ Ｐゴシック"/>
              </a:rPr>
              <a:t>identificando prácticas en la industria, tendencias y nuevas herramientas y metodologías relacionadas a soluciones de tecnología que generen una ventaja competitiva.</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Monitorear indicadores de desempeño </a:t>
            </a:r>
            <a:r>
              <a:rPr kumimoji="0" lang="es-MX"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utilizando herramientas de análisis y reportes periódicos para garantizar el cumplimiento de objetivos y mejora continua.</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kumimoji="0" lang="es-MX"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Asegurar el cumplimiento normativo </a:t>
            </a:r>
            <a:r>
              <a:rPr kumimoji="0" lang="es-MX"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mediante revisión de políticas internas y regulaciones externas para mitigar riesgos y mantener la integridad operativa.</a:t>
            </a:r>
            <a:endParaRPr lang="es-MX" sz="1100">
              <a:solidFill>
                <a:prstClr val="black"/>
              </a:solidFill>
              <a:latin typeface="+mn-lt"/>
              <a:ea typeface="ＭＳ Ｐゴシック"/>
            </a:endParaRPr>
          </a:p>
          <a:p>
            <a:pPr marL="174625" indent="-174625" defTabSz="457200">
              <a:buAutoNum type="arabicPeriod"/>
              <a:defRPr/>
            </a:pPr>
            <a:r>
              <a:rPr lang="es-MX" sz="1100" b="1">
                <a:solidFill>
                  <a:prstClr val="black"/>
                </a:solidFill>
                <a:latin typeface="Calibri"/>
                <a:ea typeface="ＭＳ Ｐゴシック"/>
              </a:rPr>
              <a:t>Contribuir de manera proactiva en las definiciones del marco tecnológico, las herramientas, la arquitectura</a:t>
            </a:r>
            <a:r>
              <a:rPr lang="es-MX" sz="1100">
                <a:solidFill>
                  <a:prstClr val="black"/>
                </a:solidFill>
                <a:latin typeface="Calibri"/>
                <a:ea typeface="ＭＳ Ｐゴシック"/>
              </a:rPr>
              <a:t> del ecosistema del producto o iniciativa, priorizando las soluciones óptimas, garantizando la escalabilidad, estabilidad, sostenibilidad, seguridad y operación de las soluciones, dentro de la expectativa de time </a:t>
            </a:r>
            <a:r>
              <a:rPr lang="es-MX" sz="1100" err="1">
                <a:solidFill>
                  <a:prstClr val="black"/>
                </a:solidFill>
                <a:latin typeface="Calibri"/>
                <a:ea typeface="ＭＳ Ｐゴシック"/>
              </a:rPr>
              <a:t>to</a:t>
            </a:r>
            <a:r>
              <a:rPr lang="es-MX" sz="1100">
                <a:solidFill>
                  <a:prstClr val="black"/>
                </a:solidFill>
                <a:latin typeface="Calibri"/>
                <a:ea typeface="ＭＳ Ｐゴシック"/>
              </a:rPr>
              <a:t> </a:t>
            </a:r>
            <a:r>
              <a:rPr lang="es-MX" sz="1100" err="1">
                <a:solidFill>
                  <a:prstClr val="black"/>
                </a:solidFill>
                <a:latin typeface="Calibri"/>
                <a:ea typeface="ＭＳ Ｐゴシック"/>
              </a:rPr>
              <a:t>market</a:t>
            </a:r>
            <a:r>
              <a:rPr lang="es-MX" sz="1100">
                <a:solidFill>
                  <a:prstClr val="black"/>
                </a:solidFill>
                <a:latin typeface="Calibri"/>
                <a:ea typeface="ＭＳ Ｐゴシック"/>
              </a:rPr>
              <a:t> y agilidad.</a:t>
            </a:r>
          </a:p>
          <a:p>
            <a:pPr marL="174625" marR="0" lvl="0" indent="-174625" algn="just" defTabSz="457200" rtl="0" eaLnBrk="1" fontAlgn="base" latinLnBrk="0" hangingPunct="1">
              <a:lnSpc>
                <a:spcPct val="100000"/>
              </a:lnSpc>
              <a:spcBef>
                <a:spcPct val="20000"/>
              </a:spcBef>
              <a:spcAft>
                <a:spcPct val="0"/>
              </a:spcAft>
              <a:buClr>
                <a:srgbClr val="840E27"/>
              </a:buClr>
              <a:buSzTx/>
              <a:buFont typeface="+mj-lt"/>
              <a:buAutoNum type="arabicPeriod"/>
              <a:tabLst/>
              <a:defRPr/>
            </a:pPr>
            <a:r>
              <a:rPr lang="es-MX" sz="1100" b="1">
                <a:solidFill>
                  <a:prstClr val="black"/>
                </a:solidFill>
                <a:latin typeface="+mn-lt"/>
                <a:ea typeface="ＭＳ Ｐゴシック"/>
              </a:rPr>
              <a:t>Fomenta y colabora con las áreas </a:t>
            </a:r>
            <a:r>
              <a:rPr lang="es-MX" sz="1100" b="1">
                <a:solidFill>
                  <a:prstClr val="black"/>
                </a:solidFill>
                <a:ea typeface="ＭＳ Ｐゴシック"/>
              </a:rPr>
              <a:t>responsables para evolucionar, revisar eficiencias en </a:t>
            </a:r>
            <a:r>
              <a:rPr lang="es-MX" sz="1100" b="1">
                <a:solidFill>
                  <a:prstClr val="black"/>
                </a:solidFill>
                <a:latin typeface="+mn-lt"/>
                <a:ea typeface="ＭＳ Ｐゴシック"/>
              </a:rPr>
              <a:t>las soluciones en las Tiendas,</a:t>
            </a:r>
            <a:r>
              <a:rPr lang="es-MX" sz="1100">
                <a:solidFill>
                  <a:prstClr val="black"/>
                </a:solidFill>
                <a:latin typeface="+mn-lt"/>
                <a:ea typeface="ＭＳ Ｐゴシック"/>
              </a:rPr>
              <a:t> entregando lineamientos y desarrollando capacidades tecnológicas para asegurar el beneficio de la solución a corto y largo plazo. </a:t>
            </a:r>
            <a:endParaRPr lang="es-MX" sz="1100" b="1">
              <a:solidFill>
                <a:prstClr val="black"/>
              </a:solidFill>
              <a:latin typeface="+mn-lt"/>
              <a:ea typeface="ＭＳ Ｐゴシック"/>
            </a:endParaRPr>
          </a:p>
          <a:p>
            <a:pPr marR="0" lvl="0" algn="just" defTabSz="457200" rtl="0" eaLnBrk="1" fontAlgn="base" latinLnBrk="0" hangingPunct="1">
              <a:lnSpc>
                <a:spcPct val="100000"/>
              </a:lnSpc>
              <a:spcBef>
                <a:spcPct val="20000"/>
              </a:spcBef>
              <a:spcAft>
                <a:spcPct val="0"/>
              </a:spcAft>
              <a:buClr>
                <a:srgbClr val="840E27"/>
              </a:buClr>
              <a:buSzTx/>
              <a:tabLst/>
              <a:defRPr/>
            </a:pPr>
            <a:endParaRPr kumimoji="0" lang="es-MX" sz="1200" b="0" i="0" u="none" strike="noStrike" kern="1200" cap="none" spc="0" normalizeH="0" baseline="0" noProof="0">
              <a:ln>
                <a:noFill/>
              </a:ln>
              <a:solidFill>
                <a:prstClr val="black"/>
              </a:solidFill>
              <a:effectLst/>
              <a:uLnTx/>
              <a:uFillTx/>
              <a:latin typeface="Calibri Light" panose="020F0302020204030204"/>
              <a:ea typeface="ＭＳ Ｐゴシック" charset="0"/>
              <a:cs typeface="Arial"/>
            </a:endParaRPr>
          </a:p>
        </p:txBody>
      </p:sp>
      <p:sp>
        <p:nvSpPr>
          <p:cNvPr id="4" name="Título 3">
            <a:extLst>
              <a:ext uri="{FF2B5EF4-FFF2-40B4-BE49-F238E27FC236}">
                <a16:creationId xmlns:a16="http://schemas.microsoft.com/office/drawing/2014/main" id="{AED201DD-66CC-23E3-BDD9-16094502AFFB}"/>
              </a:ext>
            </a:extLst>
          </p:cNvPr>
          <p:cNvSpPr>
            <a:spLocks noGrp="1"/>
          </p:cNvSpPr>
          <p:nvPr>
            <p:ph type="title"/>
          </p:nvPr>
        </p:nvSpPr>
        <p:spPr/>
        <p:txBody>
          <a:bodyPr/>
          <a:lstStyle/>
          <a:p>
            <a:r>
              <a:rPr lang="es-ES"/>
              <a:t>Descripción de Puesto | Soluciones </a:t>
            </a:r>
            <a:r>
              <a:rPr lang="es-ES" err="1"/>
              <a:t>Backoffice</a:t>
            </a:r>
            <a:endParaRPr lang="es-MX"/>
          </a:p>
        </p:txBody>
      </p:sp>
      <p:sp>
        <p:nvSpPr>
          <p:cNvPr id="2" name="CuadroTexto 1">
            <a:extLst>
              <a:ext uri="{FF2B5EF4-FFF2-40B4-BE49-F238E27FC236}">
                <a16:creationId xmlns:a16="http://schemas.microsoft.com/office/drawing/2014/main" id="{C27BAC4B-896B-8F9A-87DD-0E111285B61D}"/>
              </a:ext>
            </a:extLst>
          </p:cNvPr>
          <p:cNvSpPr txBox="1"/>
          <p:nvPr/>
        </p:nvSpPr>
        <p:spPr>
          <a:xfrm>
            <a:off x="-66955" y="6459595"/>
            <a:ext cx="12192000" cy="646331"/>
          </a:xfrm>
          <a:prstGeom prst="rect">
            <a:avLst/>
          </a:prstGeom>
          <a:solidFill>
            <a:schemeClr val="accent2">
              <a:lumMod val="20000"/>
              <a:lumOff val="80000"/>
            </a:schemeClr>
          </a:solidFill>
        </p:spPr>
        <p:txBody>
          <a:bodyPr wrap="square" rtlCol="0">
            <a:spAutoFit/>
          </a:bodyPr>
          <a:lstStyle/>
          <a:p>
            <a:pPr marL="285750" indent="-285750">
              <a:buFont typeface="Arial" panose="020B0604020202020204" pitchFamily="34" charset="0"/>
              <a:buChar char="•"/>
            </a:pPr>
            <a:r>
              <a:rPr lang="es-ES" sz="1200" b="1" i="1">
                <a:latin typeface="Calibri" panose="020F0502020204030204" pitchFamily="34" charset="0"/>
                <a:cs typeface="Calibri" panose="020F0502020204030204" pitchFamily="34" charset="0"/>
              </a:rPr>
              <a:t>Propósito de puesto: </a:t>
            </a:r>
            <a:r>
              <a:rPr lang="es-ES" sz="1200" i="1">
                <a:latin typeface="Calibri" panose="020F0502020204030204" pitchFamily="34" charset="0"/>
                <a:cs typeface="Calibri" panose="020F0502020204030204" pitchFamily="34" charset="0"/>
              </a:rPr>
              <a:t>Razón de ser + contribución macro + valor agregado + a quién impacta.</a:t>
            </a:r>
            <a:endParaRPr lang="es-ES" sz="1200" b="1" i="1">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s-ES" sz="1200" b="1" i="1">
                <a:latin typeface="Calibri" panose="020F0502020204030204" pitchFamily="34" charset="0"/>
                <a:cs typeface="Calibri" panose="020F0502020204030204" pitchFamily="34" charset="0"/>
              </a:rPr>
              <a:t>Responsabilidades: </a:t>
            </a:r>
            <a:r>
              <a:rPr lang="es-ES" sz="1200" i="1">
                <a:latin typeface="Calibri" panose="020F0502020204030204" pitchFamily="34" charset="0"/>
                <a:cs typeface="Calibri" panose="020F0502020204030204" pitchFamily="34" charset="0"/>
              </a:rPr>
              <a:t>Debe responder cada contribución </a:t>
            </a:r>
            <a:r>
              <a:rPr lang="es-ES" sz="1200" b="1" i="1">
                <a:latin typeface="Calibri" panose="020F0502020204030204" pitchFamily="34" charset="0"/>
                <a:cs typeface="Calibri" panose="020F0502020204030204" pitchFamily="34" charset="0"/>
              </a:rPr>
              <a:t>¿Qué? </a:t>
            </a:r>
            <a:r>
              <a:rPr lang="es-ES" sz="1200" i="1">
                <a:latin typeface="Calibri" panose="020F0502020204030204" pitchFamily="34" charset="0"/>
                <a:cs typeface="Calibri" panose="020F0502020204030204" pitchFamily="34" charset="0"/>
              </a:rPr>
              <a:t>(acción – verbo y contexto) + </a:t>
            </a:r>
            <a:r>
              <a:rPr lang="es-ES" sz="1200" b="1" i="1">
                <a:latin typeface="Calibri" panose="020F0502020204030204" pitchFamily="34" charset="0"/>
                <a:cs typeface="Calibri" panose="020F0502020204030204" pitchFamily="34" charset="0"/>
              </a:rPr>
              <a:t>¿Cómo? </a:t>
            </a:r>
            <a:r>
              <a:rPr lang="es-ES" sz="1200" i="1">
                <a:latin typeface="Calibri" panose="020F0502020204030204" pitchFamily="34" charset="0"/>
                <a:cs typeface="Calibri" panose="020F0502020204030204" pitchFamily="34" charset="0"/>
              </a:rPr>
              <a:t>(medios, herramientas, procesos e interacciones); + </a:t>
            </a:r>
            <a:r>
              <a:rPr lang="es-ES" sz="1200" b="1" i="1">
                <a:latin typeface="Calibri" panose="020F0502020204030204" pitchFamily="34" charset="0"/>
                <a:cs typeface="Calibri" panose="020F0502020204030204" pitchFamily="34" charset="0"/>
              </a:rPr>
              <a:t>¿Para qué? </a:t>
            </a:r>
            <a:r>
              <a:rPr lang="es-ES" sz="1200" i="1">
                <a:latin typeface="Calibri" panose="020F0502020204030204" pitchFamily="34" charset="0"/>
                <a:cs typeface="Calibri" panose="020F0502020204030204" pitchFamily="34" charset="0"/>
              </a:rPr>
              <a:t>(propósito).</a:t>
            </a:r>
          </a:p>
          <a:p>
            <a:pPr marL="285750" indent="-285750">
              <a:buFont typeface="Arial" panose="020B0604020202020204" pitchFamily="34" charset="0"/>
              <a:buChar char="•"/>
            </a:pPr>
            <a:r>
              <a:rPr lang="es-ES" sz="1200" i="1">
                <a:latin typeface="Calibri" panose="020F0502020204030204" pitchFamily="34" charset="0"/>
                <a:cs typeface="Calibri" panose="020F0502020204030204" pitchFamily="34" charset="0"/>
              </a:rPr>
              <a:t>¿Qué roles de tu equipo intervienen en cada contribución? </a:t>
            </a:r>
            <a:endParaRPr lang="es-MX" sz="1200" i="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322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F1D06FE5-7F07-2D04-69DE-261CC6B68038}"/>
              </a:ext>
            </a:extLst>
          </p:cNvPr>
          <p:cNvSpPr txBox="1"/>
          <p:nvPr/>
        </p:nvSpPr>
        <p:spPr>
          <a:xfrm>
            <a:off x="570941" y="1495962"/>
            <a:ext cx="11050117" cy="3323987"/>
          </a:xfrm>
          <a:prstGeom prst="rect">
            <a:avLst/>
          </a:prstGeom>
          <a:noFill/>
        </p:spPr>
        <p:txBody>
          <a:bodyPr wrap="square">
            <a:spAutoFit/>
          </a:bodyPr>
          <a:lstStyle/>
          <a:p>
            <a:r>
              <a:rPr lang="es-MX" sz="1400" b="1" dirty="0"/>
              <a:t>Decisiones Relevantes del Puesto </a:t>
            </a:r>
          </a:p>
          <a:p>
            <a:pPr marL="285750" indent="-285750">
              <a:buFont typeface="Arial" panose="020B0604020202020204" pitchFamily="34" charset="0"/>
              <a:buChar char="•"/>
            </a:pPr>
            <a:r>
              <a:rPr lang="es-MX" sz="1400" dirty="0"/>
              <a:t>Evaluar costo-beneficio, compatibilidad con sistemas existentes y escalabilidad.</a:t>
            </a:r>
          </a:p>
          <a:p>
            <a:pPr marL="285750" indent="-285750">
              <a:buFont typeface="Arial" panose="020B0604020202020204" pitchFamily="34" charset="0"/>
              <a:buChar char="•"/>
            </a:pPr>
            <a:r>
              <a:rPr lang="es-MX" sz="1400" dirty="0"/>
              <a:t>Analizar impacto en procesos críticos, recursos disponibles y riesgos.</a:t>
            </a:r>
          </a:p>
          <a:p>
            <a:pPr marL="285750" indent="-285750">
              <a:buFont typeface="Arial" panose="020B0604020202020204" pitchFamily="34" charset="0"/>
              <a:buChar char="•"/>
            </a:pPr>
            <a:r>
              <a:rPr lang="es-MX" sz="1400" dirty="0"/>
              <a:t>Elegir y negociar con proveedores de tecnología y servicios.</a:t>
            </a:r>
          </a:p>
          <a:p>
            <a:pPr marL="285750" indent="-285750">
              <a:buFont typeface="Arial" panose="020B0604020202020204" pitchFamily="34" charset="0"/>
              <a:buChar char="•"/>
            </a:pPr>
            <a:r>
              <a:rPr lang="es-MX" sz="1400" dirty="0"/>
              <a:t>Decidir qué procesos pueden automatizarse y con qué herramientas.</a:t>
            </a:r>
          </a:p>
          <a:p>
            <a:endParaRPr lang="es-MX" sz="1400" b="1" dirty="0"/>
          </a:p>
          <a:p>
            <a:r>
              <a:rPr lang="es-MX" sz="1400" b="1" dirty="0"/>
              <a:t>Principales Retos del Puesto </a:t>
            </a:r>
          </a:p>
          <a:p>
            <a:pPr marL="285750" indent="-285750">
              <a:buFont typeface="Arial" panose="020B0604020202020204" pitchFamily="34" charset="0"/>
              <a:buChar char="•"/>
            </a:pPr>
            <a:r>
              <a:rPr lang="es-MX" sz="1400" dirty="0"/>
              <a:t>Conectividad entre distintas herramientas/aplicaciones. </a:t>
            </a:r>
          </a:p>
          <a:p>
            <a:pPr marL="285750" indent="-285750">
              <a:buFont typeface="Arial" panose="020B0604020202020204" pitchFamily="34" charset="0"/>
              <a:buChar char="•"/>
            </a:pPr>
            <a:r>
              <a:rPr lang="es-MX" sz="1400" dirty="0"/>
              <a:t>Proteger información sensible y cumplir normativas. </a:t>
            </a:r>
          </a:p>
          <a:p>
            <a:pPr marL="285750" indent="-285750">
              <a:buFont typeface="Arial" panose="020B0604020202020204" pitchFamily="34" charset="0"/>
              <a:buChar char="•"/>
            </a:pPr>
            <a:r>
              <a:rPr lang="es-MX" sz="1400" dirty="0"/>
              <a:t>Asegurar soporte confiable y seguimiento a </a:t>
            </a:r>
            <a:r>
              <a:rPr lang="es-MX" sz="1400" dirty="0" err="1"/>
              <a:t>SLAs</a:t>
            </a:r>
            <a:endParaRPr lang="es-MX" sz="1400" dirty="0"/>
          </a:p>
          <a:p>
            <a:pPr marL="285750" indent="-285750">
              <a:buFont typeface="Arial" panose="020B0604020202020204" pitchFamily="34" charset="0"/>
              <a:buChar char="•"/>
            </a:pPr>
            <a:r>
              <a:rPr lang="es-MX" sz="1400" dirty="0"/>
              <a:t>Implementar nuevas tecnologías para retos actuales y futuras del negocio</a:t>
            </a:r>
          </a:p>
          <a:p>
            <a:pPr marL="285750" indent="-285750">
              <a:buFont typeface="Arial" panose="020B0604020202020204" pitchFamily="34" charset="0"/>
              <a:buChar char="•"/>
            </a:pPr>
            <a:r>
              <a:rPr lang="es-MX" sz="1400" dirty="0"/>
              <a:t>Evaluar costo-beneficio de las soluciones.</a:t>
            </a:r>
          </a:p>
          <a:p>
            <a:endParaRPr lang="es-MX" sz="1400" dirty="0"/>
          </a:p>
          <a:p>
            <a:endParaRPr lang="es-MX" sz="1400" dirty="0"/>
          </a:p>
          <a:p>
            <a:pPr marL="0" indent="0">
              <a:lnSpc>
                <a:spcPct val="100000"/>
              </a:lnSpc>
              <a:spcBef>
                <a:spcPts val="0"/>
              </a:spcBef>
              <a:buNone/>
              <a:defRPr/>
            </a:pPr>
            <a:endParaRPr lang="es-MX" sz="1400" dirty="0">
              <a:solidFill>
                <a:prstClr val="black"/>
              </a:solidFill>
              <a:latin typeface="Calibri" panose="020F0502020204030204"/>
            </a:endParaRPr>
          </a:p>
        </p:txBody>
      </p:sp>
      <p:sp>
        <p:nvSpPr>
          <p:cNvPr id="4" name="Título 3">
            <a:extLst>
              <a:ext uri="{FF2B5EF4-FFF2-40B4-BE49-F238E27FC236}">
                <a16:creationId xmlns:a16="http://schemas.microsoft.com/office/drawing/2014/main" id="{AED201DD-66CC-23E3-BDD9-16094502AFFB}"/>
              </a:ext>
            </a:extLst>
          </p:cNvPr>
          <p:cNvSpPr>
            <a:spLocks noGrp="1"/>
          </p:cNvSpPr>
          <p:nvPr>
            <p:ph type="title"/>
          </p:nvPr>
        </p:nvSpPr>
        <p:spPr/>
        <p:txBody>
          <a:bodyPr/>
          <a:lstStyle/>
          <a:p>
            <a:r>
              <a:rPr lang="es-ES"/>
              <a:t>Descripción de Puesto | Soluciones </a:t>
            </a:r>
            <a:r>
              <a:rPr lang="es-ES" err="1"/>
              <a:t>Backoffice</a:t>
            </a:r>
            <a:endParaRPr lang="es-MX"/>
          </a:p>
        </p:txBody>
      </p:sp>
    </p:spTree>
    <p:extLst>
      <p:ext uri="{BB962C8B-B14F-4D97-AF65-F5344CB8AC3E}">
        <p14:creationId xmlns:p14="http://schemas.microsoft.com/office/powerpoint/2010/main" val="29696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7583-2F79-C5C6-E61A-5228EA8134C9}"/>
            </a:ext>
          </a:extLst>
        </p:cNvPr>
        <p:cNvGrpSpPr/>
        <p:nvPr/>
      </p:nvGrpSpPr>
      <p:grpSpPr>
        <a:xfrm>
          <a:off x="0" y="0"/>
          <a:ext cx="0" cy="0"/>
          <a:chOff x="0" y="0"/>
          <a:chExt cx="0" cy="0"/>
        </a:xfrm>
      </p:grpSpPr>
      <p:sp>
        <p:nvSpPr>
          <p:cNvPr id="206" name="Título 1">
            <a:extLst>
              <a:ext uri="{FF2B5EF4-FFF2-40B4-BE49-F238E27FC236}">
                <a16:creationId xmlns:a16="http://schemas.microsoft.com/office/drawing/2014/main" id="{167A64BB-1818-37AB-F05C-5AC75C78ED19}"/>
              </a:ext>
            </a:extLst>
          </p:cNvPr>
          <p:cNvSpPr txBox="1">
            <a:spLocks/>
          </p:cNvSpPr>
          <p:nvPr/>
        </p:nvSpPr>
        <p:spPr>
          <a:xfrm>
            <a:off x="368643" y="127622"/>
            <a:ext cx="9393357" cy="92852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s-MX" sz="2800" b="1" i="0" u="none" strike="noStrike" kern="1200" cap="none" spc="0" normalizeH="0" baseline="0" noProof="0">
                <a:ln>
                  <a:noFill/>
                </a:ln>
                <a:solidFill>
                  <a:srgbClr val="000000"/>
                </a:solidFill>
                <a:effectLst/>
                <a:uLnTx/>
                <a:uFillTx/>
                <a:latin typeface="Open Sans"/>
                <a:ea typeface="+mj-ea"/>
                <a:cs typeface="+mj-cs"/>
              </a:rPr>
              <a:t>Principales Contribuciones</a:t>
            </a:r>
            <a:br>
              <a:rPr kumimoji="0" lang="es-MX" sz="2800" b="1" i="0" u="none" strike="noStrike" kern="1200" cap="none" spc="0" normalizeH="0" baseline="0" noProof="0">
                <a:ln>
                  <a:noFill/>
                </a:ln>
                <a:solidFill>
                  <a:srgbClr val="000000"/>
                </a:solidFill>
                <a:effectLst/>
                <a:uLnTx/>
                <a:uFillTx/>
                <a:latin typeface="Open Sans"/>
                <a:ea typeface="+mj-ea"/>
                <a:cs typeface="+mj-cs"/>
              </a:rPr>
            </a:br>
            <a:r>
              <a:rPr kumimoji="0" lang="es-ES" sz="1800" b="0" i="0" u="none" strike="noStrike" kern="1200" cap="none" spc="0" normalizeH="0" baseline="0" noProof="0">
                <a:ln>
                  <a:noFill/>
                </a:ln>
                <a:solidFill>
                  <a:srgbClr val="000000"/>
                </a:solidFill>
                <a:effectLst/>
                <a:uLnTx/>
                <a:uFillTx/>
                <a:latin typeface="Open Sans"/>
                <a:ea typeface="+mj-ea"/>
                <a:cs typeface="+mj-cs"/>
              </a:rPr>
              <a:t>Soluciones </a:t>
            </a:r>
            <a:r>
              <a:rPr kumimoji="0" lang="es-ES" sz="1800" b="0" i="0" u="none" strike="noStrike" kern="1200" cap="none" spc="0" normalizeH="0" baseline="0" noProof="0" err="1">
                <a:ln>
                  <a:noFill/>
                </a:ln>
                <a:solidFill>
                  <a:srgbClr val="000000"/>
                </a:solidFill>
                <a:effectLst/>
                <a:uLnTx/>
                <a:uFillTx/>
                <a:latin typeface="Open Sans"/>
                <a:ea typeface="+mj-ea"/>
                <a:cs typeface="+mj-cs"/>
              </a:rPr>
              <a:t>Backoffice</a:t>
            </a:r>
            <a:endParaRPr kumimoji="0" lang="es-MX" sz="2800" b="0" i="0" u="none" strike="noStrike" kern="1200" cap="none" spc="0" normalizeH="0" baseline="0" noProof="0">
              <a:ln>
                <a:noFill/>
              </a:ln>
              <a:solidFill>
                <a:srgbClr val="000000"/>
              </a:solidFill>
              <a:effectLst/>
              <a:uLnTx/>
              <a:uFillTx/>
              <a:latin typeface="Open Sans"/>
              <a:ea typeface="+mj-ea"/>
              <a:cs typeface="+mj-cs"/>
            </a:endParaRPr>
          </a:p>
        </p:txBody>
      </p:sp>
      <p:pic>
        <p:nvPicPr>
          <p:cNvPr id="6" name="Imagen 5">
            <a:hlinkClick r:id="rId3" action="ppaction://hlinksldjump"/>
            <a:extLst>
              <a:ext uri="{FF2B5EF4-FFF2-40B4-BE49-F238E27FC236}">
                <a16:creationId xmlns:a16="http://schemas.microsoft.com/office/drawing/2014/main" id="{14065D18-FCF0-B19D-2F54-4277A99E981A}"/>
              </a:ext>
            </a:extLst>
          </p:cNvPr>
          <p:cNvPicPr>
            <a:picLocks noChangeAspect="1"/>
          </p:cNvPicPr>
          <p:nvPr/>
        </p:nvPicPr>
        <p:blipFill>
          <a:blip r:embed="rId4"/>
          <a:stretch>
            <a:fillRect/>
          </a:stretch>
        </p:blipFill>
        <p:spPr>
          <a:xfrm>
            <a:off x="11653328" y="96838"/>
            <a:ext cx="314834" cy="314834"/>
          </a:xfrm>
          <a:prstGeom prst="rect">
            <a:avLst/>
          </a:prstGeom>
        </p:spPr>
      </p:pic>
      <p:sp>
        <p:nvSpPr>
          <p:cNvPr id="2" name="Rectángulo 1">
            <a:extLst>
              <a:ext uri="{FF2B5EF4-FFF2-40B4-BE49-F238E27FC236}">
                <a16:creationId xmlns:a16="http://schemas.microsoft.com/office/drawing/2014/main" id="{D6D73888-BA12-B225-80DF-0F6B50D9285F}"/>
              </a:ext>
            </a:extLst>
          </p:cNvPr>
          <p:cNvSpPr/>
          <p:nvPr/>
        </p:nvSpPr>
        <p:spPr>
          <a:xfrm>
            <a:off x="114191" y="2964990"/>
            <a:ext cx="2182289" cy="30574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s-ES" sz="900" dirty="0">
                <a:solidFill>
                  <a:sysClr val="windowText" lastClr="000000"/>
                </a:solidFill>
              </a:rPr>
              <a:t>Gestión de portafolio de Proyectos de Automatización de RH (para el 2026 se tiene un </a:t>
            </a:r>
            <a:r>
              <a:rPr lang="es-ES" sz="900" dirty="0" err="1">
                <a:solidFill>
                  <a:sysClr val="windowText" lastClr="000000"/>
                </a:solidFill>
              </a:rPr>
              <a:t>roadmap</a:t>
            </a:r>
            <a:r>
              <a:rPr lang="es-ES" sz="900" dirty="0">
                <a:solidFill>
                  <a:sysClr val="windowText" lastClr="000000"/>
                </a:solidFill>
              </a:rPr>
              <a:t> de automatizaciones ya definido).</a:t>
            </a:r>
          </a:p>
          <a:p>
            <a:pPr marL="171450" indent="-171450">
              <a:buFontTx/>
              <a:buChar char="-"/>
            </a:pPr>
            <a:r>
              <a:rPr lang="es-ES" sz="900" dirty="0">
                <a:solidFill>
                  <a:sysClr val="windowText" lastClr="000000"/>
                </a:solidFill>
              </a:rPr>
              <a:t>Otro </a:t>
            </a:r>
            <a:r>
              <a:rPr lang="es-ES" sz="900" dirty="0" err="1">
                <a:solidFill>
                  <a:sysClr val="windowText" lastClr="000000"/>
                </a:solidFill>
              </a:rPr>
              <a:t>track</a:t>
            </a:r>
            <a:r>
              <a:rPr lang="es-ES" sz="900" dirty="0">
                <a:solidFill>
                  <a:sysClr val="windowText" lastClr="000000"/>
                </a:solidFill>
              </a:rPr>
              <a:t> es, habilitar el proceso y herramientas para el equipo funcional evolucione a hacer el rol de </a:t>
            </a:r>
            <a:r>
              <a:rPr lang="es-ES" sz="900" dirty="0" err="1">
                <a:solidFill>
                  <a:sysClr val="windowText" lastClr="000000"/>
                </a:solidFill>
              </a:rPr>
              <a:t>citizen</a:t>
            </a:r>
            <a:r>
              <a:rPr lang="es-ES" sz="900" dirty="0">
                <a:solidFill>
                  <a:sysClr val="windowText" lastClr="000000"/>
                </a:solidFill>
              </a:rPr>
              <a:t> </a:t>
            </a:r>
            <a:r>
              <a:rPr lang="es-ES" sz="900" dirty="0" err="1">
                <a:solidFill>
                  <a:sysClr val="windowText" lastClr="000000"/>
                </a:solidFill>
              </a:rPr>
              <a:t>developer</a:t>
            </a:r>
            <a:r>
              <a:rPr lang="es-ES" sz="900" dirty="0">
                <a:solidFill>
                  <a:sysClr val="windowText" lastClr="000000"/>
                </a:solidFill>
              </a:rPr>
              <a:t> en RH</a:t>
            </a:r>
          </a:p>
          <a:p>
            <a:pPr marL="171450" indent="-171450">
              <a:buFontTx/>
              <a:buChar char="-"/>
            </a:pPr>
            <a:r>
              <a:rPr lang="es-ES" sz="900" dirty="0">
                <a:solidFill>
                  <a:sysClr val="windowText" lastClr="000000"/>
                </a:solidFill>
              </a:rPr>
              <a:t>Gestión del portafolio de Proyectos de Automatización de Administración y Finanzas (este año se inicia con atención a esta dirección, está en proceso de identificar las necesidades de automatización). En lo que va del año un proyecto ya está liberado en producción, un segundo proyecto está proceso de instalar en producción.</a:t>
            </a:r>
          </a:p>
          <a:p>
            <a:pPr marL="171450" indent="-171450">
              <a:buFontTx/>
              <a:buChar char="-"/>
            </a:pPr>
            <a:r>
              <a:rPr lang="es-MX" sz="900" dirty="0">
                <a:solidFill>
                  <a:sysClr val="windowText" lastClr="000000"/>
                </a:solidFill>
              </a:rPr>
              <a:t>De los mayores retos es, definir el modelo de soporte para este tipo de soluciones en conjunto con el equipo de operaciones TI</a:t>
            </a:r>
          </a:p>
        </p:txBody>
      </p:sp>
      <p:sp>
        <p:nvSpPr>
          <p:cNvPr id="55" name="Rectángulo 54">
            <a:extLst>
              <a:ext uri="{FF2B5EF4-FFF2-40B4-BE49-F238E27FC236}">
                <a16:creationId xmlns:a16="http://schemas.microsoft.com/office/drawing/2014/main" id="{C58B1E33-997B-D4A2-7C11-ED3E58DB5534}"/>
              </a:ext>
            </a:extLst>
          </p:cNvPr>
          <p:cNvSpPr/>
          <p:nvPr/>
        </p:nvSpPr>
        <p:spPr>
          <a:xfrm>
            <a:off x="2395825" y="2964990"/>
            <a:ext cx="2066784" cy="2563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s-MX" sz="900" dirty="0">
                <a:solidFill>
                  <a:sysClr val="windowText" lastClr="000000"/>
                </a:solidFill>
              </a:rPr>
              <a:t>Con enfoque a la gestión del Portafolio de la iniciativa de transformación FAST, los principales proyectos de este año son: FAST Activo Fijo (este proyecto toca tienda, almacén y región). FAST proceso de gestión de proveedores desde su alta hasta el pago. FAST Gastos de Viaje (decidir si se mantiene el portal actual o se implementa un producto de caja).</a:t>
            </a:r>
          </a:p>
          <a:p>
            <a:pPr marL="171450" indent="-171450">
              <a:buFontTx/>
              <a:buChar char="-"/>
            </a:pPr>
            <a:endParaRPr lang="es-MX" sz="900" dirty="0">
              <a:solidFill>
                <a:sysClr val="windowText" lastClr="000000"/>
              </a:solidFill>
            </a:endParaRPr>
          </a:p>
          <a:p>
            <a:pPr marL="171450" indent="-171450">
              <a:buFontTx/>
              <a:buChar char="-"/>
            </a:pPr>
            <a:r>
              <a:rPr lang="es-MX" sz="900" dirty="0">
                <a:solidFill>
                  <a:sysClr val="windowText" lastClr="000000"/>
                </a:solidFill>
              </a:rPr>
              <a:t>Para la atención de mejora continua del CSF, se activará una mini célula (2 recursos externos), tenemos un backlog de 5 mini proyectos</a:t>
            </a:r>
          </a:p>
        </p:txBody>
      </p:sp>
      <p:sp>
        <p:nvSpPr>
          <p:cNvPr id="59" name="Rectángulo 58">
            <a:extLst>
              <a:ext uri="{FF2B5EF4-FFF2-40B4-BE49-F238E27FC236}">
                <a16:creationId xmlns:a16="http://schemas.microsoft.com/office/drawing/2014/main" id="{F53AB2C2-D4BF-ADBB-C1E1-5FAF5E1A581F}"/>
              </a:ext>
            </a:extLst>
          </p:cNvPr>
          <p:cNvSpPr/>
          <p:nvPr/>
        </p:nvSpPr>
        <p:spPr>
          <a:xfrm>
            <a:off x="4715956" y="2964990"/>
            <a:ext cx="2034086" cy="2563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s-ES" sz="900" dirty="0">
                <a:solidFill>
                  <a:sysClr val="windowText" lastClr="000000"/>
                </a:solidFill>
              </a:rPr>
              <a:t>Portafolio de proyectos del BAU, este año se divide en 2: </a:t>
            </a:r>
          </a:p>
          <a:p>
            <a:pPr marL="171450" indent="-171450">
              <a:buFontTx/>
              <a:buChar char="-"/>
            </a:pPr>
            <a:r>
              <a:rPr lang="es-ES" sz="900" dirty="0">
                <a:solidFill>
                  <a:sysClr val="windowText" lastClr="000000"/>
                </a:solidFill>
              </a:rPr>
              <a:t>Proyectos de RH, migración de ICM (herramienta para el cálculo de la nómina), </a:t>
            </a:r>
            <a:r>
              <a:rPr lang="es-ES" sz="900" dirty="0" err="1">
                <a:solidFill>
                  <a:sysClr val="windowText" lastClr="000000"/>
                </a:solidFill>
              </a:rPr>
              <a:t>GoLive</a:t>
            </a:r>
            <a:r>
              <a:rPr lang="es-ES" sz="900" dirty="0">
                <a:solidFill>
                  <a:sysClr val="windowText" lastClr="000000"/>
                </a:solidFill>
              </a:rPr>
              <a:t> 1 en feb-2026, </a:t>
            </a:r>
            <a:r>
              <a:rPr lang="es-ES" sz="900" dirty="0" err="1">
                <a:solidFill>
                  <a:sysClr val="windowText" lastClr="000000"/>
                </a:solidFill>
              </a:rPr>
              <a:t>GoLive</a:t>
            </a:r>
            <a:r>
              <a:rPr lang="es-ES" sz="900" dirty="0">
                <a:solidFill>
                  <a:sysClr val="windowText" lastClr="000000"/>
                </a:solidFill>
              </a:rPr>
              <a:t> 2 Mar-2026. Proyecto de la nueva ley de reducción de jornada laboral (en diálogos iniciales), se tiene una expectativa de que para Oct-2026 se implemente lo que se defina como primer alcance.</a:t>
            </a:r>
          </a:p>
          <a:p>
            <a:pPr marL="171450" indent="-171450">
              <a:buFontTx/>
              <a:buChar char="-"/>
            </a:pPr>
            <a:r>
              <a:rPr lang="es-ES" sz="900" dirty="0">
                <a:solidFill>
                  <a:sysClr val="windowText" lastClr="000000"/>
                </a:solidFill>
              </a:rPr>
              <a:t>Proyectos de TI, proyecto de seguridad e infraestructura SADEL.</a:t>
            </a:r>
          </a:p>
          <a:p>
            <a:pPr marL="171450" indent="-171450">
              <a:buFontTx/>
              <a:buChar char="-"/>
            </a:pPr>
            <a:r>
              <a:rPr lang="es-ES" sz="900" dirty="0">
                <a:solidFill>
                  <a:sysClr val="windowText" lastClr="000000"/>
                </a:solidFill>
              </a:rPr>
              <a:t>En backlog la modernización de SADEL.</a:t>
            </a:r>
            <a:endParaRPr lang="es-MX" sz="900" dirty="0">
              <a:solidFill>
                <a:sysClr val="windowText" lastClr="000000"/>
              </a:solidFill>
            </a:endParaRPr>
          </a:p>
        </p:txBody>
      </p:sp>
      <p:sp>
        <p:nvSpPr>
          <p:cNvPr id="25" name="Rectángulo 24">
            <a:extLst>
              <a:ext uri="{FF2B5EF4-FFF2-40B4-BE49-F238E27FC236}">
                <a16:creationId xmlns:a16="http://schemas.microsoft.com/office/drawing/2014/main" id="{37DFF966-E99E-3A99-C228-498A6A9A6C31}"/>
              </a:ext>
            </a:extLst>
          </p:cNvPr>
          <p:cNvSpPr/>
          <p:nvPr/>
        </p:nvSpPr>
        <p:spPr>
          <a:xfrm>
            <a:off x="6874854" y="2964990"/>
            <a:ext cx="2277072" cy="25639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s-ES" sz="900" dirty="0">
                <a:solidFill>
                  <a:sysClr val="windowText" lastClr="000000"/>
                </a:solidFill>
              </a:rPr>
              <a:t>El alcance de la iniciativa FAST es amplio y tiene la más alta prioridad, debido a esto, los proyectos de FAST Ingresos están siendo atendidos por este TPO ( que van con su enfoque).</a:t>
            </a:r>
          </a:p>
          <a:p>
            <a:pPr marL="171450" indent="-171450">
              <a:buFontTx/>
              <a:buChar char="-"/>
            </a:pPr>
            <a:r>
              <a:rPr lang="es-ES" sz="900" dirty="0">
                <a:solidFill>
                  <a:sysClr val="windowText" lastClr="000000"/>
                </a:solidFill>
              </a:rPr>
              <a:t>El proyecto FAST ingresos comerciales se muy relevante, implica la transformación del proceso de punta a punta, así como la implementación de un nuevo producto tecnológico VISTEX</a:t>
            </a:r>
          </a:p>
          <a:p>
            <a:pPr marL="171450" indent="-171450">
              <a:buFontTx/>
              <a:buChar char="-"/>
            </a:pPr>
            <a:r>
              <a:rPr lang="es-ES" sz="900" dirty="0">
                <a:solidFill>
                  <a:sysClr val="windowText" lastClr="000000"/>
                </a:solidFill>
              </a:rPr>
              <a:t>Otro proceso que vamos a iniciar este año es la exploración de Herramientas para la gestión de los servicios financieros</a:t>
            </a:r>
          </a:p>
          <a:p>
            <a:pPr marL="171450" indent="-171450">
              <a:buFontTx/>
              <a:buChar char="-"/>
            </a:pPr>
            <a:r>
              <a:rPr lang="es-ES" sz="900" dirty="0">
                <a:solidFill>
                  <a:sysClr val="windowText" lastClr="000000"/>
                </a:solidFill>
              </a:rPr>
              <a:t>Por último, proyectos del BAU</a:t>
            </a:r>
            <a:endParaRPr lang="es-MX" sz="900" dirty="0">
              <a:solidFill>
                <a:sysClr val="windowText" lastClr="000000"/>
              </a:solidFill>
            </a:endParaRPr>
          </a:p>
        </p:txBody>
      </p:sp>
      <p:sp>
        <p:nvSpPr>
          <p:cNvPr id="26" name="Rectángulo 25">
            <a:extLst>
              <a:ext uri="{FF2B5EF4-FFF2-40B4-BE49-F238E27FC236}">
                <a16:creationId xmlns:a16="http://schemas.microsoft.com/office/drawing/2014/main" id="{B1857424-5815-9A63-24BF-16FC36953B9D}"/>
              </a:ext>
            </a:extLst>
          </p:cNvPr>
          <p:cNvSpPr/>
          <p:nvPr/>
        </p:nvSpPr>
        <p:spPr>
          <a:xfrm>
            <a:off x="9410732" y="2964990"/>
            <a:ext cx="2623595" cy="30574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s-ES" sz="900" dirty="0">
                <a:solidFill>
                  <a:sysClr val="windowText" lastClr="000000"/>
                </a:solidFill>
              </a:rPr>
              <a:t>Portafolio de proyectos regulatorios, de cumplimiento, son proyectos que requieren de atención inmediata porque surgen de necesidades como resultado de una autoría, de pedidos espaciales de entidades gubernamentales</a:t>
            </a:r>
          </a:p>
          <a:p>
            <a:pPr marL="171450" indent="-171450">
              <a:buFontTx/>
              <a:buChar char="-"/>
            </a:pPr>
            <a:r>
              <a:rPr lang="es-ES" sz="900" dirty="0">
                <a:solidFill>
                  <a:sysClr val="windowText" lastClr="000000"/>
                </a:solidFill>
              </a:rPr>
              <a:t>Este año está en proceso un proyecto que nos permitirá ser previsorios, automatización del proceso de la gestión de los permisos de tienda del área legal</a:t>
            </a:r>
          </a:p>
          <a:p>
            <a:pPr marL="171450" indent="-171450">
              <a:buFontTx/>
              <a:buChar char="-"/>
            </a:pPr>
            <a:r>
              <a:rPr lang="es-ES" sz="900" dirty="0">
                <a:solidFill>
                  <a:sysClr val="windowText" lastClr="000000"/>
                </a:solidFill>
              </a:rPr>
              <a:t>Un </a:t>
            </a:r>
            <a:r>
              <a:rPr lang="es-ES" sz="900" dirty="0" err="1">
                <a:solidFill>
                  <a:sysClr val="windowText" lastClr="000000"/>
                </a:solidFill>
              </a:rPr>
              <a:t>chatbot</a:t>
            </a:r>
            <a:r>
              <a:rPr lang="es-ES" sz="900" dirty="0">
                <a:solidFill>
                  <a:sysClr val="windowText" lastClr="000000"/>
                </a:solidFill>
              </a:rPr>
              <a:t> para fiscal, para facilitar el análisis de información</a:t>
            </a:r>
          </a:p>
          <a:p>
            <a:pPr marL="171450" indent="-171450">
              <a:buFontTx/>
              <a:buChar char="-"/>
            </a:pPr>
            <a:r>
              <a:rPr lang="es-ES" sz="900" dirty="0">
                <a:solidFill>
                  <a:sysClr val="windowText" lastClr="000000"/>
                </a:solidFill>
              </a:rPr>
              <a:t>Proyecto de remediación de vulnerabilidades de seguridad en flujo de información de tickets en la nube</a:t>
            </a:r>
          </a:p>
          <a:p>
            <a:pPr marL="171450" indent="-171450">
              <a:buFontTx/>
              <a:buChar char="-"/>
            </a:pPr>
            <a:r>
              <a:rPr lang="es-MX" sz="900" dirty="0">
                <a:solidFill>
                  <a:sysClr val="windowText" lastClr="000000"/>
                </a:solidFill>
              </a:rPr>
              <a:t>Participación en FAST con el proyecto de Mejoras al Folio de Pago</a:t>
            </a:r>
          </a:p>
          <a:p>
            <a:pPr marL="171450" indent="-171450">
              <a:buFontTx/>
              <a:buChar char="-"/>
            </a:pPr>
            <a:r>
              <a:rPr lang="es-MX" sz="900" dirty="0">
                <a:solidFill>
                  <a:sysClr val="windowText" lastClr="000000"/>
                </a:solidFill>
              </a:rPr>
              <a:t>Proyecto cambios de sistema antifraude en tienda (</a:t>
            </a:r>
            <a:r>
              <a:rPr lang="es-MX" sz="900" dirty="0" err="1">
                <a:solidFill>
                  <a:sysClr val="windowText" lastClr="000000"/>
                </a:solidFill>
              </a:rPr>
              <a:t>roadmap</a:t>
            </a:r>
            <a:r>
              <a:rPr lang="es-MX" sz="900" dirty="0">
                <a:solidFill>
                  <a:sysClr val="windowText" lastClr="000000"/>
                </a:solidFill>
              </a:rPr>
              <a:t> para el 2026)</a:t>
            </a:r>
          </a:p>
        </p:txBody>
      </p:sp>
      <p:sp>
        <p:nvSpPr>
          <p:cNvPr id="3" name="Rectángulo 2">
            <a:extLst>
              <a:ext uri="{FF2B5EF4-FFF2-40B4-BE49-F238E27FC236}">
                <a16:creationId xmlns:a16="http://schemas.microsoft.com/office/drawing/2014/main" id="{BDE8ABDD-FA96-95CC-FF5E-CF9F31263696}"/>
              </a:ext>
            </a:extLst>
          </p:cNvPr>
          <p:cNvSpPr/>
          <p:nvPr/>
        </p:nvSpPr>
        <p:spPr>
          <a:xfrm>
            <a:off x="5117298" y="1134154"/>
            <a:ext cx="1718177" cy="453600"/>
          </a:xfrm>
          <a:prstGeom prst="rect">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lIns="91440" tIns="0" rIns="91440" bIns="45720" rtlCol="0" anchor="ctr">
            <a:noAutofit/>
          </a:bodyPr>
          <a:lstStyle/>
          <a:p>
            <a:pPr algn="ctr"/>
            <a:r>
              <a:rPr lang="es-MX" sz="1000" b="1">
                <a:latin typeface="Calibri"/>
                <a:ea typeface="Calibri"/>
                <a:cs typeface="Calibri"/>
              </a:rPr>
              <a:t>Director TI Oxxo México</a:t>
            </a:r>
          </a:p>
          <a:p>
            <a:pPr algn="ctr"/>
            <a:r>
              <a:rPr lang="es-MX" sz="1000" i="1">
                <a:latin typeface="Calibri"/>
                <a:ea typeface="Calibri"/>
                <a:cs typeface="Calibri"/>
              </a:rPr>
              <a:t>Mauricio Guzmán</a:t>
            </a:r>
            <a:endParaRPr lang="es-MX" sz="1000" i="1">
              <a:latin typeface="Calibri" panose="020F0502020204030204" pitchFamily="34" charset="0"/>
              <a:ea typeface="Calibri" panose="020F0502020204030204" pitchFamily="34" charset="0"/>
              <a:cs typeface="Calibri" panose="020F0502020204030204" pitchFamily="34" charset="0"/>
            </a:endParaRPr>
          </a:p>
        </p:txBody>
      </p:sp>
      <p:sp>
        <p:nvSpPr>
          <p:cNvPr id="4" name="Rectángulo 3">
            <a:extLst>
              <a:ext uri="{FF2B5EF4-FFF2-40B4-BE49-F238E27FC236}">
                <a16:creationId xmlns:a16="http://schemas.microsoft.com/office/drawing/2014/main" id="{4152F4F5-BAAF-BD47-14E1-2ED46356F990}"/>
              </a:ext>
            </a:extLst>
          </p:cNvPr>
          <p:cNvSpPr/>
          <p:nvPr/>
        </p:nvSpPr>
        <p:spPr>
          <a:xfrm>
            <a:off x="5171967" y="1728572"/>
            <a:ext cx="1608840" cy="453600"/>
          </a:xfrm>
          <a:prstGeom prst="rect">
            <a:avLst/>
          </a:prstGeom>
          <a:noFill/>
          <a:ln w="3175">
            <a:solidFill>
              <a:schemeClr val="tx1"/>
            </a:solidFill>
          </a:ln>
        </p:spPr>
        <p:style>
          <a:lnRef idx="2">
            <a:schemeClr val="dk1"/>
          </a:lnRef>
          <a:fillRef idx="1">
            <a:schemeClr val="lt1"/>
          </a:fillRef>
          <a:effectRef idx="0">
            <a:schemeClr val="dk1"/>
          </a:effectRef>
          <a:fontRef idx="minor">
            <a:schemeClr val="dk1"/>
          </a:fontRef>
        </p:style>
        <p:txBody>
          <a:bodyPr tIns="0" rtlCol="0" anchor="ctr">
            <a:noAutofit/>
          </a:bodyPr>
          <a:lstStyle/>
          <a:p>
            <a:pPr algn="ctr"/>
            <a:r>
              <a:rPr lang="es-MX" sz="900" b="1">
                <a:latin typeface="Calibri" panose="020F0502020204030204" pitchFamily="34" charset="0"/>
                <a:ea typeface="Calibri" panose="020F0502020204030204" pitchFamily="34" charset="0"/>
                <a:cs typeface="Calibri" panose="020F0502020204030204" pitchFamily="34" charset="0"/>
              </a:rPr>
              <a:t>Gerente Soluciones Back Office 6418595</a:t>
            </a:r>
          </a:p>
          <a:p>
            <a:pPr algn="ctr"/>
            <a:r>
              <a:rPr lang="es-MX" sz="900" i="1">
                <a:latin typeface="Calibri" panose="020F0502020204030204" pitchFamily="34" charset="0"/>
                <a:ea typeface="Calibri" panose="020F0502020204030204" pitchFamily="34" charset="0"/>
                <a:cs typeface="Calibri" panose="020F0502020204030204" pitchFamily="34" charset="0"/>
              </a:rPr>
              <a:t>Gloria Campos</a:t>
            </a:r>
          </a:p>
        </p:txBody>
      </p:sp>
      <p:sp>
        <p:nvSpPr>
          <p:cNvPr id="7" name="Rectángulo 6">
            <a:extLst>
              <a:ext uri="{FF2B5EF4-FFF2-40B4-BE49-F238E27FC236}">
                <a16:creationId xmlns:a16="http://schemas.microsoft.com/office/drawing/2014/main" id="{937BEAAF-B76F-F5A7-AE0F-74142675B354}"/>
              </a:ext>
            </a:extLst>
          </p:cNvPr>
          <p:cNvSpPr/>
          <p:nvPr/>
        </p:nvSpPr>
        <p:spPr>
          <a:xfrm>
            <a:off x="4703737" y="2510216"/>
            <a:ext cx="2065440" cy="453601"/>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lIns="91440" tIns="0" rIns="91440" bIns="45720" rtlCol="0" anchor="t">
            <a:noAutofit/>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lang="es-MX" sz="900" b="1">
                <a:solidFill>
                  <a:prstClr val="black"/>
                </a:solidFill>
                <a:latin typeface="Calibri"/>
              </a:rPr>
              <a:t>TPO</a:t>
            </a:r>
            <a:r>
              <a:rPr kumimoji="0" lang="es-MX" sz="900" b="1" i="0" u="none" strike="noStrike" kern="1200" cap="none" spc="0" normalizeH="0" baseline="0" noProof="0">
                <a:ln>
                  <a:noFill/>
                </a:ln>
                <a:solidFill>
                  <a:prstClr val="black"/>
                </a:solidFill>
                <a:effectLst/>
                <a:uLnTx/>
                <a:uFillTx/>
                <a:latin typeface="Calibri"/>
                <a:ea typeface="+mn-ea"/>
                <a:cs typeface="+mn-cs"/>
              </a:rPr>
              <a:t> </a:t>
            </a:r>
            <a:r>
              <a:rPr lang="es-MX" sz="900" b="1">
                <a:solidFill>
                  <a:prstClr val="black"/>
                </a:solidFill>
                <a:latin typeface="Calibri"/>
              </a:rPr>
              <a:t>RH</a:t>
            </a:r>
          </a:p>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prstClr val="black"/>
                </a:solidFill>
                <a:effectLst/>
                <a:uLnTx/>
                <a:uFillTx/>
                <a:latin typeface="Calibri"/>
                <a:ea typeface="+mn-ea"/>
                <a:cs typeface="+mn-cs"/>
              </a:rPr>
              <a:t>6238496</a:t>
            </a:r>
          </a:p>
          <a:p>
            <a:pPr marL="0" marR="0" lvl="0" indent="0" algn="ctr" defTabSz="609645" rtl="0" eaLnBrk="1" fontAlgn="auto" latinLnBrk="0" hangingPunct="1">
              <a:lnSpc>
                <a:spcPct val="100000"/>
              </a:lnSpc>
              <a:spcBef>
                <a:spcPts val="0"/>
              </a:spcBef>
              <a:spcAft>
                <a:spcPts val="0"/>
              </a:spcAft>
              <a:buClrTx/>
              <a:buSzTx/>
              <a:buFontTx/>
              <a:buNone/>
              <a:tabLst/>
              <a:defRPr/>
            </a:pPr>
            <a:r>
              <a:rPr lang="es-MX" sz="900" i="1">
                <a:solidFill>
                  <a:prstClr val="black"/>
                </a:solidFill>
                <a:latin typeface="Calibri"/>
              </a:rPr>
              <a:t>Carlys Gascón</a:t>
            </a:r>
            <a:endParaRPr kumimoji="0" lang="es-MX" sz="900" b="0" i="1" u="none" strike="noStrike" kern="1200" cap="none" spc="0" normalizeH="0" baseline="0" noProof="0">
              <a:ln>
                <a:noFill/>
              </a:ln>
              <a:solidFill>
                <a:srgbClr val="C00000"/>
              </a:solidFill>
              <a:effectLst/>
              <a:uLnTx/>
              <a:uFillTx/>
              <a:latin typeface="Calibri"/>
              <a:ea typeface="+mn-ea"/>
              <a:cs typeface="+mn-cs"/>
            </a:endParaRPr>
          </a:p>
        </p:txBody>
      </p:sp>
      <p:sp>
        <p:nvSpPr>
          <p:cNvPr id="8" name="Rectángulo 7">
            <a:extLst>
              <a:ext uri="{FF2B5EF4-FFF2-40B4-BE49-F238E27FC236}">
                <a16:creationId xmlns:a16="http://schemas.microsoft.com/office/drawing/2014/main" id="{F410F88C-3515-BA0D-055C-465887D92E82}"/>
              </a:ext>
            </a:extLst>
          </p:cNvPr>
          <p:cNvSpPr/>
          <p:nvPr/>
        </p:nvSpPr>
        <p:spPr>
          <a:xfrm>
            <a:off x="2395825" y="2510217"/>
            <a:ext cx="2065440" cy="453601"/>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lIns="91440" tIns="0" rIns="91440" bIns="45720" rtlCol="0" anchor="t">
            <a:noAutofit/>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lang="es-MX" sz="900" b="1" dirty="0">
                <a:solidFill>
                  <a:prstClr val="black"/>
                </a:solidFill>
                <a:latin typeface="Calibri"/>
              </a:rPr>
              <a:t>TPO FAST</a:t>
            </a:r>
          </a:p>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dirty="0">
                <a:ln>
                  <a:noFill/>
                </a:ln>
                <a:solidFill>
                  <a:prstClr val="black"/>
                </a:solidFill>
                <a:effectLst/>
                <a:uLnTx/>
                <a:uFillTx/>
                <a:latin typeface="Calibri"/>
                <a:ea typeface="+mn-ea"/>
                <a:cs typeface="+mn-cs"/>
              </a:rPr>
              <a:t>6333228</a:t>
            </a:r>
          </a:p>
          <a:p>
            <a:pPr marL="0" marR="0" lvl="0" indent="0" algn="ctr" defTabSz="609645" rtl="0" eaLnBrk="1" fontAlgn="auto" latinLnBrk="0" hangingPunct="1">
              <a:lnSpc>
                <a:spcPct val="100000"/>
              </a:lnSpc>
              <a:spcBef>
                <a:spcPts val="0"/>
              </a:spcBef>
              <a:spcAft>
                <a:spcPts val="0"/>
              </a:spcAft>
              <a:buClrTx/>
              <a:buSzTx/>
              <a:buFontTx/>
              <a:buNone/>
              <a:tabLst/>
              <a:defRPr/>
            </a:pPr>
            <a:r>
              <a:rPr lang="es-MX" sz="900" i="1" dirty="0">
                <a:solidFill>
                  <a:prstClr val="black"/>
                </a:solidFill>
                <a:latin typeface="Calibri"/>
              </a:rPr>
              <a:t>Grigerlis Ríos</a:t>
            </a:r>
            <a:endParaRPr kumimoji="0" lang="es-MX" sz="900" b="0" i="1" u="none" strike="noStrike" kern="1200" cap="none" spc="0" normalizeH="0" baseline="0" noProof="0" dirty="0">
              <a:ln>
                <a:noFill/>
              </a:ln>
              <a:solidFill>
                <a:srgbClr val="C00000"/>
              </a:solidFill>
              <a:effectLst/>
              <a:uLnTx/>
              <a:uFillTx/>
              <a:latin typeface="Calibri"/>
              <a:ea typeface="+mn-ea"/>
              <a:cs typeface="+mn-cs"/>
            </a:endParaRPr>
          </a:p>
        </p:txBody>
      </p:sp>
      <p:sp>
        <p:nvSpPr>
          <p:cNvPr id="12" name="Rectángulo 11">
            <a:extLst>
              <a:ext uri="{FF2B5EF4-FFF2-40B4-BE49-F238E27FC236}">
                <a16:creationId xmlns:a16="http://schemas.microsoft.com/office/drawing/2014/main" id="{BD800EE4-4EC0-CCD6-6676-2A33E75ACE39}"/>
              </a:ext>
            </a:extLst>
          </p:cNvPr>
          <p:cNvSpPr/>
          <p:nvPr/>
        </p:nvSpPr>
        <p:spPr>
          <a:xfrm>
            <a:off x="6869407" y="2510216"/>
            <a:ext cx="2292514" cy="453601"/>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t">
            <a:noAutofit/>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prstClr val="black"/>
                </a:solidFill>
                <a:effectLst/>
                <a:uLnTx/>
                <a:uFillTx/>
                <a:latin typeface="Calibri"/>
                <a:ea typeface="+mn-ea"/>
                <a:cs typeface="+mn-cs"/>
              </a:rPr>
              <a:t>TPO Finanzas Ingresos</a:t>
            </a:r>
          </a:p>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prstClr val="black"/>
                </a:solidFill>
                <a:effectLst/>
                <a:uLnTx/>
                <a:uFillTx/>
                <a:latin typeface="Calibri"/>
                <a:ea typeface="+mn-ea"/>
                <a:cs typeface="+mn-cs"/>
              </a:rPr>
              <a:t>6176120</a:t>
            </a:r>
          </a:p>
          <a:p>
            <a:pPr marL="0" marR="0" lvl="0" indent="0" algn="ctr" defTabSz="609645" rtl="0" eaLnBrk="1" fontAlgn="auto" latinLnBrk="0" hangingPunct="1">
              <a:lnSpc>
                <a:spcPct val="100000"/>
              </a:lnSpc>
              <a:spcBef>
                <a:spcPts val="0"/>
              </a:spcBef>
              <a:spcAft>
                <a:spcPts val="0"/>
              </a:spcAft>
              <a:buClrTx/>
              <a:buSzTx/>
              <a:buFontTx/>
              <a:buNone/>
              <a:tabLst/>
              <a:defRPr/>
            </a:pPr>
            <a:r>
              <a:rPr lang="es-MX" sz="800" i="1">
                <a:solidFill>
                  <a:prstClr val="black"/>
                </a:solidFill>
                <a:latin typeface="Calibri"/>
              </a:rPr>
              <a:t>Edgar Romo</a:t>
            </a:r>
            <a:endParaRPr kumimoji="0" lang="es-MX" sz="800" b="0" i="1" u="none" strike="noStrike" kern="1200" cap="none" spc="0" normalizeH="0" baseline="0" noProof="0">
              <a:ln>
                <a:noFill/>
              </a:ln>
              <a:solidFill>
                <a:srgbClr val="C00000"/>
              </a:solidFill>
              <a:effectLst/>
              <a:uLnTx/>
              <a:uFillTx/>
              <a:latin typeface="Calibri"/>
              <a:ea typeface="+mn-ea"/>
              <a:cs typeface="+mn-cs"/>
            </a:endParaRPr>
          </a:p>
        </p:txBody>
      </p:sp>
      <p:sp>
        <p:nvSpPr>
          <p:cNvPr id="14" name="Rectángulo 13">
            <a:extLst>
              <a:ext uri="{FF2B5EF4-FFF2-40B4-BE49-F238E27FC236}">
                <a16:creationId xmlns:a16="http://schemas.microsoft.com/office/drawing/2014/main" id="{A27033B1-5025-7BCC-575A-A1CD6818C371}"/>
              </a:ext>
            </a:extLst>
          </p:cNvPr>
          <p:cNvSpPr/>
          <p:nvPr/>
        </p:nvSpPr>
        <p:spPr>
          <a:xfrm>
            <a:off x="9383389" y="2510219"/>
            <a:ext cx="2650938" cy="453601"/>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t">
            <a:noAutofit/>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prstClr val="black"/>
                </a:solidFill>
                <a:effectLst/>
                <a:uLnTx/>
                <a:uFillTx/>
                <a:latin typeface="Calibri"/>
                <a:ea typeface="+mn-ea"/>
                <a:cs typeface="+mn-cs"/>
              </a:rPr>
              <a:t>TPO </a:t>
            </a:r>
            <a:r>
              <a:rPr lang="es-MX" sz="800" b="1">
                <a:solidFill>
                  <a:prstClr val="black"/>
                </a:solidFill>
                <a:latin typeface="Calibri"/>
              </a:rPr>
              <a:t>Fiscal Cumplimiento</a:t>
            </a:r>
            <a:endParaRPr kumimoji="0" lang="es-MX" sz="800" b="1"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609645" rtl="0" eaLnBrk="1" fontAlgn="auto" latinLnBrk="0" hangingPunct="1">
              <a:lnSpc>
                <a:spcPct val="100000"/>
              </a:lnSpc>
              <a:spcBef>
                <a:spcPts val="0"/>
              </a:spcBef>
              <a:spcAft>
                <a:spcPts val="0"/>
              </a:spcAft>
              <a:buClrTx/>
              <a:buSzTx/>
              <a:buFontTx/>
              <a:buNone/>
              <a:tabLst/>
              <a:defRPr/>
            </a:pPr>
            <a:r>
              <a:rPr lang="es-MX" sz="900" b="1">
                <a:solidFill>
                  <a:prstClr val="black"/>
                </a:solidFill>
                <a:latin typeface="Calibri"/>
              </a:rPr>
              <a:t>6263077</a:t>
            </a:r>
          </a:p>
          <a:p>
            <a:pPr marL="0" marR="0" lvl="0" indent="0" algn="ctr" defTabSz="609645" rtl="0" eaLnBrk="1" fontAlgn="auto" latinLnBrk="0" hangingPunct="1">
              <a:lnSpc>
                <a:spcPct val="100000"/>
              </a:lnSpc>
              <a:spcBef>
                <a:spcPts val="0"/>
              </a:spcBef>
              <a:spcAft>
                <a:spcPts val="0"/>
              </a:spcAft>
              <a:buClrTx/>
              <a:buSzTx/>
              <a:buFontTx/>
              <a:buNone/>
              <a:tabLst/>
              <a:defRPr/>
            </a:pPr>
            <a:r>
              <a:rPr lang="es-MX" sz="800" i="1">
                <a:solidFill>
                  <a:prstClr val="black"/>
                </a:solidFill>
                <a:latin typeface="Calibri"/>
              </a:rPr>
              <a:t>Maria Luisa Ibarra</a:t>
            </a:r>
            <a:endParaRPr kumimoji="0" lang="es-MX" sz="800" b="0" i="1" u="none" strike="noStrike" kern="1200" cap="none" spc="0" normalizeH="0" baseline="0" noProof="0">
              <a:ln>
                <a:noFill/>
              </a:ln>
              <a:solidFill>
                <a:srgbClr val="C00000"/>
              </a:solidFill>
              <a:effectLst/>
              <a:uLnTx/>
              <a:uFillTx/>
              <a:latin typeface="Calibri"/>
              <a:ea typeface="+mn-ea"/>
              <a:cs typeface="+mn-cs"/>
            </a:endParaRPr>
          </a:p>
        </p:txBody>
      </p:sp>
      <p:sp>
        <p:nvSpPr>
          <p:cNvPr id="21" name="Rectángulo 20">
            <a:extLst>
              <a:ext uri="{FF2B5EF4-FFF2-40B4-BE49-F238E27FC236}">
                <a16:creationId xmlns:a16="http://schemas.microsoft.com/office/drawing/2014/main" id="{13530620-B187-DC05-2898-31EB8A939C08}"/>
              </a:ext>
            </a:extLst>
          </p:cNvPr>
          <p:cNvSpPr/>
          <p:nvPr/>
        </p:nvSpPr>
        <p:spPr>
          <a:xfrm>
            <a:off x="121788" y="2510218"/>
            <a:ext cx="2182289" cy="453601"/>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t">
            <a:noAutofit/>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lang="es-MX" sz="900" b="1">
                <a:solidFill>
                  <a:prstClr val="black"/>
                </a:solidFill>
                <a:latin typeface="Calibri"/>
              </a:rPr>
              <a:t>TPO</a:t>
            </a:r>
            <a:r>
              <a:rPr kumimoji="0" lang="es-MX" sz="900" b="1" i="0" u="none" strike="noStrike" kern="1200" cap="none" spc="0" normalizeH="0" baseline="0" noProof="0">
                <a:ln>
                  <a:noFill/>
                </a:ln>
                <a:solidFill>
                  <a:prstClr val="black"/>
                </a:solidFill>
                <a:effectLst/>
                <a:uLnTx/>
                <a:uFillTx/>
                <a:latin typeface="Calibri"/>
                <a:ea typeface="+mn-ea"/>
                <a:cs typeface="+mn-cs"/>
              </a:rPr>
              <a:t> </a:t>
            </a:r>
            <a:r>
              <a:rPr lang="es-MX" sz="900" b="1">
                <a:solidFill>
                  <a:prstClr val="black"/>
                </a:solidFill>
                <a:latin typeface="Calibri"/>
              </a:rPr>
              <a:t>Automatización</a:t>
            </a:r>
          </a:p>
          <a:p>
            <a:pPr marL="0" marR="0" lvl="0" indent="0" algn="ctr" defTabSz="609645"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prstClr val="black"/>
                </a:solidFill>
                <a:effectLst/>
                <a:uLnTx/>
                <a:uFillTx/>
                <a:latin typeface="Calibri"/>
                <a:ea typeface="+mn-ea"/>
                <a:cs typeface="+mn-cs"/>
              </a:rPr>
              <a:t>6011142</a:t>
            </a:r>
          </a:p>
          <a:p>
            <a:pPr marL="0" marR="0" lvl="0" indent="0" algn="ctr" defTabSz="609645" rtl="0" eaLnBrk="1" fontAlgn="auto" latinLnBrk="0" hangingPunct="1">
              <a:lnSpc>
                <a:spcPct val="100000"/>
              </a:lnSpc>
              <a:spcBef>
                <a:spcPts val="0"/>
              </a:spcBef>
              <a:spcAft>
                <a:spcPts val="0"/>
              </a:spcAft>
              <a:buClrTx/>
              <a:buSzTx/>
              <a:buFontTx/>
              <a:buNone/>
              <a:tabLst/>
              <a:defRPr/>
            </a:pPr>
            <a:r>
              <a:rPr lang="es-MX" sz="900" i="1">
                <a:solidFill>
                  <a:prstClr val="black"/>
                </a:solidFill>
                <a:latin typeface="Calibri"/>
              </a:rPr>
              <a:t>Luis Zarate</a:t>
            </a:r>
            <a:endParaRPr kumimoji="0" lang="es-MX" sz="900" b="0" i="1" u="none" strike="noStrike" kern="1200" cap="none" spc="0" normalizeH="0" baseline="0" noProof="0">
              <a:ln>
                <a:noFill/>
              </a:ln>
              <a:solidFill>
                <a:srgbClr val="C00000"/>
              </a:solidFill>
              <a:effectLst/>
              <a:uLnTx/>
              <a:uFillTx/>
              <a:latin typeface="Calibri"/>
              <a:ea typeface="+mn-ea"/>
              <a:cs typeface="+mn-cs"/>
            </a:endParaRPr>
          </a:p>
        </p:txBody>
      </p:sp>
      <p:cxnSp>
        <p:nvCxnSpPr>
          <p:cNvPr id="22" name="Conector recto 21">
            <a:extLst>
              <a:ext uri="{FF2B5EF4-FFF2-40B4-BE49-F238E27FC236}">
                <a16:creationId xmlns:a16="http://schemas.microsoft.com/office/drawing/2014/main" id="{6A4E7D8E-8A61-70BE-925B-DAD7BC308CE5}"/>
              </a:ext>
            </a:extLst>
          </p:cNvPr>
          <p:cNvCxnSpPr>
            <a:stCxn id="3" idx="2"/>
            <a:endCxn id="4" idx="0"/>
          </p:cNvCxnSpPr>
          <p:nvPr/>
        </p:nvCxnSpPr>
        <p:spPr>
          <a:xfrm>
            <a:off x="5976387" y="1587754"/>
            <a:ext cx="0" cy="14081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Conector: angular 22">
            <a:extLst>
              <a:ext uri="{FF2B5EF4-FFF2-40B4-BE49-F238E27FC236}">
                <a16:creationId xmlns:a16="http://schemas.microsoft.com/office/drawing/2014/main" id="{301BFFDF-32C8-D46F-9380-8481520B4E95}"/>
              </a:ext>
            </a:extLst>
          </p:cNvPr>
          <p:cNvCxnSpPr>
            <a:cxnSpLocks/>
            <a:stCxn id="21" idx="0"/>
            <a:endCxn id="4" idx="2"/>
          </p:cNvCxnSpPr>
          <p:nvPr/>
        </p:nvCxnSpPr>
        <p:spPr>
          <a:xfrm rot="5400000" flipH="1" flipV="1">
            <a:off x="3430637" y="-35532"/>
            <a:ext cx="328046" cy="4763454"/>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Conector: angular 23">
            <a:extLst>
              <a:ext uri="{FF2B5EF4-FFF2-40B4-BE49-F238E27FC236}">
                <a16:creationId xmlns:a16="http://schemas.microsoft.com/office/drawing/2014/main" id="{235C0D4A-DF55-33AD-56FB-3C39CC495DB7}"/>
              </a:ext>
            </a:extLst>
          </p:cNvPr>
          <p:cNvCxnSpPr>
            <a:cxnSpLocks/>
            <a:stCxn id="8" idx="0"/>
            <a:endCxn id="4" idx="2"/>
          </p:cNvCxnSpPr>
          <p:nvPr/>
        </p:nvCxnSpPr>
        <p:spPr>
          <a:xfrm rot="5400000" flipH="1" flipV="1">
            <a:off x="4538444" y="1072274"/>
            <a:ext cx="328045" cy="2547842"/>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Conector: angular 26">
            <a:extLst>
              <a:ext uri="{FF2B5EF4-FFF2-40B4-BE49-F238E27FC236}">
                <a16:creationId xmlns:a16="http://schemas.microsoft.com/office/drawing/2014/main" id="{15DF704D-D094-F521-7BB7-9F94D6B395BB}"/>
              </a:ext>
            </a:extLst>
          </p:cNvPr>
          <p:cNvCxnSpPr>
            <a:cxnSpLocks/>
            <a:stCxn id="7" idx="0"/>
            <a:endCxn id="4" idx="2"/>
          </p:cNvCxnSpPr>
          <p:nvPr/>
        </p:nvCxnSpPr>
        <p:spPr>
          <a:xfrm rot="5400000" flipH="1" flipV="1">
            <a:off x="5692400" y="2226229"/>
            <a:ext cx="328044" cy="239930"/>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Conector: angular 27">
            <a:extLst>
              <a:ext uri="{FF2B5EF4-FFF2-40B4-BE49-F238E27FC236}">
                <a16:creationId xmlns:a16="http://schemas.microsoft.com/office/drawing/2014/main" id="{BA774042-4E85-3AAA-4A30-4C628632BDA1}"/>
              </a:ext>
            </a:extLst>
          </p:cNvPr>
          <p:cNvCxnSpPr>
            <a:cxnSpLocks/>
            <a:stCxn id="12" idx="0"/>
            <a:endCxn id="4" idx="2"/>
          </p:cNvCxnSpPr>
          <p:nvPr/>
        </p:nvCxnSpPr>
        <p:spPr>
          <a:xfrm rot="16200000" flipV="1">
            <a:off x="6832004" y="1326555"/>
            <a:ext cx="328044" cy="2039277"/>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Conector: angular 28">
            <a:extLst>
              <a:ext uri="{FF2B5EF4-FFF2-40B4-BE49-F238E27FC236}">
                <a16:creationId xmlns:a16="http://schemas.microsoft.com/office/drawing/2014/main" id="{5BDBEA24-5B18-62D4-707D-D790710EF512}"/>
              </a:ext>
            </a:extLst>
          </p:cNvPr>
          <p:cNvCxnSpPr>
            <a:cxnSpLocks/>
            <a:stCxn id="14" idx="0"/>
            <a:endCxn id="4" idx="2"/>
          </p:cNvCxnSpPr>
          <p:nvPr/>
        </p:nvCxnSpPr>
        <p:spPr>
          <a:xfrm rot="16200000" flipV="1">
            <a:off x="8178600" y="-20040"/>
            <a:ext cx="328047" cy="4732471"/>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5" name="CuadroTexto 4">
            <a:extLst>
              <a:ext uri="{FF2B5EF4-FFF2-40B4-BE49-F238E27FC236}">
                <a16:creationId xmlns:a16="http://schemas.microsoft.com/office/drawing/2014/main" id="{87CEC9CA-D400-5401-D7FB-89E9410308A1}"/>
              </a:ext>
            </a:extLst>
          </p:cNvPr>
          <p:cNvSpPr txBox="1"/>
          <p:nvPr/>
        </p:nvSpPr>
        <p:spPr>
          <a:xfrm>
            <a:off x="2350264" y="5972494"/>
            <a:ext cx="9727545" cy="584775"/>
          </a:xfrm>
          <a:prstGeom prst="rect">
            <a:avLst/>
          </a:prstGeom>
          <a:noFill/>
        </p:spPr>
        <p:txBody>
          <a:bodyPr wrap="square" rtlCol="0">
            <a:spAutoFit/>
          </a:bodyPr>
          <a:lstStyle/>
          <a:p>
            <a:pPr algn="l"/>
            <a:r>
              <a:rPr lang="es-ES" sz="800" dirty="0">
                <a:latin typeface="Calibri" panose="020F0502020204030204" pitchFamily="34" charset="0"/>
                <a:cs typeface="Calibri" panose="020F0502020204030204" pitchFamily="34" charset="0"/>
              </a:rPr>
              <a:t>CSF: Centro de Servicios financieros</a:t>
            </a:r>
          </a:p>
          <a:p>
            <a:pPr algn="l"/>
            <a:r>
              <a:rPr lang="es-ES" sz="800" dirty="0">
                <a:latin typeface="Calibri" panose="020F0502020204030204" pitchFamily="34" charset="0"/>
                <a:cs typeface="Calibri" panose="020F0502020204030204" pitchFamily="34" charset="0"/>
              </a:rPr>
              <a:t>SADEL: Sistema de Administración de Empleados de Líderes	</a:t>
            </a:r>
          </a:p>
          <a:p>
            <a:pPr algn="l"/>
            <a:r>
              <a:rPr lang="es-ES" sz="800" dirty="0">
                <a:latin typeface="Calibri" panose="020F0502020204030204" pitchFamily="34" charset="0"/>
                <a:cs typeface="Calibri" panose="020F0502020204030204" pitchFamily="34" charset="0"/>
              </a:rPr>
              <a:t>ICM: Gestión de la Compensación por Incentivos</a:t>
            </a:r>
          </a:p>
          <a:p>
            <a:pPr algn="l"/>
            <a:r>
              <a:rPr lang="es-ES" sz="800" dirty="0">
                <a:latin typeface="Calibri" panose="020F0502020204030204" pitchFamily="34" charset="0"/>
                <a:cs typeface="Calibri" panose="020F0502020204030204" pitchFamily="34" charset="0"/>
              </a:rPr>
              <a:t>VISTEX: Software </a:t>
            </a:r>
            <a:r>
              <a:rPr lang="es-ES" sz="800" dirty="0"/>
              <a:t>función principal es gestionar procesos comerciales complejos de ingresos, precios, descuentos, comisiones, devoluciones y regalías (</a:t>
            </a:r>
            <a:r>
              <a:rPr lang="es-ES" sz="800" dirty="0" err="1"/>
              <a:t>end-to-end</a:t>
            </a:r>
            <a:r>
              <a:rPr lang="es-ES" sz="800" dirty="0"/>
              <a:t>)</a:t>
            </a:r>
            <a:endParaRPr lang="es-MX" sz="800" dirty="0" err="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2670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B80DD89-91A3-35BF-46F8-436A28D7C493}"/>
              </a:ext>
            </a:extLst>
          </p:cNvPr>
          <p:cNvSpPr txBox="1"/>
          <p:nvPr/>
        </p:nvSpPr>
        <p:spPr>
          <a:xfrm>
            <a:off x="299085" y="1037734"/>
            <a:ext cx="9048750" cy="307777"/>
          </a:xfrm>
          <a:prstGeom prst="rect">
            <a:avLst/>
          </a:prstGeom>
          <a:noFill/>
        </p:spPr>
        <p:txBody>
          <a:bodyPr wrap="square">
            <a:spAutoFit/>
          </a:bodyPr>
          <a:lstStyle/>
          <a:p>
            <a:r>
              <a:rPr lang="es-ES" sz="1400" dirty="0"/>
              <a:t>Objetivo: </a:t>
            </a:r>
            <a:r>
              <a:rPr lang="es-ES" sz="1400" i="1" dirty="0"/>
              <a:t>Entender los procesos </a:t>
            </a:r>
            <a:r>
              <a:rPr lang="es-ES" sz="1400" i="1" dirty="0" err="1"/>
              <a:t>core</a:t>
            </a:r>
            <a:r>
              <a:rPr lang="es-ES" sz="1400" i="1" dirty="0"/>
              <a:t> y que pudieron haber tenido alguna modificación  </a:t>
            </a:r>
            <a:endParaRPr lang="es-MX" sz="1400" i="1" dirty="0"/>
          </a:p>
        </p:txBody>
      </p:sp>
      <p:sp>
        <p:nvSpPr>
          <p:cNvPr id="8" name="Título 7">
            <a:extLst>
              <a:ext uri="{FF2B5EF4-FFF2-40B4-BE49-F238E27FC236}">
                <a16:creationId xmlns:a16="http://schemas.microsoft.com/office/drawing/2014/main" id="{35769B02-838B-10EC-DB8D-8A4ED180CC34}"/>
              </a:ext>
            </a:extLst>
          </p:cNvPr>
          <p:cNvSpPr>
            <a:spLocks noGrp="1"/>
          </p:cNvSpPr>
          <p:nvPr>
            <p:ph type="title"/>
          </p:nvPr>
        </p:nvSpPr>
        <p:spPr/>
        <p:txBody>
          <a:bodyPr/>
          <a:lstStyle/>
          <a:p>
            <a:r>
              <a:rPr lang="es-ES" sz="2100" dirty="0">
                <a:latin typeface="Calibri"/>
                <a:ea typeface="ＭＳ Ｐゴシック"/>
                <a:cs typeface="Calibri"/>
              </a:rPr>
              <a:t>Interacciones entre áreas y procesos clave</a:t>
            </a:r>
            <a:br>
              <a:rPr lang="es-ES" sz="2100" dirty="0"/>
            </a:br>
            <a:r>
              <a:rPr lang="es-ES" sz="2100" dirty="0" err="1">
                <a:latin typeface="Calibri"/>
                <a:ea typeface="ＭＳ Ｐゴシック"/>
                <a:cs typeface="Calibri"/>
              </a:rPr>
              <a:t>Backoffice</a:t>
            </a:r>
          </a:p>
        </p:txBody>
      </p:sp>
      <p:graphicFrame>
        <p:nvGraphicFramePr>
          <p:cNvPr id="4" name="Tabla 3">
            <a:extLst>
              <a:ext uri="{FF2B5EF4-FFF2-40B4-BE49-F238E27FC236}">
                <a16:creationId xmlns:a16="http://schemas.microsoft.com/office/drawing/2014/main" id="{9977EE78-43D1-CBA5-F066-3FC5CF994962}"/>
              </a:ext>
            </a:extLst>
          </p:cNvPr>
          <p:cNvGraphicFramePr>
            <a:graphicFrameLocks noGrp="1"/>
          </p:cNvGraphicFramePr>
          <p:nvPr>
            <p:extLst>
              <p:ext uri="{D42A27DB-BD31-4B8C-83A1-F6EECF244321}">
                <p14:modId xmlns:p14="http://schemas.microsoft.com/office/powerpoint/2010/main" val="641218842"/>
              </p:ext>
            </p:extLst>
          </p:nvPr>
        </p:nvGraphicFramePr>
        <p:xfrm>
          <a:off x="194733" y="1624614"/>
          <a:ext cx="11860107" cy="4020162"/>
        </p:xfrm>
        <a:graphic>
          <a:graphicData uri="http://schemas.openxmlformats.org/drawingml/2006/table">
            <a:tbl>
              <a:tblPr/>
              <a:tblGrid>
                <a:gridCol w="330200">
                  <a:extLst>
                    <a:ext uri="{9D8B030D-6E8A-4147-A177-3AD203B41FA5}">
                      <a16:colId xmlns:a16="http://schemas.microsoft.com/office/drawing/2014/main" val="783144613"/>
                    </a:ext>
                  </a:extLst>
                </a:gridCol>
                <a:gridCol w="2579158">
                  <a:extLst>
                    <a:ext uri="{9D8B030D-6E8A-4147-A177-3AD203B41FA5}">
                      <a16:colId xmlns:a16="http://schemas.microsoft.com/office/drawing/2014/main" val="4050409474"/>
                    </a:ext>
                  </a:extLst>
                </a:gridCol>
                <a:gridCol w="1166813">
                  <a:extLst>
                    <a:ext uri="{9D8B030D-6E8A-4147-A177-3AD203B41FA5}">
                      <a16:colId xmlns:a16="http://schemas.microsoft.com/office/drawing/2014/main" val="3870733802"/>
                    </a:ext>
                  </a:extLst>
                </a:gridCol>
                <a:gridCol w="807174">
                  <a:extLst>
                    <a:ext uri="{9D8B030D-6E8A-4147-A177-3AD203B41FA5}">
                      <a16:colId xmlns:a16="http://schemas.microsoft.com/office/drawing/2014/main" val="1906030033"/>
                    </a:ext>
                  </a:extLst>
                </a:gridCol>
                <a:gridCol w="807174">
                  <a:extLst>
                    <a:ext uri="{9D8B030D-6E8A-4147-A177-3AD203B41FA5}">
                      <a16:colId xmlns:a16="http://schemas.microsoft.com/office/drawing/2014/main" val="1921749235"/>
                    </a:ext>
                  </a:extLst>
                </a:gridCol>
                <a:gridCol w="807174">
                  <a:extLst>
                    <a:ext uri="{9D8B030D-6E8A-4147-A177-3AD203B41FA5}">
                      <a16:colId xmlns:a16="http://schemas.microsoft.com/office/drawing/2014/main" val="1181664544"/>
                    </a:ext>
                  </a:extLst>
                </a:gridCol>
                <a:gridCol w="807174">
                  <a:extLst>
                    <a:ext uri="{9D8B030D-6E8A-4147-A177-3AD203B41FA5}">
                      <a16:colId xmlns:a16="http://schemas.microsoft.com/office/drawing/2014/main" val="1613625320"/>
                    </a:ext>
                  </a:extLst>
                </a:gridCol>
                <a:gridCol w="4555240">
                  <a:extLst>
                    <a:ext uri="{9D8B030D-6E8A-4147-A177-3AD203B41FA5}">
                      <a16:colId xmlns:a16="http://schemas.microsoft.com/office/drawing/2014/main" val="3598344307"/>
                    </a:ext>
                  </a:extLst>
                </a:gridCol>
              </a:tblGrid>
              <a:tr h="343496">
                <a:tc rowSpan="2">
                  <a:txBody>
                    <a:bodyPr/>
                    <a:lstStyle/>
                    <a:p>
                      <a:pPr algn="ctr" fontAlgn="ctr"/>
                      <a:r>
                        <a:rPr lang="es-MX" sz="1050" b="1" i="0" u="none" strike="noStrike">
                          <a:solidFill>
                            <a:srgbClr val="000000"/>
                          </a:solidFill>
                          <a:effectLst/>
                          <a:latin typeface="Aptos Narrow" panose="020B0004020202020204" pitchFamily="34" charset="0"/>
                        </a:rPr>
                        <a:t>No.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ctr"/>
                      <a:r>
                        <a:rPr lang="es-MX" sz="1050" b="1" i="0" u="none" strike="noStrike">
                          <a:solidFill>
                            <a:srgbClr val="000000"/>
                          </a:solidFill>
                          <a:effectLst/>
                          <a:latin typeface="Aptos Narrow" panose="020B0004020202020204" pitchFamily="34" charset="0"/>
                        </a:rPr>
                        <a:t>Proceso/actividad</a:t>
                      </a:r>
                    </a:p>
                    <a:p>
                      <a:pPr algn="l" fontAlgn="ctr"/>
                      <a:r>
                        <a:rPr lang="es-MX" sz="1050" b="0" i="0" u="none" strike="noStrike">
                          <a:solidFill>
                            <a:srgbClr val="000000"/>
                          </a:solidFill>
                          <a:effectLst/>
                          <a:latin typeface="Aptos Narrow" panose="020B0004020202020204" pitchFamily="34" charset="0"/>
                        </a:rPr>
                        <a:t>Enlistar por prioridad e impacto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s-MX" sz="1050" b="1">
                          <a:solidFill>
                            <a:prstClr val="black"/>
                          </a:solidFill>
                          <a:latin typeface="+mn-lt"/>
                        </a:rPr>
                        <a:t>TPO Automatización</a:t>
                      </a:r>
                      <a:endParaRPr lang="es-MX" sz="105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lang="es-MX" sz="1050" b="1">
                          <a:solidFill>
                            <a:prstClr val="black"/>
                          </a:solidFill>
                          <a:latin typeface="+mn-lt"/>
                        </a:rPr>
                        <a:t>TPO FAST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609645" rtl="0" eaLnBrk="1" fontAlgn="auto" latinLnBrk="0" hangingPunct="1">
                        <a:lnSpc>
                          <a:spcPct val="100000"/>
                        </a:lnSpc>
                        <a:spcBef>
                          <a:spcPts val="0"/>
                        </a:spcBef>
                        <a:spcAft>
                          <a:spcPts val="0"/>
                        </a:spcAft>
                        <a:buClrTx/>
                        <a:buSzTx/>
                        <a:buFontTx/>
                        <a:buNone/>
                        <a:tabLst/>
                        <a:defRPr/>
                      </a:pPr>
                      <a:r>
                        <a:rPr lang="es-MX" sz="1050" b="1">
                          <a:solidFill>
                            <a:prstClr val="black"/>
                          </a:solidFill>
                          <a:latin typeface="+mn-lt"/>
                        </a:rPr>
                        <a:t>TPO</a:t>
                      </a:r>
                      <a:r>
                        <a:rPr kumimoji="0" lang="es-MX" sz="1050" b="1" i="0" u="none" strike="noStrike" kern="1200" cap="none" spc="0" normalizeH="0" baseline="0" noProof="0">
                          <a:ln>
                            <a:noFill/>
                          </a:ln>
                          <a:solidFill>
                            <a:prstClr val="black"/>
                          </a:solidFill>
                          <a:effectLst/>
                          <a:uLnTx/>
                          <a:uFillTx/>
                          <a:latin typeface="+mn-lt"/>
                          <a:ea typeface="+mn-ea"/>
                          <a:cs typeface="+mn-cs"/>
                        </a:rPr>
                        <a:t> </a:t>
                      </a:r>
                      <a:r>
                        <a:rPr lang="es-MX" sz="1050" b="1">
                          <a:solidFill>
                            <a:prstClr val="black"/>
                          </a:solidFill>
                          <a:latin typeface="+mn-lt"/>
                        </a:rPr>
                        <a:t>RH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defTabSz="609645">
                        <a:defRPr/>
                      </a:pPr>
                      <a:r>
                        <a:rPr lang="es-MX" sz="1050" b="1">
                          <a:solidFill>
                            <a:schemeClr val="tx1"/>
                          </a:solidFill>
                          <a:latin typeface="+mn-lt"/>
                        </a:rPr>
                        <a:t>TPO Finanzas Ingresos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s-MX" sz="1050" b="1">
                          <a:solidFill>
                            <a:prstClr val="black"/>
                          </a:solidFill>
                          <a:latin typeface="+mn-lt"/>
                        </a:rPr>
                        <a:t>TPO Fiscal</a:t>
                      </a:r>
                      <a:endParaRPr lang="es-MX" sz="1050" b="1"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s-ES" sz="1050" b="1" i="0" u="none" strike="noStrike" dirty="0">
                          <a:solidFill>
                            <a:srgbClr val="000000"/>
                          </a:solidFill>
                          <a:effectLst/>
                          <a:latin typeface="Aptos Narrow" panose="020B0004020202020204" pitchFamily="34" charset="0"/>
                        </a:rPr>
                        <a:t>Entregable</a:t>
                      </a:r>
                      <a:endParaRPr lang="es-MX" sz="1050" b="1"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2643272"/>
                  </a:ext>
                </a:extLst>
              </a:tr>
              <a:tr h="175089">
                <a:tc vMerge="1">
                  <a:txBody>
                    <a:bodyPr/>
                    <a:lstStyle/>
                    <a:p>
                      <a:endParaRPr lang="es-MX"/>
                    </a:p>
                  </a:txBody>
                  <a:tcPr/>
                </a:tc>
                <a:tc vMerge="1">
                  <a:txBody>
                    <a:bodyPr/>
                    <a:lstStyle/>
                    <a:p>
                      <a:endParaRPr lang="es-MX"/>
                    </a:p>
                  </a:txBody>
                  <a:tcPr/>
                </a:tc>
                <a:tc>
                  <a:txBody>
                    <a:bodyPr/>
                    <a:lstStyle/>
                    <a:p>
                      <a:pPr algn="ctr" fontAlgn="ctr"/>
                      <a:r>
                        <a:rPr lang="es-ES" sz="1050" b="0" i="1" u="none" strike="noStrike" dirty="0">
                          <a:solidFill>
                            <a:srgbClr val="000000"/>
                          </a:solidFill>
                          <a:effectLst/>
                          <a:latin typeface="Aptos Narrow" panose="020B0004020202020204" pitchFamily="34" charset="0"/>
                        </a:rPr>
                        <a:t>Luis Zarate</a:t>
                      </a:r>
                      <a:endParaRPr lang="es-MX" sz="1050" b="0" i="1"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s-ES" sz="1050" b="0" i="1" u="none" strike="noStrike" dirty="0">
                          <a:solidFill>
                            <a:srgbClr val="000000"/>
                          </a:solidFill>
                          <a:effectLst/>
                          <a:latin typeface="Aptos Narrow" panose="020B0004020202020204" pitchFamily="34" charset="0"/>
                        </a:rPr>
                        <a:t>Grigerlis Rios</a:t>
                      </a:r>
                      <a:endParaRPr lang="es-MX" sz="1050" b="0" i="1"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s-ES" sz="1050" b="0" i="1"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Carlys Gascon</a:t>
                      </a:r>
                      <a:endParaRPr kumimoji="0" lang="es-MX" sz="1050" b="0" i="1"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s-ES" sz="1050" b="0" i="1" u="none" strike="noStrike" kern="0" cap="none" spc="0" normalizeH="0" baseline="0" noProof="0" dirty="0">
                          <a:ln>
                            <a:noFill/>
                          </a:ln>
                          <a:solidFill>
                            <a:prstClr val="black"/>
                          </a:solidFill>
                          <a:effectLst/>
                          <a:uLnTx/>
                          <a:uFillTx/>
                          <a:latin typeface="+mn-lt"/>
                          <a:ea typeface="+mn-ea"/>
                          <a:cs typeface="+mn-cs"/>
                        </a:rPr>
                        <a:t>Edgar Romo</a:t>
                      </a:r>
                      <a:endParaRPr kumimoji="0" lang="es-MX" sz="1050" b="0" i="1" u="none" strike="noStrike" kern="0" cap="none" spc="0" normalizeH="0" baseline="0" noProof="0" dirty="0">
                        <a:ln>
                          <a:noFill/>
                        </a:ln>
                        <a:solidFill>
                          <a:prstClr val="black"/>
                        </a:solidFill>
                        <a:effectLst/>
                        <a:uLnTx/>
                        <a:uFillTx/>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s-ES" sz="1050" b="0" i="1" u="none" strike="noStrike" kern="0" cap="none" spc="0" normalizeH="0" baseline="0" noProof="0" dirty="0">
                          <a:ln>
                            <a:noFill/>
                          </a:ln>
                          <a:solidFill>
                            <a:prstClr val="black"/>
                          </a:solidFill>
                          <a:effectLst/>
                          <a:uLnTx/>
                          <a:uFillTx/>
                          <a:latin typeface="+mn-lt"/>
                          <a:ea typeface="+mn-ea"/>
                          <a:cs typeface="+mn-cs"/>
                        </a:rPr>
                        <a:t>Luisa Ibarra</a:t>
                      </a:r>
                      <a:endParaRPr kumimoji="0" lang="es-MX" sz="1050" b="0" i="1" u="none" strike="noStrike" kern="0" cap="none" spc="0" normalizeH="0" baseline="0" noProof="0" dirty="0">
                        <a:ln>
                          <a:noFill/>
                        </a:ln>
                        <a:solidFill>
                          <a:prstClr val="black"/>
                        </a:solidFill>
                        <a:effectLst/>
                        <a:uLnTx/>
                        <a:uFillTx/>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ctr" fontAlgn="ctr"/>
                      <a:endParaRPr lang="es-MX" sz="1050" b="0" i="1"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4820030"/>
                  </a:ext>
                </a:extLst>
              </a:tr>
              <a:tr h="167070">
                <a:tc>
                  <a:txBody>
                    <a:bodyPr/>
                    <a:lstStyle/>
                    <a:p>
                      <a:pPr algn="ctr" fontAlgn="b"/>
                      <a:r>
                        <a:rPr lang="es-MX" sz="1000" b="0" i="0" u="none" strike="noStrike">
                          <a:solidFill>
                            <a:srgbClr val="000000"/>
                          </a:solidFill>
                          <a:effectLst/>
                          <a:latin typeface="Aptos Narrow" panose="020B000402020202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Activo fijo</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 (este año 3 </a:t>
                      </a:r>
                      <a:r>
                        <a:rPr lang="es-ES" sz="1000" b="0" i="0" u="none" strike="noStrike" dirty="0" err="1">
                          <a:solidFill>
                            <a:srgbClr val="000000"/>
                          </a:solidFill>
                          <a:effectLst/>
                          <a:latin typeface="Aptos Narrow" panose="020B0004020202020204" pitchFamily="34" charset="0"/>
                        </a:rPr>
                        <a:t>MVPs</a:t>
                      </a:r>
                      <a:r>
                        <a:rPr lang="es-ES" sz="1000" b="0" i="0" u="none" strike="noStrike" dirty="0">
                          <a:solidFill>
                            <a:srgbClr val="000000"/>
                          </a:solidFill>
                          <a:effectLst/>
                          <a:latin typeface="Aptos Narrow" panose="020B0004020202020204" pitchFamily="34" charset="0"/>
                        </a:rPr>
                        <a:t>)</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7237902"/>
                  </a:ext>
                </a:extLst>
              </a:tr>
              <a:tr h="167070">
                <a:tc>
                  <a:txBody>
                    <a:bodyPr/>
                    <a:lstStyle/>
                    <a:p>
                      <a:pPr algn="ctr" fontAlgn="b"/>
                      <a:r>
                        <a:rPr lang="es-MX" sz="1000" b="0" i="0" u="none" strike="noStrike">
                          <a:solidFill>
                            <a:srgbClr val="000000"/>
                          </a:solidFill>
                          <a:effectLst/>
                          <a:latin typeface="Aptos Narrow" panose="020B000402020202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MX" sz="1000" b="0" i="0" u="none" strike="noStrike" dirty="0">
                          <a:solidFill>
                            <a:srgbClr val="000000"/>
                          </a:solidFill>
                          <a:effectLst/>
                          <a:latin typeface="Aptos Narrow" panose="020B0004020202020204" pitchFamily="34" charset="0"/>
                        </a:rPr>
                        <a:t> Ingresos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 (este año 2MVPs, 2MVP 2027)</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5745718"/>
                  </a:ext>
                </a:extLst>
              </a:tr>
              <a:tr h="167070">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MX" sz="1000" b="0" i="0" u="none" strike="noStrike" dirty="0">
                          <a:solidFill>
                            <a:srgbClr val="000000"/>
                          </a:solidFill>
                          <a:effectLst/>
                          <a:latin typeface="Aptos Narrow" panose="020B0004020202020204" pitchFamily="34" charset="0"/>
                        </a:rPr>
                        <a:t> Cuentas por Pagar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Proyectos de automatización, cumplimiento al plan</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3253773"/>
                  </a:ext>
                </a:extLst>
              </a:tr>
              <a:tr h="167070">
                <a:tc>
                  <a:txBody>
                    <a:bodyPr/>
                    <a:lstStyle/>
                    <a:p>
                      <a:pPr algn="ctr" fontAlgn="b"/>
                      <a:r>
                        <a:rPr lang="es-MX" sz="1000" b="0" i="0" u="none" strike="noStrike">
                          <a:solidFill>
                            <a:srgbClr val="000000"/>
                          </a:solidFill>
                          <a:effectLst/>
                          <a:latin typeface="Aptos Narrow" panose="020B000402020202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MX" sz="1000" b="0" i="0" u="none" strike="noStrike" dirty="0">
                          <a:solidFill>
                            <a:srgbClr val="000000"/>
                          </a:solidFill>
                          <a:effectLst/>
                          <a:latin typeface="Aptos Narrow" panose="020B0004020202020204" pitchFamily="34" charset="0"/>
                        </a:rPr>
                        <a:t> Cuentas por Pagar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 (este año RFI, Selección, Cotización y arranque)</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2149225"/>
                  </a:ext>
                </a:extLst>
              </a:tr>
              <a:tr h="167070">
                <a:tc>
                  <a:txBody>
                    <a:bodyPr/>
                    <a:lstStyle/>
                    <a:p>
                      <a:pPr algn="ctr" fontAlgn="b"/>
                      <a:r>
                        <a:rPr lang="es-MX" sz="1000" b="0" i="0" u="none" strike="noStrike">
                          <a:solidFill>
                            <a:srgbClr val="000000"/>
                          </a:solidFill>
                          <a:effectLst/>
                          <a:latin typeface="Aptos Narrow" panose="020B000402020202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MX" sz="1000" b="0" i="0" u="none" strike="noStrike" dirty="0">
                          <a:solidFill>
                            <a:srgbClr val="000000"/>
                          </a:solidFill>
                          <a:effectLst/>
                          <a:latin typeface="Aptos Narrow" panose="020B0004020202020204" pitchFamily="34" charset="0"/>
                        </a:rPr>
                        <a:t> Cierre Contable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X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 (en aprobación de cotización). Para ICM prueba de realizar actividades en ciertos días del mes, buscando mejoras en la gestión.</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6192866"/>
                  </a:ext>
                </a:extLst>
              </a:tr>
              <a:tr h="167070">
                <a:tc>
                  <a:txBody>
                    <a:bodyPr/>
                    <a:lstStyle/>
                    <a:p>
                      <a:pPr algn="ctr" fontAlgn="b"/>
                      <a:r>
                        <a:rPr lang="es-MX" sz="1000" b="0" i="0" u="none" strike="noStrike">
                          <a:solidFill>
                            <a:srgbClr val="000000"/>
                          </a:solidFill>
                          <a:effectLst/>
                          <a:latin typeface="Aptos Narrow" panose="020B000402020202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MX" sz="1000" b="0" i="0" u="none" strike="noStrike" dirty="0">
                          <a:solidFill>
                            <a:srgbClr val="000000"/>
                          </a:solidFill>
                          <a:effectLst/>
                          <a:latin typeface="Aptos Narrow" panose="020B0004020202020204" pitchFamily="34" charset="0"/>
                        </a:rPr>
                        <a:t> Servicios Financieros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a:solidFill>
                            <a:srgbClr val="000000"/>
                          </a:solidFill>
                          <a:effectLst/>
                          <a:latin typeface="Aptos Narrow" panose="020B00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MX" sz="1000" b="0" i="0" u="none" strike="noStrike" dirty="0">
                          <a:solidFill>
                            <a:srgbClr val="000000"/>
                          </a:solidFill>
                          <a:effectLst/>
                          <a:latin typeface="Aptos Narrow" panose="020B0004020202020204" pitchFamily="34" charset="0"/>
                        </a:rPr>
                        <a:t> 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 (este año RFI, Selección, Cotización. Arranques finales – principio del 2027</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3981268"/>
                  </a:ext>
                </a:extLst>
              </a:tr>
              <a:tr h="167070">
                <a:tc>
                  <a:txBody>
                    <a:bodyPr/>
                    <a:lstStyle/>
                    <a:p>
                      <a:pPr algn="ctr" fontAlgn="b"/>
                      <a:r>
                        <a:rPr lang="es-ES" sz="1000" b="0" i="0" u="none" strike="noStrike" dirty="0">
                          <a:solidFill>
                            <a:srgbClr val="000000"/>
                          </a:solidFill>
                          <a:effectLst/>
                          <a:latin typeface="Aptos Narrow" panose="020B0004020202020204" pitchFamily="34" charset="0"/>
                        </a:rPr>
                        <a:t>6</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Inventarios de Mercancía</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Para este 2027, se está evaluando una solución que ayude a los coordinadores de inventario en tienda a realizarlo de forma ágil. Tomar una decisión para el Q2 del 2026</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0242942"/>
                  </a:ext>
                </a:extLst>
              </a:tr>
              <a:tr h="327457">
                <a:tc>
                  <a:txBody>
                    <a:bodyPr/>
                    <a:lstStyle/>
                    <a:p>
                      <a:pPr algn="ctr" fontAlgn="b"/>
                      <a:r>
                        <a:rPr lang="es-ES" sz="1000" b="0" i="0" u="none" strike="noStrike" dirty="0">
                          <a:solidFill>
                            <a:srgbClr val="000000"/>
                          </a:solidFill>
                          <a:effectLst/>
                          <a:latin typeface="Aptos Narrow" panose="020B0004020202020204" pitchFamily="34" charset="0"/>
                        </a:rPr>
                        <a:t>7</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Cumplimiento Fiscal, atención de auditorías, Atención a cambios normativos</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Atención de los requerimientos de información, de cambios de impuestos, de cambios que se lleguen a publicar.  Este año está en proceso de estabilización un </a:t>
                      </a:r>
                      <a:r>
                        <a:rPr lang="es-ES" sz="1000" b="0" i="0" u="none" strike="noStrike" dirty="0" err="1">
                          <a:solidFill>
                            <a:srgbClr val="000000"/>
                          </a:solidFill>
                          <a:effectLst/>
                          <a:latin typeface="Aptos Narrow" panose="020B0004020202020204" pitchFamily="34" charset="0"/>
                        </a:rPr>
                        <a:t>chatbot</a:t>
                      </a:r>
                      <a:r>
                        <a:rPr lang="es-ES" sz="1000" b="0" i="0" u="none" strike="noStrike" dirty="0">
                          <a:solidFill>
                            <a:srgbClr val="000000"/>
                          </a:solidFill>
                          <a:effectLst/>
                          <a:latin typeface="Aptos Narrow" panose="020B0004020202020204" pitchFamily="34" charset="0"/>
                        </a:rPr>
                        <a:t> fiscal. Otro caso es una eficiencia de analítica fiscal que se realizar con un tercero (determinar qué implica desarrollarlo en casa, y/o bajar costos de la opción actual.</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4292635"/>
                  </a:ext>
                </a:extLst>
              </a:tr>
              <a:tr h="327457">
                <a:tc>
                  <a:txBody>
                    <a:bodyPr/>
                    <a:lstStyle/>
                    <a:p>
                      <a:pPr algn="ctr" fontAlgn="b"/>
                      <a:r>
                        <a:rPr lang="es-ES" sz="1000" b="0" i="0" u="none" strike="noStrike" dirty="0">
                          <a:solidFill>
                            <a:srgbClr val="000000"/>
                          </a:solidFill>
                          <a:effectLst/>
                          <a:latin typeface="Aptos Narrow" panose="020B0004020202020204" pitchFamily="34" charset="0"/>
                        </a:rPr>
                        <a:t>8</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Cumplimiento Legal: Gestión de Contratos, Cumplimiento Normativo, Litigios,  Permisos</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Cumplimiento a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 proyectos de Legal y normatividad, son las áreas con la que este año traemos proyectos.</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5983245"/>
                  </a:ext>
                </a:extLst>
              </a:tr>
              <a:tr h="167070">
                <a:tc>
                  <a:txBody>
                    <a:bodyPr/>
                    <a:lstStyle/>
                    <a:p>
                      <a:pPr algn="ctr" fontAlgn="b"/>
                      <a:r>
                        <a:rPr lang="es-ES" sz="1000" b="0" i="0" u="none" strike="noStrike" dirty="0">
                          <a:solidFill>
                            <a:srgbClr val="000000"/>
                          </a:solidFill>
                          <a:effectLst/>
                          <a:latin typeface="Aptos Narrow" panose="020B0004020202020204" pitchFamily="34" charset="0"/>
                        </a:rPr>
                        <a:t>9</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Nómina, Compensación y Beneficios</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a:solidFill>
                            <a:srgbClr val="000000"/>
                          </a:solidFill>
                          <a:effectLst/>
                          <a:latin typeface="Aptos Narrow" panose="020B0004020202020204" pitchFamily="34" charset="0"/>
                        </a:rPr>
                        <a:t>Está en análisis el proyecto de reducción de jornada laboral, Cumplimiento al </a:t>
                      </a: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del proyecto.</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2823049"/>
                  </a:ext>
                </a:extLst>
              </a:tr>
              <a:tr h="167070">
                <a:tc>
                  <a:txBody>
                    <a:bodyPr/>
                    <a:lstStyle/>
                    <a:p>
                      <a:pPr algn="ctr" fontAlgn="b"/>
                      <a:r>
                        <a:rPr lang="es-ES" sz="1000" b="0" i="0" u="none" strike="noStrike" dirty="0">
                          <a:solidFill>
                            <a:srgbClr val="000000"/>
                          </a:solidFill>
                          <a:effectLst/>
                          <a:latin typeface="Aptos Narrow" panose="020B0004020202020204" pitchFamily="34" charset="0"/>
                        </a:rPr>
                        <a:t>10</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Reclutamiento y Selección de Personal (ABC)</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s-ES" sz="1000" b="0" i="0" u="none" strike="noStrike" dirty="0" err="1">
                          <a:solidFill>
                            <a:srgbClr val="000000"/>
                          </a:solidFill>
                          <a:effectLst/>
                          <a:latin typeface="Aptos Narrow" panose="020B0004020202020204" pitchFamily="34" charset="0"/>
                        </a:rPr>
                        <a:t>Roadmap</a:t>
                      </a:r>
                      <a:r>
                        <a:rPr lang="es-ES" sz="1000" b="0" i="0" u="none" strike="noStrike" dirty="0">
                          <a:solidFill>
                            <a:srgbClr val="000000"/>
                          </a:solidFill>
                          <a:effectLst/>
                          <a:latin typeface="Aptos Narrow" panose="020B0004020202020204" pitchFamily="34" charset="0"/>
                        </a:rPr>
                        <a:t> 2026 de proyectos de automatización del centro de servicios de RH.</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1900057"/>
                  </a:ext>
                </a:extLst>
              </a:tr>
              <a:tr h="167070">
                <a:tc>
                  <a:txBody>
                    <a:bodyPr/>
                    <a:lstStyle/>
                    <a:p>
                      <a:pPr algn="ctr" fontAlgn="b"/>
                      <a:r>
                        <a:rPr lang="es-ES" sz="1000" b="0" i="0" u="none" strike="noStrike" dirty="0">
                          <a:solidFill>
                            <a:srgbClr val="000000"/>
                          </a:solidFill>
                          <a:effectLst/>
                          <a:latin typeface="Aptos Narrow" panose="020B0004020202020204" pitchFamily="34" charset="0"/>
                        </a:rPr>
                        <a:t>11</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dirty="0"/>
                        <a:t>Gestión Administrativa del Personal</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dirty="0"/>
                        <a:t>Proyectos que tocan las plataformas de SADEL, REFLEXIS</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5810033"/>
                  </a:ext>
                </a:extLst>
              </a:tr>
              <a:tr h="167070">
                <a:tc>
                  <a:txBody>
                    <a:bodyPr/>
                    <a:lstStyle/>
                    <a:p>
                      <a:pPr algn="ctr" fontAlgn="b"/>
                      <a:r>
                        <a:rPr lang="es-ES" sz="1000" b="0" i="0" u="none" strike="noStrike" dirty="0">
                          <a:solidFill>
                            <a:srgbClr val="000000"/>
                          </a:solidFill>
                          <a:effectLst/>
                          <a:latin typeface="Aptos Narrow" panose="020B0004020202020204" pitchFamily="34" charset="0"/>
                        </a:rPr>
                        <a:t>12</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Proyectos de integración con SAP</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s-ES" sz="1000" b="0" i="0" u="none" strike="noStrike" dirty="0">
                          <a:solidFill>
                            <a:srgbClr val="000000"/>
                          </a:solidFill>
                          <a:effectLst/>
                          <a:latin typeface="Aptos Narrow" panose="020B0004020202020204" pitchFamily="34" charset="0"/>
                        </a:rPr>
                        <a:t>X</a:t>
                      </a:r>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s-MX" sz="10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s-ES" sz="1000" b="0" i="0" u="none" strike="noStrike" dirty="0">
                          <a:solidFill>
                            <a:srgbClr val="000000"/>
                          </a:solidFill>
                          <a:effectLst/>
                          <a:latin typeface="Aptos Narrow" panose="020B0004020202020204" pitchFamily="34" charset="0"/>
                        </a:rPr>
                        <a:t>El actor principal en estos proyectos es Xpertal, derivado de cambios que ellos gestionan se derivan actividades para OXXO (integraciones, pruebas)</a:t>
                      </a:r>
                      <a:endParaRPr lang="es-MX" sz="1000" b="0" i="0" u="none" strike="noStrike" dirty="0">
                        <a:solidFill>
                          <a:srgbClr val="000000"/>
                        </a:solidFill>
                        <a:effectLst/>
                        <a:latin typeface="Aptos Narrow" panose="020B000402020202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1388086"/>
                  </a:ext>
                </a:extLst>
              </a:tr>
            </a:tbl>
          </a:graphicData>
        </a:graphic>
      </p:graphicFrame>
      <p:sp>
        <p:nvSpPr>
          <p:cNvPr id="13" name="CuadroTexto 12">
            <a:extLst>
              <a:ext uri="{FF2B5EF4-FFF2-40B4-BE49-F238E27FC236}">
                <a16:creationId xmlns:a16="http://schemas.microsoft.com/office/drawing/2014/main" id="{93544BCD-5775-6182-A1E1-752EA438DE8C}"/>
              </a:ext>
            </a:extLst>
          </p:cNvPr>
          <p:cNvSpPr txBox="1"/>
          <p:nvPr/>
        </p:nvSpPr>
        <p:spPr>
          <a:xfrm>
            <a:off x="3266208" y="1394934"/>
            <a:ext cx="4251961" cy="215444"/>
          </a:xfrm>
          <a:prstGeom prst="rect">
            <a:avLst/>
          </a:prstGeom>
          <a:noFill/>
        </p:spPr>
        <p:txBody>
          <a:bodyPr wrap="square">
            <a:spAutoFit/>
          </a:bodyPr>
          <a:lstStyle/>
          <a:p>
            <a:pPr algn="ctr"/>
            <a:r>
              <a:rPr lang="es-ES" sz="800" i="1" dirty="0"/>
              <a:t>Identificar (</a:t>
            </a:r>
            <a:r>
              <a:rPr lang="es-ES" sz="800" i="1" dirty="0" err="1"/>
              <a:t>Accountable</a:t>
            </a:r>
            <a:r>
              <a:rPr lang="es-ES" sz="800" i="1" dirty="0"/>
              <a:t>) y áreas impactadas (Responsable, Consultado, Informados, Soporte)</a:t>
            </a:r>
            <a:endParaRPr lang="es-MX" sz="800" dirty="0"/>
          </a:p>
        </p:txBody>
      </p:sp>
      <p:sp>
        <p:nvSpPr>
          <p:cNvPr id="5" name="Rectangle 2">
            <a:extLst>
              <a:ext uri="{FF2B5EF4-FFF2-40B4-BE49-F238E27FC236}">
                <a16:creationId xmlns:a16="http://schemas.microsoft.com/office/drawing/2014/main" id="{DB6D766A-A342-343A-BBFC-F24E8146FDE2}"/>
              </a:ext>
            </a:extLst>
          </p:cNvPr>
          <p:cNvSpPr>
            <a:spLocks noChangeArrowheads="1"/>
          </p:cNvSpPr>
          <p:nvPr/>
        </p:nvSpPr>
        <p:spPr bwMode="auto">
          <a:xfrm>
            <a:off x="299085" y="111691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000" b="0" i="1" u="none" strike="noStrike" cap="none" normalizeH="0" baseline="0" dirty="0">
                <a:ln>
                  <a:noFill/>
                </a:ln>
                <a:solidFill>
                  <a:srgbClr val="0070C0"/>
                </a:solidFill>
                <a:effectLst/>
                <a:latin typeface="Arial" panose="020B0604020202020204" pitchFamily="34" charset="0"/>
                <a:ea typeface="Aptos" panose="020B0004020202020204" pitchFamily="34" charset="0"/>
                <a:cs typeface="Aptos" panose="020B0004020202020204" pitchFamily="34" charset="0"/>
              </a:rPr>
              <a:t>procesos </a:t>
            </a:r>
            <a:r>
              <a:rPr kumimoji="0" lang="es-MX" altLang="es-MX" sz="1000" b="0" i="1" u="none" strike="noStrike" cap="none" normalizeH="0" baseline="0" dirty="0" err="1">
                <a:ln>
                  <a:noFill/>
                </a:ln>
                <a:solidFill>
                  <a:srgbClr val="0070C0"/>
                </a:solidFill>
                <a:effectLst/>
                <a:latin typeface="Arial" panose="020B0604020202020204" pitchFamily="34" charset="0"/>
                <a:ea typeface="Aptos" panose="020B0004020202020204" pitchFamily="34" charset="0"/>
                <a:cs typeface="Aptos" panose="020B0004020202020204" pitchFamily="34" charset="0"/>
              </a:rPr>
              <a:t>core</a:t>
            </a:r>
            <a:r>
              <a:rPr kumimoji="0" lang="es-MX" altLang="es-MX" sz="1000" b="0" i="1" u="none" strike="noStrike" cap="none" normalizeH="0" baseline="0" dirty="0">
                <a:ln>
                  <a:noFill/>
                </a:ln>
                <a:solidFill>
                  <a:srgbClr val="0070C0"/>
                </a:solidFill>
                <a:effectLst/>
                <a:latin typeface="Arial" panose="020B0604020202020204" pitchFamily="34" charset="0"/>
                <a:ea typeface="Aptos" panose="020B0004020202020204" pitchFamily="34" charset="0"/>
                <a:cs typeface="Aptos" panose="020B0004020202020204" pitchFamily="34" charset="0"/>
              </a:rPr>
              <a:t> de tu plataforma y qué roles de tu área intervienen en él, cuál es el entregable de cada proceso. </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56AD7A4A-2AE9-8917-4878-0093409AC231}"/>
              </a:ext>
            </a:extLst>
          </p:cNvPr>
          <p:cNvSpPr txBox="1"/>
          <p:nvPr/>
        </p:nvSpPr>
        <p:spPr>
          <a:xfrm>
            <a:off x="107372" y="5777999"/>
            <a:ext cx="4251961" cy="215444"/>
          </a:xfrm>
          <a:prstGeom prst="rect">
            <a:avLst/>
          </a:prstGeom>
          <a:noFill/>
        </p:spPr>
        <p:txBody>
          <a:bodyPr wrap="square">
            <a:spAutoFit/>
          </a:bodyPr>
          <a:lstStyle/>
          <a:p>
            <a:r>
              <a:rPr lang="es-ES" sz="800" i="1" dirty="0">
                <a:solidFill>
                  <a:srgbClr val="0070C0"/>
                </a:solidFill>
              </a:rPr>
              <a:t>Caso Fiscal, es un área que al final forma parte de todos los procesos de la DAF</a:t>
            </a:r>
            <a:endParaRPr lang="es-MX" sz="800" dirty="0">
              <a:solidFill>
                <a:srgbClr val="0070C0"/>
              </a:solidFill>
            </a:endParaRPr>
          </a:p>
        </p:txBody>
      </p:sp>
    </p:spTree>
    <p:extLst>
      <p:ext uri="{BB962C8B-B14F-4D97-AF65-F5344CB8AC3E}">
        <p14:creationId xmlns:p14="http://schemas.microsoft.com/office/powerpoint/2010/main" val="1894943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B80DD89-91A3-35BF-46F8-436A28D7C493}"/>
              </a:ext>
            </a:extLst>
          </p:cNvPr>
          <p:cNvSpPr txBox="1"/>
          <p:nvPr/>
        </p:nvSpPr>
        <p:spPr>
          <a:xfrm>
            <a:off x="542925" y="1266334"/>
            <a:ext cx="9048750" cy="523220"/>
          </a:xfrm>
          <a:prstGeom prst="rect">
            <a:avLst/>
          </a:prstGeom>
          <a:noFill/>
        </p:spPr>
        <p:txBody>
          <a:bodyPr wrap="square">
            <a:spAutoFit/>
          </a:bodyPr>
          <a:lstStyle/>
          <a:p>
            <a:r>
              <a:rPr lang="es-ES" sz="1400"/>
              <a:t>Objetivo:</a:t>
            </a:r>
          </a:p>
          <a:p>
            <a:pPr marL="285750" indent="-285750">
              <a:buFont typeface="Arial" panose="020B0604020202020204" pitchFamily="34" charset="0"/>
              <a:buChar char="•"/>
            </a:pPr>
            <a:r>
              <a:rPr lang="es-ES" sz="1400" i="1"/>
              <a:t>Validar</a:t>
            </a:r>
            <a:endParaRPr lang="es-MX" sz="1400" i="1"/>
          </a:p>
        </p:txBody>
      </p:sp>
      <p:sp>
        <p:nvSpPr>
          <p:cNvPr id="8" name="Título 7">
            <a:extLst>
              <a:ext uri="{FF2B5EF4-FFF2-40B4-BE49-F238E27FC236}">
                <a16:creationId xmlns:a16="http://schemas.microsoft.com/office/drawing/2014/main" id="{35769B02-838B-10EC-DB8D-8A4ED180CC34}"/>
              </a:ext>
            </a:extLst>
          </p:cNvPr>
          <p:cNvSpPr>
            <a:spLocks noGrp="1"/>
          </p:cNvSpPr>
          <p:nvPr>
            <p:ph type="title"/>
          </p:nvPr>
        </p:nvSpPr>
        <p:spPr/>
        <p:txBody>
          <a:bodyPr/>
          <a:lstStyle/>
          <a:p>
            <a:r>
              <a:rPr lang="es-ES"/>
              <a:t>Premisas Soluciones Backoffice</a:t>
            </a:r>
            <a:endParaRPr lang="es-MX"/>
          </a:p>
        </p:txBody>
      </p:sp>
    </p:spTree>
    <p:extLst>
      <p:ext uri="{BB962C8B-B14F-4D97-AF65-F5344CB8AC3E}">
        <p14:creationId xmlns:p14="http://schemas.microsoft.com/office/powerpoint/2010/main" val="396320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A7823-5928-7F89-B21B-AE20319DF6F9}"/>
              </a:ext>
            </a:extLst>
          </p:cNvPr>
          <p:cNvSpPr>
            <a:spLocks noGrp="1"/>
          </p:cNvSpPr>
          <p:nvPr>
            <p:ph type="title"/>
          </p:nvPr>
        </p:nvSpPr>
        <p:spPr/>
        <p:txBody>
          <a:bodyPr/>
          <a:lstStyle/>
          <a:p>
            <a:r>
              <a:rPr lang="es-MX"/>
              <a:t>Preguntas de reflexión</a:t>
            </a:r>
          </a:p>
        </p:txBody>
      </p:sp>
      <p:sp>
        <p:nvSpPr>
          <p:cNvPr id="3" name="Marcador de contenido 2">
            <a:extLst>
              <a:ext uri="{FF2B5EF4-FFF2-40B4-BE49-F238E27FC236}">
                <a16:creationId xmlns:a16="http://schemas.microsoft.com/office/drawing/2014/main" id="{01DB22CF-2172-110F-3136-96E309847836}"/>
              </a:ext>
            </a:extLst>
          </p:cNvPr>
          <p:cNvSpPr>
            <a:spLocks noGrp="1"/>
          </p:cNvSpPr>
          <p:nvPr>
            <p:ph idx="1"/>
          </p:nvPr>
        </p:nvSpPr>
        <p:spPr/>
        <p:txBody>
          <a:bodyPr>
            <a:normAutofit/>
          </a:bodyPr>
          <a:lstStyle/>
          <a:p>
            <a:pPr marL="457200" indent="-457200" fontAlgn="t">
              <a:buFont typeface="+mj-lt"/>
              <a:buAutoNum type="arabicPeriod"/>
            </a:pPr>
            <a:r>
              <a:rPr lang="es-MX" sz="1800" i="1"/>
              <a:t>¿Tu Descripción de Puesto y el funciograma de tu área reflejan con precisión las </a:t>
            </a:r>
            <a:r>
              <a:rPr lang="es-MX" sz="1800" b="1" i="1"/>
              <a:t>actividades y responsabilidades que realmente realizas en el día a día </a:t>
            </a:r>
            <a:r>
              <a:rPr lang="es-MX" sz="1800" i="1"/>
              <a:t>(TO BE)?</a:t>
            </a:r>
          </a:p>
          <a:p>
            <a:pPr marL="457200" indent="-457200" fontAlgn="t">
              <a:buFont typeface="+mj-lt"/>
              <a:buAutoNum type="arabicPeriod"/>
            </a:pPr>
            <a:endParaRPr lang="es-MX" sz="1800" i="1"/>
          </a:p>
          <a:p>
            <a:pPr marL="457200" indent="-457200" fontAlgn="t">
              <a:buFont typeface="+mj-lt"/>
              <a:buAutoNum type="arabicPeriod"/>
            </a:pPr>
            <a:r>
              <a:rPr lang="es-MX" sz="1800" i="1"/>
              <a:t>¿Tienes alguna </a:t>
            </a:r>
            <a:r>
              <a:rPr lang="es-MX" sz="1800" b="1" i="1"/>
              <a:t>duda específica sobre el funcionamiento </a:t>
            </a:r>
            <a:r>
              <a:rPr lang="es-MX" sz="1800" i="1"/>
              <a:t>de tu área o sobre la estructura de la organización?</a:t>
            </a:r>
          </a:p>
          <a:p>
            <a:pPr marL="457200" indent="-457200" fontAlgn="t">
              <a:buFont typeface="+mj-lt"/>
              <a:buAutoNum type="arabicPeriod"/>
            </a:pPr>
            <a:endParaRPr lang="es-MX" sz="1800" i="1"/>
          </a:p>
          <a:p>
            <a:pPr marL="457200" indent="-457200" fontAlgn="t">
              <a:buFont typeface="+mj-lt"/>
              <a:buAutoNum type="arabicPeriod"/>
            </a:pPr>
            <a:r>
              <a:rPr lang="es-MX" sz="1800" i="1"/>
              <a:t>¿Existe algún </a:t>
            </a:r>
            <a:r>
              <a:rPr lang="es-MX" sz="1800" b="1" i="1"/>
              <a:t>proceso que consideres necesario rediseñar </a:t>
            </a:r>
            <a:r>
              <a:rPr lang="es-MX" sz="1800" i="1"/>
              <a:t>para mejorar las interacciones, la eficiencia o el funcionamiento general de tu área?</a:t>
            </a:r>
          </a:p>
          <a:p>
            <a:pPr marL="0" indent="0" fontAlgn="t">
              <a:buNone/>
            </a:pPr>
            <a:endParaRPr lang="es-MX" sz="1800" i="1"/>
          </a:p>
          <a:p>
            <a:pPr marL="457200" indent="-457200" fontAlgn="t">
              <a:buFont typeface="+mj-lt"/>
              <a:buAutoNum type="arabicPeriod" startAt="4"/>
            </a:pPr>
            <a:r>
              <a:rPr lang="es-MX" sz="1800" i="1"/>
              <a:t>Si recientemente asumiste nuevas responsabilidades, ¿ya </a:t>
            </a:r>
            <a:r>
              <a:rPr lang="es-MX" sz="1800" b="1" i="1"/>
              <a:t>se realizó de manera efectiva la transferencia</a:t>
            </a:r>
            <a:r>
              <a:rPr lang="es-MX" sz="1800" i="1"/>
              <a:t> de actividades dentro de tu equipo?</a:t>
            </a:r>
          </a:p>
          <a:p>
            <a:pPr marL="457200" indent="-457200" fontAlgn="t">
              <a:buFont typeface="+mj-lt"/>
              <a:buAutoNum type="arabicPeriod" startAt="4"/>
            </a:pPr>
            <a:endParaRPr lang="es-MX" sz="1800" i="1"/>
          </a:p>
          <a:p>
            <a:pPr marL="457200" indent="-457200" fontAlgn="t">
              <a:buFont typeface="+mj-lt"/>
              <a:buAutoNum type="arabicPeriod" startAt="4"/>
            </a:pPr>
            <a:r>
              <a:rPr lang="es-MX" sz="1800" i="1"/>
              <a:t>¿Qué rituales, prácticas o espacios de trabajo consideras esenciales para asegurar un funcionamiento adecuado y sostenido en tu área?</a:t>
            </a:r>
          </a:p>
          <a:p>
            <a:pPr marL="457200" indent="-457200" fontAlgn="t">
              <a:buFont typeface="+mj-lt"/>
              <a:buAutoNum type="arabicPeriod" startAt="4"/>
            </a:pPr>
            <a:endParaRPr lang="es-MX" sz="1800" i="1"/>
          </a:p>
        </p:txBody>
      </p:sp>
      <p:sp>
        <p:nvSpPr>
          <p:cNvPr id="4" name="Marcador de número de diapositiva 3">
            <a:extLst>
              <a:ext uri="{FF2B5EF4-FFF2-40B4-BE49-F238E27FC236}">
                <a16:creationId xmlns:a16="http://schemas.microsoft.com/office/drawing/2014/main" id="{6D93FCBE-2554-B3CE-F23D-2B24D0D03EA2}"/>
              </a:ext>
            </a:extLst>
          </p:cNvPr>
          <p:cNvSpPr>
            <a:spLocks noGrp="1"/>
          </p:cNvSpPr>
          <p:nvPr>
            <p:ph type="sldNum" sz="quarter" idx="10"/>
          </p:nvPr>
        </p:nvSpPr>
        <p:spPr/>
        <p:txBody>
          <a:bodyPr/>
          <a:lstStyle/>
          <a:p>
            <a:pPr>
              <a:defRPr/>
            </a:pPr>
            <a:fld id="{27059DBC-E59A-064C-BA88-35FC96E8C5B3}" type="slidenum">
              <a:rPr lang="es-MX" smtClean="0"/>
              <a:pPr>
                <a:defRPr/>
              </a:pPr>
              <a:t>12</a:t>
            </a:fld>
            <a:endParaRPr lang="es-MX"/>
          </a:p>
        </p:txBody>
      </p:sp>
    </p:spTree>
    <p:extLst>
      <p:ext uri="{BB962C8B-B14F-4D97-AF65-F5344CB8AC3E}">
        <p14:creationId xmlns:p14="http://schemas.microsoft.com/office/powerpoint/2010/main" val="96599827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806B172-0982-651C-EEE2-0D24B6E9CAD5}"/>
              </a:ext>
            </a:extLst>
          </p:cNvPr>
          <p:cNvSpPr/>
          <p:nvPr/>
        </p:nvSpPr>
        <p:spPr>
          <a:xfrm>
            <a:off x="472165" y="2575401"/>
            <a:ext cx="11462660" cy="13661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Título 20">
            <a:extLst>
              <a:ext uri="{FF2B5EF4-FFF2-40B4-BE49-F238E27FC236}">
                <a16:creationId xmlns:a16="http://schemas.microsoft.com/office/drawing/2014/main" id="{B88914EE-B506-F0C6-8357-031C4757502C}"/>
              </a:ext>
            </a:extLst>
          </p:cNvPr>
          <p:cNvSpPr>
            <a:spLocks noGrp="1"/>
          </p:cNvSpPr>
          <p:nvPr>
            <p:ph type="title"/>
          </p:nvPr>
        </p:nvSpPr>
        <p:spPr/>
        <p:txBody>
          <a:bodyPr/>
          <a:lstStyle/>
          <a:p>
            <a:r>
              <a:rPr lang="es-ES"/>
              <a:t>Siguientes pasos</a:t>
            </a:r>
            <a:endParaRPr lang="es-MX"/>
          </a:p>
        </p:txBody>
      </p:sp>
      <p:graphicFrame>
        <p:nvGraphicFramePr>
          <p:cNvPr id="29" name="btfpTable784278">
            <a:extLst>
              <a:ext uri="{FF2B5EF4-FFF2-40B4-BE49-F238E27FC236}">
                <a16:creationId xmlns:a16="http://schemas.microsoft.com/office/drawing/2014/main" id="{A7A66688-F2B3-FE5B-7917-622407268BF7}"/>
              </a:ext>
            </a:extLst>
          </p:cNvPr>
          <p:cNvGraphicFramePr>
            <a:graphicFrameLocks noGrp="1"/>
          </p:cNvGraphicFramePr>
          <p:nvPr>
            <p:custDataLst>
              <p:tags r:id="rId2"/>
            </p:custDataLst>
            <p:extLst>
              <p:ext uri="{D42A27DB-BD31-4B8C-83A1-F6EECF244321}">
                <p14:modId xmlns:p14="http://schemas.microsoft.com/office/powerpoint/2010/main" val="1509042239"/>
              </p:ext>
            </p:extLst>
          </p:nvPr>
        </p:nvGraphicFramePr>
        <p:xfrm>
          <a:off x="2767155" y="1103442"/>
          <a:ext cx="8847992" cy="4730091"/>
        </p:xfrm>
        <a:graphic>
          <a:graphicData uri="http://schemas.openxmlformats.org/drawingml/2006/table">
            <a:tbl>
              <a:tblPr firstRow="1" firstCol="1">
                <a:tableStyleId>{9D7B26C5-4107-4FEC-AEDC-1716B250A1EF}</a:tableStyleId>
              </a:tblPr>
              <a:tblGrid>
                <a:gridCol w="395373">
                  <a:extLst>
                    <a:ext uri="{9D8B030D-6E8A-4147-A177-3AD203B41FA5}">
                      <a16:colId xmlns:a16="http://schemas.microsoft.com/office/drawing/2014/main" val="3314553648"/>
                    </a:ext>
                  </a:extLst>
                </a:gridCol>
                <a:gridCol w="388860">
                  <a:extLst>
                    <a:ext uri="{9D8B030D-6E8A-4147-A177-3AD203B41FA5}">
                      <a16:colId xmlns:a16="http://schemas.microsoft.com/office/drawing/2014/main" val="71576085"/>
                    </a:ext>
                  </a:extLst>
                </a:gridCol>
                <a:gridCol w="388860">
                  <a:extLst>
                    <a:ext uri="{9D8B030D-6E8A-4147-A177-3AD203B41FA5}">
                      <a16:colId xmlns:a16="http://schemas.microsoft.com/office/drawing/2014/main" val="2575597997"/>
                    </a:ext>
                  </a:extLst>
                </a:gridCol>
                <a:gridCol w="456018">
                  <a:extLst>
                    <a:ext uri="{9D8B030D-6E8A-4147-A177-3AD203B41FA5}">
                      <a16:colId xmlns:a16="http://schemas.microsoft.com/office/drawing/2014/main" val="3663393661"/>
                    </a:ext>
                  </a:extLst>
                </a:gridCol>
                <a:gridCol w="415208">
                  <a:extLst>
                    <a:ext uri="{9D8B030D-6E8A-4147-A177-3AD203B41FA5}">
                      <a16:colId xmlns:a16="http://schemas.microsoft.com/office/drawing/2014/main" val="3432567884"/>
                    </a:ext>
                  </a:extLst>
                </a:gridCol>
                <a:gridCol w="462825">
                  <a:extLst>
                    <a:ext uri="{9D8B030D-6E8A-4147-A177-3AD203B41FA5}">
                      <a16:colId xmlns:a16="http://schemas.microsoft.com/office/drawing/2014/main" val="3237918825"/>
                    </a:ext>
                  </a:extLst>
                </a:gridCol>
                <a:gridCol w="396303">
                  <a:extLst>
                    <a:ext uri="{9D8B030D-6E8A-4147-A177-3AD203B41FA5}">
                      <a16:colId xmlns:a16="http://schemas.microsoft.com/office/drawing/2014/main" val="3878108686"/>
                    </a:ext>
                  </a:extLst>
                </a:gridCol>
                <a:gridCol w="396303">
                  <a:extLst>
                    <a:ext uri="{9D8B030D-6E8A-4147-A177-3AD203B41FA5}">
                      <a16:colId xmlns:a16="http://schemas.microsoft.com/office/drawing/2014/main" val="1855642880"/>
                    </a:ext>
                  </a:extLst>
                </a:gridCol>
                <a:gridCol w="396303">
                  <a:extLst>
                    <a:ext uri="{9D8B030D-6E8A-4147-A177-3AD203B41FA5}">
                      <a16:colId xmlns:a16="http://schemas.microsoft.com/office/drawing/2014/main" val="2404988957"/>
                    </a:ext>
                  </a:extLst>
                </a:gridCol>
                <a:gridCol w="396303">
                  <a:extLst>
                    <a:ext uri="{9D8B030D-6E8A-4147-A177-3AD203B41FA5}">
                      <a16:colId xmlns:a16="http://schemas.microsoft.com/office/drawing/2014/main" val="1872372367"/>
                    </a:ext>
                  </a:extLst>
                </a:gridCol>
                <a:gridCol w="396303">
                  <a:extLst>
                    <a:ext uri="{9D8B030D-6E8A-4147-A177-3AD203B41FA5}">
                      <a16:colId xmlns:a16="http://schemas.microsoft.com/office/drawing/2014/main" val="2182915151"/>
                    </a:ext>
                  </a:extLst>
                </a:gridCol>
                <a:gridCol w="396303">
                  <a:extLst>
                    <a:ext uri="{9D8B030D-6E8A-4147-A177-3AD203B41FA5}">
                      <a16:colId xmlns:a16="http://schemas.microsoft.com/office/drawing/2014/main" val="3583846727"/>
                    </a:ext>
                  </a:extLst>
                </a:gridCol>
                <a:gridCol w="396303">
                  <a:extLst>
                    <a:ext uri="{9D8B030D-6E8A-4147-A177-3AD203B41FA5}">
                      <a16:colId xmlns:a16="http://schemas.microsoft.com/office/drawing/2014/main" val="3948502103"/>
                    </a:ext>
                  </a:extLst>
                </a:gridCol>
                <a:gridCol w="396303">
                  <a:extLst>
                    <a:ext uri="{9D8B030D-6E8A-4147-A177-3AD203B41FA5}">
                      <a16:colId xmlns:a16="http://schemas.microsoft.com/office/drawing/2014/main" val="3889430077"/>
                    </a:ext>
                  </a:extLst>
                </a:gridCol>
                <a:gridCol w="396303">
                  <a:extLst>
                    <a:ext uri="{9D8B030D-6E8A-4147-A177-3AD203B41FA5}">
                      <a16:colId xmlns:a16="http://schemas.microsoft.com/office/drawing/2014/main" val="1119314941"/>
                    </a:ext>
                  </a:extLst>
                </a:gridCol>
                <a:gridCol w="396303">
                  <a:extLst>
                    <a:ext uri="{9D8B030D-6E8A-4147-A177-3AD203B41FA5}">
                      <a16:colId xmlns:a16="http://schemas.microsoft.com/office/drawing/2014/main" val="200118665"/>
                    </a:ext>
                  </a:extLst>
                </a:gridCol>
                <a:gridCol w="396303">
                  <a:extLst>
                    <a:ext uri="{9D8B030D-6E8A-4147-A177-3AD203B41FA5}">
                      <a16:colId xmlns:a16="http://schemas.microsoft.com/office/drawing/2014/main" val="425602745"/>
                    </a:ext>
                  </a:extLst>
                </a:gridCol>
                <a:gridCol w="396303">
                  <a:extLst>
                    <a:ext uri="{9D8B030D-6E8A-4147-A177-3AD203B41FA5}">
                      <a16:colId xmlns:a16="http://schemas.microsoft.com/office/drawing/2014/main" val="1192564800"/>
                    </a:ext>
                  </a:extLst>
                </a:gridCol>
                <a:gridCol w="396303">
                  <a:extLst>
                    <a:ext uri="{9D8B030D-6E8A-4147-A177-3AD203B41FA5}">
                      <a16:colId xmlns:a16="http://schemas.microsoft.com/office/drawing/2014/main" val="750770151"/>
                    </a:ext>
                  </a:extLst>
                </a:gridCol>
                <a:gridCol w="396303">
                  <a:extLst>
                    <a:ext uri="{9D8B030D-6E8A-4147-A177-3AD203B41FA5}">
                      <a16:colId xmlns:a16="http://schemas.microsoft.com/office/drawing/2014/main" val="1737538312"/>
                    </a:ext>
                  </a:extLst>
                </a:gridCol>
                <a:gridCol w="396303">
                  <a:extLst>
                    <a:ext uri="{9D8B030D-6E8A-4147-A177-3AD203B41FA5}">
                      <a16:colId xmlns:a16="http://schemas.microsoft.com/office/drawing/2014/main" val="528252452"/>
                    </a:ext>
                  </a:extLst>
                </a:gridCol>
                <a:gridCol w="396303">
                  <a:extLst>
                    <a:ext uri="{9D8B030D-6E8A-4147-A177-3AD203B41FA5}">
                      <a16:colId xmlns:a16="http://schemas.microsoft.com/office/drawing/2014/main" val="2726501097"/>
                    </a:ext>
                  </a:extLst>
                </a:gridCol>
              </a:tblGrid>
              <a:tr h="200342">
                <a:tc gridSpan="3">
                  <a:txBody>
                    <a:bodyPr/>
                    <a:lstStyle/>
                    <a:p>
                      <a:pPr marL="0" indent="0" algn="ctr" defTabSz="711200" rtl="0" eaLnBrk="1" latinLnBrk="0" hangingPunct="1">
                        <a:spcBef>
                          <a:spcPts val="1200"/>
                        </a:spcBef>
                        <a:buFontTx/>
                        <a:buNone/>
                      </a:pPr>
                      <a:r>
                        <a:rPr lang="en-US" sz="800" b="1" kern="1200" err="1">
                          <a:solidFill>
                            <a:srgbClr val="333333"/>
                          </a:solidFill>
                          <a:latin typeface="Arial" panose="020B0604020202020204" pitchFamily="34" charset="0"/>
                          <a:ea typeface="+mn-ea"/>
                          <a:cs typeface="Arial" panose="020B0604020202020204" pitchFamily="34" charset="0"/>
                        </a:rPr>
                        <a:t>Noviembre</a:t>
                      </a:r>
                      <a:endParaRPr lang="en-US" sz="800" b="1" kern="1200">
                        <a:solidFill>
                          <a:srgbClr val="333333"/>
                        </a:solidFill>
                        <a:latin typeface="Arial" panose="020B0604020202020204" pitchFamily="34" charset="0"/>
                        <a:ea typeface="+mn-ea"/>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defTabSz="711200" rtl="0" eaLnBrk="1" latinLnBrk="0" hangingPunct="1">
                        <a:spcBef>
                          <a:spcPts val="1200"/>
                        </a:spcBef>
                        <a:buFontTx/>
                        <a:buNone/>
                      </a:pPr>
                      <a:r>
                        <a:rPr lang="en-US" sz="800" b="1" kern="1200">
                          <a:solidFill>
                            <a:srgbClr val="333333"/>
                          </a:solidFill>
                          <a:latin typeface="+mn-lt"/>
                          <a:ea typeface="+mn-ea"/>
                          <a:cs typeface="+mn-cs"/>
                        </a:rPr>
                        <a:t>Noviembre</a:t>
                      </a: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gridSpan="3">
                  <a:txBody>
                    <a:bodyPr/>
                    <a:lstStyle/>
                    <a:p>
                      <a:pPr marL="0" indent="0" algn="ctr" defTabSz="711200" rtl="0" eaLnBrk="1" latinLnBrk="0" hangingPunct="1">
                        <a:spcBef>
                          <a:spcPts val="1200"/>
                        </a:spcBef>
                        <a:buFontTx/>
                        <a:buNone/>
                      </a:pPr>
                      <a:r>
                        <a:rPr lang="en-US" sz="800" b="1" kern="1200" err="1">
                          <a:solidFill>
                            <a:srgbClr val="333333"/>
                          </a:solidFill>
                          <a:latin typeface="Arial" panose="020B0604020202020204" pitchFamily="34" charset="0"/>
                          <a:ea typeface="+mn-ea"/>
                          <a:cs typeface="Arial" panose="020B0604020202020204" pitchFamily="34" charset="0"/>
                        </a:rPr>
                        <a:t>Diciembre</a:t>
                      </a:r>
                      <a:endParaRPr sz="800" b="1" kern="1200">
                        <a:solidFill>
                          <a:srgbClr val="333333"/>
                        </a:solidFill>
                        <a:latin typeface="Arial" panose="020B0604020202020204" pitchFamily="34" charset="0"/>
                        <a:ea typeface="+mn-ea"/>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1000" b="1">
                        <a:solidFill>
                          <a:srgbClr val="FFFFFF"/>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7F32"/>
                    </a:solidFill>
                  </a:tcPr>
                </a:tc>
                <a:tc hMerge="1">
                  <a:txBody>
                    <a:bodyPr/>
                    <a:lstStyle/>
                    <a:p>
                      <a:pPr marL="0" indent="0" algn="ctr">
                        <a:buFontTx/>
                        <a:buNone/>
                      </a:pPr>
                      <a:endParaRPr lang="en-US" sz="800" b="1">
                        <a:solidFill>
                          <a:srgbClr val="FFFFFF"/>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7F32"/>
                    </a:solidFill>
                  </a:tcPr>
                </a:tc>
                <a:tc gridSpan="4">
                  <a:txBody>
                    <a:bodyPr/>
                    <a:lstStyle/>
                    <a:p>
                      <a:pPr marL="0" indent="0" algn="ctr">
                        <a:buFontTx/>
                        <a:buNone/>
                      </a:pPr>
                      <a:r>
                        <a:rPr lang="en-US" sz="800" b="1" kern="1200" err="1">
                          <a:solidFill>
                            <a:srgbClr val="333333"/>
                          </a:solidFill>
                          <a:latin typeface="Arial" panose="020B0604020202020204" pitchFamily="34" charset="0"/>
                          <a:ea typeface="+mn-ea"/>
                          <a:cs typeface="Arial" panose="020B0604020202020204" pitchFamily="34" charset="0"/>
                        </a:rPr>
                        <a:t>Enero</a:t>
                      </a:r>
                      <a:endParaRPr lang="en-US" sz="800" b="1" kern="1200">
                        <a:solidFill>
                          <a:srgbClr val="333333"/>
                        </a:solidFill>
                        <a:latin typeface="Arial" panose="020B0604020202020204" pitchFamily="34" charset="0"/>
                        <a:ea typeface="+mn-ea"/>
                        <a:cs typeface="Arial" panose="020B060402020202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gridSpan="4">
                  <a:txBody>
                    <a:bodyPr/>
                    <a:lstStyle/>
                    <a:p>
                      <a:pPr marL="0" indent="0" algn="ctr">
                        <a:buFontTx/>
                        <a:buNone/>
                      </a:pPr>
                      <a:r>
                        <a:rPr lang="es-MX" sz="800" b="1" noProof="0">
                          <a:solidFill>
                            <a:srgbClr val="333333"/>
                          </a:solidFill>
                          <a:latin typeface="Arial" panose="020B0604020202020204" pitchFamily="34" charset="0"/>
                          <a:cs typeface="Arial" panose="020B0604020202020204" pitchFamily="34" charset="0"/>
                        </a:rPr>
                        <a:t>Febrero</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gridSpan="4">
                  <a:txBody>
                    <a:bodyPr/>
                    <a:lstStyle/>
                    <a:p>
                      <a:pPr marL="0" indent="0" algn="ctr">
                        <a:buFontTx/>
                        <a:buNone/>
                      </a:pPr>
                      <a:r>
                        <a:rPr lang="es-ES" sz="800" b="1" noProof="0">
                          <a:solidFill>
                            <a:srgbClr val="333333"/>
                          </a:solidFill>
                          <a:latin typeface="Arial" panose="020B0604020202020204" pitchFamily="34" charset="0"/>
                          <a:cs typeface="Arial" panose="020B0604020202020204" pitchFamily="34" charset="0"/>
                        </a:rPr>
                        <a:t>Marzo</a:t>
                      </a: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gridSpan="4">
                  <a:txBody>
                    <a:bodyPr/>
                    <a:lstStyle/>
                    <a:p>
                      <a:pPr marL="0" indent="0" algn="ctr">
                        <a:buFontTx/>
                        <a:buNone/>
                      </a:pPr>
                      <a:r>
                        <a:rPr lang="es-ES" sz="800" b="1" noProof="0">
                          <a:solidFill>
                            <a:srgbClr val="333333"/>
                          </a:solidFill>
                          <a:latin typeface="Arial" panose="020B0604020202020204" pitchFamily="34" charset="0"/>
                          <a:cs typeface="Arial" panose="020B0604020202020204" pitchFamily="34" charset="0"/>
                        </a:rPr>
                        <a:t>Abril</a:t>
                      </a: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3246470477"/>
                  </a:ext>
                </a:extLst>
              </a:tr>
              <a:tr h="209047">
                <a:tc>
                  <a:txBody>
                    <a:bodyPr/>
                    <a:lstStyle/>
                    <a:p>
                      <a:pPr marL="0" indent="0" algn="l" defTabSz="711200" rtl="0" eaLnBrk="1" latinLnBrk="0" hangingPunct="1">
                        <a:spcBef>
                          <a:spcPts val="1200"/>
                        </a:spcBef>
                        <a:buFontTx/>
                        <a:buNone/>
                      </a:pPr>
                      <a:r>
                        <a:rPr lang="en-US" sz="800" b="1" kern="1200">
                          <a:solidFill>
                            <a:srgbClr val="333333"/>
                          </a:solidFill>
                          <a:latin typeface="Arial" panose="020B0604020202020204" pitchFamily="34" charset="0"/>
                          <a:ea typeface="+mn-ea"/>
                          <a:cs typeface="Arial" panose="020B0604020202020204" pitchFamily="34" charset="0"/>
                        </a:rPr>
                        <a:t>10-14</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defTabSz="711200" rtl="0" eaLnBrk="1" latinLnBrk="0" hangingPunct="1">
                        <a:spcBef>
                          <a:spcPts val="1200"/>
                        </a:spcBef>
                        <a:buFontTx/>
                        <a:buNone/>
                      </a:pPr>
                      <a:r>
                        <a:rPr lang="en-US" sz="800" b="1" kern="1200">
                          <a:solidFill>
                            <a:srgbClr val="333333"/>
                          </a:solidFill>
                          <a:latin typeface="Arial" panose="020B0604020202020204" pitchFamily="34" charset="0"/>
                          <a:ea typeface="+mn-ea"/>
                          <a:cs typeface="Arial" panose="020B0604020202020204" pitchFamily="34" charset="0"/>
                        </a:rPr>
                        <a:t>17-21</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24-28</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01-05</a:t>
                      </a:r>
                      <a:endParaRPr lang="en-US" sz="800" b="1" baseline="3000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08-12</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ctr">
                        <a:buFontTx/>
                        <a:buNone/>
                      </a:pPr>
                      <a:r>
                        <a:rPr lang="en-US" sz="800" b="1">
                          <a:solidFill>
                            <a:srgbClr val="333333"/>
                          </a:solidFill>
                          <a:latin typeface="Arial" panose="020B0604020202020204" pitchFamily="34" charset="0"/>
                          <a:cs typeface="Arial" panose="020B0604020202020204" pitchFamily="34" charset="0"/>
                        </a:rPr>
                        <a:t>3 week freeze</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05-09</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12-16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19-23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26-30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02-06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09-13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16-20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23-27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02-06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09-13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16-20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23-27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30-03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06-10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13-17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20-24</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783730660"/>
                  </a:ext>
                </a:extLst>
              </a:tr>
              <a:tr h="937025">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12956"/>
                  </a:ext>
                </a:extLst>
              </a:tr>
              <a:tr h="1871133">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1250760"/>
                  </a:ext>
                </a:extLst>
              </a:tr>
              <a:tr h="946150">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2491739"/>
                  </a:ext>
                </a:extLst>
              </a:tr>
              <a:tr h="518583">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338163"/>
                  </a:ext>
                </a:extLst>
              </a:tr>
            </a:tbl>
          </a:graphicData>
        </a:graphic>
      </p:graphicFrame>
      <p:sp>
        <p:nvSpPr>
          <p:cNvPr id="30" name="Rectangle 16">
            <a:extLst>
              <a:ext uri="{FF2B5EF4-FFF2-40B4-BE49-F238E27FC236}">
                <a16:creationId xmlns:a16="http://schemas.microsoft.com/office/drawing/2014/main" id="{C220E77E-C825-D450-355D-D0AD1731DA4B}"/>
              </a:ext>
            </a:extLst>
          </p:cNvPr>
          <p:cNvSpPr/>
          <p:nvPr/>
        </p:nvSpPr>
        <p:spPr bwMode="auto">
          <a:xfrm rot="16200000">
            <a:off x="-158365" y="1846635"/>
            <a:ext cx="904387"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Higiénicos</a:t>
            </a:r>
          </a:p>
        </p:txBody>
      </p:sp>
      <p:graphicFrame>
        <p:nvGraphicFramePr>
          <p:cNvPr id="31" name="Tabla 30">
            <a:extLst>
              <a:ext uri="{FF2B5EF4-FFF2-40B4-BE49-F238E27FC236}">
                <a16:creationId xmlns:a16="http://schemas.microsoft.com/office/drawing/2014/main" id="{1A0481F2-F570-D7A6-693C-A2B429802D20}"/>
              </a:ext>
            </a:extLst>
          </p:cNvPr>
          <p:cNvGraphicFramePr>
            <a:graphicFrameLocks noGrp="1"/>
          </p:cNvGraphicFramePr>
          <p:nvPr>
            <p:extLst>
              <p:ext uri="{D42A27DB-BD31-4B8C-83A1-F6EECF244321}">
                <p14:modId xmlns:p14="http://schemas.microsoft.com/office/powerpoint/2010/main" val="2126340503"/>
              </p:ext>
            </p:extLst>
          </p:nvPr>
        </p:nvGraphicFramePr>
        <p:xfrm>
          <a:off x="486057" y="1586671"/>
          <a:ext cx="2289564" cy="904388"/>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Documentación áreas, propósitos y responsabilidades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Descripciones de Puesto L1 y L2</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581178669"/>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Descripciones de Puesto resto de organización</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02347413"/>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Matriz RASCI (Metodología y ejercicio central)</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402385119"/>
                  </a:ext>
                </a:extLst>
              </a:tr>
            </a:tbl>
          </a:graphicData>
        </a:graphic>
      </p:graphicFrame>
      <p:sp>
        <p:nvSpPr>
          <p:cNvPr id="32" name="btfpNumberBubble424218">
            <a:extLst>
              <a:ext uri="{FF2B5EF4-FFF2-40B4-BE49-F238E27FC236}">
                <a16:creationId xmlns:a16="http://schemas.microsoft.com/office/drawing/2014/main" id="{CFCF4EDA-AA72-2198-4799-1B11A915E54A}"/>
              </a:ext>
            </a:extLst>
          </p:cNvPr>
          <p:cNvSpPr/>
          <p:nvPr/>
        </p:nvSpPr>
        <p:spPr bwMode="auto">
          <a:xfrm>
            <a:off x="-1" y="1461321"/>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MX" sz="1400" b="1" i="0" u="none" strike="noStrike" kern="1200" cap="none" spc="0" normalizeH="0" baseline="0" noProof="0">
                <a:ln>
                  <a:noFill/>
                </a:ln>
                <a:solidFill>
                  <a:srgbClr val="FFFFFF"/>
                </a:solidFill>
                <a:effectLst/>
                <a:uLnTx/>
                <a:uFillTx/>
                <a:latin typeface="Open Sans"/>
                <a:ea typeface="+mn-ea"/>
                <a:cs typeface="+mn-cs"/>
              </a:rPr>
              <a:t>1</a:t>
            </a:r>
          </a:p>
        </p:txBody>
      </p:sp>
      <p:sp>
        <p:nvSpPr>
          <p:cNvPr id="33" name="Rectángulo 32">
            <a:extLst>
              <a:ext uri="{FF2B5EF4-FFF2-40B4-BE49-F238E27FC236}">
                <a16:creationId xmlns:a16="http://schemas.microsoft.com/office/drawing/2014/main" id="{4E218797-3F2C-7464-BABB-7E9415F49314}"/>
              </a:ext>
            </a:extLst>
          </p:cNvPr>
          <p:cNvSpPr/>
          <p:nvPr/>
        </p:nvSpPr>
        <p:spPr bwMode="auto">
          <a:xfrm>
            <a:off x="2767155" y="1624965"/>
            <a:ext cx="360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 name="Rectángulo 33">
            <a:extLst>
              <a:ext uri="{FF2B5EF4-FFF2-40B4-BE49-F238E27FC236}">
                <a16:creationId xmlns:a16="http://schemas.microsoft.com/office/drawing/2014/main" id="{0015C28C-4CAD-90BB-1CB5-3BF73BB4EDC5}"/>
              </a:ext>
            </a:extLst>
          </p:cNvPr>
          <p:cNvSpPr/>
          <p:nvPr/>
        </p:nvSpPr>
        <p:spPr bwMode="auto">
          <a:xfrm>
            <a:off x="3188434" y="1799064"/>
            <a:ext cx="360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6" name="Rectángulo 35">
            <a:extLst>
              <a:ext uri="{FF2B5EF4-FFF2-40B4-BE49-F238E27FC236}">
                <a16:creationId xmlns:a16="http://schemas.microsoft.com/office/drawing/2014/main" id="{52AA056D-B68A-473D-9491-B5D837E2C565}"/>
              </a:ext>
            </a:extLst>
          </p:cNvPr>
          <p:cNvSpPr/>
          <p:nvPr/>
        </p:nvSpPr>
        <p:spPr bwMode="auto">
          <a:xfrm>
            <a:off x="3548434" y="1998315"/>
            <a:ext cx="8064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7" name="Rectángulo 36">
            <a:extLst>
              <a:ext uri="{FF2B5EF4-FFF2-40B4-BE49-F238E27FC236}">
                <a16:creationId xmlns:a16="http://schemas.microsoft.com/office/drawing/2014/main" id="{73C6C695-8409-169C-5216-B1ECB50C03AA}"/>
              </a:ext>
            </a:extLst>
          </p:cNvPr>
          <p:cNvSpPr/>
          <p:nvPr/>
        </p:nvSpPr>
        <p:spPr bwMode="auto">
          <a:xfrm>
            <a:off x="3548434" y="2261026"/>
            <a:ext cx="8064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8" name="Rectangle 16">
            <a:extLst>
              <a:ext uri="{FF2B5EF4-FFF2-40B4-BE49-F238E27FC236}">
                <a16:creationId xmlns:a16="http://schemas.microsoft.com/office/drawing/2014/main" id="{F10FB800-669D-585B-468E-E2433717721A}"/>
              </a:ext>
            </a:extLst>
          </p:cNvPr>
          <p:cNvSpPr/>
          <p:nvPr/>
        </p:nvSpPr>
        <p:spPr bwMode="auto">
          <a:xfrm rot="16200000">
            <a:off x="-620726" y="3271339"/>
            <a:ext cx="1806752"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Procesos clave por Función</a:t>
            </a:r>
          </a:p>
        </p:txBody>
      </p:sp>
      <p:graphicFrame>
        <p:nvGraphicFramePr>
          <p:cNvPr id="39" name="Tabla 38">
            <a:extLst>
              <a:ext uri="{FF2B5EF4-FFF2-40B4-BE49-F238E27FC236}">
                <a16:creationId xmlns:a16="http://schemas.microsoft.com/office/drawing/2014/main" id="{1B744244-25D7-3CC2-C838-6541CB22565C}"/>
              </a:ext>
            </a:extLst>
          </p:cNvPr>
          <p:cNvGraphicFramePr>
            <a:graphicFrameLocks noGrp="1"/>
          </p:cNvGraphicFramePr>
          <p:nvPr>
            <p:extLst>
              <p:ext uri="{D42A27DB-BD31-4B8C-83A1-F6EECF244321}">
                <p14:modId xmlns:p14="http://schemas.microsoft.com/office/powerpoint/2010/main" val="903304185"/>
              </p:ext>
            </p:extLst>
          </p:nvPr>
        </p:nvGraphicFramePr>
        <p:xfrm>
          <a:off x="474878" y="2560194"/>
          <a:ext cx="2289564" cy="1808776"/>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Diálogos 1:1 L2 – Racional y alcance FFP 2026</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Percepción inicial</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581178669"/>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Validación de DP L2</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02347413"/>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Revisión de principales contribuciones por c/área</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402385119"/>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Mapeo de procesos clave e interacciones críticas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31198480"/>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Workshop +2 áreas para detallar interacciones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664728803"/>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123825243"/>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Diálogos L1 y L2 – Estrategia Change Management</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4053361888"/>
                  </a:ext>
                </a:extLst>
              </a:tr>
            </a:tbl>
          </a:graphicData>
        </a:graphic>
      </p:graphicFrame>
      <p:sp>
        <p:nvSpPr>
          <p:cNvPr id="40" name="btfpNumberBubble424218">
            <a:extLst>
              <a:ext uri="{FF2B5EF4-FFF2-40B4-BE49-F238E27FC236}">
                <a16:creationId xmlns:a16="http://schemas.microsoft.com/office/drawing/2014/main" id="{37DDD8E5-0576-0B7D-33CE-EF59DB68DA87}"/>
              </a:ext>
            </a:extLst>
          </p:cNvPr>
          <p:cNvSpPr/>
          <p:nvPr/>
        </p:nvSpPr>
        <p:spPr bwMode="auto">
          <a:xfrm>
            <a:off x="-11180" y="2434844"/>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lang="es-ES" sz="1400" b="1">
                <a:solidFill>
                  <a:srgbClr val="FFFFFF"/>
                </a:solidFill>
                <a:latin typeface="Open Sans"/>
              </a:rPr>
              <a:t>2</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41" name="Rectángulo 40">
            <a:extLst>
              <a:ext uri="{FF2B5EF4-FFF2-40B4-BE49-F238E27FC236}">
                <a16:creationId xmlns:a16="http://schemas.microsoft.com/office/drawing/2014/main" id="{9FAC7055-0642-8463-3F4C-341278B275CC}"/>
              </a:ext>
            </a:extLst>
          </p:cNvPr>
          <p:cNvSpPr/>
          <p:nvPr/>
        </p:nvSpPr>
        <p:spPr bwMode="auto">
          <a:xfrm>
            <a:off x="4876719" y="1573967"/>
            <a:ext cx="360000" cy="4245361"/>
          </a:xfrm>
          <a:prstGeom prst="rect">
            <a:avLst/>
          </a:prstGeom>
          <a:solidFill>
            <a:schemeClr val="tx2">
              <a:alpha val="7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2" name="Rectángulo 41">
            <a:extLst>
              <a:ext uri="{FF2B5EF4-FFF2-40B4-BE49-F238E27FC236}">
                <a16:creationId xmlns:a16="http://schemas.microsoft.com/office/drawing/2014/main" id="{62379673-3C3C-2165-48AA-BB99A8D7074A}"/>
              </a:ext>
            </a:extLst>
          </p:cNvPr>
          <p:cNvSpPr/>
          <p:nvPr/>
        </p:nvSpPr>
        <p:spPr bwMode="auto">
          <a:xfrm>
            <a:off x="8095380" y="2619993"/>
            <a:ext cx="1836000" cy="310903"/>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Plataformas </a:t>
            </a:r>
            <a:r>
              <a:rPr kumimoji="0" lang="es-ES" sz="7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core</a:t>
            </a: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 (Comercial, </a:t>
            </a:r>
            <a:r>
              <a:rPr kumimoji="0" lang="es-ES" sz="7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CdS</a:t>
            </a: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 Operaciones)</a:t>
            </a:r>
            <a:endParaRPr kumimoji="0" lang="es-MX"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43" name="Rectángulo 42">
            <a:extLst>
              <a:ext uri="{FF2B5EF4-FFF2-40B4-BE49-F238E27FC236}">
                <a16:creationId xmlns:a16="http://schemas.microsoft.com/office/drawing/2014/main" id="{C19B15EC-56B1-6F51-D664-F16108FB8246}"/>
              </a:ext>
            </a:extLst>
          </p:cNvPr>
          <p:cNvSpPr/>
          <p:nvPr/>
        </p:nvSpPr>
        <p:spPr bwMode="auto">
          <a:xfrm>
            <a:off x="8317041" y="2969173"/>
            <a:ext cx="1620000" cy="3096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Plataformas con alta evolución (</a:t>
            </a:r>
            <a:r>
              <a:rPr kumimoji="0" lang="es-ES" sz="7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Commercial</a:t>
            </a: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 </a:t>
            </a:r>
            <a:r>
              <a:rPr kumimoji="0" lang="es-ES" sz="7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Finance</a:t>
            </a:r>
            <a:r>
              <a:rPr lang="es-ES" sz="700">
                <a:solidFill>
                  <a:schemeClr val="bg1"/>
                </a:solidFill>
                <a:latin typeface="Arial" panose="020B0604020202020204" pitchFamily="34" charset="0"/>
                <a:cs typeface="Arial" panose="020B0604020202020204" pitchFamily="34" charset="0"/>
              </a:rPr>
              <a:t>, VMO, C&amp;M)</a:t>
            </a:r>
            <a:endParaRPr kumimoji="0" lang="es-MX"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44" name="Rectángulo 43">
            <a:extLst>
              <a:ext uri="{FF2B5EF4-FFF2-40B4-BE49-F238E27FC236}">
                <a16:creationId xmlns:a16="http://schemas.microsoft.com/office/drawing/2014/main" id="{8DA394F3-E0EE-5E88-B957-43C693D67F8A}"/>
              </a:ext>
            </a:extLst>
          </p:cNvPr>
          <p:cNvSpPr/>
          <p:nvPr/>
        </p:nvSpPr>
        <p:spPr bwMode="auto">
          <a:xfrm>
            <a:off x="8610352" y="3312702"/>
            <a:ext cx="1332000" cy="3096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Plataformas de soporte (TI, RH, </a:t>
            </a:r>
            <a:r>
              <a:rPr kumimoji="0" lang="es-ES" sz="700" b="0" i="0" u="none" strike="noStrike" kern="1200" cap="none" spc="0" normalizeH="0" baseline="0" noProof="0" err="1">
                <a:ln>
                  <a:noFill/>
                </a:ln>
                <a:solidFill>
                  <a:schemeClr val="bg1"/>
                </a:solidFill>
                <a:effectLst/>
                <a:uLnTx/>
                <a:uFillTx/>
                <a:latin typeface="Arial" panose="020B0604020202020204" pitchFamily="34" charset="0"/>
                <a:cs typeface="Arial" panose="020B0604020202020204" pitchFamily="34" charset="0"/>
              </a:rPr>
              <a:t>Exc</a:t>
            </a:r>
            <a:r>
              <a:rPr kumimoji="0" lang="es-ES"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 Operativa)</a:t>
            </a:r>
            <a:endParaRPr kumimoji="0" lang="es-MX"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45" name="Rectángulo 44">
            <a:extLst>
              <a:ext uri="{FF2B5EF4-FFF2-40B4-BE49-F238E27FC236}">
                <a16:creationId xmlns:a16="http://schemas.microsoft.com/office/drawing/2014/main" id="{D2B98EAE-C9A4-115F-4600-75D1B84F61AE}"/>
              </a:ext>
            </a:extLst>
          </p:cNvPr>
          <p:cNvSpPr/>
          <p:nvPr/>
        </p:nvSpPr>
        <p:spPr bwMode="auto">
          <a:xfrm>
            <a:off x="7256434" y="4109357"/>
            <a:ext cx="2700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46" name="Rectángulo 45">
            <a:extLst>
              <a:ext uri="{FF2B5EF4-FFF2-40B4-BE49-F238E27FC236}">
                <a16:creationId xmlns:a16="http://schemas.microsoft.com/office/drawing/2014/main" id="{222113F4-108D-3411-3D46-3CB972309018}"/>
              </a:ext>
            </a:extLst>
          </p:cNvPr>
          <p:cNvSpPr/>
          <p:nvPr/>
        </p:nvSpPr>
        <p:spPr bwMode="auto">
          <a:xfrm>
            <a:off x="10125262" y="2619993"/>
            <a:ext cx="1441897" cy="100230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lang="es-ES" sz="700">
                <a:solidFill>
                  <a:schemeClr val="bg1"/>
                </a:solidFill>
                <a:latin typeface="Arial" panose="020B0604020202020204" pitchFamily="34" charset="0"/>
                <a:cs typeface="Arial" panose="020B0604020202020204" pitchFamily="34" charset="0"/>
              </a:rPr>
              <a:t>Presentación y comunicación en TOPS Marzo / Abril</a:t>
            </a:r>
          </a:p>
        </p:txBody>
      </p:sp>
      <p:sp>
        <p:nvSpPr>
          <p:cNvPr id="47" name="Rectangle 16">
            <a:extLst>
              <a:ext uri="{FF2B5EF4-FFF2-40B4-BE49-F238E27FC236}">
                <a16:creationId xmlns:a16="http://schemas.microsoft.com/office/drawing/2014/main" id="{1474C2E7-65C1-C3C9-E887-31116B25D287}"/>
              </a:ext>
            </a:extLst>
          </p:cNvPr>
          <p:cNvSpPr/>
          <p:nvPr/>
        </p:nvSpPr>
        <p:spPr bwMode="auto">
          <a:xfrm rot="16200000">
            <a:off x="-169543" y="4686059"/>
            <a:ext cx="904388"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Modelo de gestión</a:t>
            </a:r>
          </a:p>
        </p:txBody>
      </p:sp>
      <p:graphicFrame>
        <p:nvGraphicFramePr>
          <p:cNvPr id="48" name="Tabla 47">
            <a:extLst>
              <a:ext uri="{FF2B5EF4-FFF2-40B4-BE49-F238E27FC236}">
                <a16:creationId xmlns:a16="http://schemas.microsoft.com/office/drawing/2014/main" id="{2ACCACC7-9608-6392-E9E2-2A4A927BFD8C}"/>
              </a:ext>
            </a:extLst>
          </p:cNvPr>
          <p:cNvGraphicFramePr>
            <a:graphicFrameLocks noGrp="1"/>
          </p:cNvGraphicFramePr>
          <p:nvPr>
            <p:extLst>
              <p:ext uri="{D42A27DB-BD31-4B8C-83A1-F6EECF244321}">
                <p14:modId xmlns:p14="http://schemas.microsoft.com/office/powerpoint/2010/main" val="2461560192"/>
              </p:ext>
            </p:extLst>
          </p:nvPr>
        </p:nvGraphicFramePr>
        <p:xfrm>
          <a:off x="474878" y="4426096"/>
          <a:ext cx="2289564" cy="904388"/>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Integración de inputs interacciones a Sistema Gestión</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918504087"/>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Medición de adopción</a:t>
                      </a: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151630058"/>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Estrategia de </a:t>
                      </a:r>
                      <a:r>
                        <a:rPr kumimoji="0" lang="es-ES" sz="700" b="0" i="0" u="none" strike="noStrike" kern="1200" cap="none" spc="0" normalizeH="0" baseline="0" err="1">
                          <a:ln>
                            <a:noFill/>
                          </a:ln>
                          <a:solidFill>
                            <a:srgbClr val="000000"/>
                          </a:solidFill>
                          <a:effectLst/>
                          <a:uLnTx/>
                          <a:uFillTx/>
                          <a:latin typeface="Arial" panose="020B0604020202020204" pitchFamily="34" charset="0"/>
                          <a:ea typeface="+mn-ea"/>
                          <a:cs typeface="Arial" panose="020B0604020202020204" pitchFamily="34" charset="0"/>
                        </a:rPr>
                        <a:t>change</a:t>
                      </a: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 </a:t>
                      </a:r>
                      <a:r>
                        <a:rPr kumimoji="0" lang="es-ES" sz="700" b="0" i="0" u="none" strike="noStrike" kern="1200" cap="none" spc="0" normalizeH="0" baseline="0" err="1">
                          <a:ln>
                            <a:noFill/>
                          </a:ln>
                          <a:solidFill>
                            <a:srgbClr val="000000"/>
                          </a:solidFill>
                          <a:effectLst/>
                          <a:uLnTx/>
                          <a:uFillTx/>
                          <a:latin typeface="Arial" panose="020B0604020202020204" pitchFamily="34" charset="0"/>
                          <a:ea typeface="+mn-ea"/>
                          <a:cs typeface="Arial" panose="020B0604020202020204" pitchFamily="34" charset="0"/>
                        </a:rPr>
                        <a:t>management</a:t>
                      </a: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248937491"/>
                  </a:ext>
                </a:extLst>
              </a:tr>
            </a:tbl>
          </a:graphicData>
        </a:graphic>
      </p:graphicFrame>
      <p:sp>
        <p:nvSpPr>
          <p:cNvPr id="49" name="btfpNumberBubble424218">
            <a:extLst>
              <a:ext uri="{FF2B5EF4-FFF2-40B4-BE49-F238E27FC236}">
                <a16:creationId xmlns:a16="http://schemas.microsoft.com/office/drawing/2014/main" id="{C7998E6F-BF5A-00F3-020B-4FE1CA8A166E}"/>
              </a:ext>
            </a:extLst>
          </p:cNvPr>
          <p:cNvSpPr/>
          <p:nvPr/>
        </p:nvSpPr>
        <p:spPr bwMode="auto">
          <a:xfrm>
            <a:off x="-11180" y="4300746"/>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1400" b="1" i="0" u="none" strike="noStrike" kern="1200" cap="none" spc="0" normalizeH="0" baseline="0" noProof="0">
                <a:ln>
                  <a:noFill/>
                </a:ln>
                <a:solidFill>
                  <a:srgbClr val="FFFFFF"/>
                </a:solidFill>
                <a:effectLst/>
                <a:uLnTx/>
                <a:uFillTx/>
                <a:latin typeface="Open Sans"/>
                <a:ea typeface="+mn-ea"/>
                <a:cs typeface="+mn-cs"/>
              </a:rPr>
              <a:t>3</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50" name="Rectángulo 49">
            <a:extLst>
              <a:ext uri="{FF2B5EF4-FFF2-40B4-BE49-F238E27FC236}">
                <a16:creationId xmlns:a16="http://schemas.microsoft.com/office/drawing/2014/main" id="{8DAF6CCC-420C-BCDA-3CF5-DECE11F2059E}"/>
              </a:ext>
            </a:extLst>
          </p:cNvPr>
          <p:cNvSpPr/>
          <p:nvPr/>
        </p:nvSpPr>
        <p:spPr bwMode="auto">
          <a:xfrm>
            <a:off x="10125261" y="4431028"/>
            <a:ext cx="1444671" cy="1728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53" name="Rectangle 16">
            <a:extLst>
              <a:ext uri="{FF2B5EF4-FFF2-40B4-BE49-F238E27FC236}">
                <a16:creationId xmlns:a16="http://schemas.microsoft.com/office/drawing/2014/main" id="{EE0A9FBC-B1F7-B80D-B2F1-D06CA99AC727}"/>
              </a:ext>
            </a:extLst>
          </p:cNvPr>
          <p:cNvSpPr/>
          <p:nvPr/>
        </p:nvSpPr>
        <p:spPr bwMode="auto">
          <a:xfrm rot="16200000">
            <a:off x="56555" y="5401001"/>
            <a:ext cx="452193"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Estabilización</a:t>
            </a:r>
          </a:p>
        </p:txBody>
      </p:sp>
      <p:graphicFrame>
        <p:nvGraphicFramePr>
          <p:cNvPr id="54" name="Tabla 53">
            <a:extLst>
              <a:ext uri="{FF2B5EF4-FFF2-40B4-BE49-F238E27FC236}">
                <a16:creationId xmlns:a16="http://schemas.microsoft.com/office/drawing/2014/main" id="{0952E168-ABCD-BC36-38A7-9D3C47E71478}"/>
              </a:ext>
            </a:extLst>
          </p:cNvPr>
          <p:cNvGraphicFramePr>
            <a:graphicFrameLocks noGrp="1"/>
          </p:cNvGraphicFramePr>
          <p:nvPr>
            <p:extLst>
              <p:ext uri="{D42A27DB-BD31-4B8C-83A1-F6EECF244321}">
                <p14:modId xmlns:p14="http://schemas.microsoft.com/office/powerpoint/2010/main" val="393674607"/>
              </p:ext>
            </p:extLst>
          </p:nvPr>
        </p:nvGraphicFramePr>
        <p:xfrm>
          <a:off x="474878" y="5367135"/>
          <a:ext cx="2289564" cy="452194"/>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Diseño de metodología diagnóstico del modelo operativo</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Diagnóstico </a:t>
                      </a:r>
                      <a:r>
                        <a:rPr kumimoji="0" lang="es-ES" sz="700" b="0" i="0" u="none" strike="noStrike" kern="1200" cap="none" spc="0" normalizeH="0" baseline="0" err="1">
                          <a:ln>
                            <a:noFill/>
                          </a:ln>
                          <a:solidFill>
                            <a:srgbClr val="000000"/>
                          </a:solidFill>
                          <a:effectLst/>
                          <a:uLnTx/>
                          <a:uFillTx/>
                          <a:latin typeface="Arial" panose="020B0604020202020204" pitchFamily="34" charset="0"/>
                          <a:ea typeface="+mn-ea"/>
                          <a:cs typeface="Arial" panose="020B0604020202020204" pitchFamily="34" charset="0"/>
                        </a:rPr>
                        <a:t>org</a:t>
                      </a: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 desempeño modelo operativo</a:t>
                      </a: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2404608"/>
                  </a:ext>
                </a:extLst>
              </a:tr>
            </a:tbl>
          </a:graphicData>
        </a:graphic>
      </p:graphicFrame>
      <p:sp>
        <p:nvSpPr>
          <p:cNvPr id="55" name="btfpNumberBubble424218">
            <a:extLst>
              <a:ext uri="{FF2B5EF4-FFF2-40B4-BE49-F238E27FC236}">
                <a16:creationId xmlns:a16="http://schemas.microsoft.com/office/drawing/2014/main" id="{CAEE143C-5D91-0286-724C-2C003E8E4F83}"/>
              </a:ext>
            </a:extLst>
          </p:cNvPr>
          <p:cNvSpPr/>
          <p:nvPr/>
        </p:nvSpPr>
        <p:spPr bwMode="auto">
          <a:xfrm>
            <a:off x="-11180" y="5241785"/>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1400" b="1" i="0" u="none" strike="noStrike" kern="1200" cap="none" spc="0" normalizeH="0" baseline="0" noProof="0">
                <a:ln>
                  <a:noFill/>
                </a:ln>
                <a:solidFill>
                  <a:srgbClr val="FFFFFF"/>
                </a:solidFill>
                <a:effectLst/>
                <a:uLnTx/>
                <a:uFillTx/>
                <a:latin typeface="Open Sans"/>
                <a:ea typeface="+mn-ea"/>
                <a:cs typeface="+mn-cs"/>
              </a:rPr>
              <a:t>4</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56" name="Rectángulo 55">
            <a:extLst>
              <a:ext uri="{FF2B5EF4-FFF2-40B4-BE49-F238E27FC236}">
                <a16:creationId xmlns:a16="http://schemas.microsoft.com/office/drawing/2014/main" id="{9976E593-A5E1-E6B6-5F0D-DF3E6E9E9EBB}"/>
              </a:ext>
            </a:extLst>
          </p:cNvPr>
          <p:cNvSpPr/>
          <p:nvPr/>
        </p:nvSpPr>
        <p:spPr bwMode="auto">
          <a:xfrm>
            <a:off x="10167763" y="4878287"/>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effectLst/>
                <a:uLnTx/>
                <a:uFillTx/>
                <a:latin typeface="Arial" panose="020B0604020202020204" pitchFamily="34" charset="0"/>
                <a:cs typeface="Arial" panose="020B0604020202020204" pitchFamily="34" charset="0"/>
              </a:rPr>
              <a:t>TBC</a:t>
            </a:r>
            <a:endParaRPr kumimoji="0" lang="es-MX" sz="7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57" name="Rectángulo 56">
            <a:extLst>
              <a:ext uri="{FF2B5EF4-FFF2-40B4-BE49-F238E27FC236}">
                <a16:creationId xmlns:a16="http://schemas.microsoft.com/office/drawing/2014/main" id="{1D872B1B-7925-CD1D-1279-51D9802FFB00}"/>
              </a:ext>
            </a:extLst>
          </p:cNvPr>
          <p:cNvSpPr/>
          <p:nvPr/>
        </p:nvSpPr>
        <p:spPr bwMode="auto">
          <a:xfrm>
            <a:off x="10167763" y="5066969"/>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effectLst/>
                <a:uLnTx/>
                <a:uFillTx/>
                <a:latin typeface="Arial" panose="020B0604020202020204" pitchFamily="34" charset="0"/>
                <a:cs typeface="Arial" panose="020B0604020202020204" pitchFamily="34" charset="0"/>
              </a:rPr>
              <a:t>TBC</a:t>
            </a:r>
            <a:endParaRPr kumimoji="0" lang="es-MX" sz="7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58" name="Rectángulo 57">
            <a:extLst>
              <a:ext uri="{FF2B5EF4-FFF2-40B4-BE49-F238E27FC236}">
                <a16:creationId xmlns:a16="http://schemas.microsoft.com/office/drawing/2014/main" id="{2139E3C1-20CA-EDB0-8C99-D7757EB7321A}"/>
              </a:ext>
            </a:extLst>
          </p:cNvPr>
          <p:cNvSpPr/>
          <p:nvPr/>
        </p:nvSpPr>
        <p:spPr bwMode="auto">
          <a:xfrm>
            <a:off x="10167763" y="5380045"/>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effectLst/>
                <a:uLnTx/>
                <a:uFillTx/>
                <a:latin typeface="Arial" panose="020B0604020202020204" pitchFamily="34" charset="0"/>
                <a:cs typeface="Arial" panose="020B0604020202020204" pitchFamily="34" charset="0"/>
              </a:rPr>
              <a:t>TBC</a:t>
            </a:r>
            <a:endParaRPr kumimoji="0" lang="es-MX" sz="7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59" name="Rectángulo 58">
            <a:extLst>
              <a:ext uri="{FF2B5EF4-FFF2-40B4-BE49-F238E27FC236}">
                <a16:creationId xmlns:a16="http://schemas.microsoft.com/office/drawing/2014/main" id="{DD2DD852-A129-9A6E-7F8F-2839863C5655}"/>
              </a:ext>
            </a:extLst>
          </p:cNvPr>
          <p:cNvSpPr/>
          <p:nvPr/>
        </p:nvSpPr>
        <p:spPr bwMode="auto">
          <a:xfrm>
            <a:off x="10167763" y="5568727"/>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effectLst/>
                <a:uLnTx/>
                <a:uFillTx/>
                <a:latin typeface="Arial" panose="020B0604020202020204" pitchFamily="34" charset="0"/>
                <a:cs typeface="Arial" panose="020B0604020202020204" pitchFamily="34" charset="0"/>
              </a:rPr>
              <a:t>TBC</a:t>
            </a:r>
            <a:endParaRPr kumimoji="0" lang="es-MX" sz="7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747658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lecha: a la derecha 1">
            <a:extLst>
              <a:ext uri="{FF2B5EF4-FFF2-40B4-BE49-F238E27FC236}">
                <a16:creationId xmlns:a16="http://schemas.microsoft.com/office/drawing/2014/main" id="{F44E435D-26F7-B5A4-E2BA-572EE9E5035A}"/>
              </a:ext>
            </a:extLst>
          </p:cNvPr>
          <p:cNvSpPr/>
          <p:nvPr/>
        </p:nvSpPr>
        <p:spPr>
          <a:xfrm>
            <a:off x="828675" y="1811150"/>
            <a:ext cx="10334625" cy="529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CuadroTexto 3">
            <a:extLst>
              <a:ext uri="{FF2B5EF4-FFF2-40B4-BE49-F238E27FC236}">
                <a16:creationId xmlns:a16="http://schemas.microsoft.com/office/drawing/2014/main" id="{B564160B-FBF6-92C7-9F7C-B03B126A6695}"/>
              </a:ext>
            </a:extLst>
          </p:cNvPr>
          <p:cNvSpPr txBox="1"/>
          <p:nvPr/>
        </p:nvSpPr>
        <p:spPr>
          <a:xfrm>
            <a:off x="1349310" y="2669052"/>
            <a:ext cx="2147110" cy="461665"/>
          </a:xfrm>
          <a:prstGeom prst="rect">
            <a:avLst/>
          </a:prstGeom>
          <a:noFill/>
        </p:spPr>
        <p:txBody>
          <a:bodyPr wrap="square">
            <a:spAutoFit/>
          </a:bodyPr>
          <a:lstStyle/>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MX" sz="1200"/>
          </a:p>
        </p:txBody>
      </p:sp>
      <p:sp>
        <p:nvSpPr>
          <p:cNvPr id="6" name="Rectangle 16">
            <a:extLst>
              <a:ext uri="{FF2B5EF4-FFF2-40B4-BE49-F238E27FC236}">
                <a16:creationId xmlns:a16="http://schemas.microsoft.com/office/drawing/2014/main" id="{A8EA9F45-1562-8A28-D8D4-2ED831954350}"/>
              </a:ext>
            </a:extLst>
          </p:cNvPr>
          <p:cNvSpPr/>
          <p:nvPr/>
        </p:nvSpPr>
        <p:spPr bwMode="auto">
          <a:xfrm>
            <a:off x="1349310" y="1657102"/>
            <a:ext cx="2147110" cy="894316"/>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Higiénicos Organizacionales </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Documentación de Roles</a:t>
            </a:r>
          </a:p>
        </p:txBody>
      </p:sp>
      <p:sp>
        <p:nvSpPr>
          <p:cNvPr id="7" name="Rectangle 15">
            <a:extLst>
              <a:ext uri="{FF2B5EF4-FFF2-40B4-BE49-F238E27FC236}">
                <a16:creationId xmlns:a16="http://schemas.microsoft.com/office/drawing/2014/main" id="{6C725EA1-5797-6DAA-EFEF-33423C0EF704}"/>
              </a:ext>
            </a:extLst>
          </p:cNvPr>
          <p:cNvSpPr/>
          <p:nvPr/>
        </p:nvSpPr>
        <p:spPr bwMode="auto">
          <a:xfrm>
            <a:off x="3758390" y="1657103"/>
            <a:ext cx="2147110" cy="894316"/>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Interacciones Críticas</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Cross-plataformas</a:t>
            </a:r>
          </a:p>
        </p:txBody>
      </p:sp>
      <p:sp>
        <p:nvSpPr>
          <p:cNvPr id="8" name="Rectangle 18">
            <a:extLst>
              <a:ext uri="{FF2B5EF4-FFF2-40B4-BE49-F238E27FC236}">
                <a16:creationId xmlns:a16="http://schemas.microsoft.com/office/drawing/2014/main" id="{77D25EBA-F93B-583F-4F2C-7BB756BFD5A5}"/>
              </a:ext>
            </a:extLst>
          </p:cNvPr>
          <p:cNvSpPr/>
          <p:nvPr/>
        </p:nvSpPr>
        <p:spPr bwMode="auto">
          <a:xfrm>
            <a:off x="6107080" y="1657102"/>
            <a:ext cx="2147110" cy="894316"/>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RASCI por Función de Procesos Clave</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Internos x Área</a:t>
            </a:r>
          </a:p>
        </p:txBody>
      </p:sp>
      <p:sp>
        <p:nvSpPr>
          <p:cNvPr id="9" name="Rectangle 17">
            <a:extLst>
              <a:ext uri="{FF2B5EF4-FFF2-40B4-BE49-F238E27FC236}">
                <a16:creationId xmlns:a16="http://schemas.microsoft.com/office/drawing/2014/main" id="{EC5795E6-3870-6D55-43A8-313136A490AE}"/>
              </a:ext>
            </a:extLst>
          </p:cNvPr>
          <p:cNvSpPr/>
          <p:nvPr/>
        </p:nvSpPr>
        <p:spPr bwMode="auto">
          <a:xfrm>
            <a:off x="8455770" y="1657101"/>
            <a:ext cx="2147110" cy="894315"/>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ES" sz="11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Integración al Sistema de Gestión </a:t>
            </a:r>
            <a:r>
              <a:rPr kumimoji="0" lang="es-MX" sz="6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Consolidación y Seguimiento</a:t>
            </a:r>
          </a:p>
        </p:txBody>
      </p:sp>
      <p:sp>
        <p:nvSpPr>
          <p:cNvPr id="10" name="Triángulo isósceles 9">
            <a:extLst>
              <a:ext uri="{FF2B5EF4-FFF2-40B4-BE49-F238E27FC236}">
                <a16:creationId xmlns:a16="http://schemas.microsoft.com/office/drawing/2014/main" id="{4BACFBBC-8CE6-2028-9DB4-64771989F071}"/>
              </a:ext>
            </a:extLst>
          </p:cNvPr>
          <p:cNvSpPr/>
          <p:nvPr/>
        </p:nvSpPr>
        <p:spPr>
          <a:xfrm rot="10800000">
            <a:off x="4498570" y="1328598"/>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21EEF00B-C82E-D0C8-D3A1-9666224DE517}"/>
              </a:ext>
            </a:extLst>
          </p:cNvPr>
          <p:cNvSpPr txBox="1"/>
          <p:nvPr/>
        </p:nvSpPr>
        <p:spPr>
          <a:xfrm>
            <a:off x="3654360" y="2693021"/>
            <a:ext cx="2147110" cy="830997"/>
          </a:xfrm>
          <a:prstGeom prst="rect">
            <a:avLst/>
          </a:prstGeom>
          <a:noFill/>
        </p:spPr>
        <p:txBody>
          <a:bodyPr wrap="square">
            <a:spAutoFit/>
          </a:bodyPr>
          <a:lstStyle/>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MX" sz="1200"/>
          </a:p>
        </p:txBody>
      </p:sp>
      <p:sp>
        <p:nvSpPr>
          <p:cNvPr id="3" name="Rectángulo 2">
            <a:extLst>
              <a:ext uri="{FF2B5EF4-FFF2-40B4-BE49-F238E27FC236}">
                <a16:creationId xmlns:a16="http://schemas.microsoft.com/office/drawing/2014/main" id="{B635555B-5E51-9424-1655-DDF57A7E4A2E}"/>
              </a:ext>
            </a:extLst>
          </p:cNvPr>
          <p:cNvSpPr/>
          <p:nvPr/>
        </p:nvSpPr>
        <p:spPr>
          <a:xfrm>
            <a:off x="1342280" y="2657840"/>
            <a:ext cx="2154140" cy="21236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sz="1200">
                <a:solidFill>
                  <a:srgbClr val="000000"/>
                </a:solidFill>
                <a:latin typeface="Calibri" panose="020F0502020204030204" pitchFamily="34" charset="0"/>
              </a:rPr>
              <a:t>Entrega de </a:t>
            </a:r>
            <a:r>
              <a:rPr lang="es-ES" sz="1200" err="1">
                <a:solidFill>
                  <a:srgbClr val="000000"/>
                </a:solidFill>
                <a:latin typeface="Calibri" panose="020F0502020204030204" pitchFamily="34" charset="0"/>
              </a:rPr>
              <a:t>DPs</a:t>
            </a:r>
            <a:r>
              <a:rPr lang="es-ES" sz="1200">
                <a:solidFill>
                  <a:srgbClr val="000000"/>
                </a:solidFill>
                <a:latin typeface="Calibri" panose="020F0502020204030204" pitchFamily="34" charset="0"/>
              </a:rPr>
              <a:t> L2 y L3</a:t>
            </a:r>
          </a:p>
          <a:p>
            <a:pPr marL="285750" indent="-285750">
              <a:buFont typeface="Arial" panose="020B0604020202020204" pitchFamily="34" charset="0"/>
              <a:buChar char="•"/>
            </a:pPr>
            <a:r>
              <a:rPr lang="es-ES" sz="1200">
                <a:solidFill>
                  <a:srgbClr val="000000"/>
                </a:solidFill>
                <a:latin typeface="Calibri" panose="020F0502020204030204" pitchFamily="34" charset="0"/>
              </a:rPr>
              <a:t>Arranque mapeo de </a:t>
            </a:r>
            <a:r>
              <a:rPr lang="es-ES" sz="1200" err="1">
                <a:solidFill>
                  <a:srgbClr val="000000"/>
                </a:solidFill>
                <a:latin typeface="Calibri" panose="020F0502020204030204" pitchFamily="34" charset="0"/>
              </a:rPr>
              <a:t>DPs</a:t>
            </a:r>
            <a:r>
              <a:rPr lang="es-ES" sz="1200">
                <a:solidFill>
                  <a:srgbClr val="000000"/>
                </a:solidFill>
                <a:latin typeface="Calibri" panose="020F0502020204030204" pitchFamily="34" charset="0"/>
              </a:rPr>
              <a:t> L4</a:t>
            </a: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p:txBody>
      </p:sp>
      <p:sp>
        <p:nvSpPr>
          <p:cNvPr id="12" name="Rectángulo 11">
            <a:extLst>
              <a:ext uri="{FF2B5EF4-FFF2-40B4-BE49-F238E27FC236}">
                <a16:creationId xmlns:a16="http://schemas.microsoft.com/office/drawing/2014/main" id="{E1D00075-8266-9502-96BF-6EDFA0AE3592}"/>
              </a:ext>
            </a:extLst>
          </p:cNvPr>
          <p:cNvSpPr/>
          <p:nvPr/>
        </p:nvSpPr>
        <p:spPr>
          <a:xfrm>
            <a:off x="3758390" y="2657840"/>
            <a:ext cx="2154140" cy="21236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sz="1200">
                <a:solidFill>
                  <a:srgbClr val="000000"/>
                </a:solidFill>
                <a:latin typeface="Calibri" panose="020F0502020204030204" pitchFamily="34" charset="0"/>
              </a:rPr>
              <a:t>Mapeo de interacciones </a:t>
            </a:r>
            <a:r>
              <a:rPr lang="es-ES" sz="1200" err="1">
                <a:solidFill>
                  <a:srgbClr val="000000"/>
                </a:solidFill>
                <a:latin typeface="Calibri" panose="020F0502020204030204" pitchFamily="34" charset="0"/>
              </a:rPr>
              <a:t>core</a:t>
            </a:r>
            <a:r>
              <a:rPr lang="es-ES" sz="1200">
                <a:solidFill>
                  <a:srgbClr val="000000"/>
                </a:solidFill>
                <a:latin typeface="Calibri" panose="020F0502020204030204" pitchFamily="34" charset="0"/>
              </a:rPr>
              <a:t> del área.</a:t>
            </a:r>
          </a:p>
          <a:p>
            <a:pPr marL="285750" indent="-285750">
              <a:buFont typeface="Arial" panose="020B0604020202020204" pitchFamily="34" charset="0"/>
              <a:buChar char="•"/>
            </a:pPr>
            <a:r>
              <a:rPr lang="es-ES" sz="1200">
                <a:solidFill>
                  <a:srgbClr val="000000"/>
                </a:solidFill>
                <a:latin typeface="Calibri" panose="020F0502020204030204" pitchFamily="34" charset="0"/>
              </a:rPr>
              <a:t>Validación de conexiones entre otras áreas de la misma plataforma.</a:t>
            </a: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p:txBody>
      </p:sp>
      <p:sp>
        <p:nvSpPr>
          <p:cNvPr id="13" name="Rectángulo 12">
            <a:extLst>
              <a:ext uri="{FF2B5EF4-FFF2-40B4-BE49-F238E27FC236}">
                <a16:creationId xmlns:a16="http://schemas.microsoft.com/office/drawing/2014/main" id="{0270D121-15EE-299B-BFBE-0280C20B9D8A}"/>
              </a:ext>
            </a:extLst>
          </p:cNvPr>
          <p:cNvSpPr/>
          <p:nvPr/>
        </p:nvSpPr>
        <p:spPr>
          <a:xfrm>
            <a:off x="6100050" y="2657840"/>
            <a:ext cx="2154140" cy="21236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sz="1200">
                <a:solidFill>
                  <a:srgbClr val="000000"/>
                </a:solidFill>
                <a:latin typeface="Calibri" panose="020F0502020204030204" pitchFamily="34" charset="0"/>
              </a:rPr>
              <a:t>Matriz RASCI de la plataforma.</a:t>
            </a:r>
          </a:p>
          <a:p>
            <a:pPr marL="285750" indent="-285750">
              <a:buFont typeface="Arial" panose="020B0604020202020204" pitchFamily="34" charset="0"/>
              <a:buChar char="•"/>
            </a:pPr>
            <a:r>
              <a:rPr lang="es-ES" sz="1200">
                <a:solidFill>
                  <a:srgbClr val="000000"/>
                </a:solidFill>
                <a:latin typeface="Calibri" panose="020F0502020204030204" pitchFamily="34" charset="0"/>
              </a:rPr>
              <a:t>Matriz RASCI de Interacciones Clave (a nivel organización – 10)</a:t>
            </a: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p:txBody>
      </p:sp>
      <p:sp>
        <p:nvSpPr>
          <p:cNvPr id="14" name="Rectángulo 13">
            <a:extLst>
              <a:ext uri="{FF2B5EF4-FFF2-40B4-BE49-F238E27FC236}">
                <a16:creationId xmlns:a16="http://schemas.microsoft.com/office/drawing/2014/main" id="{F1BDF873-AA52-8CBD-42CC-53680A452757}"/>
              </a:ext>
            </a:extLst>
          </p:cNvPr>
          <p:cNvSpPr/>
          <p:nvPr/>
        </p:nvSpPr>
        <p:spPr>
          <a:xfrm>
            <a:off x="8455770" y="2635819"/>
            <a:ext cx="2154140" cy="21236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sz="1200">
                <a:solidFill>
                  <a:srgbClr val="000000"/>
                </a:solidFill>
                <a:latin typeface="Calibri" panose="020F0502020204030204" pitchFamily="34" charset="0"/>
              </a:rPr>
              <a:t>TBD</a:t>
            </a:r>
          </a:p>
          <a:p>
            <a:pPr marL="285750" indent="-285750">
              <a:buFont typeface="Arial" panose="020B0604020202020204" pitchFamily="34" charset="0"/>
              <a:buChar char="•"/>
            </a:pPr>
            <a:endParaRPr lang="es-ES" sz="1200">
              <a:solidFill>
                <a:srgbClr val="000000"/>
              </a:solidFill>
              <a:latin typeface="Calibri" panose="020F0502020204030204" pitchFamily="34" charset="0"/>
            </a:endParaRPr>
          </a:p>
        </p:txBody>
      </p:sp>
      <p:sp>
        <p:nvSpPr>
          <p:cNvPr id="15" name="Rectángulo 14">
            <a:extLst>
              <a:ext uri="{FF2B5EF4-FFF2-40B4-BE49-F238E27FC236}">
                <a16:creationId xmlns:a16="http://schemas.microsoft.com/office/drawing/2014/main" id="{6678633D-E376-437E-2C78-E478E8EB6BE0}"/>
              </a:ext>
            </a:extLst>
          </p:cNvPr>
          <p:cNvSpPr/>
          <p:nvPr/>
        </p:nvSpPr>
        <p:spPr>
          <a:xfrm>
            <a:off x="1342280" y="4914900"/>
            <a:ext cx="4570250" cy="6191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200" b="1">
                <a:solidFill>
                  <a:schemeClr val="tx1"/>
                </a:solidFill>
              </a:rPr>
              <a:t>Presentación ejecutiva: </a:t>
            </a:r>
          </a:p>
          <a:p>
            <a:pPr marL="171450" indent="-171450" algn="ctr">
              <a:buFont typeface="Arial" panose="020B0604020202020204" pitchFamily="34" charset="0"/>
              <a:buChar char="•"/>
            </a:pPr>
            <a:r>
              <a:rPr lang="es-MX" sz="1200">
                <a:solidFill>
                  <a:schemeClr val="tx1"/>
                </a:solidFill>
              </a:rPr>
              <a:t>Contribuciones área  </a:t>
            </a:r>
          </a:p>
          <a:p>
            <a:pPr marL="171450" indent="-171450" algn="ctr">
              <a:buFont typeface="Arial" panose="020B0604020202020204" pitchFamily="34" charset="0"/>
              <a:buChar char="•"/>
            </a:pPr>
            <a:r>
              <a:rPr lang="es-MX" sz="1200">
                <a:solidFill>
                  <a:schemeClr val="tx1"/>
                </a:solidFill>
              </a:rPr>
              <a:t>Interacciones macro procesos</a:t>
            </a:r>
          </a:p>
        </p:txBody>
      </p:sp>
      <p:sp>
        <p:nvSpPr>
          <p:cNvPr id="16" name="CuadroTexto 15">
            <a:extLst>
              <a:ext uri="{FF2B5EF4-FFF2-40B4-BE49-F238E27FC236}">
                <a16:creationId xmlns:a16="http://schemas.microsoft.com/office/drawing/2014/main" id="{CB01CA99-0760-1844-9A85-FD5467418E76}"/>
              </a:ext>
            </a:extLst>
          </p:cNvPr>
          <p:cNvSpPr txBox="1"/>
          <p:nvPr/>
        </p:nvSpPr>
        <p:spPr>
          <a:xfrm>
            <a:off x="3088870" y="5978099"/>
            <a:ext cx="1743075" cy="338554"/>
          </a:xfrm>
          <a:prstGeom prst="rect">
            <a:avLst/>
          </a:prstGeom>
          <a:noFill/>
        </p:spPr>
        <p:txBody>
          <a:bodyPr wrap="square" rtlCol="0">
            <a:spAutoFit/>
          </a:bodyPr>
          <a:lstStyle/>
          <a:p>
            <a:pPr algn="l"/>
            <a:r>
              <a:rPr lang="es-MX" sz="1600" i="1">
                <a:latin typeface="Calibri" panose="020F0502020204030204" pitchFamily="34" charset="0"/>
                <a:cs typeface="Calibri" panose="020F0502020204030204" pitchFamily="34" charset="0"/>
              </a:rPr>
              <a:t>Abril 2026 </a:t>
            </a:r>
          </a:p>
        </p:txBody>
      </p:sp>
      <p:cxnSp>
        <p:nvCxnSpPr>
          <p:cNvPr id="18" name="Conector recto 17">
            <a:extLst>
              <a:ext uri="{FF2B5EF4-FFF2-40B4-BE49-F238E27FC236}">
                <a16:creationId xmlns:a16="http://schemas.microsoft.com/office/drawing/2014/main" id="{EB528BBD-E4C6-BCDF-B698-45DB93CC6E2F}"/>
              </a:ext>
            </a:extLst>
          </p:cNvPr>
          <p:cNvCxnSpPr/>
          <p:nvPr/>
        </p:nvCxnSpPr>
        <p:spPr>
          <a:xfrm>
            <a:off x="1349309" y="6153150"/>
            <a:ext cx="1548000" cy="0"/>
          </a:xfrm>
          <a:prstGeom prst="line">
            <a:avLst/>
          </a:prstGeom>
        </p:spPr>
        <p:style>
          <a:lnRef idx="1">
            <a:schemeClr val="dk1"/>
          </a:lnRef>
          <a:fillRef idx="0">
            <a:schemeClr val="dk1"/>
          </a:fillRef>
          <a:effectRef idx="0">
            <a:schemeClr val="dk1"/>
          </a:effectRef>
          <a:fontRef idx="minor">
            <a:schemeClr val="tx1"/>
          </a:fontRef>
        </p:style>
      </p:cxnSp>
      <p:cxnSp>
        <p:nvCxnSpPr>
          <p:cNvPr id="19" name="Conector recto 18">
            <a:extLst>
              <a:ext uri="{FF2B5EF4-FFF2-40B4-BE49-F238E27FC236}">
                <a16:creationId xmlns:a16="http://schemas.microsoft.com/office/drawing/2014/main" id="{C6B5FA64-4282-F702-DC34-5F442211C2FD}"/>
              </a:ext>
            </a:extLst>
          </p:cNvPr>
          <p:cNvCxnSpPr/>
          <p:nvPr/>
        </p:nvCxnSpPr>
        <p:spPr>
          <a:xfrm>
            <a:off x="4349684" y="6153330"/>
            <a:ext cx="1548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ector recto 19">
            <a:extLst>
              <a:ext uri="{FF2B5EF4-FFF2-40B4-BE49-F238E27FC236}">
                <a16:creationId xmlns:a16="http://schemas.microsoft.com/office/drawing/2014/main" id="{B3FB086D-EE92-7E57-0CA7-8617D97CB8F5}"/>
              </a:ext>
            </a:extLst>
          </p:cNvPr>
          <p:cNvCxnSpPr>
            <a:cxnSpLocks/>
          </p:cNvCxnSpPr>
          <p:nvPr/>
        </p:nvCxnSpPr>
        <p:spPr>
          <a:xfrm flipV="1">
            <a:off x="5905500" y="6006494"/>
            <a:ext cx="0" cy="300634"/>
          </a:xfrm>
          <a:prstGeom prst="line">
            <a:avLst/>
          </a:prstGeom>
        </p:spPr>
        <p:style>
          <a:lnRef idx="1">
            <a:schemeClr val="dk1"/>
          </a:lnRef>
          <a:fillRef idx="0">
            <a:schemeClr val="dk1"/>
          </a:fillRef>
          <a:effectRef idx="0">
            <a:schemeClr val="dk1"/>
          </a:effectRef>
          <a:fontRef idx="minor">
            <a:schemeClr val="tx1"/>
          </a:fontRef>
        </p:style>
      </p:cxnSp>
      <p:cxnSp>
        <p:nvCxnSpPr>
          <p:cNvPr id="22" name="Conector recto 21">
            <a:extLst>
              <a:ext uri="{FF2B5EF4-FFF2-40B4-BE49-F238E27FC236}">
                <a16:creationId xmlns:a16="http://schemas.microsoft.com/office/drawing/2014/main" id="{791C4BB1-5367-B225-7850-A8FD7DD6FB61}"/>
              </a:ext>
            </a:extLst>
          </p:cNvPr>
          <p:cNvCxnSpPr>
            <a:cxnSpLocks/>
          </p:cNvCxnSpPr>
          <p:nvPr/>
        </p:nvCxnSpPr>
        <p:spPr>
          <a:xfrm flipV="1">
            <a:off x="1342280" y="6006494"/>
            <a:ext cx="0" cy="300634"/>
          </a:xfrm>
          <a:prstGeom prst="line">
            <a:avLst/>
          </a:prstGeom>
        </p:spPr>
        <p:style>
          <a:lnRef idx="1">
            <a:schemeClr val="dk1"/>
          </a:lnRef>
          <a:fillRef idx="0">
            <a:schemeClr val="dk1"/>
          </a:fillRef>
          <a:effectRef idx="0">
            <a:schemeClr val="dk1"/>
          </a:effectRef>
          <a:fontRef idx="minor">
            <a:schemeClr val="tx1"/>
          </a:fontRef>
        </p:style>
      </p:cxnSp>
      <p:cxnSp>
        <p:nvCxnSpPr>
          <p:cNvPr id="23" name="Conector recto 22">
            <a:extLst>
              <a:ext uri="{FF2B5EF4-FFF2-40B4-BE49-F238E27FC236}">
                <a16:creationId xmlns:a16="http://schemas.microsoft.com/office/drawing/2014/main" id="{5FB7BC35-4E2A-91F2-3605-1B0ED2D388CE}"/>
              </a:ext>
            </a:extLst>
          </p:cNvPr>
          <p:cNvCxnSpPr/>
          <p:nvPr/>
        </p:nvCxnSpPr>
        <p:spPr>
          <a:xfrm>
            <a:off x="6080585" y="6137851"/>
            <a:ext cx="1548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ector recto 23">
            <a:extLst>
              <a:ext uri="{FF2B5EF4-FFF2-40B4-BE49-F238E27FC236}">
                <a16:creationId xmlns:a16="http://schemas.microsoft.com/office/drawing/2014/main" id="{61A9846C-5667-E39A-97E3-AC46CD609FD5}"/>
              </a:ext>
            </a:extLst>
          </p:cNvPr>
          <p:cNvCxnSpPr/>
          <p:nvPr/>
        </p:nvCxnSpPr>
        <p:spPr>
          <a:xfrm>
            <a:off x="9080960" y="6138031"/>
            <a:ext cx="1548000" cy="0"/>
          </a:xfrm>
          <a:prstGeom prst="line">
            <a:avLst/>
          </a:prstGeom>
        </p:spPr>
        <p:style>
          <a:lnRef idx="1">
            <a:schemeClr val="dk1"/>
          </a:lnRef>
          <a:fillRef idx="0">
            <a:schemeClr val="dk1"/>
          </a:fillRef>
          <a:effectRef idx="0">
            <a:schemeClr val="dk1"/>
          </a:effectRef>
          <a:fontRef idx="minor">
            <a:schemeClr val="tx1"/>
          </a:fontRef>
        </p:style>
      </p:cxnSp>
      <p:cxnSp>
        <p:nvCxnSpPr>
          <p:cNvPr id="25" name="Conector recto 24">
            <a:extLst>
              <a:ext uri="{FF2B5EF4-FFF2-40B4-BE49-F238E27FC236}">
                <a16:creationId xmlns:a16="http://schemas.microsoft.com/office/drawing/2014/main" id="{99C86EE6-02EC-59DA-C4F9-6EFD0CC37E27}"/>
              </a:ext>
            </a:extLst>
          </p:cNvPr>
          <p:cNvCxnSpPr>
            <a:cxnSpLocks/>
          </p:cNvCxnSpPr>
          <p:nvPr/>
        </p:nvCxnSpPr>
        <p:spPr>
          <a:xfrm flipV="1">
            <a:off x="10636776" y="5991195"/>
            <a:ext cx="0" cy="300634"/>
          </a:xfrm>
          <a:prstGeom prst="line">
            <a:avLst/>
          </a:prstGeom>
        </p:spPr>
        <p:style>
          <a:lnRef idx="1">
            <a:schemeClr val="dk1"/>
          </a:lnRef>
          <a:fillRef idx="0">
            <a:schemeClr val="dk1"/>
          </a:fillRef>
          <a:effectRef idx="0">
            <a:schemeClr val="dk1"/>
          </a:effectRef>
          <a:fontRef idx="minor">
            <a:schemeClr val="tx1"/>
          </a:fontRef>
        </p:style>
      </p:cxnSp>
      <p:cxnSp>
        <p:nvCxnSpPr>
          <p:cNvPr id="26" name="Conector recto 25">
            <a:extLst>
              <a:ext uri="{FF2B5EF4-FFF2-40B4-BE49-F238E27FC236}">
                <a16:creationId xmlns:a16="http://schemas.microsoft.com/office/drawing/2014/main" id="{8D06DCE7-1196-2316-CBE6-CCD249C94929}"/>
              </a:ext>
            </a:extLst>
          </p:cNvPr>
          <p:cNvCxnSpPr>
            <a:cxnSpLocks/>
          </p:cNvCxnSpPr>
          <p:nvPr/>
        </p:nvCxnSpPr>
        <p:spPr>
          <a:xfrm flipV="1">
            <a:off x="6073556" y="5991195"/>
            <a:ext cx="0" cy="300634"/>
          </a:xfrm>
          <a:prstGeom prst="line">
            <a:avLst/>
          </a:prstGeom>
        </p:spPr>
        <p:style>
          <a:lnRef idx="1">
            <a:schemeClr val="dk1"/>
          </a:lnRef>
          <a:fillRef idx="0">
            <a:schemeClr val="dk1"/>
          </a:fillRef>
          <a:effectRef idx="0">
            <a:schemeClr val="dk1"/>
          </a:effectRef>
          <a:fontRef idx="minor">
            <a:schemeClr val="tx1"/>
          </a:fontRef>
        </p:style>
      </p:cxnSp>
      <p:sp>
        <p:nvSpPr>
          <p:cNvPr id="27" name="CuadroTexto 26">
            <a:extLst>
              <a:ext uri="{FF2B5EF4-FFF2-40B4-BE49-F238E27FC236}">
                <a16:creationId xmlns:a16="http://schemas.microsoft.com/office/drawing/2014/main" id="{46FEC77E-6C21-A511-45CD-DB9CC767F119}"/>
              </a:ext>
            </a:extLst>
          </p:cNvPr>
          <p:cNvSpPr txBox="1"/>
          <p:nvPr/>
        </p:nvSpPr>
        <p:spPr>
          <a:xfrm>
            <a:off x="7925073" y="5953275"/>
            <a:ext cx="1743075" cy="338554"/>
          </a:xfrm>
          <a:prstGeom prst="rect">
            <a:avLst/>
          </a:prstGeom>
          <a:noFill/>
        </p:spPr>
        <p:txBody>
          <a:bodyPr wrap="square" rtlCol="0">
            <a:spAutoFit/>
          </a:bodyPr>
          <a:lstStyle/>
          <a:p>
            <a:pPr algn="l"/>
            <a:r>
              <a:rPr lang="es-MX" sz="1600" i="1">
                <a:latin typeface="Calibri" panose="020F0502020204030204" pitchFamily="34" charset="0"/>
                <a:cs typeface="Calibri" panose="020F0502020204030204" pitchFamily="34" charset="0"/>
              </a:rPr>
              <a:t>2Q 2026 </a:t>
            </a:r>
          </a:p>
        </p:txBody>
      </p:sp>
      <p:sp>
        <p:nvSpPr>
          <p:cNvPr id="28" name="Triángulo isósceles 27">
            <a:extLst>
              <a:ext uri="{FF2B5EF4-FFF2-40B4-BE49-F238E27FC236}">
                <a16:creationId xmlns:a16="http://schemas.microsoft.com/office/drawing/2014/main" id="{3776F238-B465-5D0A-819A-A246EA742CA4}"/>
              </a:ext>
            </a:extLst>
          </p:cNvPr>
          <p:cNvSpPr/>
          <p:nvPr/>
        </p:nvSpPr>
        <p:spPr>
          <a:xfrm rot="10800000">
            <a:off x="2116554" y="1360844"/>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Título 20">
            <a:extLst>
              <a:ext uri="{FF2B5EF4-FFF2-40B4-BE49-F238E27FC236}">
                <a16:creationId xmlns:a16="http://schemas.microsoft.com/office/drawing/2014/main" id="{B88914EE-B506-F0C6-8357-031C4757502C}"/>
              </a:ext>
            </a:extLst>
          </p:cNvPr>
          <p:cNvSpPr>
            <a:spLocks noGrp="1"/>
          </p:cNvSpPr>
          <p:nvPr>
            <p:ph type="title"/>
          </p:nvPr>
        </p:nvSpPr>
        <p:spPr/>
        <p:txBody>
          <a:bodyPr/>
          <a:lstStyle/>
          <a:p>
            <a:r>
              <a:rPr lang="es-ES"/>
              <a:t>Siguientes pasos</a:t>
            </a:r>
            <a:endParaRPr lang="es-MX"/>
          </a:p>
        </p:txBody>
      </p:sp>
    </p:spTree>
    <p:extLst>
      <p:ext uri="{BB962C8B-B14F-4D97-AF65-F5344CB8AC3E}">
        <p14:creationId xmlns:p14="http://schemas.microsoft.com/office/powerpoint/2010/main" val="3920541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F8192-D968-32AE-A537-40ABE95188A5}"/>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5CE3262-B546-3A76-FE89-9211233C343C}"/>
              </a:ext>
            </a:extLst>
          </p:cNvPr>
          <p:cNvSpPr>
            <a:spLocks noGrp="1"/>
          </p:cNvSpPr>
          <p:nvPr>
            <p:ph type="title"/>
          </p:nvPr>
        </p:nvSpPr>
        <p:spPr/>
        <p:txBody>
          <a:bodyPr/>
          <a:lstStyle/>
          <a:p>
            <a:r>
              <a:rPr lang="es-ES_tradnl" sz="2400" b="0" i="1"/>
              <a:t>Gracias</a:t>
            </a:r>
          </a:p>
        </p:txBody>
      </p:sp>
      <p:sp>
        <p:nvSpPr>
          <p:cNvPr id="2" name="CuadroTexto 1">
            <a:extLst>
              <a:ext uri="{FF2B5EF4-FFF2-40B4-BE49-F238E27FC236}">
                <a16:creationId xmlns:a16="http://schemas.microsoft.com/office/drawing/2014/main" id="{1D08F26C-A573-6591-62BD-A45EB58DF6FC}"/>
              </a:ext>
            </a:extLst>
          </p:cNvPr>
          <p:cNvSpPr txBox="1"/>
          <p:nvPr/>
        </p:nvSpPr>
        <p:spPr>
          <a:xfrm>
            <a:off x="10553700" y="6324600"/>
            <a:ext cx="1800225" cy="369332"/>
          </a:xfrm>
          <a:prstGeom prst="rect">
            <a:avLst/>
          </a:prstGeom>
          <a:noFill/>
        </p:spPr>
        <p:txBody>
          <a:bodyPr wrap="square" rtlCol="0">
            <a:spAutoFit/>
          </a:bodyPr>
          <a:lstStyle/>
          <a:p>
            <a:pPr algn="l"/>
            <a:r>
              <a:rPr lang="es-MX">
                <a:solidFill>
                  <a:schemeClr val="bg1"/>
                </a:solidFill>
                <a:latin typeface="Calibri" panose="020F0502020204030204" pitchFamily="34" charset="0"/>
                <a:cs typeface="Calibri" panose="020F0502020204030204" pitchFamily="34" charset="0"/>
              </a:rPr>
              <a:t>Febrero 2026</a:t>
            </a:r>
          </a:p>
        </p:txBody>
      </p:sp>
    </p:spTree>
    <p:extLst>
      <p:ext uri="{BB962C8B-B14F-4D97-AF65-F5344CB8AC3E}">
        <p14:creationId xmlns:p14="http://schemas.microsoft.com/office/powerpoint/2010/main" val="3429756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75417"/>
</p:tagLst>
</file>

<file path=ppt/tags/tag2.xml><?xml version="1.0" encoding="utf-8"?>
<p:tagLst xmlns:a="http://schemas.openxmlformats.org/drawingml/2006/main" xmlns:r="http://schemas.openxmlformats.org/officeDocument/2006/relationships" xmlns:p="http://schemas.openxmlformats.org/presentationml/2006/main">
  <p:tag name="AS_UNIQUEID" val="75417"/>
</p:tagLst>
</file>

<file path=ppt/tags/tag3.xml><?xml version="1.0" encoding="utf-8"?>
<p:tagLst xmlns:a="http://schemas.openxmlformats.org/drawingml/2006/main" xmlns:r="http://schemas.openxmlformats.org/officeDocument/2006/relationships" xmlns:p="http://schemas.openxmlformats.org/presentationml/2006/main">
  <p:tag name="AS_UNIQUEID" val="75429"/>
</p:tagLst>
</file>

<file path=ppt/tags/tag4.xml><?xml version="1.0" encoding="utf-8"?>
<p:tagLst xmlns:a="http://schemas.openxmlformats.org/drawingml/2006/main" xmlns:r="http://schemas.openxmlformats.org/officeDocument/2006/relationships" xmlns:p="http://schemas.openxmlformats.org/presentationml/2006/main">
  <p:tag name="AS_UNIQUEID" val="75431"/>
</p:tagLst>
</file>

<file path=ppt/tags/tag5.xml><?xml version="1.0" encoding="utf-8"?>
<p:tagLst xmlns:a="http://schemas.openxmlformats.org/drawingml/2006/main" xmlns:r="http://schemas.openxmlformats.org/officeDocument/2006/relationships" xmlns:p="http://schemas.openxmlformats.org/presentationml/2006/main">
  <p:tag name="AS_UNIQUEID" val="75432"/>
</p:tagLst>
</file>

<file path=ppt/tags/tag6.xml><?xml version="1.0" encoding="utf-8"?>
<p:tagLst xmlns:a="http://schemas.openxmlformats.org/drawingml/2006/main" xmlns:r="http://schemas.openxmlformats.org/officeDocument/2006/relationships" xmlns:p="http://schemas.openxmlformats.org/presentationml/2006/main">
  <p:tag name="AS_UNIQUEID" val="75433"/>
</p:tagLst>
</file>

<file path=ppt/tags/tag7.xml><?xml version="1.0" encoding="utf-8"?>
<p:tagLst xmlns:a="http://schemas.openxmlformats.org/drawingml/2006/main" xmlns:r="http://schemas.openxmlformats.org/officeDocument/2006/relationships" xmlns:p="http://schemas.openxmlformats.org/presentationml/2006/main">
  <p:tag name="AS_UNIQUEID" val="75434"/>
</p:tagLst>
</file>

<file path=ppt/tags/tag8.xml><?xml version="1.0" encoding="utf-8"?>
<p:tagLst xmlns:a="http://schemas.openxmlformats.org/drawingml/2006/main" xmlns:r="http://schemas.openxmlformats.org/officeDocument/2006/relationships" xmlns:p="http://schemas.openxmlformats.org/presentationml/2006/main">
  <p:tag name="AS_UNIQUEID" val="75435"/>
</p:tagLst>
</file>

<file path=ppt/tags/tag9.xml><?xml version="1.0" encoding="utf-8"?>
<p:tagLst xmlns:a="http://schemas.openxmlformats.org/drawingml/2006/main" xmlns:r="http://schemas.openxmlformats.org/officeDocument/2006/relationships" xmlns:p="http://schemas.openxmlformats.org/presentationml/2006/main">
  <p:tag name="AS_UNIQUEID" val="75436"/>
</p:tagLst>
</file>

<file path=ppt/tags/tag10.xml><?xml version="1.0" encoding="utf-8"?>
<p:tagLst xmlns:a="http://schemas.openxmlformats.org/drawingml/2006/main" xmlns:r="http://schemas.openxmlformats.org/officeDocument/2006/relationships" xmlns:p="http://schemas.openxmlformats.org/presentationml/2006/main">
  <p:tag name="AS_UNIQUEID" val="75438"/>
</p:tagLst>
</file>

<file path=ppt/tags/tag11.xml><?xml version="1.0" encoding="utf-8"?>
<p:tagLst xmlns:a="http://schemas.openxmlformats.org/drawingml/2006/main" xmlns:r="http://schemas.openxmlformats.org/officeDocument/2006/relationships" xmlns:p="http://schemas.openxmlformats.org/presentationml/2006/main">
  <p:tag name="AS_UNIQUEID" val="75439"/>
</p:tagLst>
</file>

<file path=ppt/tags/tag12.xml><?xml version="1.0" encoding="utf-8"?>
<p:tagLst xmlns:a="http://schemas.openxmlformats.org/drawingml/2006/main" xmlns:r="http://schemas.openxmlformats.org/officeDocument/2006/relationships" xmlns:p="http://schemas.openxmlformats.org/presentationml/2006/main">
  <p:tag name="AS_UNIQUEID" val="75440"/>
</p:tagLst>
</file>

<file path=ppt/tags/tag13.xml><?xml version="1.0" encoding="utf-8"?>
<p:tagLst xmlns:a="http://schemas.openxmlformats.org/drawingml/2006/main" xmlns:r="http://schemas.openxmlformats.org/officeDocument/2006/relationships" xmlns:p="http://schemas.openxmlformats.org/presentationml/2006/main">
  <p:tag name="AS_UNIQUEID" val="75441"/>
</p:tagLst>
</file>

<file path=ppt/tags/tag14.xml><?xml version="1.0" encoding="utf-8"?>
<p:tagLst xmlns:a="http://schemas.openxmlformats.org/drawingml/2006/main" xmlns:r="http://schemas.openxmlformats.org/officeDocument/2006/relationships" xmlns:p="http://schemas.openxmlformats.org/presentationml/2006/main">
  <p:tag name="AS_UNIQUEID" val="75442"/>
</p:tagLst>
</file>

<file path=ppt/tags/tag15.xml><?xml version="1.0" encoding="utf-8"?>
<p:tagLst xmlns:a="http://schemas.openxmlformats.org/drawingml/2006/main" xmlns:r="http://schemas.openxmlformats.org/officeDocument/2006/relationships" xmlns:p="http://schemas.openxmlformats.org/presentationml/2006/main">
  <p:tag name="BAINBULLETSACTIVATED" val="False"/>
</p:tagLst>
</file>

<file path=ppt/tags/tag16.xml><?xml version="1.0" encoding="utf-8"?>
<p:tagLst xmlns:a="http://schemas.openxmlformats.org/drawingml/2006/main" xmlns:r="http://schemas.openxmlformats.org/officeDocument/2006/relationships" xmlns:p="http://schemas.openxmlformats.org/presentationml/2006/main">
  <p:tag name="AS_UNIQUEID" val="75576"/>
</p:tagLst>
</file>

<file path=ppt/tags/tag17.xml><?xml version="1.0" encoding="utf-8"?>
<p:tagLst xmlns:a="http://schemas.openxmlformats.org/drawingml/2006/main" xmlns:r="http://schemas.openxmlformats.org/officeDocument/2006/relationships" xmlns:p="http://schemas.openxmlformats.org/presentationml/2006/main">
  <p:tag name="AS_UNIQUEID" val="75615"/>
</p:tagLst>
</file>

<file path=ppt/tags/tag18.xml><?xml version="1.0" encoding="utf-8"?>
<p:tagLst xmlns:a="http://schemas.openxmlformats.org/drawingml/2006/main" xmlns:r="http://schemas.openxmlformats.org/officeDocument/2006/relationships" xmlns:p="http://schemas.openxmlformats.org/presentationml/2006/main">
  <p:tag name="AS_UNIQUEID" val="75616"/>
</p:tagLst>
</file>

<file path=ppt/tags/tag19.xml><?xml version="1.0" encoding="utf-8"?>
<p:tagLst xmlns:a="http://schemas.openxmlformats.org/drawingml/2006/main" xmlns:r="http://schemas.openxmlformats.org/officeDocument/2006/relationships" xmlns:p="http://schemas.openxmlformats.org/presentationml/2006/main">
  <p:tag name="AS_UNIQUEID" val="75617"/>
</p:tagLst>
</file>

<file path=ppt/tags/tag20.xml><?xml version="1.0" encoding="utf-8"?>
<p:tagLst xmlns:a="http://schemas.openxmlformats.org/drawingml/2006/main" xmlns:r="http://schemas.openxmlformats.org/officeDocument/2006/relationships" xmlns:p="http://schemas.openxmlformats.org/presentationml/2006/main">
  <p:tag name="AS_UNIQUEID" val="75618"/>
</p:tagLst>
</file>

<file path=ppt/tags/tag21.xml><?xml version="1.0" encoding="utf-8"?>
<p:tagLst xmlns:a="http://schemas.openxmlformats.org/drawingml/2006/main" xmlns:r="http://schemas.openxmlformats.org/officeDocument/2006/relationships" xmlns:p="http://schemas.openxmlformats.org/presentationml/2006/main">
  <p:tag name="AS_UNIQUEID" val="75619"/>
</p:tagLst>
</file>

<file path=ppt/tags/tag22.xml><?xml version="1.0" encoding="utf-8"?>
<p:tagLst xmlns:a="http://schemas.openxmlformats.org/drawingml/2006/main" xmlns:r="http://schemas.openxmlformats.org/officeDocument/2006/relationships" xmlns:p="http://schemas.openxmlformats.org/presentationml/2006/main">
  <p:tag name="AS_UNIQUEID" val="75620"/>
</p:tagLst>
</file>

<file path=ppt/tags/tag23.xml><?xml version="1.0" encoding="utf-8"?>
<p:tagLst xmlns:a="http://schemas.openxmlformats.org/drawingml/2006/main" xmlns:r="http://schemas.openxmlformats.org/officeDocument/2006/relationships" xmlns:p="http://schemas.openxmlformats.org/presentationml/2006/main">
  <p:tag name="AS_UNIQUEID" val="75621"/>
</p:tagLst>
</file>

<file path=ppt/tags/tag24.xml><?xml version="1.0" encoding="utf-8"?>
<p:tagLst xmlns:a="http://schemas.openxmlformats.org/drawingml/2006/main" xmlns:r="http://schemas.openxmlformats.org/officeDocument/2006/relationships" xmlns:p="http://schemas.openxmlformats.org/presentationml/2006/main">
  <p:tag name="AS_UNIQUEID" val="75622"/>
</p:tagLst>
</file>

<file path=ppt/tags/tag25.xml><?xml version="1.0" encoding="utf-8"?>
<p:tagLst xmlns:a="http://schemas.openxmlformats.org/drawingml/2006/main" xmlns:r="http://schemas.openxmlformats.org/officeDocument/2006/relationships" xmlns:p="http://schemas.openxmlformats.org/presentationml/2006/main">
  <p:tag name="AS_UNIQUEID" val="75623"/>
</p:tagLst>
</file>

<file path=ppt/tags/tag26.xml><?xml version="1.0" encoding="utf-8"?>
<p:tagLst xmlns:a="http://schemas.openxmlformats.org/drawingml/2006/main" xmlns:r="http://schemas.openxmlformats.org/officeDocument/2006/relationships" xmlns:p="http://schemas.openxmlformats.org/presentationml/2006/main">
  <p:tag name="AS_UNIQUEID" val="19473"/>
</p:tagLst>
</file>

<file path=ppt/tags/tag27.xml><?xml version="1.0" encoding="utf-8"?>
<p:tagLst xmlns:a="http://schemas.openxmlformats.org/drawingml/2006/main" xmlns:r="http://schemas.openxmlformats.org/officeDocument/2006/relationships" xmlns:p="http://schemas.openxmlformats.org/presentationml/2006/main">
  <p:tag name="AS_UNIQUEID" val="75577"/>
</p:tagLst>
</file>

<file path=ppt/tags/tag28.xml><?xml version="1.0" encoding="utf-8"?>
<p:tagLst xmlns:a="http://schemas.openxmlformats.org/drawingml/2006/main" xmlns:r="http://schemas.openxmlformats.org/officeDocument/2006/relationships" xmlns:p="http://schemas.openxmlformats.org/presentationml/2006/main">
  <p:tag name="AS_UNIQUEID" val="75578"/>
</p:tagLst>
</file>

<file path=ppt/tags/tag29.xml><?xml version="1.0" encoding="utf-8"?>
<p:tagLst xmlns:a="http://schemas.openxmlformats.org/drawingml/2006/main" xmlns:r="http://schemas.openxmlformats.org/officeDocument/2006/relationships" xmlns:p="http://schemas.openxmlformats.org/presentationml/2006/main">
  <p:tag name="AS_UNIQUEID" val="75579"/>
</p:tagLst>
</file>

<file path=ppt/tags/tag30.xml><?xml version="1.0" encoding="utf-8"?>
<p:tagLst xmlns:a="http://schemas.openxmlformats.org/drawingml/2006/main" xmlns:r="http://schemas.openxmlformats.org/officeDocument/2006/relationships" xmlns:p="http://schemas.openxmlformats.org/presentationml/2006/main">
  <p:tag name="AS_UNIQUEID" val="75580"/>
</p:tagLst>
</file>

<file path=ppt/tags/tag31.xml><?xml version="1.0" encoding="utf-8"?>
<p:tagLst xmlns:a="http://schemas.openxmlformats.org/drawingml/2006/main" xmlns:r="http://schemas.openxmlformats.org/officeDocument/2006/relationships" xmlns:p="http://schemas.openxmlformats.org/presentationml/2006/main">
  <p:tag name="AS_UNIQUEID" val="75581"/>
</p:tagLst>
</file>

<file path=ppt/tags/tag32.xml><?xml version="1.0" encoding="utf-8"?>
<p:tagLst xmlns:a="http://schemas.openxmlformats.org/drawingml/2006/main" xmlns:r="http://schemas.openxmlformats.org/officeDocument/2006/relationships" xmlns:p="http://schemas.openxmlformats.org/presentationml/2006/main">
  <p:tag name="AS_UNIQUEID" val="75582"/>
</p:tagLst>
</file>

<file path=ppt/tags/tag33.xml><?xml version="1.0" encoding="utf-8"?>
<p:tagLst xmlns:a="http://schemas.openxmlformats.org/drawingml/2006/main" xmlns:r="http://schemas.openxmlformats.org/officeDocument/2006/relationships" xmlns:p="http://schemas.openxmlformats.org/presentationml/2006/main">
  <p:tag name="AS_UNIQUEID" val="75583"/>
</p:tagLst>
</file>

<file path=ppt/tags/tag34.xml><?xml version="1.0" encoding="utf-8"?>
<p:tagLst xmlns:a="http://schemas.openxmlformats.org/drawingml/2006/main" xmlns:r="http://schemas.openxmlformats.org/officeDocument/2006/relationships" xmlns:p="http://schemas.openxmlformats.org/presentationml/2006/main">
  <p:tag name="AS_UNIQUEID" val="42127"/>
</p:tagLst>
</file>

<file path=ppt/tags/tag35.xml><?xml version="1.0" encoding="utf-8"?>
<p:tagLst xmlns:a="http://schemas.openxmlformats.org/drawingml/2006/main" xmlns:r="http://schemas.openxmlformats.org/officeDocument/2006/relationships" xmlns:p="http://schemas.openxmlformats.org/presentationml/2006/main">
  <p:tag name="AS_UNIQUEID" val="42128"/>
</p:tagLst>
</file>

<file path=ppt/tags/tag36.xml><?xml version="1.0" encoding="utf-8"?>
<p:tagLst xmlns:a="http://schemas.openxmlformats.org/drawingml/2006/main" xmlns:r="http://schemas.openxmlformats.org/officeDocument/2006/relationships" xmlns:p="http://schemas.openxmlformats.org/presentationml/2006/main">
  <p:tag name="AS_UNIQUEID" val="42129"/>
</p:tagLst>
</file>

<file path=ppt/tags/tag37.xml><?xml version="1.0" encoding="utf-8"?>
<p:tagLst xmlns:a="http://schemas.openxmlformats.org/drawingml/2006/main" xmlns:r="http://schemas.openxmlformats.org/officeDocument/2006/relationships" xmlns:p="http://schemas.openxmlformats.org/presentationml/2006/main">
  <p:tag name="AS_UNIQUEID" val="42154"/>
</p:tagLst>
</file>

<file path=ppt/tags/tag38.xml><?xml version="1.0" encoding="utf-8"?>
<p:tagLst xmlns:a="http://schemas.openxmlformats.org/drawingml/2006/main" xmlns:r="http://schemas.openxmlformats.org/officeDocument/2006/relationships" xmlns:p="http://schemas.openxmlformats.org/presentationml/2006/main">
  <p:tag name="AS_UNIQUEID" val="42155"/>
</p:tagLst>
</file>

<file path=ppt/tags/tag39.xml><?xml version="1.0" encoding="utf-8"?>
<p:tagLst xmlns:a="http://schemas.openxmlformats.org/drawingml/2006/main" xmlns:r="http://schemas.openxmlformats.org/officeDocument/2006/relationships" xmlns:p="http://schemas.openxmlformats.org/presentationml/2006/main">
  <p:tag name="AS_UNIQUEID" val="42156"/>
</p:tagLst>
</file>

<file path=ppt/tags/tag40.xml><?xml version="1.0" encoding="utf-8"?>
<p:tagLst xmlns:a="http://schemas.openxmlformats.org/drawingml/2006/main" xmlns:r="http://schemas.openxmlformats.org/officeDocument/2006/relationships" xmlns:p="http://schemas.openxmlformats.org/presentationml/2006/main">
  <p:tag name="AS_UNIQUEID" val="42157"/>
</p:tagLst>
</file>

<file path=ppt/tags/tag41.xml><?xml version="1.0" encoding="utf-8"?>
<p:tagLst xmlns:a="http://schemas.openxmlformats.org/drawingml/2006/main" xmlns:r="http://schemas.openxmlformats.org/officeDocument/2006/relationships" xmlns:p="http://schemas.openxmlformats.org/presentationml/2006/main">
  <p:tag name="AS_UNIQUEID" val="42163"/>
</p:tagLst>
</file>

<file path=ppt/tags/tag42.xml><?xml version="1.0" encoding="utf-8"?>
<p:tagLst xmlns:a="http://schemas.openxmlformats.org/drawingml/2006/main" xmlns:r="http://schemas.openxmlformats.org/officeDocument/2006/relationships" xmlns:p="http://schemas.openxmlformats.org/presentationml/2006/main">
  <p:tag name="AS_UNIQUEID" val="42164"/>
</p:tagLst>
</file>

<file path=ppt/tags/tag43.xml><?xml version="1.0" encoding="utf-8"?>
<p:tagLst xmlns:a="http://schemas.openxmlformats.org/drawingml/2006/main" xmlns:r="http://schemas.openxmlformats.org/officeDocument/2006/relationships" xmlns:p="http://schemas.openxmlformats.org/presentationml/2006/main">
  <p:tag name="AS_UNIQUEID" val="42165"/>
</p:tagLst>
</file>

<file path=ppt/tags/tag44.xml><?xml version="1.0" encoding="utf-8"?>
<p:tagLst xmlns:a="http://schemas.openxmlformats.org/drawingml/2006/main" xmlns:r="http://schemas.openxmlformats.org/officeDocument/2006/relationships" xmlns:p="http://schemas.openxmlformats.org/presentationml/2006/main">
  <p:tag name="AS_UNIQUEID" val="42166"/>
</p:tagLst>
</file>

<file path=ppt/tags/tag45.xml><?xml version="1.0" encoding="utf-8"?>
<p:tagLst xmlns:a="http://schemas.openxmlformats.org/drawingml/2006/main" xmlns:r="http://schemas.openxmlformats.org/officeDocument/2006/relationships" xmlns:p="http://schemas.openxmlformats.org/presentationml/2006/main">
  <p:tag name="AS_UNIQUEID" val="42167"/>
</p:tagLst>
</file>

<file path=ppt/tags/tag46.xml><?xml version="1.0" encoding="utf-8"?>
<p:tagLst xmlns:a="http://schemas.openxmlformats.org/drawingml/2006/main" xmlns:r="http://schemas.openxmlformats.org/officeDocument/2006/relationships" xmlns:p="http://schemas.openxmlformats.org/presentationml/2006/main">
  <p:tag name="AS_UNIQUEID" val="42168"/>
</p:tagLst>
</file>

<file path=ppt/tags/tag47.xml><?xml version="1.0" encoding="utf-8"?>
<p:tagLst xmlns:a="http://schemas.openxmlformats.org/drawingml/2006/main" xmlns:r="http://schemas.openxmlformats.org/officeDocument/2006/relationships" xmlns:p="http://schemas.openxmlformats.org/presentationml/2006/main">
  <p:tag name="AS_UNIQUEID" val="42169"/>
</p:tagLst>
</file>

<file path=ppt/tags/tag48.xml><?xml version="1.0" encoding="utf-8"?>
<p:tagLst xmlns:a="http://schemas.openxmlformats.org/drawingml/2006/main" xmlns:r="http://schemas.openxmlformats.org/officeDocument/2006/relationships" xmlns:p="http://schemas.openxmlformats.org/presentationml/2006/main">
  <p:tag name="AS_UNIQUEID" val="42170"/>
</p:tagLst>
</file>

<file path=ppt/tags/tag49.xml><?xml version="1.0" encoding="utf-8"?>
<p:tagLst xmlns:a="http://schemas.openxmlformats.org/drawingml/2006/main" xmlns:r="http://schemas.openxmlformats.org/officeDocument/2006/relationships" xmlns:p="http://schemas.openxmlformats.org/presentationml/2006/main">
  <p:tag name="AS_UNIQUEID" val="42171"/>
</p:tagLst>
</file>

<file path=ppt/tags/tag50.xml><?xml version="1.0" encoding="utf-8"?>
<p:tagLst xmlns:a="http://schemas.openxmlformats.org/drawingml/2006/main" xmlns:r="http://schemas.openxmlformats.org/officeDocument/2006/relationships" xmlns:p="http://schemas.openxmlformats.org/presentationml/2006/main">
  <p:tag name="AS_UNIQUEID" val="42172"/>
</p:tagLst>
</file>

<file path=ppt/tags/tag51.xml><?xml version="1.0" encoding="utf-8"?>
<p:tagLst xmlns:a="http://schemas.openxmlformats.org/drawingml/2006/main" xmlns:r="http://schemas.openxmlformats.org/officeDocument/2006/relationships" xmlns:p="http://schemas.openxmlformats.org/presentationml/2006/main">
  <p:tag name="AS_UNIQUEID" val="42173"/>
</p:tagLst>
</file>

<file path=ppt/tags/tag52.xml><?xml version="1.0" encoding="utf-8"?>
<p:tagLst xmlns:a="http://schemas.openxmlformats.org/drawingml/2006/main" xmlns:r="http://schemas.openxmlformats.org/officeDocument/2006/relationships" xmlns:p="http://schemas.openxmlformats.org/presentationml/2006/main">
  <p:tag name="AS_UNIQUEID" val="42174"/>
</p:tagLst>
</file>

<file path=ppt/tags/tag53.xml><?xml version="1.0" encoding="utf-8"?>
<p:tagLst xmlns:a="http://schemas.openxmlformats.org/drawingml/2006/main" xmlns:r="http://schemas.openxmlformats.org/officeDocument/2006/relationships" xmlns:p="http://schemas.openxmlformats.org/presentationml/2006/main">
  <p:tag name="AS_UNIQUEID" val="42143"/>
</p:tagLst>
</file>

<file path=ppt/tags/tag54.xml><?xml version="1.0" encoding="utf-8"?>
<p:tagLst xmlns:a="http://schemas.openxmlformats.org/drawingml/2006/main" xmlns:r="http://schemas.openxmlformats.org/officeDocument/2006/relationships" xmlns:p="http://schemas.openxmlformats.org/presentationml/2006/main">
  <p:tag name="AS_UNIQUEID" val="42144"/>
</p:tagLst>
</file>

<file path=ppt/tags/tag55.xml><?xml version="1.0" encoding="utf-8"?>
<p:tagLst xmlns:a="http://schemas.openxmlformats.org/drawingml/2006/main" xmlns:r="http://schemas.openxmlformats.org/officeDocument/2006/relationships" xmlns:p="http://schemas.openxmlformats.org/presentationml/2006/main">
  <p:tag name="AS_UNIQUEID" val="42145"/>
</p:tagLst>
</file>

<file path=ppt/tags/tag56.xml><?xml version="1.0" encoding="utf-8"?>
<p:tagLst xmlns:a="http://schemas.openxmlformats.org/drawingml/2006/main" xmlns:r="http://schemas.openxmlformats.org/officeDocument/2006/relationships" xmlns:p="http://schemas.openxmlformats.org/presentationml/2006/main">
  <p:tag name="AS_UNIQUEID" val="42146"/>
</p:tagLst>
</file>

<file path=ppt/tags/tag57.xml><?xml version="1.0" encoding="utf-8"?>
<p:tagLst xmlns:a="http://schemas.openxmlformats.org/drawingml/2006/main" xmlns:r="http://schemas.openxmlformats.org/officeDocument/2006/relationships" xmlns:p="http://schemas.openxmlformats.org/presentationml/2006/main">
  <p:tag name="AS_UNIQUEID" val="42148"/>
</p:tagLst>
</file>

<file path=ppt/tags/tag58.xml><?xml version="1.0" encoding="utf-8"?>
<p:tagLst xmlns:a="http://schemas.openxmlformats.org/drawingml/2006/main" xmlns:r="http://schemas.openxmlformats.org/officeDocument/2006/relationships" xmlns:p="http://schemas.openxmlformats.org/presentationml/2006/main">
  <p:tag name="AS_UNIQUEID" val="42151"/>
</p:tagLst>
</file>

<file path=ppt/tags/tag59.xml><?xml version="1.0" encoding="utf-8"?>
<p:tagLst xmlns:a="http://schemas.openxmlformats.org/drawingml/2006/main" xmlns:r="http://schemas.openxmlformats.org/officeDocument/2006/relationships" xmlns:p="http://schemas.openxmlformats.org/presentationml/2006/main">
  <p:tag name="AS_UNIQUEID" val="42153"/>
</p:tagLst>
</file>

<file path=ppt/tags/tag60.xml><?xml version="1.0" encoding="utf-8"?>
<p:tagLst xmlns:a="http://schemas.openxmlformats.org/drawingml/2006/main" xmlns:r="http://schemas.openxmlformats.org/officeDocument/2006/relationships" xmlns:p="http://schemas.openxmlformats.org/presentationml/2006/main">
  <p:tag name="AS_UNIQUEID" val="19837"/>
</p:tagLst>
</file>

<file path=ppt/tags/tag61.xml><?xml version="1.0" encoding="utf-8"?>
<p:tagLst xmlns:a="http://schemas.openxmlformats.org/drawingml/2006/main" xmlns:r="http://schemas.openxmlformats.org/officeDocument/2006/relationships" xmlns:p="http://schemas.openxmlformats.org/presentationml/2006/main">
  <p:tag name="AS_UNIQUEID" val="19838"/>
</p:tagLst>
</file>

<file path=ppt/tags/tag62.xml><?xml version="1.0" encoding="utf-8"?>
<p:tagLst xmlns:a="http://schemas.openxmlformats.org/drawingml/2006/main" xmlns:r="http://schemas.openxmlformats.org/officeDocument/2006/relationships" xmlns:p="http://schemas.openxmlformats.org/presentationml/2006/main">
  <p:tag name="AS_UNIQUEID" val="19839"/>
</p:tagLst>
</file>

<file path=ppt/tags/tag63.xml><?xml version="1.0" encoding="utf-8"?>
<p:tagLst xmlns:a="http://schemas.openxmlformats.org/drawingml/2006/main" xmlns:r="http://schemas.openxmlformats.org/officeDocument/2006/relationships" xmlns:p="http://schemas.openxmlformats.org/presentationml/2006/main">
  <p:tag name="AS_UNIQUEID" val="19840"/>
</p:tagLst>
</file>

<file path=ppt/tags/tag64.xml><?xml version="1.0" encoding="utf-8"?>
<p:tagLst xmlns:a="http://schemas.openxmlformats.org/drawingml/2006/main" xmlns:r="http://schemas.openxmlformats.org/officeDocument/2006/relationships" xmlns:p="http://schemas.openxmlformats.org/presentationml/2006/main">
  <p:tag name="AS_UNIQUEID" val="19841"/>
</p:tagLst>
</file>

<file path=ppt/tags/tag65.xml><?xml version="1.0" encoding="utf-8"?>
<p:tagLst xmlns:a="http://schemas.openxmlformats.org/drawingml/2006/main" xmlns:r="http://schemas.openxmlformats.org/officeDocument/2006/relationships" xmlns:p="http://schemas.openxmlformats.org/presentationml/2006/main">
  <p:tag name="AS_UNIQUEID" val="19842"/>
</p:tagLst>
</file>

<file path=ppt/tags/tag66.xml><?xml version="1.0" encoding="utf-8"?>
<p:tagLst xmlns:a="http://schemas.openxmlformats.org/drawingml/2006/main" xmlns:r="http://schemas.openxmlformats.org/officeDocument/2006/relationships" xmlns:p="http://schemas.openxmlformats.org/presentationml/2006/main">
  <p:tag name="AS_UNIQUEID" val="19843"/>
</p:tagLst>
</file>

<file path=ppt/tags/tag67.xml><?xml version="1.0" encoding="utf-8"?>
<p:tagLst xmlns:a="http://schemas.openxmlformats.org/drawingml/2006/main" xmlns:r="http://schemas.openxmlformats.org/officeDocument/2006/relationships" xmlns:p="http://schemas.openxmlformats.org/presentationml/2006/main">
  <p:tag name="AS_UNIQUEID" val="19844"/>
  <p:tag name="BTFPLAYOUTENABLED" val="0"/>
</p:tagLst>
</file>

<file path=ppt/tags/tag68.xml><?xml version="1.0" encoding="utf-8"?>
<p:tagLst xmlns:a="http://schemas.openxmlformats.org/drawingml/2006/main" xmlns:r="http://schemas.openxmlformats.org/officeDocument/2006/relationships" xmlns:p="http://schemas.openxmlformats.org/presentationml/2006/main">
  <p:tag name="AS_UNIQUEID" val="19852"/>
</p:tagLst>
</file>

<file path=ppt/tags/tag69.xml><?xml version="1.0" encoding="utf-8"?>
<p:tagLst xmlns:a="http://schemas.openxmlformats.org/drawingml/2006/main" xmlns:r="http://schemas.openxmlformats.org/officeDocument/2006/relationships" xmlns:p="http://schemas.openxmlformats.org/presentationml/2006/main">
  <p:tag name="AS_UNIQUEID" val="19853"/>
</p:tagLst>
</file>

<file path=ppt/tags/tag70.xml><?xml version="1.0" encoding="utf-8"?>
<p:tagLst xmlns:a="http://schemas.openxmlformats.org/drawingml/2006/main" xmlns:r="http://schemas.openxmlformats.org/officeDocument/2006/relationships" xmlns:p="http://schemas.openxmlformats.org/presentationml/2006/main">
  <p:tag name="AS_UNIQUEID" val="19854"/>
</p:tagLst>
</file>

<file path=ppt/tags/tag71.xml><?xml version="1.0" encoding="utf-8"?>
<p:tagLst xmlns:a="http://schemas.openxmlformats.org/drawingml/2006/main" xmlns:r="http://schemas.openxmlformats.org/officeDocument/2006/relationships" xmlns:p="http://schemas.openxmlformats.org/presentationml/2006/main">
  <p:tag name="AS_UNIQUEID" val="19855"/>
</p:tagLst>
</file>

<file path=ppt/tags/tag72.xml><?xml version="1.0" encoding="utf-8"?>
<p:tagLst xmlns:a="http://schemas.openxmlformats.org/drawingml/2006/main" xmlns:r="http://schemas.openxmlformats.org/officeDocument/2006/relationships" xmlns:p="http://schemas.openxmlformats.org/presentationml/2006/main">
  <p:tag name="AS_UNIQUEID" val="19856"/>
</p:tagLst>
</file>

<file path=ppt/tags/tag73.xml><?xml version="1.0" encoding="utf-8"?>
<p:tagLst xmlns:a="http://schemas.openxmlformats.org/drawingml/2006/main" xmlns:r="http://schemas.openxmlformats.org/officeDocument/2006/relationships" xmlns:p="http://schemas.openxmlformats.org/presentationml/2006/main">
  <p:tag name="BTFPLAYOUTENABLED" val="0"/>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aster">
  <a:themeElements>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err="1" smtClean="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master_oxxo14" id="{217A3DFA-4DD1-D34D-B4D0-386635B2318C}" vid="{FF1A948F-1564-B94D-8638-18859BF45C60}"/>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2.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3.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4.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5.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3DD5B74ED9C3D4095461D6E79182C3A" ma:contentTypeVersion="3" ma:contentTypeDescription="Crear nuevo documento." ma:contentTypeScope="" ma:versionID="0ac0bcc232f6a816b2e13b7b82680b11">
  <xsd:schema xmlns:xsd="http://www.w3.org/2001/XMLSchema" xmlns:xs="http://www.w3.org/2001/XMLSchema" xmlns:p="http://schemas.microsoft.com/office/2006/metadata/properties" xmlns:ns2="7ff1139c-9d19-4981-a26c-d6e7dc37fc8a" targetNamespace="http://schemas.microsoft.com/office/2006/metadata/properties" ma:root="true" ma:fieldsID="a929db68a28941f83294eee66c6701c3" ns2:_="">
    <xsd:import namespace="7ff1139c-9d19-4981-a26c-d6e7dc37fc8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f1139c-9d19-4981-a26c-d6e7dc37fc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71CB96-E401-4C53-AF04-8539CC36B40B}">
  <ds:schemaRefs>
    <ds:schemaRef ds:uri="7ff1139c-9d19-4981-a26c-d6e7dc37fc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A3827B1-3712-4D8C-A6C0-A6B9F847DDF3}">
  <ds:schemaRefs>
    <ds:schemaRef ds:uri="http://schemas.openxmlformats.org/package/2006/metadata/core-properties"/>
    <ds:schemaRef ds:uri="http://schemas.microsoft.com/office/2006/documentManagement/types"/>
    <ds:schemaRef ds:uri="http://purl.org/dc/terms/"/>
    <ds:schemaRef ds:uri="http://purl.org/dc/elements/1.1/"/>
    <ds:schemaRef ds:uri="http://schemas.microsoft.com/office/2006/metadata/properties"/>
    <ds:schemaRef ds:uri="7ff1139c-9d19-4981-a26c-d6e7dc37fc8a"/>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B132C117-599E-4172-BC94-78FAE328A3FA}">
  <ds:schemaRefs>
    <ds:schemaRef ds:uri="http://schemas.microsoft.com/sharepoint/v3/contenttype/forms"/>
  </ds:schemaRefs>
</ds:datastoreItem>
</file>

<file path=docMetadata/LabelInfo.xml><?xml version="1.0" encoding="utf-8"?>
<clbl:labelList xmlns:clbl="http://schemas.microsoft.com/office/2020/mipLabelMetadata">
  <clbl:label id="{08c64559-49c6-47cf-865f-da0233616f0f}" enabled="1" method="Standard" siteId="{66f9ab85-de1a-40d4-b7bb-21565ad57cce}" removed="0"/>
</clbl:labelList>
</file>

<file path=docProps/app.xml><?xml version="1.0" encoding="utf-8"?>
<Properties xmlns="http://schemas.openxmlformats.org/officeDocument/2006/extended-properties" xmlns:vt="http://schemas.openxmlformats.org/officeDocument/2006/docPropsVTypes">
  <TotalTime>1438</TotalTime>
  <Words>3021</Words>
  <Application>Microsoft Office PowerPoint</Application>
  <PresentationFormat>Widescreen</PresentationFormat>
  <Paragraphs>396</Paragraphs>
  <Slides>15</Slides>
  <Notes>7</Notes>
  <HiddenSlides>1</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Tema de Office</vt:lpstr>
      <vt:lpstr>Master</vt:lpstr>
      <vt:lpstr>Fit for Purpose 2026 Tecnología de Información | Soluciones Backoffice Etapa de Detalle de actividades e interacciones</vt:lpstr>
      <vt:lpstr>Agenda</vt:lpstr>
      <vt:lpstr>Hemos completado el diseño de nuestra organización, un primer paso crítico en la redefinición de nuestra dirección estratégica</vt:lpstr>
      <vt:lpstr>Proceso Diseño FFP</vt:lpstr>
      <vt:lpstr>Alcance 2026</vt:lpstr>
      <vt:lpstr>Percepción inicial</vt:lpstr>
      <vt:lpstr>Descripción de Puesto | Soluciones Backoffice</vt:lpstr>
      <vt:lpstr>Descripción de Puesto | Soluciones Backoffice</vt:lpstr>
      <vt:lpstr>PowerPoint Presentation</vt:lpstr>
      <vt:lpstr>Interacciones entre áreas y procesos clave Backoffice</vt:lpstr>
      <vt:lpstr>Premisas Soluciones Backoffice</vt:lpstr>
      <vt:lpstr>Preguntas de reflexión</vt:lpstr>
      <vt:lpstr>Siguientes pasos</vt:lpstr>
      <vt:lpstr>Siguientes pasos</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 for Purpose 2026 Plataforma XXX Etapa de Detalle de actividades e interacciones</dc:title>
  <dc:creator>Rodriguez Barcenas Beatriz Adriana</dc:creator>
  <cp:lastModifiedBy>Campos Valladares Gloria Guadalupe</cp:lastModifiedBy>
  <cp:revision>5</cp:revision>
  <dcterms:created xsi:type="dcterms:W3CDTF">2026-02-23T22:40:37Z</dcterms:created>
  <dcterms:modified xsi:type="dcterms:W3CDTF">2026-04-08T17:32:54Z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Tema de Office:8\Master:3</vt:lpwstr>
  </property>
  <property fmtid="{D5CDD505-2E9C-101B-9397-08002B2CF9AE}" pid="3" name="ClassificationContentMarkingFooterText">
    <vt:lpwstr>OXXO | Uso Interno</vt:lpwstr>
  </property>
  <property fmtid="{D5CDD505-2E9C-101B-9397-08002B2CF9AE}" pid="4" name="ContentTypeId">
    <vt:lpwstr>0x010100A3DD5B74ED9C3D4095461D6E79182C3A</vt:lpwstr>
  </property>
</Properties>
</file>