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2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55" r:id="rId12"/>
    <p:sldId id="2147482956" r:id="rId13"/>
    <p:sldId id="2147483647" r:id="rId14"/>
    <p:sldId id="256" r:id="rId15"/>
    <p:sldId id="258" r:id="rId16"/>
    <p:sldId id="257" r:id="rId17"/>
    <p:sldId id="2147482949" r:id="rId18"/>
    <p:sldId id="2147482946" r:id="rId19"/>
    <p:sldId id="2147482953" r:id="rId20"/>
    <p:sldId id="2147482951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5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8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98F0BE-CB37-4570-84F3-2C397D6E0028}" v="1069" dt="2026-03-26T22:40:56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89903" autoAdjust="0"/>
  </p:normalViewPr>
  <p:slideViewPr>
    <p:cSldViewPr snapToGrid="0">
      <p:cViewPr>
        <p:scale>
          <a:sx n="66" d="100"/>
          <a:sy n="66" d="100"/>
        </p:scale>
        <p:origin x="788" y="-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r>
              <a:rPr lang="es-ES" dirty="0"/>
              <a:t>Hay claridad en el objetivo, automatizar procesos de tienda. </a:t>
            </a:r>
          </a:p>
          <a:p>
            <a:r>
              <a:rPr lang="es-ES" dirty="0"/>
              <a:t>Antes de la información de FEMSA sí había claridad. Clarificar dudas Eduardo Velazco, Sergio Caraveo.. ¿Cómo se genera el gobierno para que un mismo equipo atienda a dos enfoques de la organización. No detiene pero es necesario clarificar. </a:t>
            </a:r>
          </a:p>
          <a:p>
            <a:r>
              <a:rPr lang="es-ES" dirty="0"/>
              <a:t>Objetivos por afinar de acuerdo a últimos cambios.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 </a:t>
            </a:r>
          </a:p>
          <a:p>
            <a:r>
              <a:rPr lang="es-MX" dirty="0"/>
              <a:t>Proceso de identificar necesidades de parte del negocio, TI soluciones propone alternativas que faciliten la creación de valor.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76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Por incluir comentarios de Word Manuel.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-Validar DP Soluciones TI servicios</a:t>
            </a:r>
          </a:p>
          <a:p>
            <a:r>
              <a:rPr lang="es-419" dirty="0"/>
              <a:t>-Incluir contribución de estrategia, mejoras, alineación </a:t>
            </a:r>
            <a:r>
              <a:rPr lang="es-419"/>
              <a:t>con visión…</a:t>
            </a:r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Sergio </a:t>
            </a:r>
            <a:r>
              <a:rPr lang="es-ES" dirty="0" err="1"/>
              <a:t>Careveo</a:t>
            </a:r>
            <a:r>
              <a:rPr lang="es-ES" dirty="0"/>
              <a:t>, Héctor Urbina, Tello</a:t>
            </a:r>
          </a:p>
          <a:p>
            <a:endParaRPr lang="es-ES" dirty="0"/>
          </a:p>
          <a:p>
            <a:r>
              <a:rPr lang="es-ES" dirty="0"/>
              <a:t>Rituales: </a:t>
            </a:r>
          </a:p>
          <a:p>
            <a:r>
              <a:rPr lang="es-ES" dirty="0"/>
              <a:t>Semanales 1:1</a:t>
            </a:r>
          </a:p>
          <a:p>
            <a:r>
              <a:rPr lang="es-ES" dirty="0"/>
              <a:t>Semanal Mauricio y equipo de TI presentación de iniciativas, innovaciones…</a:t>
            </a:r>
          </a:p>
          <a:p>
            <a:endParaRPr lang="es-ES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4358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Sergio Caraveo, Héctor Urbina, Tello</a:t>
            </a:r>
          </a:p>
          <a:p>
            <a:endParaRPr lang="es-ES" dirty="0"/>
          </a:p>
          <a:p>
            <a:r>
              <a:rPr lang="es-ES" dirty="0"/>
              <a:t>Rituales: </a:t>
            </a:r>
          </a:p>
          <a:p>
            <a:r>
              <a:rPr lang="es-ES" dirty="0"/>
              <a:t>Semanales 1:1</a:t>
            </a:r>
          </a:p>
          <a:p>
            <a:r>
              <a:rPr lang="es-ES" dirty="0"/>
              <a:t>Semanal Mauricio y equipo de TI presentación de iniciativas, innovaciones…</a:t>
            </a:r>
          </a:p>
          <a:p>
            <a:endParaRPr lang="es-ES" dirty="0"/>
          </a:p>
          <a:p>
            <a:r>
              <a:rPr lang="es-ES" dirty="0"/>
              <a:t>Ejemplo: Ticket Digital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522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26/03/2026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err="1"/>
              <a:t>Fit</a:t>
            </a:r>
            <a:r>
              <a:rPr lang="es-ES_tradnl" sz="2650"/>
              <a:t> </a:t>
            </a:r>
            <a:r>
              <a:rPr lang="es-ES_tradnl" sz="2650" err="1"/>
              <a:t>for</a:t>
            </a:r>
            <a:r>
              <a:rPr lang="es-ES_tradnl" sz="2650"/>
              <a:t> </a:t>
            </a:r>
            <a:r>
              <a:rPr lang="es-ES_tradnl" sz="2650" err="1"/>
              <a:t>Purpose</a:t>
            </a:r>
            <a:r>
              <a:rPr lang="es-ES_tradnl" sz="2650"/>
              <a:t> 2026</a:t>
            </a:r>
            <a:br>
              <a:rPr lang="es-ES_tradnl" sz="2650"/>
            </a:br>
            <a:r>
              <a:rPr lang="es-ES_tradnl" sz="2650" b="1"/>
              <a:t>Tecnología de Información | Soluciones Tienda y Comercial</a:t>
            </a:r>
            <a:br>
              <a:rPr lang="es-ES_tradnl" sz="2650" b="0" i="1"/>
            </a:br>
            <a:r>
              <a:rPr lang="es-ES_tradnl" sz="2400" b="0" i="1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9120342"/>
                  </p:ext>
                </p:extLst>
              </p:nvPr>
            </p:nvGraphicFramePr>
            <p:xfrm>
              <a:off x="4790781" y="3891988"/>
              <a:ext cx="2800644" cy="1575362"/>
            </p:xfrm>
            <a:graphic>
              <a:graphicData uri="http://schemas.microsoft.com/office/powerpoint/2016/slidezoom">
                <pslz:sldZm>
                  <pslz:sldZmObj sldId="2147482955" cId="376322309">
                    <pslz:zmPr id="{65CFBDAD-CF85-4096-9ACD-FEF4C213F1CE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0644" cy="15753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81" y="3891988"/>
                <a:ext cx="2800644" cy="15753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>
              <a:defRPr/>
            </a:pP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Ser socio estratégico en soluciones tecnológicas, liderando la definición, priorización y entrega de soluciones tecnológicas y funcionales para tiendas y </a:t>
            </a:r>
            <a:r>
              <a:rPr lang="es-MX" sz="1400" b="1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asegurando que las iniciativas de TI </a:t>
            </a: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apoyen a general el valor establecido, se ejecuten con calidad y se alineen con los objetivos estratégicos del negocio. </a:t>
            </a:r>
          </a:p>
          <a:p>
            <a:pPr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Gestionar de manera estratégica en el </a:t>
            </a:r>
            <a:r>
              <a:rPr lang="es-MX" sz="1200" b="1" dirty="0" err="1">
                <a:solidFill>
                  <a:prstClr val="black"/>
                </a:solidFill>
                <a:latin typeface="+mn-lt"/>
                <a:ea typeface="ＭＳ Ｐゴシック"/>
              </a:rPr>
              <a:t>roadmap</a:t>
            </a: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 de soluciones TI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y establecer una visión y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roadmap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de soluciones, alineado con la estrategia corporativa identificando oportunidades de mejora en procesos y tecnologías que impacten en los procesos de tienda e iniciativas comerciales</a:t>
            </a:r>
            <a:endParaRPr lang="es-MX" sz="1200" dirty="0">
              <a:solidFill>
                <a:prstClr val="black"/>
              </a:solidFill>
              <a:latin typeface="+mn-lt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Establecer alternativas de solución confiables y ágiles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a través de mecanismos de comunicación efectivos con 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stakeholders</a:t>
            </a:r>
            <a:r>
              <a:rPr kumimoji="0" 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/>
                <a:cs typeface="Arial"/>
              </a:rPr>
              <a:t> internos y externos</a:t>
            </a: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,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/>
                <a:cs typeface="Arial"/>
              </a:rPr>
              <a:t> que permitan colaborar para el cumplimiento de expectativas clave del negocio.</a:t>
            </a:r>
            <a:endParaRPr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Alineación de negocio para priorización de iniciativas considerando la viabilidad en aspectos tecnológicos: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establecer criterios de valor, costo, riesgo y velocidad para maximizar el valor de las soluciones propuestas a través de análisis de alternativas, interacción con líderes de iniciativas de Tienda y comerciales y alineación con los objetivos del negocio y recursos definidos. 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Administrar de manera efectiva el presupuesto asignado a las soluciones TI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brindando seguimiento a la inversión realizada de las iniciativas y estableciendo mediciones periódicas que permitan mantener el uso eficiente de los recursos y retorno de inversión.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Optimización de procesos: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analizar puntos de fricción en la operación y proponer soluciones digitales que se alineen a propiciar agilidad para los colaboradores que operan las soluciones, así como, </a:t>
            </a:r>
            <a:r>
              <a:rPr lang="es-MX" sz="1200" dirty="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contribuir a la experiencia del cliente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. </a:t>
            </a:r>
            <a:r>
              <a:rPr lang="es-MX" sz="1200" i="1" dirty="0">
                <a:solidFill>
                  <a:srgbClr val="C00000"/>
                </a:solidFill>
                <a:latin typeface="+mn-lt"/>
                <a:ea typeface="ＭＳ Ｐゴシック"/>
              </a:rPr>
              <a:t>(cómo conecta con Excelencia Operativa)</a:t>
            </a:r>
            <a:r>
              <a:rPr lang="es-MX" sz="1200" i="1" dirty="0">
                <a:solidFill>
                  <a:prstClr val="black"/>
                </a:solidFill>
                <a:latin typeface="+mn-lt"/>
                <a:ea typeface="ＭＳ Ｐゴシック"/>
              </a:rPr>
              <a:t>.</a:t>
            </a:r>
            <a:endParaRPr lang="es-MX" sz="1200" dirty="0">
              <a:solidFill>
                <a:prstClr val="black"/>
              </a:solidFill>
              <a:latin typeface="+mn-lt"/>
              <a:ea typeface="ＭＳ Ｐゴシック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Participa en la evaluación y emite comentarios de TI sobre soluciones propuestas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,  evaluando desempeño y asegurando el cumplimiento de SLA que aseguren costos competitivos y entregas en tiempo. 	</a:t>
            </a:r>
            <a:r>
              <a:rPr lang="es-MX" sz="1200" i="1" dirty="0">
                <a:solidFill>
                  <a:srgbClr val="C00000"/>
                </a:solidFill>
                <a:latin typeface="+mn-lt"/>
                <a:ea typeface="ＭＳ Ｐゴシック"/>
              </a:rPr>
              <a:t>Equipo funcional ve demo y da input</a:t>
            </a:r>
            <a:r>
              <a:rPr lang="es-MX" sz="1200" dirty="0">
                <a:solidFill>
                  <a:srgbClr val="C00000"/>
                </a:solidFill>
                <a:latin typeface="+mn-lt"/>
                <a:ea typeface="ＭＳ Ｐゴシック"/>
              </a:rPr>
              <a:t>, TI evalúa diseño, capacidad y flexibilidad para adaptarse e integración con sistema, DOTI Simón G. evalúan, </a:t>
            </a:r>
            <a:r>
              <a:rPr lang="es-MX" sz="1200" i="1" dirty="0">
                <a:solidFill>
                  <a:srgbClr val="C00000"/>
                </a:solidFill>
                <a:latin typeface="+mn-lt"/>
                <a:ea typeface="ＭＳ Ｐゴシック"/>
              </a:rPr>
              <a:t>e</a:t>
            </a:r>
            <a:r>
              <a:rPr lang="es-MX" sz="1200" i="1" dirty="0">
                <a:solidFill>
                  <a:srgbClr val="C00000"/>
                </a:solidFill>
                <a:ea typeface="ＭＳ Ｐゴシック"/>
              </a:rPr>
              <a:t>valuación económica lo realiza abastecimientos conjunta punto de vista deciden. </a:t>
            </a:r>
            <a:endParaRPr lang="es-MX" sz="1200" dirty="0">
              <a:solidFill>
                <a:srgbClr val="C00000"/>
              </a:solidFill>
              <a:latin typeface="+mn-lt"/>
              <a:ea typeface="ＭＳ Ｐゴシック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Impulsar la innovación y mejora continua 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identificando prácticas en la industria, tendencias y nuevas herramientas y metodologías relacionadas a soluciones de tecnología que generen una ventaja competitiva.</a:t>
            </a:r>
          </a:p>
          <a:p>
            <a:pPr marL="174625" indent="-174625" defTabSz="457200">
              <a:buAutoNum type="arabicPeriod"/>
              <a:defRPr/>
            </a:pPr>
            <a:r>
              <a:rPr lang="es-MX" sz="1200" b="1" dirty="0">
                <a:solidFill>
                  <a:prstClr val="black"/>
                </a:solidFill>
                <a:latin typeface="Calibri"/>
                <a:ea typeface="ＭＳ Ｐゴシック"/>
              </a:rPr>
              <a:t>Contribuir de manera proactiva en las definiciones del marco tecnológico, las herramientas, la arquitectura</a:t>
            </a:r>
            <a:r>
              <a:rPr lang="es-MX" sz="1200" dirty="0">
                <a:solidFill>
                  <a:prstClr val="black"/>
                </a:solidFill>
                <a:latin typeface="Calibri"/>
                <a:ea typeface="ＭＳ Ｐゴシック"/>
              </a:rPr>
              <a:t> del ecosistema del producto o iniciativa, priorizando las soluciones óptimas, garantizando la escalabilidad, estabilidad, sostenibilidad, seguridad y operación de las soluciones, dentro de la expectativa de time </a:t>
            </a:r>
            <a:r>
              <a:rPr lang="es-MX" sz="1200" dirty="0" err="1">
                <a:solidFill>
                  <a:prstClr val="black"/>
                </a:solidFill>
                <a:latin typeface="Calibri"/>
                <a:ea typeface="ＭＳ Ｐゴシック"/>
              </a:rPr>
              <a:t>to</a:t>
            </a:r>
            <a:r>
              <a:rPr lang="es-MX" sz="1200" dirty="0">
                <a:solidFill>
                  <a:prstClr val="black"/>
                </a:solidFill>
                <a:latin typeface="Calibri"/>
                <a:ea typeface="ＭＳ Ｐゴシック"/>
              </a:rPr>
              <a:t> </a:t>
            </a:r>
            <a:r>
              <a:rPr lang="es-MX" sz="1200" dirty="0" err="1">
                <a:solidFill>
                  <a:prstClr val="black"/>
                </a:solidFill>
                <a:latin typeface="Calibri"/>
                <a:ea typeface="ＭＳ Ｐゴシック"/>
              </a:rPr>
              <a:t>market</a:t>
            </a:r>
            <a:r>
              <a:rPr lang="es-MX" sz="1200" dirty="0">
                <a:solidFill>
                  <a:prstClr val="black"/>
                </a:solidFill>
                <a:latin typeface="Calibri"/>
                <a:ea typeface="ＭＳ Ｐゴシック"/>
              </a:rPr>
              <a:t> y agilidad.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Fomenta y colabora con las áreas </a:t>
            </a:r>
            <a:r>
              <a:rPr lang="es-MX" sz="1200" b="1" dirty="0">
                <a:solidFill>
                  <a:prstClr val="black"/>
                </a:solidFill>
                <a:ea typeface="ＭＳ Ｐゴシック"/>
              </a:rPr>
              <a:t>responsables para evolucionar, revisar eficiencias en </a:t>
            </a:r>
            <a:r>
              <a:rPr lang="es-MX" sz="1200" b="1" dirty="0">
                <a:solidFill>
                  <a:prstClr val="black"/>
                </a:solidFill>
                <a:latin typeface="+mn-lt"/>
                <a:ea typeface="ＭＳ Ｐゴシック"/>
              </a:rPr>
              <a:t>las soluciones en las Tiendas,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entregando lineamientos y desarrollando capacidades tecnológicas para asegurar el beneficio de la solución a corto y largo plazo. </a:t>
            </a:r>
            <a:endParaRPr lang="es-MX" sz="1200" b="1" dirty="0">
              <a:solidFill>
                <a:prstClr val="black"/>
              </a:solidFill>
              <a:latin typeface="+mn-lt"/>
              <a:ea typeface="ＭＳ Ｐゴシック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Descripción de Puesto | Soluciones Tienda &amp; Comercial</a:t>
            </a:r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-66955" y="6459595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latin typeface="Aptos"/>
              </a:rPr>
              <a:t>Evaluar, determinar y ajustar  la estrategia </a:t>
            </a:r>
            <a:r>
              <a:rPr lang="es-MX" sz="1200" dirty="0" err="1">
                <a:latin typeface="Aptos"/>
              </a:rPr>
              <a:t>tecnologica</a:t>
            </a:r>
            <a:r>
              <a:rPr lang="es-MX" sz="1200" dirty="0">
                <a:latin typeface="Aptos"/>
              </a:rPr>
              <a:t> a largo plazo 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>
                <a:latin typeface="Aptos"/>
              </a:rPr>
              <a:t>Tomar las decisiones </a:t>
            </a:r>
            <a:r>
              <a:rPr lang="es-MX" sz="1200" dirty="0" err="1">
                <a:latin typeface="Aptos"/>
              </a:rPr>
              <a:t>tacticas</a:t>
            </a:r>
            <a:r>
              <a:rPr lang="es-MX" sz="1200" dirty="0">
                <a:latin typeface="Aptos"/>
              </a:rPr>
              <a:t> de las soluciones digitales con enfoque en las expectativas de negocio, rentabilidad, agilidad, productividad, y experiencia de usuario para alcanzar la máxima entrega de valor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" sz="1200">
                <a:latin typeface="Aptos"/>
              </a:rPr>
              <a:t>Evaluar y seleccionar los mejores proveedores de tecnología y socios tecnológicos </a:t>
            </a:r>
            <a:endParaRPr lang="es-MX" sz="1200" dirty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" sz="1200">
                <a:latin typeface="Aptos"/>
              </a:rPr>
              <a:t>Identificar evaluar y aprobar nuevas tecnologías y prácticas de la industria </a:t>
            </a:r>
            <a:endParaRPr lang="es" sz="1200" dirty="0">
              <a:latin typeface="Aptos"/>
            </a:endParaRP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Aprobar planes de contingencia de tecnología para asegurar continuidad del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Entregar soluciones ágiles sin comprometer la experiencia del cliente ni la estabilidad operativa.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 que maximicen el retorno de inversión en tecnología y procesos.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Monitorear proyectos en paralelo, asegurando cumplimiento de plazos y objetivos estratégicos.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Incorporar soluciones innovadoras que respondan a cambios en hábitos de consumo y competencia.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Descripción de Puesto | Soluciones Tienda &amp; Comercial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Soluciones Tienda &amp; Comercial</a:t>
            </a:r>
            <a:endParaRPr kumimoji="0" lang="es-MX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pic>
        <p:nvPicPr>
          <p:cNvPr id="6" name="Imagen 5">
            <a:hlinkClick r:id="rId3" action="ppaction://hlinksldjump"/>
            <a:extLst>
              <a:ext uri="{FF2B5EF4-FFF2-40B4-BE49-F238E27FC236}">
                <a16:creationId xmlns:a16="http://schemas.microsoft.com/office/drawing/2014/main" id="{14065D18-FCF0-B19D-2F54-4277A99E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836868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3002997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53AB2C2-D4BF-ADBB-C1E1-5FAF5E1A581F}"/>
              </a:ext>
            </a:extLst>
          </p:cNvPr>
          <p:cNvSpPr/>
          <p:nvPr/>
        </p:nvSpPr>
        <p:spPr>
          <a:xfrm>
            <a:off x="5092310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6041113-A853-9FC9-9061-A57ACDA1DE73}"/>
              </a:ext>
            </a:extLst>
          </p:cNvPr>
          <p:cNvSpPr/>
          <p:nvPr/>
        </p:nvSpPr>
        <p:spPr>
          <a:xfrm>
            <a:off x="5017695" y="1368436"/>
            <a:ext cx="160884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Soluciones TI Tienda y Comercial</a:t>
            </a:r>
          </a:p>
          <a:p>
            <a:pPr algn="ctr" defTabSz="914377">
              <a:defRPr/>
            </a:pPr>
            <a:r>
              <a:rPr lang="es-ES" sz="900" i="1" dirty="0">
                <a:solidFill>
                  <a:prstClr val="black"/>
                </a:solidFill>
                <a:latin typeface="Calibri" panose="020F0502020204030204"/>
              </a:rPr>
              <a:t>Manuel Bernal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84C2854-8B21-B670-4ED5-25AE8B54BDED}"/>
              </a:ext>
            </a:extLst>
          </p:cNvPr>
          <p:cNvSpPr/>
          <p:nvPr/>
        </p:nvSpPr>
        <p:spPr>
          <a:xfrm>
            <a:off x="814367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Gerente Área Soluciones TI Mercaderías-6107611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José Gerardo González</a:t>
            </a:r>
            <a:endParaRPr lang="es-MX" sz="90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F8C99B-827A-E58D-3B4B-BCC630AA7182}"/>
              </a:ext>
            </a:extLst>
          </p:cNvPr>
          <p:cNvSpPr/>
          <p:nvPr/>
        </p:nvSpPr>
        <p:spPr>
          <a:xfrm>
            <a:off x="3009013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Gerente Área Soluciones TI POS-6107612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Alberto Martínez</a:t>
            </a:r>
            <a:endParaRPr lang="es-MX" sz="90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36BA13-F85A-3701-2159-3CDBBECAE552}"/>
              </a:ext>
            </a:extLst>
          </p:cNvPr>
          <p:cNvSpPr/>
          <p:nvPr/>
        </p:nvSpPr>
        <p:spPr>
          <a:xfrm>
            <a:off x="5081061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Responsable Soluciones Precios </a:t>
            </a:r>
            <a:r>
              <a:rPr lang="es-MX" sz="900" b="1" dirty="0" err="1">
                <a:solidFill>
                  <a:prstClr val="black"/>
                </a:solidFill>
                <a:latin typeface="Calibri"/>
              </a:rPr>
              <a:t>Promo</a:t>
            </a:r>
            <a:r>
              <a:rPr lang="es-MX" sz="900" b="1" dirty="0">
                <a:solidFill>
                  <a:prstClr val="black"/>
                </a:solidFill>
                <a:latin typeface="Calibri"/>
              </a:rPr>
              <a:t> - 6192599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Juan Manuel Martínez </a:t>
            </a:r>
            <a:endParaRPr lang="es-MX" sz="900" i="1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61593B4-802F-346C-2EF8-5271C426B0C7}"/>
              </a:ext>
            </a:extLst>
          </p:cNvPr>
          <p:cNvSpPr/>
          <p:nvPr/>
        </p:nvSpPr>
        <p:spPr>
          <a:xfrm>
            <a:off x="7426828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>
                <a:solidFill>
                  <a:schemeClr val="tx1"/>
                </a:solidFill>
                <a:latin typeface="Calibri"/>
              </a:rPr>
              <a:t>Responsable Soluciones Operaciones-6192600</a:t>
            </a:r>
          </a:p>
          <a:p>
            <a:pPr algn="ctr" defTabSz="609645"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Diana Ramirez</a:t>
            </a:r>
            <a:endParaRPr lang="es-MX" sz="900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38E76B7-E1E1-1B78-7AB9-915DBD1EE68D}"/>
              </a:ext>
            </a:extLst>
          </p:cNvPr>
          <p:cNvSpPr/>
          <p:nvPr/>
        </p:nvSpPr>
        <p:spPr>
          <a:xfrm>
            <a:off x="9564485" y="2395717"/>
            <a:ext cx="148211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Gerente Área Soluciones TI Servicios -6107610</a:t>
            </a:r>
          </a:p>
          <a:p>
            <a:pPr algn="ctr" defTabSz="609645"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Fanny Acuña</a:t>
            </a:r>
            <a:endParaRPr lang="es-MX" sz="900" i="1">
              <a:solidFill>
                <a:srgbClr val="C00000"/>
              </a:solidFill>
              <a:latin typeface="Calibri"/>
            </a:endParaRP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5BAFC40-F59E-3E92-5EFD-06A53DABA599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rot="5400000" flipH="1" flipV="1">
            <a:off x="3401929" y="-24469"/>
            <a:ext cx="573681" cy="426669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5EA4428D-0D25-7EE2-2CF0-C992434E838A}"/>
              </a:ext>
            </a:extLst>
          </p:cNvPr>
          <p:cNvCxnSpPr>
            <a:stCxn id="10" idx="0"/>
            <a:endCxn id="5" idx="2"/>
          </p:cNvCxnSpPr>
          <p:nvPr/>
        </p:nvCxnSpPr>
        <p:spPr>
          <a:xfrm rot="5400000" flipH="1" flipV="1">
            <a:off x="4499252" y="1072854"/>
            <a:ext cx="573681" cy="2072046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BE0DC494-37E3-45E1-DB43-ECDE4C91CC82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rot="16200000" flipV="1">
            <a:off x="5535276" y="2108876"/>
            <a:ext cx="573681" cy="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7361C06A-E1C4-0E56-5A5A-CF312ABEF589}"/>
              </a:ext>
            </a:extLst>
          </p:cNvPr>
          <p:cNvCxnSpPr>
            <a:stCxn id="13" idx="0"/>
            <a:endCxn id="5" idx="2"/>
          </p:cNvCxnSpPr>
          <p:nvPr/>
        </p:nvCxnSpPr>
        <p:spPr>
          <a:xfrm rot="16200000" flipV="1">
            <a:off x="6708160" y="935992"/>
            <a:ext cx="573681" cy="2345769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3E1ED492-53D6-48DE-D60E-0759B033DE48}"/>
              </a:ext>
            </a:extLst>
          </p:cNvPr>
          <p:cNvCxnSpPr>
            <a:stCxn id="15" idx="0"/>
            <a:endCxn id="5" idx="2"/>
          </p:cNvCxnSpPr>
          <p:nvPr/>
        </p:nvCxnSpPr>
        <p:spPr>
          <a:xfrm rot="16200000" flipV="1">
            <a:off x="7776988" y="-132836"/>
            <a:ext cx="573681" cy="4483426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7DFF966-E99E-3A99-C228-498A6A9A6C31}"/>
              </a:ext>
            </a:extLst>
          </p:cNvPr>
          <p:cNvSpPr/>
          <p:nvPr/>
        </p:nvSpPr>
        <p:spPr>
          <a:xfrm>
            <a:off x="7449329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9604207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--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100">
                <a:latin typeface="Calibri"/>
                <a:ea typeface="ＭＳ Ｐゴシック"/>
                <a:cs typeface="Calibri"/>
              </a:rPr>
              <a:t>Interacciones entre áreas y procesos clave</a:t>
            </a:r>
            <a:br>
              <a:rPr lang="es-ES" sz="2100" dirty="0"/>
            </a:br>
            <a:r>
              <a:rPr lang="es-ES" sz="2100">
                <a:latin typeface="Calibri"/>
                <a:ea typeface="ＭＳ Ｐゴシック"/>
                <a:cs typeface="Calibri"/>
              </a:rPr>
              <a:t>Soluciones Tienda y Comercial</a:t>
            </a:r>
            <a:endParaRPr lang="es-MX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352583"/>
              </p:ext>
            </p:extLst>
          </p:nvPr>
        </p:nvGraphicFramePr>
        <p:xfrm>
          <a:off x="744036" y="1393124"/>
          <a:ext cx="10703927" cy="3961130"/>
        </p:xfrm>
        <a:graphic>
          <a:graphicData uri="http://schemas.openxmlformats.org/drawingml/2006/table">
            <a:tbl>
              <a:tblPr/>
              <a:tblGrid>
                <a:gridCol w="438417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3841715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1014725">
                  <a:extLst>
                    <a:ext uri="{9D8B030D-6E8A-4147-A177-3AD203B41FA5}">
                      <a16:colId xmlns:a16="http://schemas.microsoft.com/office/drawing/2014/main" val="870112296"/>
                    </a:ext>
                  </a:extLst>
                </a:gridCol>
                <a:gridCol w="1665515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Mercaderías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POS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Responsable Soluciones Precios </a:t>
                      </a:r>
                      <a:r>
                        <a:rPr lang="es-MX" sz="1050" b="1" err="1">
                          <a:solidFill>
                            <a:prstClr val="black"/>
                          </a:solidFill>
                          <a:latin typeface="+mn-lt"/>
                        </a:rPr>
                        <a:t>Promo</a:t>
                      </a: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 </a:t>
                      </a:r>
                      <a:endParaRPr kumimoji="0" lang="es-MX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>
                          <a:solidFill>
                            <a:schemeClr val="tx1"/>
                          </a:solidFill>
                          <a:latin typeface="+mn-lt"/>
                        </a:rPr>
                        <a:t>Responsable Soluciones Operaciones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Servicios 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Otras áreas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Jose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Gzz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Alberto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Juan M. </a:t>
                      </a:r>
                      <a:r>
                        <a:rPr kumimoji="0" lang="es-ES" sz="105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Mtz</a:t>
                      </a:r>
                      <a:endParaRPr kumimoji="0" lang="es-MX" sz="105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Diana </a:t>
                      </a:r>
                      <a:r>
                        <a:rPr kumimoji="0" lang="es-ES" sz="1050" b="0" i="1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Mtz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Fanny Acuña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Planeación de iniciativas críticas/prioritarias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lang="es-MX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kumimoji="0" lang="es-MX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C: Clientes</a:t>
                      </a:r>
                    </a:p>
                    <a:p>
                      <a:pPr algn="l" fontAlgn="b"/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S/I: Arquitectura, </a:t>
                      </a:r>
                      <a:r>
                        <a:rPr lang="es-E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Dllo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Operación TI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Planeación anual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Desarrollo de presupuesto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lang="es-MX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C: Clientes</a:t>
                      </a:r>
                    </a:p>
                    <a:p>
                      <a:pPr marL="0" marR="0" lvl="0" indent="0" algn="l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S/R: Arquitectura, </a:t>
                      </a:r>
                      <a:r>
                        <a:rPr lang="es-E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Dllo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Operación TI (cotización)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Estimaciones para los proyectos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Elaboración de proceso de maduración de las soluciones por cada MVP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lang="es-MX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C: Clientes (</a:t>
                      </a:r>
                      <a:r>
                        <a:rPr kumimoji="0" lang="es-E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Product</a:t>
                      </a: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E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Owner</a:t>
                      </a:r>
                      <a:r>
                        <a:rPr kumimoji="0" lang="es-E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S/R: Arquitectura, </a:t>
                      </a:r>
                      <a:r>
                        <a:rPr lang="es-E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Dllo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Operación TI (cotización</a:t>
                      </a:r>
                      <a:endParaRPr kumimoji="0" lang="es-MX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Precio final de proyecto, dimensión de equipo, infraestructura. Tablero de tiempo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4675331" y="1131572"/>
            <a:ext cx="5132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 (Responsable, Consultado, Informados, Soporte)</a:t>
            </a:r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100">
                <a:latin typeface="Calibri"/>
                <a:ea typeface="ＭＳ Ｐゴシック"/>
                <a:cs typeface="Calibri"/>
              </a:rPr>
              <a:t>Interacciones entre áreas y procesos clave</a:t>
            </a:r>
            <a:br>
              <a:rPr lang="es-ES" sz="2100" dirty="0"/>
            </a:br>
            <a:r>
              <a:rPr lang="es-ES" sz="2100">
                <a:latin typeface="Calibri"/>
                <a:ea typeface="ＭＳ Ｐゴシック"/>
                <a:cs typeface="Calibri"/>
              </a:rPr>
              <a:t>Soluciones Tienda y Comercial</a:t>
            </a:r>
            <a:endParaRPr lang="es-MX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878950"/>
              </p:ext>
            </p:extLst>
          </p:nvPr>
        </p:nvGraphicFramePr>
        <p:xfrm>
          <a:off x="744036" y="1393124"/>
          <a:ext cx="10703927" cy="2522220"/>
        </p:xfrm>
        <a:graphic>
          <a:graphicData uri="http://schemas.openxmlformats.org/drawingml/2006/table">
            <a:tbl>
              <a:tblPr/>
              <a:tblGrid>
                <a:gridCol w="438417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3841715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1014725">
                  <a:extLst>
                    <a:ext uri="{9D8B030D-6E8A-4147-A177-3AD203B41FA5}">
                      <a16:colId xmlns:a16="http://schemas.microsoft.com/office/drawing/2014/main" val="870112296"/>
                    </a:ext>
                  </a:extLst>
                </a:gridCol>
                <a:gridCol w="1665515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Mercaderías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POS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Responsable Soluciones Precios </a:t>
                      </a:r>
                      <a:r>
                        <a:rPr lang="es-MX" sz="1050" b="1" err="1">
                          <a:solidFill>
                            <a:prstClr val="black"/>
                          </a:solidFill>
                          <a:latin typeface="+mn-lt"/>
                        </a:rPr>
                        <a:t>Promo</a:t>
                      </a: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 </a:t>
                      </a:r>
                      <a:endParaRPr kumimoji="0" lang="es-MX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>
                          <a:solidFill>
                            <a:schemeClr val="tx1"/>
                          </a:solidFill>
                          <a:latin typeface="+mn-lt"/>
                        </a:rPr>
                        <a:t>Responsable Soluciones Operaciones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Gerente Área Soluciones TI Servicios 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Otras áreas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Jose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Gzz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Alberto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Juan M. </a:t>
                      </a:r>
                      <a:r>
                        <a:rPr kumimoji="0" lang="es-ES" sz="105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Mtz</a:t>
                      </a:r>
                      <a:endParaRPr kumimoji="0" lang="es-MX" sz="105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Diana </a:t>
                      </a:r>
                      <a:r>
                        <a:rPr kumimoji="0" lang="es-ES" sz="1050" b="0" i="1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Mtz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Fanny Acuña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Desarrollo e implementación del proyecto (administración de riesgos)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  <a:endParaRPr lang="es-MX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Responsables: Arquitectura, Desarrollo, Dir. </a:t>
                      </a:r>
                      <a:r>
                        <a:rPr lang="es-E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</a:t>
                      </a: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. TI, Ingeniería…</a:t>
                      </a:r>
                    </a:p>
                    <a:p>
                      <a:pPr algn="l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C: Cliente</a:t>
                      </a:r>
                      <a:endParaRPr lang="es-MX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Historias de usuarios, seguimiento en tiempo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182861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Alineación de expectativas, riesgos y avances con clientes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lang="es-MX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kumimoji="0" lang="es-MX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kumimoji="0" lang="es-MX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  <a:endParaRPr kumimoji="0" lang="es-MX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A/R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C/A: Client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 (decisión de necesidad de equipo).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Presentación de avances, riesgos…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4675331" y="1131572"/>
            <a:ext cx="51329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 (Responsable, Consultado, Informados, Soporte)</a:t>
            </a:r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2593510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8716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Toda necesidad de tecnología debe ir alineado con equipo de Soluciones 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Equipo de soluciones debe estar en las sesiones de planeación con los clientes.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Cambios de estructura organización que es atendida por TI, deberá analizarse impactos en el equipo de TI (ser informados/consultados).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Contar con una reunión periódica con clientes para alinear expectativas y lograr la mejora continua en la relación.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TI debe ser considerado un consultor de tecnología alineación a la estrategia de la organización.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Soluciones TI debe proponer soluciones al negocio basadas en necesidades actuales y futuras, y no solo recibir necesidad.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Equipo de Desarrollo, Arquitectura y Soluciones deben buscar de manera conjunta la mejor alternativa para la organización.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Soluciones Tienda y Comercial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</a:t>
            </a:r>
            <a:r>
              <a:rPr lang="es-MX" sz="1800" b="1" i="1" dirty="0"/>
              <a:t>actividades y responsabilidades que realmente realizas en el día a día </a:t>
            </a:r>
            <a:r>
              <a:rPr lang="es-MX" sz="1800" i="1" dirty="0"/>
              <a:t>(TO BE)?</a:t>
            </a:r>
          </a:p>
          <a:p>
            <a:pPr marL="357707" lvl="1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</a:t>
            </a:r>
            <a:r>
              <a:rPr lang="es-MX" sz="1800" b="1" i="1" dirty="0"/>
              <a:t>duda específica sobre el funcionamiento </a:t>
            </a:r>
            <a:r>
              <a:rPr lang="es-MX" sz="1800" i="1" dirty="0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</a:t>
            </a:r>
            <a:r>
              <a:rPr lang="es-MX" sz="1800" b="1" i="1" dirty="0"/>
              <a:t>proceso que consideres necesario rediseñar </a:t>
            </a:r>
            <a:r>
              <a:rPr lang="es-MX" sz="1800" i="1" dirty="0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</a:t>
            </a:r>
            <a:r>
              <a:rPr lang="es-MX" sz="1800" b="1" i="1" dirty="0"/>
              <a:t>se realizó de manera efectiva la transferencia</a:t>
            </a:r>
            <a:r>
              <a:rPr lang="es-MX" sz="1800" i="1" dirty="0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0" indent="0" fontAlgn="t">
              <a:buNone/>
            </a:pPr>
            <a:r>
              <a:rPr lang="es-MX" sz="1800" i="1" dirty="0"/>
              <a:t>-Claridad en funciones de acuerdo a lo va evolucionando el negocios, ser más ágil el proceso de trabajo.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7ff1139c-9d19-4981-a26c-d6e7dc37fc8a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2609</Words>
  <Application>Microsoft Office PowerPoint</Application>
  <PresentationFormat>Panorámica</PresentationFormat>
  <Paragraphs>389</Paragraphs>
  <Slides>16</Slides>
  <Notes>9</Notes>
  <HiddenSlides>1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8" baseType="lpstr">
      <vt:lpstr>ＭＳ Ｐゴシック</vt:lpstr>
      <vt:lpstr>Aptos</vt:lpstr>
      <vt:lpstr>Aptos Display</vt:lpstr>
      <vt:lpstr>Aptos Narrow</vt:lpstr>
      <vt:lpstr>Arial</vt:lpstr>
      <vt:lpstr>Calibri</vt:lpstr>
      <vt:lpstr>Calibri Light</vt:lpstr>
      <vt:lpstr>Lucida Grande</vt:lpstr>
      <vt:lpstr>Open Sans</vt:lpstr>
      <vt:lpstr>Wingdings</vt:lpstr>
      <vt:lpstr>Tema de Office</vt:lpstr>
      <vt:lpstr>Master</vt:lpstr>
      <vt:lpstr>Fit for Purpose 2026 Tecnología de Información | Soluciones Tienda y Comercial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Soluciones Tienda &amp; Comercial</vt:lpstr>
      <vt:lpstr>Descripción de Puesto | Soluciones Tienda &amp; Comercial</vt:lpstr>
      <vt:lpstr>Presentación de PowerPoint</vt:lpstr>
      <vt:lpstr>Interacciones entre áreas y procesos clave Soluciones Tienda y Comercial</vt:lpstr>
      <vt:lpstr>Interacciones entre áreas y procesos clave Soluciones Tienda y Comercial</vt:lpstr>
      <vt:lpstr>Premisas Soluciones Tienda y Comercial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19</cp:revision>
  <dcterms:created xsi:type="dcterms:W3CDTF">2026-02-23T22:40:37Z</dcterms:created>
  <dcterms:modified xsi:type="dcterms:W3CDTF">2026-03-27T14:50:23Z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