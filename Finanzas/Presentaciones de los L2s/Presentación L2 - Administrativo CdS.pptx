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4.xml" ContentType="application/vnd.openxmlformats-officedocument.presentationml.notesSl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9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49" r:id="rId16"/>
    <p:sldId id="2147482954" r:id="rId17"/>
    <p:sldId id="214748295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A9D5E-58AA-431E-8FA7-23814F192E22}" v="3" dt="2026-03-31T21:45:02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52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modSection">
      <pc:chgData name="Rodriguez Barcenas Beatriz Adriana" userId="9d0e2705-d1ec-45d6-a10d-58461a4a334f" providerId="ADAL" clId="{812CDC9A-941A-4B28-B06D-1FCB72D96FFB}" dt="2026-03-31T21:47:21.217" v="4921" actId="20577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3-31T21:47:21.217" v="4921" actId="20577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3-31T21:44:37.535" v="4871" actId="1076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3-25T14:51:44.168" v="2732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3-25T14:56:51.046" v="2766" actId="20577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3-25T20:32:21.440" v="3509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3-25T20:32:15.974" v="3508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3-31T21:41:12.654" v="4706" actId="20577"/>
          <ac:spMkLst>
            <pc:docMk/>
            <pc:sldMk cId="456374482" sldId="258"/>
            <ac:spMk id="7" creationId="{025BF223-6AFC-6967-F475-435C163332D5}"/>
          </ac:spMkLst>
        </pc:spChg>
        <pc:spChg chg="add mod">
          <ac:chgData name="Rodriguez Barcenas Beatriz Adriana" userId="9d0e2705-d1ec-45d6-a10d-58461a4a334f" providerId="ADAL" clId="{812CDC9A-941A-4B28-B06D-1FCB72D96FFB}" dt="2026-03-31T21:45:09.394" v="4909" actId="404"/>
          <ac:spMkLst>
            <pc:docMk/>
            <pc:sldMk cId="456374482" sldId="258"/>
            <ac:spMk id="10" creationId="{E759D139-0BA5-5BA2-0F37-2BCE3AD4D133}"/>
          </ac:spMkLst>
        </pc:spChg>
        <pc:spChg chg="mod">
          <ac:chgData name="Rodriguez Barcenas Beatriz Adriana" userId="9d0e2705-d1ec-45d6-a10d-58461a4a334f" providerId="ADAL" clId="{812CDC9A-941A-4B28-B06D-1FCB72D96FFB}" dt="2026-03-31T21:41:09.290" v="4699" actId="20577"/>
          <ac:spMkLst>
            <pc:docMk/>
            <pc:sldMk cId="456374482" sldId="258"/>
            <ac:spMk id="12" creationId="{3B16A55E-E607-9EE6-ECFC-FACE45B08E2C}"/>
          </ac:spMkLst>
        </pc:spChg>
        <pc:spChg chg="add mod">
          <ac:chgData name="Rodriguez Barcenas Beatriz Adriana" userId="9d0e2705-d1ec-45d6-a10d-58461a4a334f" providerId="ADAL" clId="{812CDC9A-941A-4B28-B06D-1FCB72D96FFB}" dt="2026-03-31T21:44:44.362" v="4879" actId="20577"/>
          <ac:spMkLst>
            <pc:docMk/>
            <pc:sldMk cId="456374482" sldId="258"/>
            <ac:spMk id="17" creationId="{84D49720-9491-3367-588A-4088C4AB5177}"/>
          </ac:spMkLst>
        </pc:spChg>
        <pc:spChg chg="add mod">
          <ac:chgData name="Rodriguez Barcenas Beatriz Adriana" userId="9d0e2705-d1ec-45d6-a10d-58461a4a334f" providerId="ADAL" clId="{812CDC9A-941A-4B28-B06D-1FCB72D96FFB}" dt="2026-03-31T21:47:18.395" v="4916" actId="20577"/>
          <ac:spMkLst>
            <pc:docMk/>
            <pc:sldMk cId="456374482" sldId="258"/>
            <ac:spMk id="20" creationId="{E64A50EB-8F07-E125-FEE0-17F99929EC32}"/>
          </ac:spMkLst>
        </pc:spChg>
        <pc:spChg chg="add mod">
          <ac:chgData name="Rodriguez Barcenas Beatriz Adriana" userId="9d0e2705-d1ec-45d6-a10d-58461a4a334f" providerId="ADAL" clId="{812CDC9A-941A-4B28-B06D-1FCB72D96FFB}" dt="2026-03-25T20:31:22.694" v="3507" actId="1035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3-31T21:44:47.039" v="4884" actId="20577"/>
          <ac:spMkLst>
            <pc:docMk/>
            <pc:sldMk cId="456374482" sldId="258"/>
            <ac:spMk id="23" creationId="{58A64BC8-C30B-89DA-4DB2-65EF5D3C1423}"/>
          </ac:spMkLst>
        </pc:spChg>
        <pc:spChg chg="add mod">
          <ac:chgData name="Rodriguez Barcenas Beatriz Adriana" userId="9d0e2705-d1ec-45d6-a10d-58461a4a334f" providerId="ADAL" clId="{812CDC9A-941A-4B28-B06D-1FCB72D96FFB}" dt="2026-03-25T20:27:30.671" v="3370" actId="12"/>
          <ac:spMkLst>
            <pc:docMk/>
            <pc:sldMk cId="456374482" sldId="258"/>
            <ac:spMk id="28" creationId="{8DD2F080-05B2-7422-6994-2435747341C9}"/>
          </ac:spMkLst>
        </pc:spChg>
        <pc:spChg chg="add mod">
          <ac:chgData name="Rodriguez Barcenas Beatriz Adriana" userId="9d0e2705-d1ec-45d6-a10d-58461a4a334f" providerId="ADAL" clId="{812CDC9A-941A-4B28-B06D-1FCB72D96FFB}" dt="2026-03-31T21:44:52.603" v="4894" actId="20577"/>
          <ac:spMkLst>
            <pc:docMk/>
            <pc:sldMk cId="456374482" sldId="258"/>
            <ac:spMk id="30" creationId="{B3240ADC-AEA9-60B0-08EE-419AF122E9D1}"/>
          </ac:spMkLst>
        </pc:spChg>
        <pc:spChg chg="mod">
          <ac:chgData name="Rodriguez Barcenas Beatriz Adriana" userId="9d0e2705-d1ec-45d6-a10d-58461a4a334f" providerId="ADAL" clId="{812CDC9A-941A-4B28-B06D-1FCB72D96FFB}" dt="2026-03-25T14:56:40.571" v="2763" actId="20577"/>
          <ac:spMkLst>
            <pc:docMk/>
            <pc:sldMk cId="456374482" sldId="258"/>
            <ac:spMk id="31" creationId="{6975D636-73BB-21EF-E5A3-82114D16F5CC}"/>
          </ac:spMkLst>
        </pc:spChg>
        <pc:spChg chg="add mod">
          <ac:chgData name="Rodriguez Barcenas Beatriz Adriana" userId="9d0e2705-d1ec-45d6-a10d-58461a4a334f" providerId="ADAL" clId="{812CDC9A-941A-4B28-B06D-1FCB72D96FFB}" dt="2026-03-31T21:47:21.217" v="4921" actId="20577"/>
          <ac:spMkLst>
            <pc:docMk/>
            <pc:sldMk cId="456374482" sldId="258"/>
            <ac:spMk id="34" creationId="{DB5DAF36-2328-96CE-EFE8-AD62CEF138FA}"/>
          </ac:spMkLst>
        </pc:spChg>
        <pc:spChg chg="add del mod">
          <ac:chgData name="Rodriguez Barcenas Beatriz Adriana" userId="9d0e2705-d1ec-45d6-a10d-58461a4a334f" providerId="ADAL" clId="{812CDC9A-941A-4B28-B06D-1FCB72D96FFB}" dt="2026-03-31T21:44:53.720" v="4896"/>
          <ac:spMkLst>
            <pc:docMk/>
            <pc:sldMk cId="456374482" sldId="258"/>
            <ac:spMk id="36" creationId="{D25C87BD-39F9-0E83-EA94-12D78910313C}"/>
          </ac:spMkLst>
        </pc:spChg>
        <pc:spChg chg="add mod">
          <ac:chgData name="Rodriguez Barcenas Beatriz Adriana" userId="9d0e2705-d1ec-45d6-a10d-58461a4a334f" providerId="ADAL" clId="{812CDC9A-941A-4B28-B06D-1FCB72D96FFB}" dt="2026-03-25T20:34:26.316" v="3800" actId="313"/>
          <ac:spMkLst>
            <pc:docMk/>
            <pc:sldMk cId="456374482" sldId="258"/>
            <ac:spMk id="39" creationId="{B1D16335-1437-2545-251C-10F833DF3559}"/>
          </ac:spMkLst>
        </pc:spChg>
        <pc:spChg chg="mod">
          <ac:chgData name="Rodriguez Barcenas Beatriz Adriana" userId="9d0e2705-d1ec-45d6-a10d-58461a4a334f" providerId="ADAL" clId="{812CDC9A-941A-4B28-B06D-1FCB72D96FFB}" dt="2026-03-25T20:08:05.469" v="3272" actId="20577"/>
          <ac:spMkLst>
            <pc:docMk/>
            <pc:sldMk cId="456374482" sldId="258"/>
            <ac:spMk id="261" creationId="{07283218-3E23-D281-2EC9-3CE8DA51E908}"/>
          </ac:spMkLst>
        </pc:spChg>
        <pc:cxnChg chg="add mod">
          <ac:chgData name="Rodriguez Barcenas Beatriz Adriana" userId="9d0e2705-d1ec-45d6-a10d-58461a4a334f" providerId="ADAL" clId="{812CDC9A-941A-4B28-B06D-1FCB72D96FFB}" dt="2026-03-25T20:07:47.050" v="3225" actId="1038"/>
          <ac:cxnSpMkLst>
            <pc:docMk/>
            <pc:sldMk cId="456374482" sldId="258"/>
            <ac:cxnSpMk id="8" creationId="{2163C286-3896-2252-A3A9-D622DE5C25D6}"/>
          </ac:cxnSpMkLst>
        </pc:cxnChg>
        <pc:cxnChg chg="add mod">
          <ac:chgData name="Rodriguez Barcenas Beatriz Adriana" userId="9d0e2705-d1ec-45d6-a10d-58461a4a334f" providerId="ADAL" clId="{812CDC9A-941A-4B28-B06D-1FCB72D96FFB}" dt="2026-03-25T20:07:16.975" v="3118" actId="1076"/>
          <ac:cxnSpMkLst>
            <pc:docMk/>
            <pc:sldMk cId="456374482" sldId="258"/>
            <ac:cxnSpMk id="9" creationId="{C3C25EFE-7262-0D97-AE9E-9B77CFBE09C3}"/>
          </ac:cxnSpMkLst>
        </pc:cxnChg>
        <pc:cxnChg chg="mod">
          <ac:chgData name="Rodriguez Barcenas Beatriz Adriana" userId="9d0e2705-d1ec-45d6-a10d-58461a4a334f" providerId="ADAL" clId="{812CDC9A-941A-4B28-B06D-1FCB72D96FFB}" dt="2026-03-25T20:07:35.891" v="3185" actId="1038"/>
          <ac:cxnSpMkLst>
            <pc:docMk/>
            <pc:sldMk cId="456374482" sldId="258"/>
            <ac:cxnSpMk id="13" creationId="{8CFBAECC-008D-7D9C-88C2-8918D83F8FBB}"/>
          </ac:cxnSpMkLst>
        </pc:cxnChg>
        <pc:cxnChg chg="mod">
          <ac:chgData name="Rodriguez Barcenas Beatriz Adriana" userId="9d0e2705-d1ec-45d6-a10d-58461a4a334f" providerId="ADAL" clId="{812CDC9A-941A-4B28-B06D-1FCB72D96FFB}" dt="2026-03-25T20:07:51.815" v="3248" actId="1038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3-25T20:07:56.934" v="3266" actId="1038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3-25T14:59:17.639" v="3006" actId="1038"/>
          <ac:cxnSpMkLst>
            <pc:docMk/>
            <pc:sldMk cId="456374482" sldId="258"/>
            <ac:cxnSpMk id="16" creationId="{EB6A592B-BC3E-8B5C-FA54-5FACD425AC2E}"/>
          </ac:cxnSpMkLst>
        </pc:cxnChg>
      </pc:sldChg>
      <pc:sldChg chg="modSp mod">
        <pc:chgData name="Rodriguez Barcenas Beatriz Adriana" userId="9d0e2705-d1ec-45d6-a10d-58461a4a334f" providerId="ADAL" clId="{812CDC9A-941A-4B28-B06D-1FCB72D96FFB}" dt="2026-03-31T21:39:42.039" v="4682" actId="20577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3-25T14:50:54.777" v="2700" actId="20577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3-31T21:26:32.437" v="4315" actId="20577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3-31T21:39:42.039" v="4682" actId="20577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25T14:49:19.524" v="2595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3-07T07:22:34.091" v="185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3-25T14:49:19.524" v="2595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3-25T20:38:26.466" v="4185" actId="403"/>
        <pc:sldMkLst>
          <pc:docMk/>
          <pc:sldMk cId="2944001035" sldId="2147482945"/>
        </pc:sldMkLst>
        <pc:spChg chg="add mod">
          <ac:chgData name="Rodriguez Barcenas Beatriz Adriana" userId="9d0e2705-d1ec-45d6-a10d-58461a4a334f" providerId="ADAL" clId="{812CDC9A-941A-4B28-B06D-1FCB72D96FFB}" dt="2026-03-25T20:35:48.830" v="3874" actId="1037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3-10T02:36:09.645" v="2452" actId="1076"/>
          <ac:spMkLst>
            <pc:docMk/>
            <pc:sldMk cId="2944001035" sldId="2147482945"/>
            <ac:spMk id="3" creationId="{8B80DD89-91A3-35BF-46F8-436A28D7C493}"/>
          </ac:spMkLst>
        </pc:spChg>
        <pc:spChg chg="add mod">
          <ac:chgData name="Rodriguez Barcenas Beatriz Adriana" userId="9d0e2705-d1ec-45d6-a10d-58461a4a334f" providerId="ADAL" clId="{812CDC9A-941A-4B28-B06D-1FCB72D96FFB}" dt="2026-03-25T20:35:48.830" v="3874" actId="1037"/>
          <ac:spMkLst>
            <pc:docMk/>
            <pc:sldMk cId="2944001035" sldId="2147482945"/>
            <ac:spMk id="4" creationId="{EC81B558-E5CB-5883-53C6-64D6AE0ECAB1}"/>
          </ac:spMkLst>
        </pc:spChg>
        <pc:spChg chg="add mod">
          <ac:chgData name="Rodriguez Barcenas Beatriz Adriana" userId="9d0e2705-d1ec-45d6-a10d-58461a4a334f" providerId="ADAL" clId="{812CDC9A-941A-4B28-B06D-1FCB72D96FFB}" dt="2026-03-25T20:35:48.830" v="3874" actId="1037"/>
          <ac:spMkLst>
            <pc:docMk/>
            <pc:sldMk cId="2944001035" sldId="2147482945"/>
            <ac:spMk id="5" creationId="{5DF529FD-B6C4-4983-2BBD-7082564AB2A8}"/>
          </ac:spMkLst>
        </pc:spChg>
        <pc:spChg chg="add mod">
          <ac:chgData name="Rodriguez Barcenas Beatriz Adriana" userId="9d0e2705-d1ec-45d6-a10d-58461a4a334f" providerId="ADAL" clId="{812CDC9A-941A-4B28-B06D-1FCB72D96FFB}" dt="2026-03-25T20:37:24.198" v="4072" actId="255"/>
          <ac:spMkLst>
            <pc:docMk/>
            <pc:sldMk cId="2944001035" sldId="2147482945"/>
            <ac:spMk id="6" creationId="{449EA707-9460-C8EC-3ECD-C3DC35E7B74E}"/>
          </ac:spMkLst>
        </pc:spChg>
        <pc:spChg chg="add mod">
          <ac:chgData name="Rodriguez Barcenas Beatriz Adriana" userId="9d0e2705-d1ec-45d6-a10d-58461a4a334f" providerId="ADAL" clId="{812CDC9A-941A-4B28-B06D-1FCB72D96FFB}" dt="2026-03-25T20:35:48.830" v="3874" actId="1037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3-25T20:32:43.941" v="3510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3-25T20:35:48.830" v="3874" actId="1037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3-25T20:38:26.466" v="4185" actId="403"/>
          <ac:spMkLst>
            <pc:docMk/>
            <pc:sldMk cId="2944001035" sldId="2147482945"/>
            <ac:spMk id="18" creationId="{3DC7474B-A8A1-28DC-A882-24458052BCAF}"/>
          </ac:spMkLst>
        </pc:spChg>
        <pc:spChg chg="add mod">
          <ac:chgData name="Rodriguez Barcenas Beatriz Adriana" userId="9d0e2705-d1ec-45d6-a10d-58461a4a334f" providerId="ADAL" clId="{812CDC9A-941A-4B28-B06D-1FCB72D96FFB}" dt="2026-03-25T20:35:51.461" v="3875" actId="14100"/>
          <ac:spMkLst>
            <pc:docMk/>
            <pc:sldMk cId="2944001035" sldId="2147482945"/>
            <ac:spMk id="57" creationId="{76B4E10F-C551-0C56-EA0C-EBB9F8115B10}"/>
          </ac:spMkLst>
        </pc:spChg>
        <pc:spChg chg="add mod">
          <ac:chgData name="Rodriguez Barcenas Beatriz Adriana" userId="9d0e2705-d1ec-45d6-a10d-58461a4a334f" providerId="ADAL" clId="{812CDC9A-941A-4B28-B06D-1FCB72D96FFB}" dt="2026-03-25T20:35:54.654" v="3876" actId="14100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3-09T10:29:49.684" v="1803" actId="1037"/>
          <ac:spMkLst>
            <pc:docMk/>
            <pc:sldMk cId="2944001035" sldId="2147482945"/>
            <ac:spMk id="60" creationId="{E1FE4831-9D8F-BE77-6CC0-72B0BC9C2214}"/>
          </ac:spMkLst>
        </pc:spChg>
        <pc:spChg chg="mod">
          <ac:chgData name="Rodriguez Barcenas Beatriz Adriana" userId="9d0e2705-d1ec-45d6-a10d-58461a4a334f" providerId="ADAL" clId="{812CDC9A-941A-4B28-B06D-1FCB72D96FFB}" dt="2026-03-09T10:29:54.630" v="1836" actId="1037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2" creationId="{FB3CB5BB-6E04-846F-FBBD-8CB6B62B48DC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4" creationId="{73C07C05-BCF8-B968-F9E9-B81F2BF448F6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6" creationId="{FD8C14BA-4A46-CBDD-C6A5-222F54DCB334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7" creationId="{531F763A-86B3-AD2A-94E9-E9EE7C55B0F5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9" creationId="{E1B1A847-EA35-9D0C-8206-010EE4D63B47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0" creationId="{AD4C895D-B746-275C-09BB-27F322E2835A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71" creationId="{2DB2D4E6-953F-0472-E08E-0343B1EFD171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72" creationId="{5B4FDDA6-4FBE-7090-8C12-D2D765B5B191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74" creationId="{0E4F1F5C-4815-C42D-4A51-1460F838CEC5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75" creationId="{44E95411-248D-7909-92EC-4A8FCAAE692D}"/>
          </ac:spMkLst>
        </pc:spChg>
        <pc:cxnChg chg="add mod">
          <ac:chgData name="Rodriguez Barcenas Beatriz Adriana" userId="9d0e2705-d1ec-45d6-a10d-58461a4a334f" providerId="ADAL" clId="{812CDC9A-941A-4B28-B06D-1FCB72D96FFB}" dt="2026-03-25T20:36:56.962" v="4039" actId="1038"/>
          <ac:cxnSpMkLst>
            <pc:docMk/>
            <pc:sldMk cId="2944001035" sldId="2147482945"/>
            <ac:cxnSpMk id="11" creationId="{60651784-56FD-8241-617B-6E76C22FB8D1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7:02.077" v="4066" actId="1037"/>
          <ac:cxnSpMkLst>
            <pc:docMk/>
            <pc:sldMk cId="2944001035" sldId="2147482945"/>
            <ac:cxnSpMk id="12" creationId="{567104B3-C821-D667-4CBD-8B21FA9AF152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46.051" v="3988" actId="1037"/>
          <ac:cxnSpMkLst>
            <pc:docMk/>
            <pc:sldMk cId="2944001035" sldId="2147482945"/>
            <ac:cxnSpMk id="13" creationId="{524925C4-602D-AB3B-B22D-780F9C87937E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39.536" v="3959" actId="1038"/>
          <ac:cxnSpMkLst>
            <pc:docMk/>
            <pc:sldMk cId="2944001035" sldId="2147482945"/>
            <ac:cxnSpMk id="14" creationId="{8654B92E-C880-E9EC-A05B-E8FCF772E3E0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33.810" v="3932" actId="1037"/>
          <ac:cxnSpMkLst>
            <pc:docMk/>
            <pc:sldMk cId="2944001035" sldId="2147482945"/>
            <ac:cxnSpMk id="15" creationId="{AC041544-EA10-DD8E-B078-2C08451FBC39}"/>
          </ac:cxnSpMkLst>
        </pc:cxnChg>
        <pc:cxnChg chg="mod">
          <ac:chgData name="Rodriguez Barcenas Beatriz Adriana" userId="9d0e2705-d1ec-45d6-a10d-58461a4a334f" providerId="ADAL" clId="{812CDC9A-941A-4B28-B06D-1FCB72D96FFB}" dt="2026-03-25T20:36:52.100" v="4016" actId="1037"/>
          <ac:cxnSpMkLst>
            <pc:docMk/>
            <pc:sldMk cId="2944001035" sldId="2147482945"/>
            <ac:cxnSpMk id="77" creationId="{4402E3D7-DDAA-EC27-11C0-19F04A1739F3}"/>
          </ac:cxnSpMkLst>
        </pc:cxnChg>
      </pc:sldChg>
      <pc:sldChg chg="addSp delSp modSp mod">
        <pc:chgData name="Rodriguez Barcenas Beatriz Adriana" userId="9d0e2705-d1ec-45d6-a10d-58461a4a334f" providerId="ADAL" clId="{812CDC9A-941A-4B28-B06D-1FCB72D96FFB}" dt="2026-03-31T21:44:56.593" v="4898" actId="15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3-25T14:49:44.992" v="2639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3-31T21:44:56.593" v="4898" actId="15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3-25T20:30:23.093" v="3475" actId="1036"/>
          <ac:spMkLst>
            <pc:docMk/>
            <pc:sldMk cId="679105534" sldId="2147482948"/>
            <ac:spMk id="56" creationId="{10AE335B-E5D2-A6A7-EFF5-4DBB7DACAAF6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07T07:38:30.973" v="690" actId="20577"/>
        <pc:sldMkLst>
          <pc:docMk/>
          <pc:sldMk cId="3429756509" sldId="2147482951"/>
        </pc:sldMkLst>
        <pc:spChg chg="mod">
          <ac:chgData name="Rodriguez Barcenas Beatriz Adriana" userId="9d0e2705-d1ec-45d6-a10d-58461a4a334f" providerId="ADAL" clId="{812CDC9A-941A-4B28-B06D-1FCB72D96FFB}" dt="2026-03-07T07:38:30.973" v="690" actId="20577"/>
          <ac:spMkLst>
            <pc:docMk/>
            <pc:sldMk cId="3429756509" sldId="2147482951"/>
            <ac:spMk id="2" creationId="{1D08F26C-A573-6591-62BD-A45EB58DF6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Gerente Administrativo </a:t>
            </a:r>
            <a:r>
              <a:rPr lang="es-ES_tradnl" b="1" dirty="0" err="1"/>
              <a:t>CdS</a:t>
            </a:r>
            <a:br>
              <a:rPr lang="es-ES_tradnl" b="0" i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Nacional Administrativo </a:t>
            </a:r>
            <a:r>
              <a:rPr lang="es-ES" dirty="0" err="1"/>
              <a:t>CdS</a:t>
            </a:r>
            <a:endParaRPr lang="es-ES" dirty="0"/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1924184"/>
            <a:ext cx="11668125" cy="50013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100" b="1" dirty="0">
                <a:solidFill>
                  <a:prstClr val="black"/>
                </a:solidFill>
                <a:latin typeface="+mn-lt"/>
              </a:rPr>
              <a:t>Contribuciones:</a:t>
            </a:r>
            <a:endParaRPr lang="es-MX" sz="1100" b="1" dirty="0">
              <a:solidFill>
                <a:prstClr val="black"/>
              </a:solidFill>
            </a:endParaRP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Colaborar en el diseño y definición de la estrategia logística en CEDIS y Distribución, asegurando impulsar la captación de ingreso logístico en conjunto con un gasto óptimo, de tal manera que se logren capitalizar las metas de largo plazo.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Definir la información financiera para gestionar la rentabilidad, así como la entrega oportuna y veraz de la misma, para una toma oportuna de decisiones, en CEDIS, Distribución.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Diseñar y establecer indicadores de productividad y herramientas de gestión, que apoyadas en la generación y entrega de KPI´S propicien la alineación y oportuna toma de decisiones en CEDIS, Distribución.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Diseñar e implementar el sistema de gestión de capital de trabajo, en colaboración con Finanzas, Administración Plazas, CSF, </a:t>
            </a:r>
            <a:r>
              <a:rPr lang="es-MX" sz="1100" dirty="0">
                <a:highlight>
                  <a:srgbClr val="FFFF00"/>
                </a:highlight>
              </a:rPr>
              <a:t>RECS</a:t>
            </a:r>
            <a:r>
              <a:rPr lang="es-MX" sz="1100" dirty="0"/>
              <a:t> Comercial y Abasto, con el objetivo de maximizar la generación de Flujo operativo en OXXO.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Analizar y aprobar las decisiones de inversión de nuevos puntos logísticos, a través de herramientas financieras y operativas, de tal forma que se asegure maximizar la productividad de la red logística en CEDIS.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Colaborar en la definición de acciones de enfoque a rentabilidad, ante eventos relevantes, no recurrentes, mediante el involucramiento y coordinación con las diferentes plataformas para la toma de decisiones y contención de riesgos. 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Definir y asegurar la aplicación y actualización de los procedimientos contables y administrativos a través de las políticas y normas de la compañía, que permitan garantizar la estabilidad normativa y de control en CEDIS, Distribución.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Autorizar el plan anual de normatividad y control interno en CEDIS, Distribución, mediante la asignación diferenciada de revisiones en base a criticidad, propiciando disminuir la posibilidad de riesgos en las </a:t>
            </a:r>
            <a:r>
              <a:rPr lang="es-MX" sz="1100" dirty="0" err="1"/>
              <a:t>UN´s</a:t>
            </a:r>
            <a:r>
              <a:rPr lang="es-MX" sz="1100" dirty="0"/>
              <a:t>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Impulsar y monitorear el mantenimiento del sistema de trabajo administrativo a través de la alineación y transformación de procesos y rituales que propicien la estandarización de los mecanismos de gestión en CEDIS, Distribución.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Gestionar y asegurar el cumplimiento regulatorio y normativo dentro de la operación de </a:t>
            </a:r>
            <a:r>
              <a:rPr lang="es-MX" sz="1100" dirty="0" err="1"/>
              <a:t>CdS</a:t>
            </a:r>
            <a:r>
              <a:rPr lang="es-MX" sz="1100" dirty="0"/>
              <a:t>.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1100" dirty="0"/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Definir y asegurar la alineación de FCE administrativo mediante la alineación de estrategias DAF y CDS, con el objetivo de contribuir con el desarrollo estratégico del área.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31404"/>
            <a:ext cx="11668125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100" b="1" dirty="0">
                <a:latin typeface="+mj-lt"/>
              </a:rPr>
              <a:t>Propósito: </a:t>
            </a:r>
            <a:r>
              <a:rPr lang="es-ES" sz="1100" dirty="0"/>
              <a:t>Impulsar y asegurar el buen desempeño de la cadena de suministro y distribución, mediante el establecimiento de procesos de control administrativo y de gestión de productividad, que propicien la alineación y coordinación de accionables para la generación de valor económico y humano en OXXO.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Nacional Administrativo </a:t>
            </a:r>
            <a:r>
              <a:rPr lang="es-ES" dirty="0" err="1"/>
              <a:t>CdS</a:t>
            </a:r>
            <a:endParaRPr lang="es-ES" dirty="0"/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8000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Selección de Gerentes administrativos y definición del personal en banca.</a:t>
            </a:r>
          </a:p>
          <a:p>
            <a:pPr marL="18000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Autorización de inversiones en CEDIS, Distribución.</a:t>
            </a:r>
          </a:p>
          <a:p>
            <a:pPr marL="180000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Establecer o modificar estándares, procedimientos y normativas administrativas.</a:t>
            </a:r>
          </a:p>
          <a:p>
            <a:pPr marL="180000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Definición de un nivel de gasto óptimo en la CDS.</a:t>
            </a:r>
          </a:p>
          <a:p>
            <a:pPr marL="180000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Definición de un nivel Capital de Trabajo en la compañía.</a:t>
            </a:r>
          </a:p>
          <a:p>
            <a:pPr marL="180000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Definir procesos con factibilidad de simplificación/automatización, en pro de la agilidad.</a:t>
            </a:r>
          </a:p>
          <a:p>
            <a:pPr marL="180000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Definir herramientas que faciliten la toma de decisiones en las </a:t>
            </a:r>
            <a:r>
              <a:rPr lang="es-MX" sz="1200" dirty="0" err="1">
                <a:cs typeface="Arial" panose="020B0604020202020204" pitchFamily="34" charset="0"/>
              </a:rPr>
              <a:t>UN´s</a:t>
            </a:r>
            <a:r>
              <a:rPr lang="es-MX" sz="12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4625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Asegurar contar con el mejor talento administrativo en las </a:t>
            </a:r>
            <a:r>
              <a:rPr lang="es-MX" sz="1200" dirty="0" err="1">
                <a:cs typeface="Arial" panose="020B0604020202020204" pitchFamily="34" charset="0"/>
              </a:rPr>
              <a:t>UN´s</a:t>
            </a:r>
            <a:r>
              <a:rPr lang="es-MX" sz="1200" dirty="0">
                <a:cs typeface="Arial" panose="020B0604020202020204" pitchFamily="34" charset="0"/>
              </a:rPr>
              <a:t>.</a:t>
            </a:r>
          </a:p>
          <a:p>
            <a:pPr marL="174625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Dispersión geográfica de CEDIS.</a:t>
            </a:r>
          </a:p>
          <a:p>
            <a:pPr marL="174625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Coordinar y gestionar la estrategia de la </a:t>
            </a:r>
            <a:r>
              <a:rPr lang="es-MX" sz="1200" dirty="0" err="1">
                <a:cs typeface="Arial" panose="020B0604020202020204" pitchFamily="34" charset="0"/>
              </a:rPr>
              <a:t>CdS</a:t>
            </a:r>
            <a:r>
              <a:rPr lang="es-MX" sz="1200" dirty="0">
                <a:cs typeface="Arial" panose="020B0604020202020204" pitchFamily="34" charset="0"/>
              </a:rPr>
              <a:t> en la Operación </a:t>
            </a:r>
          </a:p>
          <a:p>
            <a:pPr marL="174625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>
                <a:cs typeface="Arial" panose="020B0604020202020204" pitchFamily="34" charset="0"/>
              </a:rPr>
              <a:t>Alto volumen y manejo de información.</a:t>
            </a:r>
          </a:p>
          <a:p>
            <a:pPr marL="174625" lvl="0" indent="-1746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 err="1">
                <a:cs typeface="Arial" panose="020B0604020202020204" pitchFamily="34" charset="0"/>
              </a:rPr>
              <a:t>Co-diseñar</a:t>
            </a:r>
            <a:r>
              <a:rPr lang="es-MX" sz="1200" dirty="0">
                <a:cs typeface="Arial" panose="020B0604020202020204" pitchFamily="34" charset="0"/>
              </a:rPr>
              <a:t> y asegurar en conjunto con la operación las iniciativas ligadas a la productividad tanto en gasto y capital de trabajo.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/>
              <a:t>Propósito</a:t>
            </a:r>
          </a:p>
          <a:p>
            <a:pPr>
              <a:defRPr/>
            </a:pPr>
            <a:r>
              <a:rPr lang="es-ES" sz="1050" dirty="0"/>
              <a:t>Impulsar y asegurar el buen desempeño de la cadena de suministro, distribución, mediante el establecimiento de procesos de control administrativo y de gestión de productividad, que propicien la alineación y coordinación de accionables para la generación de valor económico y humano en OXXO.</a:t>
            </a:r>
            <a:endParaRPr lang="es-MX" sz="110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0" y="3307427"/>
            <a:ext cx="12058772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Administrativo </a:t>
            </a:r>
            <a:r>
              <a:rPr lang="es-ES" b="0" dirty="0" err="1"/>
              <a:t>CdS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Nacional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CEDIS 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Paul Carrillo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677734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Gestoría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Katia Arredondo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9825853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Gestión y Control CEDIS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Yuridia Monge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3653022" y="2756205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Finanzas Dist.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50202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CEDIS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RENTABILIDAD 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645955" y="306776"/>
            <a:ext cx="151501" cy="47473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5221453" y="1882274"/>
            <a:ext cx="151501" cy="159636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6783615" y="1916472"/>
            <a:ext cx="151501" cy="152796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8307868" y="392219"/>
            <a:ext cx="151501" cy="45764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GERENTE: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(1) - Colaborar en el diseño y definición de la estrategia logística en CEDIS y Distribución, asegurando impulsar la captación de ingreso logístico en conjunto con un gasto óptimo, de tal manera que se logren capitalizar las metas de largo plazo.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(5) - Analizar y aprobar las decisiones de inversión de nuevos puntos logísticos, a través de herramientas financieras y operativas, de tal forma que se asegure maximizar la productividad de la red logística en CEDIS.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(9) - Definir y asegurar la alineación de FCE administrativo mediante la alineación de estrategias DAF y CDS, con el objetivo de contribuir con el desarrollo estratégico del área.</a:t>
            </a:r>
            <a:endParaRPr lang="es-MX" sz="9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900" b="1" dirty="0">
              <a:solidFill>
                <a:schemeClr val="tx1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DD2F080-05B2-7422-6994-2435747341C9}"/>
              </a:ext>
            </a:extLst>
          </p:cNvPr>
          <p:cNvSpPr/>
          <p:nvPr/>
        </p:nvSpPr>
        <p:spPr>
          <a:xfrm>
            <a:off x="44827" y="5917277"/>
            <a:ext cx="12058772" cy="77914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b="1" dirty="0">
                <a:solidFill>
                  <a:schemeClr val="tx1"/>
                </a:solidFill>
              </a:rPr>
              <a:t>TRANSVERSAL: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900" dirty="0">
                <a:solidFill>
                  <a:schemeClr val="tx1"/>
                </a:solidFill>
              </a:rPr>
              <a:t>(6) - Colaborar en la definición de acciones de enfoque a rentabilidad, ante eventos relevantes, no recurrentes, mediante el involucramiento y coordinación con las diferentes plataformas para la toma de decisiones y contención de riesgos. </a:t>
            </a:r>
          </a:p>
          <a:p>
            <a:endParaRPr lang="es-MX" sz="1050" b="1" dirty="0">
              <a:solidFill>
                <a:schemeClr val="tx1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163C286-3896-2252-A3A9-D622DE5C25D6}"/>
              </a:ext>
            </a:extLst>
          </p:cNvPr>
          <p:cNvCxnSpPr>
            <a:cxnSpLocks/>
          </p:cNvCxnSpPr>
          <p:nvPr/>
        </p:nvCxnSpPr>
        <p:spPr>
          <a:xfrm>
            <a:off x="6096000" y="3345527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3C25EFE-7262-0D97-AE9E-9B77CFBE09C3}"/>
              </a:ext>
            </a:extLst>
          </p:cNvPr>
          <p:cNvCxnSpPr>
            <a:cxnSpLocks/>
          </p:cNvCxnSpPr>
          <p:nvPr/>
        </p:nvCxnSpPr>
        <p:spPr>
          <a:xfrm>
            <a:off x="9144000" y="3326477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4D49720-9491-3367-588A-4088C4AB5177}"/>
              </a:ext>
            </a:extLst>
          </p:cNvPr>
          <p:cNvSpPr txBox="1"/>
          <p:nvPr/>
        </p:nvSpPr>
        <p:spPr>
          <a:xfrm>
            <a:off x="82926" y="3471370"/>
            <a:ext cx="5736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(2) - Definir la información financiera para gestionar la rentabilidad, así como la entrega oportuna y veraz de la misma, para una toma oportuna de decisiones, en CEDIS, Distribución. RENT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64A50EB-8F07-E125-FEE0-17F99929EC32}"/>
              </a:ext>
            </a:extLst>
          </p:cNvPr>
          <p:cNvSpPr txBox="1"/>
          <p:nvPr/>
        </p:nvSpPr>
        <p:spPr>
          <a:xfrm>
            <a:off x="9144000" y="3429000"/>
            <a:ext cx="2876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(3) - Diseñar y establecer indicadores de productividad y herramientas de gestión, que apoyadas en la generación y entrega de KPI´S propicien la alineación y oportuna toma de decisiones en CEDIS, Distribución. RENT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8A64BC8-C30B-89DA-4DB2-65EF5D3C1423}"/>
              </a:ext>
            </a:extLst>
          </p:cNvPr>
          <p:cNvSpPr txBox="1"/>
          <p:nvPr/>
        </p:nvSpPr>
        <p:spPr>
          <a:xfrm>
            <a:off x="82926" y="4079862"/>
            <a:ext cx="5731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(4) - Diseñar e implementar el sistema de gestión de capital de trabajo, en colaboración con Finanzas, Administración Plazas, Comercial y Abasto, con el objetivo de maximizar la generación de Flujo operativo en OXXO. RENT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240ADC-AEA9-60B0-08EE-419AF122E9D1}"/>
              </a:ext>
            </a:extLst>
          </p:cNvPr>
          <p:cNvSpPr txBox="1"/>
          <p:nvPr/>
        </p:nvSpPr>
        <p:spPr>
          <a:xfrm>
            <a:off x="82926" y="4763559"/>
            <a:ext cx="58102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(7) - Definir y asegurar la aplicación y actualización de los procedimientos contables y administrativos a través de las políticas y normas de la compañía, que permitan garantizar la estabilidad normativa y de control en CEDIS, Distribución CONT</a:t>
            </a:r>
          </a:p>
          <a:p>
            <a:pPr>
              <a:spcBef>
                <a:spcPts val="0"/>
              </a:spcBef>
            </a:pPr>
            <a:endParaRPr lang="es-MX" sz="900" dirty="0"/>
          </a:p>
          <a:p>
            <a:r>
              <a:rPr lang="es-MX" sz="900" dirty="0"/>
              <a:t>(9) - Impulsar y monitorear el mantenimiento del sistema de trabajo administrativo a través de la alineación y transformación de procesos y rituales que propicien la estandarización de los mecanismos de gestión en CEDIS, Distribución. CONT</a:t>
            </a:r>
          </a:p>
          <a:p>
            <a:pPr>
              <a:spcBef>
                <a:spcPts val="0"/>
              </a:spcBef>
            </a:pPr>
            <a:r>
              <a:rPr lang="es-MX" sz="900" dirty="0"/>
              <a:t>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B5DAF36-2328-96CE-EFE8-AD62CEF138FA}"/>
              </a:ext>
            </a:extLst>
          </p:cNvPr>
          <p:cNvSpPr txBox="1"/>
          <p:nvPr/>
        </p:nvSpPr>
        <p:spPr>
          <a:xfrm>
            <a:off x="9184136" y="4163395"/>
            <a:ext cx="268681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(8) - Autorizar el plan anual de normatividad y control interno en CEDIS, Distribución, mediante la asignación diferenciada de revisiones en base a criticidad, propiciando disminuir la posibilidad de riesgos en las </a:t>
            </a:r>
            <a:r>
              <a:rPr lang="es-MX" sz="900" dirty="0" err="1"/>
              <a:t>UN´s</a:t>
            </a:r>
            <a:r>
              <a:rPr lang="es-MX" sz="900" dirty="0"/>
              <a:t>. </a:t>
            </a:r>
            <a:r>
              <a:rPr lang="es-MX" sz="900"/>
              <a:t>CONT</a:t>
            </a:r>
            <a:endParaRPr lang="es-MX" sz="900" dirty="0"/>
          </a:p>
        </p:txBody>
      </p:sp>
      <p:sp>
        <p:nvSpPr>
          <p:cNvPr id="39" name="Bocadillo: rectángulo 38">
            <a:extLst>
              <a:ext uri="{FF2B5EF4-FFF2-40B4-BE49-F238E27FC236}">
                <a16:creationId xmlns:a16="http://schemas.microsoft.com/office/drawing/2014/main" id="{B1D16335-1437-2545-251C-10F833DF3559}"/>
              </a:ext>
            </a:extLst>
          </p:cNvPr>
          <p:cNvSpPr/>
          <p:nvPr/>
        </p:nvSpPr>
        <p:spPr>
          <a:xfrm>
            <a:off x="6450997" y="173198"/>
            <a:ext cx="3365130" cy="582398"/>
          </a:xfrm>
          <a:prstGeom prst="wedgeRectCallo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</a:rPr>
              <a:t>Se puede mapear contribuciones de la posición de Responsable Información Financiera </a:t>
            </a:r>
            <a:r>
              <a:rPr lang="es-MX" sz="900" dirty="0" err="1">
                <a:solidFill>
                  <a:schemeClr val="tx1"/>
                </a:solidFill>
              </a:rPr>
              <a:t>CdS</a:t>
            </a:r>
            <a:r>
              <a:rPr lang="es-MX" sz="900" dirty="0">
                <a:solidFill>
                  <a:schemeClr val="tx1"/>
                </a:solidFill>
              </a:rPr>
              <a:t> (Ricardo Espinosa).</a:t>
            </a:r>
          </a:p>
          <a:p>
            <a:pPr algn="ctr"/>
            <a:r>
              <a:rPr lang="es-MX" sz="900" dirty="0">
                <a:solidFill>
                  <a:schemeClr val="tx1"/>
                </a:solidFill>
              </a:rPr>
              <a:t>Esta posición se mapeará oficialmente por organigrama con el líder de Planeación Financiera y </a:t>
            </a:r>
            <a:r>
              <a:rPr lang="es-MX" sz="900" dirty="0" err="1">
                <a:solidFill>
                  <a:schemeClr val="tx1"/>
                </a:solidFill>
              </a:rPr>
              <a:t>Commercial</a:t>
            </a:r>
            <a:r>
              <a:rPr lang="es-MX" sz="900" dirty="0">
                <a:solidFill>
                  <a:schemeClr val="tx1"/>
                </a:solidFill>
              </a:rPr>
              <a:t> </a:t>
            </a:r>
            <a:r>
              <a:rPr lang="es-MX" sz="900" dirty="0" err="1">
                <a:solidFill>
                  <a:schemeClr val="tx1"/>
                </a:solidFill>
              </a:rPr>
              <a:t>Finance</a:t>
            </a:r>
            <a:r>
              <a:rPr lang="es-MX" sz="9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59D139-0BA5-5BA2-0F37-2BCE3AD4D133}"/>
              </a:ext>
            </a:extLst>
          </p:cNvPr>
          <p:cNvSpPr txBox="1"/>
          <p:nvPr/>
        </p:nvSpPr>
        <p:spPr>
          <a:xfrm>
            <a:off x="6362700" y="3743325"/>
            <a:ext cx="25784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10 )Gestionar y asegurar el cumplimiento regulatorio y normativo dentro de la operación de </a:t>
            </a:r>
            <a:r>
              <a:rPr lang="es-MX" sz="1100" dirty="0" err="1"/>
              <a:t>CdS</a:t>
            </a:r>
            <a:r>
              <a:rPr lang="es-MX" sz="1100" dirty="0"/>
              <a:t>.</a:t>
            </a:r>
          </a:p>
          <a:p>
            <a:pPr algn="l"/>
            <a:endParaRPr lang="es-MX" sz="11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02309" y="1295500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Finanzas – Administrativo </a:t>
            </a:r>
            <a:r>
              <a:rPr lang="es-ES" b="0" dirty="0" err="1"/>
              <a:t>CdS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357531" y="2195215"/>
            <a:ext cx="1796370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55106" y="2195215"/>
            <a:ext cx="264002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45580" y="304563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107319" y="2795439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096712" y="27954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695127" y="3045281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20745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45580" y="357753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695127" y="3577184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20745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45580" y="4109087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695127" y="4108735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20745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45580" y="465782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695127" y="4657471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20745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45580" y="522505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695127" y="5224704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20745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784293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572810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Gestoría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Katia Arredondo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858649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Gestión y Control CEDIS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Yuridia Monge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5275596" y="2195215"/>
            <a:ext cx="129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Finanzas Dist.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XXX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9061531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75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*Responsable Información Financiera CDS </a:t>
            </a:r>
          </a:p>
          <a:p>
            <a:pPr lvl="0" algn="ctr">
              <a:defRPr/>
            </a:pPr>
            <a:r>
              <a:rPr lang="es-ES" sz="750" i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Ricardo Espinosa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978384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 CEDIS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XXX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696342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Nacional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CEDIS 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Paul Carrillo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908440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67104B3-C821-D667-4CBD-8B21FA9AF152}"/>
              </a:ext>
            </a:extLst>
          </p:cNvPr>
          <p:cNvCxnSpPr>
            <a:cxnSpLocks/>
          </p:cNvCxnSpPr>
          <p:nvPr/>
        </p:nvCxnSpPr>
        <p:spPr>
          <a:xfrm>
            <a:off x="10374098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6573410" y="3051744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5295246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3978984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DC7474B-A8A1-28DC-A882-24458052BCAF}"/>
              </a:ext>
            </a:extLst>
          </p:cNvPr>
          <p:cNvSpPr/>
          <p:nvPr/>
        </p:nvSpPr>
        <p:spPr>
          <a:xfrm>
            <a:off x="7842933" y="5874060"/>
            <a:ext cx="4310968" cy="1945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</a:rPr>
              <a:t>*Posición de equipo Planeación Financiera que brinda servicio a Administrativo </a:t>
            </a:r>
            <a:r>
              <a:rPr lang="es-MX" sz="900" dirty="0" err="1">
                <a:solidFill>
                  <a:schemeClr val="tx1"/>
                </a:solidFill>
              </a:rPr>
              <a:t>CdS</a:t>
            </a:r>
            <a:endParaRPr lang="es-MX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7ff1139c-9d19-4981-a26c-d6e7dc37fc8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2370</Words>
  <Application>Microsoft Office PowerPoint</Application>
  <PresentationFormat>Panorámica</PresentationFormat>
  <Paragraphs>315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Gerente Administrativo CdS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Finanzas – Administrativo CdS</vt:lpstr>
      <vt:lpstr>Interacciones entre áreas y procesos clave Finanzas – Administrativo CdS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2026-03-31T21:47:26Z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