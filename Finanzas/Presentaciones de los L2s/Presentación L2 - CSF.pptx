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6.xml" ContentType="application/vnd.openxmlformats-officedocument.presentationml.notesSlide+xml"/>
  <Override PartName="/ppt/tags/tag73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147482955" r:id="rId13"/>
    <p:sldId id="270" r:id="rId14"/>
    <p:sldId id="258" r:id="rId15"/>
    <p:sldId id="2147482956" r:id="rId16"/>
    <p:sldId id="2147482945" r:id="rId17"/>
    <p:sldId id="2147482949" r:id="rId18"/>
    <p:sldId id="2147482954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147482955"/>
            <p14:sldId id="270"/>
          </p14:sldIdLst>
        </p14:section>
        <p14:section name="Principales contribuciones del área" id="{ECBA4FCF-4ABC-4772-872D-193AE93BB28B}">
          <p14:sldIdLst>
            <p14:sldId id="258"/>
            <p14:sldId id="2147482956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90C141-A664-4209-B391-6E137A0AF481}" v="2" dt="2026-03-31T22:57:48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>
        <p:scale>
          <a:sx n="90" d="100"/>
          <a:sy n="90" d="100"/>
        </p:scale>
        <p:origin x="-244" y="-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addSld delSld modSld modSection">
      <pc:chgData name="Rodriguez Barcenas Beatriz Adriana" userId="9d0e2705-d1ec-45d6-a10d-58461a4a334f" providerId="ADAL" clId="{812CDC9A-941A-4B28-B06D-1FCB72D96FFB}" dt="2026-03-31T23:08:05.349" v="7473" actId="14100"/>
      <pc:docMkLst>
        <pc:docMk/>
      </pc:docMkLst>
      <pc:sldChg chg="addSp delSp modSp mod">
        <pc:chgData name="Rodriguez Barcenas Beatriz Adriana" userId="9d0e2705-d1ec-45d6-a10d-58461a4a334f" providerId="ADAL" clId="{812CDC9A-941A-4B28-B06D-1FCB72D96FFB}" dt="2026-03-26T15:50:41.400" v="5911" actId="20577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3-26T15:49:55.936" v="5826" actId="14100"/>
          <ac:spMkLst>
            <pc:docMk/>
            <pc:sldMk cId="456374482" sldId="258"/>
            <ac:spMk id="2" creationId="{15943841-D0E0-2FDA-A509-DF366A3D331D}"/>
          </ac:spMkLst>
        </pc:spChg>
        <pc:spChg chg="mod">
          <ac:chgData name="Rodriguez Barcenas Beatriz Adriana" userId="9d0e2705-d1ec-45d6-a10d-58461a4a334f" providerId="ADAL" clId="{812CDC9A-941A-4B28-B06D-1FCB72D96FFB}" dt="2026-03-26T15:23:29.513" v="5272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3-26T15:24:13.279" v="5285" actId="20577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3-26T15:30:33.284" v="5487" actId="20577"/>
          <ac:spMkLst>
            <pc:docMk/>
            <pc:sldMk cId="456374482" sldId="258"/>
            <ac:spMk id="5" creationId="{2A03BDC4-669B-0F96-65D6-08CFAF2AB1D3}"/>
          </ac:spMkLst>
        </pc:spChg>
        <pc:spChg chg="mod">
          <ac:chgData name="Rodriguez Barcenas Beatriz Adriana" userId="9d0e2705-d1ec-45d6-a10d-58461a4a334f" providerId="ADAL" clId="{812CDC9A-941A-4B28-B06D-1FCB72D96FFB}" dt="2026-03-26T15:30:22.410" v="5482" actId="20577"/>
          <ac:spMkLst>
            <pc:docMk/>
            <pc:sldMk cId="456374482" sldId="258"/>
            <ac:spMk id="7" creationId="{025BF223-6AFC-6967-F475-435C163332D5}"/>
          </ac:spMkLst>
        </pc:spChg>
        <pc:spChg chg="mod">
          <ac:chgData name="Rodriguez Barcenas Beatriz Adriana" userId="9d0e2705-d1ec-45d6-a10d-58461a4a334f" providerId="ADAL" clId="{812CDC9A-941A-4B28-B06D-1FCB72D96FFB}" dt="2026-03-26T15:30:04.293" v="5470" actId="20577"/>
          <ac:spMkLst>
            <pc:docMk/>
            <pc:sldMk cId="456374482" sldId="258"/>
            <ac:spMk id="12" creationId="{3B16A55E-E607-9EE6-ECFC-FACE45B08E2C}"/>
          </ac:spMkLst>
        </pc:spChg>
        <pc:spChg chg="add mod">
          <ac:chgData name="Rodriguez Barcenas Beatriz Adriana" userId="9d0e2705-d1ec-45d6-a10d-58461a4a334f" providerId="ADAL" clId="{812CDC9A-941A-4B28-B06D-1FCB72D96FFB}" dt="2026-03-26T15:50:41.400" v="5911" actId="20577"/>
          <ac:spMkLst>
            <pc:docMk/>
            <pc:sldMk cId="456374482" sldId="258"/>
            <ac:spMk id="21" creationId="{D0BB167D-2C7D-D430-1D45-DB6FE8827566}"/>
          </ac:spMkLst>
        </pc:spChg>
        <pc:spChg chg="add mod">
          <ac:chgData name="Rodriguez Barcenas Beatriz Adriana" userId="9d0e2705-d1ec-45d6-a10d-58461a4a334f" providerId="ADAL" clId="{812CDC9A-941A-4B28-B06D-1FCB72D96FFB}" dt="2026-03-26T15:50:15.045" v="5868" actId="20577"/>
          <ac:spMkLst>
            <pc:docMk/>
            <pc:sldMk cId="456374482" sldId="258"/>
            <ac:spMk id="27" creationId="{C31A7221-55EF-2D5D-27AA-29A7F4E82E37}"/>
          </ac:spMkLst>
        </pc:spChg>
        <pc:spChg chg="add mod">
          <ac:chgData name="Rodriguez Barcenas Beatriz Adriana" userId="9d0e2705-d1ec-45d6-a10d-58461a4a334f" providerId="ADAL" clId="{812CDC9A-941A-4B28-B06D-1FCB72D96FFB}" dt="2026-03-26T15:42:43.815" v="5671" actId="554"/>
          <ac:spMkLst>
            <pc:docMk/>
            <pc:sldMk cId="456374482" sldId="258"/>
            <ac:spMk id="30" creationId="{4023FEE8-155D-C559-11BE-C445281CA7F3}"/>
          </ac:spMkLst>
        </pc:spChg>
        <pc:spChg chg="mod">
          <ac:chgData name="Rodriguez Barcenas Beatriz Adriana" userId="9d0e2705-d1ec-45d6-a10d-58461a4a334f" providerId="ADAL" clId="{812CDC9A-941A-4B28-B06D-1FCB72D96FFB}" dt="2026-03-25T14:56:40.571" v="2763" actId="20577"/>
          <ac:spMkLst>
            <pc:docMk/>
            <pc:sldMk cId="456374482" sldId="258"/>
            <ac:spMk id="31" creationId="{6975D636-73BB-21EF-E5A3-82114D16F5CC}"/>
          </ac:spMkLst>
        </pc:spChg>
        <pc:spChg chg="add mod">
          <ac:chgData name="Rodriguez Barcenas Beatriz Adriana" userId="9d0e2705-d1ec-45d6-a10d-58461a4a334f" providerId="ADAL" clId="{812CDC9A-941A-4B28-B06D-1FCB72D96FFB}" dt="2026-03-26T15:42:43.815" v="5671" actId="554"/>
          <ac:spMkLst>
            <pc:docMk/>
            <pc:sldMk cId="456374482" sldId="258"/>
            <ac:spMk id="34" creationId="{78F3BB8C-31DA-A268-2446-342062020595}"/>
          </ac:spMkLst>
        </pc:spChg>
        <pc:spChg chg="add mod">
          <ac:chgData name="Rodriguez Barcenas Beatriz Adriana" userId="9d0e2705-d1ec-45d6-a10d-58461a4a334f" providerId="ADAL" clId="{812CDC9A-941A-4B28-B06D-1FCB72D96FFB}" dt="2026-03-26T15:42:43.815" v="5671" actId="554"/>
          <ac:spMkLst>
            <pc:docMk/>
            <pc:sldMk cId="456374482" sldId="258"/>
            <ac:spMk id="37" creationId="{92DB57AA-2BCA-14A8-A0D8-D751BF8262B8}"/>
          </ac:spMkLst>
        </pc:spChg>
        <pc:spChg chg="mod">
          <ac:chgData name="Rodriguez Barcenas Beatriz Adriana" userId="9d0e2705-d1ec-45d6-a10d-58461a4a334f" providerId="ADAL" clId="{812CDC9A-941A-4B28-B06D-1FCB72D96FFB}" dt="2026-03-26T15:23:45.934" v="5274" actId="404"/>
          <ac:spMkLst>
            <pc:docMk/>
            <pc:sldMk cId="456374482" sldId="258"/>
            <ac:spMk id="261" creationId="{07283218-3E23-D281-2EC9-3CE8DA51E908}"/>
          </ac:spMkLst>
        </pc:spChg>
        <pc:cxnChg chg="mod">
          <ac:chgData name="Rodriguez Barcenas Beatriz Adriana" userId="9d0e2705-d1ec-45d6-a10d-58461a4a334f" providerId="ADAL" clId="{812CDC9A-941A-4B28-B06D-1FCB72D96FFB}" dt="2026-03-26T15:25:15.307" v="5309" actId="1036"/>
          <ac:cxnSpMkLst>
            <pc:docMk/>
            <pc:sldMk cId="456374482" sldId="258"/>
            <ac:cxnSpMk id="13" creationId="{8CFBAECC-008D-7D9C-88C2-8918D83F8FBB}"/>
          </ac:cxnSpMkLst>
        </pc:cxnChg>
        <pc:cxnChg chg="mod">
          <ac:chgData name="Rodriguez Barcenas Beatriz Adriana" userId="9d0e2705-d1ec-45d6-a10d-58461a4a334f" providerId="ADAL" clId="{812CDC9A-941A-4B28-B06D-1FCB72D96FFB}" dt="2026-03-26T15:25:15.307" v="5309" actId="1036"/>
          <ac:cxnSpMkLst>
            <pc:docMk/>
            <pc:sldMk cId="456374482" sldId="258"/>
            <ac:cxnSpMk id="14" creationId="{D91F3CF3-2065-DF23-B486-AAD3472C6661}"/>
          </ac:cxnSpMkLst>
        </pc:cxnChg>
        <pc:cxnChg chg="add mod">
          <ac:chgData name="Rodriguez Barcenas Beatriz Adriana" userId="9d0e2705-d1ec-45d6-a10d-58461a4a334f" providerId="ADAL" clId="{812CDC9A-941A-4B28-B06D-1FCB72D96FFB}" dt="2026-03-26T15:26:09.984" v="5324" actId="14100"/>
          <ac:cxnSpMkLst>
            <pc:docMk/>
            <pc:sldMk cId="456374482" sldId="258"/>
            <ac:cxnSpMk id="22" creationId="{3EE7B4C4-2BFB-F02A-27DB-6FEC497AD2EA}"/>
          </ac:cxnSpMkLst>
        </pc:cxnChg>
        <pc:cxnChg chg="add mod">
          <ac:chgData name="Rodriguez Barcenas Beatriz Adriana" userId="9d0e2705-d1ec-45d6-a10d-58461a4a334f" providerId="ADAL" clId="{812CDC9A-941A-4B28-B06D-1FCB72D96FFB}" dt="2026-03-26T15:50:03.847" v="5859" actId="14100"/>
          <ac:cxnSpMkLst>
            <pc:docMk/>
            <pc:sldMk cId="456374482" sldId="258"/>
            <ac:cxnSpMk id="25" creationId="{F0E10A76-221D-74C3-C1B0-CA04F3AF87DB}"/>
          </ac:cxnSpMkLst>
        </pc:cxnChg>
        <pc:cxnChg chg="add mod">
          <ac:chgData name="Rodriguez Barcenas Beatriz Adriana" userId="9d0e2705-d1ec-45d6-a10d-58461a4a334f" providerId="ADAL" clId="{812CDC9A-941A-4B28-B06D-1FCB72D96FFB}" dt="2026-03-26T15:50:03.847" v="5859" actId="14100"/>
          <ac:cxnSpMkLst>
            <pc:docMk/>
            <pc:sldMk cId="456374482" sldId="258"/>
            <ac:cxnSpMk id="26" creationId="{CBFC0193-FB30-404A-2465-29FDFBB056A7}"/>
          </ac:cxnSpMkLst>
        </pc:cxnChg>
      </pc:sldChg>
      <pc:sldChg chg="addSp modSp mod">
        <pc:chgData name="Rodriguez Barcenas Beatriz Adriana" userId="9d0e2705-d1ec-45d6-a10d-58461a4a334f" providerId="ADAL" clId="{812CDC9A-941A-4B28-B06D-1FCB72D96FFB}" dt="2026-03-31T22:51:54.885" v="7025" actId="13926"/>
        <pc:sldMkLst>
          <pc:docMk/>
          <pc:sldMk cId="1530523345" sldId="270"/>
        </pc:sldMkLst>
        <pc:spChg chg="add mod">
          <ac:chgData name="Rodriguez Barcenas Beatriz Adriana" userId="9d0e2705-d1ec-45d6-a10d-58461a4a334f" providerId="ADAL" clId="{812CDC9A-941A-4B28-B06D-1FCB72D96FFB}" dt="2026-03-31T22:47:31.535" v="6949" actId="1076"/>
          <ac:spMkLst>
            <pc:docMk/>
            <pc:sldMk cId="1530523345" sldId="270"/>
            <ac:spMk id="2" creationId="{4625B8BE-A9E3-A32D-4BCE-F32050C17CA1}"/>
          </ac:spMkLst>
        </pc:spChg>
        <pc:spChg chg="mod">
          <ac:chgData name="Rodriguez Barcenas Beatriz Adriana" userId="9d0e2705-d1ec-45d6-a10d-58461a4a334f" providerId="ADAL" clId="{812CDC9A-941A-4B28-B06D-1FCB72D96FFB}" dt="2026-03-26T15:17:21.619" v="5216" actId="14100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3-26T15:17:39.862" v="5223" actId="20577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3-31T22:51:54.885" v="7025" actId="13926"/>
          <ac:spMkLst>
            <pc:docMk/>
            <pc:sldMk cId="1530523345" sldId="270"/>
            <ac:spMk id="18" creationId="{6037BFC9-94B9-A0A1-59DB-B234D6CD0E61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26T15:11:51.613" v="5013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3-07T07:22:34.091" v="185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3-26T15:11:51.613" v="5013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Rodriguez Barcenas Beatriz Adriana" userId="9d0e2705-d1ec-45d6-a10d-58461a4a334f" providerId="ADAL" clId="{812CDC9A-941A-4B28-B06D-1FCB72D96FFB}" dt="2026-03-26T16:00:30.468" v="6457"/>
        <pc:sldMkLst>
          <pc:docMk/>
          <pc:sldMk cId="2944001035" sldId="2147482945"/>
        </pc:sldMkLst>
        <pc:spChg chg="add mod">
          <ac:chgData name="Rodriguez Barcenas Beatriz Adriana" userId="9d0e2705-d1ec-45d6-a10d-58461a4a334f" providerId="ADAL" clId="{812CDC9A-941A-4B28-B06D-1FCB72D96FFB}" dt="2026-03-26T15:57:48.180" v="6262" actId="1037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3-10T02:36:09.645" v="2452" actId="1076"/>
          <ac:spMkLst>
            <pc:docMk/>
            <pc:sldMk cId="2944001035" sldId="2147482945"/>
            <ac:spMk id="3" creationId="{8B80DD89-91A3-35BF-46F8-436A28D7C493}"/>
          </ac:spMkLst>
        </pc:spChg>
        <pc:spChg chg="add mod">
          <ac:chgData name="Rodriguez Barcenas Beatriz Adriana" userId="9d0e2705-d1ec-45d6-a10d-58461a4a334f" providerId="ADAL" clId="{812CDC9A-941A-4B28-B06D-1FCB72D96FFB}" dt="2026-03-26T15:57:48.180" v="6262" actId="1037"/>
          <ac:spMkLst>
            <pc:docMk/>
            <pc:sldMk cId="2944001035" sldId="2147482945"/>
            <ac:spMk id="4" creationId="{EC81B558-E5CB-5883-53C6-64D6AE0ECAB1}"/>
          </ac:spMkLst>
        </pc:spChg>
        <pc:spChg chg="add mod">
          <ac:chgData name="Rodriguez Barcenas Beatriz Adriana" userId="9d0e2705-d1ec-45d6-a10d-58461a4a334f" providerId="ADAL" clId="{812CDC9A-941A-4B28-B06D-1FCB72D96FFB}" dt="2026-03-26T15:57:48.180" v="6262" actId="1037"/>
          <ac:spMkLst>
            <pc:docMk/>
            <pc:sldMk cId="2944001035" sldId="2147482945"/>
            <ac:spMk id="5" creationId="{5DF529FD-B6C4-4983-2BBD-7082564AB2A8}"/>
          </ac:spMkLst>
        </pc:spChg>
        <pc:spChg chg="add mod">
          <ac:chgData name="Rodriguez Barcenas Beatriz Adriana" userId="9d0e2705-d1ec-45d6-a10d-58461a4a334f" providerId="ADAL" clId="{812CDC9A-941A-4B28-B06D-1FCB72D96FFB}" dt="2026-03-26T15:57:48.180" v="6262" actId="1037"/>
          <ac:spMkLst>
            <pc:docMk/>
            <pc:sldMk cId="2944001035" sldId="2147482945"/>
            <ac:spMk id="6" creationId="{449EA707-9460-C8EC-3ECD-C3DC35E7B74E}"/>
          </ac:spMkLst>
        </pc:spChg>
        <pc:spChg chg="add mod">
          <ac:chgData name="Rodriguez Barcenas Beatriz Adriana" userId="9d0e2705-d1ec-45d6-a10d-58461a4a334f" providerId="ADAL" clId="{812CDC9A-941A-4B28-B06D-1FCB72D96FFB}" dt="2026-03-26T15:57:48.180" v="6262" actId="1037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3-26T16:00:30.468" v="6457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Rodriguez Barcenas Beatriz Adriana" userId="9d0e2705-d1ec-45d6-a10d-58461a4a334f" providerId="ADAL" clId="{812CDC9A-941A-4B28-B06D-1FCB72D96FFB}" dt="2026-03-26T15:57:48.180" v="6262" actId="1037"/>
          <ac:spMkLst>
            <pc:docMk/>
            <pc:sldMk cId="2944001035" sldId="2147482945"/>
            <ac:spMk id="9" creationId="{F403C7DA-B0A4-FACB-91F3-DFF3CA49AEAC}"/>
          </ac:spMkLst>
        </pc:spChg>
        <pc:spChg chg="add mod">
          <ac:chgData name="Rodriguez Barcenas Beatriz Adriana" userId="9d0e2705-d1ec-45d6-a10d-58461a4a334f" providerId="ADAL" clId="{812CDC9A-941A-4B28-B06D-1FCB72D96FFB}" dt="2026-03-26T15:57:48.180" v="6262" actId="1037"/>
          <ac:spMkLst>
            <pc:docMk/>
            <pc:sldMk cId="2944001035" sldId="2147482945"/>
            <ac:spMk id="10" creationId="{D0EDDB1D-E6AF-D645-DD81-290902B1A103}"/>
          </ac:spMkLst>
        </pc:spChg>
        <pc:spChg chg="add mod">
          <ac:chgData name="Rodriguez Barcenas Beatriz Adriana" userId="9d0e2705-d1ec-45d6-a10d-58461a4a334f" providerId="ADAL" clId="{812CDC9A-941A-4B28-B06D-1FCB72D96FFB}" dt="2026-03-26T15:53:01.724" v="5986" actId="14100"/>
          <ac:spMkLst>
            <pc:docMk/>
            <pc:sldMk cId="2944001035" sldId="2147482945"/>
            <ac:spMk id="57" creationId="{76B4E10F-C551-0C56-EA0C-EBB9F8115B10}"/>
          </ac:spMkLst>
        </pc:spChg>
        <pc:spChg chg="add mod">
          <ac:chgData name="Rodriguez Barcenas Beatriz Adriana" userId="9d0e2705-d1ec-45d6-a10d-58461a4a334f" providerId="ADAL" clId="{812CDC9A-941A-4B28-B06D-1FCB72D96FFB}" dt="2026-03-26T15:57:48.180" v="6262" actId="1037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3-26T15:57:58.063" v="6263" actId="14100"/>
          <ac:spMkLst>
            <pc:docMk/>
            <pc:sldMk cId="2944001035" sldId="2147482945"/>
            <ac:spMk id="59" creationId="{9C39A803-E9D0-AE97-C40E-B0BB62CEBBCF}"/>
          </ac:spMkLst>
        </pc:spChg>
        <pc:spChg chg="mod">
          <ac:chgData name="Rodriguez Barcenas Beatriz Adriana" userId="9d0e2705-d1ec-45d6-a10d-58461a4a334f" providerId="ADAL" clId="{812CDC9A-941A-4B28-B06D-1FCB72D96FFB}" dt="2026-03-09T10:29:49.684" v="1803" actId="1037"/>
          <ac:spMkLst>
            <pc:docMk/>
            <pc:sldMk cId="2944001035" sldId="2147482945"/>
            <ac:spMk id="60" creationId="{E1FE4831-9D8F-BE77-6CC0-72B0BC9C2214}"/>
          </ac:spMkLst>
        </pc:spChg>
        <pc:spChg chg="mod">
          <ac:chgData name="Rodriguez Barcenas Beatriz Adriana" userId="9d0e2705-d1ec-45d6-a10d-58461a4a334f" providerId="ADAL" clId="{812CDC9A-941A-4B28-B06D-1FCB72D96FFB}" dt="2026-03-09T10:29:54.630" v="1836" actId="1037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62" creationId="{FB3CB5BB-6E04-846F-FBBD-8CB6B62B48DC}"/>
          </ac:spMkLst>
        </pc:spChg>
        <pc:spChg chg="add 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3-26T15:57:58.063" v="6263" actId="14100"/>
          <ac:spMkLst>
            <pc:docMk/>
            <pc:sldMk cId="2944001035" sldId="2147482945"/>
            <ac:spMk id="64" creationId="{73C07C05-BCF8-B968-F9E9-B81F2BF448F6}"/>
          </ac:spMkLst>
        </pc:spChg>
        <pc:spChg chg="add 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66" creationId="{FD8C14BA-4A46-CBDD-C6A5-222F54DCB334}"/>
          </ac:spMkLst>
        </pc:spChg>
        <pc:spChg chg="mod">
          <ac:chgData name="Rodriguez Barcenas Beatriz Adriana" userId="9d0e2705-d1ec-45d6-a10d-58461a4a334f" providerId="ADAL" clId="{812CDC9A-941A-4B28-B06D-1FCB72D96FFB}" dt="2026-03-26T15:57:58.063" v="6263" actId="14100"/>
          <ac:spMkLst>
            <pc:docMk/>
            <pc:sldMk cId="2944001035" sldId="2147482945"/>
            <ac:spMk id="67" creationId="{531F763A-86B3-AD2A-94E9-E9EE7C55B0F5}"/>
          </ac:spMkLst>
        </pc:spChg>
        <pc:spChg chg="add 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69" creationId="{E1B1A847-EA35-9D0C-8206-010EE4D63B47}"/>
          </ac:spMkLst>
        </pc:spChg>
        <pc:spChg chg="add mod">
          <ac:chgData name="Rodriguez Barcenas Beatriz Adriana" userId="9d0e2705-d1ec-45d6-a10d-58461a4a334f" providerId="ADAL" clId="{812CDC9A-941A-4B28-B06D-1FCB72D96FFB}" dt="2026-03-26T15:57:58.063" v="6263" actId="14100"/>
          <ac:spMkLst>
            <pc:docMk/>
            <pc:sldMk cId="2944001035" sldId="2147482945"/>
            <ac:spMk id="70" creationId="{AD4C895D-B746-275C-09BB-27F322E2835A}"/>
          </ac:spMkLst>
        </pc:spChg>
        <pc:spChg chg="add 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71" creationId="{2DB2D4E6-953F-0472-E08E-0343B1EFD171}"/>
          </ac:spMkLst>
        </pc:spChg>
        <pc:spChg chg="add 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72" creationId="{5B4FDDA6-4FBE-7090-8C12-D2D765B5B191}"/>
          </ac:spMkLst>
        </pc:spChg>
        <pc:spChg chg="add mod">
          <ac:chgData name="Rodriguez Barcenas Beatriz Adriana" userId="9d0e2705-d1ec-45d6-a10d-58461a4a334f" providerId="ADAL" clId="{812CDC9A-941A-4B28-B06D-1FCB72D96FFB}" dt="2026-03-26T15:57:58.063" v="6263" actId="14100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74" creationId="{0E4F1F5C-4815-C42D-4A51-1460F838CEC5}"/>
          </ac:spMkLst>
        </pc:spChg>
        <pc:spChg chg="add mod">
          <ac:chgData name="Rodriguez Barcenas Beatriz Adriana" userId="9d0e2705-d1ec-45d6-a10d-58461a4a334f" providerId="ADAL" clId="{812CDC9A-941A-4B28-B06D-1FCB72D96FFB}" dt="2026-03-26T15:58:09.173" v="6293" actId="14100"/>
          <ac:spMkLst>
            <pc:docMk/>
            <pc:sldMk cId="2944001035" sldId="2147482945"/>
            <ac:spMk id="75" creationId="{44E95411-248D-7909-92EC-4A8FCAAE692D}"/>
          </ac:spMkLst>
        </pc:spChg>
        <pc:cxnChg chg="add mod">
          <ac:chgData name="Rodriguez Barcenas Beatriz Adriana" userId="9d0e2705-d1ec-45d6-a10d-58461a4a334f" providerId="ADAL" clId="{812CDC9A-941A-4B28-B06D-1FCB72D96FFB}" dt="2026-03-26T15:58:31.474" v="6419" actId="1038"/>
          <ac:cxnSpMkLst>
            <pc:docMk/>
            <pc:sldMk cId="2944001035" sldId="2147482945"/>
            <ac:cxnSpMk id="11" creationId="{60651784-56FD-8241-617B-6E76C22FB8D1}"/>
          </ac:cxnSpMkLst>
        </pc:cxnChg>
        <pc:cxnChg chg="add mod">
          <ac:chgData name="Rodriguez Barcenas Beatriz Adriana" userId="9d0e2705-d1ec-45d6-a10d-58461a4a334f" providerId="ADAL" clId="{812CDC9A-941A-4B28-B06D-1FCB72D96FFB}" dt="2026-03-26T15:58:35.505" v="6453" actId="1038"/>
          <ac:cxnSpMkLst>
            <pc:docMk/>
            <pc:sldMk cId="2944001035" sldId="2147482945"/>
            <ac:cxnSpMk id="12" creationId="{567104B3-C821-D667-4CBD-8B21FA9AF152}"/>
          </ac:cxnSpMkLst>
        </pc:cxnChg>
        <pc:cxnChg chg="add mod">
          <ac:chgData name="Rodriguez Barcenas Beatriz Adriana" userId="9d0e2705-d1ec-45d6-a10d-58461a4a334f" providerId="ADAL" clId="{812CDC9A-941A-4B28-B06D-1FCB72D96FFB}" dt="2026-03-26T15:58:22.705" v="6361" actId="1037"/>
          <ac:cxnSpMkLst>
            <pc:docMk/>
            <pc:sldMk cId="2944001035" sldId="2147482945"/>
            <ac:cxnSpMk id="13" creationId="{524925C4-602D-AB3B-B22D-780F9C87937E}"/>
          </ac:cxnSpMkLst>
        </pc:cxnChg>
        <pc:cxnChg chg="add mod">
          <ac:chgData name="Rodriguez Barcenas Beatriz Adriana" userId="9d0e2705-d1ec-45d6-a10d-58461a4a334f" providerId="ADAL" clId="{812CDC9A-941A-4B28-B06D-1FCB72D96FFB}" dt="2026-03-26T15:58:16.890" v="6328" actId="1038"/>
          <ac:cxnSpMkLst>
            <pc:docMk/>
            <pc:sldMk cId="2944001035" sldId="2147482945"/>
            <ac:cxnSpMk id="14" creationId="{8654B92E-C880-E9EC-A05B-E8FCF772E3E0}"/>
          </ac:cxnSpMkLst>
        </pc:cxnChg>
        <pc:cxnChg chg="add mod">
          <ac:chgData name="Rodriguez Barcenas Beatriz Adriana" userId="9d0e2705-d1ec-45d6-a10d-58461a4a334f" providerId="ADAL" clId="{812CDC9A-941A-4B28-B06D-1FCB72D96FFB}" dt="2026-03-26T15:58:13.153" v="6310" actId="1038"/>
          <ac:cxnSpMkLst>
            <pc:docMk/>
            <pc:sldMk cId="2944001035" sldId="2147482945"/>
            <ac:cxnSpMk id="15" creationId="{AC041544-EA10-DD8E-B078-2C08451FBC39}"/>
          </ac:cxnSpMkLst>
        </pc:cxnChg>
        <pc:cxnChg chg="mod">
          <ac:chgData name="Rodriguez Barcenas Beatriz Adriana" userId="9d0e2705-d1ec-45d6-a10d-58461a4a334f" providerId="ADAL" clId="{812CDC9A-941A-4B28-B06D-1FCB72D96FFB}" dt="2026-03-26T15:58:26.577" v="6387" actId="1038"/>
          <ac:cxnSpMkLst>
            <pc:docMk/>
            <pc:sldMk cId="2944001035" sldId="2147482945"/>
            <ac:cxnSpMk id="77" creationId="{4402E3D7-DDAA-EC27-11C0-19F04A1739F3}"/>
          </ac:cxnSpMkLst>
        </pc:cxnChg>
      </pc:sldChg>
      <pc:sldChg chg="addSp delSp modSp mod">
        <pc:chgData name="Rodriguez Barcenas Beatriz Adriana" userId="9d0e2705-d1ec-45d6-a10d-58461a4a334f" providerId="ADAL" clId="{812CDC9A-941A-4B28-B06D-1FCB72D96FFB}" dt="2026-03-31T22:29:16.109" v="6698" actId="20577"/>
        <pc:sldMkLst>
          <pc:docMk/>
          <pc:sldMk cId="679105534" sldId="2147482948"/>
        </pc:sldMkLst>
        <pc:spChg chg="add mod">
          <ac:chgData name="Rodriguez Barcenas Beatriz Adriana" userId="9d0e2705-d1ec-45d6-a10d-58461a4a334f" providerId="ADAL" clId="{812CDC9A-941A-4B28-B06D-1FCB72D96FFB}" dt="2026-03-31T22:29:16.109" v="6698" actId="20577"/>
          <ac:spMkLst>
            <pc:docMk/>
            <pc:sldMk cId="679105534" sldId="2147482948"/>
            <ac:spMk id="2" creationId="{49E6998D-BB1D-EA68-CAB3-C3660FD4A200}"/>
          </ac:spMkLst>
        </pc:spChg>
        <pc:spChg chg="mod">
          <ac:chgData name="Rodriguez Barcenas Beatriz Adriana" userId="9d0e2705-d1ec-45d6-a10d-58461a4a334f" providerId="ADAL" clId="{812CDC9A-941A-4B28-B06D-1FCB72D96FFB}" dt="2026-03-26T15:12:23.247" v="5080" actId="14100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3-26T15:16:06.343" v="5200" actId="403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3-26T15:16:06.343" v="5200" actId="403"/>
          <ac:spMkLst>
            <pc:docMk/>
            <pc:sldMk cId="679105534" sldId="2147482948"/>
            <ac:spMk id="56" creationId="{10AE335B-E5D2-A6A7-EFF5-4DBB7DACAAF6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07T07:38:30.973" v="690" actId="20577"/>
        <pc:sldMkLst>
          <pc:docMk/>
          <pc:sldMk cId="3429756509" sldId="2147482951"/>
        </pc:sldMkLst>
        <pc:spChg chg="mod">
          <ac:chgData name="Rodriguez Barcenas Beatriz Adriana" userId="9d0e2705-d1ec-45d6-a10d-58461a4a334f" providerId="ADAL" clId="{812CDC9A-941A-4B28-B06D-1FCB72D96FFB}" dt="2026-03-07T07:38:30.973" v="690" actId="20577"/>
          <ac:spMkLst>
            <pc:docMk/>
            <pc:sldMk cId="3429756509" sldId="2147482951"/>
            <ac:spMk id="2" creationId="{1D08F26C-A573-6591-62BD-A45EB58DF6FC}"/>
          </ac:spMkLst>
        </pc:spChg>
      </pc:sldChg>
      <pc:sldChg chg="addSp delSp modSp add mod setBg">
        <pc:chgData name="Rodriguez Barcenas Beatriz Adriana" userId="9d0e2705-d1ec-45d6-a10d-58461a4a334f" providerId="ADAL" clId="{812CDC9A-941A-4B28-B06D-1FCB72D96FFB}" dt="2026-03-31T22:42:08.688" v="6777" actId="1076"/>
        <pc:sldMkLst>
          <pc:docMk/>
          <pc:sldMk cId="3014286304" sldId="2147482955"/>
        </pc:sldMkLst>
        <pc:spChg chg="add mod">
          <ac:chgData name="Rodriguez Barcenas Beatriz Adriana" userId="9d0e2705-d1ec-45d6-a10d-58461a4a334f" providerId="ADAL" clId="{812CDC9A-941A-4B28-B06D-1FCB72D96FFB}" dt="2026-03-31T22:42:08.688" v="6777" actId="1076"/>
          <ac:spMkLst>
            <pc:docMk/>
            <pc:sldMk cId="3014286304" sldId="2147482955"/>
            <ac:spMk id="2" creationId="{9001EC3F-9E7A-677B-7937-FE94745E4D7B}"/>
          </ac:spMkLst>
        </pc:spChg>
        <pc:spChg chg="mod">
          <ac:chgData name="Rodriguez Barcenas Beatriz Adriana" userId="9d0e2705-d1ec-45d6-a10d-58461a4a334f" providerId="ADAL" clId="{812CDC9A-941A-4B28-B06D-1FCB72D96FFB}" dt="2026-03-31T22:41:48.652" v="6718" actId="13926"/>
          <ac:spMkLst>
            <pc:docMk/>
            <pc:sldMk cId="3014286304" sldId="2147482955"/>
            <ac:spMk id="54" creationId="{499A50F9-AE6D-C351-50A4-4FD885EB1033}"/>
          </ac:spMkLst>
        </pc:spChg>
      </pc:sldChg>
      <pc:sldChg chg="addSp delSp modSp add mod setBg">
        <pc:chgData name="Rodriguez Barcenas Beatriz Adriana" userId="9d0e2705-d1ec-45d6-a10d-58461a4a334f" providerId="ADAL" clId="{812CDC9A-941A-4B28-B06D-1FCB72D96FFB}" dt="2026-03-31T23:08:05.349" v="7473" actId="14100"/>
        <pc:sldMkLst>
          <pc:docMk/>
          <pc:sldMk cId="975460058" sldId="2147482956"/>
        </pc:sldMkLst>
        <pc:spChg chg="mod">
          <ac:chgData name="Rodriguez Barcenas Beatriz Adriana" userId="9d0e2705-d1ec-45d6-a10d-58461a4a334f" providerId="ADAL" clId="{812CDC9A-941A-4B28-B06D-1FCB72D96FFB}" dt="2026-03-26T15:50:21.141" v="5869" actId="14100"/>
          <ac:spMkLst>
            <pc:docMk/>
            <pc:sldMk cId="975460058" sldId="2147482956"/>
            <ac:spMk id="2" creationId="{FF438F5D-4031-6919-F492-E78DC45C2827}"/>
          </ac:spMkLst>
        </pc:spChg>
        <pc:spChg chg="mod">
          <ac:chgData name="Rodriguez Barcenas Beatriz Adriana" userId="9d0e2705-d1ec-45d6-a10d-58461a4a334f" providerId="ADAL" clId="{812CDC9A-941A-4B28-B06D-1FCB72D96FFB}" dt="2026-03-31T22:42:14.110" v="6778" actId="1076"/>
          <ac:spMkLst>
            <pc:docMk/>
            <pc:sldMk cId="975460058" sldId="2147482956"/>
            <ac:spMk id="5" creationId="{DCC89A08-9D24-5BC6-AEB2-1E089822701A}"/>
          </ac:spMkLst>
        </pc:spChg>
        <pc:spChg chg="add mod">
          <ac:chgData name="Rodriguez Barcenas Beatriz Adriana" userId="9d0e2705-d1ec-45d6-a10d-58461a4a334f" providerId="ADAL" clId="{812CDC9A-941A-4B28-B06D-1FCB72D96FFB}" dt="2026-03-26T15:50:33.088" v="5908" actId="20577"/>
          <ac:spMkLst>
            <pc:docMk/>
            <pc:sldMk cId="975460058" sldId="2147482956"/>
            <ac:spMk id="6" creationId="{802291C8-2C92-9B37-B96B-FFD2F30C80A3}"/>
          </ac:spMkLst>
        </pc:spChg>
        <pc:spChg chg="mod">
          <ac:chgData name="Rodriguez Barcenas Beatriz Adriana" userId="9d0e2705-d1ec-45d6-a10d-58461a4a334f" providerId="ADAL" clId="{812CDC9A-941A-4B28-B06D-1FCB72D96FFB}" dt="2026-03-26T15:30:56.133" v="5509" actId="20577"/>
          <ac:spMkLst>
            <pc:docMk/>
            <pc:sldMk cId="975460058" sldId="2147482956"/>
            <ac:spMk id="7" creationId="{6DD10DD9-4532-289B-31A2-B3640278752B}"/>
          </ac:spMkLst>
        </pc:spChg>
        <pc:spChg chg="add mod">
          <ac:chgData name="Rodriguez Barcenas Beatriz Adriana" userId="9d0e2705-d1ec-45d6-a10d-58461a4a334f" providerId="ADAL" clId="{812CDC9A-941A-4B28-B06D-1FCB72D96FFB}" dt="2026-03-31T22:57:08.824" v="7163" actId="20577"/>
          <ac:spMkLst>
            <pc:docMk/>
            <pc:sldMk cId="975460058" sldId="2147482956"/>
            <ac:spMk id="8" creationId="{DD9A9D97-195B-4137-72FD-C9867CBAA420}"/>
          </ac:spMkLst>
        </pc:spChg>
        <pc:spChg chg="add mod">
          <ac:chgData name="Rodriguez Barcenas Beatriz Adriana" userId="9d0e2705-d1ec-45d6-a10d-58461a4a334f" providerId="ADAL" clId="{812CDC9A-941A-4B28-B06D-1FCB72D96FFB}" dt="2026-03-31T22:57:11.917" v="7164" actId="20577"/>
          <ac:spMkLst>
            <pc:docMk/>
            <pc:sldMk cId="975460058" sldId="2147482956"/>
            <ac:spMk id="9" creationId="{13120EE3-B629-46FD-50C1-7095C1FDD7FC}"/>
          </ac:spMkLst>
        </pc:spChg>
        <pc:spChg chg="add mod">
          <ac:chgData name="Rodriguez Barcenas Beatriz Adriana" userId="9d0e2705-d1ec-45d6-a10d-58461a4a334f" providerId="ADAL" clId="{812CDC9A-941A-4B28-B06D-1FCB72D96FFB}" dt="2026-03-26T15:47:31.422" v="5765" actId="14100"/>
          <ac:spMkLst>
            <pc:docMk/>
            <pc:sldMk cId="975460058" sldId="2147482956"/>
            <ac:spMk id="10" creationId="{AF3885B8-B869-7B4E-ABCF-E3597AE5EE7E}"/>
          </ac:spMkLst>
        </pc:spChg>
        <pc:spChg chg="add mod">
          <ac:chgData name="Rodriguez Barcenas Beatriz Adriana" userId="9d0e2705-d1ec-45d6-a10d-58461a4a334f" providerId="ADAL" clId="{812CDC9A-941A-4B28-B06D-1FCB72D96FFB}" dt="2026-03-31T23:00:29.379" v="7284" actId="20577"/>
          <ac:spMkLst>
            <pc:docMk/>
            <pc:sldMk cId="975460058" sldId="2147482956"/>
            <ac:spMk id="11" creationId="{26780906-4D08-6DB7-EC49-1DAF8D37626B}"/>
          </ac:spMkLst>
        </pc:spChg>
        <pc:spChg chg="mod">
          <ac:chgData name="Rodriguez Barcenas Beatriz Adriana" userId="9d0e2705-d1ec-45d6-a10d-58461a4a334f" providerId="ADAL" clId="{812CDC9A-941A-4B28-B06D-1FCB72D96FFB}" dt="2026-03-26T15:30:45.590" v="5498" actId="20577"/>
          <ac:spMkLst>
            <pc:docMk/>
            <pc:sldMk cId="975460058" sldId="2147482956"/>
            <ac:spMk id="12" creationId="{D477E1EE-0C07-B105-4F97-087FE9B266FB}"/>
          </ac:spMkLst>
        </pc:spChg>
        <pc:spChg chg="add mod">
          <ac:chgData name="Rodriguez Barcenas Beatriz Adriana" userId="9d0e2705-d1ec-45d6-a10d-58461a4a334f" providerId="ADAL" clId="{812CDC9A-941A-4B28-B06D-1FCB72D96FFB}" dt="2026-03-26T15:47:54.553" v="5773" actId="1035"/>
          <ac:spMkLst>
            <pc:docMk/>
            <pc:sldMk cId="975460058" sldId="2147482956"/>
            <ac:spMk id="15" creationId="{0B7907D9-8999-1632-E76E-32E3F3828D7A}"/>
          </ac:spMkLst>
        </pc:spChg>
        <pc:spChg chg="add mod">
          <ac:chgData name="Rodriguez Barcenas Beatriz Adriana" userId="9d0e2705-d1ec-45d6-a10d-58461a4a334f" providerId="ADAL" clId="{812CDC9A-941A-4B28-B06D-1FCB72D96FFB}" dt="2026-03-31T23:08:05.349" v="7473" actId="14100"/>
          <ac:spMkLst>
            <pc:docMk/>
            <pc:sldMk cId="975460058" sldId="2147482956"/>
            <ac:spMk id="16" creationId="{63D1E9ED-33F2-6E18-857B-995DC79218E6}"/>
          </ac:spMkLst>
        </pc:spChg>
        <pc:spChg chg="add mod">
          <ac:chgData name="Rodriguez Barcenas Beatriz Adriana" userId="9d0e2705-d1ec-45d6-a10d-58461a4a334f" providerId="ADAL" clId="{812CDC9A-941A-4B28-B06D-1FCB72D96FFB}" dt="2026-03-26T15:50:48.456" v="5913"/>
          <ac:spMkLst>
            <pc:docMk/>
            <pc:sldMk cId="975460058" sldId="2147482956"/>
            <ac:spMk id="19" creationId="{E8C50CF2-FC44-4B8A-F6EF-AB1B9F48EA4E}"/>
          </ac:spMkLst>
        </pc:spChg>
        <pc:cxnChg chg="mod">
          <ac:chgData name="Rodriguez Barcenas Beatriz Adriana" userId="9d0e2705-d1ec-45d6-a10d-58461a4a334f" providerId="ADAL" clId="{812CDC9A-941A-4B28-B06D-1FCB72D96FFB}" dt="2026-03-26T15:50:27.141" v="5902" actId="14100"/>
          <ac:cxnSpMkLst>
            <pc:docMk/>
            <pc:sldMk cId="975460058" sldId="2147482956"/>
            <ac:cxnSpMk id="25" creationId="{5707D14A-88EA-99AF-E715-2365655B6540}"/>
          </ac:cxnSpMkLst>
        </pc:cxnChg>
        <pc:cxnChg chg="mod">
          <ac:chgData name="Rodriguez Barcenas Beatriz Adriana" userId="9d0e2705-d1ec-45d6-a10d-58461a4a334f" providerId="ADAL" clId="{812CDC9A-941A-4B28-B06D-1FCB72D96FFB}" dt="2026-03-26T15:50:27.141" v="5902" actId="14100"/>
          <ac:cxnSpMkLst>
            <pc:docMk/>
            <pc:sldMk cId="975460058" sldId="2147482956"/>
            <ac:cxnSpMk id="26" creationId="{F5E6B09D-6BE9-54BB-F882-59D05EB44E9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FD87D-EA3A-08F4-016B-54B33D4D0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985D6A-BD79-B098-A87E-7BAD53467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70EE6C4-8C47-395A-2741-0935BEF20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0F7C18-F89A-B0C8-8599-16239D1A1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437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6421-97E6-002E-2D82-93897997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FED1B1-3484-5D8B-50DB-41780C98F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557D9E-1F20-2F54-F4E3-C06BBE5DE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3EC67E-C553-645C-561D-DF43E2FCC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40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/>
              <a:t>Gerente Sr. Servicios Compartidos Administrativo</a:t>
            </a:r>
            <a:br>
              <a:rPr lang="es-ES_tradnl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499" y="121330"/>
            <a:ext cx="9096375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Servicios Compartidos Administrativo</a:t>
            </a:r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2179073"/>
            <a:ext cx="11668125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Contribuciones (parte 1):</a:t>
            </a:r>
            <a:endParaRPr lang="es-MX" sz="1200" b="1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MX" sz="1200" dirty="0"/>
              <a:t>Definir y actualizar la  estrategia y proyectos de servicios centrales alineada a la estrategia del Negocio.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MX" sz="1200" dirty="0"/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MX" sz="1200" dirty="0"/>
              <a:t>Definir los modelos de servicios centrales, su esquema de gestión y gobierno hacia los </a:t>
            </a:r>
            <a:r>
              <a:rPr lang="es-MX" sz="1200" dirty="0" err="1"/>
              <a:t>Stakeholders</a:t>
            </a:r>
            <a:r>
              <a:rPr lang="es-MX" sz="1200" dirty="0"/>
              <a:t> , proveedores y clientes internos y externos.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MX" sz="1200" dirty="0">
              <a:solidFill>
                <a:schemeClr val="tx1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MX" sz="1200" dirty="0">
                <a:solidFill>
                  <a:schemeClr val="tx1"/>
                </a:solidFill>
              </a:rPr>
              <a:t>Liderar y gestionar a la operación de los servicios centrales contemplando los requerimientos establecidos en procesos y acuerdos de servicios , asegurándose que sean resueltos según lo pactado con los clientes internos en el corto plazo , conectando con la evolución de mediano y largo plazo.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MX" sz="1200" dirty="0">
              <a:solidFill>
                <a:schemeClr val="tx1"/>
              </a:solidFill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MX" sz="1200" dirty="0">
                <a:solidFill>
                  <a:schemeClr val="tx1"/>
                </a:solidFill>
              </a:rPr>
              <a:t>Supervisar y asegurar la contabilidad, tesorería, cuentas por pagar/cobrar y reporteo.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  <a:ea typeface="ＭＳ Ｐゴシック"/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Asegurar la correcta ejecución del ciclo </a:t>
            </a:r>
            <a:r>
              <a:rPr lang="es-ES" sz="1200" dirty="0" err="1">
                <a:solidFill>
                  <a:prstClr val="black"/>
                </a:solidFill>
                <a:ea typeface="ＭＳ Ｐゴシック"/>
              </a:rPr>
              <a:t>purchase</a:t>
            </a: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1200" dirty="0" err="1">
                <a:solidFill>
                  <a:prstClr val="black"/>
                </a:solidFill>
                <a:ea typeface="ＭＳ Ｐゴシック"/>
              </a:rPr>
              <a:t>to</a:t>
            </a: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1200" dirty="0" err="1">
                <a:solidFill>
                  <a:prstClr val="black"/>
                </a:solidFill>
                <a:ea typeface="ＭＳ Ｐゴシック"/>
              </a:rPr>
              <a:t>pay</a:t>
            </a: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 – órdenes de compra, recepción, facturación y pagos – manteniendo controles y cumplimiento de políticas; así como optimizar flujos de aprobación, condiciones de pago y gestión de cash Flow.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  <a:ea typeface="ＭＳ Ｐゴシック"/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Asegurar la adecuada gestión de los procesos de facturación, cobranza y reconocimiento de ingresos (</a:t>
            </a:r>
            <a:r>
              <a:rPr lang="es-ES" sz="1200" dirty="0" err="1">
                <a:solidFill>
                  <a:prstClr val="black"/>
                </a:solidFill>
                <a:ea typeface="ＭＳ Ｐゴシック"/>
              </a:rPr>
              <a:t>order</a:t>
            </a: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1200" dirty="0" err="1">
                <a:solidFill>
                  <a:prstClr val="black"/>
                </a:solidFill>
                <a:ea typeface="ＭＳ Ｐゴシック"/>
              </a:rPr>
              <a:t>to</a:t>
            </a: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 cash), garantizando tiempos de cobro acorde a políticas.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1200" dirty="0">
              <a:solidFill>
                <a:prstClr val="black"/>
              </a:solidFill>
              <a:ea typeface="ＭＳ Ｐゴシック"/>
            </a:endParaRPr>
          </a:p>
          <a:p>
            <a:pPr marL="171450" indent="-171450" defTabSz="342900">
              <a:buFont typeface="Arial" charset="0"/>
              <a:buAutoNum type="arabicPeriod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Asegurar el correcto proceso de los cierres contables precisos y oportunos, conciliaciones y preparación de estados financieros conforme a normas (</a:t>
            </a:r>
            <a:r>
              <a:rPr lang="es-ES" sz="1200" dirty="0" err="1">
                <a:solidFill>
                  <a:prstClr val="black"/>
                </a:solidFill>
                <a:ea typeface="ＭＳ Ｐゴシック"/>
              </a:rPr>
              <a:t>record</a:t>
            </a: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1200" dirty="0" err="1">
                <a:solidFill>
                  <a:prstClr val="black"/>
                </a:solidFill>
                <a:ea typeface="ＭＳ Ｐゴシック"/>
              </a:rPr>
              <a:t>to</a:t>
            </a: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1200" dirty="0" err="1">
                <a:solidFill>
                  <a:prstClr val="black"/>
                </a:solidFill>
                <a:ea typeface="ＭＳ Ｐゴシック"/>
              </a:rPr>
              <a:t>report</a:t>
            </a:r>
            <a:r>
              <a:rPr lang="es-ES" sz="1200" dirty="0">
                <a:solidFill>
                  <a:prstClr val="black"/>
                </a:solidFill>
                <a:ea typeface="ＭＳ Ｐゴシック"/>
              </a:rPr>
              <a:t>).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192128"/>
            <a:ext cx="1166812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200" b="1" dirty="0"/>
              <a:t>Propósito: </a:t>
            </a:r>
            <a:r>
              <a:rPr lang="es-MX" sz="1200" dirty="0"/>
              <a:t>Asegurar la adecuada operación y gestión de la administración, ejecución, mejora continua y niveles de servicio centrales, habilitando al negocio en procesos transaccionales y funcionales de principio a fin mediante expertos en modelo de servicio, procesos, desarrolladores tecnológicos, operadores y centros de servicio, así mismo desarrollar estrategias alineadas al negocio y a la evolución de sus plataformas, impulsando la simplificación y la generación de valor económico, incorporando como ejes fundamentales la creación de nuevos servicios, la centralización, la búsqueda de eficiencias y la estandarización de procesos.</a:t>
            </a:r>
            <a:endParaRPr lang="es-ES" sz="12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E6998D-BB1D-EA68-CAB3-C3660FD4A200}"/>
              </a:ext>
            </a:extLst>
          </p:cNvPr>
          <p:cNvSpPr/>
          <p:nvPr/>
        </p:nvSpPr>
        <p:spPr>
          <a:xfrm>
            <a:off x="6840279" y="574159"/>
            <a:ext cx="3484821" cy="5497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900" dirty="0"/>
              <a:t>Actualmente se gestiona con proveedores (ej.), para cambios de procesos, no hay </a:t>
            </a:r>
            <a:r>
              <a:rPr lang="es-MX" sz="900" dirty="0" err="1"/>
              <a:t>COEs</a:t>
            </a:r>
            <a:r>
              <a:rPr lang="es-MX" sz="900" dirty="0"/>
              <a:t> en la DAF, aquí se hacen políticas con consulta de contraloría, </a:t>
            </a:r>
            <a:r>
              <a:rPr lang="es-MX" sz="900" dirty="0" err="1"/>
              <a:t>etc</a:t>
            </a:r>
            <a:r>
              <a:rPr lang="es-MX" sz="900" dirty="0"/>
              <a:t>… se espera que se hagan cambios de procesos.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C2BE-9C2D-5367-321A-C107E2FB3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24B25F97-9A66-9D78-9679-F4B107FE32F5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E521CFB5-2004-40EA-1D26-2E08642D7413}"/>
              </a:ext>
            </a:extLst>
          </p:cNvPr>
          <p:cNvSpPr txBox="1">
            <a:spLocks/>
          </p:cNvSpPr>
          <p:nvPr/>
        </p:nvSpPr>
        <p:spPr>
          <a:xfrm>
            <a:off x="190499" y="121330"/>
            <a:ext cx="9096375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Servicios Compartidos Administrativo</a:t>
            </a:r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99A50F9-AE6D-C351-50A4-4FD885EB1033}"/>
              </a:ext>
            </a:extLst>
          </p:cNvPr>
          <p:cNvSpPr txBox="1"/>
          <p:nvPr/>
        </p:nvSpPr>
        <p:spPr>
          <a:xfrm>
            <a:off x="266700" y="1246385"/>
            <a:ext cx="11668125" cy="345325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Contribuciones (parte 2):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lang="es-MX" sz="1200" dirty="0">
              <a:ea typeface="ＭＳ Ｐゴシック"/>
            </a:endParaRPr>
          </a:p>
          <a:p>
            <a:pPr marL="228600" indent="-228600" defTabSz="342900">
              <a:buFont typeface="+mj-lt"/>
              <a:buAutoNum type="arabicPeriod" startAt="8"/>
              <a:defRPr/>
            </a:pPr>
            <a:r>
              <a:rPr lang="es-MX" sz="1200" dirty="0">
                <a:solidFill>
                  <a:schemeClr val="tx1"/>
                </a:solidFill>
                <a:highlight>
                  <a:srgbClr val="FFFF00"/>
                </a:highlight>
              </a:rPr>
              <a:t>Da</a:t>
            </a:r>
            <a:r>
              <a:rPr lang="es-MX" sz="1200" dirty="0">
                <a:solidFill>
                  <a:schemeClr val="tx1"/>
                </a:solidFill>
              </a:rPr>
              <a:t>r seguimiento y ser responsable del desempeño de las estructuras que operan los Servicios Centrales con el fin de gestionar los recursos internos y externos , planes estratégicos y tácticos  para  habilitar mejoras considerando propuestas de los ejecutores y clientes  de los procesos.</a:t>
            </a: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endParaRPr lang="es-MX" sz="1200" dirty="0">
              <a:solidFill>
                <a:schemeClr val="tx1"/>
              </a:solidFill>
            </a:endParaRP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r>
              <a:rPr lang="es-MX" sz="1200" dirty="0">
                <a:solidFill>
                  <a:schemeClr val="tx1"/>
                </a:solidFill>
              </a:rPr>
              <a:t>Facilitar el relacionamiento e integración entre las unidades operativas de servicios centrales y con los clientes internos mediante la identificación de las necesidades estratégicas del negocio y los usuarios en diseñado y ejecutando rituales de gestión.</a:t>
            </a: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endParaRPr lang="es-MX" sz="1200" dirty="0">
              <a:solidFill>
                <a:schemeClr val="tx1"/>
              </a:solidFill>
            </a:endParaRP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r>
              <a:rPr lang="es-MX" sz="1200" dirty="0">
                <a:highlight>
                  <a:srgbClr val="FFFF00"/>
                </a:highlight>
              </a:rPr>
              <a:t> Asegurar </a:t>
            </a:r>
            <a:r>
              <a:rPr lang="es-MX" sz="1200" dirty="0"/>
              <a:t>el</a:t>
            </a:r>
            <a:r>
              <a:rPr lang="es-MX" sz="1200" dirty="0">
                <a:solidFill>
                  <a:schemeClr val="tx1"/>
                </a:solidFill>
              </a:rPr>
              <a:t> diseño y operación del Modelo de Gestión y Rendición de cuentas sobre la inversión del presupuesto de los servicios centrales y su generación de valor a los negocios , definir estrategias de mejora integral continua en los portafolios de servicios ( back office, </a:t>
            </a:r>
            <a:r>
              <a:rPr lang="es-MX" sz="1200" dirty="0" err="1">
                <a:solidFill>
                  <a:schemeClr val="tx1"/>
                </a:solidFill>
              </a:rPr>
              <a:t>front</a:t>
            </a:r>
            <a:r>
              <a:rPr lang="es-MX" sz="1200" dirty="0">
                <a:solidFill>
                  <a:schemeClr val="tx1"/>
                </a:solidFill>
              </a:rPr>
              <a:t> office , datos , analíticos , cumplimiento , control , etc.).</a:t>
            </a: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endParaRPr lang="es-MX" sz="1200" dirty="0">
              <a:solidFill>
                <a:schemeClr val="tx1"/>
              </a:solidFill>
            </a:endParaRP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r>
              <a:rPr lang="es-MX" sz="1200" dirty="0"/>
              <a:t> Asegurar la incorporación (</a:t>
            </a:r>
            <a:r>
              <a:rPr lang="es-MX" sz="1200" dirty="0" err="1"/>
              <a:t>on</a:t>
            </a:r>
            <a:r>
              <a:rPr lang="es-MX" sz="1200" dirty="0"/>
              <a:t> </a:t>
            </a:r>
            <a:r>
              <a:rPr lang="es-MX" sz="1200" dirty="0" err="1"/>
              <a:t>boarding</a:t>
            </a:r>
            <a:r>
              <a:rPr lang="es-MX" sz="1200" dirty="0"/>
              <a:t>)  de más servicios de soporte  central que pudieran ser parte del modelo basados en casos de negocio y proyectos viables.</a:t>
            </a: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endParaRPr lang="es-MX" sz="1200" dirty="0"/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r>
              <a:rPr lang="es-MX" sz="1200" dirty="0"/>
              <a:t> A</a:t>
            </a:r>
            <a:r>
              <a:rPr lang="es-MX" sz="1200" dirty="0">
                <a:highlight>
                  <a:srgbClr val="FFFF00"/>
                </a:highlight>
              </a:rPr>
              <a:t>seg</a:t>
            </a:r>
            <a:r>
              <a:rPr lang="es-MX" sz="1200" dirty="0"/>
              <a:t>urar el cumplimiento, materialización de la mejora continua  y en su caso de la transformación de los procesos,  tecnologías y niveles de servicio acordados con el cliente interno en alineación  con los responsables de procesos y transformación de las unidades de negocio.</a:t>
            </a:r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endParaRPr lang="es-MX" sz="1200" dirty="0"/>
          </a:p>
          <a:p>
            <a:pPr marL="171450" indent="-171450" defTabSz="342900">
              <a:buFont typeface="Arial" charset="0"/>
              <a:buAutoNum type="arabicPeriod" startAt="8"/>
              <a:defRPr/>
            </a:pPr>
            <a:r>
              <a:rPr lang="es-MX" sz="1200" dirty="0">
                <a:ea typeface="Times New Roman" panose="02020603050405020304" pitchFamily="18" charset="0"/>
              </a:rPr>
              <a:t> In</a:t>
            </a:r>
            <a:r>
              <a:rPr lang="es-MX" sz="1200" dirty="0">
                <a:highlight>
                  <a:srgbClr val="FFFF00"/>
                </a:highlight>
                <a:ea typeface="Times New Roman" panose="02020603050405020304" pitchFamily="18" charset="0"/>
              </a:rPr>
              <a:t>ves</a:t>
            </a:r>
            <a:r>
              <a:rPr lang="es-MX" sz="1200" dirty="0">
                <a:ea typeface="Times New Roman" panose="02020603050405020304" pitchFamily="18" charset="0"/>
              </a:rPr>
              <a:t>tigar, seleccionar y sustentar la adopción de mejores prácticas de la industria de servicios centralizados, tecnologías y procesos que permitan generar valor sostenible en el largo plazo habilitando el desarrollo de los negocios a los que se da soporte.</a:t>
            </a:r>
            <a:endParaRPr lang="es-ES" sz="1200" dirty="0">
              <a:solidFill>
                <a:prstClr val="black"/>
              </a:solidFill>
              <a:ea typeface="ＭＳ Ｐゴシック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001EC3F-9E7A-677B-7937-FE94745E4D7B}"/>
              </a:ext>
            </a:extLst>
          </p:cNvPr>
          <p:cNvSpPr/>
          <p:nvPr/>
        </p:nvSpPr>
        <p:spPr>
          <a:xfrm>
            <a:off x="341907" y="4929808"/>
            <a:ext cx="3299791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  <a:highlight>
                  <a:srgbClr val="FFFF00"/>
                </a:highlight>
              </a:rPr>
              <a:t>Se eliminó posición de Gerencia vs Coordinador</a:t>
            </a:r>
          </a:p>
        </p:txBody>
      </p:sp>
    </p:spTree>
    <p:extLst>
      <p:ext uri="{BB962C8B-B14F-4D97-AF65-F5344CB8AC3E}">
        <p14:creationId xmlns:p14="http://schemas.microsoft.com/office/powerpoint/2010/main" val="3014286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909066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Servicios Compartidos Administrativo</a:t>
            </a:r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</a:t>
            </a:r>
            <a:endParaRPr lang="es-MX" sz="1200" b="1" dirty="0">
              <a:solidFill>
                <a:prstClr val="black"/>
              </a:solidFill>
              <a:latin typeface="+mj-lt"/>
              <a:ea typeface="ＭＳ Ｐゴシック" charset="0"/>
              <a:cs typeface="Arial"/>
            </a:endParaRPr>
          </a:p>
          <a:p>
            <a:pPr marL="342900" lvl="0" indent="-342900">
              <a:buFont typeface="Symbol" panose="05050102010706020507" pitchFamily="18" charset="2"/>
              <a:buChar char=""/>
              <a:tabLst>
                <a:tab pos="228600" algn="l"/>
                <a:tab pos="5943600" algn="l"/>
              </a:tabLst>
            </a:pPr>
            <a:r>
              <a:rPr lang="es-MX" sz="1200" dirty="0"/>
              <a:t>Define estrategia de Servicios Centrales del Negocio</a:t>
            </a:r>
          </a:p>
          <a:p>
            <a:pPr marL="342900" lvl="0" indent="-342900">
              <a:buFont typeface="Symbol" panose="05050102010706020507" pitchFamily="18" charset="2"/>
              <a:buChar char=""/>
              <a:tabLst>
                <a:tab pos="228600" algn="l"/>
                <a:tab pos="5943600" algn="l"/>
              </a:tabLst>
            </a:pPr>
            <a:r>
              <a:rPr lang="es-MX" sz="1200" dirty="0"/>
              <a:t>Define presupuesto y asegura capacidad instalada necesaria de Servicios Centrales.</a:t>
            </a:r>
          </a:p>
          <a:p>
            <a:pPr marL="342900" lvl="0" indent="-342900">
              <a:buFont typeface="Symbol" panose="05050102010706020507" pitchFamily="18" charset="2"/>
              <a:buChar char=""/>
              <a:tabLst>
                <a:tab pos="228600" algn="l"/>
                <a:tab pos="5943600" algn="l"/>
              </a:tabLst>
            </a:pPr>
            <a:r>
              <a:rPr lang="es-MX" sz="1200" dirty="0"/>
              <a:t>Define planes estratégicos de mejora continua de procesos y servicios.</a:t>
            </a:r>
          </a:p>
          <a:p>
            <a:pPr marL="342900" lvl="0" indent="-342900">
              <a:buFont typeface="Symbol" panose="05050102010706020507" pitchFamily="18" charset="2"/>
              <a:buChar char=""/>
              <a:tabLst>
                <a:tab pos="228600" algn="l"/>
                <a:tab pos="5943600" algn="l"/>
              </a:tabLst>
            </a:pPr>
            <a:r>
              <a:rPr lang="es-MX" sz="1200" dirty="0"/>
              <a:t>Define el método de cobro hacia las operaciones de los servicios brindados </a:t>
            </a:r>
          </a:p>
          <a:p>
            <a:pPr marL="342900" lvl="0" indent="-342900">
              <a:buFont typeface="Symbol" panose="05050102010706020507" pitchFamily="18" charset="2"/>
              <a:buChar char=""/>
              <a:tabLst>
                <a:tab pos="228600" algn="l"/>
                <a:tab pos="5943600" algn="l"/>
              </a:tabLst>
            </a:pPr>
            <a:r>
              <a:rPr lang="es-MX" sz="1200" dirty="0"/>
              <a:t>Define el modelo de servicio basado en las necesidades de los clientes internos.</a:t>
            </a:r>
          </a:p>
          <a:p>
            <a:pPr marL="342900" lvl="0" indent="-342900">
              <a:buFont typeface="Symbol" panose="05050102010706020507" pitchFamily="18" charset="2"/>
              <a:buChar char=""/>
              <a:tabLst>
                <a:tab pos="228600" algn="l"/>
                <a:tab pos="5943600" algn="l"/>
              </a:tabLst>
            </a:pPr>
            <a:r>
              <a:rPr lang="es-MX" sz="1200" dirty="0"/>
              <a:t>Define si el servicio puede o no ser realizado por un proveedor externo</a:t>
            </a: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 </a:t>
            </a:r>
          </a:p>
          <a:p>
            <a:pPr marL="176825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s-MX" sz="1200" dirty="0"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Evolución y Complejidad de un amplio portafolio de servicios.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Evolución continua de  procesos óptimos y eficientes 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Volumen y alta manualidad en el manejo de Información (Big Data) y complejidad en análisis.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>
                <a:highlight>
                  <a:srgbClr val="FFFF00"/>
                </a:highlight>
              </a:rPr>
              <a:t>Control y aseguramiento de procesos (ej. Cobro correcto y pago)…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Gestión de Servicios Centrales e integración acelerada de nuevas tecnologías.</a:t>
            </a: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625B8BE-A9E3-A32D-4BCE-F32050C17CA1}"/>
              </a:ext>
            </a:extLst>
          </p:cNvPr>
          <p:cNvSpPr/>
          <p:nvPr/>
        </p:nvSpPr>
        <p:spPr>
          <a:xfrm>
            <a:off x="8539700" y="5192929"/>
            <a:ext cx="3143416" cy="5963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/>
              <a:t>¿Cómo puede ayudar </a:t>
            </a:r>
            <a:r>
              <a:rPr lang="es-MX" sz="1050" dirty="0" err="1"/>
              <a:t>analytics</a:t>
            </a:r>
            <a:r>
              <a:rPr lang="es-MX" sz="1050" dirty="0"/>
              <a:t>?, se confía actualmente en los sistemas, se tiene como necesidad de confiabilidad de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Finanzas OXXO MX </a:t>
            </a:r>
            <a:r>
              <a:rPr lang="es-MX" sz="1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Vega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192212" y="1167055"/>
            <a:ext cx="48465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/>
              <a:t>Propósito</a:t>
            </a:r>
          </a:p>
          <a:p>
            <a:pPr>
              <a:defRPr/>
            </a:pPr>
            <a:r>
              <a:rPr lang="es-MX" sz="1000" dirty="0"/>
              <a:t>Asegurar la adecuada operación y gestión de la administración, ejecución, mejora continua y niveles de servicio centrales, habilitando al negocio en procesos transaccionales y funcionales de principio a fin mediante expertos en modelo de servicio, procesos, desarrolladores tecnológicos, operadores y centros de servicio, así mismo desarrollar estrategias alineadas al negocio y a la evolución de sus plataformas, impulsando la simplificación y la generación de valor económico, incorporando como ejes fundamentales la creación de nuevos servicios, la centralización, la búsqueda de eficiencias y la estandarización de procesos.</a:t>
            </a:r>
            <a:endParaRPr lang="es-MX" sz="1050" dirty="0">
              <a:solidFill>
                <a:prstClr val="black"/>
              </a:solidFill>
              <a:ea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420624" y="3340936"/>
            <a:ext cx="11320272" cy="14450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Finanzas – Centro de Servicios Financiero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Servicios Compartidos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Admvo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Deyanira Rodríguez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8520985" y="2724544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Rogelio Lozano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5249384" y="2727108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Juan C. Luna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1678125" y="2727108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Cash 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Javier Ríos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4248552" y="880277"/>
            <a:ext cx="122404" cy="357125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034181" y="2665905"/>
            <a:ext cx="122404" cy="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153273" y="1208489"/>
            <a:ext cx="4867268" cy="136801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900" b="1" dirty="0">
              <a:solidFill>
                <a:schemeClr val="tx1"/>
              </a:solidFill>
            </a:endParaRPr>
          </a:p>
          <a:p>
            <a:r>
              <a:rPr lang="es-MX" sz="900" b="1" dirty="0">
                <a:solidFill>
                  <a:schemeClr val="tx1"/>
                </a:solidFill>
              </a:rPr>
              <a:t>GERENTE: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(1) - Definir y actualizar la  estrategia y proyectos de servicios centrales alineada a la estrategia del Negocio.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(2) - Definir los modelos de servicios centrales, su esquema de gestión y gobierno hacia los </a:t>
            </a:r>
            <a:r>
              <a:rPr lang="es-MX" sz="900" dirty="0" err="1">
                <a:solidFill>
                  <a:schemeClr val="tx1"/>
                </a:solidFill>
              </a:rPr>
              <a:t>Stakeholders</a:t>
            </a:r>
            <a:r>
              <a:rPr lang="es-MX" sz="900" dirty="0">
                <a:solidFill>
                  <a:schemeClr val="tx1"/>
                </a:solidFill>
              </a:rPr>
              <a:t> , proveedores y clientes internos y externos.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(8) - Dar seguimiento y ser responsable del desempeño de las estructuras que operan los Servicios Centrales con el fin de gestionar los recursos internos y externos , planes estratégicos y tácticos  para  habilitar mejoras considerando propuestas de los ejecutores y clientes  de los procesos.</a:t>
            </a:r>
            <a:endParaRPr lang="es-MX" sz="900" b="1" dirty="0">
              <a:solidFill>
                <a:schemeClr val="tx1"/>
              </a:solidFill>
            </a:endParaRPr>
          </a:p>
          <a:p>
            <a:endParaRPr lang="es-MX" sz="900" b="1" dirty="0">
              <a:solidFill>
                <a:schemeClr val="tx1"/>
              </a:solidFill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0E10A76-221D-74C3-C1B0-CA04F3AF87DB}"/>
              </a:ext>
            </a:extLst>
          </p:cNvPr>
          <p:cNvCxnSpPr>
            <a:cxnSpLocks/>
          </p:cNvCxnSpPr>
          <p:nvPr/>
        </p:nvCxnSpPr>
        <p:spPr>
          <a:xfrm>
            <a:off x="4185379" y="3333706"/>
            <a:ext cx="0" cy="14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BFC0193-FB30-404A-2465-29FDFBB056A7}"/>
              </a:ext>
            </a:extLst>
          </p:cNvPr>
          <p:cNvCxnSpPr>
            <a:cxnSpLocks/>
          </p:cNvCxnSpPr>
          <p:nvPr/>
        </p:nvCxnSpPr>
        <p:spPr>
          <a:xfrm>
            <a:off x="7915750" y="3345527"/>
            <a:ext cx="0" cy="14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3EE7B4C4-2BFB-F02A-27DB-6FEC497AD2EA}"/>
              </a:ext>
            </a:extLst>
          </p:cNvPr>
          <p:cNvCxnSpPr>
            <a:cxnSpLocks/>
          </p:cNvCxnSpPr>
          <p:nvPr/>
        </p:nvCxnSpPr>
        <p:spPr>
          <a:xfrm>
            <a:off x="6096000" y="2668711"/>
            <a:ext cx="3270369" cy="72000"/>
          </a:xfrm>
          <a:prstGeom prst="bentConnector2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31A7221-55EF-2D5D-27AA-29A7F4E82E37}"/>
              </a:ext>
            </a:extLst>
          </p:cNvPr>
          <p:cNvSpPr/>
          <p:nvPr/>
        </p:nvSpPr>
        <p:spPr>
          <a:xfrm>
            <a:off x="420624" y="5029200"/>
            <a:ext cx="11320269" cy="15930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900" b="1" dirty="0">
                <a:solidFill>
                  <a:schemeClr val="tx1"/>
                </a:solidFill>
              </a:rPr>
              <a:t>TRANSVERSAL: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(3) - Liderar y gestionar a la operación de los servicios centrales contemplando los requerimientos establecidos en procesos y acuerdos de servicios , asegurándose que sean resueltos según lo pactado con los clientes internos en el corto plazo , conectando con la evolución de mediano y largo plazo.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(11) - Asegurar la incorporación (</a:t>
            </a:r>
            <a:r>
              <a:rPr lang="es-MX" sz="900" dirty="0" err="1">
                <a:solidFill>
                  <a:schemeClr val="tx1"/>
                </a:solidFill>
              </a:rPr>
              <a:t>on</a:t>
            </a:r>
            <a:r>
              <a:rPr lang="es-MX" sz="900" dirty="0">
                <a:solidFill>
                  <a:schemeClr val="tx1"/>
                </a:solidFill>
              </a:rPr>
              <a:t> </a:t>
            </a:r>
            <a:r>
              <a:rPr lang="es-MX" sz="900" dirty="0" err="1">
                <a:solidFill>
                  <a:schemeClr val="tx1"/>
                </a:solidFill>
              </a:rPr>
              <a:t>boarding</a:t>
            </a:r>
            <a:r>
              <a:rPr lang="es-MX" sz="900" dirty="0">
                <a:solidFill>
                  <a:schemeClr val="tx1"/>
                </a:solidFill>
              </a:rPr>
              <a:t>)  de más servicios de soporte  central que pudieran ser parte del modelo basados en casos de negocio y proyectos viables.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(12) - Asegurar el cumplimiento, materialización de la mejora continua  y en su caso de la transformación de los procesos,  tecnologías y niveles de servicio acordados con el cliente interno en alineación  con los responsables de procesos y transformación de las unidades de negocio.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(13) - </a:t>
            </a:r>
            <a:r>
              <a:rPr lang="es-MX" sz="900" dirty="0">
                <a:solidFill>
                  <a:schemeClr val="tx1"/>
                </a:solidFill>
                <a:ea typeface="Times New Roman" panose="02020603050405020304" pitchFamily="18" charset="0"/>
              </a:rPr>
              <a:t>Investigar, seleccionar y sustentar la adopción de mejores prácticas de la industria de servicios centralizados, tecnologías y procesos que permitan generar valor sostenible en el largo plazo habilitando el desarrollo de los negocios a los que se da soporte.</a:t>
            </a:r>
            <a:endParaRPr lang="es-MX" sz="900" dirty="0">
              <a:solidFill>
                <a:schemeClr val="tx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023FEE8-155D-C559-11BE-C445281CA7F3}"/>
              </a:ext>
            </a:extLst>
          </p:cNvPr>
          <p:cNvSpPr txBox="1"/>
          <p:nvPr/>
        </p:nvSpPr>
        <p:spPr>
          <a:xfrm>
            <a:off x="7915750" y="3361713"/>
            <a:ext cx="3764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defTabSz="342900">
              <a:buFont typeface="Arial" panose="020B0604020202020204" pitchFamily="34" charset="0"/>
              <a:buChar char="•"/>
              <a:tabLst>
                <a:tab pos="182563" algn="l"/>
              </a:tabLst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</a:rPr>
              <a:t>(5) - Asegurar la correcta ejecución del ciclo </a:t>
            </a:r>
            <a:r>
              <a:rPr lang="es-ES" sz="900" dirty="0" err="1">
                <a:solidFill>
                  <a:prstClr val="black"/>
                </a:solidFill>
                <a:ea typeface="ＭＳ Ｐゴシック"/>
              </a:rPr>
              <a:t>purchase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900" dirty="0" err="1">
                <a:solidFill>
                  <a:prstClr val="black"/>
                </a:solidFill>
                <a:ea typeface="ＭＳ Ｐゴシック"/>
              </a:rPr>
              <a:t>to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900" dirty="0" err="1">
                <a:solidFill>
                  <a:prstClr val="black"/>
                </a:solidFill>
                <a:ea typeface="ＭＳ Ｐゴシック"/>
              </a:rPr>
              <a:t>pay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 – órdenes de compra, recepción, facturación y pagos – manteniendo controles y cumplimiento de políticas; así como optimizar flujos de aprobación, condiciones de pago y gestión de cash Flow.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8F3BB8C-31DA-A268-2446-342062020595}"/>
              </a:ext>
            </a:extLst>
          </p:cNvPr>
          <p:cNvSpPr txBox="1"/>
          <p:nvPr/>
        </p:nvSpPr>
        <p:spPr>
          <a:xfrm>
            <a:off x="350970" y="3361713"/>
            <a:ext cx="373963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defTabSz="342900">
              <a:buFont typeface="Arial" panose="020B0604020202020204" pitchFamily="34" charset="0"/>
              <a:buChar char="•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</a:rPr>
              <a:t>(6) - Asegurar la adecuada gestión de los procesos de facturación, cobranza y reconocimiento de ingresos (</a:t>
            </a:r>
            <a:r>
              <a:rPr lang="es-ES" sz="900" dirty="0" err="1">
                <a:solidFill>
                  <a:prstClr val="black"/>
                </a:solidFill>
                <a:ea typeface="ＭＳ Ｐゴシック"/>
              </a:rPr>
              <a:t>order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900" dirty="0" err="1">
                <a:solidFill>
                  <a:prstClr val="black"/>
                </a:solidFill>
                <a:ea typeface="ＭＳ Ｐゴシック"/>
              </a:rPr>
              <a:t>to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 cash), garantizando tiempos de cobro acorde a políticas.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2DB57AA-2BCA-14A8-A0D8-D751BF8262B8}"/>
              </a:ext>
            </a:extLst>
          </p:cNvPr>
          <p:cNvSpPr txBox="1"/>
          <p:nvPr/>
        </p:nvSpPr>
        <p:spPr>
          <a:xfrm>
            <a:off x="4160260" y="3361713"/>
            <a:ext cx="375548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 defTabSz="342900">
              <a:buFont typeface="Arial" panose="020B0604020202020204" pitchFamily="34" charset="0"/>
              <a:buChar char="•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</a:rPr>
              <a:t>(7) - Asegurar el correcto proceso de los cierres contables precisos y oportunos, conciliaciones y preparación de estados financieros conforme a normas (</a:t>
            </a:r>
            <a:r>
              <a:rPr lang="es-ES" sz="900" dirty="0" err="1">
                <a:solidFill>
                  <a:prstClr val="black"/>
                </a:solidFill>
                <a:ea typeface="ＭＳ Ｐゴシック"/>
              </a:rPr>
              <a:t>record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900" dirty="0" err="1">
                <a:solidFill>
                  <a:prstClr val="black"/>
                </a:solidFill>
                <a:ea typeface="ＭＳ Ｐゴシック"/>
              </a:rPr>
              <a:t>to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900" dirty="0" err="1">
                <a:solidFill>
                  <a:prstClr val="black"/>
                </a:solidFill>
                <a:ea typeface="ＭＳ Ｐゴシック"/>
              </a:rPr>
              <a:t>report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052A-83E6-9A2C-FA1F-5886CFFB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31301ACC-6F54-BDEA-327D-76581CFB13B8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Finanzas OXXO MX </a:t>
            </a:r>
            <a:r>
              <a:rPr lang="es-MX" sz="1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Vega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A94372E-BBE8-75D4-1E6B-B7580AC27FF6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3" action="ppaction://hlinksldjump"/>
            <a:extLst>
              <a:ext uri="{FF2B5EF4-FFF2-40B4-BE49-F238E27FC236}">
                <a16:creationId xmlns:a16="http://schemas.microsoft.com/office/drawing/2014/main" id="{CD462692-8497-518D-6B81-91FBF5501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F438F5D-4031-6919-F492-E78DC45C2827}"/>
              </a:ext>
            </a:extLst>
          </p:cNvPr>
          <p:cNvSpPr/>
          <p:nvPr/>
        </p:nvSpPr>
        <p:spPr>
          <a:xfrm>
            <a:off x="420624" y="3340936"/>
            <a:ext cx="11320272" cy="12735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66D510A2-14BC-64CD-3A03-FC994740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Finanzas – Centro de Servicios Financiero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3881B95-BA00-9FF2-E5FA-5B91CA15549F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Servicios Compartidos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Admvo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Deyanira Rodríguez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C89A08-9D24-5BC6-AEB2-1E089822701A}"/>
              </a:ext>
            </a:extLst>
          </p:cNvPr>
          <p:cNvSpPr/>
          <p:nvPr/>
        </p:nvSpPr>
        <p:spPr>
          <a:xfrm>
            <a:off x="8520369" y="2740711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Coordinador Información y Gestión CSF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Aguilera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DD10DD9-4532-289B-31A2-B3640278752B}"/>
              </a:ext>
            </a:extLst>
          </p:cNvPr>
          <p:cNvSpPr/>
          <p:nvPr/>
        </p:nvSpPr>
        <p:spPr>
          <a:xfrm>
            <a:off x="5249384" y="2727108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Gobierno Datos y Cond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José E. Almazán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477E1EE-0C07-B105-4F97-087FE9B266FB}"/>
              </a:ext>
            </a:extLst>
          </p:cNvPr>
          <p:cNvSpPr/>
          <p:nvPr/>
        </p:nvSpPr>
        <p:spPr>
          <a:xfrm>
            <a:off x="1678125" y="2727108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630">
              <a:defRPr/>
            </a:pPr>
            <a:r>
              <a:rPr lang="es-MX" sz="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Gerencia área </a:t>
            </a:r>
            <a:r>
              <a:rPr lang="es-MX" sz="8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</a:t>
            </a:r>
            <a:r>
              <a:rPr lang="es-MX" sz="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</a:t>
            </a:r>
            <a:r>
              <a:rPr lang="es-MX" sz="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Contable </a:t>
            </a:r>
            <a:r>
              <a:rPr lang="es-MX" sz="8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</a:t>
            </a:r>
            <a:endParaRPr lang="es-MX" sz="8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9630">
              <a:defRPr/>
            </a:pPr>
            <a:r>
              <a:rPr lang="es-MX" sz="8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Jesús Rodríguez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ACEDFC20-2BDD-964F-3507-5E9CDE415282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4248552" y="880277"/>
            <a:ext cx="122404" cy="357125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B334B3BE-410C-EA92-3D9B-8B34BB2F8FB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034181" y="2665905"/>
            <a:ext cx="122404" cy="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707D14A-88EA-99AF-E715-2365655B6540}"/>
              </a:ext>
            </a:extLst>
          </p:cNvPr>
          <p:cNvCxnSpPr>
            <a:cxnSpLocks/>
          </p:cNvCxnSpPr>
          <p:nvPr/>
        </p:nvCxnSpPr>
        <p:spPr>
          <a:xfrm>
            <a:off x="4185379" y="3333706"/>
            <a:ext cx="0" cy="1260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5E6B09D-6BE9-54BB-F882-59D05EB44E94}"/>
              </a:ext>
            </a:extLst>
          </p:cNvPr>
          <p:cNvCxnSpPr>
            <a:cxnSpLocks/>
          </p:cNvCxnSpPr>
          <p:nvPr/>
        </p:nvCxnSpPr>
        <p:spPr>
          <a:xfrm>
            <a:off x="7915750" y="3345527"/>
            <a:ext cx="0" cy="1260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EB93D76-8BDD-37A5-9FAC-789425C161DA}"/>
              </a:ext>
            </a:extLst>
          </p:cNvPr>
          <p:cNvCxnSpPr>
            <a:cxnSpLocks/>
          </p:cNvCxnSpPr>
          <p:nvPr/>
        </p:nvCxnSpPr>
        <p:spPr>
          <a:xfrm>
            <a:off x="6096000" y="2668711"/>
            <a:ext cx="3270369" cy="72000"/>
          </a:xfrm>
          <a:prstGeom prst="bentConnector2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802291C8-2C92-9B37-B96B-FFD2F30C80A3}"/>
              </a:ext>
            </a:extLst>
          </p:cNvPr>
          <p:cNvSpPr/>
          <p:nvPr/>
        </p:nvSpPr>
        <p:spPr>
          <a:xfrm>
            <a:off x="420624" y="5378952"/>
            <a:ext cx="11320269" cy="1243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900" b="1" dirty="0">
                <a:solidFill>
                  <a:schemeClr val="tx1"/>
                </a:solidFill>
              </a:rPr>
              <a:t>TRANSVERSAL: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(3) - Liderar y gestionar a la operación de los servicios centrales contemplando los requerimientos establecidos en procesos y acuerdos de servicios , asegurándose que sean resueltos según lo pactado con los clientes internos en el corto plazo , conectando con la evolución de mediano y largo plazo.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(11) - Asegurar la incorporación (</a:t>
            </a:r>
            <a:r>
              <a:rPr lang="es-MX" sz="900" dirty="0" err="1">
                <a:solidFill>
                  <a:schemeClr val="tx1"/>
                </a:solidFill>
              </a:rPr>
              <a:t>on</a:t>
            </a:r>
            <a:r>
              <a:rPr lang="es-MX" sz="900" dirty="0">
                <a:solidFill>
                  <a:schemeClr val="tx1"/>
                </a:solidFill>
              </a:rPr>
              <a:t> </a:t>
            </a:r>
            <a:r>
              <a:rPr lang="es-MX" sz="900" dirty="0" err="1">
                <a:solidFill>
                  <a:schemeClr val="tx1"/>
                </a:solidFill>
              </a:rPr>
              <a:t>boarding</a:t>
            </a:r>
            <a:r>
              <a:rPr lang="es-MX" sz="900" dirty="0">
                <a:solidFill>
                  <a:schemeClr val="tx1"/>
                </a:solidFill>
              </a:rPr>
              <a:t>)  de más servicios de soporte  central que pudieran ser parte del modelo basados en casos de negocio y proyectos viables.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(12) - Asegurar el cumplimiento, materialización de la mejora continua  y en su caso de la transformación de los procesos,  tecnologías y niveles de servicio acordados con el cliente interno en alineación  con los responsables de procesos y transformación de las unidades de negocio.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9A9D97-195B-4137-72FD-C9867CBAA420}"/>
              </a:ext>
            </a:extLst>
          </p:cNvPr>
          <p:cNvSpPr txBox="1"/>
          <p:nvPr/>
        </p:nvSpPr>
        <p:spPr>
          <a:xfrm>
            <a:off x="420623" y="3340936"/>
            <a:ext cx="37647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s-MX" sz="900" dirty="0"/>
              <a:t>(4) - Supervisar y asegurar la contabilidad, tesorería, cuentas por pagar/cobrar y reporteo. </a:t>
            </a:r>
            <a:r>
              <a:rPr lang="es-MX" sz="900" dirty="0">
                <a:sym typeface="Wingdings" panose="05000000000000000000" pitchFamily="2" charset="2"/>
              </a:rPr>
              <a:t> CEDIS</a:t>
            </a:r>
            <a:endParaRPr lang="es-MX" sz="900" dirty="0"/>
          </a:p>
          <a:p>
            <a:pPr algn="l"/>
            <a:endParaRPr lang="es-MX" sz="9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3885B8-B869-7B4E-ABCF-E3597AE5EE7E}"/>
              </a:ext>
            </a:extLst>
          </p:cNvPr>
          <p:cNvSpPr txBox="1"/>
          <p:nvPr/>
        </p:nvSpPr>
        <p:spPr>
          <a:xfrm>
            <a:off x="4164229" y="3368982"/>
            <a:ext cx="3751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(9) - Facilitar el relacionamiento e integración entre las unidades operativas de servicios centrales y con los clientes internos mediante la identificación de las necesidades estratégicas del negocio y los usuarios en diseñado y ejecutando rituales de gestión.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B7907D9-8999-1632-E76E-32E3F3828D7A}"/>
              </a:ext>
            </a:extLst>
          </p:cNvPr>
          <p:cNvSpPr txBox="1"/>
          <p:nvPr/>
        </p:nvSpPr>
        <p:spPr>
          <a:xfrm>
            <a:off x="7950133" y="3410799"/>
            <a:ext cx="3695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(10) - Asegurar el diseño y operación del Modelo de Gestión y Rendición de cuentas sobre la inversión del presupuesto de los servicios centrales y su generación de valor a los negocios , definir estrategias de mejora integral continua en los portafolios de servicios ( back office, </a:t>
            </a:r>
            <a:r>
              <a:rPr lang="es-MX" sz="900" dirty="0" err="1">
                <a:solidFill>
                  <a:schemeClr val="tx1"/>
                </a:solidFill>
              </a:rPr>
              <a:t>front</a:t>
            </a:r>
            <a:r>
              <a:rPr lang="es-MX" sz="900" dirty="0">
                <a:solidFill>
                  <a:schemeClr val="tx1"/>
                </a:solidFill>
              </a:rPr>
              <a:t> office , datos , analíticos , cumplimiento , control , etc.).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8C50CF2-FC44-4B8A-F6EF-AB1B9F48EA4E}"/>
              </a:ext>
            </a:extLst>
          </p:cNvPr>
          <p:cNvSpPr/>
          <p:nvPr/>
        </p:nvSpPr>
        <p:spPr>
          <a:xfrm>
            <a:off x="7153273" y="1208489"/>
            <a:ext cx="4867268" cy="136801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900" b="1" dirty="0">
              <a:solidFill>
                <a:schemeClr val="tx1"/>
              </a:solidFill>
            </a:endParaRPr>
          </a:p>
          <a:p>
            <a:r>
              <a:rPr lang="es-MX" sz="900" b="1" dirty="0">
                <a:solidFill>
                  <a:schemeClr val="tx1"/>
                </a:solidFill>
              </a:rPr>
              <a:t>GERENTE: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(1) - Definir y actualizar la  estrategia y proyectos de servicios centrales alineada a la estrategia del Negocio.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(2) - Definir los modelos de servicios centrales, su esquema de gestión y gobierno hacia los </a:t>
            </a:r>
            <a:r>
              <a:rPr lang="es-MX" sz="900" dirty="0" err="1">
                <a:solidFill>
                  <a:schemeClr val="tx1"/>
                </a:solidFill>
              </a:rPr>
              <a:t>Stakeholders</a:t>
            </a:r>
            <a:r>
              <a:rPr lang="es-MX" sz="900" dirty="0">
                <a:solidFill>
                  <a:schemeClr val="tx1"/>
                </a:solidFill>
              </a:rPr>
              <a:t> , proveedores y clientes internos y externos.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(8) - Dar seguimiento y ser responsable del desempeño de las estructuras que operan los Servicios Centrales con el fin de gestionar los recursos internos y externos , planes estratégicos y tácticos  para  habilitar mejoras considerando propuestas de los ejecutores y clientes  de los procesos.</a:t>
            </a:r>
            <a:endParaRPr lang="es-MX" sz="900" b="1" dirty="0">
              <a:solidFill>
                <a:schemeClr val="tx1"/>
              </a:solidFill>
            </a:endParaRPr>
          </a:p>
          <a:p>
            <a:endParaRPr lang="es-MX" sz="900" b="1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3120EE3-B629-46FD-50C1-7095C1FDD7FC}"/>
              </a:ext>
            </a:extLst>
          </p:cNvPr>
          <p:cNvSpPr txBox="1"/>
          <p:nvPr/>
        </p:nvSpPr>
        <p:spPr>
          <a:xfrm>
            <a:off x="754145" y="3872464"/>
            <a:ext cx="26159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Centralizado a operaciones de regiones, control, </a:t>
            </a:r>
            <a:r>
              <a:rPr lang="es-MX" sz="1050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cont</a:t>
            </a:r>
            <a:r>
              <a:rPr lang="es-MX" sz="105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y AF </a:t>
            </a:r>
            <a:r>
              <a:rPr lang="es-MX" sz="105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REGIONES</a:t>
            </a:r>
            <a:endParaRPr lang="es-MX" sz="105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6780906-4D08-6DB7-EC49-1DAF8D37626B}"/>
              </a:ext>
            </a:extLst>
          </p:cNvPr>
          <p:cNvSpPr txBox="1"/>
          <p:nvPr/>
        </p:nvSpPr>
        <p:spPr>
          <a:xfrm>
            <a:off x="4486939" y="4182140"/>
            <a:ext cx="33340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*Esta posición antes dependía de un </a:t>
            </a:r>
            <a:r>
              <a:rPr lang="es-MX" sz="1050" dirty="0" err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gte</a:t>
            </a:r>
            <a:r>
              <a:rPr lang="es-MX" sz="105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del equipo,  ¿pudiera migrar a P2P?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3D1E9ED-33F2-6E18-857B-995DC79218E6}"/>
              </a:ext>
            </a:extLst>
          </p:cNvPr>
          <p:cNvSpPr/>
          <p:nvPr/>
        </p:nvSpPr>
        <p:spPr>
          <a:xfrm>
            <a:off x="2289543" y="4968949"/>
            <a:ext cx="4451499" cy="3473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Como nos aseguramos que cumplan la función de CSF, actual van con los directores, ejemplo con Greg, pedro Nieto, etc. A sus tops, debería ser el BP.</a:t>
            </a:r>
          </a:p>
        </p:txBody>
      </p:sp>
    </p:spTree>
    <p:extLst>
      <p:ext uri="{BB962C8B-B14F-4D97-AF65-F5344CB8AC3E}">
        <p14:creationId xmlns:p14="http://schemas.microsoft.com/office/powerpoint/2010/main" val="975460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02309" y="1295500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Finanzas – Centro de Servicios Financiero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116920" y="5762366"/>
            <a:ext cx="11995501" cy="101072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Entregables: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27675" y="2195215"/>
            <a:ext cx="1919998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45581" y="3045633"/>
            <a:ext cx="184561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107319" y="2795439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096712" y="279543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1899599" y="3045281"/>
            <a:ext cx="1024433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2411930" y="3140417"/>
            <a:ext cx="352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45581" y="3577536"/>
            <a:ext cx="184561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1899599" y="3577184"/>
            <a:ext cx="1024433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2411930" y="3672320"/>
            <a:ext cx="352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45581" y="4109087"/>
            <a:ext cx="184561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1899599" y="4108735"/>
            <a:ext cx="1024433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2411930" y="4203871"/>
            <a:ext cx="352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45581" y="4657823"/>
            <a:ext cx="184561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1899599" y="4657471"/>
            <a:ext cx="1024433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2411930" y="4752607"/>
            <a:ext cx="352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45581" y="5225056"/>
            <a:ext cx="184561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1899599" y="5224704"/>
            <a:ext cx="1024433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2411930" y="5319840"/>
            <a:ext cx="352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7806357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6336289" y="2195215"/>
            <a:ext cx="147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Rogelio Lozano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81B558-E5CB-5883-53C6-64D6AE0ECAB1}"/>
              </a:ext>
            </a:extLst>
          </p:cNvPr>
          <p:cNvSpPr/>
          <p:nvPr/>
        </p:nvSpPr>
        <p:spPr>
          <a:xfrm>
            <a:off x="7786720" y="2195215"/>
            <a:ext cx="147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630">
              <a:defRPr/>
            </a:pPr>
            <a:r>
              <a:rPr lang="es-MX" sz="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Gerencia área </a:t>
            </a:r>
            <a:r>
              <a:rPr lang="es-MX" sz="8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</a:t>
            </a:r>
            <a:r>
              <a:rPr lang="es-MX" sz="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</a:t>
            </a:r>
            <a:r>
              <a:rPr lang="es-MX" sz="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Contable </a:t>
            </a:r>
            <a:r>
              <a:rPr lang="es-MX" sz="8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</a:t>
            </a:r>
            <a:endParaRPr lang="es-MX" sz="8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9630">
              <a:defRPr/>
            </a:pPr>
            <a:r>
              <a:rPr lang="es-MX" sz="8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Jesús Rodríguez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4865339" y="2195215"/>
            <a:ext cx="1476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Juan C. Luna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9EA707-9460-C8EC-3ECD-C3DC35E7B74E}"/>
              </a:ext>
            </a:extLst>
          </p:cNvPr>
          <p:cNvSpPr/>
          <p:nvPr/>
        </p:nvSpPr>
        <p:spPr>
          <a:xfrm>
            <a:off x="9190770" y="2195215"/>
            <a:ext cx="147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Gobierno Datos y Cond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José E. Almazán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3392080" y="2195215"/>
            <a:ext cx="147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Cash 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Javier Ríos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1920325" y="2195215"/>
            <a:ext cx="147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Servicios Compartidos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Admvo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Deyanira Rodríguez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9230707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67104B3-C821-D667-4CBD-8B21FA9AF152}"/>
              </a:ext>
            </a:extLst>
          </p:cNvPr>
          <p:cNvCxnSpPr>
            <a:cxnSpLocks/>
          </p:cNvCxnSpPr>
          <p:nvPr/>
        </p:nvCxnSpPr>
        <p:spPr>
          <a:xfrm>
            <a:off x="10684994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24925C4-602D-AB3B-B22D-780F9C87937E}"/>
              </a:ext>
            </a:extLst>
          </p:cNvPr>
          <p:cNvCxnSpPr>
            <a:cxnSpLocks/>
          </p:cNvCxnSpPr>
          <p:nvPr/>
        </p:nvCxnSpPr>
        <p:spPr>
          <a:xfrm>
            <a:off x="6344810" y="3051744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4865478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3421200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F403C7DA-B0A4-FACB-91F3-DFF3CA49AEAC}"/>
              </a:ext>
            </a:extLst>
          </p:cNvPr>
          <p:cNvSpPr/>
          <p:nvPr/>
        </p:nvSpPr>
        <p:spPr>
          <a:xfrm>
            <a:off x="10667929" y="2195215"/>
            <a:ext cx="147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Coordinador Información y Gestión CSF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Aguilera</a:t>
            </a: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7ff1139c-9d19-4981-a26c-d6e7dc37fc8a"/>
  </ds:schemaRefs>
</ds:datastoreItem>
</file>

<file path=customXml/itemProps3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3047</Words>
  <Application>Microsoft Office PowerPoint</Application>
  <PresentationFormat>Panorámica</PresentationFormat>
  <Paragraphs>351</Paragraphs>
  <Slides>15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7" baseType="lpstr">
      <vt:lpstr>MS PGothic</vt:lpstr>
      <vt:lpstr>Aptos</vt:lpstr>
      <vt:lpstr>Aptos Display</vt:lpstr>
      <vt:lpstr>Arial</vt:lpstr>
      <vt:lpstr>Calibri</vt:lpstr>
      <vt:lpstr>Lucida Grande</vt:lpstr>
      <vt:lpstr>Open Sans</vt:lpstr>
      <vt:lpstr>Symbol</vt:lpstr>
      <vt:lpstr>Times New Roman</vt:lpstr>
      <vt:lpstr>Wingdings</vt:lpstr>
      <vt:lpstr>Tema de Office</vt:lpstr>
      <vt:lpstr>Master</vt:lpstr>
      <vt:lpstr>Fit for Purpose 2026 Gerente Sr. Servicios Compartidos Administrativo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Presentación de PowerPoint</vt:lpstr>
      <vt:lpstr>Principales contribuciones del área Finanzas – Centro de Servicios Financiero</vt:lpstr>
      <vt:lpstr>Principales contribuciones del área Finanzas – Centro de Servicios Financiero</vt:lpstr>
      <vt:lpstr>Interacciones entre áreas y procesos clave Finanzas – Centro de Servicios Financiero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3</cp:revision>
  <dcterms:created xsi:type="dcterms:W3CDTF">2026-02-23T22:40:37Z</dcterms:created>
  <dcterms:modified xsi:type="dcterms:W3CDTF">2026-03-31T23:08:07Z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