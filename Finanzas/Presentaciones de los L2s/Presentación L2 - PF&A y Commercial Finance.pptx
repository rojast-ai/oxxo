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notesSlides/notesSlide4.xml" ContentType="application/vnd.openxmlformats-officedocument.presentationml.notesSlide+xml"/>
  <Override PartName="/ppt/tags/tag73.xml" ContentType="application/vnd.openxmlformats-officedocument.presentationml.tags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70.xml" ContentType="application/vnd.openxmlformats-officedocument.presentationml.slide+xml"/>
  <Override PartName="/ppt/slides/slide90.xml" ContentType="application/vnd.openxmlformats-officedocument.presentationml.slide+xml"/>
  <Override PartName="/ppt/slides/slide60.xml" ContentType="application/vnd.openxmlformats-officedocument.presentationml.slide+xml"/>
  <Override PartName="/ppt/slides/slide100.xml" ContentType="application/vnd.openxmlformats-officedocument.presentationml.slide+xml"/>
  <Override PartName="/ppt/notesSlides/notesSlide10.xml" ContentType="application/vnd.openxmlformats-officedocument.presentationml.notesSlide+xml"/>
  <Override PartName="/ppt/slideLayouts/slideLayout170.xml" ContentType="application/vnd.openxmlformats-officedocument.presentationml.slideLayout+xml"/>
  <Override PartName="/ppt/theme/themeOverride40.xml" ContentType="application/vnd.openxmlformats-officedocument.themeOverride+xml"/>
  <Override PartName="/ppt/notesSlides/notesSlide30.xml" ContentType="application/vnd.openxmlformats-officedocument.presentationml.notesSlide+xml"/>
  <Override PartName="/ppt/slideLayouts/slideLayout140.xml" ContentType="application/vnd.openxmlformats-officedocument.presentationml.slideLayout+xml"/>
  <Override PartName="/ppt/theme/themeOverride60.xml" ContentType="application/vnd.openxmlformats-officedocument.themeOverride+xml"/>
  <Override PartName="/ppt/slides/slide20.xml" ContentType="application/vnd.openxmlformats-officedocument.presentationml.slide+xml"/>
  <Override PartName="/ppt/theme/themeOverride30.xml" ContentType="application/vnd.openxmlformats-officedocument.themeOverride+xml"/>
  <Override PartName="/ppt/theme/themeOverride70.xml" ContentType="application/vnd.openxmlformats-officedocument.themeOverride+xml"/>
  <Override PartName="/ppt/notesMasters/notesMaster10.xml" ContentType="application/vnd.openxmlformats-officedocument.presentationml.notesMaster+xml"/>
  <Override PartName="/ppt/slideMasters/slideMaster20.xml" ContentType="application/vnd.openxmlformats-officedocument.presentationml.slideMaster+xml"/>
  <Override PartName="/ppt/theme/theme30.xml" ContentType="application/vnd.openxmlformats-officedocument.theme+xml"/>
  <Override PartName="/ppt/slideLayouts/slideLayout150.xml" ContentType="application/vnd.openxmlformats-officedocument.presentationml.slideLayout+xml"/>
  <Override PartName="/ppt/slideLayouts/slideLayout130.xml" ContentType="application/vnd.openxmlformats-officedocument.presentationml.slideLayout+xml"/>
  <Override PartName="/ppt/theme/theme20.xml" ContentType="application/vnd.openxmlformats-officedocument.theme+xml"/>
  <Override PartName="/ppt/slideLayouts/slideLayout16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19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48" r:id="rId12"/>
    <p:sldId id="270" r:id="rId13"/>
    <p:sldId id="258" r:id="rId14"/>
    <p:sldId id="2147482945" r:id="rId15"/>
    <p:sldId id="2147482949" r:id="rId16"/>
    <p:sldId id="2147482954" r:id="rId17"/>
    <p:sldId id="2147482951" r:id="rId18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48"/>
            <p14:sldId id="270"/>
          </p14:sldIdLst>
        </p14:section>
        <p14:section name="Principales contribuciones del área" id="{ECBA4FCF-4ABC-4772-872D-193AE93BB28B}">
          <p14:sldIdLst>
            <p14:sldId id="258"/>
          </p14:sldIdLst>
        </p14:section>
        <p14:section name="Interacciones entre áreas y procesos clave" id="{F0FBDAA2-C305-4C2B-AC49-21A67C461C91}">
          <p14:sldIdLst>
            <p14:sldId id="2147482945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54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B7711D-65B5-44FD-B692-29F9E2E94C1F}" v="5" dt="2026-03-30T15:26:21.5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17" autoAdjust="0"/>
    <p:restoredTop sz="94660"/>
  </p:normalViewPr>
  <p:slideViewPr>
    <p:cSldViewPr snapToGrid="0">
      <p:cViewPr varScale="1">
        <p:scale>
          <a:sx n="67" d="100"/>
          <a:sy n="67" d="100"/>
        </p:scale>
        <p:origin x="552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driguez Barcenas Beatriz Adriana" userId="9d0e2705-d1ec-45d6-a10d-58461a4a334f" providerId="ADAL" clId="{812CDC9A-941A-4B28-B06D-1FCB72D96FFB}"/>
    <pc:docChg chg="undo redo custSel addSld delSld modSld modSection">
      <pc:chgData name="Rodriguez Barcenas Beatriz Adriana" userId="9d0e2705-d1ec-45d6-a10d-58461a4a334f" providerId="ADAL" clId="{812CDC9A-941A-4B28-B06D-1FCB72D96FFB}" dt="2026-03-30T15:26:21.502" v="5634"/>
      <pc:docMkLst>
        <pc:docMk/>
      </pc:docMkLst>
      <pc:sldChg chg="addSp delSp modSp mod">
        <pc:chgData name="Rodriguez Barcenas Beatriz Adriana" userId="9d0e2705-d1ec-45d6-a10d-58461a4a334f" providerId="ADAL" clId="{812CDC9A-941A-4B28-B06D-1FCB72D96FFB}" dt="2026-03-30T15:23:51.636" v="5335" actId="20577"/>
        <pc:sldMkLst>
          <pc:docMk/>
          <pc:sldMk cId="456374482" sldId="258"/>
        </pc:sldMkLst>
        <pc:spChg chg="mod">
          <ac:chgData name="Rodriguez Barcenas Beatriz Adriana" userId="9d0e2705-d1ec-45d6-a10d-58461a4a334f" providerId="ADAL" clId="{812CDC9A-941A-4B28-B06D-1FCB72D96FFB}" dt="2026-03-30T15:20:38.423" v="5246" actId="1038"/>
          <ac:spMkLst>
            <pc:docMk/>
            <pc:sldMk cId="456374482" sldId="258"/>
            <ac:spMk id="2" creationId="{15943841-D0E0-2FDA-A509-DF366A3D331D}"/>
          </ac:spMkLst>
        </pc:spChg>
        <pc:spChg chg="mod">
          <ac:chgData name="Rodriguez Barcenas Beatriz Adriana" userId="9d0e2705-d1ec-45d6-a10d-58461a4a334f" providerId="ADAL" clId="{812CDC9A-941A-4B28-B06D-1FCB72D96FFB}" dt="2026-03-27T16:34:22.939" v="5117" actId="20577"/>
          <ac:spMkLst>
            <pc:docMk/>
            <pc:sldMk cId="456374482" sldId="258"/>
            <ac:spMk id="3" creationId="{202F7401-ED31-48E2-0F9A-CABF5C4E96BD}"/>
          </ac:spMkLst>
        </pc:spChg>
        <pc:spChg chg="mod">
          <ac:chgData name="Rodriguez Barcenas Beatriz Adriana" userId="9d0e2705-d1ec-45d6-a10d-58461a4a334f" providerId="ADAL" clId="{812CDC9A-941A-4B28-B06D-1FCB72D96FFB}" dt="2026-03-30T15:23:51.636" v="5335" actId="20577"/>
          <ac:spMkLst>
            <pc:docMk/>
            <pc:sldMk cId="456374482" sldId="258"/>
            <ac:spMk id="4" creationId="{F5AAEC53-D683-4F11-4911-0A1D330C51DB}"/>
          </ac:spMkLst>
        </pc:spChg>
        <pc:spChg chg="mod">
          <ac:chgData name="Rodriguez Barcenas Beatriz Adriana" userId="9d0e2705-d1ec-45d6-a10d-58461a4a334f" providerId="ADAL" clId="{812CDC9A-941A-4B28-B06D-1FCB72D96FFB}" dt="2026-03-30T15:14:22.333" v="5192" actId="20577"/>
          <ac:spMkLst>
            <pc:docMk/>
            <pc:sldMk cId="456374482" sldId="258"/>
            <ac:spMk id="5" creationId="{2A03BDC4-669B-0F96-65D6-08CFAF2AB1D3}"/>
          </ac:spMkLst>
        </pc:spChg>
        <pc:spChg chg="del mod">
          <ac:chgData name="Rodriguez Barcenas Beatriz Adriana" userId="9d0e2705-d1ec-45d6-a10d-58461a4a334f" providerId="ADAL" clId="{812CDC9A-941A-4B28-B06D-1FCB72D96FFB}" dt="2026-03-30T15:11:51.297" v="5170" actId="478"/>
          <ac:spMkLst>
            <pc:docMk/>
            <pc:sldMk cId="456374482" sldId="258"/>
            <ac:spMk id="6" creationId="{2C749DC5-650F-E603-E734-0BF332E932F8}"/>
          </ac:spMkLst>
        </pc:spChg>
        <pc:spChg chg="mod">
          <ac:chgData name="Rodriguez Barcenas Beatriz Adriana" userId="9d0e2705-d1ec-45d6-a10d-58461a4a334f" providerId="ADAL" clId="{812CDC9A-941A-4B28-B06D-1FCB72D96FFB}" dt="2026-03-30T15:14:14.597" v="5190" actId="20577"/>
          <ac:spMkLst>
            <pc:docMk/>
            <pc:sldMk cId="456374482" sldId="258"/>
            <ac:spMk id="7" creationId="{025BF223-6AFC-6967-F475-435C163332D5}"/>
          </ac:spMkLst>
        </pc:spChg>
        <pc:spChg chg="add del mod">
          <ac:chgData name="Rodriguez Barcenas Beatriz Adriana" userId="9d0e2705-d1ec-45d6-a10d-58461a4a334f" providerId="ADAL" clId="{812CDC9A-941A-4B28-B06D-1FCB72D96FFB}" dt="2026-03-30T15:11:51.297" v="5170" actId="478"/>
          <ac:spMkLst>
            <pc:docMk/>
            <pc:sldMk cId="456374482" sldId="258"/>
            <ac:spMk id="10" creationId="{6216628D-3519-65D0-0A2C-7D45C2451F50}"/>
          </ac:spMkLst>
        </pc:spChg>
        <pc:spChg chg="mod">
          <ac:chgData name="Rodriguez Barcenas Beatriz Adriana" userId="9d0e2705-d1ec-45d6-a10d-58461a4a334f" providerId="ADAL" clId="{812CDC9A-941A-4B28-B06D-1FCB72D96FFB}" dt="2026-03-30T15:14:16.897" v="5191" actId="20577"/>
          <ac:spMkLst>
            <pc:docMk/>
            <pc:sldMk cId="456374482" sldId="258"/>
            <ac:spMk id="12" creationId="{3B16A55E-E607-9EE6-ECFC-FACE45B08E2C}"/>
          </ac:spMkLst>
        </pc:spChg>
        <pc:spChg chg="add mod">
          <ac:chgData name="Rodriguez Barcenas Beatriz Adriana" userId="9d0e2705-d1ec-45d6-a10d-58461a4a334f" providerId="ADAL" clId="{812CDC9A-941A-4B28-B06D-1FCB72D96FFB}" dt="2026-03-27T16:34:56.168" v="5125" actId="20577"/>
          <ac:spMkLst>
            <pc:docMk/>
            <pc:sldMk cId="456374482" sldId="258"/>
            <ac:spMk id="21" creationId="{D0BB167D-2C7D-D430-1D45-DB6FE8827566}"/>
          </ac:spMkLst>
        </pc:spChg>
        <pc:spChg chg="add mod">
          <ac:chgData name="Rodriguez Barcenas Beatriz Adriana" userId="9d0e2705-d1ec-45d6-a10d-58461a4a334f" providerId="ADAL" clId="{812CDC9A-941A-4B28-B06D-1FCB72D96FFB}" dt="2026-03-30T15:21:36.022" v="5291" actId="1035"/>
          <ac:spMkLst>
            <pc:docMk/>
            <pc:sldMk cId="456374482" sldId="258"/>
            <ac:spMk id="22" creationId="{141EA30D-0A3D-C072-A5CB-947184CE0913}"/>
          </ac:spMkLst>
        </pc:spChg>
        <pc:spChg chg="add mod">
          <ac:chgData name="Rodriguez Barcenas Beatriz Adriana" userId="9d0e2705-d1ec-45d6-a10d-58461a4a334f" providerId="ADAL" clId="{812CDC9A-941A-4B28-B06D-1FCB72D96FFB}" dt="2026-03-30T15:21:27.662" v="5271" actId="255"/>
          <ac:spMkLst>
            <pc:docMk/>
            <pc:sldMk cId="456374482" sldId="258"/>
            <ac:spMk id="27" creationId="{9D3F16D6-7591-307F-3D5F-5D643549E204}"/>
          </ac:spMkLst>
        </pc:spChg>
        <pc:spChg chg="add mod">
          <ac:chgData name="Rodriguez Barcenas Beatriz Adriana" userId="9d0e2705-d1ec-45d6-a10d-58461a4a334f" providerId="ADAL" clId="{812CDC9A-941A-4B28-B06D-1FCB72D96FFB}" dt="2026-03-30T15:21:27.662" v="5271" actId="255"/>
          <ac:spMkLst>
            <pc:docMk/>
            <pc:sldMk cId="456374482" sldId="258"/>
            <ac:spMk id="30" creationId="{640F8B28-EE48-7E75-970E-1EE02E03C8E2}"/>
          </ac:spMkLst>
        </pc:spChg>
        <pc:spChg chg="mod">
          <ac:chgData name="Rodriguez Barcenas Beatriz Adriana" userId="9d0e2705-d1ec-45d6-a10d-58461a4a334f" providerId="ADAL" clId="{812CDC9A-941A-4B28-B06D-1FCB72D96FFB}" dt="2026-03-25T14:56:40.571" v="2763" actId="20577"/>
          <ac:spMkLst>
            <pc:docMk/>
            <pc:sldMk cId="456374482" sldId="258"/>
            <ac:spMk id="31" creationId="{6975D636-73BB-21EF-E5A3-82114D16F5CC}"/>
          </ac:spMkLst>
        </pc:spChg>
        <pc:spChg chg="mod">
          <ac:chgData name="Rodriguez Barcenas Beatriz Adriana" userId="9d0e2705-d1ec-45d6-a10d-58461a4a334f" providerId="ADAL" clId="{812CDC9A-941A-4B28-B06D-1FCB72D96FFB}" dt="2026-03-27T16:34:38.313" v="5120" actId="404"/>
          <ac:spMkLst>
            <pc:docMk/>
            <pc:sldMk cId="456374482" sldId="258"/>
            <ac:spMk id="261" creationId="{07283218-3E23-D281-2EC9-3CE8DA51E908}"/>
          </ac:spMkLst>
        </pc:spChg>
        <pc:cxnChg chg="add del mod">
          <ac:chgData name="Rodriguez Barcenas Beatriz Adriana" userId="9d0e2705-d1ec-45d6-a10d-58461a4a334f" providerId="ADAL" clId="{812CDC9A-941A-4B28-B06D-1FCB72D96FFB}" dt="2026-03-30T15:14:47.770" v="5202" actId="478"/>
          <ac:cxnSpMkLst>
            <pc:docMk/>
            <pc:sldMk cId="456374482" sldId="258"/>
            <ac:cxnSpMk id="8" creationId="{2163C286-3896-2252-A3A9-D622DE5C25D6}"/>
          </ac:cxnSpMkLst>
        </pc:cxnChg>
        <pc:cxnChg chg="add mod">
          <ac:chgData name="Rodriguez Barcenas Beatriz Adriana" userId="9d0e2705-d1ec-45d6-a10d-58461a4a334f" providerId="ADAL" clId="{812CDC9A-941A-4B28-B06D-1FCB72D96FFB}" dt="2026-03-30T15:20:48.152" v="5254" actId="1038"/>
          <ac:cxnSpMkLst>
            <pc:docMk/>
            <pc:sldMk cId="456374482" sldId="258"/>
            <ac:cxnSpMk id="9" creationId="{C3C25EFE-7262-0D97-AE9E-9B77CFBE09C3}"/>
          </ac:cxnSpMkLst>
        </pc:cxnChg>
        <pc:cxnChg chg="mod">
          <ac:chgData name="Rodriguez Barcenas Beatriz Adriana" userId="9d0e2705-d1ec-45d6-a10d-58461a4a334f" providerId="ADAL" clId="{812CDC9A-941A-4B28-B06D-1FCB72D96FFB}" dt="2026-03-30T15:12:31.442" v="5189" actId="1038"/>
          <ac:cxnSpMkLst>
            <pc:docMk/>
            <pc:sldMk cId="456374482" sldId="258"/>
            <ac:cxnSpMk id="13" creationId="{8CFBAECC-008D-7D9C-88C2-8918D83F8FBB}"/>
          </ac:cxnSpMkLst>
        </pc:cxnChg>
        <pc:cxnChg chg="mod">
          <ac:chgData name="Rodriguez Barcenas Beatriz Adriana" userId="9d0e2705-d1ec-45d6-a10d-58461a4a334f" providerId="ADAL" clId="{812CDC9A-941A-4B28-B06D-1FCB72D96FFB}" dt="2026-03-30T15:12:24.331" v="5177" actId="1037"/>
          <ac:cxnSpMkLst>
            <pc:docMk/>
            <pc:sldMk cId="456374482" sldId="258"/>
            <ac:cxnSpMk id="14" creationId="{D91F3CF3-2065-DF23-B486-AAD3472C6661}"/>
          </ac:cxnSpMkLst>
        </pc:cxnChg>
        <pc:cxnChg chg="mod">
          <ac:chgData name="Rodriguez Barcenas Beatriz Adriana" userId="9d0e2705-d1ec-45d6-a10d-58461a4a334f" providerId="ADAL" clId="{812CDC9A-941A-4B28-B06D-1FCB72D96FFB}" dt="2026-03-30T15:23:02.118" v="5293" actId="1076"/>
          <ac:cxnSpMkLst>
            <pc:docMk/>
            <pc:sldMk cId="456374482" sldId="258"/>
            <ac:cxnSpMk id="15" creationId="{5F75D40F-AC0E-E83F-BD30-5CCA2AD3B2FA}"/>
          </ac:cxnSpMkLst>
        </pc:cxnChg>
        <pc:cxnChg chg="del mod">
          <ac:chgData name="Rodriguez Barcenas Beatriz Adriana" userId="9d0e2705-d1ec-45d6-a10d-58461a4a334f" providerId="ADAL" clId="{812CDC9A-941A-4B28-B06D-1FCB72D96FFB}" dt="2026-03-30T15:11:53.988" v="5172" actId="478"/>
          <ac:cxnSpMkLst>
            <pc:docMk/>
            <pc:sldMk cId="456374482" sldId="258"/>
            <ac:cxnSpMk id="16" creationId="{EB6A592B-BC3E-8B5C-FA54-5FACD425AC2E}"/>
          </ac:cxnSpMkLst>
        </pc:cxnChg>
        <pc:cxnChg chg="add del mod">
          <ac:chgData name="Rodriguez Barcenas Beatriz Adriana" userId="9d0e2705-d1ec-45d6-a10d-58461a4a334f" providerId="ADAL" clId="{812CDC9A-941A-4B28-B06D-1FCB72D96FFB}" dt="2026-03-30T15:11:52.686" v="5171" actId="478"/>
          <ac:cxnSpMkLst>
            <pc:docMk/>
            <pc:sldMk cId="456374482" sldId="258"/>
            <ac:cxnSpMk id="18" creationId="{8B31DA96-0495-391A-DD4C-34A1B5A110AA}"/>
          </ac:cxnSpMkLst>
        </pc:cxnChg>
        <pc:cxnChg chg="add del mod">
          <ac:chgData name="Rodriguez Barcenas Beatriz Adriana" userId="9d0e2705-d1ec-45d6-a10d-58461a4a334f" providerId="ADAL" clId="{812CDC9A-941A-4B28-B06D-1FCB72D96FFB}" dt="2026-03-30T15:14:55.456" v="5204" actId="478"/>
          <ac:cxnSpMkLst>
            <pc:docMk/>
            <pc:sldMk cId="456374482" sldId="258"/>
            <ac:cxnSpMk id="25" creationId="{F0E10A76-221D-74C3-C1B0-CA04F3AF87DB}"/>
          </ac:cxnSpMkLst>
        </pc:cxnChg>
        <pc:cxnChg chg="add mod">
          <ac:chgData name="Rodriguez Barcenas Beatriz Adriana" userId="9d0e2705-d1ec-45d6-a10d-58461a4a334f" providerId="ADAL" clId="{812CDC9A-941A-4B28-B06D-1FCB72D96FFB}" dt="2026-03-30T15:15:00.706" v="5205" actId="1076"/>
          <ac:cxnSpMkLst>
            <pc:docMk/>
            <pc:sldMk cId="456374482" sldId="258"/>
            <ac:cxnSpMk id="26" creationId="{CBFC0193-FB30-404A-2465-29FDFBB056A7}"/>
          </ac:cxnSpMkLst>
        </pc:cxnChg>
      </pc:sldChg>
      <pc:sldChg chg="modSp mod">
        <pc:chgData name="Rodriguez Barcenas Beatriz Adriana" userId="9d0e2705-d1ec-45d6-a10d-58461a4a334f" providerId="ADAL" clId="{812CDC9A-941A-4B28-B06D-1FCB72D96FFB}" dt="2026-03-27T16:34:08.050" v="5088" actId="12"/>
        <pc:sldMkLst>
          <pc:docMk/>
          <pc:sldMk cId="1530523345" sldId="270"/>
        </pc:sldMkLst>
        <pc:spChg chg="mod">
          <ac:chgData name="Rodriguez Barcenas Beatriz Adriana" userId="9d0e2705-d1ec-45d6-a10d-58461a4a334f" providerId="ADAL" clId="{812CDC9A-941A-4B28-B06D-1FCB72D96FFB}" dt="2026-03-27T16:33:39.469" v="5083" actId="20577"/>
          <ac:spMkLst>
            <pc:docMk/>
            <pc:sldMk cId="1530523345" sldId="270"/>
            <ac:spMk id="11" creationId="{5079D1B5-39DA-A17E-E874-D9C06961D0EE}"/>
          </ac:spMkLst>
        </pc:spChg>
        <pc:spChg chg="mod">
          <ac:chgData name="Rodriguez Barcenas Beatriz Adriana" userId="9d0e2705-d1ec-45d6-a10d-58461a4a334f" providerId="ADAL" clId="{812CDC9A-941A-4B28-B06D-1FCB72D96FFB}" dt="2026-03-27T16:34:08.050" v="5088" actId="12"/>
          <ac:spMkLst>
            <pc:docMk/>
            <pc:sldMk cId="1530523345" sldId="270"/>
            <ac:spMk id="16" creationId="{CB728A93-DECE-EA2D-9025-C4B1BD67C1A8}"/>
          </ac:spMkLst>
        </pc:spChg>
        <pc:spChg chg="mod">
          <ac:chgData name="Rodriguez Barcenas Beatriz Adriana" userId="9d0e2705-d1ec-45d6-a10d-58461a4a334f" providerId="ADAL" clId="{812CDC9A-941A-4B28-B06D-1FCB72D96FFB}" dt="2026-03-27T16:34:04.837" v="5087" actId="12"/>
          <ac:spMkLst>
            <pc:docMk/>
            <pc:sldMk cId="1530523345" sldId="270"/>
            <ac:spMk id="18" creationId="{6037BFC9-94B9-A0A1-59DB-B234D6CD0E61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27T16:29:44.743" v="4989" actId="20577"/>
        <pc:sldMkLst>
          <pc:docMk/>
          <pc:sldMk cId="3748555724" sldId="2147482941"/>
        </pc:sldMkLst>
        <pc:spChg chg="mod">
          <ac:chgData name="Rodriguez Barcenas Beatriz Adriana" userId="9d0e2705-d1ec-45d6-a10d-58461a4a334f" providerId="ADAL" clId="{812CDC9A-941A-4B28-B06D-1FCB72D96FFB}" dt="2026-03-07T07:22:34.091" v="185" actId="20577"/>
          <ac:spMkLst>
            <pc:docMk/>
            <pc:sldMk cId="3748555724" sldId="2147482941"/>
            <ac:spMk id="2" creationId="{E9847210-94E5-A154-DA52-73E17453356B}"/>
          </ac:spMkLst>
        </pc:spChg>
        <pc:spChg chg="mod">
          <ac:chgData name="Rodriguez Barcenas Beatriz Adriana" userId="9d0e2705-d1ec-45d6-a10d-58461a4a334f" providerId="ADAL" clId="{812CDC9A-941A-4B28-B06D-1FCB72D96FFB}" dt="2026-03-27T16:29:44.743" v="4989" actId="20577"/>
          <ac:spMkLst>
            <pc:docMk/>
            <pc:sldMk cId="3748555724" sldId="2147482941"/>
            <ac:spMk id="4" creationId="{BCC94514-1502-7445-9201-7BD20CD9B125}"/>
          </ac:spMkLst>
        </pc:spChg>
      </pc:sldChg>
      <pc:sldChg chg="addSp delSp modSp mod">
        <pc:chgData name="Rodriguez Barcenas Beatriz Adriana" userId="9d0e2705-d1ec-45d6-a10d-58461a4a334f" providerId="ADAL" clId="{812CDC9A-941A-4B28-B06D-1FCB72D96FFB}" dt="2026-03-30T15:26:21.502" v="5634"/>
        <pc:sldMkLst>
          <pc:docMk/>
          <pc:sldMk cId="2944001035" sldId="2147482945"/>
        </pc:sldMkLst>
        <pc:spChg chg="add mod">
          <ac:chgData name="Rodriguez Barcenas Beatriz Adriana" userId="9d0e2705-d1ec-45d6-a10d-58461a4a334f" providerId="ADAL" clId="{812CDC9A-941A-4B28-B06D-1FCB72D96FFB}" dt="2026-03-30T15:24:58.577" v="5451" actId="1037"/>
          <ac:spMkLst>
            <pc:docMk/>
            <pc:sldMk cId="2944001035" sldId="2147482945"/>
            <ac:spMk id="2" creationId="{26556BDD-D6EE-CB29-8EBE-F10B90AD91DC}"/>
          </ac:spMkLst>
        </pc:spChg>
        <pc:spChg chg="mod">
          <ac:chgData name="Rodriguez Barcenas Beatriz Adriana" userId="9d0e2705-d1ec-45d6-a10d-58461a4a334f" providerId="ADAL" clId="{812CDC9A-941A-4B28-B06D-1FCB72D96FFB}" dt="2026-03-10T02:36:09.645" v="2452" actId="1076"/>
          <ac:spMkLst>
            <pc:docMk/>
            <pc:sldMk cId="2944001035" sldId="2147482945"/>
            <ac:spMk id="3" creationId="{8B80DD89-91A3-35BF-46F8-436A28D7C493}"/>
          </ac:spMkLst>
        </pc:spChg>
        <pc:spChg chg="add del mod">
          <ac:chgData name="Rodriguez Barcenas Beatriz Adriana" userId="9d0e2705-d1ec-45d6-a10d-58461a4a334f" providerId="ADAL" clId="{812CDC9A-941A-4B28-B06D-1FCB72D96FFB}" dt="2026-03-30T15:23:19.407" v="5294" actId="478"/>
          <ac:spMkLst>
            <pc:docMk/>
            <pc:sldMk cId="2944001035" sldId="2147482945"/>
            <ac:spMk id="4" creationId="{EC81B558-E5CB-5883-53C6-64D6AE0ECAB1}"/>
          </ac:spMkLst>
        </pc:spChg>
        <pc:spChg chg="add mod">
          <ac:chgData name="Rodriguez Barcenas Beatriz Adriana" userId="9d0e2705-d1ec-45d6-a10d-58461a4a334f" providerId="ADAL" clId="{812CDC9A-941A-4B28-B06D-1FCB72D96FFB}" dt="2026-03-30T15:24:55.720" v="5449" actId="1037"/>
          <ac:spMkLst>
            <pc:docMk/>
            <pc:sldMk cId="2944001035" sldId="2147482945"/>
            <ac:spMk id="5" creationId="{5DF529FD-B6C4-4983-2BBD-7082564AB2A8}"/>
          </ac:spMkLst>
        </pc:spChg>
        <pc:spChg chg="add del mod">
          <ac:chgData name="Rodriguez Barcenas Beatriz Adriana" userId="9d0e2705-d1ec-45d6-a10d-58461a4a334f" providerId="ADAL" clId="{812CDC9A-941A-4B28-B06D-1FCB72D96FFB}" dt="2026-03-30T15:23:19.407" v="5294" actId="478"/>
          <ac:spMkLst>
            <pc:docMk/>
            <pc:sldMk cId="2944001035" sldId="2147482945"/>
            <ac:spMk id="6" creationId="{449EA707-9460-C8EC-3ECD-C3DC35E7B74E}"/>
          </ac:spMkLst>
        </pc:spChg>
        <pc:spChg chg="add 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7" creationId="{A89D09B8-BE7A-4A45-EB27-1DE318E563FB}"/>
          </ac:spMkLst>
        </pc:spChg>
        <pc:spChg chg="mod">
          <ac:chgData name="Rodriguez Barcenas Beatriz Adriana" userId="9d0e2705-d1ec-45d6-a10d-58461a4a334f" providerId="ADAL" clId="{812CDC9A-941A-4B28-B06D-1FCB72D96FFB}" dt="2026-03-30T15:26:21.502" v="5634"/>
          <ac:spMkLst>
            <pc:docMk/>
            <pc:sldMk cId="2944001035" sldId="2147482945"/>
            <ac:spMk id="8" creationId="{35769B02-838B-10EC-DB8D-8A4ED180CC34}"/>
          </ac:spMkLst>
        </pc:spChg>
        <pc:spChg chg="add mod">
          <ac:chgData name="Rodriguez Barcenas Beatriz Adriana" userId="9d0e2705-d1ec-45d6-a10d-58461a4a334f" providerId="ADAL" clId="{812CDC9A-941A-4B28-B06D-1FCB72D96FFB}" dt="2026-03-30T15:24:30.428" v="5340" actId="14100"/>
          <ac:spMkLst>
            <pc:docMk/>
            <pc:sldMk cId="2944001035" sldId="2147482945"/>
            <ac:spMk id="10" creationId="{D0EDDB1D-E6AF-D645-DD81-290902B1A103}"/>
          </ac:spMkLst>
        </pc:spChg>
        <pc:spChg chg="add 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57" creationId="{76B4E10F-C551-0C56-EA0C-EBB9F8115B10}"/>
          </ac:spMkLst>
        </pc:spChg>
        <pc:spChg chg="add 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58" creationId="{DFA23498-B8FF-3E9E-261E-E9A99B9530E1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59" creationId="{9C39A803-E9D0-AE97-C40E-B0BB62CEBBCF}"/>
          </ac:spMkLst>
        </pc:spChg>
        <pc:spChg chg="mod">
          <ac:chgData name="Rodriguez Barcenas Beatriz Adriana" userId="9d0e2705-d1ec-45d6-a10d-58461a4a334f" providerId="ADAL" clId="{812CDC9A-941A-4B28-B06D-1FCB72D96FFB}" dt="2026-03-09T10:29:49.684" v="1803" actId="1037"/>
          <ac:spMkLst>
            <pc:docMk/>
            <pc:sldMk cId="2944001035" sldId="2147482945"/>
            <ac:spMk id="60" creationId="{E1FE4831-9D8F-BE77-6CC0-72B0BC9C2214}"/>
          </ac:spMkLst>
        </pc:spChg>
        <pc:spChg chg="mod">
          <ac:chgData name="Rodriguez Barcenas Beatriz Adriana" userId="9d0e2705-d1ec-45d6-a10d-58461a4a334f" providerId="ADAL" clId="{812CDC9A-941A-4B28-B06D-1FCB72D96FFB}" dt="2026-03-30T15:26:05.974" v="5633" actId="1038"/>
          <ac:spMkLst>
            <pc:docMk/>
            <pc:sldMk cId="2944001035" sldId="2147482945"/>
            <ac:spMk id="61" creationId="{21345EEA-FE5F-8CFE-4E7B-6895E5872A9C}"/>
          </ac:spMkLst>
        </pc:spChg>
        <pc:spChg chg="mod">
          <ac:chgData name="Rodriguez Barcenas Beatriz Adriana" userId="9d0e2705-d1ec-45d6-a10d-58461a4a334f" providerId="ADAL" clId="{812CDC9A-941A-4B28-B06D-1FCB72D96FFB}" dt="2026-03-30T15:25:53.562" v="5586" actId="14100"/>
          <ac:spMkLst>
            <pc:docMk/>
            <pc:sldMk cId="2944001035" sldId="2147482945"/>
            <ac:spMk id="62" creationId="{FB3CB5BB-6E04-846F-FBBD-8CB6B62B48DC}"/>
          </ac:spMkLst>
        </pc:spChg>
        <pc:spChg chg="add 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63" creationId="{013C3E41-8533-A376-95B8-154ACECD76F9}"/>
          </ac:spMkLst>
        </pc:spChg>
        <pc:spChg chg="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64" creationId="{73C07C05-BCF8-B968-F9E9-B81F2BF448F6}"/>
          </ac:spMkLst>
        </pc:spChg>
        <pc:spChg chg="add mod">
          <ac:chgData name="Rodriguez Barcenas Beatriz Adriana" userId="9d0e2705-d1ec-45d6-a10d-58461a4a334f" providerId="ADAL" clId="{812CDC9A-941A-4B28-B06D-1FCB72D96FFB}" dt="2026-03-30T15:25:53.562" v="5586" actId="14100"/>
          <ac:spMkLst>
            <pc:docMk/>
            <pc:sldMk cId="2944001035" sldId="2147482945"/>
            <ac:spMk id="65" creationId="{8A80BF0C-3322-5528-84E9-60773F3CDC2B}"/>
          </ac:spMkLst>
        </pc:spChg>
        <pc:spChg chg="mod">
          <ac:chgData name="Rodriguez Barcenas Beatriz Adriana" userId="9d0e2705-d1ec-45d6-a10d-58461a4a334f" providerId="ADAL" clId="{812CDC9A-941A-4B28-B06D-1FCB72D96FFB}" dt="2026-03-25T20:36:22.980" v="3903" actId="1038"/>
          <ac:spMkLst>
            <pc:docMk/>
            <pc:sldMk cId="2944001035" sldId="2147482945"/>
            <ac:spMk id="66" creationId="{FD8C14BA-4A46-CBDD-C6A5-222F54DCB334}"/>
          </ac:spMkLst>
        </pc:spChg>
        <pc:spChg chg="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67" creationId="{531F763A-86B3-AD2A-94E9-E9EE7C55B0F5}"/>
          </ac:spMkLst>
        </pc:spChg>
        <pc:spChg chg="add mod">
          <ac:chgData name="Rodriguez Barcenas Beatriz Adriana" userId="9d0e2705-d1ec-45d6-a10d-58461a4a334f" providerId="ADAL" clId="{812CDC9A-941A-4B28-B06D-1FCB72D96FFB}" dt="2026-03-30T15:25:53.562" v="5586" actId="14100"/>
          <ac:spMkLst>
            <pc:docMk/>
            <pc:sldMk cId="2944001035" sldId="2147482945"/>
            <ac:spMk id="68" creationId="{5DD6C0FD-F1C7-E78F-B3C0-E7DF989CAD1A}"/>
          </ac:spMkLst>
        </pc:spChg>
        <pc:spChg chg="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69" creationId="{E1B1A847-EA35-9D0C-8206-010EE4D63B47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0" creationId="{AD4C895D-B746-275C-09BB-27F322E2835A}"/>
          </ac:spMkLst>
        </pc:spChg>
        <pc:spChg chg="add mod">
          <ac:chgData name="Rodriguez Barcenas Beatriz Adriana" userId="9d0e2705-d1ec-45d6-a10d-58461a4a334f" providerId="ADAL" clId="{812CDC9A-941A-4B28-B06D-1FCB72D96FFB}" dt="2026-03-30T15:25:53.562" v="5586" actId="14100"/>
          <ac:spMkLst>
            <pc:docMk/>
            <pc:sldMk cId="2944001035" sldId="2147482945"/>
            <ac:spMk id="71" creationId="{2DB2D4E6-953F-0472-E08E-0343B1EFD171}"/>
          </ac:spMkLst>
        </pc:spChg>
        <pc:spChg chg="add 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72" creationId="{5B4FDDA6-4FBE-7090-8C12-D2D765B5B191}"/>
          </ac:spMkLst>
        </pc:spChg>
        <pc:spChg chg="add mod">
          <ac:chgData name="Rodriguez Barcenas Beatriz Adriana" userId="9d0e2705-d1ec-45d6-a10d-58461a4a334f" providerId="ADAL" clId="{812CDC9A-941A-4B28-B06D-1FCB72D96FFB}" dt="2026-03-25T20:36:28.587" v="3904" actId="14100"/>
          <ac:spMkLst>
            <pc:docMk/>
            <pc:sldMk cId="2944001035" sldId="2147482945"/>
            <ac:spMk id="73" creationId="{BE28F30B-A771-32DF-29C1-3158D124F8B5}"/>
          </ac:spMkLst>
        </pc:spChg>
        <pc:spChg chg="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74" creationId="{0E4F1F5C-4815-C42D-4A51-1460F838CEC5}"/>
          </ac:spMkLst>
        </pc:spChg>
        <pc:spChg chg="add mod">
          <ac:chgData name="Rodriguez Barcenas Beatriz Adriana" userId="9d0e2705-d1ec-45d6-a10d-58461a4a334f" providerId="ADAL" clId="{812CDC9A-941A-4B28-B06D-1FCB72D96FFB}" dt="2026-03-30T15:25:59.135" v="5609" actId="1037"/>
          <ac:spMkLst>
            <pc:docMk/>
            <pc:sldMk cId="2944001035" sldId="2147482945"/>
            <ac:spMk id="75" creationId="{44E95411-248D-7909-92EC-4A8FCAAE692D}"/>
          </ac:spMkLst>
        </pc:spChg>
        <pc:cxnChg chg="add mod">
          <ac:chgData name="Rodriguez Barcenas Beatriz Adriana" userId="9d0e2705-d1ec-45d6-a10d-58461a4a334f" providerId="ADAL" clId="{812CDC9A-941A-4B28-B06D-1FCB72D96FFB}" dt="2026-03-30T15:25:40.632" v="5584" actId="1037"/>
          <ac:cxnSpMkLst>
            <pc:docMk/>
            <pc:sldMk cId="2944001035" sldId="2147482945"/>
            <ac:cxnSpMk id="11" creationId="{60651784-56FD-8241-617B-6E76C22FB8D1}"/>
          </ac:cxnSpMkLst>
        </pc:cxnChg>
        <pc:cxnChg chg="add del mod">
          <ac:chgData name="Rodriguez Barcenas Beatriz Adriana" userId="9d0e2705-d1ec-45d6-a10d-58461a4a334f" providerId="ADAL" clId="{812CDC9A-941A-4B28-B06D-1FCB72D96FFB}" dt="2026-03-30T15:25:42.653" v="5585" actId="478"/>
          <ac:cxnSpMkLst>
            <pc:docMk/>
            <pc:sldMk cId="2944001035" sldId="2147482945"/>
            <ac:cxnSpMk id="12" creationId="{567104B3-C821-D667-4CBD-8B21FA9AF152}"/>
          </ac:cxnSpMkLst>
        </pc:cxnChg>
        <pc:cxnChg chg="add del mod">
          <ac:chgData name="Rodriguez Barcenas Beatriz Adriana" userId="9d0e2705-d1ec-45d6-a10d-58461a4a334f" providerId="ADAL" clId="{812CDC9A-941A-4B28-B06D-1FCB72D96FFB}" dt="2026-03-30T15:25:30.453" v="5557" actId="478"/>
          <ac:cxnSpMkLst>
            <pc:docMk/>
            <pc:sldMk cId="2944001035" sldId="2147482945"/>
            <ac:cxnSpMk id="13" creationId="{524925C4-602D-AB3B-B22D-780F9C87937E}"/>
          </ac:cxnSpMkLst>
        </pc:cxnChg>
        <pc:cxnChg chg="add mod">
          <ac:chgData name="Rodriguez Barcenas Beatriz Adriana" userId="9d0e2705-d1ec-45d6-a10d-58461a4a334f" providerId="ADAL" clId="{812CDC9A-941A-4B28-B06D-1FCB72D96FFB}" dt="2026-03-30T15:25:26.939" v="5556" actId="1038"/>
          <ac:cxnSpMkLst>
            <pc:docMk/>
            <pc:sldMk cId="2944001035" sldId="2147482945"/>
            <ac:cxnSpMk id="14" creationId="{8654B92E-C880-E9EC-A05B-E8FCF772E3E0}"/>
          </ac:cxnSpMkLst>
        </pc:cxnChg>
        <pc:cxnChg chg="add mod">
          <ac:chgData name="Rodriguez Barcenas Beatriz Adriana" userId="9d0e2705-d1ec-45d6-a10d-58461a4a334f" providerId="ADAL" clId="{812CDC9A-941A-4B28-B06D-1FCB72D96FFB}" dt="2026-03-30T15:25:20.300" v="5521" actId="1038"/>
          <ac:cxnSpMkLst>
            <pc:docMk/>
            <pc:sldMk cId="2944001035" sldId="2147482945"/>
            <ac:cxnSpMk id="15" creationId="{AC041544-EA10-DD8E-B078-2C08451FBC39}"/>
          </ac:cxnSpMkLst>
        </pc:cxnChg>
        <pc:cxnChg chg="mod">
          <ac:chgData name="Rodriguez Barcenas Beatriz Adriana" userId="9d0e2705-d1ec-45d6-a10d-58461a4a334f" providerId="ADAL" clId="{812CDC9A-941A-4B28-B06D-1FCB72D96FFB}" dt="2026-03-30T15:25:35.960" v="5564" actId="1036"/>
          <ac:cxnSpMkLst>
            <pc:docMk/>
            <pc:sldMk cId="2944001035" sldId="2147482945"/>
            <ac:cxnSpMk id="77" creationId="{4402E3D7-DDAA-EC27-11C0-19F04A1739F3}"/>
          </ac:cxnSpMkLst>
        </pc:cxnChg>
      </pc:sldChg>
      <pc:sldChg chg="addSp delSp modSp mod">
        <pc:chgData name="Rodriguez Barcenas Beatriz Adriana" userId="9d0e2705-d1ec-45d6-a10d-58461a4a334f" providerId="ADAL" clId="{812CDC9A-941A-4B28-B06D-1FCB72D96FFB}" dt="2026-03-27T16:33:17.648" v="5081" actId="11"/>
        <pc:sldMkLst>
          <pc:docMk/>
          <pc:sldMk cId="679105534" sldId="2147482948"/>
        </pc:sldMkLst>
        <pc:spChg chg="mod">
          <ac:chgData name="Rodriguez Barcenas Beatriz Adriana" userId="9d0e2705-d1ec-45d6-a10d-58461a4a334f" providerId="ADAL" clId="{812CDC9A-941A-4B28-B06D-1FCB72D96FFB}" dt="2026-03-27T16:31:36.178" v="5014" actId="20577"/>
          <ac:spMkLst>
            <pc:docMk/>
            <pc:sldMk cId="679105534" sldId="2147482948"/>
            <ac:spMk id="46" creationId="{BF4FBAF8-EEF3-881A-D787-8647C59DBF10}"/>
          </ac:spMkLst>
        </pc:spChg>
        <pc:spChg chg="mod">
          <ac:chgData name="Rodriguez Barcenas Beatriz Adriana" userId="9d0e2705-d1ec-45d6-a10d-58461a4a334f" providerId="ADAL" clId="{812CDC9A-941A-4B28-B06D-1FCB72D96FFB}" dt="2026-03-27T16:33:17.648" v="5081" actId="11"/>
          <ac:spMkLst>
            <pc:docMk/>
            <pc:sldMk cId="679105534" sldId="2147482948"/>
            <ac:spMk id="54" creationId="{C7C6C5F9-CD84-5062-30F4-5D3F11BAFC67}"/>
          </ac:spMkLst>
        </pc:spChg>
        <pc:spChg chg="mod">
          <ac:chgData name="Rodriguez Barcenas Beatriz Adriana" userId="9d0e2705-d1ec-45d6-a10d-58461a4a334f" providerId="ADAL" clId="{812CDC9A-941A-4B28-B06D-1FCB72D96FFB}" dt="2026-03-27T16:31:48.406" v="5016" actId="20577"/>
          <ac:spMkLst>
            <pc:docMk/>
            <pc:sldMk cId="679105534" sldId="2147482948"/>
            <ac:spMk id="56" creationId="{10AE335B-E5D2-A6A7-EFF5-4DBB7DACAAF6}"/>
          </ac:spMkLst>
        </pc:spChg>
      </pc:sldChg>
      <pc:sldChg chg="modSp mod">
        <pc:chgData name="Rodriguez Barcenas Beatriz Adriana" userId="9d0e2705-d1ec-45d6-a10d-58461a4a334f" providerId="ADAL" clId="{812CDC9A-941A-4B28-B06D-1FCB72D96FFB}" dt="2026-03-07T07:38:30.973" v="690" actId="20577"/>
        <pc:sldMkLst>
          <pc:docMk/>
          <pc:sldMk cId="3429756509" sldId="2147482951"/>
        </pc:sldMkLst>
        <pc:spChg chg="mod">
          <ac:chgData name="Rodriguez Barcenas Beatriz Adriana" userId="9d0e2705-d1ec-45d6-a10d-58461a4a334f" providerId="ADAL" clId="{812CDC9A-941A-4B28-B06D-1FCB72D96FFB}" dt="2026-03-07T07:38:30.973" v="690" actId="20577"/>
          <ac:spMkLst>
            <pc:docMk/>
            <pc:sldMk cId="3429756509" sldId="2147482951"/>
            <ac:spMk id="2" creationId="{1D08F26C-A573-6591-62BD-A45EB58DF6F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_rels/notesMaster10.xml.rels><?xml version="1.0" encoding="UTF-8" standalone="yes"?>
<Relationships xmlns="http://schemas.openxmlformats.org/package/2006/relationships"><Relationship Id="rId1" Type="http://schemas.openxmlformats.org/officeDocument/2006/relationships/theme" Target="../theme/theme3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notesMaster10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0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E14BFF-2270-19EE-3B61-215B7A097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AE86689-0BF2-7A24-415B-8CDD4DAF46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3C6EEAE6-0969-2E6A-09A1-A9D575CF7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2B99489-2D43-16CF-4C5A-80ED26169C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29E531-8228-4869-972C-A1A5C4B76845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295310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EA3F73-B9DA-EB27-DB45-EA0D369E8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E6678497-9A1A-3833-6860-F6A9A7A452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D76D01B-4C85-41B7-98C1-E1175F838C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28DB27-8656-FFFA-5205-AD5C86DCC4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52760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0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1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0.xml"/></Relationships>
</file>

<file path=ppt/slideLayouts/_rels/slideLayout1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0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24/02/2026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637163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slideLayout" Target="../slideLayouts/slideLayout150.xml"/><Relationship Id="rId7" Type="http://schemas.openxmlformats.org/officeDocument/2006/relationships/image" Target="../media/image30.png"/><Relationship Id="rId2" Type="http://schemas.openxmlformats.org/officeDocument/2006/relationships/slideLayout" Target="../slideLayouts/slideLayout140.xml"/><Relationship Id="rId1" Type="http://schemas.openxmlformats.org/officeDocument/2006/relationships/slideLayout" Target="../slideLayouts/slideLayout130.xml"/><Relationship Id="rId6" Type="http://schemas.openxmlformats.org/officeDocument/2006/relationships/theme" Target="../theme/theme20.xml"/><Relationship Id="rId5" Type="http://schemas.openxmlformats.org/officeDocument/2006/relationships/slideLayout" Target="../slideLayouts/slideLayout170.xml"/><Relationship Id="rId4" Type="http://schemas.openxmlformats.org/officeDocument/2006/relationships/slideLayout" Target="../slideLayouts/slideLayout16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27/03/2026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‹Nº›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0.xml"/><Relationship Id="rId3" Type="http://schemas.openxmlformats.org/officeDocument/2006/relationships/image" Target="../media/image6.png"/><Relationship Id="rId7" Type="http://schemas.openxmlformats.org/officeDocument/2006/relationships/slide" Target="slide90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60.xml"/><Relationship Id="rId4" Type="http://schemas.openxmlformats.org/officeDocument/2006/relationships/slide" Target="slide70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hemeOverride" Target="../theme/themeOverr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1.png"/><Relationship Id="rId4" Type="http://schemas.openxmlformats.org/officeDocument/2006/relationships/slide" Target="slid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7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0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30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notesSlide" Target="../notesSlides/notesSlide10.xml"/><Relationship Id="rId7" Type="http://schemas.openxmlformats.org/officeDocument/2006/relationships/image" Target="../media/image13.png"/><Relationship Id="rId2" Type="http://schemas.openxmlformats.org/officeDocument/2006/relationships/slideLayout" Target="../slideLayouts/slideLayout170.xml"/><Relationship Id="rId1" Type="http://schemas.openxmlformats.org/officeDocument/2006/relationships/themeOverride" Target="../theme/themeOverride40.xml"/><Relationship Id="rId6" Type="http://schemas.openxmlformats.org/officeDocument/2006/relationships/image" Target="../media/image120.png"/><Relationship Id="rId5" Type="http://schemas.openxmlformats.org/officeDocument/2006/relationships/image" Target="../media/image110.png"/><Relationship Id="rId4" Type="http://schemas.openxmlformats.org/officeDocument/2006/relationships/image" Target="../media/image100.pn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0.xml"/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60.xml"/><Relationship Id="rId5" Type="http://schemas.openxmlformats.org/officeDocument/2006/relationships/image" Target="../media/image11.png"/><Relationship Id="rId4" Type="http://schemas.openxmlformats.org/officeDocument/2006/relationships/slide" Target="slide20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0.xml"/><Relationship Id="rId1" Type="http://schemas.openxmlformats.org/officeDocument/2006/relationships/themeOverride" Target="../theme/themeOverr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 err="1"/>
              <a:t>Fit</a:t>
            </a:r>
            <a:r>
              <a:rPr lang="es-ES_tradnl" dirty="0"/>
              <a:t> </a:t>
            </a:r>
            <a:r>
              <a:rPr lang="es-ES_tradnl" dirty="0" err="1"/>
              <a:t>for</a:t>
            </a:r>
            <a:r>
              <a:rPr lang="es-ES_tradnl" dirty="0"/>
              <a:t> </a:t>
            </a:r>
            <a:r>
              <a:rPr lang="es-ES_tradnl" dirty="0" err="1"/>
              <a:t>Purpose</a:t>
            </a:r>
            <a:r>
              <a:rPr lang="es-ES_tradnl" dirty="0"/>
              <a:t> 2026</a:t>
            </a:r>
            <a:br>
              <a:rPr lang="es-ES_tradnl" dirty="0"/>
            </a:br>
            <a:r>
              <a:rPr lang="es-ES_tradnl" b="1" dirty="0"/>
              <a:t>PF&amp;A y </a:t>
            </a:r>
            <a:r>
              <a:rPr lang="es-ES_tradnl" b="1" dirty="0" err="1"/>
              <a:t>Commercial</a:t>
            </a:r>
            <a:r>
              <a:rPr lang="es-ES_tradnl" b="1" dirty="0"/>
              <a:t> </a:t>
            </a:r>
            <a:r>
              <a:rPr lang="es-ES_tradnl" b="1" dirty="0" err="1"/>
              <a:t>Finance</a:t>
            </a:r>
            <a:br>
              <a:rPr lang="es-ES_tradnl" b="1" dirty="0"/>
            </a:br>
            <a:r>
              <a:rPr lang="es-ES_tradnl" sz="2400" b="0" i="1" dirty="0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F1AB196A-457C-18CD-BDE7-8779FF0235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7974216"/>
              </p:ext>
            </p:extLst>
          </p:nvPr>
        </p:nvGraphicFramePr>
        <p:xfrm>
          <a:off x="844325" y="1401763"/>
          <a:ext cx="7661275" cy="2770187"/>
        </p:xfrm>
        <a:graphic>
          <a:graphicData uri="http://schemas.openxmlformats.org/drawingml/2006/table">
            <a:tbl>
              <a:tblPr/>
              <a:tblGrid>
                <a:gridCol w="4662996">
                  <a:extLst>
                    <a:ext uri="{9D8B030D-6E8A-4147-A177-3AD203B41FA5}">
                      <a16:colId xmlns:a16="http://schemas.microsoft.com/office/drawing/2014/main" val="1534947559"/>
                    </a:ext>
                  </a:extLst>
                </a:gridCol>
                <a:gridCol w="2998279">
                  <a:extLst>
                    <a:ext uri="{9D8B030D-6E8A-4147-A177-3AD203B41FA5}">
                      <a16:colId xmlns:a16="http://schemas.microsoft.com/office/drawing/2014/main" val="2121972609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 algn="l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Tema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950"/>
                        </a:lnSpc>
                        <a:buNone/>
                      </a:pPr>
                      <a:r>
                        <a:rPr lang="en-US" sz="2000" b="1" i="0" cap="all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Tiempo (min)</a:t>
                      </a:r>
                      <a:r>
                        <a:rPr lang="en-US" sz="2000" b="1" i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1" i="0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8306504"/>
                  </a:ext>
                </a:extLst>
              </a:tr>
              <a:tr h="427037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Racional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Fit for Purpose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1748" cap="flat" cmpd="sng" algn="ctr">
                      <a:solidFill>
                        <a:srgbClr val="B79C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848875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Alcance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2026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7618535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Percepción inicial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11962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Descripción de puesto L2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9749334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Principales contribuciones del área</a:t>
                      </a:r>
                      <a:r>
                        <a:rPr lang="en-US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249114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s-MX" sz="1600" b="1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Interacciones entre áreas y procesos clave</a:t>
                      </a:r>
                      <a:r>
                        <a:rPr lang="es-MX" sz="1600" b="0" i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s-MX" sz="3200" b="0" i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575338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1" i="0" dirty="0" err="1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Siguientes</a:t>
                      </a:r>
                      <a:r>
                        <a:rPr lang="en-US" sz="1600" b="1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 pasos</a:t>
                      </a: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600" b="0" i="0" dirty="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5​</a:t>
                      </a:r>
                      <a:endParaRPr lang="en-US" sz="3200" b="0" i="0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1574822"/>
                  </a:ext>
                </a:extLst>
              </a:tr>
            </a:tbl>
          </a:graphicData>
        </a:graphic>
      </p:graphicFrame>
      <p:sp>
        <p:nvSpPr>
          <p:cNvPr id="5" name="Rectangle 1">
            <a:extLst>
              <a:ext uri="{FF2B5EF4-FFF2-40B4-BE49-F238E27FC236}">
                <a16:creationId xmlns:a16="http://schemas.microsoft.com/office/drawing/2014/main" id="{94B30EA4-F1E8-A786-6C44-E83C9FA760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8200" y="2401888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MX" sz="18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s-MX" altLang="es-MX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9B9115E4-7613-964D-34B0-2633AFF836C5}"/>
              </a:ext>
            </a:extLst>
          </p:cNvPr>
          <p:cNvSpPr/>
          <p:nvPr/>
        </p:nvSpPr>
        <p:spPr>
          <a:xfrm>
            <a:off x="844325" y="2875872"/>
            <a:ext cx="7661275" cy="952498"/>
          </a:xfrm>
          <a:prstGeom prst="rect">
            <a:avLst/>
          </a:prstGeom>
          <a:noFill/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3" name="Vista general de diapositiva 2"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972892949"/>
                  </p:ext>
                </p:extLst>
              </p:nvPr>
            </p:nvGraphicFramePr>
            <p:xfrm>
              <a:off x="4670020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8" cId="679105534">
                    <pslz:zmPr id="{2EF7A580-0944-4690-8358-5BC265EEABE3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3" name="Vista general de diapositiva 2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FAD28124-1A68-0DBE-3B0C-D189AAB7C94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670020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Vista general de diapositiva 7"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95931233"/>
                  </p:ext>
                </p:extLst>
              </p:nvPr>
            </p:nvGraphicFramePr>
            <p:xfrm>
              <a:off x="8283257" y="3911036"/>
              <a:ext cx="1974321" cy="1227807"/>
            </p:xfrm>
            <a:graphic>
              <a:graphicData uri="http://schemas.microsoft.com/office/powerpoint/2016/slidezoom">
                <pslz:sldZm>
                  <pslz:sldZmObj sldId="258" cId="456374482">
                    <pslz:zmPr id="{777291E2-0FE2-4704-8BA7-655626E98D5B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1" cy="1227807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Vista general de diapositiva 7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14ED546A-B7CE-8140-623E-18969345E88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83257" y="3911036"/>
                <a:ext cx="1974321" cy="1227807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7" name="Vista general de diapositiva 6"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4229025"/>
                  </p:ext>
                </p:extLst>
              </p:nvPr>
            </p:nvGraphicFramePr>
            <p:xfrm>
              <a:off x="9426820" y="4565208"/>
              <a:ext cx="1974320" cy="1110555"/>
            </p:xfrm>
            <a:graphic>
              <a:graphicData uri="http://schemas.microsoft.com/office/powerpoint/2016/slidezoom">
                <pslz:sldZm>
                  <pslz:sldZmObj sldId="2147482945" cId="2944001035">
                    <pslz:zmPr id="{A7B90F5A-62F8-4DF9-8600-3E26905D9EA4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974320" cy="1110555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7" name="Vista general de diapositiva 6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62BF6BAF-EEBF-CC3A-B4D8-E1076F2D929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426820" y="4565208"/>
                <a:ext cx="1974320" cy="1110555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Tener percepción y estatus actual de claridad de las funciones del área y entender necesidades a nivel plataforma de apoyos requeridos por organización</a:t>
            </a:r>
            <a:endParaRPr lang="es-MX" sz="1400" i="1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  <p:pic>
        <p:nvPicPr>
          <p:cNvPr id="16" name="Imagen 15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193AC80E-E1CF-5F56-3F58-51BAF96111B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" t="33913" r="73823" b="37793"/>
          <a:stretch>
            <a:fillRect/>
          </a:stretch>
        </p:blipFill>
        <p:spPr>
          <a:xfrm>
            <a:off x="10257742" y="1138561"/>
            <a:ext cx="499639" cy="540072"/>
          </a:xfrm>
          <a:prstGeom prst="rect">
            <a:avLst/>
          </a:prstGeom>
        </p:spPr>
      </p:pic>
      <p:pic>
        <p:nvPicPr>
          <p:cNvPr id="42" name="Imagen 41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AACD539C-1822-BBCF-47AE-327BD105281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5165" t="34124" r="37291" b="37600"/>
          <a:stretch>
            <a:fillRect/>
          </a:stretch>
        </p:blipFill>
        <p:spPr>
          <a:xfrm>
            <a:off x="10795481" y="1148086"/>
            <a:ext cx="526080" cy="540072"/>
          </a:xfrm>
          <a:prstGeom prst="rect">
            <a:avLst/>
          </a:prstGeom>
        </p:spPr>
      </p:pic>
      <p:pic>
        <p:nvPicPr>
          <p:cNvPr id="43" name="Imagen 42" descr="Dibujo de una mesa de billar&#10;&#10;El contenido generado por IA puede ser incorrecto.">
            <a:extLst>
              <a:ext uri="{FF2B5EF4-FFF2-40B4-BE49-F238E27FC236}">
                <a16:creationId xmlns:a16="http://schemas.microsoft.com/office/drawing/2014/main" id="{F061F245-D21D-A0AB-19FA-811020F3C83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3050" t="35171" b="36667"/>
          <a:stretch>
            <a:fillRect/>
          </a:stretch>
        </p:blipFill>
        <p:spPr>
          <a:xfrm>
            <a:off x="11359661" y="1169319"/>
            <a:ext cx="514747" cy="537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6" name="Título 3">
            <a:extLst>
              <a:ext uri="{FF2B5EF4-FFF2-40B4-BE49-F238E27FC236}">
                <a16:creationId xmlns:a16="http://schemas.microsoft.com/office/drawing/2014/main" id="{BF4FBAF8-EEF3-881A-D787-8647C59DBF10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Director PF&amp;A y </a:t>
            </a:r>
            <a:r>
              <a:rPr lang="es-ES" dirty="0" err="1"/>
              <a:t>Commercial</a:t>
            </a:r>
            <a:r>
              <a:rPr lang="es-ES" dirty="0"/>
              <a:t> </a:t>
            </a:r>
            <a:r>
              <a:rPr lang="es-ES" dirty="0" err="1"/>
              <a:t>Finance</a:t>
            </a:r>
            <a:endParaRPr lang="es-ES" dirty="0"/>
          </a:p>
          <a:p>
            <a:r>
              <a:rPr lang="es-ES" b="0" i="1" dirty="0"/>
              <a:t>Propósito y Contribuciones</a:t>
            </a:r>
            <a:endParaRPr lang="es-MX" b="0" i="1" dirty="0"/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C7C6C5F9-CD84-5062-30F4-5D3F11BAFC67}"/>
              </a:ext>
            </a:extLst>
          </p:cNvPr>
          <p:cNvSpPr txBox="1"/>
          <p:nvPr/>
        </p:nvSpPr>
        <p:spPr>
          <a:xfrm>
            <a:off x="266700" y="2207791"/>
            <a:ext cx="11668125" cy="455201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r>
              <a:rPr lang="es-MX" sz="1050" b="1" dirty="0">
                <a:solidFill>
                  <a:prstClr val="black"/>
                </a:solidFill>
                <a:latin typeface="+mn-lt"/>
              </a:rPr>
              <a:t>Contribuciones:</a:t>
            </a:r>
          </a:p>
          <a:p>
            <a:pPr lvl="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defRPr/>
            </a:pPr>
            <a:r>
              <a:rPr lang="es-ES" sz="1050" b="1" u="sng" dirty="0">
                <a:solidFill>
                  <a:prstClr val="black"/>
                </a:solidFill>
                <a:ea typeface="ＭＳ Ｐゴシック"/>
                <a:cs typeface="Arial"/>
              </a:rPr>
              <a:t>Planeación Financiera y Análisis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Presupuestación y previsión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: Gestionar el proceso integral de planificación financiera (presupuesto anual, previsiones continuas) de los negocios / funciones asignadas, garantizando la precisión, la coherencia y la responsabilidad.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Gestión del rendimiento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: Supervisar el rendimiento real frente al planificado; realizar análisis de variaciones y liderar conversaciones sobre el rendimiento financiero con los socios comerciales.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Apoyo a la toma de decisiones y colaboración con el negocio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: Actuar como asesor financiero para las partes interesadas del negocio, proporcionando modelos de escenarios, análisis de inversiones, análisis de costes y recomendaciones para apoyar las decisiones operativas y estratégicas.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Modelado y análisis financiero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: Desarrollar modelos robustos y escalables para la planificación, el análisis de escenarios hipotéticos y las pruebas de sensibilidad; obtener información sobre los principales factores y tendencias.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Informes y visualización: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Garantizar la presentación de informes financieros oportunos y relevantes a los clientes internos (por ejemplo, responsables de funciones, dirección financiera).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Gobernanza del proceso de planificación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: Apoyar el mantenimiento de un calendario de planificación disciplinado y eficiente; coordinar las aportaciones de las plataformas y funciones.</a:t>
            </a:r>
          </a:p>
          <a:p>
            <a:pPr lvl="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defRPr/>
            </a:pPr>
            <a:r>
              <a:rPr lang="es-ES" sz="1050" b="1" u="sng" dirty="0" err="1">
                <a:solidFill>
                  <a:prstClr val="black"/>
                </a:solidFill>
                <a:ea typeface="ＭＳ Ｐゴシック"/>
              </a:rPr>
              <a:t>Commercial</a:t>
            </a:r>
            <a:r>
              <a:rPr lang="es-ES" sz="1050" b="1" u="sng" dirty="0">
                <a:solidFill>
                  <a:prstClr val="black"/>
                </a:solidFill>
                <a:ea typeface="ＭＳ Ｐゴシック"/>
              </a:rPr>
              <a:t> </a:t>
            </a:r>
            <a:r>
              <a:rPr lang="es-ES" sz="1050" b="1" u="sng" dirty="0" err="1">
                <a:solidFill>
                  <a:prstClr val="black"/>
                </a:solidFill>
                <a:ea typeface="ＭＳ Ｐゴシック"/>
              </a:rPr>
              <a:t>Finance</a:t>
            </a:r>
            <a:endParaRPr lang="es-ES" sz="1050" b="1" u="sng" dirty="0">
              <a:solidFill>
                <a:prstClr val="black"/>
              </a:solidFill>
              <a:ea typeface="ＭＳ Ｐゴシック"/>
              <a:cs typeface="Arial"/>
            </a:endParaRP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Asegurar el Modelamiento de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los </a:t>
            </a:r>
            <a:r>
              <a:rPr lang="es-ES" sz="1050" b="1" dirty="0" err="1">
                <a:solidFill>
                  <a:prstClr val="black"/>
                </a:solidFill>
                <a:ea typeface="ＭＳ Ｐゴシック"/>
                <a:cs typeface="Arial"/>
              </a:rPr>
              <a:t>trade-offs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 económicos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y facilitar la toma de decisiones comerciales rigurosas y basadas en datos que maximizan la rentabilidad.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Garantizar el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desarrollo de parámetros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que impulsen el ritmo y garanticen que las decisiones comerciales respalden el crecimiento; así como generar análisis de escenarios necesarios que respalden estas decisiones.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Brindar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visibilidad unificada de ingresos y márgenes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 las partes interesadas de toda la organización.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Asegurar el adecuado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monitoreo y análisis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del rendimiento del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margen bruto, la rentabilidad y sus drivers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(</a:t>
            </a:r>
            <a:r>
              <a:rPr lang="es-ES" sz="1050" dirty="0">
                <a:solidFill>
                  <a:prstClr val="black"/>
                </a:solidFill>
                <a:ea typeface="ＭＳ Ｐゴシック"/>
              </a:rPr>
              <a:t>ej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. tráfico).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Asegurar el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monitoreo del rendimiento e identificar los riesgos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antes de que afecten los resultados; analizando y comunicando los riesgos que pudieran tener impactos negativos en la rentabilidad.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Actuar como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asesor estratégico y socio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, proporcionando información sobre la rentabilidad real y prevista de la categoría.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Analizar y supervisar los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aspectos financieros de los acuerdos con socios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.</a:t>
            </a:r>
          </a:p>
          <a:p>
            <a:pPr lvl="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defRPr/>
            </a:pPr>
            <a:r>
              <a:rPr lang="es-ES" sz="1050" b="1" u="sng" dirty="0" err="1">
                <a:solidFill>
                  <a:prstClr val="black"/>
                </a:solidFill>
                <a:ea typeface="ＭＳ Ｐゴシック"/>
              </a:rPr>
              <a:t>Finance</a:t>
            </a:r>
            <a:r>
              <a:rPr lang="es-ES" sz="1050" b="1" u="sng" dirty="0">
                <a:solidFill>
                  <a:prstClr val="black"/>
                </a:solidFill>
                <a:ea typeface="ＭＳ Ｐゴシック"/>
              </a:rPr>
              <a:t> Business </a:t>
            </a:r>
            <a:r>
              <a:rPr lang="es-ES" sz="1050" b="1" u="sng" dirty="0" err="1">
                <a:solidFill>
                  <a:prstClr val="black"/>
                </a:solidFill>
                <a:ea typeface="ＭＳ Ｐゴシック"/>
              </a:rPr>
              <a:t>Partners</a:t>
            </a:r>
            <a:endParaRPr lang="es-ES" sz="1050" b="1" u="sng" dirty="0">
              <a:solidFill>
                <a:prstClr val="black"/>
              </a:solidFill>
              <a:ea typeface="ＭＳ Ｐゴシック"/>
              <a:cs typeface="Arial"/>
            </a:endParaRP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14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Asegurar la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generación de información y asesoramiento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sobre el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impacto financiero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de las decisiones empresariales para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líderes no financieros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14"/>
              <a:defRPr/>
            </a:pP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Brindar apoyo/soporte en la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elaboración de presupuestos, la previsión y la explicación de las variaciones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; así </a:t>
            </a:r>
            <a:r>
              <a:rPr lang="es-ES" sz="1050" dirty="0">
                <a:solidFill>
                  <a:prstClr val="black"/>
                </a:solidFill>
                <a:ea typeface="ＭＳ Ｐゴシック"/>
              </a:rPr>
              <a:t>como apoyar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 en la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vinculación de los factores financieros y operativos 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para explicar el </a:t>
            </a:r>
            <a:r>
              <a:rPr lang="es-ES" sz="1050" b="1" dirty="0">
                <a:solidFill>
                  <a:prstClr val="black"/>
                </a:solidFill>
                <a:ea typeface="ＭＳ Ｐゴシック"/>
                <a:cs typeface="Arial"/>
              </a:rPr>
              <a:t>desempeño</a:t>
            </a:r>
            <a:r>
              <a:rPr lang="es-ES" sz="1050" dirty="0">
                <a:solidFill>
                  <a:prstClr val="black"/>
                </a:solidFill>
                <a:ea typeface="ＭＳ Ｐゴシック"/>
                <a:cs typeface="Arial"/>
              </a:rPr>
              <a:t>.</a:t>
            </a:r>
            <a:endParaRPr lang="es-MX" sz="1050" b="1" dirty="0">
              <a:solidFill>
                <a:prstClr val="black"/>
              </a:solidFill>
            </a:endParaRPr>
          </a:p>
        </p:txBody>
      </p:sp>
      <p:sp>
        <p:nvSpPr>
          <p:cNvPr id="56" name="CuadroTexto 55">
            <a:extLst>
              <a:ext uri="{FF2B5EF4-FFF2-40B4-BE49-F238E27FC236}">
                <a16:creationId xmlns:a16="http://schemas.microsoft.com/office/drawing/2014/main" id="{10AE335B-E5D2-A6A7-EFF5-4DBB7DACAAF6}"/>
              </a:ext>
            </a:extLst>
          </p:cNvPr>
          <p:cNvSpPr txBox="1"/>
          <p:nvPr/>
        </p:nvSpPr>
        <p:spPr>
          <a:xfrm>
            <a:off x="266700" y="1192128"/>
            <a:ext cx="11668125" cy="101566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lvl="0">
              <a:defRPr/>
            </a:pPr>
            <a:r>
              <a:rPr lang="es-MX" sz="1200" b="1" dirty="0"/>
              <a:t>Propósito: </a:t>
            </a:r>
            <a:r>
              <a:rPr lang="es-ES" sz="1200" dirty="0">
                <a:solidFill>
                  <a:prstClr val="black"/>
                </a:solidFill>
              </a:rPr>
              <a:t>Fungir como copiloto del negocio, habilitando y homologando la información financiera con la finalidad de </a:t>
            </a:r>
            <a:r>
              <a:rPr lang="es-ES" sz="1200" dirty="0" err="1">
                <a:solidFill>
                  <a:prstClr val="black"/>
                </a:solidFill>
              </a:rPr>
              <a:t>co-crear</a:t>
            </a:r>
            <a:r>
              <a:rPr lang="es-ES" sz="1200" dirty="0">
                <a:solidFill>
                  <a:prstClr val="black"/>
                </a:solidFill>
              </a:rPr>
              <a:t> y participar en la estrategia de negocio, asegurando la rentabilidad, brindando información, </a:t>
            </a:r>
            <a:r>
              <a:rPr lang="es-ES" sz="1200" dirty="0" err="1">
                <a:solidFill>
                  <a:prstClr val="black"/>
                </a:solidFill>
              </a:rPr>
              <a:t>KPIs</a:t>
            </a:r>
            <a:r>
              <a:rPr lang="es-ES" sz="1200" dirty="0">
                <a:solidFill>
                  <a:prstClr val="black"/>
                </a:solidFill>
              </a:rPr>
              <a:t> y análisis financieros que promuevan la toma de decisiones confiables, basadas en datos y alineadas a los objetivos estratégicos del Negocio. De igual manera, liderar como encomienda la maduración de la cultura financiera </a:t>
            </a:r>
            <a:r>
              <a:rPr lang="es-ES" sz="1200" dirty="0" err="1">
                <a:solidFill>
                  <a:prstClr val="black"/>
                </a:solidFill>
              </a:rPr>
              <a:t>across</a:t>
            </a:r>
            <a:r>
              <a:rPr lang="es-ES" sz="1200" dirty="0">
                <a:solidFill>
                  <a:prstClr val="black"/>
                </a:solidFill>
              </a:rPr>
              <a:t> negocio. </a:t>
            </a:r>
          </a:p>
          <a:p>
            <a:pPr lvl="0">
              <a:defRPr/>
            </a:pPr>
            <a:r>
              <a:rPr lang="es-ES" sz="1200" dirty="0">
                <a:solidFill>
                  <a:prstClr val="black"/>
                </a:solidFill>
              </a:rPr>
              <a:t>Adicional, garantizar soporte a la toma de decisiones comerciales, asegurando el adecuado desarrollo de los casos de negocio haciendo uso de modelos financieros y análisis que permitan la adecuada y oportuna toma de decisiones; brindando además evaluaciones financieras y posibles potenciales riesgos para el negocio. 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ítulo 3">
            <a:extLst>
              <a:ext uri="{FF2B5EF4-FFF2-40B4-BE49-F238E27FC236}">
                <a16:creationId xmlns:a16="http://schemas.microsoft.com/office/drawing/2014/main" id="{5079D1B5-39DA-A17E-E874-D9C06961D0EE}"/>
              </a:ext>
            </a:extLst>
          </p:cNvPr>
          <p:cNvSpPr txBox="1">
            <a:spLocks/>
          </p:cNvSpPr>
          <p:nvPr/>
        </p:nvSpPr>
        <p:spPr>
          <a:xfrm>
            <a:off x="190500" y="121330"/>
            <a:ext cx="7896000" cy="777875"/>
          </a:xfrm>
          <a:prstGeom prst="rect">
            <a:avLst/>
          </a:prstGeom>
        </p:spPr>
        <p:txBody>
          <a:bodyPr/>
          <a:lstStyle>
            <a:lvl1pPr algn="l" rtl="0" eaLnBrk="1" fontAlgn="base" hangingPunct="1">
              <a:spcBef>
                <a:spcPct val="0"/>
              </a:spcBef>
              <a:spcAft>
                <a:spcPct val="0"/>
              </a:spcAft>
              <a:defRPr sz="2133" b="1" kern="1200">
                <a:solidFill>
                  <a:schemeClr val="tx1"/>
                </a:solidFill>
                <a:latin typeface="Calibri" panose="020F0502020204030204" pitchFamily="34" charset="0"/>
                <a:ea typeface="ＭＳ Ｐゴシック" charset="0"/>
                <a:cs typeface="Calibri" panose="020F0502020204030204" pitchFamily="34" charset="0"/>
              </a:defRPr>
            </a:lvl1pPr>
            <a:lvl2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2pPr>
            <a:lvl3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3pPr>
            <a:lvl4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4pPr>
            <a:lvl5pPr algn="l" rtl="0" eaLnBrk="1" fontAlgn="base" hangingPunct="1">
              <a:spcBef>
                <a:spcPct val="0"/>
              </a:spcBef>
              <a:spcAft>
                <a:spcPct val="0"/>
              </a:spcAft>
              <a:defRPr sz="2667" b="1">
                <a:solidFill>
                  <a:srgbClr val="404040"/>
                </a:solidFill>
                <a:latin typeface="Arial" charset="0"/>
                <a:ea typeface="ＭＳ Ｐゴシック" charset="0"/>
              </a:defRPr>
            </a:lvl5pPr>
            <a:lvl6pPr marL="609585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6pPr>
            <a:lvl7pPr marL="1219170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7pPr>
            <a:lvl8pPr marL="1828754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8pPr>
            <a:lvl9pPr marL="2438339" algn="l" rtl="0" eaLnBrk="1" fontAlgn="base" hangingPunct="1">
              <a:spcBef>
                <a:spcPct val="0"/>
              </a:spcBef>
              <a:spcAft>
                <a:spcPct val="0"/>
              </a:spcAft>
              <a:defRPr sz="2933" b="1">
                <a:solidFill>
                  <a:srgbClr val="840E27"/>
                </a:solidFill>
                <a:latin typeface="Arial" charset="0"/>
                <a:ea typeface="ＭＳ Ｐゴシック" charset="0"/>
              </a:defRPr>
            </a:lvl9pPr>
          </a:lstStyle>
          <a:p>
            <a:r>
              <a:rPr lang="es-ES" dirty="0"/>
              <a:t>Descripción de Puesto | Director PF&amp;A y </a:t>
            </a:r>
            <a:r>
              <a:rPr lang="es-ES" dirty="0" err="1"/>
              <a:t>Commercial</a:t>
            </a:r>
            <a:r>
              <a:rPr lang="es-ES" dirty="0"/>
              <a:t> </a:t>
            </a:r>
            <a:r>
              <a:rPr lang="es-ES" dirty="0" err="1"/>
              <a:t>Finance</a:t>
            </a:r>
            <a:endParaRPr lang="es-ES" dirty="0"/>
          </a:p>
          <a:p>
            <a:r>
              <a:rPr lang="es-ES" b="0" i="1" dirty="0"/>
              <a:t>Decisiones y Retos</a:t>
            </a:r>
            <a:endParaRPr lang="es-MX" b="0" i="1" dirty="0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728A93-DECE-EA2D-9025-C4B1BD67C1A8}"/>
              </a:ext>
            </a:extLst>
          </p:cNvPr>
          <p:cNvSpPr txBox="1"/>
          <p:nvPr/>
        </p:nvSpPr>
        <p:spPr>
          <a:xfrm>
            <a:off x="819150" y="1366897"/>
            <a:ext cx="10563225" cy="116339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Decisiones Relevantes del Puesto </a:t>
            </a:r>
          </a:p>
          <a:p>
            <a:pPr marL="342900" lvl="0" indent="-342900" algn="just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Proporcionar una visión integrada del desempeño pasado y futuro con información que impulse a la acción.</a:t>
            </a:r>
          </a:p>
          <a:p>
            <a:pPr marL="342900" lvl="0" indent="-342900" algn="just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Desarrollar parámetros que impulsen el ritmo y garanticen que las decisiones comerciales respalden el crecimiento.</a:t>
            </a:r>
          </a:p>
          <a:p>
            <a:pPr marL="342900" lvl="0" indent="-342900" algn="just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Desarrollar análisis de escenarios necesarios para respaldar decisiones comerciales importantes.</a:t>
            </a:r>
          </a:p>
          <a:p>
            <a:pPr marL="342900" lvl="0" indent="-342900" algn="just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Anticipar y comunicar riesgos que pudieran tener impactos negativos en la rentabilidad.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037BFC9-94B9-A0A1-59DB-B234D6CD0E61}"/>
              </a:ext>
            </a:extLst>
          </p:cNvPr>
          <p:cNvSpPr txBox="1"/>
          <p:nvPr/>
        </p:nvSpPr>
        <p:spPr>
          <a:xfrm>
            <a:off x="819150" y="3505200"/>
            <a:ext cx="10563225" cy="13111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ＭＳ Ｐゴシック" charset="0"/>
                <a:cs typeface="Arial"/>
              </a:rPr>
              <a:t>Principales Retos del Puesto </a:t>
            </a:r>
          </a:p>
          <a:p>
            <a:pPr marL="342900" lvl="0" indent="-342900" algn="just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Medir el impacto en el valor del negocio asociado al desarrollo de distintas estrategias, nuevos proyectos, o cambios en factores internos o externos del negocio con el fin de advertir la conveniencia o impacto de los mismos.</a:t>
            </a:r>
          </a:p>
          <a:p>
            <a:pPr marL="342900" lvl="0" indent="-342900" algn="just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ES" sz="1200" dirty="0">
                <a:solidFill>
                  <a:prstClr val="black"/>
                </a:solidFill>
              </a:rPr>
              <a:t>F</a:t>
            </a: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acilitar la toma de decisiones comerciales rigurosas y basadas en datos que maximizan la rentabilidad.</a:t>
            </a:r>
          </a:p>
          <a:p>
            <a:pPr marL="342900" lvl="0" indent="-342900" algn="just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panose="05000000000000000000" pitchFamily="2" charset="2"/>
              <a:buChar char="§"/>
              <a:defRPr/>
            </a:pP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Gestión y relación con los directores de cada plataforma y sus distintos Business </a:t>
            </a:r>
            <a:r>
              <a:rPr lang="es-ES" sz="1200" dirty="0" err="1">
                <a:solidFill>
                  <a:prstClr val="black"/>
                </a:solidFill>
                <a:ea typeface="ＭＳ Ｐゴシック" charset="0"/>
                <a:cs typeface="Arial"/>
              </a:rPr>
              <a:t>Partners</a:t>
            </a:r>
            <a:r>
              <a:rPr lang="es-ES" sz="1200" dirty="0">
                <a:solidFill>
                  <a:prstClr val="black"/>
                </a:solidFill>
                <a:ea typeface="ＭＳ Ｐゴシック" charset="0"/>
                <a:cs typeface="Arial"/>
              </a:rPr>
              <a:t> de Finanzas para optimizar el uso de recursos, teniendo una estrategia clara, y de productividad, para cada una.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5236910" y="1594109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Finanzas OXXO MX </a:t>
            </a:r>
            <a:r>
              <a:rPr lang="es-MX" sz="10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Marcela Vega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</p:cNvCxnSpPr>
          <p:nvPr/>
        </p:nvCxnSpPr>
        <p:spPr>
          <a:xfrm>
            <a:off x="6095999" y="2047709"/>
            <a:ext cx="0" cy="16435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192212" y="1167055"/>
            <a:ext cx="48465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900" b="1" dirty="0"/>
              <a:t>Propósito</a:t>
            </a:r>
          </a:p>
          <a:p>
            <a:pPr lvl="0">
              <a:defRPr/>
            </a:pPr>
            <a:r>
              <a:rPr lang="es-ES" sz="900" dirty="0">
                <a:solidFill>
                  <a:prstClr val="black"/>
                </a:solidFill>
              </a:rPr>
              <a:t>Fungir como copiloto del negocio, habilitando y homologando la información financiera con la finalidad de </a:t>
            </a:r>
            <a:r>
              <a:rPr lang="es-ES" sz="900" dirty="0" err="1">
                <a:solidFill>
                  <a:prstClr val="black"/>
                </a:solidFill>
              </a:rPr>
              <a:t>co-crear</a:t>
            </a:r>
            <a:r>
              <a:rPr lang="es-ES" sz="900" dirty="0">
                <a:solidFill>
                  <a:prstClr val="black"/>
                </a:solidFill>
              </a:rPr>
              <a:t> y participar en la estrategia de negocio, asegurando la rentabilidad, brindando información, </a:t>
            </a:r>
            <a:r>
              <a:rPr lang="es-ES" sz="900" dirty="0" err="1">
                <a:solidFill>
                  <a:prstClr val="black"/>
                </a:solidFill>
              </a:rPr>
              <a:t>KPIs</a:t>
            </a:r>
            <a:r>
              <a:rPr lang="es-ES" sz="900" dirty="0">
                <a:solidFill>
                  <a:prstClr val="black"/>
                </a:solidFill>
              </a:rPr>
              <a:t> y análisis financieros que promuevan la toma de decisiones confiables, basadas en datos y alineadas a los objetivos estratégicos del Negocio. De igual manera, liderar como encomienda la maduración de la cultura financiera </a:t>
            </a:r>
            <a:r>
              <a:rPr lang="es-ES" sz="900" dirty="0" err="1">
                <a:solidFill>
                  <a:prstClr val="black"/>
                </a:solidFill>
              </a:rPr>
              <a:t>across</a:t>
            </a:r>
            <a:r>
              <a:rPr lang="es-ES" sz="900" dirty="0">
                <a:solidFill>
                  <a:prstClr val="black"/>
                </a:solidFill>
              </a:rPr>
              <a:t> negocio. </a:t>
            </a:r>
          </a:p>
          <a:p>
            <a:pPr lvl="0">
              <a:defRPr/>
            </a:pPr>
            <a:r>
              <a:rPr lang="es-ES" sz="900" dirty="0">
                <a:solidFill>
                  <a:prstClr val="black"/>
                </a:solidFill>
              </a:rPr>
              <a:t>Adicional, garantizar soporte a la toma de decisiones comerciales, asegurando el adecuado desarrollo de los casos de negocio haciendo uso de modelos financieros y análisis que permitan la adecuada y oportuna toma de decisiones; brindando además evaluaciones financieras y posibles potenciales riesgos para el negocio.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54351" y="3340936"/>
            <a:ext cx="12058772" cy="323131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 fontAlgn="base">
              <a:buFont typeface="Arial" panose="020B0604020202020204" pitchFamily="34" charset="0"/>
              <a:buChar char="•"/>
            </a:pPr>
            <a:endParaRPr lang="en-US" sz="1000" dirty="0">
              <a:solidFill>
                <a:srgbClr val="000000"/>
              </a:solidFill>
            </a:endParaRP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27" y="161576"/>
            <a:ext cx="7896000" cy="777875"/>
          </a:xfrm>
        </p:spPr>
        <p:txBody>
          <a:bodyPr/>
          <a:lstStyle/>
          <a:p>
            <a:r>
              <a:rPr lang="es-ES" dirty="0"/>
              <a:t>Principales contribuciones del área</a:t>
            </a:r>
            <a:br>
              <a:rPr lang="es-ES" dirty="0"/>
            </a:br>
            <a:r>
              <a:rPr lang="es-ES" b="0" dirty="0"/>
              <a:t>Finanzas – PF&amp;A y </a:t>
            </a:r>
            <a:r>
              <a:rPr lang="es-ES" b="0" dirty="0" err="1"/>
              <a:t>Commercial</a:t>
            </a:r>
            <a:r>
              <a:rPr lang="es-ES" b="0" dirty="0"/>
              <a:t> </a:t>
            </a:r>
            <a:r>
              <a:rPr lang="es-ES" b="0" dirty="0" err="1"/>
              <a:t>Finance</a:t>
            </a:r>
            <a:endParaRPr lang="es-MX" b="0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5AAEC53-D683-4F11-4911-0A1D330C51DB}"/>
              </a:ext>
            </a:extLst>
          </p:cNvPr>
          <p:cNvSpPr/>
          <p:nvPr/>
        </p:nvSpPr>
        <p:spPr>
          <a:xfrm>
            <a:off x="5290963" y="2151104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PF&amp;A y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Commercial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Oscar González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2A03BDC4-669B-0F96-65D6-08CFAF2AB1D3}"/>
              </a:ext>
            </a:extLst>
          </p:cNvPr>
          <p:cNvSpPr/>
          <p:nvPr/>
        </p:nvSpPr>
        <p:spPr>
          <a:xfrm>
            <a:off x="9488518" y="2745111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BP Finanzas Plataformas RH, TI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025BF223-6AFC-6967-F475-435C163332D5}"/>
              </a:ext>
            </a:extLst>
          </p:cNvPr>
          <p:cNvSpPr/>
          <p:nvPr/>
        </p:nvSpPr>
        <p:spPr>
          <a:xfrm>
            <a:off x="5253562" y="2745111"/>
            <a:ext cx="169200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Commercial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3B16A55E-E607-9EE6-ECFC-FACE45B08E2C}"/>
              </a:ext>
            </a:extLst>
          </p:cNvPr>
          <p:cNvSpPr/>
          <p:nvPr/>
        </p:nvSpPr>
        <p:spPr>
          <a:xfrm>
            <a:off x="644902" y="2745111"/>
            <a:ext cx="169200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Planeación Financiera</a:t>
            </a:r>
          </a:p>
        </p:txBody>
      </p:sp>
      <p:cxnSp>
        <p:nvCxnSpPr>
          <p:cNvPr id="13" name="Conector: angular 12">
            <a:extLst>
              <a:ext uri="{FF2B5EF4-FFF2-40B4-BE49-F238E27FC236}">
                <a16:creationId xmlns:a16="http://schemas.microsoft.com/office/drawing/2014/main" id="{8CFBAECC-008D-7D9C-88C2-8918D83F8FBB}"/>
              </a:ext>
            </a:extLst>
          </p:cNvPr>
          <p:cNvCxnSpPr>
            <a:cxnSpLocks/>
            <a:stCxn id="4" idx="2"/>
            <a:endCxn id="12" idx="0"/>
          </p:cNvCxnSpPr>
          <p:nvPr/>
        </p:nvCxnSpPr>
        <p:spPr>
          <a:xfrm rot="5400000">
            <a:off x="3722940" y="372667"/>
            <a:ext cx="140407" cy="4604481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4" name="Conector: angular 13">
            <a:extLst>
              <a:ext uri="{FF2B5EF4-FFF2-40B4-BE49-F238E27FC236}">
                <a16:creationId xmlns:a16="http://schemas.microsoft.com/office/drawing/2014/main" id="{D91F3CF3-2065-DF23-B486-AAD3472C6661}"/>
              </a:ext>
            </a:extLst>
          </p:cNvPr>
          <p:cNvCxnSpPr>
            <a:cxnSpLocks/>
            <a:stCxn id="4" idx="2"/>
            <a:endCxn id="7" idx="0"/>
          </p:cNvCxnSpPr>
          <p:nvPr/>
        </p:nvCxnSpPr>
        <p:spPr>
          <a:xfrm rot="16200000" flipH="1">
            <a:off x="6027269" y="2672817"/>
            <a:ext cx="140407" cy="417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cxnSp>
        <p:nvCxnSpPr>
          <p:cNvPr id="15" name="Conector: angular 14">
            <a:extLst>
              <a:ext uri="{FF2B5EF4-FFF2-40B4-BE49-F238E27FC236}">
                <a16:creationId xmlns:a16="http://schemas.microsoft.com/office/drawing/2014/main" id="{5F75D40F-AC0E-E83F-BD30-5CCA2AD3B2FA}"/>
              </a:ext>
            </a:extLst>
          </p:cNvPr>
          <p:cNvCxnSpPr>
            <a:cxnSpLocks/>
            <a:stCxn id="4" idx="2"/>
            <a:endCxn id="5" idx="0"/>
          </p:cNvCxnSpPr>
          <p:nvPr/>
        </p:nvCxnSpPr>
        <p:spPr>
          <a:xfrm rot="16200000" flipH="1">
            <a:off x="8144747" y="555339"/>
            <a:ext cx="140407" cy="423913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000000"/>
            </a:solidFill>
            <a:prstDash val="solid"/>
          </a:ln>
          <a:effectLst/>
        </p:spPr>
      </p:cxnSp>
      <p:sp>
        <p:nvSpPr>
          <p:cNvPr id="21" name="Rectángulo 20">
            <a:extLst>
              <a:ext uri="{FF2B5EF4-FFF2-40B4-BE49-F238E27FC236}">
                <a16:creationId xmlns:a16="http://schemas.microsoft.com/office/drawing/2014/main" id="{D0BB167D-2C7D-D430-1D45-DB6FE8827566}"/>
              </a:ext>
            </a:extLst>
          </p:cNvPr>
          <p:cNvSpPr/>
          <p:nvPr/>
        </p:nvSpPr>
        <p:spPr>
          <a:xfrm>
            <a:off x="7153273" y="1208489"/>
            <a:ext cx="4867268" cy="1368011"/>
          </a:xfrm>
          <a:prstGeom prst="rect">
            <a:avLst/>
          </a:prstGeom>
          <a:solidFill>
            <a:schemeClr val="bg2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s-MX" sz="900" b="1" dirty="0">
              <a:solidFill>
                <a:schemeClr val="tx1"/>
              </a:solidFill>
            </a:endParaRPr>
          </a:p>
          <a:p>
            <a:r>
              <a:rPr lang="es-MX" sz="900" b="1" dirty="0">
                <a:solidFill>
                  <a:schemeClr val="tx1"/>
                </a:solidFill>
              </a:rPr>
              <a:t>DIRECTOR:</a:t>
            </a:r>
          </a:p>
          <a:p>
            <a:endParaRPr lang="es-MX" sz="900" b="1" dirty="0">
              <a:solidFill>
                <a:schemeClr val="tx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s-MX" sz="900" b="1" dirty="0">
              <a:solidFill>
                <a:schemeClr val="tx1"/>
              </a:solidFill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3C25EFE-7262-0D97-AE9E-9B77CFBE09C3}"/>
              </a:ext>
            </a:extLst>
          </p:cNvPr>
          <p:cNvCxnSpPr>
            <a:cxnSpLocks/>
          </p:cNvCxnSpPr>
          <p:nvPr/>
        </p:nvCxnSpPr>
        <p:spPr>
          <a:xfrm>
            <a:off x="3933825" y="3368250"/>
            <a:ext cx="0" cy="32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CBFC0193-FB30-404A-2465-29FDFBB056A7}"/>
              </a:ext>
            </a:extLst>
          </p:cNvPr>
          <p:cNvCxnSpPr>
            <a:cxnSpLocks/>
          </p:cNvCxnSpPr>
          <p:nvPr/>
        </p:nvCxnSpPr>
        <p:spPr>
          <a:xfrm>
            <a:off x="8345518" y="3368250"/>
            <a:ext cx="0" cy="3204000"/>
          </a:xfrm>
          <a:prstGeom prst="line">
            <a:avLst/>
          </a:prstGeom>
          <a:ln w="31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CuadroTexto 21">
            <a:extLst>
              <a:ext uri="{FF2B5EF4-FFF2-40B4-BE49-F238E27FC236}">
                <a16:creationId xmlns:a16="http://schemas.microsoft.com/office/drawing/2014/main" id="{141EA30D-0A3D-C072-A5CB-947184CE0913}"/>
              </a:ext>
            </a:extLst>
          </p:cNvPr>
          <p:cNvSpPr txBox="1"/>
          <p:nvPr/>
        </p:nvSpPr>
        <p:spPr>
          <a:xfrm>
            <a:off x="96965" y="3346666"/>
            <a:ext cx="3836859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Presupuestación y previsión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: Gestionar el proceso integral de planificación financiera (presupuesto anual, previsiones continuas) de los negocios / funciones asignadas, garantizando la precisión, la coherencia y la responsabilidad.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Gestión del rendimiento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: Supervisar el rendimiento real frente al planificado; realizar análisis de variaciones y liderar conversaciones sobre el rendimiento financiero con los socios comerciales.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Apoyo a la toma de decisiones y colaboración con el negocio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: Actuar como asesor financiero para las partes interesadas del negocio, proporcionando modelos de escenarios, análisis de inversiones, análisis de costes y recomendaciones para apoyar las decisiones operativas y estratégicas.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Modelado y análisis financiero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: Desarrollar modelos robustos y escalables para la planificación, el análisis de escenarios hipotéticos y las pruebas de sensibilidad; obtener información sobre los principales factores y tendencias.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Informes y visualización: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Garantizar la presentación de informes financieros oportunos y relevantes a los clientes internos (por ejemplo, responsables de funciones, dirección financiera).</a:t>
            </a:r>
          </a:p>
          <a:p>
            <a:pPr marL="171450" lvl="0" indent="-17145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AutoNum type="arabicPeriod"/>
              <a:defRPr/>
            </a:pP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Gobernanza del proceso de planificación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: Apoyar el mantenimiento de un calendario de planificación disciplinado y eficiente; coordinar las aportaciones de las plataformas y funciones.</a:t>
            </a:r>
            <a:endParaRPr lang="es-MX" sz="900" dirty="0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9D3F16D6-7591-307F-3D5F-5D643549E204}"/>
              </a:ext>
            </a:extLst>
          </p:cNvPr>
          <p:cNvSpPr txBox="1"/>
          <p:nvPr/>
        </p:nvSpPr>
        <p:spPr>
          <a:xfrm>
            <a:off x="3976438" y="3604220"/>
            <a:ext cx="4198672" cy="2474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Asegurar el Modelamiento de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los </a:t>
            </a:r>
            <a:r>
              <a:rPr lang="es-ES" sz="900" b="1" dirty="0" err="1">
                <a:solidFill>
                  <a:prstClr val="black"/>
                </a:solidFill>
                <a:ea typeface="ＭＳ Ｐゴシック"/>
                <a:cs typeface="Arial"/>
              </a:rPr>
              <a:t>trade-offs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 económicos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y facilitar la toma de decisiones comerciales rigurosas y basadas en datos que maximizan la rentabilidad.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Garantizar el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desarrollo de parámetros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que impulsen el ritmo y garanticen que las decisiones comerciales respalden el crecimiento; así como generar análisis de escenarios necesarios que respalden estas decisiones.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Brindar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visibilidad unificada de ingresos y márgenes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 las partes interesadas de toda la organización.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Asegurar el adecuado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monitoreo y análisis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del rendimiento del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margen bruto, la rentabilidad y sus drivers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(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ej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. tráfico).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Asegurar el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monitoreo del rendimiento e identificar los riesgos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antes de que afecten los resultados; analizando y comunicando los riesgos que pudieran tener impactos negativos en la rentabilidad.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Actuar como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asesor estratégico y socio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, proporcionando información sobre la rentabilidad real y prevista de la categoría.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7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Analizar y supervisar los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aspectos financieros de los acuerdos con socios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.</a:t>
            </a:r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640F8B28-EE48-7E75-970E-1EE02E03C8E2}"/>
              </a:ext>
            </a:extLst>
          </p:cNvPr>
          <p:cNvSpPr txBox="1"/>
          <p:nvPr/>
        </p:nvSpPr>
        <p:spPr>
          <a:xfrm>
            <a:off x="8346594" y="3604220"/>
            <a:ext cx="3748441" cy="951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14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Asegurar la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generación de información y asesoramiento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sobre el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impacto financiero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de las decisiones empresariales para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líderes no financieros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.</a:t>
            </a:r>
          </a:p>
          <a:p>
            <a:pPr marL="228600" lvl="0" indent="-228600" algn="just" defTabSz="342900" fontAlgn="base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+mj-lt"/>
              <a:buAutoNum type="arabicPeriod" startAt="14"/>
              <a:defRPr/>
            </a:pP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Brindar apoyo/soporte en la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elaboración de presupuestos, la previsión y la explicación de las variaciones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; así </a:t>
            </a:r>
            <a:r>
              <a:rPr lang="es-ES" sz="900" dirty="0">
                <a:solidFill>
                  <a:prstClr val="black"/>
                </a:solidFill>
                <a:ea typeface="ＭＳ Ｐゴシック"/>
              </a:rPr>
              <a:t>como apoyar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 en la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vinculación de los factores financieros y operativos 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para explicar el </a:t>
            </a:r>
            <a:r>
              <a:rPr lang="es-ES" sz="900" b="1" dirty="0">
                <a:solidFill>
                  <a:prstClr val="black"/>
                </a:solidFill>
                <a:ea typeface="ＭＳ Ｐゴシック"/>
                <a:cs typeface="Arial"/>
              </a:rPr>
              <a:t>desempeño</a:t>
            </a:r>
            <a:r>
              <a:rPr lang="es-ES" sz="900" dirty="0">
                <a:solidFill>
                  <a:prstClr val="black"/>
                </a:solidFill>
                <a:ea typeface="ＭＳ Ｐゴシック"/>
                <a:cs typeface="Arial"/>
              </a:rPr>
              <a:t>.</a:t>
            </a:r>
            <a:endParaRPr lang="es-MX" sz="9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102309" y="1295500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 dirty="0"/>
              <a:t>Objetivo:</a:t>
            </a:r>
          </a:p>
          <a:p>
            <a:r>
              <a:rPr lang="es-ES" sz="1400" i="1" dirty="0"/>
              <a:t>Entender los procesos </a:t>
            </a:r>
            <a:r>
              <a:rPr lang="es-ES" sz="1400" i="1" dirty="0" err="1"/>
              <a:t>core</a:t>
            </a:r>
            <a:r>
              <a:rPr lang="es-ES" sz="1400" i="1" dirty="0"/>
              <a:t> y que pudieron haber tenido alguna modificación  </a:t>
            </a:r>
            <a:endParaRPr lang="es-MX" sz="1400" i="1" dirty="0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2499" y="141131"/>
            <a:ext cx="7896000" cy="777875"/>
          </a:xfrm>
        </p:spPr>
        <p:txBody>
          <a:bodyPr/>
          <a:lstStyle/>
          <a:p>
            <a:r>
              <a:rPr lang="es-ES" dirty="0"/>
              <a:t>Interacciones entre áreas y procesos clave</a:t>
            </a:r>
            <a:br>
              <a:rPr lang="es-ES" dirty="0"/>
            </a:br>
            <a:r>
              <a:rPr lang="es-ES" b="0" dirty="0"/>
              <a:t>Finanzas – PF&amp;A y </a:t>
            </a:r>
            <a:r>
              <a:rPr lang="es-ES" b="0" dirty="0" err="1"/>
              <a:t>Commercial</a:t>
            </a:r>
            <a:r>
              <a:rPr lang="es-ES" b="0" dirty="0"/>
              <a:t> </a:t>
            </a:r>
            <a:r>
              <a:rPr lang="es-ES" b="0" dirty="0" err="1"/>
              <a:t>Finance</a:t>
            </a:r>
            <a:endParaRPr lang="es-MX" b="0" dirty="0"/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76B4E10F-C551-0C56-EA0C-EBB9F8115B10}"/>
              </a:ext>
            </a:extLst>
          </p:cNvPr>
          <p:cNvSpPr/>
          <p:nvPr/>
        </p:nvSpPr>
        <p:spPr>
          <a:xfrm>
            <a:off x="9690780" y="2195215"/>
            <a:ext cx="2205943" cy="453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10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Entregables</a:t>
            </a: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DFA23498-B8FF-3E9E-261E-E9A99B9530E1}"/>
              </a:ext>
            </a:extLst>
          </p:cNvPr>
          <p:cNvSpPr/>
          <p:nvPr/>
        </p:nvSpPr>
        <p:spPr>
          <a:xfrm>
            <a:off x="264656" y="2195215"/>
            <a:ext cx="2640021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1000" b="0" i="1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9C39A803-E9D0-AE97-C40E-B0BB62CEBBCF}"/>
              </a:ext>
            </a:extLst>
          </p:cNvPr>
          <p:cNvSpPr/>
          <p:nvPr/>
        </p:nvSpPr>
        <p:spPr>
          <a:xfrm>
            <a:off x="255130" y="304563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0" name="CuadroTexto 59">
            <a:extLst>
              <a:ext uri="{FF2B5EF4-FFF2-40B4-BE49-F238E27FC236}">
                <a16:creationId xmlns:a16="http://schemas.microsoft.com/office/drawing/2014/main" id="{E1FE4831-9D8F-BE77-6CC0-72B0BC9C2214}"/>
              </a:ext>
            </a:extLst>
          </p:cNvPr>
          <p:cNvSpPr txBox="1"/>
          <p:nvPr/>
        </p:nvSpPr>
        <p:spPr>
          <a:xfrm>
            <a:off x="316869" y="2795439"/>
            <a:ext cx="2071184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Enlistar por prioridad e impacto</a:t>
            </a:r>
            <a:endParaRPr lang="es-MX" sz="800" dirty="0"/>
          </a:p>
        </p:txBody>
      </p:sp>
      <p:sp>
        <p:nvSpPr>
          <p:cNvPr id="61" name="CuadroTexto 60">
            <a:extLst>
              <a:ext uri="{FF2B5EF4-FFF2-40B4-BE49-F238E27FC236}">
                <a16:creationId xmlns:a16="http://schemas.microsoft.com/office/drawing/2014/main" id="{21345EEA-FE5F-8CFE-4E7B-6895E5872A9C}"/>
              </a:ext>
            </a:extLst>
          </p:cNvPr>
          <p:cNvSpPr txBox="1"/>
          <p:nvPr/>
        </p:nvSpPr>
        <p:spPr>
          <a:xfrm>
            <a:off x="2944437" y="2795439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 dirty="0"/>
              <a:t>Identificar (</a:t>
            </a:r>
            <a:r>
              <a:rPr lang="es-ES" sz="800" i="1" dirty="0" err="1"/>
              <a:t>Accountable</a:t>
            </a:r>
            <a:r>
              <a:rPr lang="es-ES" sz="800" i="1" dirty="0"/>
              <a:t>) y áreas impactadas</a:t>
            </a:r>
            <a:endParaRPr lang="es-MX" sz="800" dirty="0"/>
          </a:p>
        </p:txBody>
      </p:sp>
      <p:sp>
        <p:nvSpPr>
          <p:cNvPr id="62" name="Rectángulo 61">
            <a:extLst>
              <a:ext uri="{FF2B5EF4-FFF2-40B4-BE49-F238E27FC236}">
                <a16:creationId xmlns:a16="http://schemas.microsoft.com/office/drawing/2014/main" id="{FB3CB5BB-6E04-846F-FBBD-8CB6B62B48DC}"/>
              </a:ext>
            </a:extLst>
          </p:cNvPr>
          <p:cNvSpPr/>
          <p:nvPr/>
        </p:nvSpPr>
        <p:spPr>
          <a:xfrm>
            <a:off x="2904677" y="3045281"/>
            <a:ext cx="899204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3" name="CuadroTexto 62">
            <a:extLst>
              <a:ext uri="{FF2B5EF4-FFF2-40B4-BE49-F238E27FC236}">
                <a16:creationId xmlns:a16="http://schemas.microsoft.com/office/drawing/2014/main" id="{013C3E41-8533-A376-95B8-154ACECD76F9}"/>
              </a:ext>
            </a:extLst>
          </p:cNvPr>
          <p:cNvSpPr txBox="1"/>
          <p:nvPr/>
        </p:nvSpPr>
        <p:spPr>
          <a:xfrm>
            <a:off x="341700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 dirty="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4" name="Rectángulo 63">
            <a:extLst>
              <a:ext uri="{FF2B5EF4-FFF2-40B4-BE49-F238E27FC236}">
                <a16:creationId xmlns:a16="http://schemas.microsoft.com/office/drawing/2014/main" id="{73C07C05-BCF8-B968-F9E9-B81F2BF448F6}"/>
              </a:ext>
            </a:extLst>
          </p:cNvPr>
          <p:cNvSpPr/>
          <p:nvPr/>
        </p:nvSpPr>
        <p:spPr>
          <a:xfrm>
            <a:off x="255130" y="357753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5" name="Rectángulo 64">
            <a:extLst>
              <a:ext uri="{FF2B5EF4-FFF2-40B4-BE49-F238E27FC236}">
                <a16:creationId xmlns:a16="http://schemas.microsoft.com/office/drawing/2014/main" id="{8A80BF0C-3322-5528-84E9-60773F3CDC2B}"/>
              </a:ext>
            </a:extLst>
          </p:cNvPr>
          <p:cNvSpPr/>
          <p:nvPr/>
        </p:nvSpPr>
        <p:spPr>
          <a:xfrm>
            <a:off x="2904677" y="3577184"/>
            <a:ext cx="899204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6" name="CuadroTexto 65">
            <a:extLst>
              <a:ext uri="{FF2B5EF4-FFF2-40B4-BE49-F238E27FC236}">
                <a16:creationId xmlns:a16="http://schemas.microsoft.com/office/drawing/2014/main" id="{FD8C14BA-4A46-CBDD-C6A5-222F54DCB334}"/>
              </a:ext>
            </a:extLst>
          </p:cNvPr>
          <p:cNvSpPr txBox="1"/>
          <p:nvPr/>
        </p:nvSpPr>
        <p:spPr>
          <a:xfrm>
            <a:off x="341700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" name="Rectángulo 66">
            <a:extLst>
              <a:ext uri="{FF2B5EF4-FFF2-40B4-BE49-F238E27FC236}">
                <a16:creationId xmlns:a16="http://schemas.microsoft.com/office/drawing/2014/main" id="{531F763A-86B3-AD2A-94E9-E9EE7C55B0F5}"/>
              </a:ext>
            </a:extLst>
          </p:cNvPr>
          <p:cNvSpPr/>
          <p:nvPr/>
        </p:nvSpPr>
        <p:spPr>
          <a:xfrm>
            <a:off x="255130" y="4109087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8" name="Rectángulo 67">
            <a:extLst>
              <a:ext uri="{FF2B5EF4-FFF2-40B4-BE49-F238E27FC236}">
                <a16:creationId xmlns:a16="http://schemas.microsoft.com/office/drawing/2014/main" id="{5DD6C0FD-F1C7-E78F-B3C0-E7DF989CAD1A}"/>
              </a:ext>
            </a:extLst>
          </p:cNvPr>
          <p:cNvSpPr/>
          <p:nvPr/>
        </p:nvSpPr>
        <p:spPr>
          <a:xfrm>
            <a:off x="2904677" y="4108735"/>
            <a:ext cx="899204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CuadroTexto 68">
            <a:extLst>
              <a:ext uri="{FF2B5EF4-FFF2-40B4-BE49-F238E27FC236}">
                <a16:creationId xmlns:a16="http://schemas.microsoft.com/office/drawing/2014/main" id="{E1B1A847-EA35-9D0C-8206-010EE4D63B47}"/>
              </a:ext>
            </a:extLst>
          </p:cNvPr>
          <p:cNvSpPr txBox="1"/>
          <p:nvPr/>
        </p:nvSpPr>
        <p:spPr>
          <a:xfrm>
            <a:off x="341700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0" name="Rectángulo 69">
            <a:extLst>
              <a:ext uri="{FF2B5EF4-FFF2-40B4-BE49-F238E27FC236}">
                <a16:creationId xmlns:a16="http://schemas.microsoft.com/office/drawing/2014/main" id="{AD4C895D-B746-275C-09BB-27F322E2835A}"/>
              </a:ext>
            </a:extLst>
          </p:cNvPr>
          <p:cNvSpPr/>
          <p:nvPr/>
        </p:nvSpPr>
        <p:spPr>
          <a:xfrm>
            <a:off x="255130" y="4657823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1" name="Rectángulo 70">
            <a:extLst>
              <a:ext uri="{FF2B5EF4-FFF2-40B4-BE49-F238E27FC236}">
                <a16:creationId xmlns:a16="http://schemas.microsoft.com/office/drawing/2014/main" id="{2DB2D4E6-953F-0472-E08E-0343B1EFD171}"/>
              </a:ext>
            </a:extLst>
          </p:cNvPr>
          <p:cNvSpPr/>
          <p:nvPr/>
        </p:nvSpPr>
        <p:spPr>
          <a:xfrm>
            <a:off x="2904677" y="4657471"/>
            <a:ext cx="899204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2" name="CuadroTexto 71">
            <a:extLst>
              <a:ext uri="{FF2B5EF4-FFF2-40B4-BE49-F238E27FC236}">
                <a16:creationId xmlns:a16="http://schemas.microsoft.com/office/drawing/2014/main" id="{5B4FDDA6-4FBE-7090-8C12-D2D765B5B191}"/>
              </a:ext>
            </a:extLst>
          </p:cNvPr>
          <p:cNvSpPr txBox="1"/>
          <p:nvPr/>
        </p:nvSpPr>
        <p:spPr>
          <a:xfrm>
            <a:off x="341700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3" name="Rectángulo 72">
            <a:extLst>
              <a:ext uri="{FF2B5EF4-FFF2-40B4-BE49-F238E27FC236}">
                <a16:creationId xmlns:a16="http://schemas.microsoft.com/office/drawing/2014/main" id="{BE28F30B-A771-32DF-29C1-3158D124F8B5}"/>
              </a:ext>
            </a:extLst>
          </p:cNvPr>
          <p:cNvSpPr/>
          <p:nvPr/>
        </p:nvSpPr>
        <p:spPr>
          <a:xfrm>
            <a:off x="255130" y="5225056"/>
            <a:ext cx="2649545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10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10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4" name="Rectángulo 73">
            <a:extLst>
              <a:ext uri="{FF2B5EF4-FFF2-40B4-BE49-F238E27FC236}">
                <a16:creationId xmlns:a16="http://schemas.microsoft.com/office/drawing/2014/main" id="{0E4F1F5C-4815-C42D-4A51-1460F838CEC5}"/>
              </a:ext>
            </a:extLst>
          </p:cNvPr>
          <p:cNvSpPr/>
          <p:nvPr/>
        </p:nvSpPr>
        <p:spPr>
          <a:xfrm>
            <a:off x="2904677" y="5224704"/>
            <a:ext cx="8992043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75" name="CuadroTexto 74">
            <a:extLst>
              <a:ext uri="{FF2B5EF4-FFF2-40B4-BE49-F238E27FC236}">
                <a16:creationId xmlns:a16="http://schemas.microsoft.com/office/drawing/2014/main" id="{44E95411-248D-7909-92EC-4A8FCAAE692D}"/>
              </a:ext>
            </a:extLst>
          </p:cNvPr>
          <p:cNvSpPr txBox="1"/>
          <p:nvPr/>
        </p:nvSpPr>
        <p:spPr>
          <a:xfrm>
            <a:off x="341700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77" name="Conector recto 76">
            <a:extLst>
              <a:ext uri="{FF2B5EF4-FFF2-40B4-BE49-F238E27FC236}">
                <a16:creationId xmlns:a16="http://schemas.microsoft.com/office/drawing/2014/main" id="{4402E3D7-DDAA-EC27-11C0-19F04A1739F3}"/>
              </a:ext>
            </a:extLst>
          </p:cNvPr>
          <p:cNvCxnSpPr>
            <a:cxnSpLocks/>
          </p:cNvCxnSpPr>
          <p:nvPr/>
        </p:nvCxnSpPr>
        <p:spPr>
          <a:xfrm>
            <a:off x="7995333" y="3051744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Rectángulo 1">
            <a:extLst>
              <a:ext uri="{FF2B5EF4-FFF2-40B4-BE49-F238E27FC236}">
                <a16:creationId xmlns:a16="http://schemas.microsoft.com/office/drawing/2014/main" id="{26556BDD-D6EE-CB29-8EBE-F10B90AD91DC}"/>
              </a:ext>
            </a:extLst>
          </p:cNvPr>
          <p:cNvSpPr/>
          <p:nvPr/>
        </p:nvSpPr>
        <p:spPr>
          <a:xfrm>
            <a:off x="7992035" y="2195215"/>
            <a:ext cx="169489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BP Finanzas Plataformas RH, TI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DF529FD-B6C4-4983-2BBD-7082564AB2A8}"/>
              </a:ext>
            </a:extLst>
          </p:cNvPr>
          <p:cNvSpPr/>
          <p:nvPr/>
        </p:nvSpPr>
        <p:spPr>
          <a:xfrm>
            <a:off x="6294771" y="2195215"/>
            <a:ext cx="169489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Commercial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89D09B8-BE7A-4A45-EB27-1DE318E563FB}"/>
              </a:ext>
            </a:extLst>
          </p:cNvPr>
          <p:cNvSpPr/>
          <p:nvPr/>
        </p:nvSpPr>
        <p:spPr>
          <a:xfrm>
            <a:off x="4597509" y="2195215"/>
            <a:ext cx="169489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Planeación Financiera</a:t>
            </a:r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D0EDDB1D-E6AF-D645-DD81-290902B1A103}"/>
              </a:ext>
            </a:extLst>
          </p:cNvPr>
          <p:cNvSpPr/>
          <p:nvPr/>
        </p:nvSpPr>
        <p:spPr>
          <a:xfrm>
            <a:off x="2905892" y="2195215"/>
            <a:ext cx="169489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lvl="0" algn="ctr">
              <a:defRPr/>
            </a:pP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PF&amp;A y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Commercial</a:t>
            </a:r>
            <a:r>
              <a:rPr lang="es-MX" sz="800" b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s-MX" sz="800" b="1" dirty="0" err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Finance</a:t>
            </a:r>
            <a:endParaRPr lang="es-MX" sz="800" b="1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0" algn="ctr">
              <a:defRPr/>
            </a:pPr>
            <a:r>
              <a:rPr lang="es-MX" sz="800" i="1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Oscar González</a:t>
            </a:r>
          </a:p>
        </p:txBody>
      </p:sp>
      <p:cxnSp>
        <p:nvCxnSpPr>
          <p:cNvPr id="11" name="Conector recto 10">
            <a:extLst>
              <a:ext uri="{FF2B5EF4-FFF2-40B4-BE49-F238E27FC236}">
                <a16:creationId xmlns:a16="http://schemas.microsoft.com/office/drawing/2014/main" id="{60651784-56FD-8241-617B-6E76C22FB8D1}"/>
              </a:ext>
            </a:extLst>
          </p:cNvPr>
          <p:cNvCxnSpPr>
            <a:cxnSpLocks/>
          </p:cNvCxnSpPr>
          <p:nvPr/>
        </p:nvCxnSpPr>
        <p:spPr>
          <a:xfrm>
            <a:off x="9694003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8654B92E-C880-E9EC-A05B-E8FCF772E3E0}"/>
              </a:ext>
            </a:extLst>
          </p:cNvPr>
          <p:cNvCxnSpPr>
            <a:cxnSpLocks/>
          </p:cNvCxnSpPr>
          <p:nvPr/>
        </p:nvCxnSpPr>
        <p:spPr>
          <a:xfrm>
            <a:off x="6295371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AC041544-EA10-DD8E-B078-2C08451FBC39}"/>
              </a:ext>
            </a:extLst>
          </p:cNvPr>
          <p:cNvCxnSpPr>
            <a:cxnSpLocks/>
          </p:cNvCxnSpPr>
          <p:nvPr/>
        </p:nvCxnSpPr>
        <p:spPr>
          <a:xfrm>
            <a:off x="4617159" y="3042219"/>
            <a:ext cx="0" cy="2633023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¿Tu Descripción de Puesto y el funciograma de tu área reflejan con precisión las actividades y responsabilidades que realmente realizas en el día a día 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¿Tienes alguna duda específica sobre el funcionamiento 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 dirty="0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 dirty="0"/>
              <a:t>¿Existe algún proceso que consideres necesario rediseñar 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Si recientemente asumiste nuevas responsabilidades, ¿ya se realizó de manera efectiva la transferencia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 dirty="0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11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FC5A0-8C93-71AE-D9CA-34CB5E5D2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ítulo 20">
            <a:extLst>
              <a:ext uri="{FF2B5EF4-FFF2-40B4-BE49-F238E27FC236}">
                <a16:creationId xmlns:a16="http://schemas.microsoft.com/office/drawing/2014/main" id="{288AD74F-DDB8-B9D1-C24D-B54B44D5A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88095F32-24CC-5EC5-389D-AC8DF1CFFE06}"/>
              </a:ext>
            </a:extLst>
          </p:cNvPr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2767155" y="1103442"/>
          <a:ext cx="8847992" cy="5198958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234000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3796059-AE52-6FD0-6DB7-B6D15200CF56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90F263E7-2160-1CDA-E6D5-0BD0E44AB4A1}"/>
              </a:ext>
            </a:extLst>
          </p:cNvPr>
          <p:cNvGraphicFramePr>
            <a:graphicFrameLocks noGrp="1"/>
          </p:cNvGraphicFramePr>
          <p:nvPr/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E9B8D3A3-5BC1-58B6-8B1A-D9AB1E58836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1E7B6694-4C95-FC46-FB27-AFE9B9F68295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05979C7-35F2-5A41-8FE7-9DD9119D766E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8D0B9FA0-6340-5673-1521-40F4E6F01E03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AB0709B9-BEEB-33D4-FD48-27EF0E5D8B67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B8AF006-828F-0FB1-05B7-40E54C010BE1}"/>
              </a:ext>
            </a:extLst>
          </p:cNvPr>
          <p:cNvSpPr/>
          <p:nvPr/>
        </p:nvSpPr>
        <p:spPr bwMode="auto">
          <a:xfrm rot="16200000">
            <a:off x="-847834" y="3498448"/>
            <a:ext cx="2260971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82735247-C62D-F486-7690-C46D888080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0699302"/>
              </p:ext>
            </p:extLst>
          </p:nvPr>
        </p:nvGraphicFramePr>
        <p:xfrm>
          <a:off x="474878" y="2560194"/>
          <a:ext cx="2289564" cy="223448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800" b="0"/>
                        <a:t>Diagnóstico HRBP – Post FFP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5384792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- L1 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49522796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Change Management –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068112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CM por plataforma y transversal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6233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48276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CD9FD411-C630-382C-45A2-E588359B989B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DD8600BD-21B7-FE5D-C98E-68CF34FED7B0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27676E50-BB60-063D-06DD-03234AE6987F}"/>
              </a:ext>
            </a:extLst>
          </p:cNvPr>
          <p:cNvSpPr/>
          <p:nvPr/>
        </p:nvSpPr>
        <p:spPr bwMode="auto">
          <a:xfrm>
            <a:off x="8098153" y="3409351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03D6E73D-0A97-4231-D296-46087F92A212}"/>
              </a:ext>
            </a:extLst>
          </p:cNvPr>
          <p:cNvSpPr/>
          <p:nvPr/>
        </p:nvSpPr>
        <p:spPr bwMode="auto">
          <a:xfrm>
            <a:off x="8319814" y="3758531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Finance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EF39E6D3-DAFF-E13F-76F5-334DB244C13A}"/>
              </a:ext>
            </a:extLst>
          </p:cNvPr>
          <p:cNvSpPr/>
          <p:nvPr/>
        </p:nvSpPr>
        <p:spPr bwMode="auto">
          <a:xfrm>
            <a:off x="8613125" y="4102060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5844969C-E86E-004A-29B0-09FB87A723F0}"/>
              </a:ext>
            </a:extLst>
          </p:cNvPr>
          <p:cNvSpPr/>
          <p:nvPr/>
        </p:nvSpPr>
        <p:spPr bwMode="auto">
          <a:xfrm>
            <a:off x="7191152" y="2562061"/>
            <a:ext cx="56203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96B2AB77-129C-B972-22F4-CD4D8D8E4004}"/>
              </a:ext>
            </a:extLst>
          </p:cNvPr>
          <p:cNvSpPr/>
          <p:nvPr/>
        </p:nvSpPr>
        <p:spPr bwMode="auto">
          <a:xfrm>
            <a:off x="10128035" y="3409351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906C9B22-2BEF-AF61-D107-5D3D0BBD88DD}"/>
              </a:ext>
            </a:extLst>
          </p:cNvPr>
          <p:cNvSpPr/>
          <p:nvPr/>
        </p:nvSpPr>
        <p:spPr bwMode="auto">
          <a:xfrm rot="16200000">
            <a:off x="-169543" y="5216642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1DB4AC3E-0A5A-C01B-5FE7-E4547A64D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3245944"/>
              </p:ext>
            </p:extLst>
          </p:nvPr>
        </p:nvGraphicFramePr>
        <p:xfrm>
          <a:off x="474878" y="4956679"/>
          <a:ext cx="2289564" cy="813672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712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28B85193-26DC-5AAF-D9C6-B11572DA83D9}"/>
              </a:ext>
            </a:extLst>
          </p:cNvPr>
          <p:cNvSpPr/>
          <p:nvPr/>
        </p:nvSpPr>
        <p:spPr bwMode="auto">
          <a:xfrm>
            <a:off x="-11180" y="4831329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05A2893-CF9F-039E-BDB3-A553DEA4BF9A}"/>
              </a:ext>
            </a:extLst>
          </p:cNvPr>
          <p:cNvSpPr/>
          <p:nvPr/>
        </p:nvSpPr>
        <p:spPr bwMode="auto">
          <a:xfrm>
            <a:off x="10125261" y="4961611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49EB8E5F-90E9-71F5-C1E3-6728A133F539}"/>
              </a:ext>
            </a:extLst>
          </p:cNvPr>
          <p:cNvSpPr/>
          <p:nvPr/>
        </p:nvSpPr>
        <p:spPr bwMode="auto">
          <a:xfrm rot="16200000">
            <a:off x="56555" y="5931584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218488FE-7666-32A5-83EE-153D7921D620}"/>
              </a:ext>
            </a:extLst>
          </p:cNvPr>
          <p:cNvGraphicFramePr>
            <a:graphicFrameLocks noGrp="1"/>
          </p:cNvGraphicFramePr>
          <p:nvPr/>
        </p:nvGraphicFramePr>
        <p:xfrm>
          <a:off x="474878" y="5897718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049C1190-6A18-A369-8826-05C5FE7420BF}"/>
              </a:ext>
            </a:extLst>
          </p:cNvPr>
          <p:cNvSpPr/>
          <p:nvPr/>
        </p:nvSpPr>
        <p:spPr bwMode="auto">
          <a:xfrm>
            <a:off x="-11180" y="5772368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FF0539EF-CA6F-717D-2FAA-20594ADF352F}"/>
              </a:ext>
            </a:extLst>
          </p:cNvPr>
          <p:cNvSpPr/>
          <p:nvPr/>
        </p:nvSpPr>
        <p:spPr bwMode="auto">
          <a:xfrm>
            <a:off x="10167763" y="540887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FFF720E9-1505-A85A-44DE-F75840CC2334}"/>
              </a:ext>
            </a:extLst>
          </p:cNvPr>
          <p:cNvSpPr/>
          <p:nvPr/>
        </p:nvSpPr>
        <p:spPr bwMode="auto">
          <a:xfrm>
            <a:off x="10167763" y="5597552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5EF22818-AFC4-66C6-C096-73EAD1E3FC8A}"/>
              </a:ext>
            </a:extLst>
          </p:cNvPr>
          <p:cNvSpPr/>
          <p:nvPr/>
        </p:nvSpPr>
        <p:spPr bwMode="auto">
          <a:xfrm>
            <a:off x="10167763" y="5910628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B2387692-46A2-DBD8-B456-47AA9023B40F}"/>
              </a:ext>
            </a:extLst>
          </p:cNvPr>
          <p:cNvSpPr/>
          <p:nvPr/>
        </p:nvSpPr>
        <p:spPr bwMode="auto">
          <a:xfrm>
            <a:off x="10167763" y="6099310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70DC0D94-C9F8-BF5B-2308-00A725D87477}"/>
              </a:ext>
            </a:extLst>
          </p:cNvPr>
          <p:cNvSpPr/>
          <p:nvPr/>
        </p:nvSpPr>
        <p:spPr bwMode="auto">
          <a:xfrm>
            <a:off x="7191150" y="2777358"/>
            <a:ext cx="907003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4DEC46-34B5-74FF-4857-D54E4CCCCAE4}"/>
              </a:ext>
            </a:extLst>
          </p:cNvPr>
          <p:cNvSpPr/>
          <p:nvPr/>
        </p:nvSpPr>
        <p:spPr bwMode="auto">
          <a:xfrm>
            <a:off x="7191150" y="2988426"/>
            <a:ext cx="2122184" cy="19849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5083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dirty="0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</a:t>
            </a:r>
          </a:p>
          <a:p>
            <a:r>
              <a:rPr lang="es-MX"/>
              <a:t>Alcance 2026</a:t>
            </a:r>
          </a:p>
          <a:p>
            <a:r>
              <a:rPr lang="es-MX"/>
              <a:t>Percepción inicial</a:t>
            </a:r>
          </a:p>
          <a:p>
            <a:r>
              <a:rPr lang="es-MX"/>
              <a:t>Descripción de puesto L2</a:t>
            </a:r>
          </a:p>
          <a:p>
            <a:r>
              <a:rPr lang="es-MX"/>
              <a:t>Principales contribuciones del área</a:t>
            </a:r>
          </a:p>
          <a:p>
            <a:r>
              <a:rPr lang="es-MX"/>
              <a:t>Interacciones entre áreas y procesos clave</a:t>
            </a:r>
          </a:p>
          <a:p>
            <a:r>
              <a:rPr lang="es-MX"/>
              <a:t>Siguientes pasos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113306" y="284824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113302" y="3937432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113301" y="4499420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0092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6760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34278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009532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676283" y="284824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619346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219082" y="2617745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A1ABDE23-FC17-AD90-BC9E-AF97FB35EE52}"/>
              </a:ext>
            </a:extLst>
          </p:cNvPr>
          <p:cNvSpPr/>
          <p:nvPr/>
        </p:nvSpPr>
        <p:spPr>
          <a:xfrm>
            <a:off x="1118071" y="340069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Entiendo el racional de los cambios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113301" y="5085684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8D4C2E17-7EE8-7AEE-3BC4-7954423416B6}"/>
              </a:ext>
            </a:extLst>
          </p:cNvPr>
          <p:cNvSpPr/>
          <p:nvPr/>
        </p:nvSpPr>
        <p:spPr>
          <a:xfrm>
            <a:off x="70092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E195C6FE-0878-BD6F-4278-3D68E6995819}"/>
              </a:ext>
            </a:extLst>
          </p:cNvPr>
          <p:cNvSpPr/>
          <p:nvPr/>
        </p:nvSpPr>
        <p:spPr>
          <a:xfrm>
            <a:off x="76760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4" name="Rectángulo 23">
            <a:extLst>
              <a:ext uri="{FF2B5EF4-FFF2-40B4-BE49-F238E27FC236}">
                <a16:creationId xmlns:a16="http://schemas.microsoft.com/office/drawing/2014/main" id="{DA76184A-3627-12F3-AEE9-0E4AEB0FDEFE}"/>
              </a:ext>
            </a:extLst>
          </p:cNvPr>
          <p:cNvSpPr/>
          <p:nvPr/>
        </p:nvSpPr>
        <p:spPr>
          <a:xfrm>
            <a:off x="834278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FB1E6A43-E234-0F28-0C55-54B7DD1CC80F}"/>
              </a:ext>
            </a:extLst>
          </p:cNvPr>
          <p:cNvSpPr/>
          <p:nvPr/>
        </p:nvSpPr>
        <p:spPr>
          <a:xfrm>
            <a:off x="9009532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47C3E97C-D33B-9B32-142A-8681DE8DDAEF}"/>
              </a:ext>
            </a:extLst>
          </p:cNvPr>
          <p:cNvSpPr/>
          <p:nvPr/>
        </p:nvSpPr>
        <p:spPr>
          <a:xfrm>
            <a:off x="9676283" y="340069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0092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6760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34278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009532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676283" y="3937432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0092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6760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34277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009528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676279" y="4499420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0092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6760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34278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009532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676283" y="509044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5555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524001" y="1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1498646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/>
            </a:pPr>
            <a:r>
              <a:rPr lang="es-MX" sz="1400" b="1">
                <a:solidFill>
                  <a:prstClr val="white"/>
                </a:solidFill>
                <a:latin typeface="Calibri Light" panose="020F0302020204030204"/>
              </a:rPr>
              <a:t>DESCRIPCIÓN DE PUESTO</a:t>
            </a:r>
          </a:p>
          <a:p>
            <a:pPr>
              <a:defRPr/>
            </a:pP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Puesto: Director Abasto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Nombre Puesto Jefe Directo: Director Cadena de Suministro</a:t>
            </a:r>
            <a:br>
              <a:rPr lang="es-MX" sz="1300" b="1">
                <a:solidFill>
                  <a:prstClr val="white"/>
                </a:solidFill>
                <a:latin typeface="Calibri Light" panose="020F0302020204030204"/>
              </a:rPr>
            </a:br>
            <a:r>
              <a:rPr lang="es-MX" sz="1300" b="1">
                <a:solidFill>
                  <a:prstClr val="white"/>
                </a:solidFill>
                <a:latin typeface="Calibri Light" panose="020F0302020204030204"/>
              </a:rPr>
              <a:t>Área Funcional: Cadena de Suministro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1598104" y="969029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1200" b="1">
                <a:solidFill>
                  <a:prstClr val="black"/>
                </a:solidFill>
                <a:latin typeface="Calibri Light" panose="020F0302020204030204"/>
              </a:rPr>
              <a:t>Propósito del Puesto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</a:rPr>
              <a:t>Diseñar y operar la estrategia de demanda, abasto y suministro de OXXO México, con el fin de potencializar la propuesta de valor centrada en el Cliente, robusteciendo mediante digitalización, procesos de gestión y el desarrollo de Talento,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1598103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100" b="1">
                <a:solidFill>
                  <a:prstClr val="black"/>
                </a:solidFill>
                <a:latin typeface="Calibri Light" panose="020F0302020204030204"/>
              </a:rPr>
              <a:t>Responsabilidades </a:t>
            </a:r>
          </a:p>
          <a:p>
            <a:pPr marL="174625" indent="-174625" defTabSz="457200">
              <a:buFont typeface="Calibri Light" panose="020F0302020204030204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la estrategia de abasto atendiendo las categorías comerciales 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tales como hambre, impulso,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daily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 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replenishment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</a:t>
            </a:r>
            <a:r>
              <a:rPr lang="es-MX" sz="900" err="1">
                <a:solidFill>
                  <a:prstClr val="black"/>
                </a:solidFill>
                <a:latin typeface="Calibri"/>
                <a:ea typeface="ＭＳ Ｐゴシック"/>
              </a:rPr>
              <a:t>fresh</a:t>
            </a:r>
            <a:r>
              <a:rPr lang="es-MX" sz="900">
                <a:solidFill>
                  <a:prstClr val="black"/>
                </a:solidFill>
                <a:latin typeface="Calibri"/>
                <a:ea typeface="ＭＳ Ｐゴシック"/>
              </a:rPr>
              <a:t>, marcas propias u otras que permitan simplificar las relaciones estratégicas de suministro.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correcta demanda de acuerdo con las necesidades de la tienda </a:t>
            </a:r>
            <a:r>
              <a:rPr lang="es-MX" sz="900" b="1">
                <a:solidFill>
                  <a:srgbClr val="0070C0"/>
                </a:solidFill>
                <a:latin typeface="Calibri" panose="020F0502020204030204"/>
                <a:ea typeface="ＭＳ Ｐゴシック"/>
              </a:rPr>
              <a:t>en coordinación con estrategia de S&amp;OP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generando modelos de pronóstico de demanda para mejorar la precisión y reducir inventarios obsoletos.​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estrategias de abastecimiento actuales y futuras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, que optimicen costos y garanticen la disponibilidad de productos clave, así como, la agilidad requerida para responder a las necesidades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Promover y empujar  un esquema operativo basado en procesos y rituales de gestión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los roles involucrados (comercial, operaciones, procesos CS y otras) que promuevan  la colaboración con el fin de capitalizar oportunidades.​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Construir sinergias con otras unidades de FEMSA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con el fin de establecer aprovechamiento de los recursos para lograr mayor eficiencia en los procesos y crecimiento colaborativo.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oportunidades en los eslabones de la cadena, desde socios comerciales hasta la tienda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que sumen valor a OXXO México y resto de las unidades de FEMSA que permitan establecer una mejora continua.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 b="1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Diseñar planes de contingencia ante cambios en el entorno </a:t>
            </a: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como sociopolíticos, climáticos, de seguridad u otros que permitan anticipar de forma flexible, ágil y resiliente los retos presentes y futuros minimizando el impacto en los objetivos clave del negocio.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​Cumplir y promover con la aplicación de los procesos y rituales cultura de la Compañía.​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1598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Decisiones Relevantes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Identificar riesgos / situaciones atípicas en el abasto de la cadena de suministro y diseñar planes de contingencia.​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Asegurar la continuidad del abastecimiento en escenarios de crisis o disrupción global.​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el cumplimiento de normativas ambientales, regulatorias y de seguridad en el abastecimiento.​</a:t>
            </a: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6143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457200">
              <a:buNone/>
              <a:defRPr/>
            </a:pPr>
            <a:r>
              <a:rPr lang="es-MX" sz="1300" b="1">
                <a:solidFill>
                  <a:prstClr val="black"/>
                </a:solidFill>
                <a:latin typeface="Calibri Light" panose="020F0302020204030204"/>
              </a:rPr>
              <a:t>Principales Retos del Puesto 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Garantizar la disponibilidad de productos en un entorno de alta volatilidad.​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Mejorar la precisión de los pronósticos de demanda en un mercado cambiante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Reducir costos de abastecimiento y suministro sin comprometer la calidad del servicio.​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r>
              <a:rPr lang="es-MX" sz="900">
                <a:solidFill>
                  <a:prstClr val="black"/>
                </a:solidFill>
                <a:latin typeface="Calibri" panose="020F0502020204030204"/>
                <a:ea typeface="ＭＳ Ｐゴシック"/>
              </a:rPr>
              <a:t>Transformar digitalmente la planificación de demanda y abastecimiento para aumentar eficiencia.​</a:t>
            </a: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574675" lvl="1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</a:endParaRPr>
          </a:p>
          <a:p>
            <a:pPr marL="174625" indent="-174625" defTabSz="457200">
              <a:buFont typeface="Wingdings" panose="05000000000000000000" pitchFamily="2" charset="2"/>
              <a:buChar char="§"/>
              <a:defRPr/>
            </a:pPr>
            <a:endParaRPr lang="es-MX" sz="1000">
              <a:solidFill>
                <a:prstClr val="black"/>
              </a:solidFill>
              <a:latin typeface="Calibri" panose="020F0502020204030204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8856180" y="969029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algn="ctr" defTabSz="457200">
                <a:defRPr/>
              </a:pPr>
              <a:r>
                <a:rPr lang="es-MX" sz="1200" b="1">
                  <a:solidFill>
                    <a:prstClr val="black"/>
                  </a:solidFill>
                  <a:latin typeface="Calibri Light" panose="020F0302020204030204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0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1" y="1729359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6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8983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9589788" y="124807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9589788" y="1478403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9589789" y="1737726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9589789" y="1958409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1000" i="1">
                <a:solidFill>
                  <a:prstClr val="black"/>
                </a:solidFill>
                <a:latin typeface="Calibri Light" panose="020F0302020204030204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894604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9146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9912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8946705" y="336035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9146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9912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8946705" y="362759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9146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Retek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9912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8946705" y="3852615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9146366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>
                <a:solidFill>
                  <a:prstClr val="black"/>
                </a:solidFill>
                <a:latin typeface="Calibri Light" panose="020F0302020204030204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9704362" y="3118873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9705025" y="33596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9705025" y="3600407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8856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406074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defTabSz="457200">
                <a:defRPr/>
              </a:pPr>
              <a:r>
                <a:rPr lang="es-MX">
                  <a:solidFill>
                    <a:prstClr val="black"/>
                  </a:solidFill>
                  <a:latin typeface="Calibri Light" panose="020F0302020204030204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457200">
                <a:defRPr/>
              </a:pPr>
              <a:endParaRPr lang="es-MX">
                <a:solidFill>
                  <a:prstClr val="white"/>
                </a:solidFill>
                <a:latin typeface="Calibri" panose="020F0502020204030204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9912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457200">
              <a:defRPr/>
            </a:pPr>
            <a:r>
              <a:rPr lang="es-MX" sz="800" i="1" err="1">
                <a:solidFill>
                  <a:prstClr val="black"/>
                </a:solidFill>
                <a:latin typeface="Calibri Light" panose="020F0302020204030204"/>
              </a:rPr>
              <a:t>Autocad</a:t>
            </a:r>
            <a:endParaRPr lang="es-MX" sz="800" i="1">
              <a:solidFill>
                <a:prstClr val="black"/>
              </a:solidFill>
              <a:latin typeface="Calibri Light" panose="020F0302020204030204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9705025" y="384117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8946705" y="408252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9229020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9705025" y="4081941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9986183" y="4210997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8983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8983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8983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8983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8983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457200">
              <a:defRPr/>
            </a:pPr>
            <a:endParaRPr lang="es-MX">
              <a:solidFill>
                <a:prstClr val="white"/>
              </a:solidFill>
              <a:latin typeface="Calibri Light" panose="020F0302020204030204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9330891" y="2431241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9330891" y="2650335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8856180" y="4418249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8883622" y="123017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8832653" y="301420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9575380" y="3038443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DD6122-049D-87B2-9FCE-89D0475812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82462" y="157088"/>
            <a:ext cx="1047750" cy="532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0" name="CuadroTexto 49">
            <a:extLst>
              <a:ext uri="{FF2B5EF4-FFF2-40B4-BE49-F238E27FC236}">
                <a16:creationId xmlns:a16="http://schemas.microsoft.com/office/drawing/2014/main" id="{BF1B0612-260A-31B2-838C-9B4AFCB8764D}"/>
              </a:ext>
            </a:extLst>
          </p:cNvPr>
          <p:cNvSpPr txBox="1"/>
          <p:nvPr/>
        </p:nvSpPr>
        <p:spPr>
          <a:xfrm>
            <a:off x="8883622" y="193502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51" name="CuadroTexto 50">
            <a:extLst>
              <a:ext uri="{FF2B5EF4-FFF2-40B4-BE49-F238E27FC236}">
                <a16:creationId xmlns:a16="http://schemas.microsoft.com/office/drawing/2014/main" id="{A6107963-9004-24C6-7D35-077CC0F832B2}"/>
              </a:ext>
            </a:extLst>
          </p:cNvPr>
          <p:cNvSpPr txBox="1"/>
          <p:nvPr/>
        </p:nvSpPr>
        <p:spPr>
          <a:xfrm>
            <a:off x="8826518" y="3277371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457200">
              <a:defRPr/>
            </a:pPr>
            <a:r>
              <a:rPr lang="es-MX" sz="1200">
                <a:solidFill>
                  <a:prstClr val="black"/>
                </a:solidFill>
                <a:latin typeface="Calibri" panose="020F0502020204030204"/>
              </a:rPr>
              <a:t>X</a:t>
            </a:r>
          </a:p>
        </p:txBody>
      </p:sp>
      <p:sp>
        <p:nvSpPr>
          <p:cNvPr id="48" name="Rectángulo 47">
            <a:extLst>
              <a:ext uri="{FF2B5EF4-FFF2-40B4-BE49-F238E27FC236}">
                <a16:creationId xmlns:a16="http://schemas.microsoft.com/office/drawing/2014/main" id="{6F580220-5E98-4C3B-4293-9C354CF9ED12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>
          <a:extLst>
            <a:ext uri="{FF2B5EF4-FFF2-40B4-BE49-F238E27FC236}">
              <a16:creationId xmlns:a16="http://schemas.microsoft.com/office/drawing/2014/main" id="{AA8D71CC-25E5-3083-AA59-D48069D2D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685B80D0-ACE9-430D-0968-D497B6A86DE4}"/>
              </a:ext>
            </a:extLst>
          </p:cNvPr>
          <p:cNvSpPr/>
          <p:nvPr/>
        </p:nvSpPr>
        <p:spPr>
          <a:xfrm>
            <a:off x="4903268" y="2307026"/>
            <a:ext cx="1608840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Abasto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Lauro Tagle</a:t>
            </a: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6975D636-73BB-21EF-E5A3-82114D16F5CC}"/>
              </a:ext>
            </a:extLst>
          </p:cNvPr>
          <p:cNvSpPr/>
          <p:nvPr/>
        </p:nvSpPr>
        <p:spPr>
          <a:xfrm>
            <a:off x="4851061" y="168083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Director Cadena Suministro</a:t>
            </a:r>
          </a:p>
        </p:txBody>
      </p:sp>
      <p:cxnSp>
        <p:nvCxnSpPr>
          <p:cNvPr id="33" name="Conector recto 32">
            <a:extLst>
              <a:ext uri="{FF2B5EF4-FFF2-40B4-BE49-F238E27FC236}">
                <a16:creationId xmlns:a16="http://schemas.microsoft.com/office/drawing/2014/main" id="{9332E09C-E225-D9E3-526F-3AFCF8A8C4DB}"/>
              </a:ext>
            </a:extLst>
          </p:cNvPr>
          <p:cNvCxnSpPr>
            <a:cxnSpLocks/>
            <a:stCxn id="31" idx="2"/>
            <a:endCxn id="27" idx="0"/>
          </p:cNvCxnSpPr>
          <p:nvPr/>
        </p:nvCxnSpPr>
        <p:spPr>
          <a:xfrm flipH="1">
            <a:off x="5707688" y="2134434"/>
            <a:ext cx="2462" cy="172592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ángulo 29">
            <a:extLst>
              <a:ext uri="{FF2B5EF4-FFF2-40B4-BE49-F238E27FC236}">
                <a16:creationId xmlns:a16="http://schemas.microsoft.com/office/drawing/2014/main" id="{47A6FC54-A62D-9E15-75B3-034E27B67F04}"/>
              </a:ext>
            </a:extLst>
          </p:cNvPr>
          <p:cNvSpPr/>
          <p:nvPr/>
        </p:nvSpPr>
        <p:spPr>
          <a:xfrm>
            <a:off x="3720718" y="2969783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32EFAB8A-1A5C-B76D-17CB-81E752A31798}"/>
              </a:ext>
            </a:extLst>
          </p:cNvPr>
          <p:cNvSpPr/>
          <p:nvPr/>
        </p:nvSpPr>
        <p:spPr>
          <a:xfrm>
            <a:off x="6535863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252F0BDB-1258-8538-8AB5-ECB03C822DD7}"/>
              </a:ext>
            </a:extLst>
          </p:cNvPr>
          <p:cNvSpPr/>
          <p:nvPr/>
        </p:nvSpPr>
        <p:spPr>
          <a:xfrm>
            <a:off x="5100146" y="296954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cxnSp>
        <p:nvCxnSpPr>
          <p:cNvPr id="43" name="Conector: angular 42">
            <a:extLst>
              <a:ext uri="{FF2B5EF4-FFF2-40B4-BE49-F238E27FC236}">
                <a16:creationId xmlns:a16="http://schemas.microsoft.com/office/drawing/2014/main" id="{2BFB9C14-CF49-8026-6599-FFAE363FC324}"/>
              </a:ext>
            </a:extLst>
          </p:cNvPr>
          <p:cNvCxnSpPr>
            <a:stCxn id="30" idx="0"/>
            <a:endCxn id="27" idx="2"/>
          </p:cNvCxnSpPr>
          <p:nvPr/>
        </p:nvCxnSpPr>
        <p:spPr>
          <a:xfrm rot="5400000" flipH="1" flipV="1">
            <a:off x="4918758" y="2180854"/>
            <a:ext cx="209157" cy="136870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ector: angular 46">
            <a:extLst>
              <a:ext uri="{FF2B5EF4-FFF2-40B4-BE49-F238E27FC236}">
                <a16:creationId xmlns:a16="http://schemas.microsoft.com/office/drawing/2014/main" id="{C1127ABF-BD9A-F5B3-B01E-9B1DFAC88568}"/>
              </a:ext>
            </a:extLst>
          </p:cNvPr>
          <p:cNvCxnSpPr>
            <a:cxnSpLocks/>
            <a:stCxn id="39" idx="0"/>
            <a:endCxn id="27" idx="2"/>
          </p:cNvCxnSpPr>
          <p:nvPr/>
        </p:nvCxnSpPr>
        <p:spPr>
          <a:xfrm rot="5400000" flipH="1" flipV="1">
            <a:off x="3481069" y="743047"/>
            <a:ext cx="209040" cy="4244198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angular 48">
            <a:extLst>
              <a:ext uri="{FF2B5EF4-FFF2-40B4-BE49-F238E27FC236}">
                <a16:creationId xmlns:a16="http://schemas.microsoft.com/office/drawing/2014/main" id="{453EEA93-8E4C-3981-531C-15036E26F4BF}"/>
              </a:ext>
            </a:extLst>
          </p:cNvPr>
          <p:cNvCxnSpPr>
            <a:stCxn id="34" idx="0"/>
            <a:endCxn id="27" idx="2"/>
          </p:cNvCxnSpPr>
          <p:nvPr/>
        </p:nvCxnSpPr>
        <p:spPr>
          <a:xfrm rot="16200000" flipV="1">
            <a:off x="6326448" y="2141866"/>
            <a:ext cx="208922" cy="1446442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ector: angular 50">
            <a:extLst>
              <a:ext uri="{FF2B5EF4-FFF2-40B4-BE49-F238E27FC236}">
                <a16:creationId xmlns:a16="http://schemas.microsoft.com/office/drawing/2014/main" id="{7183C520-F779-D01B-2080-E05D60DFFF18}"/>
              </a:ext>
            </a:extLst>
          </p:cNvPr>
          <p:cNvCxnSpPr>
            <a:cxnSpLocks/>
            <a:stCxn id="41" idx="0"/>
            <a:endCxn id="27" idx="2"/>
          </p:cNvCxnSpPr>
          <p:nvPr/>
        </p:nvCxnSpPr>
        <p:spPr>
          <a:xfrm rot="5400000" flipH="1" flipV="1">
            <a:off x="4196284" y="1458026"/>
            <a:ext cx="208804" cy="281400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ector: angular 52">
            <a:extLst>
              <a:ext uri="{FF2B5EF4-FFF2-40B4-BE49-F238E27FC236}">
                <a16:creationId xmlns:a16="http://schemas.microsoft.com/office/drawing/2014/main" id="{C47A9A38-FE0C-AF2F-6030-E36EF4E1B5C5}"/>
              </a:ext>
            </a:extLst>
          </p:cNvPr>
          <p:cNvCxnSpPr>
            <a:stCxn id="36" idx="0"/>
            <a:endCxn id="27" idx="2"/>
          </p:cNvCxnSpPr>
          <p:nvPr/>
        </p:nvCxnSpPr>
        <p:spPr>
          <a:xfrm rot="16200000" flipV="1">
            <a:off x="5608590" y="2859724"/>
            <a:ext cx="208922" cy="1072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ectángulo 38">
            <a:extLst>
              <a:ext uri="{FF2B5EF4-FFF2-40B4-BE49-F238E27FC236}">
                <a16:creationId xmlns:a16="http://schemas.microsoft.com/office/drawing/2014/main" id="{AEDAF17E-34A3-971D-9BAF-B6F6084E112F}"/>
              </a:ext>
            </a:extLst>
          </p:cNvPr>
          <p:cNvSpPr/>
          <p:nvPr/>
        </p:nvSpPr>
        <p:spPr>
          <a:xfrm>
            <a:off x="845223" y="296966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C6516FBC-C73E-D502-1FF2-24AD86BBEE84}"/>
              </a:ext>
            </a:extLst>
          </p:cNvPr>
          <p:cNvSpPr/>
          <p:nvPr/>
        </p:nvSpPr>
        <p:spPr>
          <a:xfrm>
            <a:off x="2275417" y="2969430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C1AC66B0-B0F6-8032-1E47-E91F8FB27E71}"/>
              </a:ext>
            </a:extLst>
          </p:cNvPr>
          <p:cNvSpPr/>
          <p:nvPr/>
        </p:nvSpPr>
        <p:spPr>
          <a:xfrm>
            <a:off x="7978927" y="2969430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cxnSp>
        <p:nvCxnSpPr>
          <p:cNvPr id="48" name="Conector: angular 47">
            <a:extLst>
              <a:ext uri="{FF2B5EF4-FFF2-40B4-BE49-F238E27FC236}">
                <a16:creationId xmlns:a16="http://schemas.microsoft.com/office/drawing/2014/main" id="{A73CD7AD-4983-7724-856C-46CC654CA758}"/>
              </a:ext>
            </a:extLst>
          </p:cNvPr>
          <p:cNvCxnSpPr>
            <a:cxnSpLocks/>
            <a:stCxn id="46" idx="0"/>
            <a:endCxn id="27" idx="2"/>
          </p:cNvCxnSpPr>
          <p:nvPr/>
        </p:nvCxnSpPr>
        <p:spPr>
          <a:xfrm rot="16200000" flipV="1">
            <a:off x="7048039" y="1420275"/>
            <a:ext cx="208804" cy="2889506"/>
          </a:xfrm>
          <a:prstGeom prst="bentConnector3">
            <a:avLst>
              <a:gd name="adj1" fmla="val 50000"/>
            </a:avLst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7" name="Bocadillo: rectángulo con esquinas redondeadas 196">
            <a:extLst>
              <a:ext uri="{FF2B5EF4-FFF2-40B4-BE49-F238E27FC236}">
                <a16:creationId xmlns:a16="http://schemas.microsoft.com/office/drawing/2014/main" id="{19FE0ED9-7EE0-61F9-EC24-6B9EE9AB0970}"/>
              </a:ext>
            </a:extLst>
          </p:cNvPr>
          <p:cNvSpPr/>
          <p:nvPr/>
        </p:nvSpPr>
        <p:spPr>
          <a:xfrm>
            <a:off x="9566547" y="2785013"/>
            <a:ext cx="2061048" cy="640856"/>
          </a:xfrm>
          <a:prstGeom prst="wedgeRoundRectCallout">
            <a:avLst>
              <a:gd name="adj1" fmla="val -66264"/>
              <a:gd name="adj2" fmla="val 11233"/>
              <a:gd name="adj3" fmla="val 16667"/>
            </a:avLst>
          </a:prstGeom>
          <a:solidFill>
            <a:srgbClr val="F6F6F0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800">
                <a:solidFill>
                  <a:schemeClr val="tx1"/>
                </a:solidFill>
              </a:rPr>
              <a:t>FTE adicional, se recupera de la centralización de abasto en operaciones, aquí se ampliará </a:t>
            </a:r>
            <a:r>
              <a:rPr lang="es-ES" sz="800" err="1">
                <a:solidFill>
                  <a:schemeClr val="tx1"/>
                </a:solidFill>
              </a:rPr>
              <a:t>SoC</a:t>
            </a:r>
            <a:r>
              <a:rPr lang="es-ES" sz="800">
                <a:solidFill>
                  <a:schemeClr val="tx1"/>
                </a:solidFill>
              </a:rPr>
              <a:t> una vez centralizadas las funciones</a:t>
            </a:r>
            <a:endParaRPr lang="es-MX" sz="800">
              <a:solidFill>
                <a:schemeClr val="tx1"/>
              </a:solidFill>
            </a:endParaRPr>
          </a:p>
        </p:txBody>
      </p:sp>
      <p:sp>
        <p:nvSpPr>
          <p:cNvPr id="200" name="Rectángulo 199">
            <a:extLst>
              <a:ext uri="{FF2B5EF4-FFF2-40B4-BE49-F238E27FC236}">
                <a16:creationId xmlns:a16="http://schemas.microsoft.com/office/drawing/2014/main" id="{82E13FB6-AAC2-D4DF-E99C-49632376B68E}"/>
              </a:ext>
            </a:extLst>
          </p:cNvPr>
          <p:cNvSpPr/>
          <p:nvPr/>
        </p:nvSpPr>
        <p:spPr>
          <a:xfrm>
            <a:off x="2280178" y="3423028"/>
            <a:ext cx="1231011" cy="172831"/>
          </a:xfrm>
          <a:prstGeom prst="rect">
            <a:avLst/>
          </a:prstGeom>
          <a:solidFill>
            <a:schemeClr val="bg1">
              <a:lumMod val="8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600" i="1">
                <a:solidFill>
                  <a:schemeClr val="tx1"/>
                </a:solidFill>
              </a:rPr>
              <a:t>2  vacantes, Analista Abasto</a:t>
            </a:r>
            <a:endParaRPr lang="es-MX" sz="600" i="1">
              <a:solidFill>
                <a:schemeClr val="tx1"/>
              </a:solidFill>
            </a:endParaRPr>
          </a:p>
        </p:txBody>
      </p:sp>
      <p:pic>
        <p:nvPicPr>
          <p:cNvPr id="259" name="Imagen 258">
            <a:hlinkClick r:id="rId4" action="ppaction://hlinksldjump"/>
            <a:extLst>
              <a:ext uri="{FF2B5EF4-FFF2-40B4-BE49-F238E27FC236}">
                <a16:creationId xmlns:a16="http://schemas.microsoft.com/office/drawing/2014/main" id="{56574E46-B9FB-C21B-56AB-E6727A8527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61" name="CuadroTexto 260">
            <a:extLst>
              <a:ext uri="{FF2B5EF4-FFF2-40B4-BE49-F238E27FC236}">
                <a16:creationId xmlns:a16="http://schemas.microsoft.com/office/drawing/2014/main" id="{07283218-3E23-D281-2EC9-3CE8DA51E908}"/>
              </a:ext>
            </a:extLst>
          </p:cNvPr>
          <p:cNvSpPr txBox="1"/>
          <p:nvPr/>
        </p:nvSpPr>
        <p:spPr>
          <a:xfrm>
            <a:off x="444843" y="1330609"/>
            <a:ext cx="4378616" cy="10310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100" b="1"/>
              <a:t>Propósito</a:t>
            </a:r>
          </a:p>
          <a:p>
            <a:r>
              <a:rPr lang="es-MX" sz="1000"/>
              <a:t>Diseñar y operar la estrategia de </a:t>
            </a:r>
            <a:r>
              <a:rPr lang="es-MX" sz="1000" b="1"/>
              <a:t>demanda, abasto y suministro </a:t>
            </a:r>
            <a:r>
              <a:rPr lang="es-MX" sz="1000"/>
              <a:t>de OXXO México, con el fin de potencializar la propuesta de valor centrada en el Cliente, con el fin de garantizar la abasto sustentable y sostenible de acuerdo con la expansión del negocio con sus nuevos canales y  capas de valor agregadas.​ 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15943841-D0E0-2FDA-A509-DF366A3D331D}"/>
              </a:ext>
            </a:extLst>
          </p:cNvPr>
          <p:cNvSpPr/>
          <p:nvPr/>
        </p:nvSpPr>
        <p:spPr>
          <a:xfrm>
            <a:off x="847984" y="3791677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631D6DEB-59A3-D310-FE8A-C471154E947D}"/>
              </a:ext>
            </a:extLst>
          </p:cNvPr>
          <p:cNvSpPr/>
          <p:nvPr/>
        </p:nvSpPr>
        <p:spPr>
          <a:xfrm>
            <a:off x="228272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F49E4E79-E6C0-C204-4595-50CF6C708E1C}"/>
              </a:ext>
            </a:extLst>
          </p:cNvPr>
          <p:cNvSpPr/>
          <p:nvPr/>
        </p:nvSpPr>
        <p:spPr>
          <a:xfrm>
            <a:off x="3766886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7A5135EF-299A-CD02-2D8F-6717466AD939}"/>
              </a:ext>
            </a:extLst>
          </p:cNvPr>
          <p:cNvSpPr/>
          <p:nvPr/>
        </p:nvSpPr>
        <p:spPr>
          <a:xfrm>
            <a:off x="5141521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4" name="Rectángulo 53">
            <a:extLst>
              <a:ext uri="{FF2B5EF4-FFF2-40B4-BE49-F238E27FC236}">
                <a16:creationId xmlns:a16="http://schemas.microsoft.com/office/drawing/2014/main" id="{1E2E832B-62AD-8C67-EDFE-3202526BDFA4}"/>
              </a:ext>
            </a:extLst>
          </p:cNvPr>
          <p:cNvSpPr/>
          <p:nvPr/>
        </p:nvSpPr>
        <p:spPr>
          <a:xfrm>
            <a:off x="6535863" y="3791676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33AAFDBB-C06D-FA7C-609D-204DD13C03CF}"/>
              </a:ext>
            </a:extLst>
          </p:cNvPr>
          <p:cNvSpPr/>
          <p:nvPr/>
        </p:nvSpPr>
        <p:spPr>
          <a:xfrm>
            <a:off x="7984450" y="3791675"/>
            <a:ext cx="1231011" cy="253824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628B153-EE1E-848A-6D1D-FFAF5889D3FF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3" name="Título 3">
            <a:extLst>
              <a:ext uri="{FF2B5EF4-FFF2-40B4-BE49-F238E27FC236}">
                <a16:creationId xmlns:a16="http://schemas.microsoft.com/office/drawing/2014/main" id="{202F7401-ED31-48E2-0F9A-CABF5C4E9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Principales contribuciones del área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563744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942977" y="131397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95537519-FC68-3EE9-AA6E-7347B173A5F9}"/>
              </a:ext>
            </a:extLst>
          </p:cNvPr>
          <p:cNvSpPr/>
          <p:nvPr/>
        </p:nvSpPr>
        <p:spPr>
          <a:xfrm>
            <a:off x="6125759" y="2223741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Reposición Diaria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Isolda Hernandez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DF7BD93-7152-5D76-C4BB-ADC289E2F8EA}"/>
              </a:ext>
            </a:extLst>
          </p:cNvPr>
          <p:cNvSpPr/>
          <p:nvPr/>
        </p:nvSpPr>
        <p:spPr>
          <a:xfrm>
            <a:off x="8940904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Marcas Propias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Gabriela Reyes Garza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95AE0D19-6275-945D-FCC2-FC25B0BF8A0B}"/>
              </a:ext>
            </a:extLst>
          </p:cNvPr>
          <p:cNvSpPr/>
          <p:nvPr/>
        </p:nvSpPr>
        <p:spPr>
          <a:xfrm>
            <a:off x="7505187" y="2223506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Abasto 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Food</a:t>
            </a:r>
            <a:r>
              <a:rPr lang="es-MX" sz="7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kumimoji="0" lang="es-MX" sz="7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ervice</a:t>
            </a:r>
            <a:endParaRPr kumimoji="0" lang="es-MX" sz="7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Rosmil</a:t>
            </a: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Gabriela Sanchez</a:t>
            </a: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F512CCB-1B7F-51AF-359E-0F1F7BCDB0E9}"/>
              </a:ext>
            </a:extLst>
          </p:cNvPr>
          <p:cNvSpPr/>
          <p:nvPr/>
        </p:nvSpPr>
        <p:spPr>
          <a:xfrm>
            <a:off x="3250264" y="2223624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Suzell Denise Silva 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EA7DC22D-BA2A-5432-3ED2-74FE3E4BEF0A}"/>
              </a:ext>
            </a:extLst>
          </p:cNvPr>
          <p:cNvSpPr/>
          <p:nvPr/>
        </p:nvSpPr>
        <p:spPr>
          <a:xfrm>
            <a:off x="4680458" y="2223388"/>
            <a:ext cx="1236534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Área Abasto Impulso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 Karen de Leon</a:t>
            </a: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14B87331-BA78-592E-5E35-056340EF3FB5}"/>
              </a:ext>
            </a:extLst>
          </p:cNvPr>
          <p:cNvSpPr/>
          <p:nvPr/>
        </p:nvSpPr>
        <p:spPr>
          <a:xfrm>
            <a:off x="10383968" y="2223388"/>
            <a:ext cx="1236534" cy="453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rgbClr val="92D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7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Responsable Soporte Abasto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5CC0F0DE-AFA5-A6C3-F19D-088D02D8A134}"/>
              </a:ext>
            </a:extLst>
          </p:cNvPr>
          <p:cNvSpPr/>
          <p:nvPr/>
        </p:nvSpPr>
        <p:spPr>
          <a:xfrm>
            <a:off x="3253025" y="3045635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MX" sz="1400">
                <a:solidFill>
                  <a:sysClr val="windowText" lastClr="000000"/>
                </a:solidFill>
              </a:rPr>
              <a:t>- </a:t>
            </a:r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4A55959C-76D7-F282-E4EB-8710A3C0B335}"/>
              </a:ext>
            </a:extLst>
          </p:cNvPr>
          <p:cNvSpPr/>
          <p:nvPr/>
        </p:nvSpPr>
        <p:spPr>
          <a:xfrm>
            <a:off x="468776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19" name="Rectángulo 18">
            <a:extLst>
              <a:ext uri="{FF2B5EF4-FFF2-40B4-BE49-F238E27FC236}">
                <a16:creationId xmlns:a16="http://schemas.microsoft.com/office/drawing/2014/main" id="{213819E4-F31F-AF16-15AD-4E04A1DB035D}"/>
              </a:ext>
            </a:extLst>
          </p:cNvPr>
          <p:cNvSpPr/>
          <p:nvPr/>
        </p:nvSpPr>
        <p:spPr>
          <a:xfrm>
            <a:off x="6171927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AA2A9CB-7090-ACB9-4A82-F9D2119C47A2}"/>
              </a:ext>
            </a:extLst>
          </p:cNvPr>
          <p:cNvSpPr/>
          <p:nvPr/>
        </p:nvSpPr>
        <p:spPr>
          <a:xfrm>
            <a:off x="7546562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CE1D01FD-584F-0E3B-7A3D-DC5F5668C290}"/>
              </a:ext>
            </a:extLst>
          </p:cNvPr>
          <p:cNvSpPr/>
          <p:nvPr/>
        </p:nvSpPr>
        <p:spPr>
          <a:xfrm>
            <a:off x="8940904" y="3045634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918B9043-5A2A-40A0-B544-35C4CEC6B9A9}"/>
              </a:ext>
            </a:extLst>
          </p:cNvPr>
          <p:cNvSpPr/>
          <p:nvPr/>
        </p:nvSpPr>
        <p:spPr>
          <a:xfrm>
            <a:off x="10389491" y="3045633"/>
            <a:ext cx="1231011" cy="274556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400">
                <a:solidFill>
                  <a:sysClr val="windowText" lastClr="000000"/>
                </a:solidFill>
              </a:rPr>
              <a:t>-</a:t>
            </a:r>
            <a:endParaRPr lang="es-MX" sz="1400">
              <a:solidFill>
                <a:sysClr val="windowText" lastClr="000000"/>
              </a:solidFill>
            </a:endParaRP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BA7F6532-A7BD-E20F-DDEA-9BE761F99408}"/>
              </a:ext>
            </a:extLst>
          </p:cNvPr>
          <p:cNvSpPr/>
          <p:nvPr/>
        </p:nvSpPr>
        <p:spPr>
          <a:xfrm>
            <a:off x="66675" y="1112280"/>
            <a:ext cx="942975" cy="218329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>
                <a:solidFill>
                  <a:schemeClr val="tx1"/>
                </a:solidFill>
              </a:rPr>
              <a:t>Ejemplo</a:t>
            </a:r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>
                <a:highlight>
                  <a:srgbClr val="FFFF00"/>
                </a:highlight>
              </a:rPr>
              <a:t>Plataforma</a:t>
            </a:r>
            <a:endParaRPr lang="es-MX">
              <a:highlight>
                <a:srgbClr val="FFFF00"/>
              </a:highlight>
            </a:endParaRP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CECF3C7D-9F9C-75E8-5E40-7414BCE30AD9}"/>
              </a:ext>
            </a:extLst>
          </p:cNvPr>
          <p:cNvSpPr/>
          <p:nvPr/>
        </p:nvSpPr>
        <p:spPr>
          <a:xfrm>
            <a:off x="538161" y="2223388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Proceso/Actividad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6F5DADD0-1B05-51B3-3CA2-5D066DF0CF9A}"/>
              </a:ext>
            </a:extLst>
          </p:cNvPr>
          <p:cNvSpPr/>
          <p:nvPr/>
        </p:nvSpPr>
        <p:spPr>
          <a:xfrm>
            <a:off x="538161" y="304563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A8C5DBC-DB50-9649-10E4-2111B3E8CE0A}"/>
              </a:ext>
            </a:extLst>
          </p:cNvPr>
          <p:cNvSpPr txBox="1"/>
          <p:nvPr/>
        </p:nvSpPr>
        <p:spPr>
          <a:xfrm>
            <a:off x="439532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Enlistar por prioridad e impacto</a:t>
            </a:r>
            <a:endParaRPr lang="es-MX" sz="800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5EFEE4DD-31C5-7022-5306-BF095519AA19}"/>
              </a:ext>
            </a:extLst>
          </p:cNvPr>
          <p:cNvSpPr txBox="1"/>
          <p:nvPr/>
        </p:nvSpPr>
        <p:spPr>
          <a:xfrm>
            <a:off x="3211345" y="2829837"/>
            <a:ext cx="6096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</a:t>
            </a:r>
            <a:endParaRPr lang="es-MX" sz="80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E56DB0F4-F54B-DF39-E43F-BF3E44DF62C3}"/>
              </a:ext>
            </a:extLst>
          </p:cNvPr>
          <p:cNvSpPr/>
          <p:nvPr/>
        </p:nvSpPr>
        <p:spPr>
          <a:xfrm>
            <a:off x="3250264" y="304528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30C542EF-81FF-8D4A-E88C-70C85511A91A}"/>
              </a:ext>
            </a:extLst>
          </p:cNvPr>
          <p:cNvSpPr txBox="1"/>
          <p:nvPr/>
        </p:nvSpPr>
        <p:spPr>
          <a:xfrm>
            <a:off x="3796649" y="314041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1A8952F6-2F5B-8239-E882-6ED79848E8A2}"/>
              </a:ext>
            </a:extLst>
          </p:cNvPr>
          <p:cNvSpPr/>
          <p:nvPr/>
        </p:nvSpPr>
        <p:spPr>
          <a:xfrm>
            <a:off x="538161" y="357753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7BBFC8E0-35FB-B5A4-F0B4-168B43A815EE}"/>
              </a:ext>
            </a:extLst>
          </p:cNvPr>
          <p:cNvSpPr/>
          <p:nvPr/>
        </p:nvSpPr>
        <p:spPr>
          <a:xfrm>
            <a:off x="3250264" y="357718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7" name="CuadroTexto 26">
            <a:extLst>
              <a:ext uri="{FF2B5EF4-FFF2-40B4-BE49-F238E27FC236}">
                <a16:creationId xmlns:a16="http://schemas.microsoft.com/office/drawing/2014/main" id="{06879978-8430-034C-C550-3A606B237594}"/>
              </a:ext>
            </a:extLst>
          </p:cNvPr>
          <p:cNvSpPr txBox="1"/>
          <p:nvPr/>
        </p:nvSpPr>
        <p:spPr>
          <a:xfrm>
            <a:off x="3796649" y="367232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9690A9AE-2B8D-37E7-C767-097881075089}"/>
              </a:ext>
            </a:extLst>
          </p:cNvPr>
          <p:cNvSpPr/>
          <p:nvPr/>
        </p:nvSpPr>
        <p:spPr>
          <a:xfrm>
            <a:off x="538161" y="4109087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B3D3B606-C3BB-D04B-D3D2-98061EEACD16}"/>
              </a:ext>
            </a:extLst>
          </p:cNvPr>
          <p:cNvSpPr/>
          <p:nvPr/>
        </p:nvSpPr>
        <p:spPr>
          <a:xfrm>
            <a:off x="3250264" y="4108735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0" name="CuadroTexto 29">
            <a:extLst>
              <a:ext uri="{FF2B5EF4-FFF2-40B4-BE49-F238E27FC236}">
                <a16:creationId xmlns:a16="http://schemas.microsoft.com/office/drawing/2014/main" id="{CE645B8E-233E-8121-1523-D16F498EE32E}"/>
              </a:ext>
            </a:extLst>
          </p:cNvPr>
          <p:cNvSpPr txBox="1"/>
          <p:nvPr/>
        </p:nvSpPr>
        <p:spPr>
          <a:xfrm>
            <a:off x="3796649" y="4203871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293DAA71-D951-5914-3576-1662F6F8D1A5}"/>
              </a:ext>
            </a:extLst>
          </p:cNvPr>
          <p:cNvSpPr/>
          <p:nvPr/>
        </p:nvSpPr>
        <p:spPr>
          <a:xfrm>
            <a:off x="538161" y="4657823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42788C3E-D93E-F83F-E668-407404095D83}"/>
              </a:ext>
            </a:extLst>
          </p:cNvPr>
          <p:cNvSpPr/>
          <p:nvPr/>
        </p:nvSpPr>
        <p:spPr>
          <a:xfrm>
            <a:off x="3250264" y="4657471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3" name="CuadroTexto 32">
            <a:extLst>
              <a:ext uri="{FF2B5EF4-FFF2-40B4-BE49-F238E27FC236}">
                <a16:creationId xmlns:a16="http://schemas.microsoft.com/office/drawing/2014/main" id="{4DCCC991-E4C3-6D82-7168-6FD63133D816}"/>
              </a:ext>
            </a:extLst>
          </p:cNvPr>
          <p:cNvSpPr txBox="1"/>
          <p:nvPr/>
        </p:nvSpPr>
        <p:spPr>
          <a:xfrm>
            <a:off x="3796649" y="4752607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B9DB0C9F-61C6-F4E4-746F-C58E15200BF0}"/>
              </a:ext>
            </a:extLst>
          </p:cNvPr>
          <p:cNvSpPr/>
          <p:nvPr/>
        </p:nvSpPr>
        <p:spPr>
          <a:xfrm>
            <a:off x="538161" y="5225056"/>
            <a:ext cx="2512919" cy="45360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>
            <a:defPPr>
              <a:defRPr lang="es-MX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</a:t>
            </a: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.-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5C225143-E6F9-47ED-285E-753917605E9C}"/>
              </a:ext>
            </a:extLst>
          </p:cNvPr>
          <p:cNvSpPr/>
          <p:nvPr/>
        </p:nvSpPr>
        <p:spPr>
          <a:xfrm>
            <a:off x="3250264" y="5224704"/>
            <a:ext cx="8370238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36" name="CuadroTexto 35">
            <a:extLst>
              <a:ext uri="{FF2B5EF4-FFF2-40B4-BE49-F238E27FC236}">
                <a16:creationId xmlns:a16="http://schemas.microsoft.com/office/drawing/2014/main" id="{B66860F7-8486-22FF-8CBE-550E4C9DE66D}"/>
              </a:ext>
            </a:extLst>
          </p:cNvPr>
          <p:cNvSpPr txBox="1"/>
          <p:nvPr/>
        </p:nvSpPr>
        <p:spPr>
          <a:xfrm>
            <a:off x="3796649" y="5319840"/>
            <a:ext cx="323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1400"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endParaRPr lang="es-MX" sz="14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440010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0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0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8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6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70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schemas.microsoft.com/office/infopath/2007/PartnerControls"/>
    <ds:schemaRef ds:uri="http://schemas.microsoft.com/office/2006/metadata/properties"/>
    <ds:schemaRef ds:uri="http://purl.org/dc/dcmitype/"/>
    <ds:schemaRef ds:uri="http://schemas.microsoft.com/office/2006/documentManagement/types"/>
    <ds:schemaRef ds:uri="http://purl.org/dc/terms/"/>
    <ds:schemaRef ds:uri="http://purl.org/dc/elements/1.1/"/>
    <ds:schemaRef ds:uri="http://schemas.openxmlformats.org/package/2006/metadata/core-properties"/>
    <ds:schemaRef ds:uri="7ff1139c-9d19-4981-a26c-d6e7dc37fc8a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5639</TotalTime>
  <Words>2495</Words>
  <Application>Microsoft Office PowerPoint</Application>
  <PresentationFormat>Panorámica</PresentationFormat>
  <Paragraphs>296</Paragraphs>
  <Slides>13</Slides>
  <Notes>5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13</vt:i4>
      </vt:variant>
    </vt:vector>
  </HeadingPairs>
  <TitlesOfParts>
    <vt:vector size="24" baseType="lpstr">
      <vt:lpstr>ＭＳ Ｐゴシック</vt:lpstr>
      <vt:lpstr>Aptos</vt:lpstr>
      <vt:lpstr>Aptos Display</vt:lpstr>
      <vt:lpstr>Arial</vt:lpstr>
      <vt:lpstr>Calibri</vt:lpstr>
      <vt:lpstr>Lucida Grande</vt:lpstr>
      <vt:lpstr>Open Sans</vt:lpstr>
      <vt:lpstr>Times New Roman</vt:lpstr>
      <vt:lpstr>Wingdings</vt:lpstr>
      <vt:lpstr>Tema de Office</vt:lpstr>
      <vt:lpstr>Master</vt:lpstr>
      <vt:lpstr>Fit for Purpose 2026 PF&amp;A y Commercial Finance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Presentación de PowerPoint</vt:lpstr>
      <vt:lpstr>Presentación de PowerPoint</vt:lpstr>
      <vt:lpstr>Principales contribuciones del área Finanzas – PF&amp;A y Commercial Finance</vt:lpstr>
      <vt:lpstr>Interacciones entre áreas y procesos clave Finanzas – PF&amp;A y Commercial Finance</vt:lpstr>
      <vt:lpstr>Preguntas de reflexión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Rodriguez Barcenas Beatriz Adriana</cp:lastModifiedBy>
  <cp:revision>3</cp:revision>
  <dcterms:created xsi:type="dcterms:W3CDTF">2026-02-23T22:40:37Z</dcterms:created>
  <dcterms:modified xsi:type="dcterms:W3CDTF">2026-03-30T15:26:24Z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