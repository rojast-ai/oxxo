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PW+EcSq/Is4iU4u3BOxo1FP9B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g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8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 dibujo de una cara feliz&#10;&#10;Descripción generada automáticamente con confianza baja" id="23" name="Google Shape;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757" y="1850551"/>
            <a:ext cx="2865004" cy="14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Img" showMasterSp="0">
  <p:cSld name="Final Img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30" name="Google Shape;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2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  <a:defRPr b="1"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Icono&#10;&#10;Descripción generada automáticamente con confianza media" id="35" name="Google Shape;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5780" y="1658585"/>
            <a:ext cx="3262106" cy="17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2"/>
          <p:cNvSpPr txBox="1"/>
          <p:nvPr>
            <p:ph type="title"/>
          </p:nvPr>
        </p:nvSpPr>
        <p:spPr>
          <a:xfrm>
            <a:off x="1067598" y="2519363"/>
            <a:ext cx="7190035" cy="181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1067598" y="6282000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Icono&#10;&#10;Descripción generada automáticamente con confianza media" id="40" name="Google Shape;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37" y="414725"/>
            <a:ext cx="1841374" cy="99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839788" y="365125"/>
            <a:ext cx="94410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/>
          <p:nvPr>
            <p:ph idx="2" type="pic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35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60" name="Google Shape;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1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idx="1" type="body"/>
          </p:nvPr>
        </p:nvSpPr>
        <p:spPr>
          <a:xfrm>
            <a:off x="831850" y="2155371"/>
            <a:ext cx="9385170" cy="393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6" name="Google Shape;66;p37"/>
          <p:cNvSpPr txBox="1"/>
          <p:nvPr>
            <p:ph type="title"/>
          </p:nvPr>
        </p:nvSpPr>
        <p:spPr>
          <a:xfrm>
            <a:off x="831850" y="696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B532"/>
              </a:buClr>
              <a:buSzPts val="3600"/>
              <a:buFont typeface="Avenir"/>
              <a:buNone/>
              <a:defRPr b="1" sz="3600">
                <a:solidFill>
                  <a:srgbClr val="FEB5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7"/>
          <p:cNvGrpSpPr/>
          <p:nvPr/>
        </p:nvGrpSpPr>
        <p:grpSpPr>
          <a:xfrm>
            <a:off x="0" y="0"/>
            <a:ext cx="12193199" cy="6657231"/>
            <a:chOff x="0" y="0"/>
            <a:chExt cx="12193199" cy="6657231"/>
          </a:xfrm>
        </p:grpSpPr>
        <p:sp>
          <p:nvSpPr>
            <p:cNvPr id="11" name="Google Shape;11;p27"/>
            <p:cNvSpPr/>
            <p:nvPr/>
          </p:nvSpPr>
          <p:spPr>
            <a:xfrm>
              <a:off x="5951805" y="0"/>
              <a:ext cx="6241330" cy="6657231"/>
            </a:xfrm>
            <a:custGeom>
              <a:rect b="b" l="l" r="r" t="t"/>
              <a:pathLst>
                <a:path extrusionOk="0" h="6657231" w="6241330">
                  <a:moveTo>
                    <a:pt x="5360372" y="6443737"/>
                  </a:moveTo>
                  <a:cubicBezTo>
                    <a:pt x="4900968" y="6708750"/>
                    <a:pt x="4330174" y="6708750"/>
                    <a:pt x="3870769" y="6443737"/>
                  </a:cubicBezTo>
                  <a:lnTo>
                    <a:pt x="759535" y="4649175"/>
                  </a:lnTo>
                  <a:cubicBezTo>
                    <a:pt x="300131" y="4384162"/>
                    <a:pt x="14733" y="3890364"/>
                    <a:pt x="14733" y="3360339"/>
                  </a:cubicBezTo>
                  <a:lnTo>
                    <a:pt x="14733" y="0"/>
                  </a:lnTo>
                  <a:lnTo>
                    <a:pt x="0" y="0"/>
                  </a:lnTo>
                  <a:lnTo>
                    <a:pt x="0" y="3360402"/>
                  </a:lnTo>
                  <a:cubicBezTo>
                    <a:pt x="0" y="3895630"/>
                    <a:pt x="288191" y="4394377"/>
                    <a:pt x="752168" y="4661991"/>
                  </a:cubicBezTo>
                  <a:lnTo>
                    <a:pt x="3863403" y="6456553"/>
                  </a:lnTo>
                  <a:cubicBezTo>
                    <a:pt x="4095391" y="6590360"/>
                    <a:pt x="4355450" y="6657232"/>
                    <a:pt x="4615571" y="6657232"/>
                  </a:cubicBezTo>
                  <a:cubicBezTo>
                    <a:pt x="4875692" y="6657232"/>
                    <a:pt x="5135751" y="6590360"/>
                    <a:pt x="5367739" y="6456553"/>
                  </a:cubicBezTo>
                  <a:lnTo>
                    <a:pt x="6241331" y="5952667"/>
                  </a:lnTo>
                  <a:lnTo>
                    <a:pt x="6241331" y="5935600"/>
                  </a:lnTo>
                  <a:lnTo>
                    <a:pt x="5360309" y="6443737"/>
                  </a:ln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7"/>
            <p:cNvSpPr/>
            <p:nvPr/>
          </p:nvSpPr>
          <p:spPr>
            <a:xfrm>
              <a:off x="0" y="0"/>
              <a:ext cx="4781385" cy="3597371"/>
            </a:xfrm>
            <a:custGeom>
              <a:rect b="b" l="l" r="r" t="t"/>
              <a:pathLst>
                <a:path extrusionOk="0" h="3597371" w="4781385">
                  <a:moveTo>
                    <a:pt x="2131397" y="3597372"/>
                  </a:moveTo>
                  <a:cubicBezTo>
                    <a:pt x="2281145" y="3597372"/>
                    <a:pt x="2430892" y="3558860"/>
                    <a:pt x="2564446" y="3481837"/>
                  </a:cubicBezTo>
                  <a:lnTo>
                    <a:pt x="4348337" y="2452875"/>
                  </a:lnTo>
                  <a:cubicBezTo>
                    <a:pt x="4615444" y="2298828"/>
                    <a:pt x="4781386" y="2011673"/>
                    <a:pt x="4781386" y="1703517"/>
                  </a:cubicBezTo>
                  <a:lnTo>
                    <a:pt x="4781386" y="0"/>
                  </a:lnTo>
                  <a:lnTo>
                    <a:pt x="4765827" y="0"/>
                  </a:lnTo>
                  <a:lnTo>
                    <a:pt x="4765827" y="1703517"/>
                  </a:lnTo>
                  <a:cubicBezTo>
                    <a:pt x="4765827" y="2006153"/>
                    <a:pt x="4602870" y="2288106"/>
                    <a:pt x="4340525" y="2439424"/>
                  </a:cubicBezTo>
                  <a:lnTo>
                    <a:pt x="2556635" y="3468387"/>
                  </a:lnTo>
                  <a:cubicBezTo>
                    <a:pt x="2294354" y="3619705"/>
                    <a:pt x="1968440" y="3619705"/>
                    <a:pt x="1706095" y="3468387"/>
                  </a:cubicBezTo>
                  <a:lnTo>
                    <a:pt x="0" y="2484280"/>
                  </a:lnTo>
                  <a:lnTo>
                    <a:pt x="0" y="2502172"/>
                  </a:lnTo>
                  <a:lnTo>
                    <a:pt x="1698348" y="3481774"/>
                  </a:lnTo>
                  <a:cubicBezTo>
                    <a:pt x="1831901" y="3558797"/>
                    <a:pt x="1981649" y="3597308"/>
                    <a:pt x="2131397" y="3597308"/>
                  </a:cubicBez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>
              <a:off x="10140360" y="0"/>
              <a:ext cx="2052839" cy="1624083"/>
            </a:xfrm>
            <a:custGeom>
              <a:rect b="b" l="l" r="r" t="t"/>
              <a:pathLst>
                <a:path extrusionOk="0" h="1624083" w="2052839">
                  <a:moveTo>
                    <a:pt x="1485221" y="1555499"/>
                  </a:moveTo>
                  <a:cubicBezTo>
                    <a:pt x="1359732" y="1627890"/>
                    <a:pt x="1203761" y="1627890"/>
                    <a:pt x="1078273" y="1555499"/>
                  </a:cubicBezTo>
                  <a:lnTo>
                    <a:pt x="217700" y="1059099"/>
                  </a:lnTo>
                  <a:cubicBezTo>
                    <a:pt x="92211" y="986708"/>
                    <a:pt x="14225" y="851759"/>
                    <a:pt x="14225" y="706976"/>
                  </a:cubicBezTo>
                  <a:lnTo>
                    <a:pt x="14225" y="0"/>
                  </a:lnTo>
                  <a:lnTo>
                    <a:pt x="0" y="0"/>
                  </a:lnTo>
                  <a:lnTo>
                    <a:pt x="0" y="707039"/>
                  </a:lnTo>
                  <a:cubicBezTo>
                    <a:pt x="0" y="856898"/>
                    <a:pt x="80716" y="996542"/>
                    <a:pt x="210587" y="1071471"/>
                  </a:cubicBezTo>
                  <a:lnTo>
                    <a:pt x="1071160" y="1567870"/>
                  </a:lnTo>
                  <a:cubicBezTo>
                    <a:pt x="1136127" y="1605367"/>
                    <a:pt x="1208905" y="1624083"/>
                    <a:pt x="1281746" y="1624083"/>
                  </a:cubicBezTo>
                  <a:cubicBezTo>
                    <a:pt x="1354589" y="1624083"/>
                    <a:pt x="1427367" y="1605367"/>
                    <a:pt x="1492333" y="1567870"/>
                  </a:cubicBezTo>
                  <a:lnTo>
                    <a:pt x="2052840" y="1244551"/>
                  </a:lnTo>
                  <a:lnTo>
                    <a:pt x="2052840" y="1228119"/>
                  </a:lnTo>
                  <a:lnTo>
                    <a:pt x="1485221" y="1555499"/>
                  </a:lnTo>
                  <a:close/>
                </a:path>
              </a:pathLst>
            </a:custGeom>
            <a:solidFill>
              <a:srgbClr val="FF5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" name="Google Shape;14;p27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27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6828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" name="Google Shape;17;p27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pic>
        <p:nvPicPr>
          <p:cNvPr descr="Un dibujo de una cara feliz&#10;&#10;Descripción generada automáticamente con confianza baja" id="18" name="Google Shape;18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46478" y="274317"/>
            <a:ext cx="1215041" cy="6058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s-MX" sz="3200"/>
              <a:t>Finanzas</a:t>
            </a:r>
            <a:endParaRPr sz="3200"/>
          </a:p>
        </p:txBody>
      </p:sp>
      <p:sp>
        <p:nvSpPr>
          <p:cNvPr id="72" name="Google Shape;72;p1"/>
          <p:cNvSpPr txBox="1"/>
          <p:nvPr>
            <p:ph idx="1" type="subTitle"/>
          </p:nvPr>
        </p:nvSpPr>
        <p:spPr>
          <a:xfrm>
            <a:off x="939816" y="5344363"/>
            <a:ext cx="5723874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s-MX" sz="2400"/>
              <a:t>Estructuras Organizacionales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Finanzas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-2" y="1121805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160318" y="1332793"/>
            <a:ext cx="188110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Finanzas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0507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Nacional Admvo OXXO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593572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Nacional Admvo CEDIS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091491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Planeación Financiera y Análisis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607698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126191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Admvo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626394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Transf Procesos Finanzas</a:t>
            </a:r>
            <a:endParaRPr/>
          </a:p>
        </p:txBody>
      </p:sp>
      <p:cxnSp>
        <p:nvCxnSpPr>
          <p:cNvPr id="86" name="Google Shape;86;p3"/>
          <p:cNvCxnSpPr>
            <a:stCxn id="79" idx="2"/>
            <a:endCxn id="80" idx="0"/>
          </p:cNvCxnSpPr>
          <p:nvPr/>
        </p:nvCxnSpPr>
        <p:spPr>
          <a:xfrm rot="5400000">
            <a:off x="3276220" y="-699257"/>
            <a:ext cx="339000" cy="53103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" name="Google Shape;87;p3"/>
          <p:cNvCxnSpPr>
            <a:stCxn id="79" idx="2"/>
            <a:endCxn id="81" idx="0"/>
          </p:cNvCxnSpPr>
          <p:nvPr/>
        </p:nvCxnSpPr>
        <p:spPr>
          <a:xfrm rot="5400000">
            <a:off x="4037770" y="62293"/>
            <a:ext cx="339000" cy="37872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3"/>
          <p:cNvCxnSpPr>
            <a:stCxn id="79" idx="2"/>
            <a:endCxn id="82" idx="0"/>
          </p:cNvCxnSpPr>
          <p:nvPr/>
        </p:nvCxnSpPr>
        <p:spPr>
          <a:xfrm rot="5400000">
            <a:off x="4786720" y="811243"/>
            <a:ext cx="339000" cy="22893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3"/>
          <p:cNvCxnSpPr>
            <a:stCxn id="79" idx="2"/>
            <a:endCxn id="85" idx="0"/>
          </p:cNvCxnSpPr>
          <p:nvPr/>
        </p:nvCxnSpPr>
        <p:spPr>
          <a:xfrm flipH="1" rot="-5400000">
            <a:off x="7054120" y="833143"/>
            <a:ext cx="339000" cy="22455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3"/>
          <p:cNvCxnSpPr>
            <a:stCxn id="79" idx="2"/>
            <a:endCxn id="84" idx="0"/>
          </p:cNvCxnSpPr>
          <p:nvPr/>
        </p:nvCxnSpPr>
        <p:spPr>
          <a:xfrm flipH="1" rot="-5400000">
            <a:off x="6303970" y="1583293"/>
            <a:ext cx="339000" cy="7452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3"/>
          <p:cNvCxnSpPr>
            <a:stCxn id="79" idx="2"/>
            <a:endCxn id="83" idx="0"/>
          </p:cNvCxnSpPr>
          <p:nvPr/>
        </p:nvCxnSpPr>
        <p:spPr>
          <a:xfrm rot="5400000">
            <a:off x="5544820" y="1569343"/>
            <a:ext cx="339000" cy="7731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3"/>
          <p:cNvSpPr/>
          <p:nvPr/>
        </p:nvSpPr>
        <p:spPr>
          <a:xfrm>
            <a:off x="9150602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Legal</a:t>
            </a:r>
            <a:endParaRPr/>
          </a:p>
        </p:txBody>
      </p:sp>
      <p:cxnSp>
        <p:nvCxnSpPr>
          <p:cNvPr id="93" name="Google Shape;93;p3"/>
          <p:cNvCxnSpPr>
            <a:stCxn id="79" idx="2"/>
            <a:endCxn id="92" idx="0"/>
          </p:cNvCxnSpPr>
          <p:nvPr/>
        </p:nvCxnSpPr>
        <p:spPr>
          <a:xfrm flipH="1" rot="-5400000">
            <a:off x="7816270" y="70993"/>
            <a:ext cx="339000" cy="37698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10674809" y="2125487"/>
            <a:ext cx="1440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endParaRPr/>
          </a:p>
        </p:txBody>
      </p:sp>
      <p:cxnSp>
        <p:nvCxnSpPr>
          <p:cNvPr id="95" name="Google Shape;95;p3"/>
          <p:cNvCxnSpPr>
            <a:stCxn id="79" idx="2"/>
            <a:endCxn id="94" idx="0"/>
          </p:cNvCxnSpPr>
          <p:nvPr/>
        </p:nvCxnSpPr>
        <p:spPr>
          <a:xfrm flipH="1" rot="-5400000">
            <a:off x="8578270" y="-691007"/>
            <a:ext cx="339000" cy="529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Administrativo Tiendas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313914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Administrativo OXXO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46734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Gestión Control Centro Sur</a:t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178432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Gestión Control Golfo Bajío</a:t>
            </a:r>
            <a:endParaRPr/>
          </a:p>
        </p:txBody>
      </p:sp>
      <p:cxnSp>
        <p:nvCxnSpPr>
          <p:cNvPr id="105" name="Google Shape;105;p5"/>
          <p:cNvCxnSpPr>
            <a:stCxn id="102" idx="2"/>
            <a:endCxn id="103" idx="0"/>
          </p:cNvCxnSpPr>
          <p:nvPr/>
        </p:nvCxnSpPr>
        <p:spPr>
          <a:xfrm rot="5400000">
            <a:off x="3542384" y="-507553"/>
            <a:ext cx="323700" cy="482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5"/>
          <p:cNvCxnSpPr>
            <a:stCxn id="102" idx="2"/>
            <a:endCxn id="104" idx="0"/>
          </p:cNvCxnSpPr>
          <p:nvPr/>
        </p:nvCxnSpPr>
        <p:spPr>
          <a:xfrm rot="5400000">
            <a:off x="4358234" y="308297"/>
            <a:ext cx="323700" cy="319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5"/>
          <p:cNvSpPr/>
          <p:nvPr/>
        </p:nvSpPr>
        <p:spPr>
          <a:xfrm>
            <a:off x="3892426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Gestión Control Norte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496845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Gestión Control Pacífico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079368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Admvo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 Dllo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727068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 Zona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0360212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Traslado de Valores</a:t>
            </a:r>
            <a:endParaRPr/>
          </a:p>
        </p:txBody>
      </p:sp>
      <p:cxnSp>
        <p:nvCxnSpPr>
          <p:cNvPr id="112" name="Google Shape;112;p5"/>
          <p:cNvCxnSpPr>
            <a:stCxn id="102" idx="2"/>
            <a:endCxn id="107" idx="0"/>
          </p:cNvCxnSpPr>
          <p:nvPr/>
        </p:nvCxnSpPr>
        <p:spPr>
          <a:xfrm rot="5400000">
            <a:off x="5215184" y="1165247"/>
            <a:ext cx="323700" cy="148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>
            <a:stCxn id="102" idx="2"/>
            <a:endCxn id="108" idx="0"/>
          </p:cNvCxnSpPr>
          <p:nvPr/>
        </p:nvCxnSpPr>
        <p:spPr>
          <a:xfrm flipH="1" rot="-5400000">
            <a:off x="6017384" y="1845647"/>
            <a:ext cx="323700" cy="12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>
            <a:stCxn id="102" idx="2"/>
            <a:endCxn id="111" idx="0"/>
          </p:cNvCxnSpPr>
          <p:nvPr/>
        </p:nvCxnSpPr>
        <p:spPr>
          <a:xfrm flipH="1" rot="-5400000">
            <a:off x="8449184" y="-586153"/>
            <a:ext cx="323700" cy="498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>
            <a:stCxn id="102" idx="2"/>
            <a:endCxn id="110" idx="0"/>
          </p:cNvCxnSpPr>
          <p:nvPr/>
        </p:nvCxnSpPr>
        <p:spPr>
          <a:xfrm flipH="1" rot="-5400000">
            <a:off x="7632584" y="230447"/>
            <a:ext cx="323700" cy="335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5"/>
          <p:cNvCxnSpPr>
            <a:stCxn id="102" idx="2"/>
            <a:endCxn id="109" idx="0"/>
          </p:cNvCxnSpPr>
          <p:nvPr/>
        </p:nvCxnSpPr>
        <p:spPr>
          <a:xfrm flipH="1" rot="-5400000">
            <a:off x="6808634" y="1054397"/>
            <a:ext cx="323700" cy="17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5"/>
          <p:cNvCxnSpPr>
            <a:stCxn id="109" idx="2"/>
            <a:endCxn id="118" idx="3"/>
          </p:cNvCxnSpPr>
          <p:nvPr/>
        </p:nvCxnSpPr>
        <p:spPr>
          <a:xfrm rot="5400000">
            <a:off x="7212718" y="2288387"/>
            <a:ext cx="376500" cy="84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" name="Google Shape;119;p5"/>
          <p:cNvCxnSpPr>
            <a:stCxn id="109" idx="2"/>
            <a:endCxn id="120" idx="1"/>
          </p:cNvCxnSpPr>
          <p:nvPr/>
        </p:nvCxnSpPr>
        <p:spPr>
          <a:xfrm flipH="1" rot="-5400000">
            <a:off x="7945468" y="2399237"/>
            <a:ext cx="376500" cy="62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8444760" y="5850713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Administrativo FS</a:t>
            </a:r>
            <a:endParaRPr/>
          </a:p>
        </p:txBody>
      </p:sp>
      <p:cxnSp>
        <p:nvCxnSpPr>
          <p:cNvPr id="122" name="Google Shape;122;p5"/>
          <p:cNvCxnSpPr>
            <a:stCxn id="109" idx="2"/>
            <a:endCxn id="121" idx="1"/>
          </p:cNvCxnSpPr>
          <p:nvPr/>
        </p:nvCxnSpPr>
        <p:spPr>
          <a:xfrm flipH="1" rot="-5400000">
            <a:off x="6355918" y="3988787"/>
            <a:ext cx="3555600" cy="62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5"/>
          <p:cNvCxnSpPr>
            <a:stCxn id="109" idx="2"/>
            <a:endCxn id="124" idx="3"/>
          </p:cNvCxnSpPr>
          <p:nvPr/>
        </p:nvCxnSpPr>
        <p:spPr>
          <a:xfrm rot="5400000">
            <a:off x="5504818" y="4102487"/>
            <a:ext cx="3898500" cy="73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8649114" y="4189065"/>
            <a:ext cx="1152001" cy="47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Eq. Extendido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cambios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8649115" y="3161494"/>
            <a:ext cx="1152001" cy="406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Eq. Extendido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cambios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444760" y="2671668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Admin CONECTA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394903" y="319293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618272" y="2671668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Admvo OXXO SMART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967123" y="374735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971907" y="319293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Contador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394903" y="374735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 Inventarios</a:t>
            </a:r>
            <a:endParaRPr/>
          </a:p>
        </p:txBody>
      </p:sp>
      <p:cxnSp>
        <p:nvCxnSpPr>
          <p:cNvPr id="131" name="Google Shape;131;p5"/>
          <p:cNvCxnSpPr>
            <a:stCxn id="118" idx="2"/>
            <a:endCxn id="129" idx="3"/>
          </p:cNvCxnSpPr>
          <p:nvPr/>
        </p:nvCxnSpPr>
        <p:spPr>
          <a:xfrm rot="5400000">
            <a:off x="6107122" y="3228318"/>
            <a:ext cx="2946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>
            <a:stCxn id="118" idx="2"/>
            <a:endCxn id="127" idx="1"/>
          </p:cNvCxnSpPr>
          <p:nvPr/>
        </p:nvCxnSpPr>
        <p:spPr>
          <a:xfrm flipH="1" rot="-5400000">
            <a:off x="6199522" y="3224418"/>
            <a:ext cx="294600" cy="9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>
            <a:stCxn id="118" idx="2"/>
            <a:endCxn id="128" idx="3"/>
          </p:cNvCxnSpPr>
          <p:nvPr/>
        </p:nvCxnSpPr>
        <p:spPr>
          <a:xfrm rot="5400000">
            <a:off x="5827672" y="3503268"/>
            <a:ext cx="849000" cy="93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5"/>
          <p:cNvCxnSpPr>
            <a:stCxn id="118" idx="2"/>
            <a:endCxn id="130" idx="1"/>
          </p:cNvCxnSpPr>
          <p:nvPr/>
        </p:nvCxnSpPr>
        <p:spPr>
          <a:xfrm flipH="1" rot="-5400000">
            <a:off x="5922322" y="3501618"/>
            <a:ext cx="849000" cy="9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10504212" y="2840021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Administrativo CM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8444760" y="3735465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Admin Activacel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5"/>
          <p:cNvCxnSpPr>
            <a:stCxn id="109" idx="2"/>
            <a:endCxn id="136" idx="1"/>
          </p:cNvCxnSpPr>
          <p:nvPr/>
        </p:nvCxnSpPr>
        <p:spPr>
          <a:xfrm flipH="1" rot="-5400000">
            <a:off x="7413568" y="2931137"/>
            <a:ext cx="1440300" cy="62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5"/>
          <p:cNvCxnSpPr>
            <a:endCxn id="135" idx="1"/>
          </p:cNvCxnSpPr>
          <p:nvPr/>
        </p:nvCxnSpPr>
        <p:spPr>
          <a:xfrm flipH="1" rot="-5400000">
            <a:off x="10197162" y="2759771"/>
            <a:ext cx="544800" cy="6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8659311" y="6345516"/>
            <a:ext cx="1152002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Eq. Extendido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cambios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724601" y="5545019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Info Financiera COMETA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724601" y="6193613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Info Financiera COMETA</a:t>
            </a:r>
            <a:endParaRPr/>
          </a:p>
        </p:txBody>
      </p:sp>
      <p:cxnSp>
        <p:nvCxnSpPr>
          <p:cNvPr id="141" name="Google Shape;141;p5"/>
          <p:cNvCxnSpPr>
            <a:stCxn id="109" idx="2"/>
            <a:endCxn id="140" idx="3"/>
          </p:cNvCxnSpPr>
          <p:nvPr/>
        </p:nvCxnSpPr>
        <p:spPr>
          <a:xfrm rot="5400000">
            <a:off x="5829118" y="3778187"/>
            <a:ext cx="3249900" cy="73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4964391" y="433393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 Inventarios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96742" y="433393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 Inventarios</a:t>
            </a:r>
            <a:endParaRPr/>
          </a:p>
        </p:txBody>
      </p:sp>
      <p:cxnSp>
        <p:nvCxnSpPr>
          <p:cNvPr id="144" name="Google Shape;144;p5"/>
          <p:cNvCxnSpPr>
            <a:stCxn id="118" idx="2"/>
            <a:endCxn id="143" idx="1"/>
          </p:cNvCxnSpPr>
          <p:nvPr/>
        </p:nvCxnSpPr>
        <p:spPr>
          <a:xfrm flipH="1" rot="-5400000">
            <a:off x="5629972" y="3793968"/>
            <a:ext cx="1435500" cy="9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>
            <a:stCxn id="118" idx="2"/>
            <a:endCxn id="142" idx="3"/>
          </p:cNvCxnSpPr>
          <p:nvPr/>
        </p:nvCxnSpPr>
        <p:spPr>
          <a:xfrm rot="5400000">
            <a:off x="5532922" y="3795018"/>
            <a:ext cx="1435500" cy="9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8444758" y="4884637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Administrativo i78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649112" y="5342191"/>
            <a:ext cx="1152002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Eq. Extendido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cambios</a:t>
            </a:r>
            <a:endParaRPr/>
          </a:p>
        </p:txBody>
      </p:sp>
      <p:cxnSp>
        <p:nvCxnSpPr>
          <p:cNvPr id="148" name="Google Shape;148;p5"/>
          <p:cNvCxnSpPr>
            <a:stCxn id="109" idx="2"/>
            <a:endCxn id="146" idx="1"/>
          </p:cNvCxnSpPr>
          <p:nvPr/>
        </p:nvCxnSpPr>
        <p:spPr>
          <a:xfrm flipH="1" rot="-5400000">
            <a:off x="6838918" y="3505787"/>
            <a:ext cx="2589600" cy="62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5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0504212" y="3409391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 CM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0498643" y="4002214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 CM</a:t>
            </a:r>
            <a:endParaRPr/>
          </a:p>
        </p:txBody>
      </p:sp>
      <p:cxnSp>
        <p:nvCxnSpPr>
          <p:cNvPr id="152" name="Google Shape;152;p5"/>
          <p:cNvCxnSpPr>
            <a:endCxn id="150" idx="1"/>
          </p:cNvCxnSpPr>
          <p:nvPr/>
        </p:nvCxnSpPr>
        <p:spPr>
          <a:xfrm flipH="1" rot="-5400000">
            <a:off x="9912462" y="3044441"/>
            <a:ext cx="1114200" cy="6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5"/>
          <p:cNvCxnSpPr>
            <a:endCxn id="151" idx="1"/>
          </p:cNvCxnSpPr>
          <p:nvPr/>
        </p:nvCxnSpPr>
        <p:spPr>
          <a:xfrm flipH="1" rot="-5400000">
            <a:off x="9613193" y="3343564"/>
            <a:ext cx="1707000" cy="6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5"/>
          <p:cNvSpPr/>
          <p:nvPr/>
        </p:nvSpPr>
        <p:spPr>
          <a:xfrm>
            <a:off x="5714503" y="4884637"/>
            <a:ext cx="13608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Contador</a:t>
            </a:r>
            <a:endParaRPr/>
          </a:p>
        </p:txBody>
      </p:sp>
      <p:cxnSp>
        <p:nvCxnSpPr>
          <p:cNvPr id="155" name="Google Shape;155;p5"/>
          <p:cNvCxnSpPr>
            <a:stCxn id="109" idx="2"/>
            <a:endCxn id="154" idx="3"/>
          </p:cNvCxnSpPr>
          <p:nvPr/>
        </p:nvCxnSpPr>
        <p:spPr>
          <a:xfrm rot="5400000">
            <a:off x="6154168" y="3442937"/>
            <a:ext cx="2589600" cy="74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313914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Nacional Administrativo CEDIS</a:t>
            </a:r>
            <a:endParaRPr/>
          </a:p>
        </p:txBody>
      </p:sp>
      <p:cxnSp>
        <p:nvCxnSpPr>
          <p:cNvPr id="161" name="Google Shape;161;p7"/>
          <p:cNvCxnSpPr>
            <a:stCxn id="160" idx="2"/>
            <a:endCxn id="162" idx="0"/>
          </p:cNvCxnSpPr>
          <p:nvPr/>
        </p:nvCxnSpPr>
        <p:spPr>
          <a:xfrm rot="5400000">
            <a:off x="3982484" y="-67453"/>
            <a:ext cx="323700" cy="394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7"/>
          <p:cNvCxnSpPr>
            <a:stCxn id="160" idx="2"/>
            <a:endCxn id="164" idx="0"/>
          </p:cNvCxnSpPr>
          <p:nvPr/>
        </p:nvCxnSpPr>
        <p:spPr>
          <a:xfrm flipH="1" rot="-5400000">
            <a:off x="7516184" y="346847"/>
            <a:ext cx="323700" cy="311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7671786" y="263406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428382" y="263406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496129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Admin y Finanzas Dist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713740" y="391521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428597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Admin Control CEDIS</a:t>
            </a:r>
            <a:endParaRPr/>
          </a:p>
        </p:txBody>
      </p:sp>
      <p:cxnSp>
        <p:nvCxnSpPr>
          <p:cNvPr id="168" name="Google Shape;168;p7"/>
          <p:cNvCxnSpPr>
            <a:stCxn id="164" idx="2"/>
            <a:endCxn id="165" idx="3"/>
          </p:cNvCxnSpPr>
          <p:nvPr/>
        </p:nvCxnSpPr>
        <p:spPr>
          <a:xfrm rot="5400000">
            <a:off x="8966079" y="2589287"/>
            <a:ext cx="339000" cy="204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7"/>
          <p:cNvCxnSpPr>
            <a:stCxn id="164" idx="2"/>
            <a:endCxn id="166" idx="1"/>
          </p:cNvCxnSpPr>
          <p:nvPr/>
        </p:nvCxnSpPr>
        <p:spPr>
          <a:xfrm flipH="1" rot="-5400000">
            <a:off x="9163629" y="2596037"/>
            <a:ext cx="339000" cy="190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7"/>
          <p:cNvCxnSpPr>
            <a:stCxn id="164" idx="2"/>
            <a:endCxn id="167" idx="3"/>
          </p:cNvCxnSpPr>
          <p:nvPr/>
        </p:nvCxnSpPr>
        <p:spPr>
          <a:xfrm rot="5400000">
            <a:off x="8346429" y="3250637"/>
            <a:ext cx="1620000" cy="16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7"/>
          <p:cNvCxnSpPr>
            <a:stCxn id="164" idx="2"/>
            <a:endCxn id="172" idx="1"/>
          </p:cNvCxnSpPr>
          <p:nvPr/>
        </p:nvCxnSpPr>
        <p:spPr>
          <a:xfrm flipH="1" rot="-5400000">
            <a:off x="8543979" y="3215687"/>
            <a:ext cx="1620000" cy="23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Administrativo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682112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Gestión y Control CEDIS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916836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Gestoría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836641" y="324814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>
            <a:stCxn id="160" idx="2"/>
            <a:endCxn id="174" idx="0"/>
          </p:cNvCxnSpPr>
          <p:nvPr/>
        </p:nvCxnSpPr>
        <p:spPr>
          <a:xfrm rot="5400000">
            <a:off x="5109134" y="1059197"/>
            <a:ext cx="323700" cy="1694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7"/>
          <p:cNvCxnSpPr>
            <a:stCxn id="160" idx="2"/>
            <a:endCxn id="175" idx="0"/>
          </p:cNvCxnSpPr>
          <p:nvPr/>
        </p:nvCxnSpPr>
        <p:spPr>
          <a:xfrm flipH="1" rot="-5400000">
            <a:off x="6226484" y="1636547"/>
            <a:ext cx="323700" cy="54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7926688" y="3316500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x6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9554965" y="324307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645012" y="331143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x6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847275" y="4513932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937322" y="458229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x6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9608126" y="4508867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698173" y="457722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x8</a:t>
            </a:r>
            <a:endParaRPr/>
          </a:p>
        </p:txBody>
      </p:sp>
      <p:cxnSp>
        <p:nvCxnSpPr>
          <p:cNvPr id="186" name="Google Shape;186;p7"/>
          <p:cNvCxnSpPr>
            <a:endCxn id="176" idx="1"/>
          </p:cNvCxnSpPr>
          <p:nvPr/>
        </p:nvCxnSpPr>
        <p:spPr>
          <a:xfrm flipH="1" rot="-5400000">
            <a:off x="7577441" y="3215741"/>
            <a:ext cx="387300" cy="13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7"/>
          <p:cNvCxnSpPr>
            <a:endCxn id="180" idx="1"/>
          </p:cNvCxnSpPr>
          <p:nvPr/>
        </p:nvCxnSpPr>
        <p:spPr>
          <a:xfrm flipH="1" rot="-5400000">
            <a:off x="9321565" y="3236476"/>
            <a:ext cx="382200" cy="8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7"/>
          <p:cNvCxnSpPr>
            <a:endCxn id="182" idx="1"/>
          </p:cNvCxnSpPr>
          <p:nvPr/>
        </p:nvCxnSpPr>
        <p:spPr>
          <a:xfrm flipH="1" rot="-5400000">
            <a:off x="7622425" y="4515882"/>
            <a:ext cx="372000" cy="7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7"/>
          <p:cNvCxnSpPr>
            <a:endCxn id="184" idx="1"/>
          </p:cNvCxnSpPr>
          <p:nvPr/>
        </p:nvCxnSpPr>
        <p:spPr>
          <a:xfrm flipH="1" rot="-5400000">
            <a:off x="9384326" y="4511867"/>
            <a:ext cx="375000" cy="72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7"/>
          <p:cNvSpPr/>
          <p:nvPr/>
        </p:nvSpPr>
        <p:spPr>
          <a:xfrm>
            <a:off x="7671785" y="524936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 Dist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 rot="5400000">
            <a:off x="7658380" y="3896687"/>
            <a:ext cx="2954100" cy="20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9470336" y="391521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428381" y="524936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Adminstrativo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7"/>
          <p:cNvCxnSpPr>
            <a:stCxn id="164" idx="2"/>
            <a:endCxn id="192" idx="1"/>
          </p:cNvCxnSpPr>
          <p:nvPr/>
        </p:nvCxnSpPr>
        <p:spPr>
          <a:xfrm flipH="1" rot="-5400000">
            <a:off x="7856079" y="3903587"/>
            <a:ext cx="2954100" cy="190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" name="Google Shape;194;p7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5348204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Planeación Financiera y Análisis</a:t>
            </a:r>
            <a:endParaRPr/>
          </a:p>
        </p:txBody>
      </p:sp>
      <p:cxnSp>
        <p:nvCxnSpPr>
          <p:cNvPr id="200" name="Google Shape;200;p9"/>
          <p:cNvCxnSpPr>
            <a:stCxn id="199" idx="2"/>
            <a:endCxn id="201" idx="0"/>
          </p:cNvCxnSpPr>
          <p:nvPr/>
        </p:nvCxnSpPr>
        <p:spPr>
          <a:xfrm rot="5400000">
            <a:off x="3829424" y="-254803"/>
            <a:ext cx="323700" cy="432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9"/>
          <p:cNvCxnSpPr>
            <a:stCxn id="199" idx="2"/>
            <a:endCxn id="203" idx="0"/>
          </p:cNvCxnSpPr>
          <p:nvPr/>
        </p:nvCxnSpPr>
        <p:spPr>
          <a:xfrm flipH="1" rot="-5400000">
            <a:off x="8045174" y="-147853"/>
            <a:ext cx="323700" cy="410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9"/>
          <p:cNvSpPr/>
          <p:nvPr/>
        </p:nvSpPr>
        <p:spPr>
          <a:xfrm>
            <a:off x="7469862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BP Finanzas Plataformas</a:t>
            </a:r>
            <a:endParaRPr/>
          </a:p>
        </p:txBody>
      </p:sp>
      <p:cxnSp>
        <p:nvCxnSpPr>
          <p:cNvPr id="205" name="Google Shape;205;p9"/>
          <p:cNvCxnSpPr>
            <a:stCxn id="199" idx="2"/>
            <a:endCxn id="204" idx="0"/>
          </p:cNvCxnSpPr>
          <p:nvPr/>
        </p:nvCxnSpPr>
        <p:spPr>
          <a:xfrm flipH="1" rot="-5400000">
            <a:off x="7020224" y="877097"/>
            <a:ext cx="323700" cy="205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9"/>
          <p:cNvCxnSpPr>
            <a:stCxn id="199" idx="2"/>
            <a:endCxn id="207" idx="0"/>
          </p:cNvCxnSpPr>
          <p:nvPr/>
        </p:nvCxnSpPr>
        <p:spPr>
          <a:xfrm rot="5400000">
            <a:off x="5987324" y="1903097"/>
            <a:ext cx="323700" cy="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9"/>
          <p:cNvSpPr/>
          <p:nvPr/>
        </p:nvSpPr>
        <p:spPr>
          <a:xfrm>
            <a:off x="1215105" y="267377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Información Financiera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1215105" y="426443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Información Financiera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215105" y="478120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Información Financiera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5525895" y="267578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Finanzas Plataformas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215105" y="320117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Gastos OS PPTO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5530397" y="3201176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Finanzas Plataformas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215798" y="3724410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Información Financiera</a:t>
            </a:r>
            <a:endParaRPr/>
          </a:p>
        </p:txBody>
      </p:sp>
      <p:cxnSp>
        <p:nvCxnSpPr>
          <p:cNvPr id="215" name="Google Shape;215;p9"/>
          <p:cNvCxnSpPr>
            <a:endCxn id="209" idx="1"/>
          </p:cNvCxnSpPr>
          <p:nvPr/>
        </p:nvCxnSpPr>
        <p:spPr>
          <a:xfrm flipH="1" rot="-5400000">
            <a:off x="179505" y="3455636"/>
            <a:ext cx="19692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" name="Google Shape;216;p9"/>
          <p:cNvCxnSpPr>
            <a:endCxn id="210" idx="1"/>
          </p:cNvCxnSpPr>
          <p:nvPr/>
        </p:nvCxnSpPr>
        <p:spPr>
          <a:xfrm flipH="1" rot="-5400000">
            <a:off x="-78945" y="3713958"/>
            <a:ext cx="24861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>
            <a:endCxn id="211" idx="1"/>
          </p:cNvCxnSpPr>
          <p:nvPr/>
        </p:nvCxnSpPr>
        <p:spPr>
          <a:xfrm flipH="1" rot="-5400000">
            <a:off x="5275995" y="2652689"/>
            <a:ext cx="405900" cy="9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9"/>
          <p:cNvCxnSpPr>
            <a:endCxn id="219" idx="1"/>
          </p:cNvCxnSpPr>
          <p:nvPr/>
        </p:nvCxnSpPr>
        <p:spPr>
          <a:xfrm flipH="1" rot="-5400000">
            <a:off x="9402638" y="2668970"/>
            <a:ext cx="378600" cy="8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9"/>
          <p:cNvCxnSpPr>
            <a:endCxn id="213" idx="1"/>
          </p:cNvCxnSpPr>
          <p:nvPr/>
        </p:nvCxnSpPr>
        <p:spPr>
          <a:xfrm flipH="1" rot="-5400000">
            <a:off x="5025047" y="2922626"/>
            <a:ext cx="912300" cy="9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9634238" y="3227245"/>
            <a:ext cx="136641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Admvo TI</a:t>
            </a:r>
            <a:endParaRPr/>
          </a:p>
        </p:txBody>
      </p:sp>
      <p:cxnSp>
        <p:nvCxnSpPr>
          <p:cNvPr id="222" name="Google Shape;222;p9"/>
          <p:cNvCxnSpPr>
            <a:endCxn id="221" idx="1"/>
          </p:cNvCxnSpPr>
          <p:nvPr/>
        </p:nvCxnSpPr>
        <p:spPr>
          <a:xfrm flipH="1" rot="-5400000">
            <a:off x="9122738" y="2942545"/>
            <a:ext cx="938400" cy="8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9519930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BP Finanzas Plataformas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Planeación Financiera y Análisis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" name="Google Shape;224;p9"/>
          <p:cNvCxnSpPr>
            <a:stCxn id="214" idx="1"/>
          </p:cNvCxnSpPr>
          <p:nvPr/>
        </p:nvCxnSpPr>
        <p:spPr>
          <a:xfrm rot="10800000">
            <a:off x="1113198" y="2515710"/>
            <a:ext cx="102600" cy="143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9634238" y="267377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Admvo TI</a:t>
            </a:r>
            <a:endParaRPr/>
          </a:p>
        </p:txBody>
      </p:sp>
      <p:cxnSp>
        <p:nvCxnSpPr>
          <p:cNvPr id="225" name="Google Shape;225;p9"/>
          <p:cNvCxnSpPr>
            <a:endCxn id="208" idx="1"/>
          </p:cNvCxnSpPr>
          <p:nvPr/>
        </p:nvCxnSpPr>
        <p:spPr>
          <a:xfrm flipH="1" rot="-5400000">
            <a:off x="971655" y="2657120"/>
            <a:ext cx="3849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" name="Google Shape;226;p9"/>
          <p:cNvCxnSpPr>
            <a:endCxn id="212" idx="1"/>
          </p:cNvCxnSpPr>
          <p:nvPr/>
        </p:nvCxnSpPr>
        <p:spPr>
          <a:xfrm flipH="1" rot="-5400000">
            <a:off x="707955" y="2920826"/>
            <a:ext cx="9123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9"/>
          <p:cNvSpPr/>
          <p:nvPr/>
        </p:nvSpPr>
        <p:spPr>
          <a:xfrm>
            <a:off x="1215105" y="5321233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Información Financiera CDS</a:t>
            </a:r>
            <a:endParaRPr/>
          </a:p>
        </p:txBody>
      </p:sp>
      <p:cxnSp>
        <p:nvCxnSpPr>
          <p:cNvPr id="228" name="Google Shape;228;p9"/>
          <p:cNvCxnSpPr>
            <a:endCxn id="227" idx="1"/>
          </p:cNvCxnSpPr>
          <p:nvPr/>
        </p:nvCxnSpPr>
        <p:spPr>
          <a:xfrm flipH="1" rot="-5400000">
            <a:off x="-351945" y="3980983"/>
            <a:ext cx="30321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" name="Google Shape;229;p9"/>
          <p:cNvSpPr/>
          <p:nvPr/>
        </p:nvSpPr>
        <p:spPr>
          <a:xfrm>
            <a:off x="1215105" y="585286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Gestión Info Op Tienda</a:t>
            </a:r>
            <a:endParaRPr/>
          </a:p>
        </p:txBody>
      </p:sp>
      <p:cxnSp>
        <p:nvCxnSpPr>
          <p:cNvPr id="230" name="Google Shape;230;p9"/>
          <p:cNvCxnSpPr>
            <a:endCxn id="229" idx="1"/>
          </p:cNvCxnSpPr>
          <p:nvPr/>
        </p:nvCxnSpPr>
        <p:spPr>
          <a:xfrm flipH="1" rot="-5400000">
            <a:off x="-617895" y="4246662"/>
            <a:ext cx="3564000" cy="10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9"/>
          <p:cNvSpPr/>
          <p:nvPr/>
        </p:nvSpPr>
        <p:spPr>
          <a:xfrm>
            <a:off x="1088357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Planeación Financiera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3394286" y="267657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Información Financiera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394286" y="319335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Información Negocios</a:t>
            </a:r>
            <a:endParaRPr/>
          </a:p>
        </p:txBody>
      </p:sp>
      <p:cxnSp>
        <p:nvCxnSpPr>
          <p:cNvPr id="233" name="Google Shape;233;p9"/>
          <p:cNvCxnSpPr>
            <a:endCxn id="231" idx="1"/>
          </p:cNvCxnSpPr>
          <p:nvPr/>
        </p:nvCxnSpPr>
        <p:spPr>
          <a:xfrm flipH="1" rot="-5400000">
            <a:off x="3168686" y="2677779"/>
            <a:ext cx="381300" cy="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4" name="Google Shape;234;p9"/>
          <p:cNvCxnSpPr>
            <a:endCxn id="232" idx="1"/>
          </p:cNvCxnSpPr>
          <p:nvPr/>
        </p:nvCxnSpPr>
        <p:spPr>
          <a:xfrm flipH="1" rot="-5400000">
            <a:off x="2910236" y="2936101"/>
            <a:ext cx="898200" cy="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9"/>
          <p:cNvSpPr/>
          <p:nvPr/>
        </p:nvSpPr>
        <p:spPr>
          <a:xfrm>
            <a:off x="3394286" y="371151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Información Financiera</a:t>
            </a:r>
            <a:endParaRPr/>
          </a:p>
        </p:txBody>
      </p:sp>
      <p:cxnSp>
        <p:nvCxnSpPr>
          <p:cNvPr id="236" name="Google Shape;236;p9"/>
          <p:cNvCxnSpPr>
            <a:endCxn id="235" idx="1"/>
          </p:cNvCxnSpPr>
          <p:nvPr/>
        </p:nvCxnSpPr>
        <p:spPr>
          <a:xfrm flipH="1" rot="-5400000">
            <a:off x="2648036" y="3192068"/>
            <a:ext cx="1422600" cy="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7" name="Google Shape;237;p9"/>
          <p:cNvSpPr/>
          <p:nvPr/>
        </p:nvSpPr>
        <p:spPr>
          <a:xfrm>
            <a:off x="3272579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Inteligencia Financiera</a:t>
            </a:r>
            <a:endParaRPr/>
          </a:p>
        </p:txBody>
      </p:sp>
      <p:cxnSp>
        <p:nvCxnSpPr>
          <p:cNvPr id="238" name="Google Shape;238;p9"/>
          <p:cNvCxnSpPr>
            <a:stCxn id="199" idx="2"/>
            <a:endCxn id="237" idx="0"/>
          </p:cNvCxnSpPr>
          <p:nvPr/>
        </p:nvCxnSpPr>
        <p:spPr>
          <a:xfrm rot="5400000">
            <a:off x="4921574" y="837347"/>
            <a:ext cx="323700" cy="2138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9"/>
          <p:cNvSpPr/>
          <p:nvPr/>
        </p:nvSpPr>
        <p:spPr>
          <a:xfrm>
            <a:off x="5404188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BP Finanzas Plataformas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643525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147629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Normatividad y Control</a:t>
            </a:r>
            <a:endParaRPr/>
          </a:p>
        </p:txBody>
      </p:sp>
      <p:cxnSp>
        <p:nvCxnSpPr>
          <p:cNvPr id="247" name="Google Shape;247;p11"/>
          <p:cNvCxnSpPr>
            <a:stCxn id="245" idx="2"/>
            <a:endCxn id="246" idx="0"/>
          </p:cNvCxnSpPr>
          <p:nvPr/>
        </p:nvCxnSpPr>
        <p:spPr>
          <a:xfrm rot="5400000">
            <a:off x="4007595" y="-371953"/>
            <a:ext cx="323700" cy="455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>
            <a:stCxn id="245" idx="2"/>
            <a:endCxn id="249" idx="0"/>
          </p:cNvCxnSpPr>
          <p:nvPr/>
        </p:nvCxnSpPr>
        <p:spPr>
          <a:xfrm flipH="1" rot="-5400000">
            <a:off x="8642745" y="-450103"/>
            <a:ext cx="323700" cy="471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0" name="Google Shape;250;p11"/>
          <p:cNvCxnSpPr>
            <a:stCxn id="245" idx="2"/>
            <a:endCxn id="251" idx="0"/>
          </p:cNvCxnSpPr>
          <p:nvPr/>
        </p:nvCxnSpPr>
        <p:spPr>
          <a:xfrm rot="5400000">
            <a:off x="5424195" y="1044647"/>
            <a:ext cx="323700" cy="172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11"/>
          <p:cNvCxnSpPr>
            <a:stCxn id="245" idx="2"/>
            <a:endCxn id="253" idx="0"/>
          </p:cNvCxnSpPr>
          <p:nvPr/>
        </p:nvCxnSpPr>
        <p:spPr>
          <a:xfrm flipH="1" rot="-5400000">
            <a:off x="6498795" y="1693847"/>
            <a:ext cx="323700" cy="42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11"/>
          <p:cNvSpPr/>
          <p:nvPr/>
        </p:nvSpPr>
        <p:spPr>
          <a:xfrm>
            <a:off x="239779" y="375426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Normatividad Cumplimiento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255888" y="3175330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Normatividad SOD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2255888" y="370544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Normatividad Procesos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64738" y="3178136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Normatividad Control UdN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64738" y="4272950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Normatividad Cump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255888" y="553720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Control Interno</a:t>
            </a:r>
            <a:endParaRPr/>
          </a:p>
        </p:txBody>
      </p:sp>
      <p:cxnSp>
        <p:nvCxnSpPr>
          <p:cNvPr id="260" name="Google Shape;260;p11"/>
          <p:cNvCxnSpPr>
            <a:stCxn id="246" idx="2"/>
            <a:endCxn id="261" idx="3"/>
          </p:cNvCxnSpPr>
          <p:nvPr/>
        </p:nvCxnSpPr>
        <p:spPr>
          <a:xfrm rot="5400000">
            <a:off x="1564029" y="2559137"/>
            <a:ext cx="364200" cy="28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" name="Google Shape;262;p11"/>
          <p:cNvCxnSpPr>
            <a:stCxn id="246" idx="2"/>
            <a:endCxn id="263" idx="1"/>
          </p:cNvCxnSpPr>
          <p:nvPr/>
        </p:nvCxnSpPr>
        <p:spPr>
          <a:xfrm flipH="1" rot="-5400000">
            <a:off x="1828929" y="2584037"/>
            <a:ext cx="364200" cy="24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4" name="Google Shape;264;p11"/>
          <p:cNvCxnSpPr>
            <a:stCxn id="246" idx="2"/>
            <a:endCxn id="254" idx="3"/>
          </p:cNvCxnSpPr>
          <p:nvPr/>
        </p:nvCxnSpPr>
        <p:spPr>
          <a:xfrm rot="5400000">
            <a:off x="1016529" y="3106637"/>
            <a:ext cx="1459200" cy="28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11"/>
          <p:cNvCxnSpPr>
            <a:stCxn id="246" idx="2"/>
            <a:endCxn id="266" idx="1"/>
          </p:cNvCxnSpPr>
          <p:nvPr/>
        </p:nvCxnSpPr>
        <p:spPr>
          <a:xfrm flipH="1" rot="-5400000">
            <a:off x="652629" y="3760337"/>
            <a:ext cx="2716800" cy="24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" name="Google Shape;267;p11"/>
          <p:cNvCxnSpPr>
            <a:endCxn id="257" idx="1"/>
          </p:cNvCxnSpPr>
          <p:nvPr/>
        </p:nvCxnSpPr>
        <p:spPr>
          <a:xfrm flipH="1" rot="-5400000">
            <a:off x="191338" y="3231536"/>
            <a:ext cx="298200" cy="4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11"/>
          <p:cNvSpPr/>
          <p:nvPr/>
        </p:nvSpPr>
        <p:spPr>
          <a:xfrm>
            <a:off x="239779" y="2659453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Normatividad Control UdN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1"/>
          <p:cNvCxnSpPr>
            <a:endCxn id="255" idx="1"/>
          </p:cNvCxnSpPr>
          <p:nvPr/>
        </p:nvCxnSpPr>
        <p:spPr>
          <a:xfrm flipH="1" rot="-5400000">
            <a:off x="2064038" y="3210280"/>
            <a:ext cx="305100" cy="7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" name="Google Shape;269;p11"/>
          <p:cNvCxnSpPr>
            <a:endCxn id="256" idx="1"/>
          </p:cNvCxnSpPr>
          <p:nvPr/>
        </p:nvCxnSpPr>
        <p:spPr>
          <a:xfrm flipH="1" rot="-5400000">
            <a:off x="1827788" y="3504148"/>
            <a:ext cx="777600" cy="7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" name="Google Shape;270;p11"/>
          <p:cNvCxnSpPr>
            <a:endCxn id="258" idx="1"/>
          </p:cNvCxnSpPr>
          <p:nvPr/>
        </p:nvCxnSpPr>
        <p:spPr>
          <a:xfrm flipH="1" rot="-5400000">
            <a:off x="194488" y="4329500"/>
            <a:ext cx="291900" cy="4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" name="Google Shape;271;p11"/>
          <p:cNvCxnSpPr>
            <a:endCxn id="259" idx="1"/>
          </p:cNvCxnSpPr>
          <p:nvPr/>
        </p:nvCxnSpPr>
        <p:spPr>
          <a:xfrm flipH="1" rot="-5400000">
            <a:off x="2070638" y="5578757"/>
            <a:ext cx="291900" cy="7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11"/>
          <p:cNvSpPr/>
          <p:nvPr/>
        </p:nvSpPr>
        <p:spPr>
          <a:xfrm>
            <a:off x="4102409" y="26435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Normatividad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102409" y="317628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Normatividad</a:t>
            </a:r>
            <a:endParaRPr/>
          </a:p>
        </p:txBody>
      </p:sp>
      <p:cxnSp>
        <p:nvCxnSpPr>
          <p:cNvPr id="274" name="Google Shape;274;p11"/>
          <p:cNvCxnSpPr>
            <a:endCxn id="272" idx="1"/>
          </p:cNvCxnSpPr>
          <p:nvPr/>
        </p:nvCxnSpPr>
        <p:spPr>
          <a:xfrm flipH="1" rot="-5400000">
            <a:off x="3880109" y="2648031"/>
            <a:ext cx="350100" cy="9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5" name="Google Shape;275;p11"/>
          <p:cNvCxnSpPr>
            <a:endCxn id="276" idx="1"/>
          </p:cNvCxnSpPr>
          <p:nvPr/>
        </p:nvCxnSpPr>
        <p:spPr>
          <a:xfrm flipH="1" rot="-5400000">
            <a:off x="3343259" y="3184960"/>
            <a:ext cx="1423800" cy="9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" name="Google Shape;277;p11"/>
          <p:cNvCxnSpPr>
            <a:endCxn id="273" idx="1"/>
          </p:cNvCxnSpPr>
          <p:nvPr/>
        </p:nvCxnSpPr>
        <p:spPr>
          <a:xfrm flipH="1" rot="-5400000">
            <a:off x="3613709" y="2914381"/>
            <a:ext cx="882900" cy="9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1"/>
          <p:cNvSpPr/>
          <p:nvPr/>
        </p:nvSpPr>
        <p:spPr>
          <a:xfrm>
            <a:off x="4102409" y="371731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Normatividad Control Cen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980702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Normatividad Cont e Int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Fiscal y Contraloría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251592" y="26435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Consolidación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2130929" y="501186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Control Interno</a:t>
            </a:r>
            <a:endParaRPr/>
          </a:p>
        </p:txBody>
      </p:sp>
      <p:cxnSp>
        <p:nvCxnSpPr>
          <p:cNvPr id="280" name="Google Shape;280;p11"/>
          <p:cNvCxnSpPr>
            <a:endCxn id="279" idx="1"/>
          </p:cNvCxnSpPr>
          <p:nvPr/>
        </p:nvCxnSpPr>
        <p:spPr>
          <a:xfrm flipH="1" rot="-5400000">
            <a:off x="6029292" y="2648031"/>
            <a:ext cx="350100" cy="9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11"/>
          <p:cNvSpPr/>
          <p:nvPr/>
        </p:nvSpPr>
        <p:spPr>
          <a:xfrm>
            <a:off x="239778" y="501186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Evaluación y Control</a:t>
            </a:r>
            <a:endParaRPr/>
          </a:p>
        </p:txBody>
      </p:sp>
      <p:cxnSp>
        <p:nvCxnSpPr>
          <p:cNvPr id="282" name="Google Shape;282;p11"/>
          <p:cNvCxnSpPr>
            <a:stCxn id="246" idx="2"/>
            <a:endCxn id="281" idx="3"/>
          </p:cNvCxnSpPr>
          <p:nvPr/>
        </p:nvCxnSpPr>
        <p:spPr>
          <a:xfrm rot="5400000">
            <a:off x="387729" y="3735437"/>
            <a:ext cx="2716800" cy="28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11"/>
          <p:cNvSpPr/>
          <p:nvPr/>
        </p:nvSpPr>
        <p:spPr>
          <a:xfrm>
            <a:off x="6129885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Consolidación Financiera</a:t>
            </a:r>
            <a:endParaRPr/>
          </a:p>
        </p:txBody>
      </p:sp>
      <p:cxnSp>
        <p:nvCxnSpPr>
          <p:cNvPr id="283" name="Google Shape;283;p11"/>
          <p:cNvCxnSpPr>
            <a:stCxn id="245" idx="2"/>
            <a:endCxn id="284" idx="0"/>
          </p:cNvCxnSpPr>
          <p:nvPr/>
        </p:nvCxnSpPr>
        <p:spPr>
          <a:xfrm flipH="1" rot="-5400000">
            <a:off x="7609545" y="583097"/>
            <a:ext cx="323700" cy="264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p11"/>
          <p:cNvSpPr/>
          <p:nvPr/>
        </p:nvSpPr>
        <p:spPr>
          <a:xfrm>
            <a:off x="8476707" y="264473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Fiscal</a:t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8476706" y="317525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Fiscal</a:t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8601665" y="371824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Fiscal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8476706" y="42719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Fiscal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601665" y="4814919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Fiscal</a:t>
            </a:r>
            <a:endParaRPr/>
          </a:p>
        </p:txBody>
      </p:sp>
      <p:cxnSp>
        <p:nvCxnSpPr>
          <p:cNvPr id="290" name="Google Shape;290;p11"/>
          <p:cNvCxnSpPr>
            <a:endCxn id="285" idx="1"/>
          </p:cNvCxnSpPr>
          <p:nvPr/>
        </p:nvCxnSpPr>
        <p:spPr>
          <a:xfrm flipH="1" rot="-5400000">
            <a:off x="8258007" y="2652834"/>
            <a:ext cx="361500" cy="7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11"/>
          <p:cNvCxnSpPr>
            <a:endCxn id="286" idx="1"/>
          </p:cNvCxnSpPr>
          <p:nvPr/>
        </p:nvCxnSpPr>
        <p:spPr>
          <a:xfrm flipH="1" rot="-5400000">
            <a:off x="7997906" y="2923256"/>
            <a:ext cx="881700" cy="7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11"/>
          <p:cNvCxnSpPr>
            <a:endCxn id="288" idx="1"/>
          </p:cNvCxnSpPr>
          <p:nvPr/>
        </p:nvCxnSpPr>
        <p:spPr>
          <a:xfrm flipH="1" rot="-5400000">
            <a:off x="7449506" y="3471527"/>
            <a:ext cx="1978500" cy="7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3" name="Google Shape;293;p11"/>
          <p:cNvCxnSpPr>
            <a:endCxn id="287" idx="1"/>
          </p:cNvCxnSpPr>
          <p:nvPr/>
        </p:nvCxnSpPr>
        <p:spPr>
          <a:xfrm flipH="1" rot="-5400000">
            <a:off x="8409215" y="3752598"/>
            <a:ext cx="316200" cy="6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" name="Google Shape;294;p11"/>
          <p:cNvCxnSpPr>
            <a:endCxn id="289" idx="1"/>
          </p:cNvCxnSpPr>
          <p:nvPr/>
        </p:nvCxnSpPr>
        <p:spPr>
          <a:xfrm flipH="1" rot="-5400000">
            <a:off x="8409215" y="4849269"/>
            <a:ext cx="316200" cy="68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10543266" y="26435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Cumplimiento Fiscal</a:t>
            </a:r>
            <a:endParaRPr/>
          </a:p>
        </p:txBody>
      </p:sp>
      <p:cxnSp>
        <p:nvCxnSpPr>
          <p:cNvPr id="296" name="Google Shape;296;p11"/>
          <p:cNvCxnSpPr>
            <a:endCxn id="295" idx="1"/>
          </p:cNvCxnSpPr>
          <p:nvPr/>
        </p:nvCxnSpPr>
        <p:spPr>
          <a:xfrm flipH="1" rot="-5400000">
            <a:off x="10335066" y="2662131"/>
            <a:ext cx="360300" cy="5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11"/>
          <p:cNvSpPr/>
          <p:nvPr/>
        </p:nvSpPr>
        <p:spPr>
          <a:xfrm>
            <a:off x="10417959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Cumplimiento Fiscal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351400" y="20683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Control Fiscal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255888" y="4214111"/>
            <a:ext cx="1236534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Normatividad SOD</a:t>
            </a:r>
            <a:endParaRPr/>
          </a:p>
        </p:txBody>
      </p:sp>
      <p:cxnSp>
        <p:nvCxnSpPr>
          <p:cNvPr id="299" name="Google Shape;299;p11"/>
          <p:cNvCxnSpPr>
            <a:endCxn id="298" idx="1"/>
          </p:cNvCxnSpPr>
          <p:nvPr/>
        </p:nvCxnSpPr>
        <p:spPr>
          <a:xfrm flipH="1" rot="-5400000">
            <a:off x="1549538" y="3734561"/>
            <a:ext cx="1334100" cy="7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p11"/>
          <p:cNvSpPr/>
          <p:nvPr/>
        </p:nvSpPr>
        <p:spPr>
          <a:xfrm>
            <a:off x="2130929" y="2659453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Normatividad PRO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Centro de Servicios Financieros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303281" y="1260526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Admvo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88791" y="2037766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Order to Cash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4439920" y="2037766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Purchase to Pay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3"/>
          <p:cNvCxnSpPr>
            <a:stCxn id="305" idx="2"/>
            <a:endCxn id="306" idx="0"/>
          </p:cNvCxnSpPr>
          <p:nvPr/>
        </p:nvCxnSpPr>
        <p:spPr>
          <a:xfrm rot="5400000">
            <a:off x="3508051" y="-561824"/>
            <a:ext cx="323700" cy="4875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9" name="Google Shape;309;p13"/>
          <p:cNvCxnSpPr>
            <a:stCxn id="305" idx="2"/>
            <a:endCxn id="307" idx="0"/>
          </p:cNvCxnSpPr>
          <p:nvPr/>
        </p:nvCxnSpPr>
        <p:spPr>
          <a:xfrm rot="5400000">
            <a:off x="5483701" y="1413826"/>
            <a:ext cx="323700" cy="92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" name="Google Shape;310;p13"/>
          <p:cNvSpPr/>
          <p:nvPr/>
        </p:nvSpPr>
        <p:spPr>
          <a:xfrm>
            <a:off x="2494114" y="2037766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Record to Report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3"/>
          <p:cNvCxnSpPr>
            <a:stCxn id="305" idx="2"/>
            <a:endCxn id="310" idx="0"/>
          </p:cNvCxnSpPr>
          <p:nvPr/>
        </p:nvCxnSpPr>
        <p:spPr>
          <a:xfrm rot="5400000">
            <a:off x="4510801" y="440926"/>
            <a:ext cx="323700" cy="287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2" name="Google Shape;312;p13"/>
          <p:cNvCxnSpPr>
            <a:stCxn id="305" idx="2"/>
            <a:endCxn id="313" idx="0"/>
          </p:cNvCxnSpPr>
          <p:nvPr/>
        </p:nvCxnSpPr>
        <p:spPr>
          <a:xfrm flipH="1" rot="-5400000">
            <a:off x="7620601" y="201226"/>
            <a:ext cx="323700" cy="334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13"/>
          <p:cNvSpPr/>
          <p:nvPr/>
        </p:nvSpPr>
        <p:spPr>
          <a:xfrm>
            <a:off x="10318964" y="2037766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Información y Gestión CSF</a:t>
            </a:r>
            <a:endParaRPr/>
          </a:p>
        </p:txBody>
      </p:sp>
      <p:cxnSp>
        <p:nvCxnSpPr>
          <p:cNvPr id="315" name="Google Shape;315;p13"/>
          <p:cNvCxnSpPr>
            <a:stCxn id="305" idx="2"/>
            <a:endCxn id="314" idx="0"/>
          </p:cNvCxnSpPr>
          <p:nvPr/>
        </p:nvCxnSpPr>
        <p:spPr>
          <a:xfrm flipH="1" rot="-5400000">
            <a:off x="8423251" y="-601424"/>
            <a:ext cx="323700" cy="4954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3"/>
          <p:cNvSpPr/>
          <p:nvPr/>
        </p:nvSpPr>
        <p:spPr>
          <a:xfrm>
            <a:off x="8040737" y="261608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Condiciones Com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290656" y="314883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368628" y="320863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Reingeniería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8290656" y="374138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368628" y="380118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Condiciones Comerciales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9547143" y="261608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Admón Catálogo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9797062" y="314883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Relación Proveedores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9797062" y="374138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875034" y="3801184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Admin Catálogo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cxnSp>
        <p:nvCxnSpPr>
          <p:cNvPr id="325" name="Google Shape;325;p13"/>
          <p:cNvCxnSpPr>
            <a:endCxn id="317" idx="1"/>
          </p:cNvCxnSpPr>
          <p:nvPr/>
        </p:nvCxnSpPr>
        <p:spPr>
          <a:xfrm flipH="1" rot="-5400000">
            <a:off x="8065956" y="3150934"/>
            <a:ext cx="306000" cy="14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" name="Google Shape;326;p13"/>
          <p:cNvCxnSpPr>
            <a:endCxn id="319" idx="1"/>
          </p:cNvCxnSpPr>
          <p:nvPr/>
        </p:nvCxnSpPr>
        <p:spPr>
          <a:xfrm flipH="1" rot="-5400000">
            <a:off x="7769706" y="3447234"/>
            <a:ext cx="898500" cy="14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13"/>
          <p:cNvCxnSpPr>
            <a:endCxn id="322" idx="1"/>
          </p:cNvCxnSpPr>
          <p:nvPr/>
        </p:nvCxnSpPr>
        <p:spPr>
          <a:xfrm flipH="1" rot="-5400000">
            <a:off x="9572362" y="3150934"/>
            <a:ext cx="306000" cy="14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p13"/>
          <p:cNvCxnSpPr>
            <a:endCxn id="323" idx="1"/>
          </p:cNvCxnSpPr>
          <p:nvPr/>
        </p:nvCxnSpPr>
        <p:spPr>
          <a:xfrm flipH="1" rot="-5400000">
            <a:off x="9276112" y="3447234"/>
            <a:ext cx="898500" cy="14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3" name="Google Shape;313;p13"/>
          <p:cNvSpPr/>
          <p:nvPr/>
        </p:nvSpPr>
        <p:spPr>
          <a:xfrm>
            <a:off x="8713838" y="2037766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Gobierno Datos y Cond</a:t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543389" y="2616377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Simp Control tienda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6417389" y="2033791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Gerencia área Adm Op Contable Cen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543389" y="3141710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Simp Contabilidad</a:t>
            </a:r>
            <a:endParaRPr/>
          </a:p>
        </p:txBody>
      </p:sp>
      <p:cxnSp>
        <p:nvCxnSpPr>
          <p:cNvPr id="332" name="Google Shape;332;p13"/>
          <p:cNvCxnSpPr>
            <a:endCxn id="329" idx="1"/>
          </p:cNvCxnSpPr>
          <p:nvPr/>
        </p:nvCxnSpPr>
        <p:spPr>
          <a:xfrm flipH="1" rot="-5400000">
            <a:off x="6357989" y="2657777"/>
            <a:ext cx="298500" cy="7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13"/>
          <p:cNvCxnSpPr>
            <a:endCxn id="331" idx="1"/>
          </p:cNvCxnSpPr>
          <p:nvPr/>
        </p:nvCxnSpPr>
        <p:spPr>
          <a:xfrm flipH="1" rot="-5400000">
            <a:off x="6066689" y="2891810"/>
            <a:ext cx="881100" cy="7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13"/>
          <p:cNvCxnSpPr>
            <a:stCxn id="305" idx="2"/>
            <a:endCxn id="330" idx="0"/>
          </p:cNvCxnSpPr>
          <p:nvPr/>
        </p:nvCxnSpPr>
        <p:spPr>
          <a:xfrm flipH="1" rot="-5400000">
            <a:off x="6474301" y="1347526"/>
            <a:ext cx="319800" cy="105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13"/>
          <p:cNvCxnSpPr>
            <a:stCxn id="313" idx="2"/>
            <a:endCxn id="316" idx="0"/>
          </p:cNvCxnSpPr>
          <p:nvPr/>
        </p:nvCxnSpPr>
        <p:spPr>
          <a:xfrm rot="5400000">
            <a:off x="9026888" y="2185816"/>
            <a:ext cx="124800" cy="73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13"/>
          <p:cNvCxnSpPr>
            <a:stCxn id="313" idx="2"/>
            <a:endCxn id="321" idx="0"/>
          </p:cNvCxnSpPr>
          <p:nvPr/>
        </p:nvCxnSpPr>
        <p:spPr>
          <a:xfrm flipH="1" rot="-5400000">
            <a:off x="9780188" y="2168416"/>
            <a:ext cx="124800" cy="770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3"/>
          <p:cNvSpPr txBox="1"/>
          <p:nvPr/>
        </p:nvSpPr>
        <p:spPr>
          <a:xfrm>
            <a:off x="-2" y="1121805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9797062" y="4392711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Admón Catálogo</a:t>
            </a:r>
            <a:endParaRPr/>
          </a:p>
        </p:txBody>
      </p:sp>
      <p:cxnSp>
        <p:nvCxnSpPr>
          <p:cNvPr id="339" name="Google Shape;339;p13"/>
          <p:cNvCxnSpPr>
            <a:endCxn id="338" idx="1"/>
          </p:cNvCxnSpPr>
          <p:nvPr/>
        </p:nvCxnSpPr>
        <p:spPr>
          <a:xfrm flipH="1" rot="-5400000">
            <a:off x="8950462" y="3772911"/>
            <a:ext cx="1549800" cy="14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"/>
          <p:cNvSpPr/>
          <p:nvPr/>
        </p:nvSpPr>
        <p:spPr>
          <a:xfrm>
            <a:off x="5313914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Admvo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5379780" y="1954037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Order to Cash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CSF, Order to Cash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3619464" y="342919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CxC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2336288" y="4040932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Open Sans"/>
              <a:buNone/>
            </a:pPr>
            <a:r>
              <a:t/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2336288" y="4646383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CxC Est SF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336288" y="520964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CxC Est Ingresos Com</a:t>
            </a:r>
            <a:endParaRPr b="1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2336288" y="5759019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</a:t>
            </a:r>
            <a:endParaRPr b="1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2394990" y="4101162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Ingresos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0" i="1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872457" y="402957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CxC Serv Locales</a:t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872457" y="455195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CxC Serv Fin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872457" y="5078132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s-MX" sz="7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CxC Serv No Fin</a:t>
            </a:r>
            <a:endParaRPr/>
          </a:p>
        </p:txBody>
      </p:sp>
      <p:cxnSp>
        <p:nvCxnSpPr>
          <p:cNvPr id="356" name="Google Shape;356;p15"/>
          <p:cNvCxnSpPr>
            <a:stCxn id="357" idx="2"/>
            <a:endCxn id="358" idx="0"/>
          </p:cNvCxnSpPr>
          <p:nvPr/>
        </p:nvCxnSpPr>
        <p:spPr>
          <a:xfrm rot="5400000">
            <a:off x="2108621" y="2496919"/>
            <a:ext cx="189300" cy="167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15"/>
          <p:cNvCxnSpPr>
            <a:stCxn id="357" idx="2"/>
            <a:endCxn id="347" idx="0"/>
          </p:cNvCxnSpPr>
          <p:nvPr/>
        </p:nvCxnSpPr>
        <p:spPr>
          <a:xfrm flipH="1" rot="-5400000">
            <a:off x="3545171" y="2735569"/>
            <a:ext cx="189300" cy="119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15"/>
          <p:cNvCxnSpPr>
            <a:endCxn id="353" idx="1"/>
          </p:cNvCxnSpPr>
          <p:nvPr/>
        </p:nvCxnSpPr>
        <p:spPr>
          <a:xfrm flipH="1" rot="-5400000">
            <a:off x="638007" y="4021927"/>
            <a:ext cx="373500" cy="9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15"/>
          <p:cNvCxnSpPr>
            <a:endCxn id="354" idx="1"/>
          </p:cNvCxnSpPr>
          <p:nvPr/>
        </p:nvCxnSpPr>
        <p:spPr>
          <a:xfrm flipH="1" rot="-5400000">
            <a:off x="414357" y="4320657"/>
            <a:ext cx="820800" cy="9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15"/>
          <p:cNvCxnSpPr>
            <a:endCxn id="355" idx="1"/>
          </p:cNvCxnSpPr>
          <p:nvPr/>
        </p:nvCxnSpPr>
        <p:spPr>
          <a:xfrm flipH="1" rot="-5400000">
            <a:off x="181707" y="4614182"/>
            <a:ext cx="1286100" cy="9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15"/>
          <p:cNvCxnSpPr>
            <a:endCxn id="348" idx="1"/>
          </p:cNvCxnSpPr>
          <p:nvPr/>
        </p:nvCxnSpPr>
        <p:spPr>
          <a:xfrm flipH="1" rot="-5400000">
            <a:off x="2086838" y="4018282"/>
            <a:ext cx="384900" cy="11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15"/>
          <p:cNvCxnSpPr>
            <a:endCxn id="349" idx="1"/>
          </p:cNvCxnSpPr>
          <p:nvPr/>
        </p:nvCxnSpPr>
        <p:spPr>
          <a:xfrm flipH="1" rot="-5400000">
            <a:off x="1788488" y="4325383"/>
            <a:ext cx="981600" cy="11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15"/>
          <p:cNvCxnSpPr>
            <a:endCxn id="350" idx="1"/>
          </p:cNvCxnSpPr>
          <p:nvPr/>
        </p:nvCxnSpPr>
        <p:spPr>
          <a:xfrm flipH="1" rot="-5400000">
            <a:off x="1502438" y="4602596"/>
            <a:ext cx="1553700" cy="11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15"/>
          <p:cNvCxnSpPr>
            <a:endCxn id="351" idx="1"/>
          </p:cNvCxnSpPr>
          <p:nvPr/>
        </p:nvCxnSpPr>
        <p:spPr>
          <a:xfrm flipH="1" rot="-5400000">
            <a:off x="1227788" y="4877319"/>
            <a:ext cx="2103000" cy="114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15"/>
          <p:cNvCxnSpPr>
            <a:stCxn id="345" idx="2"/>
            <a:endCxn id="357" idx="0"/>
          </p:cNvCxnSpPr>
          <p:nvPr/>
        </p:nvCxnSpPr>
        <p:spPr>
          <a:xfrm rot="5400000">
            <a:off x="4392780" y="1055837"/>
            <a:ext cx="378600" cy="308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8" name="Google Shape;368;p15"/>
          <p:cNvCxnSpPr>
            <a:stCxn id="345" idx="2"/>
            <a:endCxn id="369" idx="0"/>
          </p:cNvCxnSpPr>
          <p:nvPr/>
        </p:nvCxnSpPr>
        <p:spPr>
          <a:xfrm flipH="1" rot="-5400000">
            <a:off x="7630530" y="900287"/>
            <a:ext cx="378600" cy="339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15"/>
          <p:cNvSpPr/>
          <p:nvPr/>
        </p:nvSpPr>
        <p:spPr>
          <a:xfrm>
            <a:off x="2360125" y="278626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Ing y Cob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8835681" y="278626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Gestión Acuerdo Comercial</a:t>
            </a:r>
            <a:endParaRPr/>
          </a:p>
        </p:txBody>
      </p:sp>
      <p:cxnSp>
        <p:nvCxnSpPr>
          <p:cNvPr id="370" name="Google Shape;370;p15"/>
          <p:cNvCxnSpPr>
            <a:stCxn id="357" idx="2"/>
            <a:endCxn id="371" idx="0"/>
          </p:cNvCxnSpPr>
          <p:nvPr/>
        </p:nvCxnSpPr>
        <p:spPr>
          <a:xfrm rot="5400000">
            <a:off x="2837021" y="3225319"/>
            <a:ext cx="189300" cy="2184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p15"/>
          <p:cNvSpPr/>
          <p:nvPr/>
        </p:nvSpPr>
        <p:spPr>
          <a:xfrm>
            <a:off x="2203412" y="342919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Cartera y Recup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5444121" y="278626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Est Recuperación Cart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569080" y="39103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Ingresos</a:t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569080" y="3359283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Ingresos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8003709" y="3359283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Comerciales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8003709" y="391494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Comerciales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8003709" y="4496510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Comerciales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8003709" y="50780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Comerciales</a:t>
            </a:r>
            <a:endParaRPr/>
          </a:p>
        </p:txBody>
      </p:sp>
      <p:cxnSp>
        <p:nvCxnSpPr>
          <p:cNvPr id="379" name="Google Shape;379;p15"/>
          <p:cNvCxnSpPr>
            <a:stCxn id="344" idx="2"/>
            <a:endCxn id="345" idx="0"/>
          </p:cNvCxnSpPr>
          <p:nvPr/>
        </p:nvCxnSpPr>
        <p:spPr>
          <a:xfrm>
            <a:off x="6118334" y="1744697"/>
            <a:ext cx="4800" cy="20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15"/>
          <p:cNvCxnSpPr>
            <a:stCxn id="345" idx="2"/>
            <a:endCxn id="372" idx="0"/>
          </p:cNvCxnSpPr>
          <p:nvPr/>
        </p:nvCxnSpPr>
        <p:spPr>
          <a:xfrm flipH="1" rot="-5400000">
            <a:off x="5934780" y="2596037"/>
            <a:ext cx="378600" cy="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15"/>
          <p:cNvSpPr/>
          <p:nvPr/>
        </p:nvSpPr>
        <p:spPr>
          <a:xfrm>
            <a:off x="9825751" y="3359283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Acuerdos Comerciales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9825751" y="391494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Reingeniería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9825751" y="4496510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Reingeniería</a:t>
            </a:r>
            <a:endParaRPr/>
          </a:p>
        </p:txBody>
      </p:sp>
      <p:cxnSp>
        <p:nvCxnSpPr>
          <p:cNvPr id="384" name="Google Shape;384;p15"/>
          <p:cNvCxnSpPr>
            <a:stCxn id="369" idx="2"/>
            <a:endCxn id="375" idx="3"/>
          </p:cNvCxnSpPr>
          <p:nvPr/>
        </p:nvCxnSpPr>
        <p:spPr>
          <a:xfrm rot="5400000">
            <a:off x="9205178" y="3274819"/>
            <a:ext cx="346200" cy="27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5" name="Google Shape;385;p15"/>
          <p:cNvCxnSpPr>
            <a:stCxn id="369" idx="2"/>
            <a:endCxn id="376" idx="3"/>
          </p:cNvCxnSpPr>
          <p:nvPr/>
        </p:nvCxnSpPr>
        <p:spPr>
          <a:xfrm rot="5400000">
            <a:off x="8927378" y="3552619"/>
            <a:ext cx="901800" cy="27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15"/>
          <p:cNvCxnSpPr>
            <a:stCxn id="369" idx="2"/>
            <a:endCxn id="377" idx="3"/>
          </p:cNvCxnSpPr>
          <p:nvPr/>
        </p:nvCxnSpPr>
        <p:spPr>
          <a:xfrm rot="5400000">
            <a:off x="8636528" y="3843469"/>
            <a:ext cx="1483500" cy="27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15"/>
          <p:cNvCxnSpPr>
            <a:stCxn id="369" idx="2"/>
            <a:endCxn id="378" idx="3"/>
          </p:cNvCxnSpPr>
          <p:nvPr/>
        </p:nvCxnSpPr>
        <p:spPr>
          <a:xfrm rot="5400000">
            <a:off x="8345828" y="4134169"/>
            <a:ext cx="2064900" cy="27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15"/>
          <p:cNvCxnSpPr>
            <a:stCxn id="369" idx="2"/>
            <a:endCxn id="381" idx="1"/>
          </p:cNvCxnSpPr>
          <p:nvPr/>
        </p:nvCxnSpPr>
        <p:spPr>
          <a:xfrm flipH="1" rot="-5400000">
            <a:off x="9497978" y="3258319"/>
            <a:ext cx="346200" cy="30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15"/>
          <p:cNvCxnSpPr>
            <a:stCxn id="369" idx="2"/>
            <a:endCxn id="382" idx="1"/>
          </p:cNvCxnSpPr>
          <p:nvPr/>
        </p:nvCxnSpPr>
        <p:spPr>
          <a:xfrm flipH="1" rot="-5400000">
            <a:off x="9220178" y="3536119"/>
            <a:ext cx="901800" cy="30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15"/>
          <p:cNvCxnSpPr>
            <a:stCxn id="369" idx="2"/>
            <a:endCxn id="383" idx="1"/>
          </p:cNvCxnSpPr>
          <p:nvPr/>
        </p:nvCxnSpPr>
        <p:spPr>
          <a:xfrm flipH="1" rot="-5400000">
            <a:off x="8929328" y="3826969"/>
            <a:ext cx="1483500" cy="30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15"/>
          <p:cNvCxnSpPr>
            <a:endCxn id="374" idx="1"/>
          </p:cNvCxnSpPr>
          <p:nvPr/>
        </p:nvCxnSpPr>
        <p:spPr>
          <a:xfrm flipH="1" rot="-5400000">
            <a:off x="5364780" y="3381783"/>
            <a:ext cx="346200" cy="6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p15"/>
          <p:cNvCxnSpPr>
            <a:endCxn id="373" idx="1"/>
          </p:cNvCxnSpPr>
          <p:nvPr/>
        </p:nvCxnSpPr>
        <p:spPr>
          <a:xfrm flipH="1" rot="-5400000">
            <a:off x="5089230" y="3657281"/>
            <a:ext cx="897300" cy="6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15"/>
          <p:cNvSpPr/>
          <p:nvPr/>
        </p:nvSpPr>
        <p:spPr>
          <a:xfrm>
            <a:off x="746457" y="342919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Serv Corr.</a:t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0" y="1128658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"/>
          <p:cNvSpPr/>
          <p:nvPr/>
        </p:nvSpPr>
        <p:spPr>
          <a:xfrm>
            <a:off x="5313914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Admvo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375543" y="1808635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Record to Report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7"/>
          <p:cNvCxnSpPr>
            <a:stCxn id="398" idx="2"/>
            <a:endCxn id="399" idx="0"/>
          </p:cNvCxnSpPr>
          <p:nvPr/>
        </p:nvCxnSpPr>
        <p:spPr>
          <a:xfrm flipH="1" rot="-5400000">
            <a:off x="6086684" y="1776347"/>
            <a:ext cx="63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p1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CSF, Record to Report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10483639" y="3787807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Control Recepción Pagos</a:t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10483639" y="3177802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Conciliaciones</a:t>
            </a:r>
            <a:endParaRPr/>
          </a:p>
        </p:txBody>
      </p:sp>
      <p:cxnSp>
        <p:nvCxnSpPr>
          <p:cNvPr id="404" name="Google Shape;404;p17"/>
          <p:cNvCxnSpPr>
            <a:endCxn id="403" idx="1"/>
          </p:cNvCxnSpPr>
          <p:nvPr/>
        </p:nvCxnSpPr>
        <p:spPr>
          <a:xfrm flipH="1" rot="-5400000">
            <a:off x="10249189" y="3170152"/>
            <a:ext cx="385200" cy="8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5" name="Google Shape;405;p17"/>
          <p:cNvCxnSpPr>
            <a:endCxn id="402" idx="1"/>
          </p:cNvCxnSpPr>
          <p:nvPr/>
        </p:nvCxnSpPr>
        <p:spPr>
          <a:xfrm flipH="1" rot="-5400000">
            <a:off x="9944239" y="3475207"/>
            <a:ext cx="995100" cy="83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6" name="Google Shape;406;p17"/>
          <p:cNvSpPr/>
          <p:nvPr/>
        </p:nvSpPr>
        <p:spPr>
          <a:xfrm>
            <a:off x="10361239" y="256847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Conciliación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F</a:t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5022149" y="3787807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Almacén Activo Fijo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5022149" y="3177802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Admon Propiedad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5022149" y="439781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Admvo Oracle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5022149" y="500781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Almacén</a:t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4900599" y="256847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 Activo Fijo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6659461" y="256847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Aclaración y Gestión</a:t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8454353" y="256847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Conciliación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NF</a:t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5022149" y="561782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Info Activo Fijo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6802603" y="313753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Open Sans"/>
              <a:buNone/>
            </a:pPr>
            <a:r>
              <a:t/>
            </a:r>
            <a:endParaRPr b="0" i="0" sz="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6882739" y="3207878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Conciliaciones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8615413" y="3118550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Open Sans"/>
              <a:buNone/>
            </a:pPr>
            <a:r>
              <a:t/>
            </a:r>
            <a:endParaRPr b="0" i="0" sz="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8695549" y="3188896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Conciliaciones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1876393" y="3798730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Contabilidad OS Nóminas</a:t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1876393" y="318872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Contabilidad CSF</a:t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1896921" y="436546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Open Sans"/>
              <a:buNone/>
            </a:pPr>
            <a:r>
              <a:t/>
            </a:r>
            <a:endParaRPr b="0" i="0" sz="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1876393" y="5018739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Contabilidades Centrales</a:t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1876393" y="561782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Admvo Activo Fijo</a:t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301145" y="5617821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Contabilidad</a:t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1970841" y="4424143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536422" y="4489904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6536422" y="498971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Entradas Salida</a:t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6536422" y="5371880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Inversión Salida</a:t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6536422" y="5754047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Almacén</a:t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6536422" y="6131194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Cargos Directos</a:t>
            </a:r>
            <a:endParaRPr/>
          </a:p>
        </p:txBody>
      </p:sp>
      <p:cxnSp>
        <p:nvCxnSpPr>
          <p:cNvPr id="431" name="Google Shape;431;p17"/>
          <p:cNvCxnSpPr>
            <a:stCxn id="407" idx="3"/>
            <a:endCxn id="426" idx="1"/>
          </p:cNvCxnSpPr>
          <p:nvPr/>
        </p:nvCxnSpPr>
        <p:spPr>
          <a:xfrm>
            <a:off x="6260549" y="4014607"/>
            <a:ext cx="276000" cy="64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2" name="Google Shape;432;p17"/>
          <p:cNvSpPr/>
          <p:nvPr/>
        </p:nvSpPr>
        <p:spPr>
          <a:xfrm>
            <a:off x="6600363" y="4546512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Activo Fijo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1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cxnSp>
        <p:nvCxnSpPr>
          <p:cNvPr id="433" name="Google Shape;433;p17"/>
          <p:cNvCxnSpPr>
            <a:stCxn id="407" idx="3"/>
            <a:endCxn id="427" idx="1"/>
          </p:cNvCxnSpPr>
          <p:nvPr/>
        </p:nvCxnSpPr>
        <p:spPr>
          <a:xfrm>
            <a:off x="6260549" y="4014607"/>
            <a:ext cx="276000" cy="114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17"/>
          <p:cNvCxnSpPr>
            <a:stCxn id="407" idx="3"/>
            <a:endCxn id="428" idx="1"/>
          </p:cNvCxnSpPr>
          <p:nvPr/>
        </p:nvCxnSpPr>
        <p:spPr>
          <a:xfrm>
            <a:off x="6260549" y="4014607"/>
            <a:ext cx="276000" cy="1524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17"/>
          <p:cNvCxnSpPr>
            <a:stCxn id="407" idx="3"/>
            <a:endCxn id="429" idx="1"/>
          </p:cNvCxnSpPr>
          <p:nvPr/>
        </p:nvCxnSpPr>
        <p:spPr>
          <a:xfrm>
            <a:off x="6260549" y="4014607"/>
            <a:ext cx="276000" cy="190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17"/>
          <p:cNvCxnSpPr>
            <a:stCxn id="407" idx="3"/>
            <a:endCxn id="430" idx="1"/>
          </p:cNvCxnSpPr>
          <p:nvPr/>
        </p:nvCxnSpPr>
        <p:spPr>
          <a:xfrm>
            <a:off x="6260549" y="4014607"/>
            <a:ext cx="276000" cy="228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7" name="Google Shape;437;p17"/>
          <p:cNvSpPr/>
          <p:nvPr/>
        </p:nvSpPr>
        <p:spPr>
          <a:xfrm>
            <a:off x="3729352" y="4397811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Auditor Activo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1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3729352" y="4779978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Activo Fijo OS</a:t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3729352" y="5162146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Cargos Directos</a:t>
            </a:r>
            <a:endParaRPr/>
          </a:p>
        </p:txBody>
      </p:sp>
      <p:cxnSp>
        <p:nvCxnSpPr>
          <p:cNvPr id="440" name="Google Shape;440;p17"/>
          <p:cNvCxnSpPr>
            <a:stCxn id="409" idx="1"/>
            <a:endCxn id="437" idx="3"/>
          </p:cNvCxnSpPr>
          <p:nvPr/>
        </p:nvCxnSpPr>
        <p:spPr>
          <a:xfrm rot="10800000">
            <a:off x="4615049" y="4564911"/>
            <a:ext cx="407100" cy="597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17"/>
          <p:cNvCxnSpPr>
            <a:stCxn id="409" idx="1"/>
            <a:endCxn id="438" idx="3"/>
          </p:cNvCxnSpPr>
          <p:nvPr/>
        </p:nvCxnSpPr>
        <p:spPr>
          <a:xfrm flipH="1">
            <a:off x="4615049" y="4624611"/>
            <a:ext cx="407100" cy="3225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17"/>
          <p:cNvCxnSpPr>
            <a:stCxn id="409" idx="1"/>
            <a:endCxn id="439" idx="3"/>
          </p:cNvCxnSpPr>
          <p:nvPr/>
        </p:nvCxnSpPr>
        <p:spPr>
          <a:xfrm flipH="1">
            <a:off x="4615049" y="4624611"/>
            <a:ext cx="407100" cy="7047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17"/>
          <p:cNvSpPr/>
          <p:nvPr/>
        </p:nvSpPr>
        <p:spPr>
          <a:xfrm>
            <a:off x="3317244" y="385835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Contabilidad</a:t>
            </a:r>
            <a:endParaRPr/>
          </a:p>
        </p:txBody>
      </p:sp>
      <p:cxnSp>
        <p:nvCxnSpPr>
          <p:cNvPr id="444" name="Google Shape;444;p17"/>
          <p:cNvCxnSpPr>
            <a:stCxn id="445" idx="2"/>
            <a:endCxn id="420" idx="1"/>
          </p:cNvCxnSpPr>
          <p:nvPr/>
        </p:nvCxnSpPr>
        <p:spPr>
          <a:xfrm flipH="1" rot="-5400000">
            <a:off x="1597831" y="3136676"/>
            <a:ext cx="393300" cy="16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17"/>
          <p:cNvCxnSpPr>
            <a:stCxn id="445" idx="2"/>
            <a:endCxn id="419" idx="1"/>
          </p:cNvCxnSpPr>
          <p:nvPr/>
        </p:nvCxnSpPr>
        <p:spPr>
          <a:xfrm flipH="1" rot="-5400000">
            <a:off x="1292731" y="3441776"/>
            <a:ext cx="1003500" cy="16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17"/>
          <p:cNvCxnSpPr>
            <a:stCxn id="445" idx="2"/>
            <a:endCxn id="421" idx="1"/>
          </p:cNvCxnSpPr>
          <p:nvPr/>
        </p:nvCxnSpPr>
        <p:spPr>
          <a:xfrm flipH="1" rot="-5400000">
            <a:off x="1019581" y="3714926"/>
            <a:ext cx="1570200" cy="184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17"/>
          <p:cNvCxnSpPr>
            <a:stCxn id="445" idx="2"/>
            <a:endCxn id="422" idx="1"/>
          </p:cNvCxnSpPr>
          <p:nvPr/>
        </p:nvCxnSpPr>
        <p:spPr>
          <a:xfrm flipH="1" rot="-5400000">
            <a:off x="682681" y="4051826"/>
            <a:ext cx="2223600" cy="16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17"/>
          <p:cNvCxnSpPr>
            <a:stCxn id="445" idx="2"/>
            <a:endCxn id="423" idx="1"/>
          </p:cNvCxnSpPr>
          <p:nvPr/>
        </p:nvCxnSpPr>
        <p:spPr>
          <a:xfrm flipH="1" rot="-5400000">
            <a:off x="383281" y="4351226"/>
            <a:ext cx="2822400" cy="16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17"/>
          <p:cNvCxnSpPr>
            <a:stCxn id="445" idx="2"/>
            <a:endCxn id="424" idx="3"/>
          </p:cNvCxnSpPr>
          <p:nvPr/>
        </p:nvCxnSpPr>
        <p:spPr>
          <a:xfrm rot="5400000">
            <a:off x="214831" y="4346876"/>
            <a:ext cx="2822400" cy="17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17"/>
          <p:cNvCxnSpPr>
            <a:endCxn id="408" idx="1"/>
          </p:cNvCxnSpPr>
          <p:nvPr/>
        </p:nvCxnSpPr>
        <p:spPr>
          <a:xfrm flipH="1" rot="-5400000">
            <a:off x="4789949" y="3172402"/>
            <a:ext cx="385200" cy="7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17"/>
          <p:cNvCxnSpPr>
            <a:endCxn id="407" idx="1"/>
          </p:cNvCxnSpPr>
          <p:nvPr/>
        </p:nvCxnSpPr>
        <p:spPr>
          <a:xfrm flipH="1" rot="-5400000">
            <a:off x="4484999" y="3477457"/>
            <a:ext cx="995100" cy="7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17"/>
          <p:cNvCxnSpPr>
            <a:endCxn id="409" idx="1"/>
          </p:cNvCxnSpPr>
          <p:nvPr/>
        </p:nvCxnSpPr>
        <p:spPr>
          <a:xfrm flipH="1" rot="-5400000">
            <a:off x="4180049" y="3782511"/>
            <a:ext cx="1605000" cy="7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17"/>
          <p:cNvCxnSpPr>
            <a:endCxn id="410" idx="1"/>
          </p:cNvCxnSpPr>
          <p:nvPr/>
        </p:nvCxnSpPr>
        <p:spPr>
          <a:xfrm flipH="1" rot="-5400000">
            <a:off x="3874949" y="4087416"/>
            <a:ext cx="2215200" cy="7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17"/>
          <p:cNvCxnSpPr>
            <a:endCxn id="414" idx="1"/>
          </p:cNvCxnSpPr>
          <p:nvPr/>
        </p:nvCxnSpPr>
        <p:spPr>
          <a:xfrm flipH="1" rot="-5400000">
            <a:off x="3569999" y="4392471"/>
            <a:ext cx="2825100" cy="79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17"/>
          <p:cNvCxnSpPr>
            <a:endCxn id="415" idx="1"/>
          </p:cNvCxnSpPr>
          <p:nvPr/>
        </p:nvCxnSpPr>
        <p:spPr>
          <a:xfrm flipH="1" rot="-5400000">
            <a:off x="6584353" y="3146083"/>
            <a:ext cx="344700" cy="9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" name="Google Shape;457;p17"/>
          <p:cNvCxnSpPr>
            <a:endCxn id="417" idx="1"/>
          </p:cNvCxnSpPr>
          <p:nvPr/>
        </p:nvCxnSpPr>
        <p:spPr>
          <a:xfrm flipH="1" rot="-5400000">
            <a:off x="8409613" y="3139550"/>
            <a:ext cx="325800" cy="8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8" name="Google Shape;458;p17"/>
          <p:cNvCxnSpPr>
            <a:stCxn id="399" idx="2"/>
            <a:endCxn id="445" idx="0"/>
          </p:cNvCxnSpPr>
          <p:nvPr/>
        </p:nvCxnSpPr>
        <p:spPr>
          <a:xfrm rot="5400000">
            <a:off x="3762593" y="212185"/>
            <a:ext cx="306300" cy="440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9" name="Google Shape;459;p17"/>
          <p:cNvCxnSpPr>
            <a:stCxn id="399" idx="2"/>
            <a:endCxn id="411" idx="0"/>
          </p:cNvCxnSpPr>
          <p:nvPr/>
        </p:nvCxnSpPr>
        <p:spPr>
          <a:xfrm rot="5400000">
            <a:off x="5696843" y="2146435"/>
            <a:ext cx="306300" cy="53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17"/>
          <p:cNvCxnSpPr>
            <a:stCxn id="399" idx="2"/>
            <a:endCxn id="412" idx="0"/>
          </p:cNvCxnSpPr>
          <p:nvPr/>
        </p:nvCxnSpPr>
        <p:spPr>
          <a:xfrm flipH="1" rot="-5400000">
            <a:off x="6576293" y="1804885"/>
            <a:ext cx="306300" cy="122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1" name="Google Shape;461;p17"/>
          <p:cNvCxnSpPr>
            <a:stCxn id="399" idx="2"/>
            <a:endCxn id="406" idx="0"/>
          </p:cNvCxnSpPr>
          <p:nvPr/>
        </p:nvCxnSpPr>
        <p:spPr>
          <a:xfrm flipH="1" rot="-5400000">
            <a:off x="8427143" y="-45965"/>
            <a:ext cx="306300" cy="492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2" name="Google Shape;462;p17"/>
          <p:cNvCxnSpPr>
            <a:stCxn id="399" idx="2"/>
            <a:endCxn id="413" idx="0"/>
          </p:cNvCxnSpPr>
          <p:nvPr/>
        </p:nvCxnSpPr>
        <p:spPr>
          <a:xfrm flipH="1" rot="-5400000">
            <a:off x="7473743" y="907435"/>
            <a:ext cx="306300" cy="301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3" name="Google Shape;463;p17"/>
          <p:cNvSpPr/>
          <p:nvPr/>
        </p:nvSpPr>
        <p:spPr>
          <a:xfrm>
            <a:off x="294777" y="3188725"/>
            <a:ext cx="1238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Operación Contable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420777" y="369617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x5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420777" y="419933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Contabilidad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420777" y="4701120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Cuentas por Pagar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x7</a:t>
            </a:r>
            <a:endParaRPr/>
          </a:p>
        </p:txBody>
      </p:sp>
      <p:cxnSp>
        <p:nvCxnSpPr>
          <p:cNvPr id="467" name="Google Shape;467;p17"/>
          <p:cNvCxnSpPr>
            <a:stCxn id="445" idx="2"/>
            <a:endCxn id="463" idx="3"/>
          </p:cNvCxnSpPr>
          <p:nvPr/>
        </p:nvCxnSpPr>
        <p:spPr>
          <a:xfrm rot="5400000">
            <a:off x="1426081" y="3129026"/>
            <a:ext cx="393300" cy="17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17"/>
          <p:cNvCxnSpPr>
            <a:endCxn id="464" idx="1"/>
          </p:cNvCxnSpPr>
          <p:nvPr/>
        </p:nvCxnSpPr>
        <p:spPr>
          <a:xfrm flipH="1" rot="-5400000">
            <a:off x="241377" y="3743577"/>
            <a:ext cx="276600" cy="8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17"/>
          <p:cNvCxnSpPr>
            <a:endCxn id="465" idx="1"/>
          </p:cNvCxnSpPr>
          <p:nvPr/>
        </p:nvCxnSpPr>
        <p:spPr>
          <a:xfrm flipH="1" rot="-5400000">
            <a:off x="-5073" y="4000287"/>
            <a:ext cx="769500" cy="8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0" name="Google Shape;470;p17"/>
          <p:cNvCxnSpPr>
            <a:endCxn id="466" idx="1"/>
          </p:cNvCxnSpPr>
          <p:nvPr/>
        </p:nvCxnSpPr>
        <p:spPr>
          <a:xfrm flipH="1" rot="-5400000">
            <a:off x="-261123" y="4246020"/>
            <a:ext cx="1281600" cy="8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1" name="Google Shape;471;p17"/>
          <p:cNvSpPr/>
          <p:nvPr/>
        </p:nvSpPr>
        <p:spPr>
          <a:xfrm>
            <a:off x="3317245" y="3250936"/>
            <a:ext cx="885942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Admvo OS Negocio</a:t>
            </a:r>
            <a:endParaRPr/>
          </a:p>
        </p:txBody>
      </p:sp>
      <p:cxnSp>
        <p:nvCxnSpPr>
          <p:cNvPr id="472" name="Google Shape;472;p17"/>
          <p:cNvCxnSpPr>
            <a:stCxn id="420" idx="3"/>
            <a:endCxn id="471" idx="1"/>
          </p:cNvCxnSpPr>
          <p:nvPr/>
        </p:nvCxnSpPr>
        <p:spPr>
          <a:xfrm>
            <a:off x="3114793" y="3415525"/>
            <a:ext cx="2025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17"/>
          <p:cNvCxnSpPr>
            <a:stCxn id="419" idx="3"/>
            <a:endCxn id="443" idx="1"/>
          </p:cNvCxnSpPr>
          <p:nvPr/>
        </p:nvCxnSpPr>
        <p:spPr>
          <a:xfrm>
            <a:off x="3114793" y="4025530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4" name="Google Shape;474;p17"/>
          <p:cNvSpPr/>
          <p:nvPr/>
        </p:nvSpPr>
        <p:spPr>
          <a:xfrm>
            <a:off x="6515152" y="3745096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Administrador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1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cxnSp>
        <p:nvCxnSpPr>
          <p:cNvPr id="475" name="Google Shape;475;p17"/>
          <p:cNvCxnSpPr>
            <a:stCxn id="408" idx="3"/>
            <a:endCxn id="474" idx="1"/>
          </p:cNvCxnSpPr>
          <p:nvPr/>
        </p:nvCxnSpPr>
        <p:spPr>
          <a:xfrm>
            <a:off x="6260549" y="3404602"/>
            <a:ext cx="254700" cy="507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17"/>
          <p:cNvSpPr/>
          <p:nvPr/>
        </p:nvSpPr>
        <p:spPr>
          <a:xfrm>
            <a:off x="1032031" y="2568476"/>
            <a:ext cx="1360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y Op Cont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0" y="1128658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9"/>
          <p:cNvSpPr/>
          <p:nvPr/>
        </p:nvSpPr>
        <p:spPr>
          <a:xfrm>
            <a:off x="5313914" y="1184768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Admvo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5375543" y="1698850"/>
            <a:ext cx="14868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Purchase to Pay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9"/>
          <p:cNvCxnSpPr>
            <a:stCxn id="481" idx="2"/>
            <a:endCxn id="482" idx="0"/>
          </p:cNvCxnSpPr>
          <p:nvPr/>
        </p:nvCxnSpPr>
        <p:spPr>
          <a:xfrm flipH="1" rot="-5400000">
            <a:off x="6088334" y="1668368"/>
            <a:ext cx="606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19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CSF, Purchase to Pay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055137" y="2292031"/>
            <a:ext cx="1254872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Tesorería</a:t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7942611" y="2292031"/>
            <a:ext cx="1254872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Admón Riesgos</a:t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4398637" y="2292031"/>
            <a:ext cx="1254872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Cuentas por Pagar</a:t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4536416" y="2969454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Open Sans"/>
              <a:buNone/>
            </a:pPr>
            <a:r>
              <a:t/>
            </a:r>
            <a:endParaRPr b="0" i="0" sz="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616626" y="305149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Gestión CxP y Costos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4536416" y="3713115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CxP Costos</a:t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4536416" y="436648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Administrativo</a:t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4536416" y="5019857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Pagos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Francisco Medina</a:t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4536416" y="5669409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Open Sans"/>
              <a:buNone/>
            </a:pPr>
            <a:r>
              <a:t/>
            </a:r>
            <a:endParaRPr b="0" i="0" sz="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616626" y="575268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CxP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cxnSp>
        <p:nvCxnSpPr>
          <p:cNvPr id="495" name="Google Shape;495;p19"/>
          <p:cNvCxnSpPr>
            <a:endCxn id="488" idx="1"/>
          </p:cNvCxnSpPr>
          <p:nvPr/>
        </p:nvCxnSpPr>
        <p:spPr>
          <a:xfrm flipH="1" rot="-5400000">
            <a:off x="4266866" y="2926704"/>
            <a:ext cx="4506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19"/>
          <p:cNvCxnSpPr>
            <a:endCxn id="490" idx="1"/>
          </p:cNvCxnSpPr>
          <p:nvPr/>
        </p:nvCxnSpPr>
        <p:spPr>
          <a:xfrm flipH="1" rot="-5400000">
            <a:off x="3895016" y="3298515"/>
            <a:ext cx="11943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19"/>
          <p:cNvCxnSpPr>
            <a:endCxn id="491" idx="1"/>
          </p:cNvCxnSpPr>
          <p:nvPr/>
        </p:nvCxnSpPr>
        <p:spPr>
          <a:xfrm flipH="1" rot="-5400000">
            <a:off x="3568316" y="3625186"/>
            <a:ext cx="18477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19"/>
          <p:cNvCxnSpPr>
            <a:endCxn id="492" idx="1"/>
          </p:cNvCxnSpPr>
          <p:nvPr/>
        </p:nvCxnSpPr>
        <p:spPr>
          <a:xfrm flipH="1" rot="-5400000">
            <a:off x="3241616" y="3951857"/>
            <a:ext cx="25011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19"/>
          <p:cNvCxnSpPr>
            <a:endCxn id="493" idx="1"/>
          </p:cNvCxnSpPr>
          <p:nvPr/>
        </p:nvCxnSpPr>
        <p:spPr>
          <a:xfrm flipH="1" rot="-5400000">
            <a:off x="2916866" y="4276659"/>
            <a:ext cx="3150600" cy="8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0" name="Google Shape;500;p19"/>
          <p:cNvSpPr/>
          <p:nvPr/>
        </p:nvSpPr>
        <p:spPr>
          <a:xfrm>
            <a:off x="1906380" y="2969454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Relación Bancaria</a:t>
            </a:r>
            <a:endParaRPr/>
          </a:p>
        </p:txBody>
      </p:sp>
      <p:sp>
        <p:nvSpPr>
          <p:cNvPr id="501" name="Google Shape;501;p19"/>
          <p:cNvSpPr/>
          <p:nvPr/>
        </p:nvSpPr>
        <p:spPr>
          <a:xfrm>
            <a:off x="1906380" y="3704253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Medios Pago Electrónicos</a:t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1906380" y="436648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Auxiliar Administrativo</a:t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341644" y="2969454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Servicios Op Bancaria</a:t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341644" y="3704253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Admón Efectivo Rel Ban</a:t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341644" y="4366486"/>
            <a:ext cx="11124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Lending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5986892" y="4431286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Admvo SF</a:t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5986892" y="4816415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Serv Nacional y Corr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986892" y="5214509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Contabilidad y A</a:t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5986892" y="5615540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Cuentas Deudoras</a:t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5986892" y="6042581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CxP Comercial</a:t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5986892" y="644361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CxP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9"/>
          <p:cNvCxnSpPr>
            <a:stCxn id="491" idx="3"/>
            <a:endCxn id="511" idx="1"/>
          </p:cNvCxnSpPr>
          <p:nvPr/>
        </p:nvCxnSpPr>
        <p:spPr>
          <a:xfrm>
            <a:off x="5648816" y="4593286"/>
            <a:ext cx="338100" cy="201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3" name="Google Shape;513;p19"/>
          <p:cNvCxnSpPr>
            <a:stCxn id="491" idx="3"/>
            <a:endCxn id="510" idx="1"/>
          </p:cNvCxnSpPr>
          <p:nvPr/>
        </p:nvCxnSpPr>
        <p:spPr>
          <a:xfrm>
            <a:off x="5648816" y="4593286"/>
            <a:ext cx="338100" cy="161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4" name="Google Shape;514;p19"/>
          <p:cNvCxnSpPr>
            <a:stCxn id="491" idx="3"/>
            <a:endCxn id="509" idx="1"/>
          </p:cNvCxnSpPr>
          <p:nvPr/>
        </p:nvCxnSpPr>
        <p:spPr>
          <a:xfrm>
            <a:off x="5648816" y="4593286"/>
            <a:ext cx="338100" cy="11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5" name="Google Shape;515;p19"/>
          <p:cNvCxnSpPr>
            <a:stCxn id="491" idx="3"/>
            <a:endCxn id="508" idx="1"/>
          </p:cNvCxnSpPr>
          <p:nvPr/>
        </p:nvCxnSpPr>
        <p:spPr>
          <a:xfrm>
            <a:off x="5648816" y="4593286"/>
            <a:ext cx="338100" cy="788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6" name="Google Shape;516;p19"/>
          <p:cNvCxnSpPr>
            <a:stCxn id="491" idx="3"/>
            <a:endCxn id="507" idx="1"/>
          </p:cNvCxnSpPr>
          <p:nvPr/>
        </p:nvCxnSpPr>
        <p:spPr>
          <a:xfrm>
            <a:off x="5648816" y="4593286"/>
            <a:ext cx="338100" cy="39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19"/>
          <p:cNvCxnSpPr>
            <a:stCxn id="491" idx="3"/>
            <a:endCxn id="506" idx="1"/>
          </p:cNvCxnSpPr>
          <p:nvPr/>
        </p:nvCxnSpPr>
        <p:spPr>
          <a:xfrm>
            <a:off x="5648816" y="4593286"/>
            <a:ext cx="338100" cy="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8" name="Google Shape;518;p19"/>
          <p:cNvSpPr/>
          <p:nvPr/>
        </p:nvSpPr>
        <p:spPr>
          <a:xfrm>
            <a:off x="5986892" y="3139829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CxP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5986892" y="356690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5986892" y="4009255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Contabilidad</a:t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5992725" y="271714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CxP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6064880" y="3613663"/>
            <a:ext cx="885600" cy="3343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Administrativo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1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cxnSp>
        <p:nvCxnSpPr>
          <p:cNvPr id="523" name="Google Shape;523;p19"/>
          <p:cNvCxnSpPr>
            <a:stCxn id="489" idx="3"/>
            <a:endCxn id="521" idx="1"/>
          </p:cNvCxnSpPr>
          <p:nvPr/>
        </p:nvCxnSpPr>
        <p:spPr>
          <a:xfrm flipH="1" rot="10800000">
            <a:off x="5729026" y="2884397"/>
            <a:ext cx="263700" cy="39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4" name="Google Shape;524;p19"/>
          <p:cNvCxnSpPr>
            <a:stCxn id="490" idx="3"/>
            <a:endCxn id="519" idx="1"/>
          </p:cNvCxnSpPr>
          <p:nvPr/>
        </p:nvCxnSpPr>
        <p:spPr>
          <a:xfrm flipH="1" rot="10800000">
            <a:off x="5648816" y="3734115"/>
            <a:ext cx="338100" cy="205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5" name="Google Shape;525;p19"/>
          <p:cNvCxnSpPr>
            <a:stCxn id="490" idx="3"/>
            <a:endCxn id="520" idx="1"/>
          </p:cNvCxnSpPr>
          <p:nvPr/>
        </p:nvCxnSpPr>
        <p:spPr>
          <a:xfrm>
            <a:off x="5648816" y="3939915"/>
            <a:ext cx="338100" cy="23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19"/>
          <p:cNvCxnSpPr>
            <a:stCxn id="485" idx="2"/>
            <a:endCxn id="500" idx="1"/>
          </p:cNvCxnSpPr>
          <p:nvPr/>
        </p:nvCxnSpPr>
        <p:spPr>
          <a:xfrm flipH="1" rot="-5400000">
            <a:off x="1569173" y="2859031"/>
            <a:ext cx="450600" cy="22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19"/>
          <p:cNvCxnSpPr>
            <a:stCxn id="485" idx="2"/>
            <a:endCxn id="501" idx="1"/>
          </p:cNvCxnSpPr>
          <p:nvPr/>
        </p:nvCxnSpPr>
        <p:spPr>
          <a:xfrm flipH="1" rot="-5400000">
            <a:off x="1201823" y="3226381"/>
            <a:ext cx="1185300" cy="22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19"/>
          <p:cNvCxnSpPr>
            <a:stCxn id="485" idx="2"/>
            <a:endCxn id="502" idx="1"/>
          </p:cNvCxnSpPr>
          <p:nvPr/>
        </p:nvCxnSpPr>
        <p:spPr>
          <a:xfrm flipH="1" rot="-5400000">
            <a:off x="870623" y="3557581"/>
            <a:ext cx="1847700" cy="22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19"/>
          <p:cNvCxnSpPr>
            <a:stCxn id="485" idx="2"/>
            <a:endCxn id="503" idx="3"/>
          </p:cNvCxnSpPr>
          <p:nvPr/>
        </p:nvCxnSpPr>
        <p:spPr>
          <a:xfrm rot="5400000">
            <a:off x="1342973" y="2856631"/>
            <a:ext cx="450600" cy="22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19"/>
          <p:cNvCxnSpPr>
            <a:stCxn id="485" idx="2"/>
            <a:endCxn id="504" idx="3"/>
          </p:cNvCxnSpPr>
          <p:nvPr/>
        </p:nvCxnSpPr>
        <p:spPr>
          <a:xfrm rot="5400000">
            <a:off x="975623" y="3223981"/>
            <a:ext cx="1185300" cy="22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19"/>
          <p:cNvCxnSpPr>
            <a:stCxn id="485" idx="2"/>
            <a:endCxn id="505" idx="3"/>
          </p:cNvCxnSpPr>
          <p:nvPr/>
        </p:nvCxnSpPr>
        <p:spPr>
          <a:xfrm rot="5400000">
            <a:off x="644423" y="3555181"/>
            <a:ext cx="1847700" cy="22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19"/>
          <p:cNvCxnSpPr>
            <a:stCxn id="482" idx="2"/>
            <a:endCxn id="485" idx="0"/>
          </p:cNvCxnSpPr>
          <p:nvPr/>
        </p:nvCxnSpPr>
        <p:spPr>
          <a:xfrm rot="5400000">
            <a:off x="3830993" y="4000"/>
            <a:ext cx="139500" cy="443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19"/>
          <p:cNvCxnSpPr>
            <a:stCxn id="482" idx="2"/>
            <a:endCxn id="487" idx="0"/>
          </p:cNvCxnSpPr>
          <p:nvPr/>
        </p:nvCxnSpPr>
        <p:spPr>
          <a:xfrm rot="5400000">
            <a:off x="5502743" y="1675750"/>
            <a:ext cx="139500" cy="109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19"/>
          <p:cNvCxnSpPr>
            <a:stCxn id="482" idx="2"/>
            <a:endCxn id="486" idx="0"/>
          </p:cNvCxnSpPr>
          <p:nvPr/>
        </p:nvCxnSpPr>
        <p:spPr>
          <a:xfrm flipH="1" rot="-5400000">
            <a:off x="7274693" y="996700"/>
            <a:ext cx="139500" cy="245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19"/>
          <p:cNvCxnSpPr>
            <a:stCxn id="490" idx="3"/>
            <a:endCxn id="518" idx="1"/>
          </p:cNvCxnSpPr>
          <p:nvPr/>
        </p:nvCxnSpPr>
        <p:spPr>
          <a:xfrm flipH="1" rot="10800000">
            <a:off x="5648816" y="3306915"/>
            <a:ext cx="338100" cy="6330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6" name="Google Shape;536;p19"/>
          <p:cNvSpPr/>
          <p:nvPr/>
        </p:nvSpPr>
        <p:spPr>
          <a:xfrm>
            <a:off x="10125830" y="2292031"/>
            <a:ext cx="1254872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Admón Riesgos</a:t>
            </a:r>
            <a:endParaRPr/>
          </a:p>
        </p:txBody>
      </p:sp>
      <p:cxnSp>
        <p:nvCxnSpPr>
          <p:cNvPr id="537" name="Google Shape;537;p19"/>
          <p:cNvCxnSpPr>
            <a:stCxn id="482" idx="2"/>
            <a:endCxn id="536" idx="0"/>
          </p:cNvCxnSpPr>
          <p:nvPr/>
        </p:nvCxnSpPr>
        <p:spPr>
          <a:xfrm flipH="1" rot="-5400000">
            <a:off x="8366393" y="-95000"/>
            <a:ext cx="139500" cy="4634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19"/>
          <p:cNvSpPr txBox="1"/>
          <p:nvPr/>
        </p:nvSpPr>
        <p:spPr>
          <a:xfrm>
            <a:off x="0" y="1128658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Transformación Procesos Finanzas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5313914" y="1259198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Transformación Procesos Finanzas</a:t>
            </a:r>
            <a:endParaRPr/>
          </a:p>
        </p:txBody>
      </p:sp>
      <p:cxnSp>
        <p:nvCxnSpPr>
          <p:cNvPr id="546" name="Google Shape;546;p21"/>
          <p:cNvCxnSpPr>
            <a:stCxn id="545" idx="2"/>
            <a:endCxn id="547" idx="0"/>
          </p:cNvCxnSpPr>
          <p:nvPr/>
        </p:nvCxnSpPr>
        <p:spPr>
          <a:xfrm rot="5400000">
            <a:off x="3710534" y="-371302"/>
            <a:ext cx="323700" cy="4491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21"/>
          <p:cNvSpPr/>
          <p:nvPr/>
        </p:nvSpPr>
        <p:spPr>
          <a:xfrm>
            <a:off x="8050125" y="2036438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Transf y Automatización</a:t>
            </a:r>
            <a:endParaRPr/>
          </a:p>
        </p:txBody>
      </p:sp>
      <p:cxnSp>
        <p:nvCxnSpPr>
          <p:cNvPr id="549" name="Google Shape;549;p21"/>
          <p:cNvCxnSpPr>
            <a:stCxn id="545" idx="2"/>
            <a:endCxn id="550" idx="0"/>
          </p:cNvCxnSpPr>
          <p:nvPr/>
        </p:nvCxnSpPr>
        <p:spPr>
          <a:xfrm rot="5400000">
            <a:off x="4652384" y="570548"/>
            <a:ext cx="323700" cy="260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21"/>
          <p:cNvCxnSpPr>
            <a:stCxn id="545" idx="2"/>
            <a:endCxn id="548" idx="0"/>
          </p:cNvCxnSpPr>
          <p:nvPr/>
        </p:nvCxnSpPr>
        <p:spPr>
          <a:xfrm flipH="1" rot="-5400000">
            <a:off x="7293134" y="537998"/>
            <a:ext cx="323700" cy="267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0" name="Google Shape;550;p21"/>
          <p:cNvSpPr/>
          <p:nvPr/>
        </p:nvSpPr>
        <p:spPr>
          <a:xfrm>
            <a:off x="2768628" y="2036438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Transf Procesos R2R</a:t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884739" y="2036438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Estandarización Procesos</a:t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4694021" y="260111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Transf Servicios</a:t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4694020" y="3111173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Transf Sistemas e Integración</a:t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6309987" y="2036438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Transf Procesos P2P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9807649" y="2036438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Transf Tecnología y Data</a:t>
            </a:r>
            <a:endParaRPr/>
          </a:p>
        </p:txBody>
      </p:sp>
      <p:cxnSp>
        <p:nvCxnSpPr>
          <p:cNvPr id="556" name="Google Shape;556;p21"/>
          <p:cNvCxnSpPr>
            <a:stCxn id="545" idx="2"/>
            <a:endCxn id="555" idx="0"/>
          </p:cNvCxnSpPr>
          <p:nvPr/>
        </p:nvCxnSpPr>
        <p:spPr>
          <a:xfrm flipH="1" rot="-5400000">
            <a:off x="8171984" y="-340852"/>
            <a:ext cx="323700" cy="443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21"/>
          <p:cNvCxnSpPr>
            <a:stCxn id="545" idx="2"/>
            <a:endCxn id="554" idx="0"/>
          </p:cNvCxnSpPr>
          <p:nvPr/>
        </p:nvCxnSpPr>
        <p:spPr>
          <a:xfrm flipH="1" rot="-5400000">
            <a:off x="6423134" y="1407998"/>
            <a:ext cx="323700" cy="93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8" name="Google Shape;558;p21"/>
          <p:cNvCxnSpPr>
            <a:endCxn id="552" idx="1"/>
          </p:cNvCxnSpPr>
          <p:nvPr/>
        </p:nvCxnSpPr>
        <p:spPr>
          <a:xfrm flipH="1" rot="-5400000">
            <a:off x="4504421" y="2638312"/>
            <a:ext cx="337800" cy="4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21"/>
          <p:cNvCxnSpPr>
            <a:endCxn id="553" idx="1"/>
          </p:cNvCxnSpPr>
          <p:nvPr/>
        </p:nvCxnSpPr>
        <p:spPr>
          <a:xfrm flipH="1" rot="-5400000">
            <a:off x="4249420" y="2893373"/>
            <a:ext cx="847800" cy="4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21"/>
          <p:cNvCxnSpPr>
            <a:stCxn id="545" idx="2"/>
            <a:endCxn id="561" idx="0"/>
          </p:cNvCxnSpPr>
          <p:nvPr/>
        </p:nvCxnSpPr>
        <p:spPr>
          <a:xfrm rot="5400000">
            <a:off x="5552834" y="1473998"/>
            <a:ext cx="326700" cy="8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1" name="Google Shape;561;p21"/>
          <p:cNvSpPr/>
          <p:nvPr/>
        </p:nvSpPr>
        <p:spPr>
          <a:xfrm>
            <a:off x="4572314" y="203952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Transf Procesos O2C</a:t>
            </a:r>
            <a:endParaRPr/>
          </a:p>
        </p:txBody>
      </p:sp>
      <p:sp>
        <p:nvSpPr>
          <p:cNvPr id="562" name="Google Shape;562;p21"/>
          <p:cNvSpPr txBox="1"/>
          <p:nvPr/>
        </p:nvSpPr>
        <p:spPr>
          <a:xfrm>
            <a:off x="0" y="1121805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"/>
          <p:cNvSpPr/>
          <p:nvPr/>
        </p:nvSpPr>
        <p:spPr>
          <a:xfrm>
            <a:off x="5602670" y="129109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Legal</a:t>
            </a:r>
            <a:endParaRPr/>
          </a:p>
        </p:txBody>
      </p:sp>
      <p:cxnSp>
        <p:nvCxnSpPr>
          <p:cNvPr id="569" name="Google Shape;569;p23"/>
          <p:cNvCxnSpPr>
            <a:stCxn id="568" idx="2"/>
            <a:endCxn id="570" idx="0"/>
          </p:cNvCxnSpPr>
          <p:nvPr/>
        </p:nvCxnSpPr>
        <p:spPr>
          <a:xfrm rot="5400000">
            <a:off x="4083740" y="-254953"/>
            <a:ext cx="323700" cy="432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p23"/>
          <p:cNvSpPr/>
          <p:nvPr/>
        </p:nvSpPr>
        <p:spPr>
          <a:xfrm>
            <a:off x="7067851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Legal Distribución</a:t>
            </a:r>
            <a:endParaRPr/>
          </a:p>
        </p:txBody>
      </p:sp>
      <p:cxnSp>
        <p:nvCxnSpPr>
          <p:cNvPr id="572" name="Google Shape;572;p23"/>
          <p:cNvCxnSpPr>
            <a:stCxn id="568" idx="2"/>
            <a:endCxn id="573" idx="0"/>
          </p:cNvCxnSpPr>
          <p:nvPr/>
        </p:nvCxnSpPr>
        <p:spPr>
          <a:xfrm rot="5400000">
            <a:off x="5579240" y="1240547"/>
            <a:ext cx="323700" cy="1332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4" name="Google Shape;574;p23"/>
          <p:cNvCxnSpPr>
            <a:stCxn id="568" idx="2"/>
            <a:endCxn id="571" idx="0"/>
          </p:cNvCxnSpPr>
          <p:nvPr/>
        </p:nvCxnSpPr>
        <p:spPr>
          <a:xfrm flipH="1" rot="-5400000">
            <a:off x="6946490" y="1205297"/>
            <a:ext cx="323700" cy="140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0" name="Google Shape;570;p23"/>
          <p:cNvSpPr/>
          <p:nvPr/>
        </p:nvSpPr>
        <p:spPr>
          <a:xfrm>
            <a:off x="1342405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Legal</a:t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9904438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Legal</a:t>
            </a:r>
            <a:endParaRPr/>
          </a:p>
        </p:txBody>
      </p:sp>
      <p:cxnSp>
        <p:nvCxnSpPr>
          <p:cNvPr id="577" name="Google Shape;577;p23"/>
          <p:cNvCxnSpPr>
            <a:stCxn id="568" idx="2"/>
            <a:endCxn id="576" idx="0"/>
          </p:cNvCxnSpPr>
          <p:nvPr/>
        </p:nvCxnSpPr>
        <p:spPr>
          <a:xfrm flipH="1" rot="-5400000">
            <a:off x="8364740" y="-212953"/>
            <a:ext cx="323700" cy="4239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8" name="Google Shape;578;p23"/>
          <p:cNvSpPr/>
          <p:nvPr/>
        </p:nvSpPr>
        <p:spPr>
          <a:xfrm>
            <a:off x="594906" y="263899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Legal</a:t>
            </a: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844825" y="3189438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Daniela Gómez</a:t>
            </a:r>
            <a:endParaRPr/>
          </a:p>
        </p:txBody>
      </p:sp>
      <p:sp>
        <p:nvSpPr>
          <p:cNvPr id="580" name="Google Shape;580;p23"/>
          <p:cNvSpPr/>
          <p:nvPr/>
        </p:nvSpPr>
        <p:spPr>
          <a:xfrm>
            <a:off x="844825" y="3739877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Legal Zona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Kimberly Álvarez</a:t>
            </a: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2476031" y="3206649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Alexis García</a:t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2476031" y="3757088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594906" y="446785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Jesús Solís</a:t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2248361" y="446785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María Flores</a:t>
            </a:r>
            <a:endParaRPr/>
          </a:p>
        </p:txBody>
      </p:sp>
      <p:cxnSp>
        <p:nvCxnSpPr>
          <p:cNvPr id="585" name="Google Shape;585;p23"/>
          <p:cNvCxnSpPr>
            <a:stCxn id="570" idx="2"/>
            <a:endCxn id="578" idx="3"/>
          </p:cNvCxnSpPr>
          <p:nvPr/>
        </p:nvCxnSpPr>
        <p:spPr>
          <a:xfrm rot="5400000">
            <a:off x="1848355" y="2630087"/>
            <a:ext cx="343800" cy="12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6" name="Google Shape;586;p23"/>
          <p:cNvCxnSpPr>
            <a:stCxn id="570" idx="2"/>
            <a:endCxn id="587" idx="1"/>
          </p:cNvCxnSpPr>
          <p:nvPr/>
        </p:nvCxnSpPr>
        <p:spPr>
          <a:xfrm flipH="1" rot="-5400000">
            <a:off x="1983205" y="2622737"/>
            <a:ext cx="343800" cy="14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23"/>
          <p:cNvCxnSpPr>
            <a:stCxn id="570" idx="2"/>
            <a:endCxn id="583" idx="3"/>
          </p:cNvCxnSpPr>
          <p:nvPr/>
        </p:nvCxnSpPr>
        <p:spPr>
          <a:xfrm rot="5400000">
            <a:off x="933955" y="3544487"/>
            <a:ext cx="2172600" cy="12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9" name="Google Shape;589;p23"/>
          <p:cNvCxnSpPr>
            <a:stCxn id="570" idx="2"/>
            <a:endCxn id="584" idx="1"/>
          </p:cNvCxnSpPr>
          <p:nvPr/>
        </p:nvCxnSpPr>
        <p:spPr>
          <a:xfrm flipH="1" rot="-5400000">
            <a:off x="1079905" y="3526037"/>
            <a:ext cx="2172600" cy="16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0" name="Google Shape;590;p23"/>
          <p:cNvCxnSpPr>
            <a:endCxn id="579" idx="1"/>
          </p:cNvCxnSpPr>
          <p:nvPr/>
        </p:nvCxnSpPr>
        <p:spPr>
          <a:xfrm flipH="1" rot="-5400000">
            <a:off x="600775" y="3172188"/>
            <a:ext cx="323700" cy="16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1" name="Google Shape;591;p23"/>
          <p:cNvCxnSpPr>
            <a:endCxn id="580" idx="1"/>
          </p:cNvCxnSpPr>
          <p:nvPr/>
        </p:nvCxnSpPr>
        <p:spPr>
          <a:xfrm flipH="1" rot="-5400000">
            <a:off x="325525" y="3447377"/>
            <a:ext cx="874200" cy="16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23"/>
          <p:cNvCxnSpPr>
            <a:endCxn id="581" idx="1"/>
          </p:cNvCxnSpPr>
          <p:nvPr/>
        </p:nvCxnSpPr>
        <p:spPr>
          <a:xfrm flipH="1" rot="-5400000">
            <a:off x="2221781" y="3179199"/>
            <a:ext cx="340800" cy="16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23"/>
          <p:cNvCxnSpPr>
            <a:endCxn id="582" idx="1"/>
          </p:cNvCxnSpPr>
          <p:nvPr/>
        </p:nvCxnSpPr>
        <p:spPr>
          <a:xfrm flipH="1" rot="-5400000">
            <a:off x="1946531" y="3454388"/>
            <a:ext cx="891300" cy="16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7" name="Google Shape;587;p23"/>
          <p:cNvSpPr/>
          <p:nvPr/>
        </p:nvSpPr>
        <p:spPr>
          <a:xfrm>
            <a:off x="2226112" y="263899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Legal</a:t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844825" y="5042075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23"/>
          <p:cNvCxnSpPr>
            <a:endCxn id="594" idx="1"/>
          </p:cNvCxnSpPr>
          <p:nvPr/>
        </p:nvCxnSpPr>
        <p:spPr>
          <a:xfrm flipH="1" rot="-5400000">
            <a:off x="588925" y="5012975"/>
            <a:ext cx="347400" cy="16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6" name="Google Shape;596;p23"/>
          <p:cNvSpPr/>
          <p:nvPr/>
        </p:nvSpPr>
        <p:spPr>
          <a:xfrm>
            <a:off x="2498280" y="5042075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23"/>
          <p:cNvCxnSpPr>
            <a:endCxn id="596" idx="1"/>
          </p:cNvCxnSpPr>
          <p:nvPr/>
        </p:nvCxnSpPr>
        <p:spPr>
          <a:xfrm flipH="1" rot="-5400000">
            <a:off x="2229630" y="5000225"/>
            <a:ext cx="347400" cy="18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23"/>
          <p:cNvSpPr/>
          <p:nvPr/>
        </p:nvSpPr>
        <p:spPr>
          <a:xfrm>
            <a:off x="4333472" y="2068337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Legal Comercial</a:t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4449041" y="263899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Legal Comercial</a:t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4449041" y="320664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 </a:t>
            </a: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4449041" y="377429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 </a:t>
            </a: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449041" y="434669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 </a:t>
            </a:r>
            <a:endParaRPr/>
          </a:p>
        </p:txBody>
      </p:sp>
      <p:cxnSp>
        <p:nvCxnSpPr>
          <p:cNvPr id="602" name="Google Shape;602;p23"/>
          <p:cNvCxnSpPr>
            <a:endCxn id="598" idx="1"/>
          </p:cNvCxnSpPr>
          <p:nvPr/>
        </p:nvCxnSpPr>
        <p:spPr>
          <a:xfrm flipH="1" rot="-5400000">
            <a:off x="4244591" y="2661349"/>
            <a:ext cx="345600" cy="6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3" name="Google Shape;603;p23"/>
          <p:cNvCxnSpPr>
            <a:endCxn id="599" idx="1"/>
          </p:cNvCxnSpPr>
          <p:nvPr/>
        </p:nvCxnSpPr>
        <p:spPr>
          <a:xfrm flipH="1" rot="-5400000">
            <a:off x="3960791" y="2945199"/>
            <a:ext cx="913200" cy="6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4" name="Google Shape;604;p23"/>
          <p:cNvCxnSpPr>
            <a:endCxn id="600" idx="1"/>
          </p:cNvCxnSpPr>
          <p:nvPr/>
        </p:nvCxnSpPr>
        <p:spPr>
          <a:xfrm flipH="1" rot="-5400000">
            <a:off x="3676991" y="3229049"/>
            <a:ext cx="1480800" cy="6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23"/>
          <p:cNvCxnSpPr>
            <a:endCxn id="601" idx="1"/>
          </p:cNvCxnSpPr>
          <p:nvPr/>
        </p:nvCxnSpPr>
        <p:spPr>
          <a:xfrm flipH="1" rot="-5400000">
            <a:off x="3390791" y="3515247"/>
            <a:ext cx="2053200" cy="6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6" name="Google Shape;606;p23"/>
          <p:cNvSpPr/>
          <p:nvPr/>
        </p:nvSpPr>
        <p:spPr>
          <a:xfrm>
            <a:off x="7186667" y="263899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7186667" y="320664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</p:txBody>
      </p:sp>
      <p:cxnSp>
        <p:nvCxnSpPr>
          <p:cNvPr id="608" name="Google Shape;608;p23"/>
          <p:cNvCxnSpPr>
            <a:endCxn id="606" idx="1"/>
          </p:cNvCxnSpPr>
          <p:nvPr/>
        </p:nvCxnSpPr>
        <p:spPr>
          <a:xfrm flipH="1" rot="-5400000">
            <a:off x="6979217" y="2658349"/>
            <a:ext cx="345600" cy="6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23"/>
          <p:cNvCxnSpPr>
            <a:endCxn id="607" idx="1"/>
          </p:cNvCxnSpPr>
          <p:nvPr/>
        </p:nvCxnSpPr>
        <p:spPr>
          <a:xfrm flipH="1" rot="-5400000">
            <a:off x="6695417" y="2942199"/>
            <a:ext cx="913200" cy="69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p23"/>
          <p:cNvSpPr/>
          <p:nvPr/>
        </p:nvSpPr>
        <p:spPr>
          <a:xfrm>
            <a:off x="594905" y="563458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Legal</a:t>
            </a:r>
            <a:endParaRPr/>
          </a:p>
        </p:txBody>
      </p:sp>
      <p:cxnSp>
        <p:nvCxnSpPr>
          <p:cNvPr id="611" name="Google Shape;611;p23"/>
          <p:cNvCxnSpPr>
            <a:stCxn id="570" idx="2"/>
            <a:endCxn id="610" idx="3"/>
          </p:cNvCxnSpPr>
          <p:nvPr/>
        </p:nvCxnSpPr>
        <p:spPr>
          <a:xfrm rot="5400000">
            <a:off x="350455" y="4127987"/>
            <a:ext cx="3339600" cy="12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2" name="Google Shape;612;p23"/>
          <p:cNvSpPr/>
          <p:nvPr/>
        </p:nvSpPr>
        <p:spPr>
          <a:xfrm>
            <a:off x="2536056" y="3817401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x3</a:t>
            </a:r>
            <a:endParaRPr/>
          </a:p>
        </p:txBody>
      </p:sp>
      <p:sp>
        <p:nvSpPr>
          <p:cNvPr id="613" name="Google Shape;613;p23"/>
          <p:cNvSpPr/>
          <p:nvPr/>
        </p:nvSpPr>
        <p:spPr>
          <a:xfrm>
            <a:off x="904852" y="5099697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2536056" y="5083938"/>
            <a:ext cx="111157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Legal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  <p:sp>
        <p:nvSpPr>
          <p:cNvPr id="615" name="Google Shape;615;p23"/>
          <p:cNvSpPr txBox="1"/>
          <p:nvPr/>
        </p:nvSpPr>
        <p:spPr>
          <a:xfrm>
            <a:off x="0" y="1128658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Asuntos Corporativos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5313914" y="1280463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endParaRPr/>
          </a:p>
        </p:txBody>
      </p:sp>
      <p:cxnSp>
        <p:nvCxnSpPr>
          <p:cNvPr id="622" name="Google Shape;622;p25"/>
          <p:cNvCxnSpPr>
            <a:stCxn id="621" idx="2"/>
            <a:endCxn id="623" idx="0"/>
          </p:cNvCxnSpPr>
          <p:nvPr/>
        </p:nvCxnSpPr>
        <p:spPr>
          <a:xfrm rot="5400000">
            <a:off x="3598034" y="-462537"/>
            <a:ext cx="323700" cy="471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25"/>
          <p:cNvSpPr/>
          <p:nvPr/>
        </p:nvSpPr>
        <p:spPr>
          <a:xfrm>
            <a:off x="4454995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Relaciones Gobierno</a:t>
            </a:r>
            <a:endParaRPr/>
          </a:p>
        </p:txBody>
      </p:sp>
      <p:cxnSp>
        <p:nvCxnSpPr>
          <p:cNvPr id="625" name="Google Shape;625;p25"/>
          <p:cNvCxnSpPr>
            <a:stCxn id="621" idx="2"/>
            <a:endCxn id="626" idx="0"/>
          </p:cNvCxnSpPr>
          <p:nvPr/>
        </p:nvCxnSpPr>
        <p:spPr>
          <a:xfrm rot="5400000">
            <a:off x="4560284" y="499713"/>
            <a:ext cx="323700" cy="279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25"/>
          <p:cNvCxnSpPr>
            <a:stCxn id="621" idx="2"/>
            <a:endCxn id="624" idx="0"/>
          </p:cNvCxnSpPr>
          <p:nvPr/>
        </p:nvCxnSpPr>
        <p:spPr>
          <a:xfrm rot="5400000">
            <a:off x="5495684" y="1435113"/>
            <a:ext cx="323700" cy="92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3" name="Google Shape;623;p25"/>
          <p:cNvSpPr/>
          <p:nvPr/>
        </p:nvSpPr>
        <p:spPr>
          <a:xfrm>
            <a:off x="659949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Relaciones Gobierno</a:t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6377182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Atención Autoridades</a:t>
            </a:r>
            <a:endParaRPr/>
          </a:p>
        </p:txBody>
      </p:sp>
      <p:cxnSp>
        <p:nvCxnSpPr>
          <p:cNvPr id="629" name="Google Shape;629;p25"/>
          <p:cNvCxnSpPr>
            <a:stCxn id="621" idx="2"/>
            <a:endCxn id="628" idx="0"/>
          </p:cNvCxnSpPr>
          <p:nvPr/>
        </p:nvCxnSpPr>
        <p:spPr>
          <a:xfrm flipH="1" rot="-5400000">
            <a:off x="6456734" y="1395663"/>
            <a:ext cx="323700" cy="100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6" name="Google Shape;626;p25"/>
          <p:cNvSpPr/>
          <p:nvPr/>
        </p:nvSpPr>
        <p:spPr>
          <a:xfrm>
            <a:off x="2584216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Relaciones Gobierno</a:t>
            </a:r>
            <a:endParaRPr/>
          </a:p>
        </p:txBody>
      </p:sp>
      <p:sp>
        <p:nvSpPr>
          <p:cNvPr id="630" name="Google Shape;630;p25"/>
          <p:cNvSpPr/>
          <p:nvPr/>
        </p:nvSpPr>
        <p:spPr>
          <a:xfrm>
            <a:off x="8221968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Asuntos Corporativos</a:t>
            </a: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10029855" y="2057703"/>
            <a:ext cx="14832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Comunicación Externa</a:t>
            </a:r>
            <a:endParaRPr/>
          </a:p>
        </p:txBody>
      </p:sp>
      <p:cxnSp>
        <p:nvCxnSpPr>
          <p:cNvPr id="632" name="Google Shape;632;p25"/>
          <p:cNvCxnSpPr>
            <a:stCxn id="621" idx="2"/>
            <a:endCxn id="631" idx="0"/>
          </p:cNvCxnSpPr>
          <p:nvPr/>
        </p:nvCxnSpPr>
        <p:spPr>
          <a:xfrm flipH="1" rot="-5400000">
            <a:off x="8282984" y="-430587"/>
            <a:ext cx="323700" cy="465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" name="Google Shape;633;p25"/>
          <p:cNvSpPr txBox="1"/>
          <p:nvPr/>
        </p:nvSpPr>
        <p:spPr>
          <a:xfrm>
            <a:off x="-2" y="1121804"/>
            <a:ext cx="1149791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ema de Office">
  <a:themeElements>
    <a:clrScheme name="femsa P&amp;H">
      <a:dk1>
        <a:srgbClr val="000000"/>
      </a:dk1>
      <a:lt1>
        <a:srgbClr val="FFFFFF"/>
      </a:lt1>
      <a:dk2>
        <a:srgbClr val="EFBAA6"/>
      </a:dk2>
      <a:lt2>
        <a:srgbClr val="F1EFF1"/>
      </a:lt2>
      <a:accent1>
        <a:srgbClr val="FF5800"/>
      </a:accent1>
      <a:accent2>
        <a:srgbClr val="F2B23E"/>
      </a:accent2>
      <a:accent3>
        <a:srgbClr val="B1AFB1"/>
      </a:accent3>
      <a:accent4>
        <a:srgbClr val="E41936"/>
      </a:accent4>
      <a:accent5>
        <a:srgbClr val="FF7057"/>
      </a:accent5>
      <a:accent6>
        <a:srgbClr val="AD475B"/>
      </a:accent6>
      <a:hlink>
        <a:srgbClr val="000000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2025-10-15T17:50:58Z</dcterms:created>
  <dc:creator>Perez Sanchez Maria Fernanda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Office:8\2_Tema de Office:12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