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i3lYedqGwUJc6waNjidMqaM+6b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C7C3438-425F-4475-9082-13DAE2AE6B51}">
  <a:tblStyle styleId="{6C7C3438-425F-4475-9082-13DAE2AE6B5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47F1696D-5176-42B1-89F9-834F0AA698C0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Modificada </a:t>
            </a:r>
            <a:endParaRPr/>
          </a:p>
        </p:txBody>
      </p:sp>
      <p:sp>
        <p:nvSpPr>
          <p:cNvPr id="146" name="Google Shape;14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9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1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2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2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15" name="Google Shape;15;p3"/>
          <p:cNvSpPr txBox="1"/>
          <p:nvPr/>
        </p:nvSpPr>
        <p:spPr>
          <a:xfrm>
            <a:off x="4059238" y="6642100"/>
            <a:ext cx="1054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| Uso Interno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/>
        </p:nvSpPr>
        <p:spPr>
          <a:xfrm>
            <a:off x="4619672" y="5272810"/>
            <a:ext cx="44280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Principales Retos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Noto Sans Symbols"/>
              <a:buChar char="▪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Gestionar un alto volumen de requerimientos fiscales con plazos regulatorios no negociables: la escala de la operación de OXXO genera múltiples frentes de atención simultánea con autoridades de distintos niveles, demandando capacidad de priorización y respuesta ágil.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Noto Sans Symbols"/>
              <a:buChar char="▪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Mantenerse actualizado ante la evolución constante de la legislación fiscal y anticipar su impacto en la operación: los cambios regulatorios frecuentes y la complejidad de la normativa fiscal requieren monitoreo continuo y capacidad de análisis aplicado al negocio.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1" marL="57467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74103" y="5272810"/>
            <a:ext cx="44407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Decisiones Relevantes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Noto Sans Symbols"/>
              <a:buChar char="▪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Priorización de requerimientos de autoridades fiscales según urgencia e impacto patrimonial: criterio operativo sobre el orden de atención de los requerimientos en función del riesgo que implica su demora para el patrimonio de OXXO.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Noto Sans Symbols"/>
              <a:buChar char="▪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Determinación de la documentación y argumentos de defensa fiscal ante revisiones de autoridades: decisión técnica sobre la información y estrategia de respuesta más adecuada para cada requerimiento, en coordinación con el Gerente Sr y el área Legal cuando se requiera.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-25355" y="1"/>
            <a:ext cx="7128791" cy="1079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Responsable Auditorías Fiscales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Gerente Sr Fiscal y Contraloría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Finanzas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4" name="Google Shape;94;p1"/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95" name="Google Shape;95;p1"/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Herramientas Puesto: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https://d30y9cdsu7xlg0.cloudfront.net/png/1999-200.png" id="97" name="Google Shape;9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6892" y="1248360"/>
            <a:ext cx="245644" cy="245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41085-200.png" id="98" name="Google Shape;9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2360" y="1993705"/>
            <a:ext cx="175626" cy="175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35-200.png" id="99" name="Google Shape;99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2360" y="1729358"/>
            <a:ext cx="262955" cy="2629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1938-200.png" id="100" name="Google Shape;100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2360" y="1483752"/>
            <a:ext cx="235520" cy="23552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"/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Laptop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Celular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"/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"/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"/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"/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"/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Retek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"/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Oracle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"/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"/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"/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0" name="Google Shape;120;p1"/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121" name="Google Shape;121;p1"/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Sistemas / Software: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1"/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3" name="Google Shape;123;p1"/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Autocad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"/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"/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6" name="Google Shape;126;p1"/>
          <p:cNvCxnSpPr/>
          <p:nvPr/>
        </p:nvCxnSpPr>
        <p:spPr>
          <a:xfrm flipH="1" rot="10800000">
            <a:off x="7705019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7" name="Google Shape;127;p1"/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" name="Google Shape;128;p1"/>
          <p:cNvCxnSpPr/>
          <p:nvPr/>
        </p:nvCxnSpPr>
        <p:spPr>
          <a:xfrm flipH="1" rot="10800000">
            <a:off x="8462182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9" name="Google Shape;129;p1"/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"/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"/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"/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"/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" name="Google Shape;134;p1"/>
          <p:cNvCxnSpPr/>
          <p:nvPr/>
        </p:nvCxnSpPr>
        <p:spPr>
          <a:xfrm flipH="1" rot="10800000">
            <a:off x="7806891" y="2431240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5" name="Google Shape;135;p1"/>
          <p:cNvCxnSpPr/>
          <p:nvPr/>
        </p:nvCxnSpPr>
        <p:spPr>
          <a:xfrm flipH="1" rot="10800000">
            <a:off x="7806891" y="2650334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36" name="Google Shape;136;p1"/>
          <p:cNvGraphicFramePr/>
          <p:nvPr/>
        </p:nvGraphicFramePr>
        <p:xfrm>
          <a:off x="7332179" y="44182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{6C7C3438-425F-4475-9082-13DAE2AE6B51}</a:tableStyleId>
              </a:tblPr>
              <a:tblGrid>
                <a:gridCol w="1732525"/>
              </a:tblGrid>
              <a:tr h="79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MX" sz="1100" u="none" cap="none" strike="noStrike"/>
                        <a:t>NOTA IMPORTANTE</a:t>
                      </a:r>
                      <a:r>
                        <a:rPr lang="es-MX" sz="1100" u="none" cap="none" strike="noStrike"/>
                        <a:t>: Toda herramienta o software que impacte en gasto, estará sujeta a autorización.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7" name="Google Shape;137;p1"/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"/>
          <p:cNvSpPr txBox="1"/>
          <p:nvPr/>
        </p:nvSpPr>
        <p:spPr>
          <a:xfrm>
            <a:off x="7308652" y="3014200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"/>
          <p:cNvSpPr txBox="1"/>
          <p:nvPr/>
        </p:nvSpPr>
        <p:spPr>
          <a:xfrm>
            <a:off x="8051379" y="3038442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"/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Colocar logo de ProxyLogis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"/>
          <p:cNvSpPr txBox="1"/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Propósito del Puesto 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Gestionar y dar seguimiento a los procesos de auditoría fiscal de OXXO México, mediante la atención de requerimientos de autoridades fiscales, la coordinación de revisiones externas e internas y el análisis del cumplimiento de las obligaciones tributarias, para salvaguardar el patrimonio del negocio, evitar penalidades y asegurar el apego a las disposiciones fiscales aplicables.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"/>
          <p:cNvSpPr txBox="1"/>
          <p:nvPr/>
        </p:nvSpPr>
        <p:spPr>
          <a:xfrm>
            <a:off x="74102" y="1823416"/>
            <a:ext cx="7191449" cy="341885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Responsabilidades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Coordinar la atención y seguimiento a requerimientos de autoridades fiscales: mediante la gestión de la comunicación con autoridades municipales, estatales y federales y la preparación de la documentación requerida, para asegurar la respuesta oportuna y completa a cada requerimiento y evitar contingencias fiscales.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Ejecutar el seguimiento a las auditorías externas e internas en materia fiscal: mediante la coordinación con los equipos internos y los auditores externos, la preparación de información y la atención de observaciones, para garantizar el apego al marco normativo fiscal en el proceso de revisión anual.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Elaborar análisis de cumplimiento de las obligaciones fiscales de OXXO México: mediante la revisión sistemática del cumplimiento en materia de impuestos federales, estatales, municipales y precios de transferencia, para identificar y reportar oportunamente desviaciones o riesgos al Gerente Sr.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Coordinar la recuperación de saldos de impuestos a favor: mediante la identificación de los medios óptimos de recuperación y el seguimiento de los trámites correspondientes, para evitar el menoscabo del patrimonio de la empresa y optimizar el flujo de recursos fiscales.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Documentar y dar seguimiento a los puntos de control fiscal: mediante el registro actualizado de las revisiones, hallazgos y compromisos derivados de auditorías, para mantener la trazabilidad del cumplimiento fiscal y sustentar la defensa del negocio ante las autoridades.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Identificar y reportar riesgos fiscales derivados de cambios en la legislación: mediante el análisis de reformas fiscales y su aplicabilidad a la operación de OXXO, para alertar oportunamente al Gerente Sr sobre impactos potenciales que requieran ajuste en la estrategia fiscal.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Coordinar con el área de Control Fiscal la implementación de controles y herramientas de documentación fiscal: mediante la interacción sistemática con el equipo, para asegurar la consistencia y calidad de los procesos de cumplimiento y respaldo fiscal.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Cumplir y promover con la aplicación de los procesos y rituales cultura de la Compañía.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"/>
          <p:cNvSpPr txBox="1"/>
          <p:nvPr/>
        </p:nvSpPr>
        <p:spPr>
          <a:xfrm>
            <a:off x="4620903" y="3704137"/>
            <a:ext cx="4392000" cy="105630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Estructura Organizacional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46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Arial"/>
              <a:buChar char="•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Reportes Directos: 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46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Arial"/>
              <a:buChar char="•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Pares: </a:t>
            </a: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Gerente Área Normatividad y Control, Gerente Sr Contraloría, Gerente Control Fiscal, Gerente Gestión Riesgos SI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9" name="Google Shape;149;p2"/>
          <p:cNvGraphicFramePr/>
          <p:nvPr/>
        </p:nvGraphicFramePr>
        <p:xfrm>
          <a:off x="59500" y="10645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{47F1696D-5176-42B1-89F9-834F0AA698C0}</a:tableStyleId>
              </a:tblPr>
              <a:tblGrid>
                <a:gridCol w="156200"/>
                <a:gridCol w="3028425"/>
                <a:gridCol w="4270850"/>
                <a:gridCol w="1320075"/>
              </a:tblGrid>
              <a:tr h="41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a</a:t>
                      </a:r>
                      <a:endParaRPr sz="1400" u="none" cap="none" strike="noStrike"/>
                    </a:p>
                  </a:txBody>
                  <a:tcPr marT="9525" marB="0" marR="9525" marL="95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Puesto/ Área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Objetivo Relación: 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Frecuencia: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0" i="0" lang="es-MX" sz="6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(Diario, Semanal, Mes, Anual)</a:t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04200">
                <a:tc rowSpan="7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INTERNAS</a:t>
                      </a:r>
                      <a:endParaRPr sz="1400" u="none" cap="none" strike="noStrike"/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Gerente Sr Fiscal y Contraloría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Reportar estatus de auditorías y riesgos fiscales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Gerente Control Fiscal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Coordinar controles y documentación fiscal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Autoridades fiscales externas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Atender requerimientos y auditorías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Según Requerimiento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0" name="Google Shape;150;p2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"/>
          <p:cNvSpPr txBox="1"/>
          <p:nvPr/>
        </p:nvSpPr>
        <p:spPr>
          <a:xfrm>
            <a:off x="139564" y="3705118"/>
            <a:ext cx="4388817" cy="266797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Dimensionamiento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Negocios: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México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52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Alcance Geográfico: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Nacional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Tramo de supervisión: 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Otros indicadores financieros / operativos (si aplica):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"/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Relaciones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"/>
          <p:cNvSpPr txBox="1"/>
          <p:nvPr/>
        </p:nvSpPr>
        <p:spPr>
          <a:xfrm>
            <a:off x="139564" y="6453259"/>
            <a:ext cx="4388817" cy="338552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Fecha de Modificación: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"/>
          <p:cNvSpPr txBox="1"/>
          <p:nvPr/>
        </p:nvSpPr>
        <p:spPr>
          <a:xfrm>
            <a:off x="4615620" y="6453258"/>
            <a:ext cx="4392000" cy="33855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Modificado por: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"/>
          <p:cNvSpPr txBox="1"/>
          <p:nvPr/>
        </p:nvSpPr>
        <p:spPr>
          <a:xfrm>
            <a:off x="4615620" y="4880609"/>
            <a:ext cx="4392000" cy="149248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Características del rol: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% de tiempo dedicado a actividades que el rol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obligatoriamente 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debe de realizar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3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¿Cuántos días de la semana el rol realiza actividades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fuera de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"/>
          <p:cNvSpPr txBox="1"/>
          <p:nvPr/>
        </p:nvSpPr>
        <p:spPr>
          <a:xfrm>
            <a:off x="-25355" y="1"/>
            <a:ext cx="7128900" cy="10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Responsable Auditorías Fiscales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Gerente Sr Fiscal y Contraloría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Finanzas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2025-01-29T22:27:57Z</dcterms:created>
  <dc:creator>Gilberto Morales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