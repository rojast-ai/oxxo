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8" roundtripDataSignature="AMtx7miNXCkYt2Tel/79Y56VsmD/e9uEt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B2178A6-C31E-4A13-BEB2-D5C0E8C76746}">
  <a:tblStyle styleId="{7B2178A6-C31E-4A13-BEB2-D5C0E8C7674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fill>
          <a:solidFill>
            <a:srgbClr val="CDD4E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DD4EA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1DD8FB16-3531-49DD-B164-B2CCAA0AEEDA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524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MX"/>
              <a:t>Modificada </a:t>
            </a:r>
            <a:endParaRPr/>
          </a:p>
        </p:txBody>
      </p:sp>
      <p:sp>
        <p:nvSpPr>
          <p:cNvPr id="146" name="Google Shape;14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3" name="Google Shape;23;p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8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9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11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1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2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2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1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4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15" name="Google Shape;15;p3"/>
          <p:cNvSpPr txBox="1"/>
          <p:nvPr/>
        </p:nvSpPr>
        <p:spPr>
          <a:xfrm>
            <a:off x="4059238" y="6642100"/>
            <a:ext cx="1054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| Uso Interno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/>
          <p:nvPr/>
        </p:nvSpPr>
        <p:spPr>
          <a:xfrm>
            <a:off x="74103" y="969028"/>
            <a:ext cx="7186069" cy="80401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Propósito del Puesto </a:t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Ejecutar los procesos de gestión y control administrativo en las plazas y tiendas OXXO, mediante el seguimiento de indicadores, la aplicación de procedimientos normativos y la generación de información de gestión, para contribuir al control interno, la estandarización operativa y la toma de decisiones oportuna en la red de tiendas.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-25355" y="1"/>
            <a:ext cx="7128791" cy="10798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Responsable Gestión y Control</a:t>
            </a:r>
            <a:b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Director Nacional Admvo OXXO</a:t>
            </a:r>
            <a:b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Finanzas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3" name="Google Shape;93;p1"/>
          <p:cNvGrpSpPr/>
          <p:nvPr/>
        </p:nvGrpSpPr>
        <p:grpSpPr>
          <a:xfrm>
            <a:off x="7332180" y="969028"/>
            <a:ext cx="1728192" cy="1717735"/>
            <a:chOff x="7319480" y="969028"/>
            <a:chExt cx="1728192" cy="1717735"/>
          </a:xfrm>
        </p:grpSpPr>
        <p:sp>
          <p:nvSpPr>
            <p:cNvPr id="94" name="Google Shape;94;p1"/>
            <p:cNvSpPr/>
            <p:nvPr/>
          </p:nvSpPr>
          <p:spPr>
            <a:xfrm>
              <a:off x="7319480" y="969028"/>
              <a:ext cx="1728192" cy="1717735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1"/>
            <p:cNvSpPr txBox="1"/>
            <p:nvPr/>
          </p:nvSpPr>
          <p:spPr>
            <a:xfrm>
              <a:off x="7319480" y="969028"/>
              <a:ext cx="1728192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Herramientas Puesto: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https://d30y9cdsu7xlg0.cloudfront.net/png/1999-200.png" id="96" name="Google Shape;9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06892" y="1248360"/>
            <a:ext cx="245644" cy="2456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41085-200.png" id="97" name="Google Shape;97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2360" y="1993705"/>
            <a:ext cx="175626" cy="1756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35-200.png" id="98" name="Google Shape;98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2360" y="1729358"/>
            <a:ext cx="262955" cy="2629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1938-200.png" id="99" name="Google Shape;99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12360" y="1483752"/>
            <a:ext cx="235520" cy="23552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"/>
          <p:cNvSpPr/>
          <p:nvPr/>
        </p:nvSpPr>
        <p:spPr>
          <a:xfrm>
            <a:off x="7459294" y="1300701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"/>
          <p:cNvSpPr txBox="1"/>
          <p:nvPr/>
        </p:nvSpPr>
        <p:spPr>
          <a:xfrm>
            <a:off x="8065788" y="124807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Laptop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8065788" y="147840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"/>
          <p:cNvSpPr txBox="1"/>
          <p:nvPr/>
        </p:nvSpPr>
        <p:spPr>
          <a:xfrm>
            <a:off x="8065788" y="1737725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"/>
          <p:cNvSpPr txBox="1"/>
          <p:nvPr/>
        </p:nvSpPr>
        <p:spPr>
          <a:xfrm>
            <a:off x="8065788" y="1958408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Celular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"/>
          <p:cNvSpPr/>
          <p:nvPr/>
        </p:nvSpPr>
        <p:spPr>
          <a:xfrm>
            <a:off x="742204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"/>
          <p:cNvSpPr txBox="1"/>
          <p:nvPr/>
        </p:nvSpPr>
        <p:spPr>
          <a:xfrm>
            <a:off x="7622365" y="3060110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VPN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"/>
          <p:cNvSpPr txBox="1"/>
          <p:nvPr/>
        </p:nvSpPr>
        <p:spPr>
          <a:xfrm>
            <a:off x="8388424" y="306011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"/>
          <p:cNvSpPr/>
          <p:nvPr/>
        </p:nvSpPr>
        <p:spPr>
          <a:xfrm>
            <a:off x="7422705" y="3360358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"/>
          <p:cNvSpPr txBox="1"/>
          <p:nvPr/>
        </p:nvSpPr>
        <p:spPr>
          <a:xfrm>
            <a:off x="7622365" y="3301596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"/>
          <p:cNvSpPr txBox="1"/>
          <p:nvPr/>
        </p:nvSpPr>
        <p:spPr>
          <a:xfrm>
            <a:off x="8388424" y="330509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"/>
          <p:cNvSpPr/>
          <p:nvPr/>
        </p:nvSpPr>
        <p:spPr>
          <a:xfrm>
            <a:off x="7422705" y="362759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"/>
          <p:cNvSpPr txBox="1"/>
          <p:nvPr/>
        </p:nvSpPr>
        <p:spPr>
          <a:xfrm>
            <a:off x="7622365" y="3568831"/>
            <a:ext cx="475106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Retek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"/>
          <p:cNvSpPr txBox="1"/>
          <p:nvPr/>
        </p:nvSpPr>
        <p:spPr>
          <a:xfrm>
            <a:off x="8388424" y="3545582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Oracle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"/>
          <p:cNvSpPr/>
          <p:nvPr/>
        </p:nvSpPr>
        <p:spPr>
          <a:xfrm>
            <a:off x="7422705" y="3852614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"/>
          <p:cNvSpPr txBox="1"/>
          <p:nvPr/>
        </p:nvSpPr>
        <p:spPr>
          <a:xfrm>
            <a:off x="7622365" y="3793852"/>
            <a:ext cx="469555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"/>
          <p:cNvSpPr/>
          <p:nvPr/>
        </p:nvSpPr>
        <p:spPr>
          <a:xfrm>
            <a:off x="818036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"/>
          <p:cNvSpPr/>
          <p:nvPr/>
        </p:nvSpPr>
        <p:spPr>
          <a:xfrm>
            <a:off x="8181025" y="3359639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"/>
          <p:cNvSpPr/>
          <p:nvPr/>
        </p:nvSpPr>
        <p:spPr>
          <a:xfrm>
            <a:off x="8181025" y="3600406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9" name="Google Shape;119;p1"/>
          <p:cNvGrpSpPr/>
          <p:nvPr/>
        </p:nvGrpSpPr>
        <p:grpSpPr>
          <a:xfrm>
            <a:off x="7332180" y="2769544"/>
            <a:ext cx="1728192" cy="1547090"/>
            <a:chOff x="7319480" y="2769544"/>
            <a:chExt cx="1728192" cy="2268000"/>
          </a:xfrm>
        </p:grpSpPr>
        <p:sp>
          <p:nvSpPr>
            <p:cNvPr id="120" name="Google Shape;120;p1"/>
            <p:cNvSpPr txBox="1"/>
            <p:nvPr/>
          </p:nvSpPr>
          <p:spPr>
            <a:xfrm>
              <a:off x="7322014" y="2769544"/>
              <a:ext cx="1723124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Sistemas / Software: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1"/>
            <p:cNvSpPr/>
            <p:nvPr/>
          </p:nvSpPr>
          <p:spPr>
            <a:xfrm>
              <a:off x="7319480" y="2769544"/>
              <a:ext cx="1728192" cy="2268000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2" name="Google Shape;122;p1"/>
          <p:cNvSpPr txBox="1"/>
          <p:nvPr/>
        </p:nvSpPr>
        <p:spPr>
          <a:xfrm>
            <a:off x="8388424" y="3784461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Autocad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"/>
          <p:cNvSpPr/>
          <p:nvPr/>
        </p:nvSpPr>
        <p:spPr>
          <a:xfrm>
            <a:off x="8181025" y="384117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"/>
          <p:cNvSpPr/>
          <p:nvPr/>
        </p:nvSpPr>
        <p:spPr>
          <a:xfrm>
            <a:off x="7422705" y="408252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5" name="Google Shape;125;p1"/>
          <p:cNvCxnSpPr/>
          <p:nvPr/>
        </p:nvCxnSpPr>
        <p:spPr>
          <a:xfrm flipH="1" rot="10800000">
            <a:off x="7705019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6" name="Google Shape;126;p1"/>
          <p:cNvSpPr/>
          <p:nvPr/>
        </p:nvSpPr>
        <p:spPr>
          <a:xfrm>
            <a:off x="8181025" y="408194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7" name="Google Shape;127;p1"/>
          <p:cNvCxnSpPr/>
          <p:nvPr/>
        </p:nvCxnSpPr>
        <p:spPr>
          <a:xfrm flipH="1" rot="10800000">
            <a:off x="8462182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8" name="Google Shape;128;p1"/>
          <p:cNvSpPr/>
          <p:nvPr/>
        </p:nvSpPr>
        <p:spPr>
          <a:xfrm>
            <a:off x="7459294" y="1536672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"/>
          <p:cNvSpPr/>
          <p:nvPr/>
        </p:nvSpPr>
        <p:spPr>
          <a:xfrm>
            <a:off x="7459294" y="1773041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"/>
          <p:cNvSpPr/>
          <p:nvPr/>
        </p:nvSpPr>
        <p:spPr>
          <a:xfrm>
            <a:off x="7459294" y="2009410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"/>
          <p:cNvSpPr/>
          <p:nvPr/>
        </p:nvSpPr>
        <p:spPr>
          <a:xfrm>
            <a:off x="7459294" y="224577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"/>
          <p:cNvSpPr/>
          <p:nvPr/>
        </p:nvSpPr>
        <p:spPr>
          <a:xfrm>
            <a:off x="7459294" y="248214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3" name="Google Shape;133;p1"/>
          <p:cNvCxnSpPr/>
          <p:nvPr/>
        </p:nvCxnSpPr>
        <p:spPr>
          <a:xfrm flipH="1" rot="10800000">
            <a:off x="7806891" y="2431240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4" name="Google Shape;134;p1"/>
          <p:cNvCxnSpPr/>
          <p:nvPr/>
        </p:nvCxnSpPr>
        <p:spPr>
          <a:xfrm flipH="1" rot="10800000">
            <a:off x="7806891" y="2650334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35" name="Google Shape;135;p1"/>
          <p:cNvGraphicFramePr/>
          <p:nvPr/>
        </p:nvGraphicFramePr>
        <p:xfrm>
          <a:off x="7332179" y="44182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{7B2178A6-C31E-4A13-BEB2-D5C0E8C76746}</a:tableStyleId>
              </a:tblPr>
              <a:tblGrid>
                <a:gridCol w="1732525"/>
              </a:tblGrid>
              <a:tr h="790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MX" sz="1100" u="none" cap="none" strike="noStrike"/>
                        <a:t>NOTA IMPORTANTE</a:t>
                      </a:r>
                      <a:r>
                        <a:rPr lang="es-MX" sz="1100" u="none" cap="none" strike="noStrike"/>
                        <a:t>: Toda herramienta o software que impacte en gasto, estará sujeta a autorización.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36" name="Google Shape;136;p1"/>
          <p:cNvSpPr txBox="1"/>
          <p:nvPr/>
        </p:nvSpPr>
        <p:spPr>
          <a:xfrm>
            <a:off x="7369146" y="1230169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"/>
          <p:cNvSpPr txBox="1"/>
          <p:nvPr/>
        </p:nvSpPr>
        <p:spPr>
          <a:xfrm>
            <a:off x="7308652" y="3014200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"/>
          <p:cNvSpPr txBox="1"/>
          <p:nvPr/>
        </p:nvSpPr>
        <p:spPr>
          <a:xfrm>
            <a:off x="8051379" y="3038442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"/>
          <p:cNvSpPr txBox="1"/>
          <p:nvPr/>
        </p:nvSpPr>
        <p:spPr>
          <a:xfrm>
            <a:off x="7459294" y="151075"/>
            <a:ext cx="149959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Colocar logo de ProxyLogis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"/>
          <p:cNvSpPr txBox="1"/>
          <p:nvPr/>
        </p:nvSpPr>
        <p:spPr>
          <a:xfrm>
            <a:off x="74102" y="1823416"/>
            <a:ext cx="7191449" cy="341885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Responsabilidades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Ejecutar los procesos de control administrativo y financiero en las plazas asignadas: mediante la aplicación de los procedimientos y políticas vigentes, para garantizar el cumplimiento normativo y la correcta operación administrativa en tienda.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Generar y consolidar los reportes de gestión e indicadores operativos de las plazas: a través de la recopilación y estructuración de datos administrativos y financieros, para asegurar la disponibilidad de información oportuna para la toma de decisiones del Director Nacional Admvo OXXO.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Coordinar la ejecución de revisiones de control interno en plazas y tiendas: mediante la aplicación de los criterios y herramientas definidos, para identificar desviaciones y propiciar su corrección oportuna.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Implementar y dar seguimiento a las herramientas de gestión y KPIs en las plazas: mediante la aplicación de los instrumentos definidos por el Director Nacional Admvo OXXO, para propiciar la alineación y detección oportuna de desviaciones operativas.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Identificar y reportar desviaciones en los procesos administrativos de las plazas: mediante la revisión sistemática en campo y el análisis de inconsistencias, para escalar oportunamente al Director Nacional Admvo OXXO las situaciones que requieran atención.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Coordinar con las áreas operativas de plaza la implementación de acciones correctivas: mediante el seguimiento de compromisos derivados de auditorías y revisiones de control, para cerrar brechas y fortalecer el ambiente de control en tienda.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Documentar los procesos y procedimientos operativos de control en las plazas: mediante el registro actualizado de estándares, instrucciones y resultados de revisiones, para mantener la trazabilidad y estandarización de la operación administrativa.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Cumplir y promover con la aplicación de los procesos y rituales cultura de la Compañía.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"/>
          <p:cNvSpPr txBox="1"/>
          <p:nvPr/>
        </p:nvSpPr>
        <p:spPr>
          <a:xfrm>
            <a:off x="74103" y="5272810"/>
            <a:ext cx="44407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Decisiones Relevantes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Noto Sans Symbols"/>
              <a:buChar char="▪"/>
            </a:pPr>
            <a:r>
              <a:rPr lang="es-MX" sz="1100">
                <a:latin typeface="Calibri"/>
                <a:ea typeface="Calibri"/>
                <a:cs typeface="Calibri"/>
                <a:sym typeface="Calibri"/>
              </a:rPr>
              <a:t>Determinación de desviaciones que requieren escalamiento inmediato: criterio operativo sobre qué hallazgos de control representan riesgos suficientes para ser reportados de forma urgente al Director Nacional Admvo OXXO.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Noto Sans Symbols"/>
              <a:buChar char="▪"/>
            </a:pPr>
            <a:r>
              <a:rPr lang="es-MX" sz="1100">
                <a:latin typeface="Calibri"/>
                <a:ea typeface="Calibri"/>
                <a:cs typeface="Calibri"/>
                <a:sym typeface="Calibri"/>
              </a:rPr>
              <a:t>Priorización de actividades de seguimiento y control en campo: decisión sobre el orden de atención de revisiones y compromisos en las plazas bajo su responsabilidad.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"/>
          <p:cNvSpPr txBox="1"/>
          <p:nvPr/>
        </p:nvSpPr>
        <p:spPr>
          <a:xfrm>
            <a:off x="4619672" y="5272810"/>
            <a:ext cx="44280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Principales Retos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Noto Sans Symbols"/>
              <a:buChar char="▪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Mantener la cobertura y calidad del control en una red de tiendas de alta dispersión geográfica y volumen: la escala nacional de la operación genera presión constante sobre los tiempos de revisión y la capacidad de seguimiento sistemático.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Noto Sans Symbols"/>
              <a:buChar char="▪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Consolidar información confiable y oportuna desde múltiples plazas con distintos niveles de madurez operativa: las diferencias entre plazas en tamaño y procesos complican la homologación de datos para la generación de reportes consistentes.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1" marL="57467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"/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"/>
          <p:cNvSpPr txBox="1"/>
          <p:nvPr/>
        </p:nvSpPr>
        <p:spPr>
          <a:xfrm>
            <a:off x="139564" y="3705118"/>
            <a:ext cx="4388817" cy="266797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Dimensionamiento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Negocios: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México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134" lvl="0" marL="52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Alcance Geográfico: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Nacional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134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Tramo de supervisión: 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Otros indicadores financieros / operativos (si aplica):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2"/>
          <p:cNvSpPr txBox="1"/>
          <p:nvPr/>
        </p:nvSpPr>
        <p:spPr>
          <a:xfrm>
            <a:off x="4620903" y="3704137"/>
            <a:ext cx="4392000" cy="105630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Estructura Organizacional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460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Arial"/>
              <a:buChar char="•"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Reportes Directos: 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460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Arial"/>
              <a:buChar char="•"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Pares: </a:t>
            </a:r>
            <a:r>
              <a:rPr lang="es-MX" sz="800">
                <a:latin typeface="Calibri"/>
                <a:ea typeface="Calibri"/>
                <a:cs typeface="Calibri"/>
                <a:sym typeface="Calibri"/>
              </a:rPr>
              <a:t>Gerente Área BP Finanzas Plataformas Expansión, Gerente Área Admvo Neg Dllo, Responsable Traslado de Valores, Gerente Gestión Control Zona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"/>
          <p:cNvSpPr/>
          <p:nvPr/>
        </p:nvSpPr>
        <p:spPr>
          <a:xfrm>
            <a:off x="59500" y="816255"/>
            <a:ext cx="881908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Relaciones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"/>
          <p:cNvSpPr txBox="1"/>
          <p:nvPr/>
        </p:nvSpPr>
        <p:spPr>
          <a:xfrm>
            <a:off x="139564" y="6453259"/>
            <a:ext cx="4388817" cy="338552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Fecha de Modificación: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"/>
          <p:cNvSpPr txBox="1"/>
          <p:nvPr/>
        </p:nvSpPr>
        <p:spPr>
          <a:xfrm>
            <a:off x="4615620" y="6453258"/>
            <a:ext cx="4392000" cy="33855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Modificado por: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"/>
          <p:cNvSpPr txBox="1"/>
          <p:nvPr/>
        </p:nvSpPr>
        <p:spPr>
          <a:xfrm>
            <a:off x="4615620" y="4880609"/>
            <a:ext cx="4392000" cy="149248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Características del rol: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% de tiempo dedicado a actividades que el rol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obligatoriamente 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debe de realizar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23"/>
              <a:buFont typeface="Arial"/>
              <a:buNone/>
            </a:pPr>
            <a:r>
              <a:t/>
            </a:r>
            <a:endParaRPr b="0" i="1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¿Cuántos días de la semana el rol realiza actividades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fuera de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 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6" name="Google Shape;156;p2"/>
          <p:cNvGraphicFramePr/>
          <p:nvPr/>
        </p:nvGraphicFramePr>
        <p:xfrm>
          <a:off x="59500" y="10645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{1DD8FB16-3531-49DD-B164-B2CCAA0AEEDA}</a:tableStyleId>
              </a:tblPr>
              <a:tblGrid>
                <a:gridCol w="156200"/>
                <a:gridCol w="3028425"/>
                <a:gridCol w="4270850"/>
                <a:gridCol w="1320075"/>
              </a:tblGrid>
              <a:tr h="412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a</a:t>
                      </a:r>
                      <a:endParaRPr sz="1400" u="none" cap="none" strike="noStrike"/>
                    </a:p>
                  </a:txBody>
                  <a:tcPr marT="9525" marB="0" marR="9525" marL="95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Puesto/ Área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Objetivo Relación: 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Frecuencia: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0" i="0" lang="es-MX" sz="6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(Diario, Semanal, Mes, Anual)</a:t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</a:tr>
              <a:tr h="204200">
                <a:tc rowSpan="7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INTERNAS</a:t>
                      </a:r>
                      <a:endParaRPr sz="1400" u="none" cap="none" strike="noStrike"/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Director Nacional Admvo OXXO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Reportar avances y hallazgos de control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Gerente Gestión Control Zona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Coordinar ejecución de control en campo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Diario</a:t>
                      </a:r>
                      <a:endParaRPr sz="9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Gte. Sr Fiscal y Contraloría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Alinear criterios de control interno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Mensual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73150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7" name="Google Shape;157;p2"/>
          <p:cNvSpPr txBox="1"/>
          <p:nvPr/>
        </p:nvSpPr>
        <p:spPr>
          <a:xfrm>
            <a:off x="-25355" y="1"/>
            <a:ext cx="7128900" cy="10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</a:t>
            </a:r>
            <a:r>
              <a:rPr b="1" lang="es-MX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Responsable Gestión y Control</a:t>
            </a:r>
            <a:b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Director Nacional Admvo OXXO</a:t>
            </a:r>
            <a:b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Finanzas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2025-01-29T22:27:57Z</dcterms:created>
  <dc:creator>Gilberto Morales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0x010100490EEA5A76710F4D840DE1E91AC235DB</vt:lpwstr>
  </property>
  <property fmtid="{D5CDD505-2E9C-101B-9397-08002B2CF9AE}" pid="3" name="ClassificationContentMarkingFooterLocations">
    <vt:lpwstr>1_Office Theme:8</vt:lpwstr>
  </property>
  <property fmtid="{D5CDD505-2E9C-101B-9397-08002B2CF9AE}" pid="4" name="ClassificationContentMarkingFooterText">
    <vt:lpwstr>OXXO | Uso Interno</vt:lpwstr>
  </property>
</Properties>
</file>