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iky/V+aY79dpkq9F3ZZPqQTw2T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59133B-82B7-4766-8E73-0A665DFE5B31}">
  <a:tblStyle styleId="{C859133B-82B7-4766-8E73-0A665DFE5B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A9421159-454F-4C7C-B402-77A935829916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524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lay"/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MX"/>
              <a:t>Modificada </a:t>
            </a:r>
            <a:endParaRPr/>
          </a:p>
        </p:txBody>
      </p:sp>
      <p:sp>
        <p:nvSpPr>
          <p:cNvPr id="146" name="Google Shape;1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8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9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1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1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2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2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15" name="Google Shape;15;p3"/>
          <p:cNvSpPr txBox="1"/>
          <p:nvPr/>
        </p:nvSpPr>
        <p:spPr>
          <a:xfrm>
            <a:off x="4059238" y="6642100"/>
            <a:ext cx="1054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| Uso Interno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4619672" y="5272810"/>
            <a:ext cx="44280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Principales Retos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Traducir la complejidad financiera en información accionable para líderes no financieros: el rol demanda capacidad para comunicar análisis sofisticados de manera clara y oportuna a socios comerciales con distintos niveles de formación financiera.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Mantener la relevancia y oportunidad del análisis comercial en un entorno de alta velocidad de decisión: la dinámica del negocio comercial de OXXO genera presión constante sobre los tiempos de respuesta, demandando equilibrio entre profundidad analítica y agilidad de entrega.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1" marL="57467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112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1000"/>
              <a:buFont typeface="Noto Sans Symbols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103" y="5272810"/>
            <a:ext cx="4440700" cy="1547090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Decisiones Relevantes del Puesto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Definición de los parámetros y supuestos financieros de los modelos de análisis comercial: criterio técnico sobre las variables que determinan la viabilidad y rentabilidad de las iniciativas y decisiones comerciales antes de su presentación al Gerente Sr.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74625" marR="0" rtl="0" algn="just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Noto Sans Symbols"/>
              <a:buChar char="▪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Priorización de análisis de riesgo y escenarios financieros a reportar a la dirección: decisión sobre qué hallazgos del monitoreo de rentabilidad representan riesgos suficientes para requerir atención inmediata de los líderes comerciales y financieros.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4102" y="1823416"/>
            <a:ext cx="7191449" cy="341885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Responsabilidades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el modelamiento de trade-offs económicos para respaldar decisiones comerciales: mediante el desarrollo de análisis de escenarios, parámetros de rentabilidad y evaluaciones de impacto financiero, para facilitar la toma de decisiones comerciales rigurosas y basadas en datos.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Monitorear y analizar el rendimiento del margen bruto, la rentabilidad y sus drivers: mediante el seguimiento sistemático de indicadores clave como tráfico, mix de categorías y condiciones comerciales, para identificar oportunidades y riesgos que impacten los resultados financieros.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Identificar y reportar riesgos financieros con impacto potencial en la rentabilidad: mediante el análisis anticipado de variables del entorno y del desempeño comercial, para alertar oportunamente al Gerente Sr y a los líderes comerciales antes de que afecten los resultados.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Elaborar reportes de visibilidad unificada de ingresos y márgenes para los socios comerciales: mediante la consolidación y visualización de la información financiera del negocio comercial, para proveer a los líderes de plataforma una perspectiva integrada del desempeño financiero.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Desarrollar casos de negocio y evaluaciones financieras de iniciativas comerciales: mediante la aplicación de modelos financieros y análisis de retorno sobre inversión, para asegurar el adecuado sustento económico de las decisiones estratégicas del área comercial.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Actuar como asesor financiero de los socios comerciales: mediante la generación de información y perspectivas sobre el impacto financiero de las decisiones empresariales para líderes no financieros, para fortalecer la cultura de toma de decisiones basada en datos en el área comercial.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Coordinar con Precios y Promociones y Gerentes de Categoría el análisis financiero de acuerdos y estrategias comerciales: mediante la interacción sistemática con los equipos relevantes, para asegurar la consistencia entre las estrategias comerciales y los objetivos de rentabilidad del negocio.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indent="-174625" lvl="0" marL="174625" marR="0" rtl="0" algn="just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840E27"/>
              </a:buClr>
              <a:buSzPts val="900"/>
              <a:buFont typeface="Calibri"/>
              <a:buAutoNum type="arabicPeriod"/>
            </a:pPr>
            <a:r>
              <a:rPr lang="es-MX" sz="900">
                <a:latin typeface="Calibri"/>
                <a:ea typeface="Calibri"/>
                <a:cs typeface="Calibri"/>
                <a:sym typeface="Calibri"/>
              </a:rPr>
              <a:t>Cumplir y promover con la aplicación de los procesos y rituales cultura de la Compañía.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Propósito del Puesto </a:t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MX" sz="1100">
                <a:latin typeface="Calibri"/>
                <a:ea typeface="Calibri"/>
                <a:cs typeface="Calibri"/>
                <a:sym typeface="Calibri"/>
              </a:rPr>
              <a:t>Elaborar y proveer análisis financieros orientados al desempeño comercial de OXXO, mediante el modelamiento de trade-offs económicos, el monitoreo de rentabilidad y margen bruto, y el desarrollo de casos de negocio, para habilitar la toma de decisiones comerciales rigurosas, basadas en datos y alineadas a la maximización de la rentabilidad del negocio.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-25355" y="1"/>
            <a:ext cx="7128791" cy="10798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p1"/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97" name="Google Shape;97;p1"/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Herramientas Puesto: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https://d30y9cdsu7xlg0.cloudfront.net/png/1999-200.png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06892" y="1248360"/>
            <a:ext cx="245644" cy="24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41085-200.png" id="100" name="Google Shape;10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2360" y="1993705"/>
            <a:ext cx="175626" cy="1756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35-200.png" id="101" name="Google Shape;10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2360" y="1729358"/>
            <a:ext cx="262955" cy="2629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d30y9cdsu7xlg0.cloudfront.net/png/131938-200.png" id="102" name="Google Shape;10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12360" y="1483752"/>
            <a:ext cx="235520" cy="235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Laptop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Escritorio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None/>
            </a:pPr>
            <a:r>
              <a:rPr b="0" i="1" lang="es-MX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Celular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VPN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Retek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Oracle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SIV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123" name="Google Shape;123;p1"/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1" i="0" lang="es-MX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Sistemas / Software: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cap="flat" cmpd="sng" w="9525">
              <a:solidFill>
                <a:srgbClr val="99002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1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Autocad</a:t>
            </a:r>
            <a:endParaRPr b="0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1"/>
          <p:cNvCxnSpPr/>
          <p:nvPr/>
        </p:nvCxnSpPr>
        <p:spPr>
          <a:xfrm flipH="1" rot="10800000">
            <a:off x="7705019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9" name="Google Shape;129;p1"/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1"/>
          <p:cNvCxnSpPr/>
          <p:nvPr/>
        </p:nvCxnSpPr>
        <p:spPr>
          <a:xfrm flipH="1" rot="10800000">
            <a:off x="8462182" y="4210996"/>
            <a:ext cx="441701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1"/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"/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"/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1"/>
          <p:cNvCxnSpPr/>
          <p:nvPr/>
        </p:nvCxnSpPr>
        <p:spPr>
          <a:xfrm flipH="1" rot="10800000">
            <a:off x="7806891" y="2431240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7" name="Google Shape;137;p1"/>
          <p:cNvCxnSpPr/>
          <p:nvPr/>
        </p:nvCxnSpPr>
        <p:spPr>
          <a:xfrm flipH="1" rot="10800000">
            <a:off x="7806891" y="2650334"/>
            <a:ext cx="1152000" cy="1"/>
          </a:xfrm>
          <a:prstGeom prst="straightConnector1">
            <a:avLst/>
          </a:prstGeom>
          <a:noFill/>
          <a:ln cap="flat" cmpd="sng" w="9525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8" name="Google Shape;138;p1"/>
          <p:cNvGraphicFramePr/>
          <p:nvPr/>
        </p:nvGraphicFramePr>
        <p:xfrm>
          <a:off x="7332179" y="4418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{C859133B-82B7-4766-8E73-0A665DFE5B31}</a:tableStyleId>
              </a:tblPr>
              <a:tblGrid>
                <a:gridCol w="1732525"/>
              </a:tblGrid>
              <a:tr h="79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MX" sz="1100" u="none" cap="none" strike="noStrike"/>
                        <a:t>NOTA IMPORTANTE</a:t>
                      </a:r>
                      <a:r>
                        <a:rPr lang="es-MX" sz="1100" u="none" cap="none" strike="noStrike"/>
                        <a:t>: Toda herramienta o software que impacte en gasto, estará sujeta a autorización.</a:t>
                      </a:r>
                      <a:endParaRPr b="1" i="0" sz="11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0" marL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1"/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"/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MX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Colocar logo de ProxyLogis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Google Shape;148;p2"/>
          <p:cNvGraphicFramePr/>
          <p:nvPr/>
        </p:nvGraphicFramePr>
        <p:xfrm>
          <a:off x="59500" y="10645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{A9421159-454F-4C7C-B402-77A935829916}</a:tableStyleId>
              </a:tblPr>
              <a:tblGrid>
                <a:gridCol w="156200"/>
                <a:gridCol w="3028425"/>
                <a:gridCol w="4270850"/>
                <a:gridCol w="1320075"/>
              </a:tblGrid>
              <a:tr h="41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0" i="0" lang="es-MX" sz="9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a</a:t>
                      </a:r>
                      <a:endParaRPr sz="1400" u="none" cap="none" strike="noStrike"/>
                    </a:p>
                  </a:txBody>
                  <a:tcPr marT="9525" marB="0" marR="9525" marL="95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Puesto/ Área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Objetivo Relación: </a:t>
                      </a:r>
                      <a:endParaRPr b="1" i="0" sz="10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i="0" lang="es-MX" sz="10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Frecuencia:</a:t>
                      </a:r>
                      <a:endParaRPr sz="14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</a:pPr>
                      <a:r>
                        <a:rPr b="0" i="0" lang="es-MX" sz="600" u="none" cap="none" strike="noStrik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(Diario, Semanal, Mes, Anual)</a:t>
                      </a:r>
                      <a:endParaRPr b="0" i="0" sz="600" u="none" cap="none" strike="noStrik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FBFBF"/>
                    </a:solidFill>
                  </a:tcPr>
                </a:tc>
              </a:tr>
              <a:tr h="204200">
                <a:tc rowSpan="7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i="0" lang="es-MX" sz="900" u="none" cap="none" strike="noStrike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INTERNAS</a:t>
                      </a:r>
                      <a:endParaRPr sz="1400" u="none" cap="none" strike="noStrike"/>
                    </a:p>
                  </a:txBody>
                  <a:tcPr marT="9525" marB="0" marR="9525" marL="95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Gte. Sr Planeación Financiera y Análisis &amp; CF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Reportar análisis de rentabilidad y riesgos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 Comercial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Proveer soporte financiero a decisiones comerciales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Gerente Planeación Financiera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Alinear análisis financiero y planeación</a:t>
                      </a:r>
                      <a:endParaRPr sz="105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Precios, Promociones y Gerentes de Categoría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s-MX" sz="105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Coordinar análisis financiero de estrategias</a:t>
                      </a:r>
                      <a:endParaRPr sz="105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es-MX" sz="9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Semanal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4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73150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3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731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"/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139564" y="3705118"/>
            <a:ext cx="4388817" cy="2667974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Negocios: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OXXO México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52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Alcance Geográfico: </a:t>
            </a:r>
            <a:r>
              <a:rPr b="0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Nacional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09134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Tramo de supervisión: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4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000" lvl="0" marL="3240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116"/>
              <a:buFont typeface="Arial"/>
              <a:buChar char="•"/>
            </a:pPr>
            <a:r>
              <a:rPr b="1" i="0" lang="es-MX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Otros indicadores financieros / operativos (si aplica):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4620903" y="3704137"/>
            <a:ext cx="4392000" cy="105630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Estructura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 Directos: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600" lvl="0" marL="342900" marR="0" rtl="0" algn="just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40E27"/>
              </a:buClr>
              <a:buSzPts val="800"/>
              <a:buFont typeface="Arial"/>
              <a:buChar char="•"/>
            </a:pPr>
            <a:r>
              <a:rPr b="1" i="0" lang="es-MX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Pares: </a:t>
            </a:r>
            <a:r>
              <a:rPr lang="es-MX" sz="800">
                <a:latin typeface="Calibri"/>
                <a:ea typeface="Calibri"/>
                <a:cs typeface="Calibri"/>
                <a:sym typeface="Calibri"/>
              </a:rPr>
              <a:t>Gerente Planeación Financiera, Gerente BP Finanzas Plataformas RH, TI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Relaciones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139564" y="6453259"/>
            <a:ext cx="4388817" cy="338552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Fecha de Modificación: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4615620" y="6453258"/>
            <a:ext cx="4392000" cy="33855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0E27"/>
              </a:buClr>
              <a:buSzPts val="1300"/>
              <a:buFont typeface="Arial"/>
              <a:buNone/>
            </a:pPr>
            <a:r>
              <a:rPr b="1" i="0" lang="es-MX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Modificado por:</a:t>
            </a:r>
            <a:endParaRPr b="0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Clr>
                <a:srgbClr val="840E27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1" y="0"/>
            <a:ext cx="7223196" cy="850015"/>
          </a:xfrm>
          <a:prstGeom prst="homePlate">
            <a:avLst>
              <a:gd fmla="val 50000" name="adj"/>
            </a:avLst>
          </a:prstGeom>
          <a:solidFill>
            <a:srgbClr val="990021"/>
          </a:solidFill>
          <a:ln cap="flat" cmpd="sng" w="12700">
            <a:solidFill>
              <a:srgbClr val="99002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"/>
          <p:cNvSpPr txBox="1"/>
          <p:nvPr/>
        </p:nvSpPr>
        <p:spPr>
          <a:xfrm>
            <a:off x="4615620" y="4880609"/>
            <a:ext cx="4392000" cy="1492483"/>
          </a:xfrm>
          <a:prstGeom prst="rect">
            <a:avLst/>
          </a:prstGeom>
          <a:noFill/>
          <a:ln cap="flat" cmpd="sng" w="9525">
            <a:solidFill>
              <a:srgbClr val="99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MX" sz="12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Características del rol: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% de tiempo dedicado a actividades que el rol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obligatoriamente 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debe de realizar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3"/>
              <a:buFont typeface="Arial"/>
              <a:buNone/>
            </a:pPr>
            <a:r>
              <a:t/>
            </a:r>
            <a:endParaRPr b="0" i="1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80000" lvl="0" marL="144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3"/>
              <a:buFont typeface="Arial"/>
              <a:buNone/>
            </a:pP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¿Cuántos días de la semana el rol realiza actividades </a:t>
            </a:r>
            <a:r>
              <a:rPr b="1" i="0" lang="es-MX" sz="11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fuera de oficina</a:t>
            </a:r>
            <a:r>
              <a:rPr b="1" i="0" lang="es-MX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 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-25355" y="1"/>
            <a:ext cx="7128900" cy="10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s-MX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 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Puesto: </a:t>
            </a:r>
            <a:r>
              <a:rPr b="1" lang="es-MX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Gerente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Nombre Puesto Jefe Directo: Gerente Sr Planeación Financiera y Análisis &amp; Commercial Finance</a:t>
            </a:r>
            <a:b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-MX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Área Funcional: Finanzas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2025-01-29T22:27:57Z</dcterms:created>
  <dc:creator>Gilberto Morales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