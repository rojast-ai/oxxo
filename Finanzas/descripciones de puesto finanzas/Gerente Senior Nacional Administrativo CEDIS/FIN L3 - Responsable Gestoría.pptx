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custom-properties+xml" PartName="/docProps/custom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8" roundtripDataSignature="AMtx7miUW5EyqhsrPXBNnqWhtfa955GYh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08D0372-E0E7-421C-9EBC-7F2976832E27}">
  <a:tblStyle styleId="{E08D0372-E0E7-421C-9EBC-7F2976832E27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BF5"/>
          </a:solidFill>
        </a:fill>
      </a:tcStyle>
    </a:wholeTbl>
    <a:band1H>
      <a:tcTxStyle b="off" i="off"/>
      <a:tcStyle>
        <a:fill>
          <a:solidFill>
            <a:srgbClr val="CDD4EA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CDD4EA"/>
          </a:solidFill>
        </a:fill>
      </a:tcStyle>
    </a:band1V>
    <a:band2V>
      <a:tcTxStyle b="off" i="off"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</a:neCell>
    <a:nwCell>
      <a:tcTxStyle b="off" i="off"/>
    </a:nwCell>
  </a:tblStyle>
  <a:tblStyle styleId="{21E00F18-3AFB-4D5C-B4BA-A613B904D284}" styleName="Table_1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customschemas.google.com/relationships/presentationmetadata" Target="meta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s-MX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" name="Google Shape;87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524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lay"/>
              <a:buNone/>
            </a:pPr>
            <a:r>
              <a:t/>
            </a:r>
            <a:endParaRPr/>
          </a:p>
        </p:txBody>
      </p:sp>
      <p:sp>
        <p:nvSpPr>
          <p:cNvPr id="88" name="Google Shape;88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s-MX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5" name="Google Shape;145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MX"/>
              <a:t>Modificada </a:t>
            </a:r>
            <a:endParaRPr/>
          </a:p>
        </p:txBody>
      </p:sp>
      <p:sp>
        <p:nvSpPr>
          <p:cNvPr id="146" name="Google Shape;146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ctrTitle"/>
          </p:nvPr>
        </p:nvSpPr>
        <p:spPr>
          <a:xfrm>
            <a:off x="685800" y="1122363"/>
            <a:ext cx="77724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subTitle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3" name="Google Shape;23;p5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5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6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" name="Google Shape;29;p6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6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/>
          <p:nvPr>
            <p:ph type="title"/>
          </p:nvPr>
        </p:nvSpPr>
        <p:spPr>
          <a:xfrm>
            <a:off x="623888" y="1709739"/>
            <a:ext cx="78867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7"/>
          <p:cNvSpPr txBox="1"/>
          <p:nvPr>
            <p:ph idx="1" type="body"/>
          </p:nvPr>
        </p:nvSpPr>
        <p:spPr>
          <a:xfrm>
            <a:off x="623888" y="4589464"/>
            <a:ext cx="78867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5" name="Google Shape;35;p7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7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7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8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8"/>
          <p:cNvSpPr txBox="1"/>
          <p:nvPr>
            <p:ph idx="1" type="body"/>
          </p:nvPr>
        </p:nvSpPr>
        <p:spPr>
          <a:xfrm>
            <a:off x="6286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8"/>
          <p:cNvSpPr txBox="1"/>
          <p:nvPr>
            <p:ph idx="2" type="body"/>
          </p:nvPr>
        </p:nvSpPr>
        <p:spPr>
          <a:xfrm>
            <a:off x="46291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8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8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8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 txBox="1"/>
          <p:nvPr>
            <p:ph type="title"/>
          </p:nvPr>
        </p:nvSpPr>
        <p:spPr>
          <a:xfrm>
            <a:off x="629841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9"/>
          <p:cNvSpPr txBox="1"/>
          <p:nvPr>
            <p:ph idx="1" type="body"/>
          </p:nvPr>
        </p:nvSpPr>
        <p:spPr>
          <a:xfrm>
            <a:off x="629842" y="1681163"/>
            <a:ext cx="3868340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8" name="Google Shape;48;p9"/>
          <p:cNvSpPr txBox="1"/>
          <p:nvPr>
            <p:ph idx="2" type="body"/>
          </p:nvPr>
        </p:nvSpPr>
        <p:spPr>
          <a:xfrm>
            <a:off x="629842" y="2505075"/>
            <a:ext cx="3868340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9" name="Google Shape;49;p9"/>
          <p:cNvSpPr txBox="1"/>
          <p:nvPr>
            <p:ph idx="3" type="body"/>
          </p:nvPr>
        </p:nvSpPr>
        <p:spPr>
          <a:xfrm>
            <a:off x="4629150" y="1681163"/>
            <a:ext cx="3887391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0" name="Google Shape;50;p9"/>
          <p:cNvSpPr txBox="1"/>
          <p:nvPr>
            <p:ph idx="4" type="body"/>
          </p:nvPr>
        </p:nvSpPr>
        <p:spPr>
          <a:xfrm>
            <a:off x="4629150" y="2505075"/>
            <a:ext cx="3887391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1" name="Google Shape;51;p9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9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9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0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0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0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0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1"/>
          <p:cNvSpPr txBox="1"/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11"/>
          <p:cNvSpPr txBox="1"/>
          <p:nvPr>
            <p:ph idx="1" type="body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2" name="Google Shape;62;p11"/>
          <p:cNvSpPr txBox="1"/>
          <p:nvPr>
            <p:ph idx="2" type="body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3" name="Google Shape;63;p11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1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11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2"/>
          <p:cNvSpPr txBox="1"/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12"/>
          <p:cNvSpPr/>
          <p:nvPr>
            <p:ph idx="2" type="pic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9" name="Google Shape;69;p12"/>
          <p:cNvSpPr txBox="1"/>
          <p:nvPr>
            <p:ph idx="1" type="body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0" name="Google Shape;70;p12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3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13"/>
          <p:cNvSpPr txBox="1"/>
          <p:nvPr>
            <p:ph idx="1" type="body"/>
          </p:nvPr>
        </p:nvSpPr>
        <p:spPr>
          <a:xfrm rot="5400000">
            <a:off x="2396331" y="57944"/>
            <a:ext cx="4351338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6" name="Google Shape;76;p13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3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4"/>
          <p:cNvSpPr txBox="1"/>
          <p:nvPr>
            <p:ph type="title"/>
          </p:nvPr>
        </p:nvSpPr>
        <p:spPr>
          <a:xfrm rot="5400000">
            <a:off x="4623594" y="2285207"/>
            <a:ext cx="5811838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14"/>
          <p:cNvSpPr txBox="1"/>
          <p:nvPr>
            <p:ph idx="1" type="body"/>
          </p:nvPr>
        </p:nvSpPr>
        <p:spPr>
          <a:xfrm rot="5400000">
            <a:off x="623094" y="370681"/>
            <a:ext cx="5811838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2" name="Google Shape;82;p14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4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14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3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3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3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3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  <p:sp>
        <p:nvSpPr>
          <p:cNvPr id="15" name="Google Shape;15;p3"/>
          <p:cNvSpPr txBox="1"/>
          <p:nvPr/>
        </p:nvSpPr>
        <p:spPr>
          <a:xfrm>
            <a:off x="4059238" y="6642100"/>
            <a:ext cx="10541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-MX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OXXO | Uso Interno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4.png"/><Relationship Id="rId6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"/>
          <p:cNvSpPr txBox="1"/>
          <p:nvPr/>
        </p:nvSpPr>
        <p:spPr>
          <a:xfrm>
            <a:off x="4619672" y="5272810"/>
            <a:ext cx="4428000" cy="1547090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300"/>
              <a:buFont typeface="Arial"/>
              <a:buNone/>
            </a:pPr>
            <a:r>
              <a:rPr b="1" i="0" lang="es-MX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Principales Retos del Puesto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4625" lvl="0" marL="17462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1000"/>
              <a:buFont typeface="Noto Sans Symbols"/>
              <a:buChar char="▪"/>
            </a:pPr>
            <a:r>
              <a:rPr lang="es-MX" sz="1000">
                <a:latin typeface="Calibri"/>
                <a:ea typeface="Calibri"/>
                <a:cs typeface="Calibri"/>
                <a:sym typeface="Calibri"/>
              </a:rPr>
              <a:t>Gestionar un alto volumen de trámites con plazos regulatorios no negociables: la multiplicidad de permisos, licencias y requerimientos normativos de una red nacional de CEDIS y Distribución genera presión constante sobre los tiempos de respuesta y la capacidad de seguimiento.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indent="-174625" lvl="0" marL="17462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1000"/>
              <a:buFont typeface="Noto Sans Symbols"/>
              <a:buChar char="▪"/>
            </a:pPr>
            <a:r>
              <a:rPr lang="es-MX" sz="1000">
                <a:latin typeface="Calibri"/>
                <a:ea typeface="Calibri"/>
                <a:cs typeface="Calibri"/>
                <a:sym typeface="Calibri"/>
              </a:rPr>
              <a:t>Navegar la variabilidad regulatoria entre diferentes estados y municipios del país: las distintas exigencias locales de autoridades en cada región complican la estandarización de los procesos de gestoría y demandan adaptabilidad constante.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indent="-111125" lvl="0" marL="17462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1000"/>
              <a:buFont typeface="Noto Sans Symbols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1125" lvl="1" marL="57467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1000"/>
              <a:buFont typeface="Noto Sans Symbols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1125" lvl="0" marL="17462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1000"/>
              <a:buFont typeface="Noto Sans Symbols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"/>
          <p:cNvSpPr txBox="1"/>
          <p:nvPr/>
        </p:nvSpPr>
        <p:spPr>
          <a:xfrm>
            <a:off x="74102" y="1823416"/>
            <a:ext cx="7191449" cy="3418854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100"/>
              <a:buFont typeface="Arial"/>
              <a:buNone/>
            </a:pP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Responsabilidades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6827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1000"/>
              <a:buFont typeface="Calibri"/>
              <a:buAutoNum type="arabicPeriod"/>
            </a:pPr>
            <a:r>
              <a:rPr lang="es-MX" sz="1000">
                <a:latin typeface="Calibri"/>
                <a:ea typeface="Calibri"/>
                <a:cs typeface="Calibri"/>
                <a:sym typeface="Calibri"/>
              </a:rPr>
              <a:t>Ejecutar y dar seguimiento a los trámites y gestiones administrativas de CEDIS y Distribución: mediante la coordinación con autoridades gubernamentales, notarías y organismos regulatorios, para asegurar la obtención oportuna de permisos, licencias y documentación requerida para la operación.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indent="-16827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1000"/>
              <a:buFont typeface="Calibri"/>
              <a:buAutoNum type="arabicPeriod"/>
            </a:pPr>
            <a:r>
              <a:rPr lang="es-MX" sz="1000">
                <a:latin typeface="Calibri"/>
                <a:ea typeface="Calibri"/>
                <a:cs typeface="Calibri"/>
                <a:sym typeface="Calibri"/>
              </a:rPr>
              <a:t>Coordinar la gestión documental y archivo de expedientes normativos y regulatorios: mediante el mantenimiento actualizado de los registros administrativos del área, para garantizar la disponibilidad y trazabilidad de la documentación oficial requerida.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indent="-16827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1000"/>
              <a:buFont typeface="Calibri"/>
              <a:buAutoNum type="arabicPeriod"/>
            </a:pPr>
            <a:r>
              <a:rPr lang="es-MX" sz="1000">
                <a:latin typeface="Calibri"/>
                <a:ea typeface="Calibri"/>
                <a:cs typeface="Calibri"/>
                <a:sym typeface="Calibri"/>
              </a:rPr>
              <a:t>Identificar y reportar vencimientos y renovaciones de permisos operativos de CEDIS y Distribución: mediante el monitoreo del estatus de trámites y vigencias, para prevenir interrupciones en la operación por incumplimientos regulatorios.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indent="-16827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1000"/>
              <a:buFont typeface="Calibri"/>
              <a:buAutoNum type="arabicPeriod"/>
            </a:pPr>
            <a:r>
              <a:rPr lang="es-MX" sz="1000">
                <a:latin typeface="Calibri"/>
                <a:ea typeface="Calibri"/>
                <a:cs typeface="Calibri"/>
                <a:sym typeface="Calibri"/>
              </a:rPr>
              <a:t>Coordinar con el área Legal los requerimientos de gestoría que impliquen procesos jurídicos: mediante la canalización oportuna de casos que requieran acompañamiento legal, para asegurar la correcta atención de situaciones que involucren riesgos normativos o contractuales.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indent="-16827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1000"/>
              <a:buFont typeface="Calibri"/>
              <a:buAutoNum type="arabicPeriod"/>
            </a:pPr>
            <a:r>
              <a:rPr lang="es-MX" sz="1000">
                <a:latin typeface="Calibri"/>
                <a:ea typeface="Calibri"/>
                <a:cs typeface="Calibri"/>
                <a:sym typeface="Calibri"/>
              </a:rPr>
              <a:t>Elaborar reportes de estatus de gestiones y trámites en curso: mediante la consolidación periódica del avance de cada expediente, para mantener informado al Gerente Sr Nacional Administrativo CEDIS sobre el estado de los requerimientos administrativos.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indent="-16827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1000"/>
              <a:buFont typeface="Calibri"/>
              <a:buAutoNum type="arabicPeriod"/>
            </a:pPr>
            <a:r>
              <a:rPr lang="es-MX" sz="1000">
                <a:latin typeface="Calibri"/>
                <a:ea typeface="Calibri"/>
                <a:cs typeface="Calibri"/>
                <a:sym typeface="Calibri"/>
              </a:rPr>
              <a:t>Implementar mecanismos de seguimiento y control de trámites administrativos: mediante el uso de herramientas de gestión definidas por el área, para asegurar que ningún requerimiento quede sin atención dentro de los plazos establecidos.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indent="-16827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1000"/>
              <a:buFont typeface="Calibri"/>
              <a:buAutoNum type="arabicPeriod"/>
            </a:pPr>
            <a:r>
              <a:rPr lang="es-MX" sz="1000">
                <a:latin typeface="Calibri"/>
                <a:ea typeface="Calibri"/>
                <a:cs typeface="Calibri"/>
                <a:sym typeface="Calibri"/>
              </a:rPr>
              <a:t>Coordinar con proveedores de servicios de gestoría externa cuando se requiera: mediante la gestión de la relación y el seguimiento de entregables, para complementar la capacidad interna en la atención de trámites de alta complejidad o volumen.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indent="-16827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1000"/>
              <a:buFont typeface="Calibri"/>
              <a:buAutoNum type="arabicPeriod"/>
            </a:pPr>
            <a:r>
              <a:rPr lang="es-MX" sz="1000">
                <a:latin typeface="Calibri"/>
                <a:ea typeface="Calibri"/>
                <a:cs typeface="Calibri"/>
                <a:sym typeface="Calibri"/>
              </a:rPr>
              <a:t>Cumplir y promover con la aplicación de los procesos y rituales cultura de la Compañía.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"/>
          <p:cNvSpPr txBox="1"/>
          <p:nvPr/>
        </p:nvSpPr>
        <p:spPr>
          <a:xfrm>
            <a:off x="74103" y="969028"/>
            <a:ext cx="7186069" cy="804013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Propósito del Puesto </a:t>
            </a:r>
            <a:endParaRPr b="1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-MX" sz="1000">
                <a:latin typeface="Calibri"/>
                <a:ea typeface="Calibri"/>
                <a:cs typeface="Calibri"/>
                <a:sym typeface="Calibri"/>
              </a:rPr>
              <a:t>Gestionar y dar seguimiento a los trámites, permisos y gestiones administrativas y regulatorias requeridos por la operación de CEDIS y Distribución, mediante la coordinación con autoridades, áreas internas y proveedores de servicios, para asegurar la continuidad operativa, el cumplimiento normativo y la resolución oportuna de requerimientos legales y administrativos.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"/>
          <p:cNvSpPr txBox="1"/>
          <p:nvPr/>
        </p:nvSpPr>
        <p:spPr>
          <a:xfrm>
            <a:off x="74103" y="5272810"/>
            <a:ext cx="4440700" cy="1547090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300"/>
              <a:buFont typeface="Arial"/>
              <a:buNone/>
            </a:pPr>
            <a:r>
              <a:rPr b="1" i="0" lang="es-MX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Decisiones Relevantes del Puesto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4625" lvl="0" marL="17462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1000"/>
              <a:buFont typeface="Noto Sans Symbols"/>
              <a:buChar char="▪"/>
            </a:pPr>
            <a:r>
              <a:rPr lang="es-MX" sz="1000">
                <a:latin typeface="Calibri"/>
                <a:ea typeface="Calibri"/>
                <a:cs typeface="Calibri"/>
                <a:sym typeface="Calibri"/>
              </a:rPr>
              <a:t>Priorización de trámites y gestiones según urgencia e impacto operativo: criterio sobre el orden de atención de los requerimientos administrativos en función del riesgo que implica su demora para la continuidad de la operación de CEDIS y Distribución.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indent="-174625" lvl="0" marL="17462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1000"/>
              <a:buFont typeface="Noto Sans Symbols"/>
              <a:buChar char="▪"/>
            </a:pPr>
            <a:r>
              <a:rPr lang="es-MX" sz="1000">
                <a:latin typeface="Calibri"/>
                <a:ea typeface="Calibri"/>
                <a:cs typeface="Calibri"/>
                <a:sym typeface="Calibri"/>
              </a:rPr>
              <a:t>Determinación de cuándo escalar una gestión al área Legal o al Gerente Sr: decisión operativa sobre qué trámites superan el alcance de gestoría y requieren acompañamiento especializado o validación de un nivel superior.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"/>
          <p:cNvSpPr/>
          <p:nvPr/>
        </p:nvSpPr>
        <p:spPr>
          <a:xfrm>
            <a:off x="1" y="0"/>
            <a:ext cx="7223196" cy="850015"/>
          </a:xfrm>
          <a:prstGeom prst="homePlate">
            <a:avLst>
              <a:gd fmla="val 50000" name="adj"/>
            </a:avLst>
          </a:prstGeom>
          <a:solidFill>
            <a:srgbClr val="990021"/>
          </a:solidFill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"/>
          <p:cNvSpPr txBox="1"/>
          <p:nvPr/>
        </p:nvSpPr>
        <p:spPr>
          <a:xfrm>
            <a:off x="-25355" y="1"/>
            <a:ext cx="7128791" cy="10798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s-MX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DESCRIPCIÓN DE PUESTO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Nombre Puesto:</a:t>
            </a:r>
            <a:r>
              <a:rPr b="1" lang="es-MX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Responsable Gestoría</a:t>
            </a:r>
            <a:endParaRPr b="1" i="0" sz="13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Nombre Puesto Jefe Directo: Gerente Sr Nacional Administrativo CEDIS</a:t>
            </a:r>
            <a:endParaRPr b="1" i="0" sz="13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Área Funcional: Finanzas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6" name="Google Shape;96;p1"/>
          <p:cNvGrpSpPr/>
          <p:nvPr/>
        </p:nvGrpSpPr>
        <p:grpSpPr>
          <a:xfrm>
            <a:off x="7332180" y="969028"/>
            <a:ext cx="1728192" cy="1717735"/>
            <a:chOff x="7319480" y="969028"/>
            <a:chExt cx="1728192" cy="1717735"/>
          </a:xfrm>
        </p:grpSpPr>
        <p:sp>
          <p:nvSpPr>
            <p:cNvPr id="97" name="Google Shape;97;p1"/>
            <p:cNvSpPr/>
            <p:nvPr/>
          </p:nvSpPr>
          <p:spPr>
            <a:xfrm>
              <a:off x="7319480" y="969028"/>
              <a:ext cx="1728192" cy="1717735"/>
            </a:xfrm>
            <a:prstGeom prst="rect">
              <a:avLst/>
            </a:prstGeom>
            <a:noFill/>
            <a:ln cap="flat" cmpd="sng" w="9525">
              <a:solidFill>
                <a:srgbClr val="99002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" name="Google Shape;98;p1"/>
            <p:cNvSpPr txBox="1"/>
            <p:nvPr/>
          </p:nvSpPr>
          <p:spPr>
            <a:xfrm>
              <a:off x="7319480" y="969028"/>
              <a:ext cx="1728192" cy="276999"/>
            </a:xfrm>
            <a:prstGeom prst="rect">
              <a:avLst/>
            </a:prstGeom>
            <a:noFill/>
            <a:ln cap="flat" cmpd="sng" w="9525">
              <a:solidFill>
                <a:srgbClr val="99002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1" i="0" lang="es-MX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Herramientas Puesto: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descr="https://d30y9cdsu7xlg0.cloudfront.net/png/1999-200.png" id="99" name="Google Shape;99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06892" y="1248360"/>
            <a:ext cx="245644" cy="24564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s://d30y9cdsu7xlg0.cloudfront.net/png/41085-200.png" id="100" name="Google Shape;100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812360" y="1993705"/>
            <a:ext cx="175626" cy="17562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s://d30y9cdsu7xlg0.cloudfront.net/png/1335-200.png" id="101" name="Google Shape;101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812360" y="1729358"/>
            <a:ext cx="262955" cy="26295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s://d30y9cdsu7xlg0.cloudfront.net/png/131938-200.png" id="102" name="Google Shape;102;p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812360" y="1483752"/>
            <a:ext cx="235520" cy="235520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"/>
          <p:cNvSpPr/>
          <p:nvPr/>
        </p:nvSpPr>
        <p:spPr>
          <a:xfrm>
            <a:off x="7459294" y="1300701"/>
            <a:ext cx="281058" cy="140962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"/>
          <p:cNvSpPr txBox="1"/>
          <p:nvPr/>
        </p:nvSpPr>
        <p:spPr>
          <a:xfrm>
            <a:off x="8065788" y="1248072"/>
            <a:ext cx="754684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rPr b="0" i="1" lang="es-MX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Laptop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1"/>
          <p:cNvSpPr txBox="1"/>
          <p:nvPr/>
        </p:nvSpPr>
        <p:spPr>
          <a:xfrm>
            <a:off x="8065788" y="1478402"/>
            <a:ext cx="754684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rPr b="0" i="1" lang="es-MX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Escritorio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1"/>
          <p:cNvSpPr txBox="1"/>
          <p:nvPr/>
        </p:nvSpPr>
        <p:spPr>
          <a:xfrm>
            <a:off x="8065788" y="1737725"/>
            <a:ext cx="788195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rPr b="0" i="1" lang="es-MX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Auto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1"/>
          <p:cNvSpPr txBox="1"/>
          <p:nvPr/>
        </p:nvSpPr>
        <p:spPr>
          <a:xfrm>
            <a:off x="8065788" y="1958408"/>
            <a:ext cx="788195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rPr b="0" i="1" lang="es-MX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Celular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1"/>
          <p:cNvSpPr/>
          <p:nvPr/>
        </p:nvSpPr>
        <p:spPr>
          <a:xfrm>
            <a:off x="7422041" y="3118872"/>
            <a:ext cx="246303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1"/>
          <p:cNvSpPr txBox="1"/>
          <p:nvPr/>
        </p:nvSpPr>
        <p:spPr>
          <a:xfrm>
            <a:off x="7622365" y="3060110"/>
            <a:ext cx="456850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VPN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1"/>
          <p:cNvSpPr txBox="1"/>
          <p:nvPr/>
        </p:nvSpPr>
        <p:spPr>
          <a:xfrm>
            <a:off x="8388424" y="3060110"/>
            <a:ext cx="754684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Internet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1"/>
          <p:cNvSpPr/>
          <p:nvPr/>
        </p:nvSpPr>
        <p:spPr>
          <a:xfrm>
            <a:off x="7422705" y="3360358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"/>
          <p:cNvSpPr txBox="1"/>
          <p:nvPr/>
        </p:nvSpPr>
        <p:spPr>
          <a:xfrm>
            <a:off x="7622365" y="3301596"/>
            <a:ext cx="456850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1"/>
          <p:cNvSpPr txBox="1"/>
          <p:nvPr/>
        </p:nvSpPr>
        <p:spPr>
          <a:xfrm>
            <a:off x="8388424" y="3305090"/>
            <a:ext cx="754684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SAP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1"/>
          <p:cNvSpPr/>
          <p:nvPr/>
        </p:nvSpPr>
        <p:spPr>
          <a:xfrm>
            <a:off x="7422705" y="3627593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"/>
          <p:cNvSpPr txBox="1"/>
          <p:nvPr/>
        </p:nvSpPr>
        <p:spPr>
          <a:xfrm>
            <a:off x="7622365" y="3568831"/>
            <a:ext cx="475106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Retek</a:t>
            </a:r>
            <a:endParaRPr b="0" i="1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"/>
          <p:cNvSpPr txBox="1"/>
          <p:nvPr/>
        </p:nvSpPr>
        <p:spPr>
          <a:xfrm>
            <a:off x="8388424" y="3545582"/>
            <a:ext cx="754684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Oracle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1"/>
          <p:cNvSpPr/>
          <p:nvPr/>
        </p:nvSpPr>
        <p:spPr>
          <a:xfrm>
            <a:off x="7422705" y="3852614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"/>
          <p:cNvSpPr txBox="1"/>
          <p:nvPr/>
        </p:nvSpPr>
        <p:spPr>
          <a:xfrm>
            <a:off x="7622365" y="3793852"/>
            <a:ext cx="469555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SIV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1"/>
          <p:cNvSpPr/>
          <p:nvPr/>
        </p:nvSpPr>
        <p:spPr>
          <a:xfrm>
            <a:off x="8180361" y="3118872"/>
            <a:ext cx="246303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"/>
          <p:cNvSpPr/>
          <p:nvPr/>
        </p:nvSpPr>
        <p:spPr>
          <a:xfrm>
            <a:off x="8181025" y="3359639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"/>
          <p:cNvSpPr/>
          <p:nvPr/>
        </p:nvSpPr>
        <p:spPr>
          <a:xfrm>
            <a:off x="8181025" y="3600406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22" name="Google Shape;122;p1"/>
          <p:cNvGrpSpPr/>
          <p:nvPr/>
        </p:nvGrpSpPr>
        <p:grpSpPr>
          <a:xfrm>
            <a:off x="7332180" y="2769544"/>
            <a:ext cx="1728192" cy="1547090"/>
            <a:chOff x="7319480" y="2769544"/>
            <a:chExt cx="1728192" cy="2268000"/>
          </a:xfrm>
        </p:grpSpPr>
        <p:sp>
          <p:nvSpPr>
            <p:cNvPr id="123" name="Google Shape;123;p1"/>
            <p:cNvSpPr txBox="1"/>
            <p:nvPr/>
          </p:nvSpPr>
          <p:spPr>
            <a:xfrm>
              <a:off x="7322014" y="2769544"/>
              <a:ext cx="1723124" cy="276999"/>
            </a:xfrm>
            <a:prstGeom prst="rect">
              <a:avLst/>
            </a:prstGeom>
            <a:noFill/>
            <a:ln cap="flat" cmpd="sng" w="9525">
              <a:solidFill>
                <a:srgbClr val="99002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1" i="0" lang="es-MX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Sistemas / Software: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" name="Google Shape;124;p1"/>
            <p:cNvSpPr/>
            <p:nvPr/>
          </p:nvSpPr>
          <p:spPr>
            <a:xfrm>
              <a:off x="7319480" y="2769544"/>
              <a:ext cx="1728192" cy="2268000"/>
            </a:xfrm>
            <a:prstGeom prst="rect">
              <a:avLst/>
            </a:prstGeom>
            <a:noFill/>
            <a:ln cap="flat" cmpd="sng" w="9525">
              <a:solidFill>
                <a:srgbClr val="99002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5" name="Google Shape;125;p1"/>
          <p:cNvSpPr txBox="1"/>
          <p:nvPr/>
        </p:nvSpPr>
        <p:spPr>
          <a:xfrm>
            <a:off x="8388424" y="3784461"/>
            <a:ext cx="754684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Autocad</a:t>
            </a:r>
            <a:endParaRPr b="0" i="1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"/>
          <p:cNvSpPr/>
          <p:nvPr/>
        </p:nvSpPr>
        <p:spPr>
          <a:xfrm>
            <a:off x="8181025" y="3841173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"/>
          <p:cNvSpPr/>
          <p:nvPr/>
        </p:nvSpPr>
        <p:spPr>
          <a:xfrm>
            <a:off x="7422705" y="4082520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8" name="Google Shape;128;p1"/>
          <p:cNvCxnSpPr/>
          <p:nvPr/>
        </p:nvCxnSpPr>
        <p:spPr>
          <a:xfrm flipH="1" rot="10800000">
            <a:off x="7705019" y="4210996"/>
            <a:ext cx="441701" cy="1"/>
          </a:xfrm>
          <a:prstGeom prst="straightConnector1">
            <a:avLst/>
          </a:prstGeom>
          <a:noFill/>
          <a:ln cap="flat" cmpd="sng" w="9525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29" name="Google Shape;129;p1"/>
          <p:cNvSpPr/>
          <p:nvPr/>
        </p:nvSpPr>
        <p:spPr>
          <a:xfrm>
            <a:off x="8181025" y="4081940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0" name="Google Shape;130;p1"/>
          <p:cNvCxnSpPr/>
          <p:nvPr/>
        </p:nvCxnSpPr>
        <p:spPr>
          <a:xfrm flipH="1" rot="10800000">
            <a:off x="8462182" y="4210996"/>
            <a:ext cx="441701" cy="1"/>
          </a:xfrm>
          <a:prstGeom prst="straightConnector1">
            <a:avLst/>
          </a:prstGeom>
          <a:noFill/>
          <a:ln cap="flat" cmpd="sng" w="9525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31" name="Google Shape;131;p1"/>
          <p:cNvSpPr/>
          <p:nvPr/>
        </p:nvSpPr>
        <p:spPr>
          <a:xfrm>
            <a:off x="7459294" y="1536672"/>
            <a:ext cx="281058" cy="140962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"/>
          <p:cNvSpPr/>
          <p:nvPr/>
        </p:nvSpPr>
        <p:spPr>
          <a:xfrm>
            <a:off x="7459294" y="1773041"/>
            <a:ext cx="281058" cy="140962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"/>
          <p:cNvSpPr/>
          <p:nvPr/>
        </p:nvSpPr>
        <p:spPr>
          <a:xfrm>
            <a:off x="7459294" y="2009410"/>
            <a:ext cx="281058" cy="140962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"/>
          <p:cNvSpPr/>
          <p:nvPr/>
        </p:nvSpPr>
        <p:spPr>
          <a:xfrm>
            <a:off x="7459294" y="2245779"/>
            <a:ext cx="281058" cy="140962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"/>
          <p:cNvSpPr/>
          <p:nvPr/>
        </p:nvSpPr>
        <p:spPr>
          <a:xfrm>
            <a:off x="7459294" y="2482149"/>
            <a:ext cx="281058" cy="140962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6" name="Google Shape;136;p1"/>
          <p:cNvCxnSpPr/>
          <p:nvPr/>
        </p:nvCxnSpPr>
        <p:spPr>
          <a:xfrm flipH="1" rot="10800000">
            <a:off x="7806891" y="2431240"/>
            <a:ext cx="1152000" cy="1"/>
          </a:xfrm>
          <a:prstGeom prst="straightConnector1">
            <a:avLst/>
          </a:prstGeom>
          <a:noFill/>
          <a:ln cap="flat" cmpd="sng" w="9525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37" name="Google Shape;137;p1"/>
          <p:cNvCxnSpPr/>
          <p:nvPr/>
        </p:nvCxnSpPr>
        <p:spPr>
          <a:xfrm flipH="1" rot="10800000">
            <a:off x="7806891" y="2650334"/>
            <a:ext cx="1152000" cy="1"/>
          </a:xfrm>
          <a:prstGeom prst="straightConnector1">
            <a:avLst/>
          </a:prstGeom>
          <a:noFill/>
          <a:ln cap="flat" cmpd="sng" w="9525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</p:cxnSp>
      <p:graphicFrame>
        <p:nvGraphicFramePr>
          <p:cNvPr id="138" name="Google Shape;138;p1"/>
          <p:cNvGraphicFramePr/>
          <p:nvPr/>
        </p:nvGraphicFramePr>
        <p:xfrm>
          <a:off x="7332179" y="441824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{E08D0372-E0E7-421C-9EBC-7F2976832E27}</a:tableStyleId>
              </a:tblPr>
              <a:tblGrid>
                <a:gridCol w="1732525"/>
              </a:tblGrid>
              <a:tr h="790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s-MX" sz="1100" u="none" cap="none" strike="noStrike"/>
                        <a:t>NOTA IMPORTANTE</a:t>
                      </a:r>
                      <a:r>
                        <a:rPr lang="es-MX" sz="1100" u="none" cap="none" strike="noStrike"/>
                        <a:t>: Toda herramienta o software que impacte en gasto, estará sujeta a autorización.</a:t>
                      </a:r>
                      <a:endParaRPr b="1" i="0" sz="11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139" name="Google Shape;139;p1"/>
          <p:cNvSpPr txBox="1"/>
          <p:nvPr/>
        </p:nvSpPr>
        <p:spPr>
          <a:xfrm>
            <a:off x="7369146" y="1230169"/>
            <a:ext cx="50643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b="0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1"/>
          <p:cNvSpPr txBox="1"/>
          <p:nvPr/>
        </p:nvSpPr>
        <p:spPr>
          <a:xfrm>
            <a:off x="7308652" y="3014200"/>
            <a:ext cx="50643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b="0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1"/>
          <p:cNvSpPr txBox="1"/>
          <p:nvPr/>
        </p:nvSpPr>
        <p:spPr>
          <a:xfrm>
            <a:off x="8051379" y="3038442"/>
            <a:ext cx="50643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b="0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1"/>
          <p:cNvSpPr txBox="1"/>
          <p:nvPr/>
        </p:nvSpPr>
        <p:spPr>
          <a:xfrm>
            <a:off x="7459294" y="151075"/>
            <a:ext cx="1499597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MX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Colocar logo de ProxyLogis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"/>
          <p:cNvSpPr/>
          <p:nvPr/>
        </p:nvSpPr>
        <p:spPr>
          <a:xfrm>
            <a:off x="4031311" y="6647290"/>
            <a:ext cx="1081378" cy="17261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2"/>
          <p:cNvSpPr txBox="1"/>
          <p:nvPr/>
        </p:nvSpPr>
        <p:spPr>
          <a:xfrm>
            <a:off x="139564" y="3705118"/>
            <a:ext cx="4388817" cy="2667974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200"/>
              <a:buFont typeface="Arial"/>
              <a:buNone/>
            </a:pPr>
            <a:r>
              <a:rPr b="1" i="0" lang="es-MX" sz="12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Dimensionamiento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40E27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0000" lvl="0" marL="324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116"/>
              <a:buFont typeface="Arial"/>
              <a:buChar char="•"/>
            </a:pPr>
            <a:r>
              <a:rPr b="1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Negocios: </a:t>
            </a:r>
            <a:r>
              <a:rPr b="0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OXXO México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09134" lvl="0" marL="522900" marR="0" rtl="0" algn="just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40E27"/>
              </a:buClr>
              <a:buSzPts val="1116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0000" lvl="0" marL="324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116"/>
              <a:buFont typeface="Arial"/>
              <a:buChar char="•"/>
            </a:pPr>
            <a:r>
              <a:rPr b="1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Alcance Geográfico: </a:t>
            </a:r>
            <a:r>
              <a:rPr b="0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Nacional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09134" lvl="0" marL="324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116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0000" lvl="0" marL="324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116"/>
              <a:buFont typeface="Arial"/>
              <a:buChar char="•"/>
            </a:pPr>
            <a:r>
              <a:rPr b="1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Tramo de supervisión: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44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116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0000" lvl="0" marL="324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116"/>
              <a:buFont typeface="Arial"/>
              <a:buChar char="•"/>
            </a:pPr>
            <a:r>
              <a:rPr b="1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Otros indicadores financieros / operativos (si aplica):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2"/>
          <p:cNvSpPr txBox="1"/>
          <p:nvPr/>
        </p:nvSpPr>
        <p:spPr>
          <a:xfrm>
            <a:off x="4620903" y="3704137"/>
            <a:ext cx="4392000" cy="1056303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200"/>
              <a:buFont typeface="Arial"/>
              <a:buNone/>
            </a:pPr>
            <a:r>
              <a:rPr b="1" i="0" lang="es-MX" sz="12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Estructura Organizacional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67300" lvl="0" marL="342900" marR="0" rtl="0" algn="just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40E27"/>
              </a:buClr>
              <a:buSzPts val="1000"/>
              <a:buFont typeface="Arial"/>
              <a:buChar char="•"/>
            </a:pPr>
            <a:r>
              <a:rPr b="1" i="0" lang="es-MX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Reportes Directos: 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67300" lvl="0" marL="342900" marR="0" rtl="0" algn="just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40E27"/>
              </a:buClr>
              <a:buSzPts val="1000"/>
              <a:buFont typeface="Arial"/>
              <a:buChar char="•"/>
            </a:pPr>
            <a:r>
              <a:rPr b="1" i="0" lang="es-MX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Pares: </a:t>
            </a:r>
            <a:r>
              <a:rPr lang="es-MX" sz="1000">
                <a:latin typeface="Calibri"/>
                <a:ea typeface="Calibri"/>
                <a:cs typeface="Calibri"/>
                <a:sym typeface="Calibri"/>
              </a:rPr>
              <a:t>Gerente Área Admin Control CEDIS, Gerente Área Admin y Finanzas Dist, Responsable Gestión y Control CEDIS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40E27"/>
              </a:buClr>
              <a:buSzPts val="1200"/>
              <a:buFont typeface="Arial"/>
              <a:buNone/>
            </a:pPr>
            <a:r>
              <a:rPr b="1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0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2"/>
          <p:cNvSpPr/>
          <p:nvPr/>
        </p:nvSpPr>
        <p:spPr>
          <a:xfrm>
            <a:off x="59500" y="816255"/>
            <a:ext cx="881908" cy="2923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Calibri"/>
              <a:buNone/>
            </a:pPr>
            <a:r>
              <a:rPr b="1" i="0" lang="es-MX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Relaciones</a:t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2"/>
          <p:cNvSpPr txBox="1"/>
          <p:nvPr/>
        </p:nvSpPr>
        <p:spPr>
          <a:xfrm>
            <a:off x="139564" y="6453259"/>
            <a:ext cx="4388817" cy="338552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300"/>
              <a:buFont typeface="Arial"/>
              <a:buNone/>
            </a:pPr>
            <a:r>
              <a:rPr b="1" i="0" lang="es-MX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Fecha de Modificación: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2"/>
          <p:cNvSpPr txBox="1"/>
          <p:nvPr/>
        </p:nvSpPr>
        <p:spPr>
          <a:xfrm>
            <a:off x="4615620" y="6453258"/>
            <a:ext cx="4392000" cy="338553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300"/>
              <a:buFont typeface="Arial"/>
              <a:buNone/>
            </a:pPr>
            <a:r>
              <a:rPr b="1" i="0" lang="es-MX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Modificado por:</a:t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220"/>
              </a:spcBef>
              <a:spcAft>
                <a:spcPts val="0"/>
              </a:spcAft>
              <a:buClr>
                <a:srgbClr val="840E27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2"/>
          <p:cNvSpPr/>
          <p:nvPr/>
        </p:nvSpPr>
        <p:spPr>
          <a:xfrm>
            <a:off x="1" y="0"/>
            <a:ext cx="7223196" cy="850015"/>
          </a:xfrm>
          <a:prstGeom prst="homePlate">
            <a:avLst>
              <a:gd fmla="val 50000" name="adj"/>
            </a:avLst>
          </a:prstGeom>
          <a:solidFill>
            <a:srgbClr val="990021"/>
          </a:solidFill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2"/>
          <p:cNvSpPr txBox="1"/>
          <p:nvPr/>
        </p:nvSpPr>
        <p:spPr>
          <a:xfrm>
            <a:off x="4615620" y="4880609"/>
            <a:ext cx="4392000" cy="1492483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-MX" sz="12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Características del rol: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180000" lvl="0" marL="144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23"/>
              <a:buFont typeface="Arial"/>
              <a:buNone/>
            </a:pP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% de tiempo dedicado a actividades que el rol </a:t>
            </a:r>
            <a:r>
              <a:rPr b="1" i="0" lang="es-MX" sz="11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obligatoriamente </a:t>
            </a: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debe de realizar </a:t>
            </a:r>
            <a:r>
              <a:rPr b="1" i="0" lang="es-MX" sz="11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en oficina</a:t>
            </a: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180000" lvl="0" marL="144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23"/>
              <a:buFont typeface="Arial"/>
              <a:buNone/>
            </a:pPr>
            <a:r>
              <a:t/>
            </a:r>
            <a:endParaRPr b="0" i="1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180000" lvl="0" marL="144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23"/>
              <a:buFont typeface="Arial"/>
              <a:buNone/>
            </a:pP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¿Cuántos días de la semana el rol realiza actividades </a:t>
            </a:r>
            <a:r>
              <a:rPr b="1" i="0" lang="es-MX" sz="11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fuera de oficina</a:t>
            </a: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? 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56" name="Google Shape;156;p2"/>
          <p:cNvGraphicFramePr/>
          <p:nvPr/>
        </p:nvGraphicFramePr>
        <p:xfrm>
          <a:off x="59500" y="106457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{21E00F18-3AFB-4D5C-B4BA-A613B904D284}</a:tableStyleId>
              </a:tblPr>
              <a:tblGrid>
                <a:gridCol w="156200"/>
                <a:gridCol w="3028425"/>
                <a:gridCol w="4270850"/>
                <a:gridCol w="1320075"/>
              </a:tblGrid>
              <a:tr h="4122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i="0" lang="es-MX" sz="9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a</a:t>
                      </a:r>
                      <a:endParaRPr sz="1400" u="none" cap="none" strike="noStrike"/>
                    </a:p>
                  </a:txBody>
                  <a:tcPr marT="9525" marB="0" marR="9525" marL="952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s-MX" sz="1000" u="none" cap="none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Puesto/ Área</a:t>
                      </a:r>
                      <a:endParaRPr b="1" i="0" sz="1000" u="none" cap="none" strike="noStrike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525" marB="0" marR="9525" marL="95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s-MX" sz="1000" u="none" cap="none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Objetivo Relación: </a:t>
                      </a:r>
                      <a:endParaRPr b="1" i="0" sz="1000" u="none" cap="none" strike="noStrike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525" marB="0" marR="9525" marL="95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s-MX" sz="1000" u="none" cap="none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Frecuencia:</a:t>
                      </a:r>
                      <a:endParaRPr sz="1400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Arial"/>
                        <a:buNone/>
                      </a:pPr>
                      <a:r>
                        <a:rPr b="0" i="0" lang="es-MX" sz="600" u="none" cap="none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(Diario, Semanal, Mes, Anual)</a:t>
                      </a:r>
                      <a:endParaRPr b="0" i="0" sz="600" u="none" cap="none" strike="noStrike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525" marB="0" marR="9525" marL="95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FBF"/>
                    </a:solidFill>
                  </a:tcPr>
                </a:tc>
              </a:tr>
              <a:tr h="204200">
                <a:tc rowSpan="7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i="0" lang="es-MX" sz="900" u="none" cap="none" strike="noStrike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INTERNAS</a:t>
                      </a:r>
                      <a:endParaRPr sz="1400" u="none" cap="none" strike="noStrike"/>
                    </a:p>
                  </a:txBody>
                  <a:tcPr marT="9525" marB="0" marR="9525" marL="95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s-MX" sz="105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Gerente Sr Nacional Administrativo CEDIS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-MX" sz="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Reportar estatus de trámites y gestiones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rPr lang="es-MX" sz="9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Semanal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63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s-MX" sz="105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Gte. Sr Legal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-MX" sz="9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Coordinar trámites con implicación legal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rPr lang="es-MX" sz="9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Mensual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42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s-MX" sz="105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Operaciones CEDIS y Distribución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rPr lang="es-MX" sz="9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Atender requerimientos operativos de gestoría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rPr lang="es-MX" sz="9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Semanal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42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t/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73150" marL="731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42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t/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73150" marL="731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63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t/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731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63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t/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731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57" name="Google Shape;157;p2"/>
          <p:cNvSpPr txBox="1"/>
          <p:nvPr/>
        </p:nvSpPr>
        <p:spPr>
          <a:xfrm>
            <a:off x="-25355" y="1"/>
            <a:ext cx="7128900" cy="1079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s-MX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DESCRIPCIÓN DE PUESTO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Nombre Puesto: </a:t>
            </a:r>
            <a:r>
              <a:rPr b="1" lang="es-MX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Responsable Gestoría</a:t>
            </a:r>
            <a:endParaRPr b="1" i="0" sz="13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Nombre Puesto Jefe Directo: Gerente Sr Nacional Administrativo CEDIS</a:t>
            </a:r>
            <a:endParaRPr b="1" i="0" sz="13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Área Funcional: Finanzas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1_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2025-01-29T22:27:57Z</dcterms:created>
  <dc:creator>Gilberto Morales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0x010100490EEA5A76710F4D840DE1E91AC235DB</vt:lpwstr>
  </property>
  <property fmtid="{D5CDD505-2E9C-101B-9397-08002B2CF9AE}" pid="3" name="ClassificationContentMarkingFooterLocations">
    <vt:lpwstr>1_Office Theme:8</vt:lpwstr>
  </property>
  <property fmtid="{D5CDD505-2E9C-101B-9397-08002B2CF9AE}" pid="4" name="ClassificationContentMarkingFooterText">
    <vt:lpwstr>OXXO | Uso Interno</vt:lpwstr>
  </property>
</Properties>
</file>