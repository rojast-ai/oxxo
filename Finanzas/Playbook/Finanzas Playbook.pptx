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44" r:id="rId78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629" r:id="rId63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3.xml"/><Relationship Id="rId9" Type="http://schemas.openxmlformats.org/officeDocument/2006/relationships/slide" Target="slides/slide26.xml"/><Relationship Id="rId10" Type="http://schemas.openxmlformats.org/officeDocument/2006/relationships/slide" Target="slides/slide25.xml"/><Relationship Id="rId11" Type="http://schemas.openxmlformats.org/officeDocument/2006/relationships/slide" Target="slides/slide24.xml"/><Relationship Id="rId12" Type="http://schemas.openxmlformats.org/officeDocument/2006/relationships/slide" Target="slides/slide23.xml"/><Relationship Id="rId13" Type="http://schemas.openxmlformats.org/officeDocument/2006/relationships/slide" Target="slides/slide22.xml"/><Relationship Id="rId14" Type="http://schemas.openxmlformats.org/officeDocument/2006/relationships/slide" Target="slides/slide21.xml"/><Relationship Id="rId15" Type="http://schemas.openxmlformats.org/officeDocument/2006/relationships/slide" Target="slides/slide20.xml"/><Relationship Id="rId16" Type="http://schemas.openxmlformats.org/officeDocument/2006/relationships/slide" Target="slides/slide19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8.xml"/><Relationship Id="rId73" Type="http://schemas.openxmlformats.org/officeDocument/2006/relationships/slide" Target="slides/slide7.xml"/><Relationship Id="rId74" Type="http://schemas.openxmlformats.org/officeDocument/2006/relationships/slide" Target="slides/slide8.xml"/><Relationship Id="rId75" Type="http://schemas.openxmlformats.org/officeDocument/2006/relationships/slide" Target="slides/slide9.xml"/><Relationship Id="rId76" Type="http://schemas.openxmlformats.org/officeDocument/2006/relationships/slide" Target="slides/slide10.xml"/><Relationship Id="rId77" Type="http://schemas.openxmlformats.org/officeDocument/2006/relationships/slide" Target="slides/slide11.xml"/><Relationship Id="rId78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Finanzas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>
                <a:solidFill>
                  <a:srgbClr val="000000"/>
                </a:solidFill>
              </a:rPr>
              <a:t>1. Macroestructura Oxxo MX</a:t>
            </a:r>
          </a:p>
          <a:p>
            <a:r>
              <a:rPr sz="2400">
                <a:solidFill>
                  <a:srgbClr val="000000"/>
                </a:solidFill>
              </a:rPr>
              <a:t>2. Mapa Interacciones Finanzas</a:t>
            </a:r>
          </a:p>
          <a:p>
            <a:r>
              <a:rPr sz="2400">
                <a:solidFill>
                  <a:srgbClr val="000000"/>
                </a:solidFill>
              </a:rPr>
              <a:t>3. Estructura Organizacional Finanzas</a:t>
            </a:r>
          </a:p>
          <a:p>
            <a:r>
              <a:rPr sz="2400">
                <a:solidFill>
                  <a:srgbClr val="000000"/>
                </a:solidFill>
              </a:rPr>
              <a:t>4. Matriz RASCI (Metodología)</a:t>
            </a:r>
          </a:p>
          <a:p>
            <a:r>
              <a:rPr sz="2400">
                <a:solidFill>
                  <a:srgbClr val="000000"/>
                </a:solidFill>
              </a:rPr>
              <a:t>5. Detalle de la Matriz RASCI por Responsabilidad</a:t>
            </a:r>
          </a:p>
          <a:p>
            <a:r>
              <a:rPr sz="2400">
                <a:solidFill>
                  <a:srgbClr val="000000"/>
                </a:solidFill>
              </a:rPr>
              <a:t>6. Estructura Organizacional PF&amp;A y Commercial Finance</a:t>
            </a:r>
          </a:p>
          <a:p>
            <a:r>
              <a:rPr sz="2400">
                <a:solidFill>
                  <a:srgbClr val="000000"/>
                </a:solidFill>
              </a:rPr>
              <a:t>7. Estructura Organizacional Fiscal y Contraloría</a:t>
            </a:r>
          </a:p>
          <a:p>
            <a:r>
              <a:rPr sz="2400">
                <a:solidFill>
                  <a:srgbClr val="000000"/>
                </a:solidFill>
              </a:rPr>
              <a:t>8. Estructura Organizacional Servicios Compartidos Administrativo</a:t>
            </a:r>
          </a:p>
          <a:p>
            <a:r>
              <a:rPr sz="2400">
                <a:solidFill>
                  <a:srgbClr val="000000"/>
                </a:solidFill>
              </a:rPr>
              <a:t>9. Estructura Organizacional Legal y Regulatorio</a:t>
            </a:r>
          </a:p>
          <a:p>
            <a:r>
              <a:rPr sz="2400">
                <a:solidFill>
                  <a:srgbClr val="000000"/>
                </a:solidFill>
              </a:rPr>
              <a:t>10. Estructura Organizacional Asuntos Corporativos</a:t>
            </a:r>
          </a:p>
          <a:p>
            <a:r>
              <a:rPr sz="2400">
                <a:solidFill>
                  <a:srgbClr val="000000"/>
                </a:solidFill>
              </a:rPr>
              <a:t>11. Estructura Organizacional Administrativo Nacional OXXO</a:t>
            </a:r>
          </a:p>
          <a:p>
            <a:r>
              <a:rPr sz="2400">
                <a:solidFill>
                  <a:srgbClr val="000000"/>
                </a:solidFill>
              </a:rPr>
              <a:t>12. Estructura Organizacional Administrativo CdS</a:t>
            </a:r>
          </a:p>
          <a:p>
            <a:r>
              <a:rPr sz="2400">
                <a:solidFill>
                  <a:srgbClr val="000000"/>
                </a:solidFill>
              </a:rPr>
              <a:t>13.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>
                <a:solidFill>
                  <a:srgbClr val="000000"/>
                </a:solidFill>
              </a:rPr>
              <a:t>Propósito Finanzas</a:t>
            </a:r>
          </a:p>
          <a:p>
            <a:r>
              <a:t/>
            </a:r>
          </a:p>
          <a:p>
            <a:r>
              <a:t>Contribuir a la generación de valor y rentabilidad del negocio mediante la integración de capacidades financieras, fiscales, legales, administrativas y de control, asegurando información confiable y oportuna para la toma de decisiones, una gestión eficiente de procesos transaccionales y una postura sólida de cumplimiento, gobierno y riesgo que habilite el crecimiento sostenible de OXXO México.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Finanzas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BF50A-417F-3118-06C5-7663BA607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10442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>
                <a:solidFill>
                  <a:srgbClr val="CC0000"/>
                </a:solidFill>
              </a:rPr>
              <a:t>Finanzas 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0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PF&amp;A y Commercial Finance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Copiloto financiero del negocio, habilitando decisiones basadas en datos.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planeación financiera, presupuesto anual y previsiones continuas.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Analiza rendimiento real vs. planificado e impulsa mejoras.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Maximiza rentabilidad y brinda soporte a iniciativas estratégicas.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Fiscal y Contraloría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y dirige la estrategia fiscal y cumplimiento normativo.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auditorías, requerimientos de autoridades y control interno.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sistemas de verificación y prevención de lavado de dinero.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alineación de políticas a IFRS y normas corporativas.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6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Servicios Compartidos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operación centralizada de P2P, O2C y R2R.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modelos de servicios centrales y esquemas de gestión.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cierres contables precisos y oportunos.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Adopta mejores prácticas de servicios centralizados.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4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Legal y Regulatorio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cumplimiento, litigios y gobernanza contractual.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formatos de contratos y opiniones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Revisa contratos de expansión y capacita en riesgos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Genera opiniones para dar factibilidad a proyectos comerciales.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Asuntos Corporativos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estrategia de relacionamiento externo y manejo de crisis.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Mantiene contacto con actores externos e identifica riesgos regulatorios.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la estrategia de comunicación y posicionamiento en medios.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proyectos con consultores en políticas públicas.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0666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Adm. Nacional OXXO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procesos administrativos, financieros y de control en plazas.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el proceso de inventarios en tiendas mediante tecnología.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Evalúa y aprueba inversiones en tiendas nuevas y remodeladas.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el plan anual de normatividad basado en criticidad y riesgos.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1332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Nac. Adm. CdS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Impulsa el buen desempeño de la cadena de suministro y distribución.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KPIs y herramientas de gestión en CEDIS.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el capital de trabajo en conjunto con Comercial y Abasto.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estabilidad normativa y control en la red de CdS.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Fiscal y Contraloría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Fiscal y Contraloría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Normatividad y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el plan anual de normatividad y control interno.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ejecución de revisiones de control interno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resultados del sistema de control interno.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Homologar criterios y políticas contables alineados con FEMSA e IFRS.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Control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Fiscal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cumplimiento de las obligaciones fiscales en materia de impuestos federales, estatales y locales.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las herramientas de documentación y respaldo de los procesos fiscales.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Auditorías Fiscales la preparación de información para revisiones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los cambios en la legislación fiscal y su aplicación en la operación.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Gestión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Riesgos 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la metodología de prevención de lavado de dinero y financiamiento al terrorismo.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Desarrollar y mantener los modelos de detección y reducción de fraude monetario.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implementación del sistema integrado de gestión de riesgos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exposición al riesgo y efectividad de los controles de prevención.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Sr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Contraloría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Supervisar la emisión de información financiera confiable y oportuna bajo normas IFRS.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representación del negocio ante auditoría interna y externa.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monitorear el sistema de control interno orientado a la integridad de reportes financieros.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consolidación financiera de OXXO México.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Auditorías Fiscales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atención y seguimiento a requerimientos de autoridades fiscales.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seguimiento a las auditorías externas e internas en materia fiscal.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cumplimiento de las obligaciones fiscales de OXXO México.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recuperación de saldos de impuestos a favor.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Servicios Compartidos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Servicios Compartidos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Administrativo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Coordinador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Información y Gestión CSF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consolidación y reporte de los indicadores de desempeño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Dar seguimiento al cumplimiento de los acuerdos de nivel de servicio con los clientes internos.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los rituales de gestión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Apoyar la gestión de la relación con los clientes internos del Centro de Servicios.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Order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Order to Cash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gestión de la cartera de cuentas por cobrar.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O2C.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indicadores de desempeño del proceso O2C.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Purchase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Pay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Purchase to Pay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optimización de los flujos de aprobación, condiciones de pago y gestión de caja.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P2P.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 relación operativa con proveedores en el ámbito del proceso P2P.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Record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Record to Report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proceso de cierre contable mensual y anual.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R2R.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Contraloría la alineación de criterios contables y el proceso de auditoría.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Gobierno Datos y Cond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estándares de gobierno de datos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mantenimiento y actualización de los catálogos y condiciones comerciales.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Identificar y reportar desviaciones en la calidad de datos que impacten los procesos transaccionales.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usuarias la resolución de inconsistencias en datos y condiciones.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Legal y Regulatorio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Legal y Regulatorio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Cumplimiento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el programa de cumplimiento legal y regulatorio de OXXO México.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del cumplimiento de las obligaciones legales y regulatorias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indicadores de desempeño del programa de cumplimiento.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del negocio la implementación de acciones correctivas derivadas de hallazgos.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Legal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la revisión y análisis legal de contratos y acuerdos comerciales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las contingencias y litigios legales del área comercial.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actualizar los formatos de contratos comerciales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Asesorar al área comercial en procesos legales, negociaciones y contingencias.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Legal CdS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la revisión y análisis legal de contratos y acuerdos de la Cadena de Suministro.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las contingencias y litigios legales de la Cadena de Suministro.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el área de Gestoría la atención de trámites legales y regulatorios de CEDIS y Distribución.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Asesorar al área de Cadena de Suministro en procesos legales, negociaciones y contingencias.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Sr Legal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Operaciones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análisis y atención de los requerimientos legales de la operación de tiendas y plazas.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los litigios y procesos legales operativos de OXXO a nivel nacional.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revisar los documentos legales requeridos por la operación de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los Gerentes de Plaza y Región la atención de contingencias legales operativas.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Legal (i78)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análisis y atención de los requerimientos legales de la plataforma i78.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revisar los documentos legales requeridos por la operación de i78.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operativas de i78 la atención de contingencias legales.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Dar seguimiento a los litigios y procesos legales activos de la plataforma i78.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Asuntos Corporativos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Asuntos Corporativos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Analista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Comunicación Externa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contenidos y materiales de comunicación externa para medios y audiencias clave.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 medios de comunicación y redes sociales.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monitoreo de medios y análisis de cobertura.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Apoyar la implementación de la estrategia de comunicación proactiva y reactiva del área.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Coordinador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Asuntos Corporativos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riesgo e informes políticos basados en tendencias regulatorias del entorno.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sistemático del entorno político, económico y social.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la agenda de riesgos del entorno para la toma de decisiones.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gestión de proyectos con consultores especializados en políticas públicas.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Atención Autoridades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y dar seguimiento a los requerimientos de autoridades gubernamentales hacia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las respuestas y documentación requerida ante requerimientos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operativas y de soporte la atención de requerimientos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Monitorear y reportar el estatus de los requerimientos de autoridades en curso.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Relaciones Gobierno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planes de relacionamiento con autoridades gubernamentales en la región o ámbito asignado.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Monitorear el entorno político-regulatorio local y reportar tendencias relevantes para el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Participar en organismos empresariales y foros de influencia en representación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proyectos de cabildeo e incidencia en política pública en el ámbito asignado.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Relaciones Gobierno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implementación de la estrategia de relacionamiento con autoridades gubernamentales.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dar seguimiento a los planes de relacionamiento con autoridades y actores clave.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del entorno regulatorio y político relevante para el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proyectos de cabildeo y relacionamiento institucional con consultores especializados.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OXXO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Director Nacional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Admvo OXXO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Admvo Neg Dllo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los procesos administrativos y financieros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generación y entrega de información financiera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el seguimiento presupuestal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controles de normatividad y control interno aplicables a los negocios en desarrollo.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 BP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Finanzas Plataformas Expansión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los modelos de evaluación financiera de proyectos de expansión.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seguimiento presupuestal de los proyectos de expansión en curso.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reportes financieros periódicos de la cartera de expansión.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los controles administrativos y financieros definidos para los procesos de expansión.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Gestión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Control Zona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plan de normatividad y control interno en las plazas de la zona asignada.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 los procedimientos contables y administrativos en tiendas de la zona.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y reportar los indicadores de gestión y control de la zona.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los Gerentes de Plaza y Región la implementación de acciones correctivas.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Gestión y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procesos de control administrativo y financiero en las plazas asignadas.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y consolidar los reportes de gestión e indicadores operativos de las plazas.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ejecución de revisiones de control interno en plazas y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 las herramientas de gestión y KPIs en las plazas.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Traslado de Valores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operación del modelo de traslado y resguardo de valores en las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al modelo I-Cash y su caso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relación con los proveedores de servicios de traslado de valores.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desempeño y costos del modelo de traslado de valores.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CdS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Nac. Administrativo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Centros de Suministro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730100" y="1653650"/>
            <a:ext cx="87318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7237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343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449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555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48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Admin Control CEDIS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8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y mantener los procedimientos contables y administrativos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el plan anual de normatividad y control interno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generación de información financiera y operativa de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Elaborar y dar seguimiento a los indicadores de productividad de CEDIS.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54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Área Admin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Finanzas Dist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54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y mantener los procedimientos contables y administrativos en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generación de información financiera de rentabilidad en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Elaborar y dar seguimiento a los indicadores de productividad de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el plan de normatividad y control interno en Distribución.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0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Responsable Gestión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Control CEDIS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0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los procesos de control administrativo en las unidades de CEDIS asignadas.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Generar y consolidar los reportes de gestión e indicadores de productividad de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ejecución de revisiones de control interno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los mecanismos de seguimiento al capital de trabajo en CEDIS.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66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Gestoría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66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y dar seguimiento a los trámites y gestiones administrativas de CEDIS y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gestión documental y archivo de expedientes normativos y regulatorios.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Identificar y reportar vencimientos y renovaciones de permisos operativos de CEDIS y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con el área Legal los requerimientos de gestoría que impliquen procesos jurídicos.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Gestionar presupuesto anual y escenarios de desempeño</a:t>
            </a:r>
          </a:p>
          <a:p>
            <a:r>
              <a:rPr sz="1000" b="0">
                <a:solidFill>
                  <a:srgbClr val="404040"/>
                </a:solidFill>
              </a:rPr>
              <a:t>Gestiona el presupuesto anual, planeación financiera y elaboración de escenarios para mejorar el desempeño.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Gestionar presupuesto anual y escenarios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confiabilidad de info. para accionistas</a:t>
            </a:r>
          </a:p>
          <a:p>
            <a:r>
              <a:rPr sz="1000" b="0">
                <a:solidFill>
                  <a:srgbClr val="404040"/>
                </a:solidFill>
              </a:rPr>
              <a:t>Garantiza confiabilidad de información para reportes ejecutivos y conecta estrategias con valor para accionistas.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confiabilidad de info. para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Soporte financiero a iniciativas comerciales y Capex</a:t>
            </a:r>
          </a:p>
          <a:p>
            <a:r>
              <a:rPr sz="1000" b="0">
                <a:solidFill>
                  <a:srgbClr val="404040"/>
                </a:solidFill>
              </a:rPr>
              <a:t>Brinda soporte financiero a iniciativas comerciales, capex y proyectos estratégicos junto a VMO.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Soporte financiero a iniciativas comerci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Implementar controles internos y políticas contables</a:t>
            </a:r>
          </a:p>
          <a:p>
            <a:r>
              <a:rPr sz="1000" b="0">
                <a:solidFill>
                  <a:srgbClr val="404040"/>
                </a:solidFill>
              </a:rPr>
              <a:t>Implementa controles internos, políticas contables y asegura el cumplimiento fiscal y regulatorio.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Implementar controles internos y polític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eficiente de ciclos P2P / O2C / R2R</a:t>
            </a:r>
          </a:p>
          <a:p>
            <a:r>
              <a:rPr sz="1000" b="0">
                <a:solidFill>
                  <a:srgbClr val="404040"/>
                </a:solidFill>
              </a:rPr>
              <a:t>Asegura la ejecución eficiente de los ciclos de pago a proveedores, cobranza y cierres contables.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eficiente de ciclos P2P / O2C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Aporta perspectiva experta como área consultada, contribuyendo con información y criterio antes de las decisiones clave.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Integridad de datos financieros y gobernanza ERP</a:t>
            </a:r>
          </a:p>
          <a:p>
            <a:r>
              <a:rPr sz="1000" b="0">
                <a:solidFill>
                  <a:srgbClr val="404040"/>
                </a:solidFill>
              </a:rPr>
              <a:t>Asegura la integridad de datos financieros y gobernanza del ERP para la automatización de procesos.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Integridad de datos financieros y gobern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Planificación financiera integral y forecasting</a:t>
            </a:r>
          </a:p>
          <a:p>
            <a:r>
              <a:rPr sz="1000" b="0">
                <a:solidFill>
                  <a:srgbClr val="404040"/>
                </a:solidFill>
              </a:rPr>
              <a:t>Gestiona el proceso integral de planificación financiera y previsiones continuas (forecasting).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Planificación financiera integral y 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Supervisar rendimiento real vs. planificado (variaciones)</a:t>
            </a:r>
          </a:p>
          <a:p>
            <a:r>
              <a:rPr sz="1000" b="0">
                <a:solidFill>
                  <a:srgbClr val="404040"/>
                </a:solidFill>
              </a:rPr>
              <a:t>Supervisa el rendimiento real vs. planificado y lidera conversaciones sobre variaciones financieras.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Supervisar rendimiento real vs. planific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Modelos de escenarios y análisis de inversiones</a:t>
            </a:r>
          </a:p>
          <a:p>
            <a:r>
              <a:rPr sz="1000" b="0">
                <a:solidFill>
                  <a:srgbClr val="404040"/>
                </a:solidFill>
              </a:rPr>
              <a:t>Actúa como asesor financiero proporcionando modelos de escenarios y análisis de inversiones.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Modelos de escenarios y análisis de inve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Maximizar rentabilidad de categorías (Comm. Finance)</a:t>
            </a:r>
          </a:p>
          <a:p>
            <a:r>
              <a:rPr sz="1000" b="0">
                <a:solidFill>
                  <a:srgbClr val="404040"/>
                </a:solidFill>
              </a:rPr>
              <a:t>Facilita decisiones comerciales basadas en datos para maximizar la rentabilidad de categorías.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Maximizar rentabilidad de categorías (Co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Asegurar comprensión del impacto financiero en líderes</a:t>
            </a:r>
          </a:p>
          <a:p>
            <a:r>
              <a:rPr sz="1000" b="0">
                <a:solidFill>
                  <a:srgbClr val="404040"/>
                </a:solidFill>
              </a:rPr>
              <a:t>Asegura que líderes no financieros comprendan el impacto financiero de sus decisiones.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Asegurar comprensión del impacto financi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Optimizar carga tributaria y cumplimiento federal/local</a:t>
            </a:r>
          </a:p>
          <a:p>
            <a:r>
              <a:rPr sz="1000" b="0">
                <a:solidFill>
                  <a:srgbClr val="404040"/>
                </a:solidFill>
              </a:rPr>
              <a:t>Planea y dirige estrategias para optimizar la carga tributaria y asegura cumplimiento de leyes federales/locales.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Optimizar carga tributaria y cumplimient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requerimientos de autoridades y auditorías</a:t>
            </a:r>
          </a:p>
          <a:p>
            <a:r>
              <a:rPr sz="1000" b="0">
                <a:solidFill>
                  <a:srgbClr val="404040"/>
                </a:solidFill>
              </a:rPr>
              <a:t>Gestiona requerimientos de información de autoridades fiscales y auditorías externas/internas.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requerimientos de autoridades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sistemas de verificación de control interno</a:t>
            </a:r>
          </a:p>
          <a:p>
            <a:r>
              <a:rPr sz="1000" b="0">
                <a:solidFill>
                  <a:srgbClr val="404040"/>
                </a:solidFill>
              </a:rPr>
              <a:t>Salvaguarda la cultura de control interno diseñando sistemas de verificación y evaluación.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sistemas de verificación de 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Alineación de políticas a IFRS y corporativas</a:t>
            </a:r>
          </a:p>
          <a:p>
            <a:r>
              <a:rPr sz="1000" b="0">
                <a:solidFill>
                  <a:srgbClr val="404040"/>
                </a:solidFill>
              </a:rPr>
              <a:t>Garantiza que las políticas contables estén alineadas a IFRS y normas corporativas.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Alineación de políticas a IFRS y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PLD y modelos de datos contra fraude</a:t>
            </a:r>
          </a:p>
          <a:p>
            <a:r>
              <a:rPr sz="1000" b="0">
                <a:solidFill>
                  <a:srgbClr val="404040"/>
                </a:solidFill>
              </a:rPr>
              <a:t>Controla el sistema de prevención de lavado de dinero y modelos de ciencia de datos contra fraude.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PLD y modelos de datos contra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Mapeo de procesos para estandarización</a:t>
            </a:r>
          </a:p>
          <a:p>
            <a:r>
              <a:rPr sz="1000" b="0">
                <a:solidFill>
                  <a:srgbClr val="404040"/>
                </a:solidFill>
              </a:rPr>
              <a:t>Asegura el mapeo de procesos financieros para establecer bases de estandarización y automatización.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Mapeo de procesos para estandarización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Infraestructura de datos para transformación digital</a:t>
            </a:r>
          </a:p>
          <a:p>
            <a:r>
              <a:rPr sz="1000" b="0">
                <a:solidFill>
                  <a:srgbClr val="404040"/>
                </a:solidFill>
              </a:rPr>
              <a:t>Asegura que Finanzas cuente con tecnología e infraestructura de datos para la transformación digital.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Infraestructura de datos para transforma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e implementación de centralización de procesos</a:t>
            </a:r>
          </a:p>
          <a:p>
            <a:r>
              <a:rPr sz="1000" b="0">
                <a:solidFill>
                  <a:srgbClr val="404040"/>
                </a:solidFill>
              </a:rPr>
              <a:t>Diseña e implementa la centralización de procesos para mejorar eficiencia y reducir costos.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e implementación de centralizació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soluciones de automatización (sin manuales)</a:t>
            </a:r>
          </a:p>
          <a:p>
            <a:r>
              <a:rPr sz="1000" b="0">
                <a:solidFill>
                  <a:srgbClr val="404040"/>
                </a:solidFill>
              </a:rPr>
              <a:t>Lidera el diseño de soluciones de automatización para eliminar el trabajo manual.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soluciones de automatización (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proyectos de transformación y sistemas</a:t>
            </a:r>
          </a:p>
          <a:p>
            <a:r>
              <a:rPr sz="1000" b="0">
                <a:solidFill>
                  <a:srgbClr val="404040"/>
                </a:solidFill>
              </a:rPr>
              <a:t>Planifica y coordina la ejecución de proyectos de transformación financiera y sistemas.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proyectos de transformación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Definir modelos de servicios centrales y gestión</a:t>
            </a:r>
          </a:p>
          <a:p>
            <a:r>
              <a:rPr sz="1000" b="0">
                <a:solidFill>
                  <a:srgbClr val="404040"/>
                </a:solidFill>
              </a:rPr>
              <a:t>Define modelos de servicios centrales y esquemas de gestión hacia stakeholders y clientes internos.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Definir modelos de servicios centrales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Liderar operación de contabilidad, tesorería y pagos</a:t>
            </a:r>
          </a:p>
          <a:p>
            <a:r>
              <a:rPr sz="1000" b="0">
                <a:solidFill>
                  <a:srgbClr val="404040"/>
                </a:solidFill>
              </a:rPr>
              <a:t>Lidera la operación de servicios centrales (contabilidad, tesorería, cuentas por pagar/cobrar).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Liderar operación de contabilidad, tesor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facturación, cobranza y flujo de efectivo</a:t>
            </a:r>
          </a:p>
          <a:p>
            <a:r>
              <a:rPr sz="1000" b="0">
                <a:solidFill>
                  <a:srgbClr val="404040"/>
                </a:solidFill>
              </a:rPr>
              <a:t>Asegura la correcta ejecución de pagos, facturación, cobranza y gestión de flujo de efectivo.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facturación, cobranza y flu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cierres contables precisos (R2R)</a:t>
            </a:r>
          </a:p>
          <a:p>
            <a:r>
              <a:rPr sz="1000" b="0">
                <a:solidFill>
                  <a:srgbClr val="404040"/>
                </a:solidFill>
              </a:rPr>
              <a:t>Garantiza cierres contables precisos y oportunos conforme a normas.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cierres contables precisos (R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Adopción de mejores prácticas en servicios centralizados</a:t>
            </a:r>
          </a:p>
          <a:p>
            <a:r>
              <a:rPr sz="1000" b="0">
                <a:solidFill>
                  <a:srgbClr val="404040"/>
                </a:solidFill>
              </a:rPr>
              <a:t>Investiga y adopta mejores prácticas de la industria de servicios centralizados para generar valor.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Adopción de mejores prácticas en servici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Cumplimiento, litigios y gobernanza contractual</a:t>
            </a:r>
          </a:p>
          <a:p>
            <a:r>
              <a:rPr sz="1000" b="0">
                <a:solidFill>
                  <a:srgbClr val="404040"/>
                </a:solidFill>
              </a:rPr>
              <a:t>Gestiona el cumplimiento, litigios y gobernanza contractual para salvaguardar la operación.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Cumplimiento, litigios y gobernanza cont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formatos de contratos y opiniones legales</a:t>
            </a:r>
          </a:p>
          <a:p>
            <a:r>
              <a:rPr sz="1000" b="0">
                <a:solidFill>
                  <a:srgbClr val="404040"/>
                </a:solidFill>
              </a:rPr>
              <a:t>Diseña y desarrolla formatos de contratos y opiniones legales para las unidades de negocio.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formatos de contratos y opinio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Revisión de contratos expansión y riesgos inmobiliarios</a:t>
            </a:r>
          </a:p>
          <a:p>
            <a:r>
              <a:rPr sz="1000" b="0">
                <a:solidFill>
                  <a:srgbClr val="404040"/>
                </a:solidFill>
              </a:rPr>
              <a:t>Asegura la revisión de contratos de expansión y capacita al equipo en riesgos legales inmobiliarios.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Revisión de contratos expansión y riesgo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Relación con autoridades para viabilizar operaciones</a:t>
            </a:r>
          </a:p>
          <a:p>
            <a:r>
              <a:rPr sz="1000" b="0">
                <a:solidFill>
                  <a:srgbClr val="404040"/>
                </a:solidFill>
              </a:rPr>
              <a:t>Sostiene reuniones con autoridades nacionales para viabilizar operaciones y proyectos.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Relación con autoridades para viabilizar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Aprueba y supervisa esta responsabilidad, siendo responsable final ante la organización por sus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Factibilidad legal a proyectos y negociaciones</a:t>
            </a:r>
          </a:p>
          <a:p>
            <a:r>
              <a:rPr sz="1000" b="0">
                <a:solidFill>
                  <a:srgbClr val="404040"/>
                </a:solidFill>
              </a:rPr>
              <a:t>Genera opiniones legales para dar factibilidad a proyectos comerciales y negociaciones.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Factibilidad legal a proyectos y negocia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Estrategias de comunicación y manejo de crisis</a:t>
            </a:r>
          </a:p>
          <a:p>
            <a:r>
              <a:rPr sz="1000" b="0">
                <a:solidFill>
                  <a:srgbClr val="404040"/>
                </a:solidFill>
              </a:rPr>
              <a:t>Define estrategias de asuntos públicos, comunicación y manejo de crisis.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Estrategias de comunicación y manejo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Contacto externo para riesgos regulatorios y políticos</a:t>
            </a:r>
          </a:p>
          <a:p>
            <a:r>
              <a:rPr sz="1000" b="0">
                <a:solidFill>
                  <a:srgbClr val="404040"/>
                </a:solidFill>
              </a:rPr>
              <a:t>Mantiene contacto con actores externos para identificar riesgos regulatorios y políticos.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Contacto externo para riesgos regulatori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Informes directivos sobre tendencias de inversión</a:t>
            </a:r>
          </a:p>
          <a:p>
            <a:r>
              <a:rPr sz="1000" b="0">
                <a:solidFill>
                  <a:srgbClr val="404040"/>
                </a:solidFill>
              </a:rPr>
              <a:t>Elabora informes para el equipo directivo sobre tendencias que afecten inversiones futuras.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Informes directivos sobre tendencias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 de reputación y posicionamiento en medios</a:t>
            </a:r>
          </a:p>
          <a:p>
            <a:r>
              <a:rPr sz="1000" b="0">
                <a:solidFill>
                  <a:srgbClr val="404040"/>
                </a:solidFill>
              </a:rPr>
              <a:t>Define la estrategia de comunicación y posicionamiento ante medios para mejorar la reputación.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 de reputación y posicionamien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consultores en políticas públicas</a:t>
            </a:r>
          </a:p>
          <a:p>
            <a:r>
              <a:rPr sz="1000" b="0">
                <a:solidFill>
                  <a:srgbClr val="404040"/>
                </a:solidFill>
              </a:rPr>
              <a:t>Gestiona proyectos especializados en políticas públicas o impacto social.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consultores en políticas públ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Aplicación de procesos administrativos en Plazas</a:t>
            </a:r>
          </a:p>
          <a:p>
            <a:r>
              <a:rPr sz="1000" b="0">
                <a:solidFill>
                  <a:srgbClr val="404040"/>
                </a:solidFill>
              </a:rPr>
              <a:t>Asegura la aplicación de procedimientos contables y administrativos en todas las Plazas.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Aplicación de procesos administrativos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inventarios en tiendas vía tecnología</a:t>
            </a:r>
          </a:p>
          <a:p>
            <a:r>
              <a:rPr sz="1000" b="0">
                <a:solidFill>
                  <a:srgbClr val="404040"/>
                </a:solidFill>
              </a:rPr>
              <a:t>Garantiza el proceso de inventarios en tiendas mediante estrategias de control y tecnología.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inventarios en tiendas vía 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Entrega veraz de información financiera de unidades</a:t>
            </a:r>
          </a:p>
          <a:p>
            <a:r>
              <a:rPr sz="1000" b="0">
                <a:solidFill>
                  <a:srgbClr val="404040"/>
                </a:solidFill>
              </a:rPr>
              <a:t>Asegura la entrega veraz de información financiera de las unidades operativas.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Entrega veraz de información financiera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Aprueba y supervisa esta responsabilidad, siendo responsable final ante la organización por sus resultados.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Evaluación y aprobación de inversiones en tiendas</a:t>
            </a:r>
          </a:p>
          <a:p>
            <a:r>
              <a:rPr sz="1000" b="0">
                <a:solidFill>
                  <a:srgbClr val="404040"/>
                </a:solidFill>
              </a:rPr>
              <a:t>Evalúa y aprueba decisiones de inversión en tiendas nuevas y remodeladas.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Evaluación y aprobación de inversiones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 anual de normatividad basado en riesgos</a:t>
            </a:r>
          </a:p>
          <a:p>
            <a:r>
              <a:rPr sz="1000" b="0">
                <a:solidFill>
                  <a:srgbClr val="404040"/>
                </a:solidFill>
              </a:rPr>
              <a:t>Define el plan anual de normatividad basado en criticidad y riesgos operativos.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 anual de normatividad basado en 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estrategia logística para optimizar gasto</a:t>
            </a:r>
          </a:p>
          <a:p>
            <a:r>
              <a:rPr sz="1000" b="0">
                <a:solidFill>
                  <a:srgbClr val="404040"/>
                </a:solidFill>
              </a:rPr>
              <a:t>Colabora en el diseño de la estrategia logística para optimizar el gasto y captar ingresos.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estrategia logística para opti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Decisiones de inversión para "gasto logístico cero"</a:t>
            </a:r>
          </a:p>
          <a:p>
            <a:r>
              <a:rPr sz="1000" b="0">
                <a:solidFill>
                  <a:srgbClr val="404040"/>
                </a:solidFill>
              </a:rPr>
              <a:t>Impulsa decisiones de inversión y productividad para lograr un "gasto logístico cero".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Decisiones de inversión para "gasto logí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capital de trabajo (Comercial/Abasto)</a:t>
            </a:r>
          </a:p>
          <a:p>
            <a:r>
              <a:rPr sz="1000" b="0">
                <a:solidFill>
                  <a:srgbClr val="404040"/>
                </a:solidFill>
              </a:rPr>
              <a:t>Implementa el sistema de gestión de capital de trabajo junto a Comercial y Abasto.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capital de trabajo (Comercial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KPIs y herramientas de gestión en CEDIS</a:t>
            </a:r>
          </a:p>
          <a:p>
            <a:r>
              <a:rPr sz="1000" b="0">
                <a:solidFill>
                  <a:srgbClr val="404040"/>
                </a:solidFill>
              </a:rPr>
              <a:t>Diseña indicadores (KPIs) y herramientas de gestión para la toma de decisiones en CEDIS.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KPIs y herramientas de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Estabilidad normativa y control en Cadena Suministro</a:t>
            </a:r>
          </a:p>
          <a:p>
            <a:r>
              <a:rPr sz="1000" b="0">
                <a:solidFill>
                  <a:srgbClr val="404040"/>
                </a:solidFill>
              </a:rPr>
              <a:t>Asegura la estabilidad normativa y de control interno en toda la red de la Cadena de Suministro.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Estabilidad normativa y control en Caden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PF&amp;A y Commercial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PF&amp;A y Commercial Finance:</a:t>
            </a:r>
          </a:p>
          <a:p>
            <a:r>
              <a:rPr sz="1200" b="0">
                <a:solidFill>
                  <a:srgbClr val="262626"/>
                </a:solidFill>
              </a:rPr>
              <a:t>  • Gerente BP Finanzas Plataformas RH, TI</a:t>
            </a:r>
          </a:p>
          <a:p>
            <a:r>
              <a:rPr sz="1200" b="0">
                <a:solidFill>
                  <a:srgbClr val="262626"/>
                </a:solidFill>
              </a:rPr>
              <a:t>  • Gerente Commercial Finance</a:t>
            </a:r>
          </a:p>
          <a:p>
            <a:r>
              <a:rPr sz="1200" b="0">
                <a:solidFill>
                  <a:srgbClr val="262626"/>
                </a:solidFill>
              </a:rPr>
              <a:t>  • Gerente Planeación Financiera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Fiscal y Contraloría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Fiscal y Contraloría: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Auditorías Fiscales</a:t>
            </a:r>
          </a:p>
          <a:p>
            <a:r>
              <a:rPr sz="1200" b="0">
                <a:solidFill>
                  <a:srgbClr val="262626"/>
                </a:solidFill>
              </a:rPr>
              <a:t>  • Gerente Control Fiscal</a:t>
            </a:r>
          </a:p>
          <a:p>
            <a:r>
              <a:rPr sz="1200" b="0">
                <a:solidFill>
                  <a:srgbClr val="262626"/>
                </a:solidFill>
              </a:rPr>
              <a:t>  • Gerente Sr Contraloría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Normatividad y Control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Riesgos SI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Servicios Compartidos Administrativo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Servicios Compartidos Administrativo:</a:t>
            </a:r>
          </a:p>
          <a:p>
            <a:r>
              <a:rPr sz="1200" b="0">
                <a:solidFill>
                  <a:srgbClr val="262626"/>
                </a:solidFill>
              </a:rPr>
              <a:t>  • Gerente Purchase to Pay</a:t>
            </a:r>
          </a:p>
          <a:p>
            <a:r>
              <a:rPr sz="1200" b="0">
                <a:solidFill>
                  <a:srgbClr val="262626"/>
                </a:solidFill>
              </a:rPr>
              <a:t>  • Gerente Record to Report</a:t>
            </a:r>
          </a:p>
          <a:p>
            <a:r>
              <a:rPr sz="1200" b="0">
                <a:solidFill>
                  <a:srgbClr val="262626"/>
                </a:solidFill>
              </a:rPr>
              <a:t>  • Gerente Order to Cash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Gobierno Datos y Cond.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Información y Gestión CSF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Legal y Regulatorio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Legal y Regulatorio:</a:t>
            </a:r>
          </a:p>
          <a:p>
            <a:r>
              <a:rPr sz="1200" b="0">
                <a:solidFill>
                  <a:srgbClr val="262626"/>
                </a:solidFill>
              </a:rPr>
              <a:t>  • Gerente Sr Legal Operaciones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Legal Comercial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Cumplimiento</a:t>
            </a:r>
          </a:p>
          <a:p>
            <a:r>
              <a:rPr sz="1200" b="0">
                <a:solidFill>
                  <a:srgbClr val="262626"/>
                </a:solidFill>
              </a:rPr>
              <a:t>  • Gerente Legal CdS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Legal (i78)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Asuntos Corporativos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Asuntos Corporativos: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Atención Autoridades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Gerente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Asuntos Corporativos</a:t>
            </a:r>
          </a:p>
          <a:p>
            <a:r>
              <a:rPr sz="1200" b="0">
                <a:solidFill>
                  <a:srgbClr val="262626"/>
                </a:solidFill>
              </a:rPr>
              <a:t>  • Analista Comunicación Externa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Nacional OXXO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Nacional OXXO: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Admvo Neg Dllo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BP Finanzas Plataformas Expansión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Control Zona (x4)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Traslado de Valores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CdS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CdS: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y Finanzas Dist.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Gestoría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Anexos
Descripciones de 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3964"/>
                </a:solidFill>
              </a:rPr>
              <a:t>• Director Administración y Finanzas:</a:t>
            </a:r>
          </a:p>
          <a:p>
            <a:r>
              <a:rPr sz="900" b="0">
                <a:solidFill>
                  <a:srgbClr val="262626"/>
                </a:solidFill>
              </a:rPr>
              <a:t>  ○ Director PF&amp;A y Commercial Finance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BP Finanzas Plataformas RH, TI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Commercial Finance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Planeación Financiera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Fiscal y Contraloría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Contraloría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Control Fiscal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Normatividad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Riesgos SI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Auditorías Fiscales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Servicios Compartidos Administrativo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Purchase to Pay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Record to Report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Order to Cash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Gobierno Datos y Cond.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Información y Gestión CSF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Legal OXXO MX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Legal Operaciones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Legal Comercial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Cumplimiento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Legal CdS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Legal (i78)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Asuntos Corporativos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Atención Autoridades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Asuntos Corporativos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Analista Comunicación Externa (FIN L3)</a:t>
            </a:r>
          </a:p>
          <a:p>
            <a:r>
              <a:rPr sz="900" b="0">
                <a:solidFill>
                  <a:srgbClr val="262626"/>
                </a:solidFill>
              </a:rPr>
              <a:t>  ○ Director Administrativo Nacional OXXO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Admvo Neg Dllo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BP Finanzas Plataformas Expansión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Control Zona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Traslado de Valores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Nacional Administrativo CdS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y Finanzas Dist.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Gestoría (FIN L3)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PF&amp;A y Commercial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Planeación Financiera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Análisis &amp; Commercial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15200" y="1653650"/>
            <a:ext cx="77616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2088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704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BP Finanzas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Plataformas RH, 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y dar seguimiento al presupuesto anual y las previsiones de las plataformas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análisis de variaciones del desempeño financiero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información y asesoramiento sobre el impacto financiero de las decisiones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financieros periódicos de las plataformas RH y 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6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Commercial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56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modelamiento de trade-offs económicos para respaldar decisiones comerciales.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Monitorear y analizar el rendimiento del margen bruto, la rentabilidad y sus drivers.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Identificar y reportar riesgos financieros con impacto potencial en la rentabilidad.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de visibilidad unificada de ingresos y márgenes para los socios comerciales.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4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Planeación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Financiera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4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proceso de presupuestación anual y previsiones continuas de las funciones asignadas.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análisis de variaciones del desempeño financiero real versus lo planeado.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Desarrollar modelos financieros para la planeación, análisis de escenarios y pruebas de sensibilidad.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los reportes financieros periódicos para los responsables de función y la dirección.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