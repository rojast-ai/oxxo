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29" r:id="rId63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561" r:id="rId7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3.xml"/><Relationship Id="rId9" Type="http://schemas.openxmlformats.org/officeDocument/2006/relationships/slide" Target="slides/slide26.xml"/><Relationship Id="rId10" Type="http://schemas.openxmlformats.org/officeDocument/2006/relationships/slide" Target="slides/slide25.xml"/><Relationship Id="rId11" Type="http://schemas.openxmlformats.org/officeDocument/2006/relationships/slide" Target="slides/slide24.xml"/><Relationship Id="rId12" Type="http://schemas.openxmlformats.org/officeDocument/2006/relationships/slide" Target="slides/slide23.xml"/><Relationship Id="rId13" Type="http://schemas.openxmlformats.org/officeDocument/2006/relationships/slide" Target="slides/slide22.xml"/><Relationship Id="rId14" Type="http://schemas.openxmlformats.org/officeDocument/2006/relationships/slide" Target="slides/slide21.xml"/><Relationship Id="rId15" Type="http://schemas.openxmlformats.org/officeDocument/2006/relationships/slide" Target="slides/slide20.xml"/><Relationship Id="rId16" Type="http://schemas.openxmlformats.org/officeDocument/2006/relationships/slide" Target="slides/slide19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7.xml"/><Relationship Id="rId73" Type="http://schemas.openxmlformats.org/officeDocument/2006/relationships/slide" Target="slides/slide8.xml"/><Relationship Id="rId74" Type="http://schemas.openxmlformats.org/officeDocument/2006/relationships/slide" Target="slides/slide9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Finanzas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>
                <a:solidFill>
                  <a:srgbClr val="000000"/>
                </a:solidFill>
              </a:rPr>
              <a:t>1. Macroestructura Oxxo MX</a:t>
            </a:r>
          </a:p>
          <a:p>
            <a:r>
              <a:rPr sz="2400">
                <a:solidFill>
                  <a:srgbClr val="000000"/>
                </a:solidFill>
              </a:rPr>
              <a:t>2. Mapa Interacciones Finanzas</a:t>
            </a:r>
          </a:p>
          <a:p>
            <a:r>
              <a:rPr sz="2400">
                <a:solidFill>
                  <a:srgbClr val="000000"/>
                </a:solidFill>
              </a:rPr>
              <a:t>3. Estructura Organizacional Finanzas</a:t>
            </a:r>
          </a:p>
          <a:p>
            <a:r>
              <a:rPr sz="2400">
                <a:solidFill>
                  <a:srgbClr val="000000"/>
                </a:solidFill>
              </a:rPr>
              <a:t>4. Matriz RASCI (Metodología)</a:t>
            </a:r>
          </a:p>
          <a:p>
            <a:r>
              <a:rPr sz="2400">
                <a:solidFill>
                  <a:srgbClr val="000000"/>
                </a:solidFill>
              </a:rPr>
              <a:t>5. Detalle de la Matriz RASCI por Responsabilidad</a:t>
            </a:r>
          </a:p>
          <a:p>
            <a:r>
              <a:rPr sz="2400">
                <a:solidFill>
                  <a:srgbClr val="000000"/>
                </a:solidFill>
              </a:rPr>
              <a:t>6. Estructura Organizacional PF&amp;A y Commercial Finance</a:t>
            </a:r>
          </a:p>
          <a:p>
            <a:r>
              <a:rPr sz="2400">
                <a:solidFill>
                  <a:srgbClr val="000000"/>
                </a:solidFill>
              </a:rPr>
              <a:t>7. Estructura Organizacional Fiscal y Contraloría</a:t>
            </a:r>
          </a:p>
          <a:p>
            <a:r>
              <a:rPr sz="2400">
                <a:solidFill>
                  <a:srgbClr val="000000"/>
                </a:solidFill>
              </a:rPr>
              <a:t>8. Estructura Organizacional Servicios Compartidos Administrativo</a:t>
            </a:r>
          </a:p>
          <a:p>
            <a:r>
              <a:rPr sz="2400">
                <a:solidFill>
                  <a:srgbClr val="000000"/>
                </a:solidFill>
              </a:rPr>
              <a:t>9. Estructura Organizacional Legal y Regulatorio</a:t>
            </a:r>
          </a:p>
          <a:p>
            <a:r>
              <a:rPr sz="2400">
                <a:solidFill>
                  <a:srgbClr val="000000"/>
                </a:solidFill>
              </a:rPr>
              <a:t>10. Estructura Organizacional Asuntos Corporativos</a:t>
            </a:r>
          </a:p>
          <a:p>
            <a:r>
              <a:rPr sz="2400">
                <a:solidFill>
                  <a:srgbClr val="000000"/>
                </a:solidFill>
              </a:rPr>
              <a:t>11. Estructura Organizacional Administrativo Nacional OXXO</a:t>
            </a:r>
          </a:p>
          <a:p>
            <a:r>
              <a:rPr sz="2400">
                <a:solidFill>
                  <a:srgbClr val="000000"/>
                </a:solidFill>
              </a:rPr>
              <a:t>12. Estructura Organizacional Administrativo CdS</a:t>
            </a:r>
          </a:p>
          <a:p>
            <a:r>
              <a:rPr sz="2400">
                <a:solidFill>
                  <a:srgbClr val="000000"/>
                </a:solidFill>
              </a:rPr>
              <a:t>13.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>
                <a:solidFill>
                  <a:srgbClr val="000000"/>
                </a:solidFill>
              </a:rPr>
              <a:t>Propósito Finanzas</a:t>
            </a:r>
          </a:p>
          <a:p>
            <a:r>
              <a:t/>
            </a:r>
          </a:p>
          <a:p>
            <a:r>
              <a:t>Contribuir a la generación de valor y rentabilidad del negocio mediante la integración de capacidades financieras, fiscales, legales, administrativas y de control, asegurando información confiable y oportuna para la toma de decisiones, una gestión eficiente de procesos transaccionales y una postura sólida de cumplimiento, gobierno y riesgo que habilite el crecimiento sostenible de OXXO México.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Finanzas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PF&amp;A y Commercial Finance</a:t>
            </a:r>
          </a:p>
        </p:txBody>
      </p:sp>
      <p:sp>
        <p:nvSpPr>
          <p:cNvPr id="2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Planeación Financiera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y Análisis &amp; Commercial Finance</a:t>
            </a:r>
          </a:p>
        </p:txBody>
      </p:sp>
      <p:sp>
        <p:nvSpPr>
          <p:cNvPr id="203" name="Line2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4" name="Line204"/>
          <p:cNvSpPr txBox="1"/>
          <p:nvPr/>
        </p:nvSpPr>
        <p:spPr>
          <a:xfrm>
            <a:off x="2218533" y="1623650"/>
            <a:ext cx="7754932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5" name="Line205"/>
          <p:cNvSpPr txBox="1"/>
          <p:nvPr/>
        </p:nvSpPr>
        <p:spPr>
          <a:xfrm>
            <a:off x="2212183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6" name="Line206"/>
          <p:cNvSpPr txBox="1"/>
          <p:nvPr/>
        </p:nvSpPr>
        <p:spPr>
          <a:xfrm>
            <a:off x="6089649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7" name="Line207"/>
          <p:cNvSpPr txBox="1"/>
          <p:nvPr/>
        </p:nvSpPr>
        <p:spPr>
          <a:xfrm>
            <a:off x="9967115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8" name="L3_0"/>
          <p:cNvSpPr txBox="1"/>
          <p:nvPr/>
        </p:nvSpPr>
        <p:spPr>
          <a:xfrm>
            <a:off x="304800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Gerente BP Finanzas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Plataformas RH, TI</a:t>
            </a:r>
          </a:p>
        </p:txBody>
      </p:sp>
      <p:sp>
        <p:nvSpPr>
          <p:cNvPr id="209" name="Desc_0"/>
          <p:cNvSpPr txBox="1"/>
          <p:nvPr/>
        </p:nvSpPr>
        <p:spPr>
          <a:xfrm>
            <a:off x="304800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Elaborar y dar seguimiento al presupuesto anual y las previsiones de las plataformas RH y TI.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el análisis de variaciones del desempeño financiero de RH y TI.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Generar información y asesoramiento sobre el impacto financiero de las decisiones de RH y TI.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financieros periódicos de las plataformas RH y TI.</a:t>
            </a:r>
          </a:p>
        </p:txBody>
      </p:sp>
      <p:sp>
        <p:nvSpPr>
          <p:cNvPr id="210" name="L3_1"/>
          <p:cNvSpPr txBox="1"/>
          <p:nvPr/>
        </p:nvSpPr>
        <p:spPr>
          <a:xfrm>
            <a:off x="4182266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Gerente Commercial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Finance</a:t>
            </a:r>
          </a:p>
        </p:txBody>
      </p:sp>
      <p:sp>
        <p:nvSpPr>
          <p:cNvPr id="211" name="Desc_1"/>
          <p:cNvSpPr txBox="1"/>
          <p:nvPr/>
        </p:nvSpPr>
        <p:spPr>
          <a:xfrm>
            <a:off x="4182266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Elaborar el modelamiento de trade-offs económicos para respaldar decisiones comerciales.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y analizar el rendimiento del margen bruto, la rentabilidad y sus drivers.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reportar riesgos financieros con impacto potencial en la rentabilidad.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de visibilidad unificada de ingresos y márgenes para los socios comerciales.</a:t>
            </a:r>
          </a:p>
        </p:txBody>
      </p:sp>
      <p:sp>
        <p:nvSpPr>
          <p:cNvPr id="212" name="L3_2"/>
          <p:cNvSpPr txBox="1"/>
          <p:nvPr/>
        </p:nvSpPr>
        <p:spPr>
          <a:xfrm>
            <a:off x="8059732" y="173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Gerente Planeación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Financiera</a:t>
            </a:r>
          </a:p>
        </p:txBody>
      </p:sp>
      <p:sp>
        <p:nvSpPr>
          <p:cNvPr id="213" name="Desc_2"/>
          <p:cNvSpPr txBox="1"/>
          <p:nvPr/>
        </p:nvSpPr>
        <p:spPr>
          <a:xfrm>
            <a:off x="8059732" y="2340000"/>
            <a:ext cx="3827466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Coordinar el proceso de presupuestación anual y previsiones continuas de las funciones asignadas.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el análisis de variaciones del desempeño financiero real versus lo planeado.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Desarrollar modelos financieros para la planeación, análisis de escenarios y pruebas de sensibilidad.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Generar los reportes financieros periódicos para los responsables de función y la dirección.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Fiscal y Contraloría</a:t>
            </a:r>
          </a:p>
        </p:txBody>
      </p:sp>
      <p:sp>
        <p:nvSpPr>
          <p:cNvPr id="25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Fiscal y Contraloría</a:t>
            </a:r>
          </a:p>
        </p:txBody>
      </p:sp>
      <p:sp>
        <p:nvSpPr>
          <p:cNvPr id="253" name="Line25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4" name="Line25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5" name="Line25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6" name="Line25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7" name="Line25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8" name="Line25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9" name="Line25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6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Normatividad y Control</a:t>
            </a:r>
          </a:p>
        </p:txBody>
      </p:sp>
      <p:sp>
        <p:nvSpPr>
          <p:cNvPr id="26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el plan anual de normatividad y control interno.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ejecución de revisiones de control interno en las unidades de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reportar los resultados del sistema de control interno.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Homologar criterios y políticas contables alineados con FEMSA e IFRS.</a:t>
            </a:r>
          </a:p>
        </p:txBody>
      </p:sp>
      <p:sp>
        <p:nvSpPr>
          <p:cNvPr id="26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Control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Fiscal</a:t>
            </a:r>
          </a:p>
        </p:txBody>
      </p:sp>
      <p:sp>
        <p:nvSpPr>
          <p:cNvPr id="26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el cumplimiento de las obligaciones fiscales en materia de impuestos federales, estatales y locales.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mantener las herramientas de documentación y respaldo de los procesos fiscales.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Auditorías Fiscales la preparación de información para revisiones de autoridades.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análisis de los cambios en la legislación fiscal y su aplicación en la operación.</a:t>
            </a:r>
          </a:p>
        </p:txBody>
      </p:sp>
      <p:sp>
        <p:nvSpPr>
          <p:cNvPr id="26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Gestión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Riesgos SI</a:t>
            </a:r>
          </a:p>
        </p:txBody>
      </p:sp>
      <p:sp>
        <p:nvSpPr>
          <p:cNvPr id="26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la metodología de prevención de lavado de dinero y financiamiento al terrorismo.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y mantener los modelos de detección y reducción de fraude monetario.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implementación del sistema integrado de gestión de riesgos.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reportes de exposición al riesgo y efectividad de los controles de prevención.</a:t>
            </a:r>
          </a:p>
        </p:txBody>
      </p:sp>
      <p:sp>
        <p:nvSpPr>
          <p:cNvPr id="26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Contraloría</a:t>
            </a:r>
          </a:p>
        </p:txBody>
      </p:sp>
      <p:sp>
        <p:nvSpPr>
          <p:cNvPr id="26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Supervisar la emisión de información financiera confiable y oportuna bajo normas IFRS.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representación del negocio ante auditoría interna y externa.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monitorear el sistema de control interno orientado a la integridad de reportes financieros.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consolidación financiera de OXXO México.</a:t>
            </a:r>
          </a:p>
        </p:txBody>
      </p:sp>
      <p:sp>
        <p:nvSpPr>
          <p:cNvPr id="26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Auditorías Fiscales</a:t>
            </a:r>
          </a:p>
        </p:txBody>
      </p:sp>
      <p:sp>
        <p:nvSpPr>
          <p:cNvPr id="26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atención y seguimiento a requerimientos de autoridades fiscales.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el seguimiento a las auditorías externas e internas en materia fiscal.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análisis de cumplimiento de las obligaciones fiscales de OXXO México.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recuperación de saldos de impuestos a favor.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Servicios Compartidos</a:t>
            </a:r>
          </a:p>
        </p:txBody>
      </p:sp>
      <p:sp>
        <p:nvSpPr>
          <p:cNvPr id="3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Servicios Compartidos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Administrativo</a:t>
            </a:r>
          </a:p>
        </p:txBody>
      </p:sp>
      <p:sp>
        <p:nvSpPr>
          <p:cNvPr id="303" name="Line3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4" name="Line30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5" name="Line30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6" name="Line30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7" name="Line30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8" name="Line30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9" name="Line30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1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Coordinador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Información y Gestión CSF</a:t>
            </a:r>
          </a:p>
        </p:txBody>
      </p:sp>
      <p:sp>
        <p:nvSpPr>
          <p:cNvPr id="31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consolidación y reporte de los indicadores de desempeño del Centro de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Dar seguimiento al cumplimiento de los acuerdos de nivel de servicio con los clientes internos.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los rituales de gestión del Centro de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Apoyar la gestión de la relación con los clientes internos del Centro de Servicios.</a:t>
            </a:r>
          </a:p>
        </p:txBody>
      </p:sp>
      <p:sp>
        <p:nvSpPr>
          <p:cNvPr id="31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Order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to Cash</a:t>
            </a:r>
          </a:p>
        </p:txBody>
      </p:sp>
      <p:sp>
        <p:nvSpPr>
          <p:cNvPr id="31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y supervisar el ciclo Order to Cash end-to-end.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gestión de la cartera de cuentas por cobrar.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mantener los controles del proceso O2C.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reportar los indicadores de desempeño del proceso O2C.</a:t>
            </a:r>
          </a:p>
        </p:txBody>
      </p:sp>
      <p:sp>
        <p:nvSpPr>
          <p:cNvPr id="31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Purchase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to Pay</a:t>
            </a:r>
          </a:p>
        </p:txBody>
      </p:sp>
      <p:sp>
        <p:nvSpPr>
          <p:cNvPr id="31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y supervisar el ciclo Purchase to Pay end-to-end.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optimización de los flujos de aprobación, condiciones de pago y gestión de caja.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mantener los controles del proceso P2P.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la relación operativa con proveedores en el ámbito del proceso P2P.</a:t>
            </a:r>
          </a:p>
        </p:txBody>
      </p:sp>
      <p:sp>
        <p:nvSpPr>
          <p:cNvPr id="31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Record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to Report</a:t>
            </a:r>
          </a:p>
        </p:txBody>
      </p:sp>
      <p:sp>
        <p:nvSpPr>
          <p:cNvPr id="31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y supervisar el ciclo Record to Report end-to-end.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proceso de cierre contable mensual y anual.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mantener los controles del proceso R2R.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Contraloría la alineación de criterios contables y el proceso de auditoría.</a:t>
            </a:r>
          </a:p>
        </p:txBody>
      </p:sp>
      <p:sp>
        <p:nvSpPr>
          <p:cNvPr id="31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Gobierno Datos y Cond</a:t>
            </a:r>
          </a:p>
        </p:txBody>
      </p:sp>
      <p:sp>
        <p:nvSpPr>
          <p:cNvPr id="31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Implementar y mantener los estándares de gobierno de datos del Centro de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mantenimiento y actualización de los catálogos y condiciones comerciales.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y reportar desviaciones en la calidad de datos que impacten los procesos transaccionales.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las áreas usuarias la resolución de inconsistencias en datos y condiciones.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Legal y Regulatorio</a:t>
            </a:r>
          </a:p>
        </p:txBody>
      </p:sp>
      <p:sp>
        <p:nvSpPr>
          <p:cNvPr id="35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Legal y Regulatorio</a:t>
            </a:r>
          </a:p>
        </p:txBody>
      </p:sp>
      <p:sp>
        <p:nvSpPr>
          <p:cNvPr id="353" name="Line35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4" name="Line35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5" name="Line35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6" name="Line35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7" name="Line35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8" name="Line35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9" name="Line35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6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Cumplimiento</a:t>
            </a:r>
          </a:p>
        </p:txBody>
      </p:sp>
      <p:sp>
        <p:nvSpPr>
          <p:cNvPr id="36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el programa de cumplimiento legal y regulatorio de OXXO México.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monitoreo del cumplimiento de las obligaciones legales y regulatorias en las unidades de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reportar los indicadores de desempeño del programa de cumplimiento.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las áreas del negocio la implementación de acciones correctivas derivadas de hallazgos.</a:t>
            </a:r>
          </a:p>
        </p:txBody>
      </p:sp>
      <p:sp>
        <p:nvSpPr>
          <p:cNvPr id="36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Legal Comercial</a:t>
            </a:r>
          </a:p>
        </p:txBody>
      </p:sp>
      <p:sp>
        <p:nvSpPr>
          <p:cNvPr id="36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la revisión y análisis legal de contratos y acuerdos comerciales de OXXO.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las contingencias y litigios legales del área comercial.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actualizar los formatos de contratos comerciales de OXXO.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Asesorar al área comercial en procesos legales, negociaciones y contingencias.</a:t>
            </a:r>
          </a:p>
        </p:txBody>
      </p:sp>
      <p:sp>
        <p:nvSpPr>
          <p:cNvPr id="36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Legal CdS</a:t>
            </a:r>
          </a:p>
        </p:txBody>
      </p:sp>
      <p:sp>
        <p:nvSpPr>
          <p:cNvPr id="36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la revisión y análisis legal de contratos y acuerdos de la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las contingencias y litigios legales de la Cadena de Suministro.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el área de Gestoría la atención de trámites legales y regulatorios de CEDIS y Distribución.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Asesorar al área de Cadena de Suministro en procesos legales, negociaciones y contingencias.</a:t>
            </a:r>
          </a:p>
        </p:txBody>
      </p:sp>
      <p:sp>
        <p:nvSpPr>
          <p:cNvPr id="36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Sr Legal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Operaciones</a:t>
            </a:r>
          </a:p>
        </p:txBody>
      </p:sp>
      <p:sp>
        <p:nvSpPr>
          <p:cNvPr id="36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el análisis y atención de los requerimientos legales de la operación de tiendas y plazas.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los litigios y procesos legales operativos de OXXO a nivel nacional.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revisar los documentos legales requeridos por la operación de tiendas.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los Gerentes de Plaza y Región la atención de contingencias legales operativas.</a:t>
            </a:r>
          </a:p>
        </p:txBody>
      </p:sp>
      <p:sp>
        <p:nvSpPr>
          <p:cNvPr id="36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Legal (i78)</a:t>
            </a:r>
          </a:p>
        </p:txBody>
      </p:sp>
      <p:sp>
        <p:nvSpPr>
          <p:cNvPr id="36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el análisis y atención de los requerimientos legales de la plataforma i78.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revisar los documentos legales requeridos por la operación de i78.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las áreas operativas de i78 la atención de contingencias legales.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Dar seguimiento a los litigios y procesos legales activos de la plataforma i78.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Asuntos Corporativos</a:t>
            </a:r>
          </a:p>
        </p:txBody>
      </p:sp>
      <p:sp>
        <p:nvSpPr>
          <p:cNvPr id="4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Asuntos Corporativos</a:t>
            </a:r>
          </a:p>
        </p:txBody>
      </p:sp>
      <p:sp>
        <p:nvSpPr>
          <p:cNvPr id="403" name="Line4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4" name="Line40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5" name="Line40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6" name="Line40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7" name="Line40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8" name="Line40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9" name="Line40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1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Analista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Comunicación Externa</a:t>
            </a:r>
          </a:p>
        </p:txBody>
      </p:sp>
      <p:sp>
        <p:nvSpPr>
          <p:cNvPr id="41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Elaborar contenidos y materiales de comunicación externa para medios y audiencias clave.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monitoreo de medios de comunicación y redes sociales.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reportes de monitoreo de medios y análisis de cobertura.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Apoyar la implementación de la estrategia de comunicación proactiva y reactiva del área.</a:t>
            </a:r>
          </a:p>
        </p:txBody>
      </p:sp>
      <p:sp>
        <p:nvSpPr>
          <p:cNvPr id="41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Coordinador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Asuntos Corporativos</a:t>
            </a:r>
          </a:p>
        </p:txBody>
      </p:sp>
      <p:sp>
        <p:nvSpPr>
          <p:cNvPr id="41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Elaborar análisis de riesgo e informes políticos basados en tendencias regulatorias del entorno.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monitoreo sistemático del entorno político, económico y social.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reportes de la agenda de riesgos del entorno para la toma de decisiones.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gestión de proyectos con consultores especializados en políticas públicas.</a:t>
            </a:r>
          </a:p>
        </p:txBody>
      </p:sp>
      <p:sp>
        <p:nvSpPr>
          <p:cNvPr id="41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Atención Autoridades</a:t>
            </a:r>
          </a:p>
        </p:txBody>
      </p:sp>
      <p:sp>
        <p:nvSpPr>
          <p:cNvPr id="41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y dar seguimiento a los requerimientos de autoridades gubernamentales hacia OXXO.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las respuestas y documentación requerida ante requerimientos de autoridades.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las áreas operativas y de soporte la atención de requerimientos de autoridades.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y reportar el estatus de los requerimientos de autoridades en curso.</a:t>
            </a:r>
          </a:p>
        </p:txBody>
      </p:sp>
      <p:sp>
        <p:nvSpPr>
          <p:cNvPr id="41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Relaciones Gobierno</a:t>
            </a:r>
          </a:p>
        </p:txBody>
      </p:sp>
      <p:sp>
        <p:nvSpPr>
          <p:cNvPr id="41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los planes de relacionamiento con autoridades gubernamentales en la región o ámbito asignado.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entorno político-regulatorio local y reportar tendencias relevantes para el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Participar en organismos empresariales y foros de influencia en representación de OXXO.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proyectos de cabildeo e incidencia en política pública en el ámbito asignado.</a:t>
            </a:r>
          </a:p>
        </p:txBody>
      </p:sp>
      <p:sp>
        <p:nvSpPr>
          <p:cNvPr id="41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Relaciones Gobierno</a:t>
            </a:r>
          </a:p>
        </p:txBody>
      </p:sp>
      <p:sp>
        <p:nvSpPr>
          <p:cNvPr id="41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implementación de la estrategia de relacionamiento con autoridades gubernamentales.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y dar seguimiento a los planes de relacionamiento con autoridades y actores clave.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monitoreo del entorno regulatorio y político relevante para el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proyectos de cabildeo y relacionamiento institucional con consultores especializados.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OXXO</a:t>
            </a:r>
          </a:p>
        </p:txBody>
      </p:sp>
      <p:sp>
        <p:nvSpPr>
          <p:cNvPr id="45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Director Nacional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Admvo OXXO</a:t>
            </a:r>
          </a:p>
        </p:txBody>
      </p:sp>
      <p:sp>
        <p:nvSpPr>
          <p:cNvPr id="453" name="Line45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4" name="Line454"/>
          <p:cNvSpPr txBox="1"/>
          <p:nvPr/>
        </p:nvSpPr>
        <p:spPr>
          <a:xfrm>
            <a:off x="1449040" y="162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5" name="Line455"/>
          <p:cNvSpPr txBox="1"/>
          <p:nvPr/>
        </p:nvSpPr>
        <p:spPr>
          <a:xfrm>
            <a:off x="144269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6" name="Line456"/>
          <p:cNvSpPr txBox="1"/>
          <p:nvPr/>
        </p:nvSpPr>
        <p:spPr>
          <a:xfrm>
            <a:off x="376617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7" name="Line457"/>
          <p:cNvSpPr txBox="1"/>
          <p:nvPr/>
        </p:nvSpPr>
        <p:spPr>
          <a:xfrm>
            <a:off x="608965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8" name="Line458"/>
          <p:cNvSpPr txBox="1"/>
          <p:nvPr/>
        </p:nvSpPr>
        <p:spPr>
          <a:xfrm>
            <a:off x="841313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59" name="Line459"/>
          <p:cNvSpPr txBox="1"/>
          <p:nvPr/>
        </p:nvSpPr>
        <p:spPr>
          <a:xfrm>
            <a:off x="1073661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60" name="L3_0"/>
          <p:cNvSpPr txBox="1"/>
          <p:nvPr/>
        </p:nvSpPr>
        <p:spPr>
          <a:xfrm>
            <a:off x="30480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Admvo Neg Dllo</a:t>
            </a:r>
          </a:p>
        </p:txBody>
      </p:sp>
      <p:sp>
        <p:nvSpPr>
          <p:cNvPr id="461" name="Desc_0"/>
          <p:cNvSpPr txBox="1"/>
          <p:nvPr/>
        </p:nvSpPr>
        <p:spPr>
          <a:xfrm>
            <a:off x="30480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Implementar los procesos administrativos y financieros de los negocios en desarrollo.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generación y entrega de información financiera de los negocios en desarrollo.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el seguimiento presupuestal de los negocios en desarrollo.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Ejecutar los controles de normatividad y control interno aplicables a los negocios en desarrollo.</a:t>
            </a:r>
          </a:p>
        </p:txBody>
      </p:sp>
      <p:sp>
        <p:nvSpPr>
          <p:cNvPr id="462" name="L3_1"/>
          <p:cNvSpPr txBox="1"/>
          <p:nvPr/>
        </p:nvSpPr>
        <p:spPr>
          <a:xfrm>
            <a:off x="262828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Área BP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Finanzas Plataformas Expansión</a:t>
            </a:r>
          </a:p>
        </p:txBody>
      </p:sp>
      <p:sp>
        <p:nvSpPr>
          <p:cNvPr id="463" name="Desc_1"/>
          <p:cNvSpPr txBox="1"/>
          <p:nvPr/>
        </p:nvSpPr>
        <p:spPr>
          <a:xfrm>
            <a:off x="262828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Elaborar los modelos de evaluación financiera de proyectos de expansión.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el seguimiento presupuestal de los proyectos de expansión en curso.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Generar reportes financieros periódicos de la cartera de expansión.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los controles administrativos y financieros para los procesos de expansión.</a:t>
            </a:r>
          </a:p>
        </p:txBody>
      </p:sp>
      <p:sp>
        <p:nvSpPr>
          <p:cNvPr id="464" name="L3_2"/>
          <p:cNvSpPr txBox="1"/>
          <p:nvPr/>
        </p:nvSpPr>
        <p:spPr>
          <a:xfrm>
            <a:off x="495176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Gerente Gestión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Control Zona</a:t>
            </a:r>
          </a:p>
        </p:txBody>
      </p:sp>
      <p:sp>
        <p:nvSpPr>
          <p:cNvPr id="465" name="Desc_2"/>
          <p:cNvSpPr txBox="1"/>
          <p:nvPr/>
        </p:nvSpPr>
        <p:spPr>
          <a:xfrm>
            <a:off x="495176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el plan de normatividad y control interno en las plazas de la zona asignada.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dar seguimiento a los procedimientos contables y administrativos en tiendas de la zona.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Generar y reportar los indicadores de gestión y control de la zona.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los Gerentes de Plaza y Región la implementación de acciones correctivas.</a:t>
            </a:r>
          </a:p>
        </p:txBody>
      </p:sp>
      <p:sp>
        <p:nvSpPr>
          <p:cNvPr id="466" name="L3_3"/>
          <p:cNvSpPr txBox="1"/>
          <p:nvPr/>
        </p:nvSpPr>
        <p:spPr>
          <a:xfrm>
            <a:off x="727524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Gestión y Control</a:t>
            </a:r>
          </a:p>
        </p:txBody>
      </p:sp>
      <p:sp>
        <p:nvSpPr>
          <p:cNvPr id="467" name="Desc_3"/>
          <p:cNvSpPr txBox="1"/>
          <p:nvPr/>
        </p:nvSpPr>
        <p:spPr>
          <a:xfrm>
            <a:off x="727524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Ejecutar los procesos de control administrativo y financiero en las plazas asignadas.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Generar y consolidar los reportes de gestión e indicadores operativos de las plazas.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ejecución de revisiones de control interno en plazas y tiendas.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dar seguimiento a las herramientas de gestión y KPIs en las plazas.</a:t>
            </a:r>
          </a:p>
        </p:txBody>
      </p:sp>
      <p:sp>
        <p:nvSpPr>
          <p:cNvPr id="468" name="L3_4"/>
          <p:cNvSpPr txBox="1"/>
          <p:nvPr/>
        </p:nvSpPr>
        <p:spPr>
          <a:xfrm>
            <a:off x="9598720" y="173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Traslado de Valores</a:t>
            </a:r>
          </a:p>
        </p:txBody>
      </p:sp>
      <p:sp>
        <p:nvSpPr>
          <p:cNvPr id="469" name="Desc_4"/>
          <p:cNvSpPr txBox="1"/>
          <p:nvPr/>
        </p:nvSpPr>
        <p:spPr>
          <a:xfrm>
            <a:off x="9598720" y="2340000"/>
            <a:ext cx="228848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operación del modelo de traslado y resguardo de valores en las tiendas.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Implementar y dar seguimiento al modelo I-Cash y su caso de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relación con los proveedores de servicios de traslado de valores.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Elaborar reportes de desempeño y costos del modelo de traslado de valores.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5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Administración Nacional CdS</a:t>
            </a:r>
          </a:p>
        </p:txBody>
      </p:sp>
      <p:sp>
        <p:nvSpPr>
          <p:cNvPr id="502" name="L2Box"/>
          <p:cNvSpPr txBox="1"/>
          <p:nvPr/>
        </p:nvSpPr>
        <p:spPr>
          <a:xfrm>
            <a:off x="4496000" y="9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Gte Sr Nac. Administrativo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Centros de Suministro</a:t>
            </a:r>
          </a:p>
        </p:txBody>
      </p:sp>
      <p:sp>
        <p:nvSpPr>
          <p:cNvPr id="503" name="Line5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4" name="Line504"/>
          <p:cNvSpPr txBox="1"/>
          <p:nvPr/>
        </p:nvSpPr>
        <p:spPr>
          <a:xfrm>
            <a:off x="1733850" y="1623650"/>
            <a:ext cx="87243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5" name="Line505"/>
          <p:cNvSpPr txBox="1"/>
          <p:nvPr/>
        </p:nvSpPr>
        <p:spPr>
          <a:xfrm>
            <a:off x="172750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6" name="Line506"/>
          <p:cNvSpPr txBox="1"/>
          <p:nvPr/>
        </p:nvSpPr>
        <p:spPr>
          <a:xfrm>
            <a:off x="463560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7" name="Line507"/>
          <p:cNvSpPr txBox="1"/>
          <p:nvPr/>
        </p:nvSpPr>
        <p:spPr>
          <a:xfrm>
            <a:off x="754370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8" name="Line508"/>
          <p:cNvSpPr txBox="1"/>
          <p:nvPr/>
        </p:nvSpPr>
        <p:spPr>
          <a:xfrm>
            <a:off x="1045180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509" name="L3_0"/>
          <p:cNvSpPr txBox="1"/>
          <p:nvPr/>
        </p:nvSpPr>
        <p:spPr>
          <a:xfrm>
            <a:off x="304800" y="173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Gerente Área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Admin Control CEDIS</a:t>
            </a:r>
          </a:p>
        </p:txBody>
      </p:sp>
      <p:sp>
        <p:nvSpPr>
          <p:cNvPr id="510" name="Desc_0"/>
          <p:cNvSpPr txBox="1"/>
          <p:nvPr/>
        </p:nvSpPr>
        <p:spPr>
          <a:xfrm>
            <a:off x="304800" y="2340000"/>
            <a:ext cx="28581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Implementar y mantener los procedimientos contables y administrativos en CEDIS.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plan anual de normatividad y control interno en CEDIS.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la generación de información financiera y operativa de CEDIS.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y dar seguimiento a los indicadores de productividad de CEDIS.</a:t>
            </a:r>
          </a:p>
        </p:txBody>
      </p:sp>
      <p:sp>
        <p:nvSpPr>
          <p:cNvPr id="511" name="L3_1"/>
          <p:cNvSpPr txBox="1"/>
          <p:nvPr/>
        </p:nvSpPr>
        <p:spPr>
          <a:xfrm>
            <a:off x="3212900" y="173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Gerente Área Admin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Finanzas Dist</a:t>
            </a:r>
          </a:p>
        </p:txBody>
      </p:sp>
      <p:sp>
        <p:nvSpPr>
          <p:cNvPr id="512" name="Desc_1"/>
          <p:cNvSpPr txBox="1"/>
          <p:nvPr/>
        </p:nvSpPr>
        <p:spPr>
          <a:xfrm>
            <a:off x="3212900" y="2340000"/>
            <a:ext cx="28581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Implementar y mantener los procedimientos contables y administrativos en Distribución.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la generación de información financiera de rentabilidad en Distribución.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y dar seguimiento a los indicadores de productividad de Distribución.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Ejecutar el plan de normatividad y control interno en Distribución.</a:t>
            </a:r>
          </a:p>
        </p:txBody>
      </p:sp>
      <p:sp>
        <p:nvSpPr>
          <p:cNvPr id="513" name="L3_2"/>
          <p:cNvSpPr txBox="1"/>
          <p:nvPr/>
        </p:nvSpPr>
        <p:spPr>
          <a:xfrm>
            <a:off x="6121000" y="173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Responsable Gestión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Control CEDIS</a:t>
            </a:r>
          </a:p>
        </p:txBody>
      </p:sp>
      <p:sp>
        <p:nvSpPr>
          <p:cNvPr id="514" name="Desc_2"/>
          <p:cNvSpPr txBox="1"/>
          <p:nvPr/>
        </p:nvSpPr>
        <p:spPr>
          <a:xfrm>
            <a:off x="6121000" y="2340000"/>
            <a:ext cx="28581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Ejecutar los procesos de control administrativo en las unidades de CEDIS asignadas.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Generar y consolidar los reportes de gestión e indicadores de productividad de CEDIS.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la ejecución de revisiones de control interno en CEDIS.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Implementar los mecanismos de seguimiento al capital de trabajo en CEDIS.</a:t>
            </a:r>
          </a:p>
        </p:txBody>
      </p:sp>
      <p:sp>
        <p:nvSpPr>
          <p:cNvPr id="515" name="L3_3"/>
          <p:cNvSpPr txBox="1"/>
          <p:nvPr/>
        </p:nvSpPr>
        <p:spPr>
          <a:xfrm>
            <a:off x="9029100" y="1730000"/>
            <a:ext cx="28581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Responsable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Gestoría</a:t>
            </a:r>
          </a:p>
        </p:txBody>
      </p:sp>
      <p:sp>
        <p:nvSpPr>
          <p:cNvPr id="516" name="Desc_3"/>
          <p:cNvSpPr txBox="1"/>
          <p:nvPr/>
        </p:nvSpPr>
        <p:spPr>
          <a:xfrm>
            <a:off x="9029100" y="2340000"/>
            <a:ext cx="2858100" cy="220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Ejecutar y dar seguimiento a los trámites y gestiones administrativas de CEDIS y Distribución.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la gestión documental y archivo de expedientes normativos y regulatorios.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y reportar vencimientos y renovaciones de permisos operativos de CEDIS y Distribución.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Coordinar con el área Legal los requerimientos de gestoría que impliquen procesos jurídicos.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Gestionar presupuesto anual y escenarios de desempeño</a:t>
            </a:r>
          </a:p>
          <a:p>
            <a:r>
              <a:rPr sz="1000" b="0">
                <a:solidFill>
                  <a:srgbClr val="404040"/>
                </a:solidFill>
              </a:rPr>
              <a:t>Gestiona el presupuesto anual, planeación financiera y elaboración de escenarios para mejorar el desempeño.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Gestionar presupuesto anual y escenarios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confiabilidad de info. para accionistas</a:t>
            </a:r>
          </a:p>
          <a:p>
            <a:r>
              <a:rPr sz="1000" b="0">
                <a:solidFill>
                  <a:srgbClr val="404040"/>
                </a:solidFill>
              </a:rPr>
              <a:t>Garantiza confiabilidad de información para reportes ejecutivos y conecta estrategias con valor para accionistas.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confiabilidad de info. para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Ejecuta y lidera esta responsabilidad, tomando las decisiones necesarias para garantizar su cumplimiento y calidad de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Soporte financiero a iniciativas comerciales y Capex</a:t>
            </a:r>
          </a:p>
          <a:p>
            <a:r>
              <a:rPr sz="1000" b="0">
                <a:solidFill>
                  <a:srgbClr val="404040"/>
                </a:solidFill>
              </a:rPr>
              <a:t>Brinda soporte financiero a iniciativas comerciales, capex y proyectos estratégicos junto a VMO.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Soporte financiero a iniciativas comerci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Implementar controles internos y políticas contables</a:t>
            </a:r>
          </a:p>
          <a:p>
            <a:r>
              <a:rPr sz="1000" b="0">
                <a:solidFill>
                  <a:srgbClr val="404040"/>
                </a:solidFill>
              </a:rPr>
              <a:t>Implementa controles internos, políticas contables y asegura el cumplimiento fiscal y regulatorio.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Implementar controles internos y polític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eficiente de ciclos P2P / O2C / R2R</a:t>
            </a:r>
          </a:p>
          <a:p>
            <a:r>
              <a:rPr sz="1000" b="0">
                <a:solidFill>
                  <a:srgbClr val="404040"/>
                </a:solidFill>
              </a:rPr>
              <a:t>Asegura la ejecución eficiente de los ciclos de pago a proveedores, cobranza y cierres contables.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eficiente de ciclos P2P / O2C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Aporta perspectiva experta como área consultada, contribuyendo con información y criterio antes de las decisiones clave.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Integridad de datos financieros y gobernanza ERP</a:t>
            </a:r>
          </a:p>
          <a:p>
            <a:r>
              <a:rPr sz="1000" b="0">
                <a:solidFill>
                  <a:srgbClr val="404040"/>
                </a:solidFill>
              </a:rPr>
              <a:t>Asegura la integridad de datos financieros y gobernanza del ERP para la automatización de procesos.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Integridad de datos financieros y gobern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Planificación financiera integral y forecasting</a:t>
            </a:r>
          </a:p>
          <a:p>
            <a:r>
              <a:rPr sz="1000" b="0">
                <a:solidFill>
                  <a:srgbClr val="404040"/>
                </a:solidFill>
              </a:rPr>
              <a:t>Gestiona el proceso integral de planificación financiera y previsiones continuas (forecasting).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Planificación financiera integral y 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Supervisar rendimiento real vs. planificado (variaciones)</a:t>
            </a:r>
          </a:p>
          <a:p>
            <a:r>
              <a:rPr sz="1000" b="0">
                <a:solidFill>
                  <a:srgbClr val="404040"/>
                </a:solidFill>
              </a:rPr>
              <a:t>Supervisa el rendimiento real vs. planificado y lidera conversaciones sobre variaciones financieras.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Supervisar rendimiento real vs. planific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Modelos de escenarios y análisis de inversiones</a:t>
            </a:r>
          </a:p>
          <a:p>
            <a:r>
              <a:rPr sz="1000" b="0">
                <a:solidFill>
                  <a:srgbClr val="404040"/>
                </a:solidFill>
              </a:rPr>
              <a:t>Actúa como asesor financiero proporcionando modelos de escenarios y análisis de inversiones.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Modelos de escenarios y análisis de inve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Maximizar rentabilidad de categorías (Comm. Finance)</a:t>
            </a:r>
          </a:p>
          <a:p>
            <a:r>
              <a:rPr sz="1000" b="0">
                <a:solidFill>
                  <a:srgbClr val="404040"/>
                </a:solidFill>
              </a:rPr>
              <a:t>Facilita decisiones comerciales basadas en datos para maximizar la rentabilidad de categorías.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Maximizar rentabilidad de categorías (Co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Asegurar comprensión del impacto financiero en líderes</a:t>
            </a:r>
          </a:p>
          <a:p>
            <a:r>
              <a:rPr sz="1000" b="0">
                <a:solidFill>
                  <a:srgbClr val="404040"/>
                </a:solidFill>
              </a:rPr>
              <a:t>Asegura que líderes no financieros comprendan el impacto financiero de sus decisiones.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Asegurar comprensión del impacto financi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Optimizar carga tributaria y cumplimiento federal/local</a:t>
            </a:r>
          </a:p>
          <a:p>
            <a:r>
              <a:rPr sz="1000" b="0">
                <a:solidFill>
                  <a:srgbClr val="404040"/>
                </a:solidFill>
              </a:rPr>
              <a:t>Planea y dirige estrategias para optimizar la carga tributaria y asegura cumplimiento de leyes federales/locales.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Optimizar carga tributaria y cumplimient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requerimientos de autoridades y auditorías</a:t>
            </a:r>
          </a:p>
          <a:p>
            <a:r>
              <a:rPr sz="1000" b="0">
                <a:solidFill>
                  <a:srgbClr val="404040"/>
                </a:solidFill>
              </a:rPr>
              <a:t>Gestiona requerimientos de información de autoridades fiscales y auditorías externas/internas.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requerimientos de autoridades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sistemas de verificación de control interno</a:t>
            </a:r>
          </a:p>
          <a:p>
            <a:r>
              <a:rPr sz="1000" b="0">
                <a:solidFill>
                  <a:srgbClr val="404040"/>
                </a:solidFill>
              </a:rPr>
              <a:t>Salvaguarda la cultura de control interno diseñando sistemas de verificación y evaluación.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sistemas de verificación de 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Alineación de políticas a IFRS y corporativas</a:t>
            </a:r>
          </a:p>
          <a:p>
            <a:r>
              <a:rPr sz="1000" b="0">
                <a:solidFill>
                  <a:srgbClr val="404040"/>
                </a:solidFill>
              </a:rPr>
              <a:t>Garantiza que las políticas contables estén alineadas a IFRS y normas corporativas.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Alineación de políticas a IFRS y corpora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PLD y modelos de datos contra fraude</a:t>
            </a:r>
          </a:p>
          <a:p>
            <a:r>
              <a:rPr sz="1000" b="0">
                <a:solidFill>
                  <a:srgbClr val="404040"/>
                </a:solidFill>
              </a:rPr>
              <a:t>Controla el sistema de prevención de lavado de dinero y modelos de ciencia de datos contra fraude.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PLD y modelos de datos contra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Ejecuta y lidera esta responsabilidad, tomando las decisiones necesarias para garantizar su cumplimiento y calidad de resultados.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Mapeo de procesos para estandarización</a:t>
            </a:r>
          </a:p>
          <a:p>
            <a:r>
              <a:rPr sz="1000" b="0">
                <a:solidFill>
                  <a:srgbClr val="404040"/>
                </a:solidFill>
              </a:rPr>
              <a:t>Asegura el mapeo de procesos financieros para establecer bases de estandarización y automatización.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Mapeo de procesos para estandarización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Infraestructura de datos para transformación digital</a:t>
            </a:r>
          </a:p>
          <a:p>
            <a:r>
              <a:rPr sz="1000" b="0">
                <a:solidFill>
                  <a:srgbClr val="404040"/>
                </a:solidFill>
              </a:rPr>
              <a:t>Asegura que Finanzas cuente con tecnología e infraestructura de datos para la transformación digital.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Infraestructura de datos para transforma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e implementación de centralización de procesos</a:t>
            </a:r>
          </a:p>
          <a:p>
            <a:r>
              <a:rPr sz="1000" b="0">
                <a:solidFill>
                  <a:srgbClr val="404040"/>
                </a:solidFill>
              </a:rPr>
              <a:t>Diseña e implementa la centralización de procesos para mejorar eficiencia y reducir costos.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e implementación de centralizació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soluciones de automatización (sin manuales)</a:t>
            </a:r>
          </a:p>
          <a:p>
            <a:r>
              <a:rPr sz="1000" b="0">
                <a:solidFill>
                  <a:srgbClr val="404040"/>
                </a:solidFill>
              </a:rPr>
              <a:t>Lidera el diseño de soluciones de automatización para eliminar el trabajo manual.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soluciones de automatización (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proyectos de transformación y sistemas</a:t>
            </a:r>
          </a:p>
          <a:p>
            <a:r>
              <a:rPr sz="1000" b="0">
                <a:solidFill>
                  <a:srgbClr val="404040"/>
                </a:solidFill>
              </a:rPr>
              <a:t>Planifica y coordina la ejecución de proyectos de transformación financiera y sistemas.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proyectos de transformación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Aporta perspectiva experta como área consultada, contribuyendo con información y criterio antes de las decisiones clave.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Definir modelos de servicios centrales y gestión</a:t>
            </a:r>
          </a:p>
          <a:p>
            <a:r>
              <a:rPr sz="1000" b="0">
                <a:solidFill>
                  <a:srgbClr val="404040"/>
                </a:solidFill>
              </a:rPr>
              <a:t>Define modelos de servicios centrales y esquemas de gestión hacia stakeholders y clientes internos.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Definir modelos de servicios centrales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Liderar operación de contabilidad, tesorería y pagos</a:t>
            </a:r>
          </a:p>
          <a:p>
            <a:r>
              <a:rPr sz="1000" b="0">
                <a:solidFill>
                  <a:srgbClr val="404040"/>
                </a:solidFill>
              </a:rPr>
              <a:t>Lidera la operación de servicios centrales (contabilidad, tesorería, cuentas por pagar/cobrar).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Liderar operación de contabilidad, tesor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Ejecución de facturación, cobranza y flujo de efectivo</a:t>
            </a:r>
          </a:p>
          <a:p>
            <a:r>
              <a:rPr sz="1000" b="0">
                <a:solidFill>
                  <a:srgbClr val="404040"/>
                </a:solidFill>
              </a:rPr>
              <a:t>Asegura la correcta ejecución de pagos, facturación, cobranza y gestión de flujo de efectivo.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Ejecución de facturación, cobranza y flu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Garantizar cierres contables precisos (R2R)</a:t>
            </a:r>
          </a:p>
          <a:p>
            <a:r>
              <a:rPr sz="1000" b="0">
                <a:solidFill>
                  <a:srgbClr val="404040"/>
                </a:solidFill>
              </a:rPr>
              <a:t>Garantiza cierres contables precisos y oportunos conforme a normas.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Garantizar cierres contables precisos (R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Adopción de mejores prácticas en servicios centralizados</a:t>
            </a:r>
          </a:p>
          <a:p>
            <a:r>
              <a:rPr sz="1000" b="0">
                <a:solidFill>
                  <a:srgbClr val="404040"/>
                </a:solidFill>
              </a:rPr>
              <a:t>Investiga y adopta mejores prácticas de la industria de servicios centralizados para generar valor.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Adopción de mejores prácticas en servici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Cumplimiento, litigios y gobernanza contractual</a:t>
            </a:r>
          </a:p>
          <a:p>
            <a:r>
              <a:rPr sz="1000" b="0">
                <a:solidFill>
                  <a:srgbClr val="404040"/>
                </a:solidFill>
              </a:rPr>
              <a:t>Gestiona el cumplimiento, litigios y gobernanza contractual para salvaguardar la operación.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Cumplimiento, litigios y gobernanza cont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Brinda apoyo activo en esta responsabilidad, aportando su expertise especializado cuando se requiere.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formatos de contratos y opiniones legales</a:t>
            </a:r>
          </a:p>
          <a:p>
            <a:r>
              <a:rPr sz="1000" b="0">
                <a:solidFill>
                  <a:srgbClr val="404040"/>
                </a:solidFill>
              </a:rPr>
              <a:t>Diseña y desarrolla formatos de contratos y opiniones legales para las unidades de negocio.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formatos de contratos y opinio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Revisión de contratos expansión y riesgos inmobiliarios</a:t>
            </a:r>
          </a:p>
          <a:p>
            <a:r>
              <a:rPr sz="1000" b="0">
                <a:solidFill>
                  <a:srgbClr val="404040"/>
                </a:solidFill>
              </a:rPr>
              <a:t>Asegura la revisión de contratos de expansión y capacita al equipo en riesgos legales inmobiliarios.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Revisión de contratos expansión y riesgo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Aporta perspectiva experta como área consultada, contribuyendo con información y criterio antes de las decisiones clave.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Relación con autoridades para viabilizar operaciones</a:t>
            </a:r>
          </a:p>
          <a:p>
            <a:r>
              <a:rPr sz="1000" b="0">
                <a:solidFill>
                  <a:srgbClr val="404040"/>
                </a:solidFill>
              </a:rPr>
              <a:t>Sostiene reuniones con autoridades nacionales para viabilizar operaciones y proyectos.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Relación con autoridades para viabilizar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Aprueba y supervisa esta responsabilidad, siendo responsable final ante la organización por sus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Factibilidad legal a proyectos y negociaciones</a:t>
            </a:r>
          </a:p>
          <a:p>
            <a:r>
              <a:rPr sz="1000" b="0">
                <a:solidFill>
                  <a:srgbClr val="404040"/>
                </a:solidFill>
              </a:rPr>
              <a:t>Genera opiniones legales para dar factibilidad a proyectos comerciales y negociaciones.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Factibilidad legal a proyectos y negocia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Ejecuta y lidera esta responsabilidad, tomando las decisiones necesarias para garantizar su cumplimiento y calidad de resultados.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Aporta perspectiva experta como área consultada, contribuyendo con información y criterio antes de las decisiones clave.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Estrategias de comunicación y manejo de crisis</a:t>
            </a:r>
          </a:p>
          <a:p>
            <a:r>
              <a:rPr sz="1000" b="0">
                <a:solidFill>
                  <a:srgbClr val="404040"/>
                </a:solidFill>
              </a:rPr>
              <a:t>Define estrategias de asuntos públicos, comunicación y manejo de crisis.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Estrategias de comunicación y manejo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Contacto externo para riesgos regulatorios y políticos</a:t>
            </a:r>
          </a:p>
          <a:p>
            <a:r>
              <a:rPr sz="1000" b="0">
                <a:solidFill>
                  <a:srgbClr val="404040"/>
                </a:solidFill>
              </a:rPr>
              <a:t>Mantiene contacto con actores externos para identificar riesgos regulatorios y políticos.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Contacto externo para riesgos regulatori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Informes directivos sobre tendencias de inversión</a:t>
            </a:r>
          </a:p>
          <a:p>
            <a:r>
              <a:rPr sz="1000" b="0">
                <a:solidFill>
                  <a:srgbClr val="404040"/>
                </a:solidFill>
              </a:rPr>
              <a:t>Elabora informes para el equipo directivo sobre tendencias que afecten inversiones futuras.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Informes directivos sobre tendencias de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Estrategia de reputación y posicionamiento en medios</a:t>
            </a:r>
          </a:p>
          <a:p>
            <a:r>
              <a:rPr sz="1000" b="0">
                <a:solidFill>
                  <a:srgbClr val="404040"/>
                </a:solidFill>
              </a:rPr>
              <a:t>Define la estrategia de comunicación y posicionamiento ante medios para mejorar la reputación.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Estrategia de reputación y posicionamien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consultores en políticas públicas</a:t>
            </a:r>
          </a:p>
          <a:p>
            <a:r>
              <a:rPr sz="1000" b="0">
                <a:solidFill>
                  <a:srgbClr val="404040"/>
                </a:solidFill>
              </a:rPr>
              <a:t>Gestiona proyectos especializados en políticas públicas o impacto social.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consultores en políticas públ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Ejecuta y lidera esta responsabilidad, tomando las decisiones necesarias para garantizar su cumplimiento y calidad de resultados.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Aplicación de procesos administrativos en Plazas</a:t>
            </a:r>
          </a:p>
          <a:p>
            <a:r>
              <a:rPr sz="1000" b="0">
                <a:solidFill>
                  <a:srgbClr val="404040"/>
                </a:solidFill>
              </a:rPr>
              <a:t>Asegura la aplicación de procedimientos contables y administrativos en todas las Plazas.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Aplicación de procesos administrativos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Control de inventarios en tiendas vía tecnología</a:t>
            </a:r>
          </a:p>
          <a:p>
            <a:r>
              <a:rPr sz="1000" b="0">
                <a:solidFill>
                  <a:srgbClr val="404040"/>
                </a:solidFill>
              </a:rPr>
              <a:t>Garantiza el proceso de inventarios en tiendas mediante estrategias de control y tecnología.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Control de inventarios en tiendas vía 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Aporta perspectiva experta como área consultada, contribuyendo con información y criterio antes de las decisiones clave.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Brinda apoyo activo en esta responsabilidad, aportando su expertise especializado cuando se requiere.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Entrega veraz de información financiera de unidades</a:t>
            </a:r>
          </a:p>
          <a:p>
            <a:r>
              <a:rPr sz="1000" b="0">
                <a:solidFill>
                  <a:srgbClr val="404040"/>
                </a:solidFill>
              </a:rPr>
              <a:t>Asegura la entrega veraz de información financiera de las unidades operativas.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Entrega veraz de información financiera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Aprueba y supervisa esta responsabilidad, siendo responsable final ante la organización por sus resultados.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Evaluación y aprobación de inversiones en tiendas</a:t>
            </a:r>
          </a:p>
          <a:p>
            <a:r>
              <a:rPr sz="1000" b="0">
                <a:solidFill>
                  <a:srgbClr val="404040"/>
                </a:solidFill>
              </a:rPr>
              <a:t>Evalúa y aprueba decisiones de inversión en tiendas nuevas y remodeladas.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Evaluación y aprobación de inversiones 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Plan anual de normatividad basado en riesgos</a:t>
            </a:r>
          </a:p>
          <a:p>
            <a:r>
              <a:rPr sz="1000" b="0">
                <a:solidFill>
                  <a:srgbClr val="404040"/>
                </a:solidFill>
              </a:rPr>
              <a:t>Define el plan anual de normatividad basado en criticidad y riesgos operativos.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Plan anual de normatividad basado en rie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Ejecuta y lidera esta responsabilidad, tomando las decisiones necesarias para garantizar su cumplimiento y calidad de resultados.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estrategia logística para optimizar gasto</a:t>
            </a:r>
          </a:p>
          <a:p>
            <a:r>
              <a:rPr sz="1000" b="0">
                <a:solidFill>
                  <a:srgbClr val="404040"/>
                </a:solidFill>
              </a:rPr>
              <a:t>Colabora en el diseño de la estrategia logística para optimizar el gasto y captar ingresos.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estrategia logística para opti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Aporta perspectiva experta como área consultada, contribuyendo con información y criterio antes de las decisiones clave.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Brinda apoyo activo en esta responsabilidad, aportando su expertise especializado cuando se requiere.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Brinda apoyo activo en esta responsabilidad, aportando su expertise especializado cuando se requiere.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Decisiones de inversión para "gasto logístico cero"</a:t>
            </a:r>
          </a:p>
          <a:p>
            <a:r>
              <a:rPr sz="1000" b="0">
                <a:solidFill>
                  <a:srgbClr val="404040"/>
                </a:solidFill>
              </a:rPr>
              <a:t>Impulsa decisiones de inversión y productividad para lograr un "gasto logístico cero".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Decisiones de inversión para "gasto logí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FFC00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Aprueba y supervisa esta responsabilidad, siendo responsable final ante la organización por sus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Ejecuta y lidera esta responsabilidad, tomando las decisiones necesarias para garantizar su cumplimiento y calidad de resultados.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Gestión de capital de trabajo (Comercial/Abasto)</a:t>
            </a:r>
          </a:p>
          <a:p>
            <a:r>
              <a:rPr sz="1000" b="0">
                <a:solidFill>
                  <a:srgbClr val="404040"/>
                </a:solidFill>
              </a:rPr>
              <a:t>Implementa el sistema de gestión de capital de trabajo junto a Comercial y Abasto.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Gestión de capital de trabajo (Comercial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Ejecuta y lidera esta responsabilidad, tomando las decisiones necesarias para garantizar su cumplimiento y calidad de resultados.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Aporta perspectiva experta como área consultada, contribuyendo con información y criterio antes de las decisiones clave.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Diseño de KPIs y herramientas de gestión en CEDIS</a:t>
            </a:r>
          </a:p>
          <a:p>
            <a:r>
              <a:rPr sz="1000" b="0">
                <a:solidFill>
                  <a:srgbClr val="404040"/>
                </a:solidFill>
              </a:rPr>
              <a:t>Diseña indicadores (KPIs) y herramientas de gestión para la toma de decisiones en CEDIS.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Diseño de KPIs y herramientas de gestión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E525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Brinda apoyo activo en esta responsabilidad, aportando su expertise especializado cuando se requiere.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Recibe información del avance y resultados para anticipar impactos en su área y tomar acciones preventivas.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70AD47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70AD47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Ejecuta y lidera esta responsabilidad, tomando las decisiones necesarias para garantizar su cumplimiento y calidad de resultados.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Recibe información del avance y resultados para anticipar impactos en su área y tomar acciones preventivas.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Recibe información del avance y resultados para anticipar impactos en su área y tomar acciones preventivas.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Matriz RASCI - Detalle |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6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964"/>
                </a:solidFill>
              </a:rPr>
              <a:t>Estabilidad normativa y control en Cadena Suministro</a:t>
            </a:r>
          </a:p>
          <a:p>
            <a:r>
              <a:rPr sz="1000" b="0">
                <a:solidFill>
                  <a:srgbClr val="404040"/>
                </a:solidFill>
              </a:rPr>
              <a:t>Asegura la estabilidad normativa y de control interno en toda la red de la Cadena de Suministro.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08760"/>
          <a:ext cx="1146048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  <a:gridCol w="1146048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Responsabilidad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y Finanzas (DAF)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Planeación Fin &amp; CF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Fiscal y Contraloría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Transformación Procesos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Servicios Compartidos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Legal OXXO MX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Asuntos Corporativos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Dir. Adm. Nacional OXXO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Gte Sr Nac. Adm. CdS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700" b="0"/>
                        <a:t>Estabilidad normativa y control en Caden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76767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FFFFFF"/>
                          </a:solidFill>
                        </a:rPr>
                        <a:t>A/R</a:t>
                      </a:r>
                    </a:p>
                  </a:txBody>
                  <a:tcPr>
                    <a:solidFill>
                      <a:srgbClr val="F5A62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100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00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Director Adm. y Finanzas (DAF): Recibe información del avance y resultados para anticipar impactos en su área y tomar acciones preventivas.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822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822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Planeación Fin &amp; CF: Recibe información del avance y resultados para anticipar impactos en su área y tomar acciones preventivas.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6450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6450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Fiscal y Contraloría: Brinda apoyo activo en esta responsabilidad, aportando su expertise especializado cuando se requiere.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675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675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Transformación Procesos: Recibe información del avance y resultados para anticipar impactos en su área y tomar acciones preventivas.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4290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90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Servicios Compartidos: Recibe información del avance y resultados para anticipar impactos en su área y tomar acciones preventivas.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11250"/>
            <a:ext cx="640080" cy="582250"/>
          </a:xfrm>
          <a:prstGeom prst="rect">
            <a:avLst/>
          </a:prstGeom>
          <a:solidFill>
            <a:srgbClr val="4472C4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1250"/>
            <a:ext cx="10728960" cy="582250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Sr Legal OXXO MX: Aporta perspectiva experta como área consultada, contribuyendo con información y criterio antes de las decisiones clave.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93500"/>
            <a:ext cx="640080" cy="582250"/>
          </a:xfrm>
          <a:prstGeom prst="rect">
            <a:avLst/>
          </a:prstGeom>
          <a:solidFill>
            <a:srgbClr val="A6A6A6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93500"/>
            <a:ext cx="10728960" cy="582250"/>
          </a:xfrm>
          <a:prstGeom prst="rect">
            <a:avLst/>
          </a:prstGeom>
          <a:noFill/>
          <a:ln w="38100">
            <a:solidFill>
              <a:srgbClr val="A6A6A6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Gte Asuntos Corporativos: Recibe información del avance y resultados para anticipar impactos en su área y tomar acciones preventivas.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75750"/>
            <a:ext cx="640080" cy="582250"/>
          </a:xfrm>
          <a:prstGeom prst="rect">
            <a:avLst/>
          </a:prstGeom>
          <a:solidFill>
            <a:srgbClr val="FF7070"/>
          </a:solidFill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175750"/>
            <a:ext cx="10728960" cy="582250"/>
          </a:xfrm>
          <a:prstGeom prst="rect">
            <a:avLst/>
          </a:prstGeom>
          <a:noFill/>
          <a:ln w="38100">
            <a:solidFill>
              <a:srgbClr val="FF7070"/>
            </a:solidFill>
          </a:ln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</a:rPr>
              <a:t>Dir. Adm. Nacional OXXO: Brinda apoyo activo en esta responsabilidad, aportando su expertise especializado cuando se requiere.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Finanzas</a:t>
            </a:r>
          </a:p>
        </p:txBody>
      </p:sp>
      <p:sp>
        <p:nvSpPr>
          <p:cNvPr id="102" name="L1Box"/>
          <p:cNvSpPr txBox="1"/>
          <p:nvPr/>
        </p:nvSpPr>
        <p:spPr>
          <a:xfrm>
            <a:off x="4396000" y="930000"/>
            <a:ext cx="3400000" cy="50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Director de Administración</a:t>
            </a:r>
          </a:p>
          <a:p>
            <a:pPr algn="ctr">
              <a:spcBef>
                <a:spcPts val="200"/>
              </a:spcBef>
            </a:pPr>
            <a:r>
              <a:rPr sz="1100" b="1" i="0">
                <a:solidFill>
                  <a:srgbClr val="FFFFFF"/>
                </a:solidFill>
              </a:rPr>
              <a:t>y Finanzas (DAF)</a:t>
            </a:r>
          </a:p>
        </p:txBody>
      </p:sp>
      <p:sp>
        <p:nvSpPr>
          <p:cNvPr id="103" name="Line103"/>
          <p:cNvSpPr txBox="1"/>
          <p:nvPr/>
        </p:nvSpPr>
        <p:spPr>
          <a:xfrm>
            <a:off x="6089650" y="1430000"/>
            <a:ext cx="12700" cy="2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4" name="Line104"/>
          <p:cNvSpPr txBox="1"/>
          <p:nvPr/>
        </p:nvSpPr>
        <p:spPr>
          <a:xfrm>
            <a:off x="1117114" y="1623650"/>
            <a:ext cx="9957768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5" name="Line105"/>
          <p:cNvSpPr txBox="1"/>
          <p:nvPr/>
        </p:nvSpPr>
        <p:spPr>
          <a:xfrm>
            <a:off x="1110764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6" name="Line106"/>
          <p:cNvSpPr txBox="1"/>
          <p:nvPr/>
        </p:nvSpPr>
        <p:spPr>
          <a:xfrm>
            <a:off x="2770392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7" name="Line107"/>
          <p:cNvSpPr txBox="1"/>
          <p:nvPr/>
        </p:nvSpPr>
        <p:spPr>
          <a:xfrm>
            <a:off x="4430020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8" name="Line108"/>
          <p:cNvSpPr txBox="1"/>
          <p:nvPr/>
        </p:nvSpPr>
        <p:spPr>
          <a:xfrm>
            <a:off x="6089648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9" name="Line109"/>
          <p:cNvSpPr txBox="1"/>
          <p:nvPr/>
        </p:nvSpPr>
        <p:spPr>
          <a:xfrm>
            <a:off x="7749276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0" name="Line110"/>
          <p:cNvSpPr txBox="1"/>
          <p:nvPr/>
        </p:nvSpPr>
        <p:spPr>
          <a:xfrm>
            <a:off x="9408904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1" name="Line111"/>
          <p:cNvSpPr txBox="1"/>
          <p:nvPr/>
        </p:nvSpPr>
        <p:spPr>
          <a:xfrm>
            <a:off x="11068532" y="163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2" name="L2_0"/>
          <p:cNvSpPr txBox="1"/>
          <p:nvPr/>
        </p:nvSpPr>
        <p:spPr>
          <a:xfrm>
            <a:off x="304800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Planeación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Financiera &amp; CF</a:t>
            </a:r>
          </a:p>
        </p:txBody>
      </p:sp>
      <p:sp>
        <p:nvSpPr>
          <p:cNvPr id="113" name="L2Desc_0"/>
          <p:cNvSpPr txBox="1"/>
          <p:nvPr/>
        </p:nvSpPr>
        <p:spPr>
          <a:xfrm>
            <a:off x="304800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Copiloto financiero del negocio. Planeación, presupuesto y análisis de rendimiento.</a:t>
            </a:r>
          </a:p>
        </p:txBody>
      </p:sp>
      <p:sp>
        <p:nvSpPr>
          <p:cNvPr id="114" name="L2_1"/>
          <p:cNvSpPr txBox="1"/>
          <p:nvPr/>
        </p:nvSpPr>
        <p:spPr>
          <a:xfrm>
            <a:off x="1964428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Fiscal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y Contraloría</a:t>
            </a:r>
          </a:p>
        </p:txBody>
      </p:sp>
      <p:sp>
        <p:nvSpPr>
          <p:cNvPr id="115" name="L2Desc_1"/>
          <p:cNvSpPr txBox="1"/>
          <p:nvPr/>
        </p:nvSpPr>
        <p:spPr>
          <a:xfrm>
            <a:off x="1964428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Cumplimiento fiscal, control interno, contraloría y gestión de riesgos de SI.</a:t>
            </a:r>
          </a:p>
        </p:txBody>
      </p:sp>
      <p:sp>
        <p:nvSpPr>
          <p:cNvPr id="116" name="L2_2"/>
          <p:cNvSpPr txBox="1"/>
          <p:nvPr/>
        </p:nvSpPr>
        <p:spPr>
          <a:xfrm>
            <a:off x="3624056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Servicios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Compartidos Admvo</a:t>
            </a:r>
          </a:p>
        </p:txBody>
      </p:sp>
      <p:sp>
        <p:nvSpPr>
          <p:cNvPr id="117" name="L2Desc_2"/>
          <p:cNvSpPr txBox="1"/>
          <p:nvPr/>
        </p:nvSpPr>
        <p:spPr>
          <a:xfrm>
            <a:off x="3624056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Operación centralizada de P2P, O2C y R2R. Cierres contables y gobierno de datos.</a:t>
            </a:r>
          </a:p>
        </p:txBody>
      </p:sp>
      <p:sp>
        <p:nvSpPr>
          <p:cNvPr id="118" name="L2_3"/>
          <p:cNvSpPr txBox="1"/>
          <p:nvPr/>
        </p:nvSpPr>
        <p:spPr>
          <a:xfrm>
            <a:off x="5283684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Legal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y Regulatorio</a:t>
            </a:r>
          </a:p>
        </p:txBody>
      </p:sp>
      <p:sp>
        <p:nvSpPr>
          <p:cNvPr id="119" name="L2Desc_3"/>
          <p:cNvSpPr txBox="1"/>
          <p:nvPr/>
        </p:nvSpPr>
        <p:spPr>
          <a:xfrm>
            <a:off x="5283684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Gestión legal, cumplimiento regulatorio, litigios y contratos a nivel nacional.</a:t>
            </a:r>
          </a:p>
        </p:txBody>
      </p:sp>
      <p:sp>
        <p:nvSpPr>
          <p:cNvPr id="120" name="L2_4"/>
          <p:cNvSpPr txBox="1"/>
          <p:nvPr/>
        </p:nvSpPr>
        <p:spPr>
          <a:xfrm>
            <a:off x="6943312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Asuntos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Corporativos</a:t>
            </a:r>
          </a:p>
        </p:txBody>
      </p:sp>
      <p:sp>
        <p:nvSpPr>
          <p:cNvPr id="121" name="L2Desc_4"/>
          <p:cNvSpPr txBox="1"/>
          <p:nvPr/>
        </p:nvSpPr>
        <p:spPr>
          <a:xfrm>
            <a:off x="6943312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Relacionamiento con gobierno, comunicación externa y gestión de riesgos políticos.</a:t>
            </a:r>
          </a:p>
        </p:txBody>
      </p:sp>
      <p:sp>
        <p:nvSpPr>
          <p:cNvPr id="122" name="L2_5"/>
          <p:cNvSpPr txBox="1"/>
          <p:nvPr/>
        </p:nvSpPr>
        <p:spPr>
          <a:xfrm>
            <a:off x="8602940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Director Nacional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Admvo OXXO</a:t>
            </a:r>
          </a:p>
        </p:txBody>
      </p:sp>
      <p:sp>
        <p:nvSpPr>
          <p:cNvPr id="123" name="L2Desc_5"/>
          <p:cNvSpPr txBox="1"/>
          <p:nvPr/>
        </p:nvSpPr>
        <p:spPr>
          <a:xfrm>
            <a:off x="8602940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Control administrativo en tiendas, plazas y negocios en desarrollo.</a:t>
            </a:r>
          </a:p>
        </p:txBody>
      </p:sp>
      <p:sp>
        <p:nvSpPr>
          <p:cNvPr id="124" name="L2_6"/>
          <p:cNvSpPr txBox="1"/>
          <p:nvPr/>
        </p:nvSpPr>
        <p:spPr>
          <a:xfrm>
            <a:off x="10262568" y="1730000"/>
            <a:ext cx="1624628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Nac. Admvo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Centros de Suministro</a:t>
            </a:r>
          </a:p>
        </p:txBody>
      </p:sp>
      <p:sp>
        <p:nvSpPr>
          <p:cNvPr id="125" name="L2Desc_6"/>
          <p:cNvSpPr txBox="1"/>
          <p:nvPr/>
        </p:nvSpPr>
        <p:spPr>
          <a:xfrm>
            <a:off x="10262568" y="2340000"/>
            <a:ext cx="1624628" cy="220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Control administrativo en CEDIS y Distribución. Gestoría y normatividad.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/>
              <a:t>Anexos
Descripciones de 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6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3964"/>
                </a:solidFill>
              </a:rPr>
              <a:t>• Director Administración y Finanzas:</a:t>
            </a:r>
          </a:p>
          <a:p>
            <a:r>
              <a:rPr sz="900" b="0">
                <a:solidFill>
                  <a:srgbClr val="262626"/>
                </a:solidFill>
              </a:rPr>
              <a:t>  ○ Director PF&amp;A y Commercial Finance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BP Finanzas Plataformas RH, TI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Commercial Finance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Planeación Financiera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Fiscal y Contraloría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Contraloría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Control Fiscal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Normatividad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Riesgos SI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Auditorías Fiscales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Servicios Compartidos Administrativo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Purchase to Pay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Record to Report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Order to Cash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Gobierno Datos y Cond.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Información y Gestión CSF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Legal OXXO MX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Sr Legal Operaciones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Legal Comercial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Cumplimiento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Legal CdS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Legal (i78)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Asuntos Corporativos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Atención Autoridades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Relaciones Gobierno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Coordinador Asuntos Corporativos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Analista Comunicación Externa (FIN L3)</a:t>
            </a:r>
          </a:p>
          <a:p>
            <a:r>
              <a:rPr sz="900" b="0">
                <a:solidFill>
                  <a:srgbClr val="262626"/>
                </a:solidFill>
              </a:rPr>
              <a:t>  ○ Director Administrativo Nacional OXXO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Admvo Neg Dllo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BP Finanzas Plataformas Expansión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Gestión Control Zona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Traslado de Valores (FIN L3)</a:t>
            </a:r>
          </a:p>
          <a:p>
            <a:r>
              <a:rPr sz="900" b="0">
                <a:solidFill>
                  <a:srgbClr val="262626"/>
                </a:solidFill>
              </a:rPr>
              <a:t>  ○ Gerente Sr Nacional Administrativo CdS (FIN L2)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Gerente Área Admin y Finanzas Dist.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Gestión y Control CEDIS (FIN L3)</a:t>
            </a:r>
          </a:p>
          <a:p>
            <a:r>
              <a:rPr sz="900" b="0">
                <a:solidFill>
                  <a:srgbClr val="262626"/>
                </a:solidFill>
              </a:rPr>
              <a:t>      ▪ Responsable Gestoría (FIN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